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sunum, ders sitesindeki "Ön gereksinimler" sayfasının sunumudur; ilk dersten önce öğrencinin kendi kendine denetleyebileceği bir kontrol listesidir.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bölümdeki dört kalemin hiçbiri CEN429'da yeniden öğretilmez; öğrenci CEN107'yi hatırlamıyorsa ilgili haftaya dönmesi gerektiğini vurgulayın.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temellerini bilmeyen öğrenci 1. ve 4. haftada ciddi zorlanır; bu slaytı vurgulu geçin.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üç komut bloğu, öğrencinin ilk derse gelmeden kendi bilgisayarında çalıştırması gereken tam kontrol listesidir; canlı gösterip her satırın ne beklediğini açıklayın.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Ön Gereksinimler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2026-2027 Güz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ders sizden ne bekliyor?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haftadan itibaren C/C++ programlarını </a:t>
            </a:r>
            <a:r>
              <a:rPr sz="2000" b="1">
                <a:solidFill>
                  <a:srgbClr val="1F2D3A"/>
                </a:solidFill>
              </a:rPr>
              <a:t>kendi bilgisayarınızda derleyip çalıştırıyorsunuz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Projeyi </a:t>
            </a:r>
            <a:r>
              <a:rPr sz="2000" b="1">
                <a:solidFill>
                  <a:srgbClr val="1F2D3A"/>
                </a:solidFill>
              </a:rPr>
              <a:t>Git ve GitHub</a:t>
            </a:r>
            <a:r>
              <a:rPr sz="2000" b="0">
                <a:solidFill>
                  <a:srgbClr val="1F2D3A"/>
                </a:solidFill>
              </a:rPr>
              <a:t> üzerinde yürütüyorsunuz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önlemlerini </a:t>
            </a:r>
            <a:r>
              <a:rPr sz="2000" b="1">
                <a:solidFill>
                  <a:srgbClr val="1F2D3A"/>
                </a:solidFill>
              </a:rPr>
              <a:t>birim testleriyle</a:t>
            </a:r>
            <a:r>
              <a:rPr sz="2000" b="0">
                <a:solidFill>
                  <a:srgbClr val="1F2D3A"/>
                </a:solidFill>
              </a:rPr>
              <a:t> kanıtlıyorsunuz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Dersin resmî ön koşulu: </a:t>
            </a:r>
            <a:r>
              <a:rPr sz="2000" b="1">
                <a:solidFill>
                  <a:srgbClr val="1F2D3A"/>
                </a:solidFill>
              </a:rPr>
              <a:t>CEN107 Algoritmalar ve Programlama 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sayfanın planı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Algoritmalar ve Programlama I'den gelenler (zorunlu)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C programlama temelleri (zorunlu)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Derste kısaca hatırlatılan ön bilgiler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Bilgisayarınızda kurulu olması gerekenler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Kendinizi sınayın (ilk dersten önce)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CEN107'nin ilk haftalarındaki geliştirme ortamı, Git, birim test ve şablon kullanımı bu derste </a:t>
            </a:r>
            <a:r>
              <a:rPr sz="2000" b="1">
                <a:solidFill>
                  <a:srgbClr val="1F2D3A"/>
                </a:solidFill>
              </a:rPr>
              <a:t>bilindiği varsayılarak</a:t>
            </a:r>
            <a:r>
              <a:rPr sz="20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Ön Gereksinimler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İlk dersten önce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Aşağıdaki 5. bölümdeki denetimleri kendi bilgisayarınızda yapın.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Bir adımda takılırsanız ilgili Algoritmalar ve Programlama I sayfasına dönün; hâlâ çözemezseniz ilk derste sorun.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1. Algoritmalar ve Programlama I'den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dört konu </a:t>
            </a:r>
            <a:r>
              <a:rPr sz="2000" b="1">
                <a:solidFill>
                  <a:srgbClr val="1F2D3A"/>
                </a:solidFill>
              </a:rPr>
              <a:t>CEN107 Algoritmalar ve Programlama I</a:t>
            </a:r>
            <a:r>
              <a:rPr sz="2000" b="0">
                <a:solidFill>
                  <a:srgbClr val="1F2D3A"/>
                </a:solidFill>
              </a:rPr>
              <a:t> (eski kodu CE103) dersinde öğretildi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Burada </a:t>
            </a:r>
            <a:r>
              <a:rPr sz="2000" b="1">
                <a:solidFill>
                  <a:srgbClr val="1F2D3A"/>
                </a:solidFill>
              </a:rPr>
              <a:t>tekrar anlatılmaz</a:t>
            </a:r>
            <a:r>
              <a:rPr sz="2000" b="0">
                <a:solidFill>
                  <a:srgbClr val="1F2D3A"/>
                </a:solidFill>
              </a:rPr>
              <a:t>; bilindiği varsayılarak doğrudan kullanılır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İsteğe bağlı başlangıç: CEN107 (CE103) Hafta 1 — Giriş ve geliştirici yol haritası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Geliştirme ortamı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Nerede öğretildi?</a:t>
            </a:r>
            <a:r>
              <a:rPr sz="2000" b="0">
                <a:solidFill>
                  <a:srgbClr val="1F2D3A"/>
                </a:solidFill>
              </a:rPr>
              <a:t> CEN107 (CE103) Hafta 2 — Geliştirme ortamları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Derleyici: GCC / Clang / 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IDE, Windows'ta WSL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CMake ile derleme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derste nerede kullanılıyor?</a:t>
            </a:r>
            <a:r>
              <a:rPr sz="2000" b="0">
                <a:solidFill>
                  <a:srgbClr val="1F2D3A"/>
                </a:solidFill>
              </a:rPr>
              <a:t> Her haftanın demoları; 1. hafta laboratuvar kurulumu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Git ve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Nerede öğretildi?</a:t>
            </a:r>
            <a:r>
              <a:rPr sz="2000" b="0">
                <a:solidFill>
                  <a:srgbClr val="1F2D3A"/>
                </a:solidFill>
              </a:rPr>
              <a:t> CEN107 (CE103) Hafta 3 — Git ile sürüm yönetimi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 oluşturma, </a:t>
            </a:r>
            <a:r>
              <a:rPr sz="2000" b="0">
                <a:solidFill>
                  <a:srgbClr val="A1123F"/>
                </a:solidFill>
                <a:latin typeface="Consolas"/>
              </a:rPr>
              <a:t>clone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commit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 (branch), çekme isteği (pull request)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derste nerede kullanılıyor?</a:t>
            </a:r>
            <a:r>
              <a:rPr sz="2000" b="0">
                <a:solidFill>
                  <a:srgbClr val="1F2D3A"/>
                </a:solidFill>
              </a:rPr>
              <a:t> Proje rehberi (plan, kurulum, teslim); 1. hafta değişiklik yönetimi;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8432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 sürüm kimliği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Birim test ve kapsam araçları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Nerede öğretildi?</a:t>
            </a:r>
            <a:r>
              <a:rPr sz="2000" b="0">
                <a:solidFill>
                  <a:srgbClr val="1F2D3A"/>
                </a:solidFill>
              </a:rPr>
              <a:t> CEN107 (CE103) Hafta 4 — Birim test ve kütüphaneler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yazma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ctest</a:t>
            </a:r>
            <a:r>
              <a:rPr sz="2000" b="0">
                <a:solidFill>
                  <a:srgbClr val="1F2D3A"/>
                </a:solidFill>
              </a:rPr>
              <a:t> ile çalıştırma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(coverage) raporu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derste nerede kullanılıyor?</a:t>
            </a:r>
            <a:r>
              <a:rPr sz="2000" b="0">
                <a:solidFill>
                  <a:srgbClr val="1F2D3A"/>
                </a:solidFill>
              </a:rPr>
              <a:t> Projede S16 test sonuçları; 4. hafta sanitizer ve fuzzing; 12. hafta test planı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şablonlarının kullanımı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Nerede öğretildi?</a:t>
            </a:r>
            <a:r>
              <a:rPr sz="2000" b="0">
                <a:solidFill>
                  <a:srgbClr val="1F2D3A"/>
                </a:solidFill>
              </a:rPr>
              <a:t> CEN107 (CE103) Hafta 2–4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Şablonu çatallamak (fork)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Testleri ve dokümantasyonu üretmek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derste nerede kullanılıyor?</a:t>
            </a:r>
            <a:r>
              <a:rPr sz="2000" b="0">
                <a:solidFill>
                  <a:srgbClr val="1F2D3A"/>
                </a:solidFill>
              </a:rPr>
              <a:t> Proje rehberi § 2 Proje kurulumu — şablon: </a:t>
            </a:r>
            <a:r>
              <a:rPr sz="2000" b="0">
                <a:solidFill>
                  <a:srgbClr val="1F2D3A"/>
                </a:solidFill>
              </a:rPr>
              <a:t>`cpp-cmake-ctest-template`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2. C programlama temelleri (zorunlu)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Demoların hemen hepsi C ile yazılmıştır ve güvenlik hataları çoğunlukla bu temel yapıların yanlış kullanımından doğar. Şunları rahatça okuyup yazabilmelisiniz: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39696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İşaretçiler (pointer), diziler ve dizeler (</a:t>
            </a:r>
            <a:r>
              <a:rPr sz="1800" b="0">
                <a:solidFill>
                  <a:srgbClr val="A1123F"/>
                </a:solidFill>
                <a:latin typeface="Consolas"/>
              </a:rPr>
              <a:t>char[]</a:t>
            </a:r>
            <a:r>
              <a:rPr sz="1800" b="0">
                <a:solidFill>
                  <a:srgbClr val="1F2D3A"/>
                </a:solidFill>
              </a:rPr>
              <a:t>, sonlandırıcı </a:t>
            </a:r>
            <a:r>
              <a:rPr sz="1800" b="0">
                <a:solidFill>
                  <a:srgbClr val="A1123F"/>
                </a:solidFill>
                <a:latin typeface="Consolas"/>
              </a:rPr>
              <a:t>0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Dinamik bellek (</a:t>
            </a:r>
            <a:r>
              <a:rPr sz="18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calloc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) ve yapı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struct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Dosya okuma/yazma (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fread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fgets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Birden çok kaynak dosyalı bir programı derlemek ve komut satırı argümanlarını (</a:t>
            </a:r>
            <a:r>
              <a:rPr sz="1800" b="0">
                <a:solidFill>
                  <a:srgbClr val="A1123F"/>
                </a:solidFill>
                <a:latin typeface="Consolas"/>
              </a:rPr>
              <a:t>argc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argv</a:t>
            </a:r>
            <a:r>
              <a:rPr sz="1800" b="0">
                <a:solidFill>
                  <a:srgbClr val="1F2D3A"/>
                </a:solidFill>
              </a:rPr>
              <a:t>) kullanmak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096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Yoğun kullanım: </a:t>
            </a:r>
            <a:r>
              <a:rPr sz="1800" b="1">
                <a:solidFill>
                  <a:srgbClr val="1F2D3A"/>
                </a:solidFill>
              </a:rPr>
              <a:t>1. hafta</a:t>
            </a:r>
            <a:r>
              <a:rPr sz="1800" b="0">
                <a:solidFill>
                  <a:srgbClr val="1F2D3A"/>
                </a:solidFill>
              </a:rPr>
              <a:t> (bellek, taşma) ve </a:t>
            </a:r>
            <a:r>
              <a:rPr sz="1800" b="1">
                <a:solidFill>
                  <a:srgbClr val="1F2D3A"/>
                </a:solidFill>
              </a:rPr>
              <a:t>4. hafta</a:t>
            </a:r>
            <a:r>
              <a:rPr sz="1800" b="0">
                <a:solidFill>
                  <a:srgbClr val="1F2D3A"/>
                </a:solidFill>
              </a:rPr>
              <a:t> (C/C++ sağlamlaştırma)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3. Derste kısaca hatırlatılan ön bilgiler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Aşağıdakileri bilmiyorsanız sorun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İlgili haftanın </a:t>
            </a:r>
            <a:r>
              <a:rPr sz="2000" b="1">
                <a:solidFill>
                  <a:srgbClr val="1F2D3A"/>
                </a:solidFill>
              </a:rPr>
              <a:t>"Başlamadan önce"</a:t>
            </a:r>
            <a:r>
              <a:rPr sz="2000" b="0">
                <a:solidFill>
                  <a:srgbClr val="1F2D3A"/>
                </a:solidFill>
              </a:rPr>
              <a:t> bölümü kısa bir hatırlatma yapar; önceden göz atarsanız ders daha rahat geçer.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Terminal ve sayı sistemleri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Terminal:</a:t>
            </a:r>
            <a:r>
              <a:rPr sz="2000" b="0">
                <a:solidFill>
                  <a:srgbClr val="1F2D3A"/>
                </a:solidFill>
              </a:rPr>
              <a:t> PowerShell ve Linux/WSL'de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cd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, dosya yolları, ortam değişkenleri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— gerekli: </a:t>
            </a:r>
            <a:r>
              <a:rPr sz="2000" b="1">
                <a:solidFill>
                  <a:srgbClr val="1F2D3A"/>
                </a:solidFill>
              </a:rPr>
              <a:t>1. hafta</a:t>
            </a:r>
            <a:r>
              <a:rPr sz="2000" b="0">
                <a:solidFill>
                  <a:srgbClr val="1F2D3A"/>
                </a:solidFill>
              </a:rPr>
              <a:t> ve bütün demolar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Binary ve onaltılık sayılar, bayt, XOR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— gerekli: </a:t>
            </a:r>
            <a:r>
              <a:rPr sz="2000" b="1">
                <a:solidFill>
                  <a:srgbClr val="1F2D3A"/>
                </a:solidFill>
              </a:rPr>
              <a:t>3., 9., 11. haftalar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 ve diğer temel bilgiler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ağ kavramları:</a:t>
            </a:r>
            <a:r>
              <a:rPr sz="2000" b="0">
                <a:solidFill>
                  <a:srgbClr val="1F2D3A"/>
                </a:solidFill>
              </a:rPr>
              <a:t> istemci–sunucu, TCP/IP, HTTP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— gerekli: </a:t>
            </a:r>
            <a:r>
              <a:rPr sz="2000" b="1">
                <a:solidFill>
                  <a:srgbClr val="1F2D3A"/>
                </a:solidFill>
              </a:rPr>
              <a:t>3. ve 10. haftalar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Basit SQL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 … WHERE</a:t>
            </a:r>
            <a:r>
              <a:rPr sz="2000" b="0">
                <a:solidFill>
                  <a:srgbClr val="1F2D3A"/>
                </a:solidFill>
              </a:rPr>
              <a:t>), </a:t>
            </a:r>
            <a:r>
              <a:rPr sz="2000" b="1">
                <a:solidFill>
                  <a:srgbClr val="1F2D3A"/>
                </a:solidFill>
              </a:rPr>
              <a:t>Java ya da Python</a:t>
            </a:r>
            <a:r>
              <a:rPr sz="2000" b="0">
                <a:solidFill>
                  <a:srgbClr val="1F2D3A"/>
                </a:solidFill>
              </a:rPr>
              <a:t>'da temel sözdizimi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— gerekli: </a:t>
            </a:r>
            <a:r>
              <a:rPr sz="2000" b="1">
                <a:solidFill>
                  <a:srgbClr val="1F2D3A"/>
                </a:solidFill>
              </a:rPr>
              <a:t>5. hafta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 Bilgisayarınızda kurulu olması gerekenler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Dizüstü bilgisayar gereklidir.</a:t>
            </a:r>
            <a:r>
              <a:rPr sz="2000" b="0">
                <a:solidFill>
                  <a:srgbClr val="1F2D3A"/>
                </a:solidFill>
              </a:rPr>
              <a:t> İlk derse şu araçlar kurulu gelin: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C/C++ derleyicisi: Windows'ta </a:t>
            </a:r>
            <a:r>
              <a:rPr sz="2000" b="1">
                <a:solidFill>
                  <a:srgbClr val="1F2D3A"/>
                </a:solidFill>
              </a:rPr>
              <a:t>Visual Studio 2022</a:t>
            </a:r>
            <a:r>
              <a:rPr sz="2000" b="0">
                <a:solidFill>
                  <a:srgbClr val="1F2D3A"/>
                </a:solidFill>
              </a:rPr>
              <a:t> (C++ ile masaüstü geliştirme), Linux/WSL'de </a:t>
            </a:r>
            <a:r>
              <a:rPr sz="2000" b="1">
                <a:solidFill>
                  <a:srgbClr val="1F2D3A"/>
                </a:solidFill>
              </a:rPr>
              <a:t>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 da </a:t>
            </a:r>
            <a:r>
              <a:rPr sz="2000" b="1">
                <a:solidFill>
                  <a:srgbClr val="1F2D3A"/>
                </a:solidFill>
              </a:rPr>
              <a:t>Clang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CMake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Git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GitHub</a:t>
            </a:r>
            <a:r>
              <a:rPr sz="2000" b="0">
                <a:solidFill>
                  <a:srgbClr val="1F2D3A"/>
                </a:solidFill>
              </a:rPr>
              <a:t> hesabı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Windows kullanıyorsanız </a:t>
            </a:r>
            <a:r>
              <a:rPr sz="2000" b="1">
                <a:solidFill>
                  <a:srgbClr val="1F2D3A"/>
                </a:solidFill>
              </a:rPr>
              <a:t>WSL2 + Ubuntu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Kurulu olması gerekenler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OpenSSL 3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SQLite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Python 3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JDK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Dönem içinde ayrıca </a:t>
            </a:r>
            <a:r>
              <a:rPr sz="2000" b="1">
                <a:solidFill>
                  <a:srgbClr val="1F2D3A"/>
                </a:solidFill>
              </a:rPr>
              <a:t>GoogleTest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SoftHSM2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kullanılır; kurulumları ilgili haftada anlatılır.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Demo kodlarının kurulum kılavuzu: </a:t>
            </a:r>
            <a:r>
              <a:rPr sz="2000" b="0">
                <a:solidFill>
                  <a:srgbClr val="1F2D3A"/>
                </a:solidFill>
              </a:rPr>
              <a:t>`code/README.md`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Ön Gereksinimler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Kendinizi sınayın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İlk dersten önce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Aşağıdaki komutların her biri bir sürüm numarası yazmalıdır (sayılar farklı olabilir).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Windows (PowerShell)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git --version          # git version 2.x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cmake --version        # cmake version 3.2x ya da üstü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wsl --status           # Varsayılan Dağıtım: Ubuntu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WSL / Linux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git --version          # git version 2.x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cmake --version        # cmake version 3.2x ya da üstü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gcc --version           # gcc (Ubuntu ...) 11 ya da üstü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version         # OpenSSL 3.x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Şablonu deneyin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 şablonunu kendi hesabınıza çatallayıp (fork) derleyin ve testlerini çalıştırın: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git clone https://github.com/&lt;kullanici-adiniz&gt;/cpp-cmake-ctest-template.git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cd cpp-cmake-ctest-template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cmake -S . -B build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cmake --build build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ctest --test-dir build      # beklenen: 100% tests passed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597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44"/>
                <a:gridCol w="8247090"/>
              </a:tblGrid>
              <a:tr h="4099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99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WSL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Windows Subsystem for Linux — Windows içinde Linux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CMake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Çoklu platform derleme sistemi üreticisi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99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CMake ile gelen test çalıştırıcı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Fork (çatallamak)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deponun kendi hesabınıza kopyasını almak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9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Coverage (kapsam)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Testlerin kodun ne kadarını çalıştırdığının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Ön Gereksinimler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Hazır mısınız?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adımların hepsi hatasız bitiyorsa derse hazırsınız.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Ders sitesi:</a:t>
            </a:r>
            <a:r>
              <a:rPr sz="2000" b="0">
                <a:solidFill>
                  <a:srgbClr val="1F2D3A"/>
                </a:solidFill>
              </a:rPr>
              <a:t> ucoruh.github.io/cen429-secure-programming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Güvenli Programlama — Ön Gereksinimler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