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This deck is the slide version of the "Project Guide" page on the course site; the rules, calendar, requirements and rubrics come from that page — the page is binding, this deck is its summary.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note: These 15 requirements map one to one onto the rubric criteria (see Section 8); each is given with the week it is taught and the guide section (S) it is documented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CEN429 Term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Project Guide — 2026-2027 Fall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Goal of the project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 this project you design and build a chosen application </a:t>
            </a:r>
            <a:r>
              <a:rPr sz="2000" b="1">
                <a:solidFill>
                  <a:srgbClr val="1F2D3A"/>
                </a:solidFill>
              </a:rPr>
              <a:t>as if it were going through a certification process</a:t>
            </a:r>
            <a:r>
              <a:rPr sz="2000" b="0">
                <a:solidFill>
                  <a:srgbClr val="1F2D3A"/>
                </a:solidFill>
              </a:rPr>
              <a:t>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C++ console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1">
                <a:solidFill>
                  <a:srgbClr val="1F2D3A"/>
                </a:solidFill>
              </a:rPr>
              <a:t>dynamic library (DLL/.so)</a:t>
            </a:r>
            <a:r>
              <a:rPr sz="2000" b="0">
                <a:solidFill>
                  <a:srgbClr val="1F2D3A"/>
                </a:solidFill>
              </a:rPr>
              <a:t> that provides its 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Goal: combine every security technique you learn during the term into </a:t>
            </a:r>
            <a:r>
              <a:rPr sz="2000" b="1">
                <a:solidFill>
                  <a:srgbClr val="1F2D3A"/>
                </a:solidFill>
              </a:rPr>
              <a:t>one product</a:t>
            </a:r>
            <a:r>
              <a:rPr sz="2000" b="0">
                <a:solidFill>
                  <a:srgbClr val="1F2D3A"/>
                </a:solidFill>
              </a:rPr>
              <a:t> and document all of it in a </a:t>
            </a:r>
            <a:r>
              <a:rPr sz="2000" b="1">
                <a:solidFill>
                  <a:srgbClr val="1F2D3A"/>
                </a:solidFill>
              </a:rPr>
              <a:t>security guide</a:t>
            </a:r>
            <a:r>
              <a:rPr sz="2000" b="0">
                <a:solidFill>
                  <a:srgbClr val="1F2D3A"/>
                </a:solidFill>
              </a:rPr>
              <a:t> (S0–S17).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01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Team:</a:t>
            </a:r>
            <a:r>
              <a:rPr sz="1600" b="0">
                <a:solidFill>
                  <a:srgbClr val="1F2D3A"/>
                </a:solidFill>
              </a:rPr>
              <a:t> at most 3 students (working alone is fine); each topic goes to one team only; no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36928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changes after week 3 (04.10.2026)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20544"/>
            <a:ext cx="10911535" cy="711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Language/tools:</a:t>
            </a:r>
            <a:r>
              <a:rPr sz="1600" b="0">
                <a:solidFill>
                  <a:srgbClr val="1F2D3A"/>
                </a:solidFill>
              </a:rPr>
              <a:t> C++ (DLL/.so), CMake/CTest, SQLite, SoftHSM/PKCS#11, OpenSSL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Two deliveries:</a:t>
            </a:r>
            <a:r>
              <a:rPr sz="1600" b="0">
                <a:solidFill>
                  <a:srgbClr val="1F2D3A"/>
                </a:solidFill>
              </a:rPr>
              <a:t> Midterm (RAP1) — first half of the product; Final (RAP2) — full product +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41472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2D3A"/>
                </a:solidFill>
              </a:rPr>
              <a:t>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25088"/>
            <a:ext cx="10911535" cy="401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1">
                <a:solidFill>
                  <a:srgbClr val="1F2D3A"/>
                </a:solidFill>
              </a:rPr>
              <a:t>Heart of the delivery:</a:t>
            </a:r>
            <a:r>
              <a:rPr sz="1600" b="0">
                <a:solidFill>
                  <a:srgbClr val="1F2D3A"/>
                </a:solidFill>
              </a:rPr>
              <a:t> alongside the code, a </a:t>
            </a:r>
            <a:r>
              <a:rPr sz="1600" b="1">
                <a:solidFill>
                  <a:srgbClr val="1F2D3A"/>
                </a:solidFill>
              </a:rPr>
              <a:t>security guide</a:t>
            </a:r>
            <a:r>
              <a:rPr sz="1600" b="0">
                <a:solidFill>
                  <a:srgbClr val="1F2D3A"/>
                </a:solidFill>
              </a:rPr>
              <a:t> written like a certification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136136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document (S0–S17)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19752"/>
            <a:ext cx="10911535" cy="711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0">
                <a:solidFill>
                  <a:srgbClr val="1F2D3A"/>
                </a:solidFill>
              </a:rPr>
              <a:t>All data is </a:t>
            </a:r>
            <a:r>
              <a:rPr sz="1600" b="1">
                <a:solidFill>
                  <a:srgbClr val="1F2D3A"/>
                </a:solidFill>
              </a:rPr>
              <a:t>synthetic</a:t>
            </a:r>
            <a:r>
              <a:rPr sz="1600" b="0">
                <a:solidFill>
                  <a:srgbClr val="1F2D3A"/>
                </a:solidFill>
              </a:rPr>
              <a:t>; no real secret, key, or personal data may enter the repository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006D77"/>
                </a:solidFill>
              </a:rPr>
              <a:t>• </a:t>
            </a:r>
            <a:r>
              <a:rPr sz="1600" b="0">
                <a:solidFill>
                  <a:srgbClr val="1F2D3A"/>
                </a:solidFill>
              </a:rPr>
              <a:t>A detailed scoring key and evidence templates may be shared on Microsoft Teams; **the criteria 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40680"/>
            <a:ext cx="10911535" cy="3738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A"/>
                </a:solidFill>
              </a:rPr>
              <a:t>points on this page are binding**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Checkpoints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832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0918"/>
                <a:gridCol w="7650616"/>
              </a:tblGrid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Midterm checkpoint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Week 7 (30.10.2026) · RAP1 — first half of the product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605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Final checkpoint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Week 15 (25.12.2026) · RAP2 — full product + test results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1. Calendar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4030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0075"/>
                <a:gridCol w="2694206"/>
                <a:gridCol w="5927253"/>
              </a:tblGrid>
              <a:tr h="343291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Event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End of week 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Last day to choose your topic and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09.10.2026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Project plan approved by the instructor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30.10.2026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Midterm demo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interim report (RAP1)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31.10–08.11.2026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Quiz-1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(weeks 1–6)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43291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25.12.2026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Final demo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+ final report (RAP2)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4329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Week 16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04–17.01.2027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Quiz-2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(weeks 9–14)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838651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The full weekly content plan is in the syllabus. Any date change is announced in the course classroom.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2. Assessment structure — weights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Midterm = 0.6·RAP1 + 0.4·Quiz-1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Final = 0.7·RAP2 + 0.3·Quiz-2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Course grade = 0.4·Midterm + 0.6·Final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RAP1 (Week 7):</a:t>
            </a:r>
            <a:r>
              <a:rPr sz="2000" b="0">
                <a:solidFill>
                  <a:srgbClr val="1F2D3A"/>
                </a:solidFill>
              </a:rPr>
              <a:t> first half of the product (S2–S5 + basic protections) </a:t>
            </a:r>
            <a:r>
              <a:rPr sz="2000" b="1">
                <a:solidFill>
                  <a:srgbClr val="1F2D3A"/>
                </a:solidFill>
              </a:rPr>
              <a:t>RAP2 (Week 15):</a:t>
            </a:r>
            <a:r>
              <a:rPr sz="2000" b="0">
                <a:solidFill>
                  <a:srgbClr val="1F2D3A"/>
                </a:solidFill>
              </a:rPr>
              <a:t> full product + S16 results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Learning outcomes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6115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519"/>
                <a:gridCol w="10159015"/>
              </a:tblGrid>
              <a:tr h="522305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Identifies and classifies common software vulnerabilities (buffer overflow, injection, memory leaks)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basic encryption methods and secure communication principles (SSL/TLS)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522305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code hardening techniques (input validation, secure memory, RASP, obfuscation) and applies them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2306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Explains the principles of building secure communication channels using encryption and authentication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Learning outcomes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598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2498"/>
                <a:gridCol w="10139036"/>
              </a:tblGrid>
              <a:tr h="464972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Definition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Creates a protection plan using secure software design principles (least privilege, defence in depth)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6497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Performs a basic security review and vulnerability assessment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6497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Knows secure programming standards (ETSI, EMV, FIPS) and penetration test planning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295497"/>
            <a:ext cx="10911535" cy="70408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Both checkpoints touch every learning outcome; RAP1 measures the basic/early level, RAP2 the advanced level and the full product.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Tools and setup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4292"/>
                <a:gridCol w="4231003"/>
                <a:gridCol w="3006239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C++ compiler (GCC/Clang/MSVC)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Building the console app + DLL/.so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Working binary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CMake + CTest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Build system + unit testing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report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SQLite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Data-at-rest store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.db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schema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SoftHSM / PKCS#11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Key-wrapping/storage simulation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Key-store configuration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3. Tools and setup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3809"/>
                <a:gridCol w="4313862"/>
                <a:gridCol w="4313862"/>
              </a:tblGrid>
              <a:tr h="35112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OpenSSL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Cryptography, TLS, signing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Library linkage + certificates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Doxygen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 documentation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PDF/HTML output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5112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/ GitHub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Version control, collaboration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Commit history, pull request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51132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GitHub Actions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Continuous integration (CI)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Green build/test badge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Template repository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Template: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`ucoruh/cpp-cmake-ctest-template`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Fork it, name it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cen429-project-name-surname-cpp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Make it </a:t>
            </a:r>
            <a:r>
              <a:rPr sz="2000" b="1">
                <a:solidFill>
                  <a:srgbClr val="1F2D3A"/>
                </a:solidFill>
              </a:rPr>
              <a:t>private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 the instructor and your teammate (if any) as </a:t>
            </a:r>
            <a:r>
              <a:rPr sz="2000" b="1">
                <a:solidFill>
                  <a:srgbClr val="1F2D3A"/>
                </a:solidFill>
              </a:rPr>
              <a:t>collaborators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34664"/>
            <a:ext cx="10911535" cy="14305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!!! tip "Use the template fully" The template provides build, CTest unit testing, documentation generation, test/documentation coverage, and packaging. Deliverables that do not follow the template are not accepted. Produce releases; record the version id and digests.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Project layout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49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lib/</a:t>
            </a:r>
            <a:r>
              <a:rPr sz="2000" b="0">
                <a:solidFill>
                  <a:srgbClr val="1F2D3A"/>
                </a:solidFill>
              </a:rPr>
              <a:t> — security library (DLL/.so): cryptography, RASP, code obfuscation, data-protection functions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app/</a:t>
            </a:r>
            <a:r>
              <a:rPr sz="2000" b="0">
                <a:solidFill>
                  <a:srgbClr val="1F2D3A"/>
                </a:solidFill>
              </a:rPr>
              <a:t> — console application: the user interface that uses the library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test/</a:t>
            </a:r>
            <a:r>
              <a:rPr sz="2000" b="0">
                <a:solidFill>
                  <a:srgbClr val="1F2D3A"/>
                </a:solidFill>
              </a:rPr>
              <a:t> — CTest unit tests (crypto and protection functions)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850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For environment setup and background knowledge, see the </a:t>
            </a:r>
            <a:r>
              <a:rPr sz="2000" b="1">
                <a:solidFill>
                  <a:srgbClr val="1F2D3A"/>
                </a:solidFill>
              </a:rPr>
              <a:t>Prerequisites</a:t>
            </a:r>
            <a:r>
              <a:rPr sz="2000" b="0">
                <a:solidFill>
                  <a:srgbClr val="1F2D3A"/>
                </a:solidFill>
              </a:rPr>
              <a:t> page.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 Topic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Project topics are in the </a:t>
            </a:r>
            <a:r>
              <a:rPr sz="2000" b="1">
                <a:solidFill>
                  <a:srgbClr val="1F2D3A"/>
                </a:solidFill>
              </a:rPr>
              <a:t>Appendix — Project topic list</a:t>
            </a:r>
            <a:r>
              <a:rPr sz="2000" b="0">
                <a:solidFill>
                  <a:srgbClr val="1F2D3A"/>
                </a:solidFill>
              </a:rPr>
              <a:t> at the end of the guide page (</a:t>
            </a:r>
            <a:r>
              <a:rPr sz="2000" b="1">
                <a:solidFill>
                  <a:srgbClr val="1F2D3A"/>
                </a:solidFill>
              </a:rPr>
              <a:t>100 topics</a:t>
            </a:r>
            <a:r>
              <a:rPr sz="2000" b="0">
                <a:solidFill>
                  <a:srgbClr val="1F2D3A"/>
                </a:solidFill>
              </a:rPr>
              <a:t>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Each topic box gives: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short description of the application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Its key features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assets to protect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1">
                <a:solidFill>
                  <a:srgbClr val="1F2D3A"/>
                </a:solidFill>
              </a:rPr>
              <a:t>security requirements that stand out</a:t>
            </a:r>
            <a:r>
              <a:rPr sz="2000" b="0">
                <a:solidFill>
                  <a:srgbClr val="1F2D3A"/>
                </a:solidFill>
              </a:rPr>
              <a:t> for that topic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How to choose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879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1. </a:t>
            </a:r>
            <a:r>
              <a:rPr sz="2000" b="0">
                <a:solidFill>
                  <a:srgbClr val="1F2D3A"/>
                </a:solidFill>
              </a:rPr>
              <a:t>Browse the list at the end of the guide page and choose one topic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2. </a:t>
            </a:r>
            <a:r>
              <a:rPr sz="2000" b="0">
                <a:solidFill>
                  <a:srgbClr val="1F2D3A"/>
                </a:solidFill>
              </a:rPr>
              <a:t>Record your choice in the </a:t>
            </a:r>
            <a:r>
              <a:rPr sz="2000" b="1">
                <a:solidFill>
                  <a:srgbClr val="1F2D3A"/>
                </a:solidFill>
              </a:rPr>
              <a:t>team and topic spreadsheet</a:t>
            </a:r>
            <a:r>
              <a:rPr sz="2000" b="0">
                <a:solidFill>
                  <a:srgbClr val="1F2D3A"/>
                </a:solidFill>
              </a:rPr>
              <a:t> on Microsoft Teams — </a:t>
            </a:r>
            <a:r>
              <a:rPr sz="2000" b="1">
                <a:solidFill>
                  <a:srgbClr val="1F2D3A"/>
                </a:solidFill>
              </a:rPr>
              <a:t>each topic can be taken by only one team</a:t>
            </a:r>
            <a:r>
              <a:rPr sz="2000" b="0">
                <a:solidFill>
                  <a:srgbClr val="1F2D3A"/>
                </a:solidFill>
              </a:rPr>
              <a:t>, the first team to record it gets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3. </a:t>
            </a:r>
            <a:r>
              <a:rPr sz="2000" b="0">
                <a:solidFill>
                  <a:srgbClr val="1F2D3A"/>
                </a:solidFill>
              </a:rPr>
              <a:t>Have it approved by the instructor together with your project plan; </a:t>
            </a:r>
            <a:r>
              <a:rPr sz="2000" b="1">
                <a:solidFill>
                  <a:srgbClr val="1F2D3A"/>
                </a:solidFill>
              </a:rPr>
              <a:t>once approved, the topic cannot be changed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Rules for topic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All</a:t>
            </a:r>
            <a:r>
              <a:rPr sz="2000" b="0">
                <a:solidFill>
                  <a:srgbClr val="1F2D3A"/>
                </a:solidFill>
              </a:rPr>
              <a:t> 15 requirements in Section 5 apply to every project; the "highlighted requirements" in a topic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box show where they fit most naturally and earn the most credit for that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have an idea not on the list, you may choose it with the instructor's approval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you are retaking this course, choose a topic </a:t>
            </a:r>
            <a:r>
              <a:rPr sz="2000" b="1">
                <a:solidFill>
                  <a:srgbClr val="1F2D3A"/>
                </a:solidFill>
              </a:rPr>
              <a:t>different from your previous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15 requirements · grouped into midterm and final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Meet each item, or defer/scope it out with justification (Week 13, S14)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 Development environment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5.1 Midterm scope (RAP1)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12 · S13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Software development flow and </a:t>
            </a:r>
            <a:r>
              <a:rPr sz="2000" b="1">
                <a:solidFill>
                  <a:srgbClr val="1F2D3A"/>
                </a:solidFill>
              </a:rPr>
              <a:t>change management</a:t>
            </a:r>
            <a:r>
              <a:rPr sz="2000" b="0">
                <a:solidFill>
                  <a:srgbClr val="1F2D3A"/>
                </a:solidFill>
              </a:rPr>
              <a:t> (baseline → request → classify → approve 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6550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release → verify)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151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Version control with </a:t>
            </a:r>
            <a:r>
              <a:rPr sz="2000" b="1">
                <a:solidFill>
                  <a:srgbClr val="1F2D3A"/>
                </a:solidFill>
              </a:rPr>
              <a:t>Git</a:t>
            </a:r>
            <a:r>
              <a:rPr sz="2000" b="0">
                <a:solidFill>
                  <a:srgbClr val="1F2D3A"/>
                </a:solidFill>
              </a:rPr>
              <a:t>; access logging; signed releases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Development host/server security (short policy)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4.2 Data-in-use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6 · 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data in memory is </a:t>
            </a:r>
            <a:r>
              <a:rPr sz="2000" b="1">
                <a:solidFill>
                  <a:srgbClr val="1F2D3A"/>
                </a:solidFill>
              </a:rPr>
              <a:t>wiped securely</a:t>
            </a:r>
            <a:r>
              <a:rPr sz="2000" b="0">
                <a:solidFill>
                  <a:srgbClr val="1F2D3A"/>
                </a:solidFill>
              </a:rPr>
              <a:t> after use (</a:t>
            </a:r>
            <a:r>
              <a:rPr sz="2000" b="0">
                <a:solidFill>
                  <a:srgbClr val="A1123F"/>
                </a:solidFill>
                <a:latin typeface="Consolas"/>
              </a:rPr>
              <a:t>memset_s</a:t>
            </a:r>
            <a:r>
              <a:rPr sz="2000" b="0">
                <a:solidFill>
                  <a:srgbClr val="1F2D3A"/>
                </a:solidFill>
              </a:rPr>
              <a:t>-like)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Runtime data protection (shadow copy / integrity — Week 6)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4.3 Data-in-transit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10 · S6,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173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TLS 1.3</a:t>
            </a:r>
            <a:r>
              <a:rPr sz="2000" b="0">
                <a:solidFill>
                  <a:srgbClr val="1F2D3A"/>
                </a:solidFill>
              </a:rPr>
              <a:t>; certificate chain + </a:t>
            </a:r>
            <a:r>
              <a:rPr sz="2000" b="1">
                <a:solidFill>
                  <a:srgbClr val="1F2D3A"/>
                </a:solidFill>
              </a:rPr>
              <a:t>SAN</a:t>
            </a:r>
            <a:r>
              <a:rPr sz="2000" b="0">
                <a:solidFill>
                  <a:srgbClr val="1F2D3A"/>
                </a:solidFill>
              </a:rPr>
              <a:t> validation; </a:t>
            </a:r>
            <a:r>
              <a:rPr sz="2000" b="1">
                <a:solidFill>
                  <a:srgbClr val="1F2D3A"/>
                </a:solidFill>
              </a:rPr>
              <a:t>pinning</a:t>
            </a:r>
            <a:r>
              <a:rPr sz="2000" b="0">
                <a:solidFill>
                  <a:srgbClr val="1F2D3A"/>
                </a:solidFill>
              </a:rPr>
              <a:t> + backup pin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Encrypted </a:t>
            </a:r>
            <a:r>
              <a:rPr sz="2000" b="1">
                <a:solidFill>
                  <a:srgbClr val="1F2D3A"/>
                </a:solidFill>
              </a:rPr>
              <a:t>session key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device/version binding</a:t>
            </a:r>
            <a:r>
              <a:rPr sz="2000" b="0">
                <a:solidFill>
                  <a:srgbClr val="1F2D3A"/>
                </a:solidFill>
              </a:rPr>
              <a:t>; integrity + authentication; server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874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4.4 Data-at-rest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10, 11 ·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File/DB encryption with </a:t>
            </a:r>
            <a:r>
              <a:rPr sz="2000" b="1">
                <a:solidFill>
                  <a:srgbClr val="1F2D3A"/>
                </a:solidFill>
              </a:rPr>
              <a:t>AEAD</a:t>
            </a:r>
            <a:r>
              <a:rPr sz="2000" b="0">
                <a:solidFill>
                  <a:srgbClr val="1F2D3A"/>
                </a:solidFill>
              </a:rPr>
              <a:t> (AES-GCM); non-repeating nonce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sensitive keys, </a:t>
            </a:r>
            <a:r>
              <a:rPr sz="2000" b="1">
                <a:solidFill>
                  <a:srgbClr val="1F2D3A"/>
                </a:solidFill>
              </a:rPr>
              <a:t>whitebox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1">
                <a:solidFill>
                  <a:srgbClr val="1F2D3A"/>
                </a:solidFill>
              </a:rPr>
              <a:t>SoftHSM/PKCS#11</a:t>
            </a:r>
            <a:r>
              <a:rPr sz="2000" b="0">
                <a:solidFill>
                  <a:srgbClr val="1F2D3A"/>
                </a:solidFill>
              </a:rPr>
              <a:t>; </a:t>
            </a:r>
            <a:r>
              <a:rPr sz="2000" b="1">
                <a:solidFill>
                  <a:srgbClr val="1F2D3A"/>
                </a:solidFill>
              </a:rPr>
              <a:t>justify</a:t>
            </a:r>
            <a:r>
              <a:rPr sz="2000" b="0">
                <a:solidFill>
                  <a:srgbClr val="1F2D3A"/>
                </a:solidFill>
              </a:rPr>
              <a:t> the choice (Week 11)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4.8 Interface definitions and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4 · S3, S6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interfaces protected with access control + authentication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Input validated at the </a:t>
            </a:r>
            <a:r>
              <a:rPr sz="2000" b="1">
                <a:solidFill>
                  <a:srgbClr val="1F2D3A"/>
                </a:solidFill>
              </a:rPr>
              <a:t>trust boundary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4.9 Code hardening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4, 9, 14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Opaque loops/predicates, name/file/string/arithmetic obfuscation, opaque booleans, bogus ops/dead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branches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24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Control-flow flattening</a:t>
            </a:r>
            <a:r>
              <a:rPr sz="2000" b="0">
                <a:solidFill>
                  <a:srgbClr val="1F2D3A"/>
                </a:solidFill>
              </a:rPr>
              <a:t> + random exit, logging </a:t>
            </a:r>
            <a:r>
              <a:rPr sz="2000" b="1">
                <a:solidFill>
                  <a:srgbClr val="1F2D3A"/>
                </a:solidFill>
              </a:rPr>
              <a:t>off</a:t>
            </a:r>
            <a:r>
              <a:rPr sz="2000" b="0">
                <a:solidFill>
                  <a:srgbClr val="1F2D3A"/>
                </a:solidFill>
              </a:rPr>
              <a:t> in release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Measure</a:t>
            </a:r>
            <a:r>
              <a:rPr sz="2000" b="0">
                <a:solidFill>
                  <a:srgbClr val="1F2D3A"/>
                </a:solidFill>
              </a:rPr>
              <a:t> the cost (Week 9/14 demos)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4.10 RASP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6 · S10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Checksum integrity, caller hash/signature verification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Root/emulator detection, </a:t>
            </a:r>
            <a:r>
              <a:rPr sz="2000" b="1">
                <a:solidFill>
                  <a:srgbClr val="1F2D3A"/>
                </a:solidFill>
              </a:rPr>
              <a:t>hook/anti-debug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Tamper detection + response, control-flow counter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4.11 Memory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 4 · S9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Compiler/OS protections (stack canary, PIE, RELRO, NX, CFI)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Sensitive memory cleared after 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4.5 Static asset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5.2 Final scope (RAP2)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4, 9 · S5, S9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82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Secret keys, digests, source code, resources: </a:t>
            </a:r>
            <a:r>
              <a:rPr sz="2000" b="1">
                <a:solidFill>
                  <a:srgbClr val="1F2D3A"/>
                </a:solidFill>
              </a:rPr>
              <a:t>encryption + access control + obfuscation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4.6 Dynamic asset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6 · S5, S8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Device/app fingerprints, session data, dynamic keys </a:t>
            </a:r>
            <a:r>
              <a:rPr sz="2000" b="1">
                <a:solidFill>
                  <a:srgbClr val="1F2D3A"/>
                </a:solidFill>
              </a:rPr>
              <a:t>are encrypted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4.7 Asset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1, 3, 13 · 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Per asset: </a:t>
            </a:r>
            <a:r>
              <a:rPr sz="2000" b="1">
                <a:solidFill>
                  <a:srgbClr val="1F2D3A"/>
                </a:solidFill>
              </a:rPr>
              <a:t>name, description, location (table/column), source, size, creation/destruction time, default, protection scheme (C/I/I+)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4.12 Cryptography and certificates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3, 10 · S8, S11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Correct algorithm/mode/padding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Signature verification (</a:t>
            </a:r>
            <a:r>
              <a:rPr sz="2000" b="0">
                <a:solidFill>
                  <a:srgbClr val="A1123F"/>
                </a:solidFill>
                <a:latin typeface="Consolas"/>
              </a:rPr>
              <a:t>==1</a:t>
            </a:r>
            <a:r>
              <a:rPr sz="2000" b="0">
                <a:solidFill>
                  <a:srgbClr val="1F2D3A"/>
                </a:solidFill>
              </a:rPr>
              <a:t>, version coverage)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SSL/TLS + pinning + mutual authentication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4.13 Certification and penetration test 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12, 13 · S16, S14, S17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Standards mapping (ETSI/EMVCo/GSMA/PCI/MASVS)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Penetration test plan</a:t>
            </a:r>
            <a:r>
              <a:rPr sz="2000" b="0">
                <a:solidFill>
                  <a:srgbClr val="1F2D3A"/>
                </a:solidFill>
              </a:rPr>
              <a:t> (scope, rules, methodology, test card) and its </a:t>
            </a:r>
            <a:r>
              <a:rPr sz="2000" b="1">
                <a:solidFill>
                  <a:srgbClr val="1F2D3A"/>
                </a:solidFill>
              </a:rPr>
              <a:t>results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Attack potential + CVSS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4.14 Binary application protection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6, 9, 11, 14 · S9, S10,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Detection</a:t>
            </a:r>
            <a:r>
              <a:rPr sz="2000" b="0">
                <a:solidFill>
                  <a:srgbClr val="1F2D3A"/>
                </a:solidFill>
              </a:rPr>
              <a:t> (checksum, anti-debug, emulator)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Defence</a:t>
            </a:r>
            <a:r>
              <a:rPr sz="2000" b="0">
                <a:solidFill>
                  <a:srgbClr val="1F2D3A"/>
                </a:solidFill>
              </a:rPr>
              <a:t> (obfuscation, string/resource encryption, call hiding)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Deterrence</a:t>
            </a:r>
            <a:r>
              <a:rPr sz="2000" b="0">
                <a:solidFill>
                  <a:srgbClr val="1F2D3A"/>
                </a:solidFill>
              </a:rPr>
              <a:t> (response/shutdown policy)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4.15 OWASP and build/deploy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Weeks 5, 14 · S13, S15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OWASP MASVS/ASVS principles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SBOM</a:t>
            </a:r>
            <a:r>
              <a:rPr sz="2000" b="0">
                <a:solidFill>
                  <a:srgbClr val="1F2D3A"/>
                </a:solidFill>
              </a:rPr>
              <a:t> (CycloneDX) + dependency scan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 pipeline with obfuscation + signing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5.3 Rules for both checkpoints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values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; no real secret, key, or personal data may be in the repository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requirement item must be </a:t>
            </a:r>
            <a:r>
              <a:rPr sz="2000" b="1">
                <a:solidFill>
                  <a:srgbClr val="1F2D3A"/>
                </a:solidFill>
              </a:rPr>
              <a:t>visible</a:t>
            </a:r>
            <a:r>
              <a:rPr sz="2000" b="0">
                <a:solidFill>
                  <a:srgbClr val="1F2D3A"/>
                </a:solidFill>
              </a:rPr>
              <a:t> in the code and </a:t>
            </a:r>
            <a:r>
              <a:rPr sz="2000" b="1">
                <a:solidFill>
                  <a:srgbClr val="1F2D3A"/>
                </a:solidFill>
              </a:rPr>
              <a:t>documented</a:t>
            </a:r>
            <a:r>
              <a:rPr sz="2000" b="0">
                <a:solidFill>
                  <a:srgbClr val="1F2D3A"/>
                </a:solidFill>
              </a:rPr>
              <a:t> in the matching S section;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392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undocumented implementation counts as unmet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88944"/>
            <a:ext cx="10911535" cy="1503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a requirement cannot be met, record the </a:t>
            </a:r>
            <a:r>
              <a:rPr sz="2000" b="1">
                <a:solidFill>
                  <a:srgbClr val="1F2D3A"/>
                </a:solidFill>
              </a:rPr>
              <a:t>justification</a:t>
            </a:r>
            <a:r>
              <a:rPr sz="2000" b="0">
                <a:solidFill>
                  <a:srgbClr val="1F2D3A"/>
                </a:solidFill>
              </a:rPr>
              <a:t> in S14; it cannot be silently skipped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application runs only on your own computer (localhost); it must not harm any other system or data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Deliverables (1/2)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07"/>
                <a:gridCol w="3310240"/>
                <a:gridCol w="6988286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Source code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repository (fork), C++ DLL/.so + SQLite + SoftHSM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Unit tests + CI record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CTest report + CI log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guide (S0–S17)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.docx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/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.pdf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— midterm: S0–S5, final: 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Test results (S16)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section — final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6. Deliverables (2/2)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1835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587"/>
                <a:gridCol w="4897303"/>
                <a:gridCol w="5584643"/>
              </a:tblGrid>
              <a:tr h="436717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Deliverable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Format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Compliance matrix (S17) + deferred requirements (S14)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Guide section — final only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SBOM + dependency scan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CycloneDX file — final only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36717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Release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Git tag: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midterm-v1.0</a:t>
                      </a:r>
                      <a:r>
                        <a:rPr sz="1296" b="0">
                          <a:solidFill>
                            <a:srgbClr val="1F2D3A"/>
                          </a:solidFill>
                        </a:rPr>
                        <a:t> / </a:t>
                      </a:r>
                      <a:r>
                        <a:rPr sz="1296" b="0">
                          <a:solidFill>
                            <a:srgbClr val="A1123F"/>
                          </a:solidFill>
                          <a:latin typeface="Consolas"/>
                        </a:rPr>
                        <a:t>final-v1.0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67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8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Demo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Live presentation (~10 min) — midterm: Week 7, final: Week 15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Security guide sections (S0–S17)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3374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337413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S0–S8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S9–S17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S0 Cover, version history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S9 Code hardening (advanced)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 Scope, abbreviations, references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S10 RASP + response policy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S2 Product and architecture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S11 Secure communication (TLS)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S3 Interfaces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S12 Reporting/logging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S4 Threat model (STRIDE, tree)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S13 Dev process, SBOM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S5 Asset list + protection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S14 Assumptions and deferrals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S6 Identity/binding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S15 Build, signing, deploy pipeline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37413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S7 Data security + shell matrix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S16 Security testing and results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3741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S8 Crypto, key lifecycle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S17 Requirement compliance matrix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Single ZIP archive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cen429-midterm-name-surname.zip           # final: cen429-final-name-surname.zip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└── cen429-project-name-surname-cpp/      # clone of the GitHub repo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lib/                              # security library (DLL/.so)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app/                              # console application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test/                             # CTest unit tests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docs/                             # Doxygen output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security-guide/                   # S0–S17 security guide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sbom/                             # CycloneDX SBOM (final)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├── test-coverage/                    # CTest coverage report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└── README.md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Naming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Repository: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cen429-project-name-surname-cpp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Archive: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cen429-midterm-name-surname.zip</a:t>
            </a:r>
            <a:r>
              <a:rPr sz="2000" b="0">
                <a:solidFill>
                  <a:srgbClr val="1F2D3A"/>
                </a:solidFill>
              </a:rPr>
              <a:t> /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cen429-final-name-surname.zip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Security guide file: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cen429-security-guide-name-surname.docx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4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cover page of the report/guide must include the </a:t>
            </a:r>
            <a:r>
              <a:rPr sz="2000" b="1">
                <a:solidFill>
                  <a:srgbClr val="1F2D3A"/>
                </a:solidFill>
              </a:rPr>
              <a:t>GitHub repository link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Team workflow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GitHub Flow: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main</a:t>
            </a:r>
            <a:r>
              <a:rPr sz="2000" b="0">
                <a:solidFill>
                  <a:srgbClr val="1F2D3A"/>
                </a:solidFill>
              </a:rPr>
              <a:t> is protected and never committed to directly; each task gets its own feature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branch, merged through a </a:t>
            </a:r>
            <a:r>
              <a:rPr sz="2000" b="1">
                <a:solidFill>
                  <a:srgbClr val="1F2D3A"/>
                </a:solidFill>
              </a:rPr>
              <a:t>pull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Commit message convention: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1F2D3A"/>
                </a:solidFill>
              </a:rPr>
              <a:t>Conventional Commits</a:t>
            </a:r>
            <a:r>
              <a:rPr sz="2000" b="0">
                <a:solidFill>
                  <a:srgbClr val="1F2D3A"/>
                </a:solidFill>
              </a:rPr>
              <a:t>, e.g.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feat(crypto): add AES-GCM wrapper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fix(rasp): correct debugger detection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7. Team workflow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301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Pull request + review:</a:t>
            </a:r>
            <a:r>
              <a:rPr sz="2000" b="0">
                <a:solidFill>
                  <a:srgbClr val="1F2D3A"/>
                </a:solidFill>
              </a:rPr>
              <a:t> every PR is </a:t>
            </a:r>
            <a:r>
              <a:rPr sz="2000" b="1">
                <a:solidFill>
                  <a:srgbClr val="1F2D3A"/>
                </a:solidFill>
              </a:rPr>
              <a:t>reviewed</a:t>
            </a:r>
            <a:r>
              <a:rPr sz="2000" b="0">
                <a:solidFill>
                  <a:srgbClr val="1F2D3A"/>
                </a:solidFill>
              </a:rPr>
              <a:t> by at least one teammate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Issues + Projects board:</a:t>
            </a:r>
            <a:r>
              <a:rPr sz="2000" b="0">
                <a:solidFill>
                  <a:srgbClr val="1F2D3A"/>
                </a:solidFill>
              </a:rPr>
              <a:t> Backlog → In Progress → In Review → Done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No merge without green CI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Version tags:</a:t>
            </a:r>
            <a:r>
              <a:rPr sz="2000" b="0">
                <a:solidFill>
                  <a:srgbClr val="1F2D3A"/>
                </a:solidFill>
              </a:rPr>
              <a:t> midterm </a:t>
            </a:r>
            <a:r>
              <a:rPr sz="2000" b="0">
                <a:solidFill>
                  <a:srgbClr val="A1123F"/>
                </a:solidFill>
                <a:latin typeface="Consolas"/>
              </a:rPr>
              <a:t>midterm-v1.0</a:t>
            </a:r>
            <a:r>
              <a:rPr sz="2000" b="0">
                <a:solidFill>
                  <a:srgbClr val="1F2D3A"/>
                </a:solidFill>
              </a:rPr>
              <a:t>, final </a:t>
            </a:r>
            <a:r>
              <a:rPr sz="2000" b="0">
                <a:solidFill>
                  <a:srgbClr val="A1123F"/>
                </a:solidFill>
                <a:latin typeface="Consolas"/>
              </a:rPr>
              <a:t>final-v1.0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Definition of Done:</a:t>
            </a:r>
            <a:r>
              <a:rPr sz="2000" b="0">
                <a:solidFill>
                  <a:srgbClr val="1F2D3A"/>
                </a:solidFill>
              </a:rPr>
              <a:t> builds and runs · unit tests exist · coverage did not drop · PR approved · CI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3684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green · guide updated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Rubrics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Each criterion is scored on a 1–5 scale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Points = (level ÷ 5) × criterion points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8.1 Achievement levels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9289"/>
                <a:gridCol w="7652245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Level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5 — Excellent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Everything works, is tested and documented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4 — Good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Minor gaps; complete and tested overall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3 — Adequate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Basic operations work; clear gaps remain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2 — Poor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Compiles, but most operations are wrong or missing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1F2D3A"/>
                          </a:solidFill>
                        </a:rPr>
                        <a:t>1 — No evidence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Not submitted or not working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8.2 RAP1 rubric (Week 7, 100 points)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36923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0603"/>
                <a:gridCol w="6767914"/>
                <a:gridCol w="1933689"/>
                <a:gridCol w="1519327"/>
              </a:tblGrid>
              <a:tr h="410260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Threat model and asset list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Data security: in transit, at rest, in use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LO.2, LO.4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Code hardening and memory protection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RASP and response policy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Development environment and change management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Unit tests and CI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10260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guide (S0–S5) and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10267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2600" b="1">
                <a:solidFill>
                  <a:srgbClr val="006D77"/>
                </a:solidFill>
              </a:rPr>
              <a:t>8.3 RAP2 rubric (Week 15, 100 points)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41202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6641"/>
                <a:gridCol w="7391685"/>
                <a:gridCol w="1642596"/>
                <a:gridCol w="1290611"/>
              </a:tblGrid>
              <a:tr h="457809"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Criterion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LO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FFFFFF"/>
                          </a:solidFill>
                        </a:rPr>
                        <a:t>Points</a:t>
                      </a:r>
                    </a:p>
                  </a:txBody>
                  <a:tcPr marL="54864" marR="54864" marT="27432" marB="27432" anchor="ctr">
                    <a:solidFill>
                      <a:srgbClr val="006D77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Cryptography and certificates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LO.2, LO.4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Binary application protection, obfuscation, diversification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LO.3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Asset management and dynamic assets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4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Security testing and observed results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20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Standards, compliance matrix, deferrals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6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OWASP, SBOM and build/deploy pipeline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LO.1, LO.5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  <a:tr h="457809"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Report, presentation and demo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LO.7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0">
                          <a:solidFill>
                            <a:srgbClr val="1F2D3A"/>
                          </a:solidFill>
                        </a:rPr>
                        <a:t>10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57814"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Total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96" b="1">
                          <a:solidFill>
                            <a:srgbClr val="1F2D3A"/>
                          </a:solidFill>
                        </a:rPr>
                        <a:t>100</a:t>
                      </a:r>
                    </a:p>
                  </a:txBody>
                  <a:tcPr marL="54864" marR="54864" marT="27432" marB="27432" anchor="ctr">
                    <a:solidFill>
                      <a:srgbClr val="EEF7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555894"/>
            <a:ext cx="10911535" cy="40690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A"/>
                </a:solidFill>
              </a:rPr>
              <a:t>Every row needs </a:t>
            </a:r>
            <a:r>
              <a:rPr sz="1800" b="1">
                <a:solidFill>
                  <a:srgbClr val="1F2D3A"/>
                </a:solidFill>
              </a:rPr>
              <a:t>evidence</a:t>
            </a:r>
            <a:r>
              <a:rPr sz="1800" b="0">
                <a:solidFill>
                  <a:srgbClr val="1F2D3A"/>
                </a:solidFill>
              </a:rPr>
              <a:t>: a "met" row without evidence counts as unmet.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9. Acceptance conditions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Submissions are not accepted if…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296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there is no GitHub repository, it is not </a:t>
            </a:r>
            <a:r>
              <a:rPr sz="2000" b="1">
                <a:solidFill>
                  <a:srgbClr val="1F2D3A"/>
                </a:solidFill>
              </a:rPr>
              <a:t>private</a:t>
            </a:r>
            <a:r>
              <a:rPr sz="2000" b="0">
                <a:solidFill>
                  <a:srgbClr val="1F2D3A"/>
                </a:solidFill>
              </a:rPr>
              <a:t>, or team members have no commits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proportion of requirements met is below the minimum threshold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repository or archive contains </a:t>
            </a:r>
            <a:r>
              <a:rPr sz="2000" b="1">
                <a:solidFill>
                  <a:srgbClr val="1F2D3A"/>
                </a:solidFill>
              </a:rPr>
              <a:t>binary files</a:t>
            </a:r>
            <a:r>
              <a:rPr sz="2000" b="0">
                <a:solidFill>
                  <a:srgbClr val="1F2D3A"/>
                </a:solidFill>
              </a:rPr>
              <a:t> (compiled </a:t>
            </a:r>
            <a:r>
              <a:rPr sz="2000" b="0">
                <a:solidFill>
                  <a:srgbClr val="A1123F"/>
                </a:solidFill>
                <a:latin typeface="Consolas"/>
              </a:rPr>
              <a:t>.exe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.dll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.so</a:t>
            </a:r>
            <a:r>
              <a:rPr sz="2000" b="0">
                <a:solidFill>
                  <a:srgbClr val="1F2D3A"/>
                </a:solidFill>
              </a:rPr>
              <a:t>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release has been produced, the application does not </a:t>
            </a:r>
            <a:r>
              <a:rPr sz="2000" b="1">
                <a:solidFill>
                  <a:srgbClr val="1F2D3A"/>
                </a:solidFill>
              </a:rPr>
              <a:t>build/run</a:t>
            </a:r>
            <a:r>
              <a:rPr sz="2000" b="0">
                <a:solidFill>
                  <a:srgbClr val="1F2D3A"/>
                </a:solidFill>
              </a:rPr>
              <a:t> on Windows or WSL/Linux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repository contains a real secret, key, or personal data, or </a:t>
            </a:r>
            <a:r>
              <a:rPr sz="2000" b="1">
                <a:solidFill>
                  <a:srgbClr val="1F2D3A"/>
                </a:solidFill>
              </a:rPr>
              <a:t>plagiarism</a:t>
            </a:r>
            <a:r>
              <a:rPr sz="2000" b="0">
                <a:solidFill>
                  <a:srgbClr val="1F2D3A"/>
                </a:solidFill>
              </a:rPr>
              <a:t> is detected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Questions asked in the demo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Git/GitHub:</a:t>
            </a:r>
            <a:r>
              <a:rPr sz="2000" b="0">
                <a:solidFill>
                  <a:srgbClr val="1F2D3A"/>
                </a:solidFill>
              </a:rPr>
              <a:t> Did you fork the template with the correct name? Is the repository private, is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331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instructor a collaborator? Do both members have commits?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282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Setup and build:</a:t>
            </a:r>
            <a:r>
              <a:rPr sz="2000" b="0">
                <a:solidFill>
                  <a:srgbClr val="1F2D3A"/>
                </a:solidFill>
              </a:rPr>
              <a:t> Build the application and the library on Windows and in WSL/Linux; show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9011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lib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app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test</a:t>
            </a:r>
            <a:r>
              <a:rPr sz="2000" b="0">
                <a:solidFill>
                  <a:srgbClr val="1F2D3A"/>
                </a:solidFill>
              </a:rPr>
              <a:t> split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10. Questions asked in the demo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2209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Topic (line by line):</a:t>
            </a:r>
            <a:r>
              <a:rPr sz="2000" b="0">
                <a:solidFill>
                  <a:srgbClr val="1F2D3A"/>
                </a:solidFill>
              </a:rPr>
              <a:t> Explain your chosen security requirement line by line in the code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Tests and documentation:</a:t>
            </a:r>
            <a:r>
              <a:rPr sz="2000" b="0">
                <a:solidFill>
                  <a:srgbClr val="1F2D3A"/>
                </a:solidFill>
              </a:rPr>
              <a:t> Open the unit tests and coverage report; show the matching S section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File/data operations:</a:t>
            </a:r>
            <a:r>
              <a:rPr sz="2000" b="0">
                <a:solidFill>
                  <a:srgbClr val="1F2D3A"/>
                </a:solidFill>
              </a:rPr>
              <a:t> Add a record, close and reopen the program, show that the data comes 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454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encrypted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95064"/>
            <a:ext cx="10911535" cy="797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Programming:</a:t>
            </a:r>
            <a:r>
              <a:rPr sz="2000" b="0">
                <a:solidFill>
                  <a:srgbClr val="1F2D3A"/>
                </a:solidFill>
              </a:rPr>
              <a:t> Memory management, pointers, compiler/OS protections, debugger inspection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11. Professional responsibility and academic integrity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You must be able to </a:t>
            </a:r>
            <a:r>
              <a:rPr sz="2000" b="1">
                <a:solidFill>
                  <a:srgbClr val="1F2D3A"/>
                </a:solidFill>
              </a:rPr>
              <a:t>explain</a:t>
            </a:r>
            <a:r>
              <a:rPr sz="2000" b="0">
                <a:solidFill>
                  <a:srgbClr val="1F2D3A"/>
                </a:solidFill>
              </a:rPr>
              <a:t> every line you submit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Cite the source if you reuse someone else's code or text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 examples and values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Plagiarism</a:t>
            </a:r>
            <a:r>
              <a:rPr sz="2000" b="0">
                <a:solidFill>
                  <a:srgbClr val="1F2D3A"/>
                </a:solidFill>
              </a:rPr>
              <a:t> and unauthorized copying cause failure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006D77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ghost commit (committing on someone else's behalf) counts as plagiarism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Safe and legal 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Penetration testing is only done on </a:t>
            </a:r>
            <a:r>
              <a:rPr sz="2000" b="1">
                <a:solidFill>
                  <a:srgbClr val="1F2D3A"/>
                </a:solidFill>
              </a:rPr>
              <a:t>your own</a:t>
            </a:r>
            <a:r>
              <a:rPr sz="2000" b="0">
                <a:solidFill>
                  <a:srgbClr val="1F2D3A"/>
                </a:solidFill>
              </a:rPr>
              <a:t> project.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55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Examples and values must be </a:t>
            </a:r>
            <a:r>
              <a:rPr sz="2000" b="1">
                <a:solidFill>
                  <a:srgbClr val="1F2D3A"/>
                </a:solidFill>
              </a:rPr>
              <a:t>synthetic</a:t>
            </a:r>
            <a:r>
              <a:rPr sz="2000" b="0">
                <a:solidFill>
                  <a:srgbClr val="1F2D3A"/>
                </a:solidFill>
              </a:rPr>
              <a:t>; no real secret, key, or personal data may enter the repo.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553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Your application must not harm anyone else's system or data.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Frequently asked questions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Can I form a team by myself?</a:t>
            </a:r>
            <a:r>
              <a:rPr sz="2000" b="0">
                <a:solidFill>
                  <a:srgbClr val="1F2D3A"/>
                </a:solidFill>
              </a:rPr>
              <a:t> Yes. The team is at most 3 students; teams are fixed at the end of week 3 (04.10.2026).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Can I change my topic after it is approved?</a:t>
            </a:r>
            <a:r>
              <a:rPr sz="2000" b="0">
                <a:solidFill>
                  <a:srgbClr val="1F2D3A"/>
                </a:solidFill>
              </a:rPr>
              <a:t> No. Once approved, the topic cannot be changed.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12. Frequently asked questions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What happens if I cannot fully meet a requirement?</a:t>
            </a:r>
            <a:r>
              <a:rPr sz="2000" b="0">
                <a:solidFill>
                  <a:srgbClr val="1F2D3A"/>
                </a:solidFill>
              </a:rPr>
              <a:t> You may defer it by recording your justification in S14.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5736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Can a requirement left incomplete at RAP1 be finished at RAP2?</a:t>
            </a:r>
            <a:r>
              <a:rPr sz="2000" b="0">
                <a:solidFill>
                  <a:srgbClr val="1F2D3A"/>
                </a:solidFill>
              </a:rPr>
              <a:t> Yes, but the RAP1 grade reflects the state at the time of that demo and is not updated afterwards.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85592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Are late submissions accepted?</a:t>
            </a:r>
            <a:r>
              <a:rPr sz="2000" b="0">
                <a:solidFill>
                  <a:srgbClr val="1F2D3A"/>
                </a:solidFill>
              </a:rPr>
              <a:t> No — the rules in the syllabus apply.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6D7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CEN429 Secure Programming · Project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2026-2027 Fall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Appendix — Project topic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100 topics · 4 groups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All data is synthetic; the server side is a simulation running only on your own computer (localhost).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Sample topic —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Offline Payment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wallet that lets a user make small payments without an internet connection. The balance and single-use payment keys live on the device; transactions reconcile with the server once connectivity returns.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612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Highlighted requirements:</a:t>
            </a:r>
            <a:r>
              <a:rPr sz="2000" b="0">
                <a:solidFill>
                  <a:srgbClr val="1F2D3A"/>
                </a:solidFill>
              </a:rPr>
              <a:t> 4.4 Data-at-rest (AES-GCM + SoftHSM), 4.3 Data-in-transit (TLS 1.3 + pinning), 4.10 RASP (keys wiped when a debugger is detected)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Sample topic —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729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200" b="1">
                <a:solidFill>
                  <a:srgbClr val="006D77"/>
                </a:solidFill>
              </a:rPr>
              <a:t>Personal Health Record Vault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8556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An application where a user keeps synthetic diagnosis, medication and allergy records in a local vault. The attacker is whoever gains hold of the device or finds a lost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18612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Highlighted requirements:</a:t>
            </a:r>
            <a:r>
              <a:rPr sz="2000" b="0">
                <a:solidFill>
                  <a:srgbClr val="1F2D3A"/>
                </a:solidFill>
              </a:rPr>
              <a:t> 4.4 Data-at-rest (SQLite + AES-GCM + SoftHSM), 4.2 Data-in-use (plaintext kept in memory only briefly), 4.11 Memory protection (a viewed record is wiped once closed)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006D77"/>
                </a:solidFill>
              </a:rPr>
              <a:t>Where is the full list?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The remaining </a:t>
            </a:r>
            <a:r>
              <a:rPr sz="2000" b="1">
                <a:solidFill>
                  <a:srgbClr val="1F2D3A"/>
                </a:solidFill>
              </a:rPr>
              <a:t>98 topics</a:t>
            </a:r>
            <a:r>
              <a:rPr sz="2000" b="0">
                <a:solidFill>
                  <a:srgbClr val="1F2D3A"/>
                </a:solidFill>
              </a:rPr>
              <a:t>, each in the same format (short description, key features, assets to protect, highlighted requirements), are in the </a:t>
            </a:r>
            <a:r>
              <a:rPr sz="2000" b="1">
                <a:solidFill>
                  <a:srgbClr val="1F2D3A"/>
                </a:solidFill>
              </a:rPr>
              <a:t>Appendix — Project topic list</a:t>
            </a:r>
            <a:r>
              <a:rPr sz="2000" b="0">
                <a:solidFill>
                  <a:srgbClr val="1F2D3A"/>
                </a:solidFill>
              </a:rPr>
              <a:t> at the end of the </a:t>
            </a:r>
            <a:r>
              <a:rPr sz="2000" b="1">
                <a:solidFill>
                  <a:srgbClr val="1F2D3A"/>
                </a:solidFill>
              </a:rPr>
              <a:t>Project Guide</a:t>
            </a:r>
            <a:r>
              <a:rPr sz="2000" b="0">
                <a:solidFill>
                  <a:srgbClr val="1F2D3A"/>
                </a:solidFill>
              </a:rPr>
              <a:t> page.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593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ucoruh.github.io/cen429-secure-programming/en/project-guide/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_logo_kucu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CEN429 Secure Programming · Project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2026-2027 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006D77"/>
                </a:solidFill>
              </a:rPr>
              <a:t>Questions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Project guide:</a:t>
            </a:r>
            <a:r>
              <a:rPr sz="2000" b="0">
                <a:solidFill>
                  <a:srgbClr val="1F2D3A"/>
                </a:solidFill>
              </a:rPr>
              <a:t> ucoruh.github.io/cen429-secure-programming/en/project-guide/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Course site:</a:t>
            </a:r>
            <a:r>
              <a:rPr sz="2000" b="0">
                <a:solidFill>
                  <a:srgbClr val="1F2D3A"/>
                </a:solidFill>
              </a:rPr>
              <a:t> ucoruh.github.io/cen429-secure-programming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CEN429 Secure Programming — Project Guide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