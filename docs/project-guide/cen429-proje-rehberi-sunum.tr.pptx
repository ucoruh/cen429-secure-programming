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sunum, ders sitesindeki "Proje Rehberi" sayfasının sunumudur; kurallar, takvim, gereksinimler ve rubrikler bu sayfadan alınır — bağlayıcı olan sayfa sitedir, bu sunum onun özetidir.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15 gereksinim rubrikteki kriterlerle birebir eşleşir (bkz. Bölüm 8); her biri hangi haftada işlendiği ve kılavuzda hangi S bölümüne yazılacağıyla birlikte verilir.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CEN429 Dönem Projesi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Proje Rehberi — 2026-2027 Güz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projede, seçtiğiniz bir uygulamayı </a:t>
            </a:r>
            <a:r>
              <a:rPr sz="2000" b="1">
                <a:solidFill>
                  <a:srgbClr val="1F2D3A"/>
                </a:solidFill>
              </a:rPr>
              <a:t>sertifikasyon sürecinden geçiyormuş gibi</a:t>
            </a:r>
            <a:r>
              <a:rPr sz="2000" b="0">
                <a:solidFill>
                  <a:srgbClr val="1F2D3A"/>
                </a:solidFill>
              </a:rPr>
              <a:t> tasarlayıp geliştireceksiniz: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C++ konsol uygulaması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güvenliğini sağlayan bir </a:t>
            </a:r>
            <a:r>
              <a:rPr sz="2000" b="1">
                <a:solidFill>
                  <a:srgbClr val="1F2D3A"/>
                </a:solidFill>
              </a:rPr>
              <a:t>dinamik kütüphane (DLL/.so)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dönem boyunca öğrendiğiniz güvenlik yöntemlerini </a:t>
            </a:r>
            <a:r>
              <a:rPr sz="2000" b="1">
                <a:solidFill>
                  <a:srgbClr val="1F2D3A"/>
                </a:solidFill>
              </a:rPr>
              <a:t>tek bir üründe</a:t>
            </a:r>
            <a:r>
              <a:rPr sz="2000" b="0">
                <a:solidFill>
                  <a:srgbClr val="1F2D3A"/>
                </a:solidFill>
              </a:rPr>
              <a:t> birleştirmek ve hepsini bir </a:t>
            </a:r>
            <a:r>
              <a:rPr sz="2000" b="1">
                <a:solidFill>
                  <a:srgbClr val="1F2D3A"/>
                </a:solidFill>
              </a:rPr>
              <a:t>güvenlik kılavuzuyla</a:t>
            </a:r>
            <a:r>
              <a:rPr sz="2000" b="0">
                <a:solidFill>
                  <a:srgbClr val="1F2D3A"/>
                </a:solidFill>
              </a:rPr>
              <a:t> (S0–S17) belgelemek.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Takım:</a:t>
            </a:r>
            <a:r>
              <a:rPr sz="1800" b="0">
                <a:solidFill>
                  <a:srgbClr val="1F2D3A"/>
                </a:solidFill>
              </a:rPr>
              <a:t> en çok 3 kişi (tek başınıza da olur); bir konuyu yalnız bir takım alır; 3. haftadan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671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(04.10.2026) sonra takım değişmez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83763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Dil/araçlar:</a:t>
            </a:r>
            <a:r>
              <a:rPr sz="1800" b="0">
                <a:solidFill>
                  <a:srgbClr val="1F2D3A"/>
                </a:solidFill>
              </a:rPr>
              <a:t> C++ (DLL/.so), CMake/CTest, SQLite, SoftHSM/PKCS#11, OpenSSL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İki teslim:</a:t>
            </a:r>
            <a:r>
              <a:rPr sz="1800" b="0">
                <a:solidFill>
                  <a:srgbClr val="1F2D3A"/>
                </a:solidFill>
              </a:rPr>
              <a:t> Vize (RAP1) — ürünün ilk yarısı; Final (RAP2) — tam ürün + test </a:t>
            </a:r>
            <a:r>
              <a:rPr sz="1800" b="1">
                <a:solidFill>
                  <a:srgbClr val="1F2D3A"/>
                </a:solidFill>
              </a:rPr>
              <a:t>sonuçları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Teslimin kalbi:</a:t>
            </a:r>
            <a:r>
              <a:rPr sz="1800" b="0">
                <a:solidFill>
                  <a:srgbClr val="1F2D3A"/>
                </a:solidFill>
              </a:rPr>
              <a:t> kodun yanında, sertifikasyon belgesi gibi yazılmış </a:t>
            </a:r>
            <a:r>
              <a:rPr sz="1800" b="1">
                <a:solidFill>
                  <a:srgbClr val="1F2D3A"/>
                </a:solidFill>
              </a:rPr>
              <a:t>güvenlik kılavuzu</a:t>
            </a:r>
            <a:r>
              <a:rPr sz="1800" b="0">
                <a:solidFill>
                  <a:srgbClr val="1F2D3A"/>
                </a:solidFill>
              </a:rPr>
              <a:t> (S0–S17)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Bütün veriler </a:t>
            </a:r>
            <a:r>
              <a:rPr sz="1800" b="1">
                <a:solidFill>
                  <a:srgbClr val="1F2D3A"/>
                </a:solidFill>
              </a:rPr>
              <a:t>sentetiktir</a:t>
            </a:r>
            <a:r>
              <a:rPr sz="1800" b="0">
                <a:solidFill>
                  <a:srgbClr val="1F2D3A"/>
                </a:solidFill>
              </a:rPr>
              <a:t>; depoda gerçek sır, anahtar ya da kişisel veri bulunmaz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Ayrıntılı puanlama anahtarı ve kanıt şablonları Microsoft Teams'te paylaşılabilir; **bu sayfadaki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9379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kriterler ve puanlar bağlayıcıdır**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2214"/>
                <a:gridCol w="801932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Vize kontrolü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7. hafta (30.10.2026) · RAP1 — ürünün ilk yarısı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Final kontrolü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15. hafta (25.12.2026) · RAP2 — tam ürün + test sonuçları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1. Takvim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931"/>
                <a:gridCol w="2537566"/>
                <a:gridCol w="6217037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sonu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Konu ve takım seçiminin son günü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09.10.2026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planının ders sorumlusuna onaylatılması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Vize gösterimi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ara rapor (RAP1)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31.10–08.11.2026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Quiz-1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(1–6. haftalar)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25.12.2026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Final gösterimi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final raporu (RAP2)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04–17.01.2027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Quiz-2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(9–14. haftalar)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Haftalık ders içeriğinin tamamı için bkz. izlence. Tarihler değişirse duyuru ders sınıfından yapılır.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2. Değerlendirme yapısı — ağırlıklar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Vize = 0,6·RAP1 + 0,4·Quiz-1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Final = 0,7·RAP2 + 0,3·Quiz-2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Başarı notu = 0,4·Vize + 0,6·Final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RAP1 (7. hafta):</a:t>
            </a:r>
            <a:r>
              <a:rPr sz="2000" b="0">
                <a:solidFill>
                  <a:srgbClr val="1F2D3A"/>
                </a:solidFill>
              </a:rPr>
              <a:t> ürünün ilk yarısı (S2–S5 + temel korumalar) </a:t>
            </a:r>
            <a:r>
              <a:rPr sz="2000" b="1">
                <a:solidFill>
                  <a:srgbClr val="1F2D3A"/>
                </a:solidFill>
              </a:rPr>
              <a:t>RAP2 (15. hafta):</a:t>
            </a:r>
            <a:r>
              <a:rPr sz="2000" b="0">
                <a:solidFill>
                  <a:srgbClr val="1F2D3A"/>
                </a:solidFill>
              </a:rPr>
              <a:t> tam ürün + S16 sonuçları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Öğrenme çıktıları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1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063"/>
                <a:gridCol w="10152471"/>
              </a:tblGrid>
              <a:tr h="52230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Yaygın yazılım güvenlik açıklarını (taşma, enjeksiyon, bellek sızıntısı) tanımlar ve sınıflandırır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şifreleme yöntemlerini ve güvenli iletişim ilkelerini (SSL/TLS) açıklar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 tekniklerini (girdi doğrulama, güvenli bellek, RASP, kod gizleme) açıklar ve uygular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230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ve kimlik doğrulama ile güvenli iletişim kanalları kurma ilkelerini açıklar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Öğrenme çıktıları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2498"/>
                <a:gridCol w="10139036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yazılım tasarımı ilkeleriyle (en az ayrıcalık, savunma derinliği) bir koruma planı oluşturur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 güvenlik açıklarını tespit etmek için temel güvenlik incelemesi ve açık değerlendirmesi yapar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programlama standartlarını (ETSI, EMV, FIPS) ve sızma testi planlaması ilkelerini 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09467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iki kontrol de bütün öğrenme çıktılarına dokunur; RAP1 temel/erken düzeyi, RAP2 ileri düzeyi ve tam ürünü ölçer.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3. Araçlar ve kurulum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1047"/>
                <a:gridCol w="4067026"/>
                <a:gridCol w="327346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için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C++ derleyicisi (GCC/Clang/MSVC)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Konsol uygulaması + DLL/.so derlemesi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binary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CMake + CTest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sistemi + birim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Beklemedeki 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şeması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SoftHSM / PKCS#11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sarma/saklama benzetimi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deposu yapılandırması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3. Araçlar ve kurulum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7558"/>
                <a:gridCol w="3762598"/>
                <a:gridCol w="489137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için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Kriptografi, TLS, imzalama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bağlantısı + sertifikalar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Doxygen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belgelendirmesi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PDF/HTML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/ GitHub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 kontrolü, iş birliği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Commit geçmişi, çekme isteği (PR)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GitHub Actions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Sürekli entegrasyon (CI)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Yeşil derleme/test rozeti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deposu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Şablon: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1F2D3A"/>
                </a:solidFill>
              </a:rPr>
              <a:t>`ucoruh/cpp-cmake-ctest-template`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Fork edin,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cen429-proje-ad-soyad-cpp</a:t>
            </a:r>
            <a:r>
              <a:rPr sz="2000" b="0">
                <a:solidFill>
                  <a:srgbClr val="1F2D3A"/>
                </a:solidFill>
              </a:rPr>
              <a:t> adıyla adlandırın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Özel (private)</a:t>
            </a:r>
            <a:r>
              <a:rPr sz="2000" b="0">
                <a:solidFill>
                  <a:srgbClr val="1F2D3A"/>
                </a:solidFill>
              </a:rPr>
              <a:t> yapın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sorumlusunu ve varsa takım arkadaşınızı </a:t>
            </a:r>
            <a:r>
              <a:rPr sz="2000" b="1">
                <a:solidFill>
                  <a:srgbClr val="1F2D3A"/>
                </a:solidFill>
              </a:rPr>
              <a:t>işbirlikçi (collaborator)</a:t>
            </a:r>
            <a:r>
              <a:rPr sz="2000" b="0">
                <a:solidFill>
                  <a:srgbClr val="1F2D3A"/>
                </a:solidFill>
              </a:rPr>
              <a:t> olarak ekleyin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64864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!!! tip "Şablonu tam kullanın" Şablon; derleme, CTest ile birim testi, dokümantasyon üretimi, test/dokümantasyon kapsamı ölçümü ve paketlemeyi sağlar. Şablon standartlarına uymayan teslimler kabul edilmez. Sürüm (release) üretin; sürüm kimliği ve özet değerlerini kaydedin.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düzeni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lib/</a:t>
            </a:r>
            <a:r>
              <a:rPr sz="2000" b="0">
                <a:solidFill>
                  <a:srgbClr val="1F2D3A"/>
                </a:solidFill>
              </a:rPr>
              <a:t> — güvenlik kütüphanesi (DLL/.so): kriptografi, RASP, kod gizleme, veri koruma fonksiyonları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app/</a:t>
            </a:r>
            <a:r>
              <a:rPr sz="2000" b="0">
                <a:solidFill>
                  <a:srgbClr val="1F2D3A"/>
                </a:solidFill>
              </a:rPr>
              <a:t> — konsol uygulaması: kütüphaneyi kullanan kullanıcı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test/</a:t>
            </a:r>
            <a:r>
              <a:rPr sz="2000" b="0">
                <a:solidFill>
                  <a:srgbClr val="1F2D3A"/>
                </a:solidFill>
              </a:rPr>
              <a:t> — CTest birim testleri (kripto ve koruma fonksiyonları)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Geliştirme ortamı kurulumu ve ön bilgi için bkz. </a:t>
            </a:r>
            <a:r>
              <a:rPr sz="2000" b="1">
                <a:solidFill>
                  <a:srgbClr val="1F2D3A"/>
                </a:solidFill>
              </a:rPr>
              <a:t>Ön gereksinimler</a:t>
            </a:r>
            <a:r>
              <a:rPr sz="2000" b="0">
                <a:solidFill>
                  <a:srgbClr val="1F2D3A"/>
                </a:solidFill>
              </a:rPr>
              <a:t> sayfası.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Konu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 konuları rehber sayfasının sonundaki </a:t>
            </a:r>
            <a:r>
              <a:rPr sz="2000" b="1">
                <a:solidFill>
                  <a:srgbClr val="1F2D3A"/>
                </a:solidFill>
              </a:rPr>
              <a:t>Ek — Proje konuları listesi</a:t>
            </a:r>
            <a:r>
              <a:rPr sz="2000" b="0">
                <a:solidFill>
                  <a:srgbClr val="1F2D3A"/>
                </a:solidFill>
              </a:rPr>
              <a:t> bölümündedir (</a:t>
            </a:r>
            <a:r>
              <a:rPr sz="2000" b="1">
                <a:solidFill>
                  <a:srgbClr val="1F2D3A"/>
                </a:solidFill>
              </a:rPr>
              <a:t>100 konu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konu kutusunda: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Uygulamanın kısa tanımı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özellikleri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Korunacak varlıklar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konuda </a:t>
            </a:r>
            <a:r>
              <a:rPr sz="2000" b="1">
                <a:solidFill>
                  <a:srgbClr val="1F2D3A"/>
                </a:solidFill>
              </a:rPr>
              <a:t>öne çıkan güvenlik gereksinimleri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seçilir?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Rehber sayfasının sonundaki listeyi inceleyin ve bir konu seçin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Seçiminizi Microsoft Teams'teki </a:t>
            </a:r>
            <a:r>
              <a:rPr sz="2000" b="1">
                <a:solidFill>
                  <a:srgbClr val="1F2D3A"/>
                </a:solidFill>
              </a:rPr>
              <a:t>takım ve konu tablosuna</a:t>
            </a:r>
            <a:r>
              <a:rPr sz="2000" b="0">
                <a:solidFill>
                  <a:srgbClr val="1F2D3A"/>
                </a:solidFill>
              </a:rPr>
              <a:t> yazın — </a:t>
            </a:r>
            <a:r>
              <a:rPr sz="2000" b="1">
                <a:solidFill>
                  <a:srgbClr val="1F2D3A"/>
                </a:solidFill>
              </a:rPr>
              <a:t>bir konuyu yalnız bir takım alabilir</a:t>
            </a:r>
            <a:r>
              <a:rPr sz="2000" b="0">
                <a:solidFill>
                  <a:srgbClr val="1F2D3A"/>
                </a:solidFill>
              </a:rPr>
              <a:t>, tabloya ilk yazan takım 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Proje planınızla birlikte ders sorumlusuna onaylatın; </a:t>
            </a:r>
            <a:r>
              <a:rPr sz="2000" b="1">
                <a:solidFill>
                  <a:srgbClr val="1F2D3A"/>
                </a:solidFill>
              </a:rPr>
              <a:t>onaydan sonra konu değiştirilmez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Konu seçiminde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5. bölümdeki 15 gereksinimin </a:t>
            </a:r>
            <a:r>
              <a:rPr sz="2000" b="1">
                <a:solidFill>
                  <a:srgbClr val="1F2D3A"/>
                </a:solidFill>
              </a:rPr>
              <a:t>hepsi</a:t>
            </a:r>
            <a:r>
              <a:rPr sz="2000" b="0">
                <a:solidFill>
                  <a:srgbClr val="1F2D3A"/>
                </a:solidFill>
              </a:rPr>
              <a:t> her projede geçerlidir; konu kutusundaki "öne çıkan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gereksinimler" o konuda en doğal ve en çok puan getiren uygulama yerlerini gösterir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130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Listede olmayan bir fikriniz varsa, ders sorumlusunun onayıyla seçebilirsiniz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 tekrar alıyorsanız </a:t>
            </a:r>
            <a:r>
              <a:rPr sz="2000" b="1">
                <a:solidFill>
                  <a:srgbClr val="1F2D3A"/>
                </a:solidFill>
              </a:rPr>
              <a:t>önceki projenizden farklı</a:t>
            </a:r>
            <a:r>
              <a:rPr sz="2000" b="0">
                <a:solidFill>
                  <a:srgbClr val="1F2D3A"/>
                </a:solidFill>
              </a:rPr>
              <a:t> bir konu seçin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Gereksinimler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15 gereksinim · vize ve final kapsamına ayrılmış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Her maddeyi ya karşılayın ya da gerekçeli olarak devredin/kapsam dışı bırakın (13. hafta, S14)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 Geliştirme ortamı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5.1 Vize kapsamı (RAP1)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1, 12 · S13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821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 geliştirme akışı ve </a:t>
            </a:r>
            <a:r>
              <a:rPr sz="2000" b="1">
                <a:solidFill>
                  <a:srgbClr val="1F2D3A"/>
                </a:solidFill>
              </a:rPr>
              <a:t>değişiklik yönetimi</a:t>
            </a:r>
            <a:r>
              <a:rPr sz="2000" b="0">
                <a:solidFill>
                  <a:srgbClr val="1F2D3A"/>
                </a:solidFill>
              </a:rPr>
              <a:t> (temel çizgi → talep → sınıflandırma → onay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655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yayın → doğrulama)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151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</a:t>
            </a:r>
            <a:r>
              <a:rPr sz="2000" b="0">
                <a:solidFill>
                  <a:srgbClr val="1F2D3A"/>
                </a:solidFill>
              </a:rPr>
              <a:t> ile sürüm kontrolü; erişim kaydı; imzalı sürüm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 bilgisayarı/sunucu güvenliği (kısa politika)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4.2 Kullanımdaki veri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3, 6 · S7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Bellekteki hassas veri kullanımdan sonra </a:t>
            </a:r>
            <a:r>
              <a:rPr sz="2000" b="1">
                <a:solidFill>
                  <a:srgbClr val="1F2D3A"/>
                </a:solidFill>
              </a:rPr>
              <a:t>güvenli silinir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 benzeri)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zamanı veri koruması (gölge kopya/bütünlük — 6. hafta)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4.3 Aktarımdaki veri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3, 10 · S6, S11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; sertifika zinciri +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doğrulaması; </a:t>
            </a:r>
            <a:r>
              <a:rPr sz="2000" b="1">
                <a:solidFill>
                  <a:srgbClr val="1F2D3A"/>
                </a:solidFill>
              </a:rPr>
              <a:t>sabitleme (pinning)</a:t>
            </a:r>
            <a:r>
              <a:rPr sz="2000" b="0">
                <a:solidFill>
                  <a:srgbClr val="1F2D3A"/>
                </a:solidFill>
              </a:rPr>
              <a:t> + yedek pin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Şifrelenmiş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; bütünlük + kimlik doğrulama; sunucu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doğrulama kodu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4.4 Beklemedeki veri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3, 10, 11 · S8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Dosya/DB şifreleme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(AES-GCM); nonce tekrarsız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anahtarlar için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SoftHSM/PKCS#11</a:t>
            </a:r>
            <a:r>
              <a:rPr sz="2000" b="0">
                <a:solidFill>
                  <a:srgbClr val="1F2D3A"/>
                </a:solidFill>
              </a:rPr>
              <a:t>; kararın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(11. hafta)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4.8 Arayüz tanımları ve korunması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1, 4 · S3, S6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arayüzler erişim kontrolü + kimlik doğrulama ile korunur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 doğrulanır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4.9 Kod sağlamlaştırma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4, 9, 14 · S9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döngü/yüklem, ad/dosya/dize/aritmetik gizleme, opak boolean, sahte işlem/ölü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düzleştirme</a:t>
            </a:r>
            <a:r>
              <a:rPr sz="2000" b="0">
                <a:solidFill>
                  <a:srgbClr val="1F2D3A"/>
                </a:solidFill>
              </a:rPr>
              <a:t> + rastgele çıkış, sürümde </a:t>
            </a:r>
            <a:r>
              <a:rPr sz="2000" b="1">
                <a:solidFill>
                  <a:srgbClr val="1F2D3A"/>
                </a:solidFill>
              </a:rPr>
              <a:t>log kapalı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Maliyeti </a:t>
            </a:r>
            <a:r>
              <a:rPr sz="2000" b="1">
                <a:solidFill>
                  <a:srgbClr val="1F2D3A"/>
                </a:solidFill>
              </a:rPr>
              <a:t>ölçün</a:t>
            </a:r>
            <a:r>
              <a:rPr sz="2000" b="0">
                <a:solidFill>
                  <a:srgbClr val="1F2D3A"/>
                </a:solidFill>
              </a:rPr>
              <a:t> (9/14. hafta demoları)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4.10 RASP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6 · S10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Checksum bütünlük denetimi, çağıran uygulama hash/imza doğrulaması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Kök/emülatör tespiti, </a:t>
            </a:r>
            <a:r>
              <a:rPr sz="2000" b="1">
                <a:solidFill>
                  <a:srgbClr val="1F2D3A"/>
                </a:solidFill>
              </a:rPr>
              <a:t>hook/anti-debug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(tamper) tespiti + yanıt, kontrol akışı sayacı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4.11 Bellek koruması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4 · S9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 (yığın koruyucu, PIE, RELRO, NX, CFI)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veri kullanım sonrası temizlenir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4.5 Statik varlıkların korunması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5.2 Final kapsamı (RAP2)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1, 4, 9 · S5, S9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82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anahtarlar, özet değerleri, kaynak kodu, kaynaklar: </a:t>
            </a:r>
            <a:r>
              <a:rPr sz="2000" b="1">
                <a:solidFill>
                  <a:srgbClr val="1F2D3A"/>
                </a:solidFill>
              </a:rPr>
              <a:t>şifreleme + erişim kontrolü + gizleme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4.6 Dinamik varlıkların korunması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3, 6 · S5, S8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Cihaz/uygulama parmak izleri, oturum verileri, dinamik anahtarlar </a:t>
            </a:r>
            <a:r>
              <a:rPr sz="2000" b="1">
                <a:solidFill>
                  <a:srgbClr val="1F2D3A"/>
                </a:solidFill>
              </a:rPr>
              <a:t>şifrelenir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4.7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1, 3, 13 · 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varlık için: </a:t>
            </a:r>
            <a:r>
              <a:rPr sz="2000" b="1">
                <a:solidFill>
                  <a:srgbClr val="1F2D3A"/>
                </a:solidFill>
              </a:rPr>
              <a:t>ad, açıklama, konum (tablo/sütun), kaynak, boyut, oluşturma/silme zamanı, varsayılan, koruma şeması (C/I/I+)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4.12 Kriptografi ve sertifikalar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3, 10 · S8, S11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algoritma/kip/dolgu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doğrulaması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==1</a:t>
            </a:r>
            <a:r>
              <a:rPr sz="2000" b="0">
                <a:solidFill>
                  <a:srgbClr val="1F2D3A"/>
                </a:solidFill>
              </a:rPr>
              <a:t>, sürüm kapsamı)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SSL/TLS + pinning + karşılıklı kimlik doğrulama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4.13 Sertifikasyon ve sızma testi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12, 13 · S16, S14, S17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eşlemesi (ETSI/EMVCo/GSMA/PCI/MASVS)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 (kapsam, kurallar, yöntem, test kartı) ve </a:t>
            </a:r>
            <a:r>
              <a:rPr sz="2000" b="1">
                <a:solidFill>
                  <a:srgbClr val="1F2D3A"/>
                </a:solidFill>
              </a:rPr>
              <a:t>sonuçları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+ CVSS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4.14 Binary uygulama koruması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6, 9, 11, 14 · S9, S10, S15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Tespit</a:t>
            </a:r>
            <a:r>
              <a:rPr sz="2000" b="0">
                <a:solidFill>
                  <a:srgbClr val="1F2D3A"/>
                </a:solidFill>
              </a:rPr>
              <a:t> (checksum, anti-debug, emülatör)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</a:t>
            </a:r>
            <a:r>
              <a:rPr sz="2000" b="0">
                <a:solidFill>
                  <a:srgbClr val="1F2D3A"/>
                </a:solidFill>
              </a:rPr>
              <a:t> (gizleme, dize/kaynak şifreleme, çağrı gizleme)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(yanıt/kapanma politikası)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4.15 OWASP ve derleme/dağıtım hattı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5, 14 · S13, S15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OWASP MASVS/ASVS ilkeleri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(CycloneDX) + bağımlılık taraması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+ imzalama içeren derleme hattı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5.3 Her iki kontrolde ortak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olmalı; depoda gerçek sır, anahtar ya da kişisel veri </a:t>
            </a:r>
            <a:r>
              <a:rPr sz="2000" b="1">
                <a:solidFill>
                  <a:srgbClr val="1F2D3A"/>
                </a:solidFill>
              </a:rPr>
              <a:t>bulunmaz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maddesi kod içinde </a:t>
            </a:r>
            <a:r>
              <a:rPr sz="2000" b="1">
                <a:solidFill>
                  <a:srgbClr val="1F2D3A"/>
                </a:solidFill>
              </a:rPr>
              <a:t>görülebilir</a:t>
            </a:r>
            <a:r>
              <a:rPr sz="2000" b="0">
                <a:solidFill>
                  <a:srgbClr val="1F2D3A"/>
                </a:solidFill>
              </a:rPr>
              <a:t> olmalı ve güvenlik kılavuzunun ilgili S bölümünde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92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belgelenmelidir</a:t>
            </a:r>
            <a:r>
              <a:rPr sz="2000" b="0">
                <a:solidFill>
                  <a:srgbClr val="1F2D3A"/>
                </a:solidFill>
              </a:rPr>
              <a:t>; belgelenmeyen bir uygulama karşılanmamış sayılır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894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karşılanamıyorsa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S14'e yazılır; sessizce atlanamaz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yalnız kendi bilgisayarınızda (localhost) çalışır; başka bir sisteme veya veriye zarar vermez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6. Teslim edilecekler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973"/>
                <a:gridCol w="3719841"/>
                <a:gridCol w="6571719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Teslim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Biçim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deposu (fork), C++ DLL/.so + SQLite +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Birim testleri + CI kaydı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CTest raporu + CI günlüğü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kılavuzu (S0–S17)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.docx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.pdf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vizede S0–S5, finalde 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sonuçları (S16)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bölümü — yalnız final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6. Teslim edilecekler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978"/>
                <a:gridCol w="4364614"/>
                <a:gridCol w="605094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Teslim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Biçim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Uyum matrisi (S17) + devredilenler (S14)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bölümü — yalnız final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 + bağımlılık taraması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CycloneDX dosyası — yalnız final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 (release)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etiketi: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midterm-v1.0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final-v1.0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Gösterim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Canlı sunum (~10 dk) — vizede 7. hafta, finalde 15.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Güvenlik kılavuzu bölümleri (S0–S17)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0504"/>
                <a:gridCol w="5381030"/>
              </a:tblGrid>
              <a:tr h="33741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S0–S8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S9–S17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S0 Kapak, sürüm geçmişi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Kod sağlamlaştırma (ileri)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Kapsam, kısaltmalar, kaynaklar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 RASP + tepki politikası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S2 Ürün ve mimari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 Güvenli iletişim (TLS)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S3 Arayüzler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 Raporlama/günlükleme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S4 Tehdit modeli (STRIDE, ağaç)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Geliştirme süreci, SBOM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Varlık listesi +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 Varsayımlar ve devredilenler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Kimlik/bağlama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Derleme, imzalama,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Veri güvenliği + kabuk matrisi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Güvenlik testi ve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 Kripto, anahtar 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Gereksinim uyum matrisi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ZIP arşivi yapısı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cen429-vize-ad-soyad.zip                  # final: cen429-final-ad-soyad.zip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└── cen429-proje-ad-soyad-cpp/            # GitHub deposunun klonu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lib/                              # güvenlik kütüphanesi (DLL/.so)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app/                              # konsol uygulaması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test/                             # CTest birim testleri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docs/                             # Doxygen çıktısı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security-guide/                   # S0–S17 güvenlik kılavuzu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sbom/                             # CycloneDX SBOM (final)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test-coverage/                    # CTest kapsam raporu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└── README.md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Adlandırma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Depo: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cen429-proje-ad-soyad-cpp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Arşiv: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cen429-vize-ad-soyad.zip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cen429-final-ad-soyad.zip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kılavuzu dosyası: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cen429-guvenlik-kilavuzu-ad-soyad.docx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Rapor/kılavuzun kapak sayfasında </a:t>
            </a:r>
            <a:r>
              <a:rPr sz="2000" b="1">
                <a:solidFill>
                  <a:srgbClr val="1F2D3A"/>
                </a:solidFill>
              </a:rPr>
              <a:t>GitHub deposu bağlantısı</a:t>
            </a:r>
            <a:r>
              <a:rPr sz="2000" b="0">
                <a:solidFill>
                  <a:srgbClr val="1F2D3A"/>
                </a:solidFill>
              </a:rPr>
              <a:t> bulunur.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7. Takım çalışması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GitHub Flow: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main</a:t>
            </a:r>
            <a:r>
              <a:rPr sz="2000" b="0">
                <a:solidFill>
                  <a:srgbClr val="1F2D3A"/>
                </a:solidFill>
              </a:rPr>
              <a:t> dalı korumalıdır, doğrudan commit yapılmaz; her iş için ayrı bir özellik dalı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(feature branch) açılır, birleştirme </a:t>
            </a:r>
            <a:r>
              <a:rPr sz="2000" b="1">
                <a:solidFill>
                  <a:srgbClr val="1F2D3A"/>
                </a:solidFill>
              </a:rPr>
              <a:t>çekme isteği (pull request)</a:t>
            </a:r>
            <a:r>
              <a:rPr sz="2000" b="0">
                <a:solidFill>
                  <a:srgbClr val="1F2D3A"/>
                </a:solidFill>
              </a:rPr>
              <a:t> ile yapılır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Commit mesajı kuralı: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1F2D3A"/>
                </a:solidFill>
              </a:rPr>
              <a:t>Conventional Commits</a:t>
            </a:r>
            <a:r>
              <a:rPr sz="2000" b="0">
                <a:solidFill>
                  <a:srgbClr val="1F2D3A"/>
                </a:solidFill>
              </a:rPr>
              <a:t>, ör.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01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feat(crypto): add AES-GCM wrapper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fix(rasp): correct debugger detection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7. Takım çalışması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3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Çekme isteği + inceleme:</a:t>
            </a:r>
            <a:r>
              <a:rPr sz="2000" b="0">
                <a:solidFill>
                  <a:srgbClr val="1F2D3A"/>
                </a:solidFill>
              </a:rPr>
              <a:t> her PR en az bir takım arkadaşınca </a:t>
            </a:r>
            <a:r>
              <a:rPr sz="2000" b="1">
                <a:solidFill>
                  <a:srgbClr val="1F2D3A"/>
                </a:solidFill>
              </a:rPr>
              <a:t>incelenir (code review)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Issues + Projects panosu:</a:t>
            </a:r>
            <a:r>
              <a:rPr sz="2000" b="0">
                <a:solidFill>
                  <a:srgbClr val="1F2D3A"/>
                </a:solidFill>
              </a:rPr>
              <a:t> Backlog → In Progress → In Review → Done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yeşil olmadan birleştirme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Sürüm etiketleri:</a:t>
            </a:r>
            <a:r>
              <a:rPr sz="2000" b="0">
                <a:solidFill>
                  <a:srgbClr val="1F2D3A"/>
                </a:solidFill>
              </a:rPr>
              <a:t> vize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midterm-v1.0</a:t>
            </a:r>
            <a:r>
              <a:rPr sz="2000" b="0">
                <a:solidFill>
                  <a:srgbClr val="1F2D3A"/>
                </a:solidFill>
              </a:rPr>
              <a:t>, final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final-v1.0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"Bitti" tanımı:</a:t>
            </a:r>
            <a:r>
              <a:rPr sz="2000" b="0">
                <a:solidFill>
                  <a:srgbClr val="1F2D3A"/>
                </a:solidFill>
              </a:rPr>
              <a:t> derleniyor · birim testi var · kapsam düşmedi · PR onaylandı · CI yeşil · kılavuz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7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güncellendi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Rubrikler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Her kriter 1–5 düzeyinde puanlanır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Puan = (düzey ÷ 5) × kriter puanı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8.1 Başarı düzeyleri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5229"/>
                <a:gridCol w="7856305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5 — Mükemmel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şey çalışıyor, test edilmiş ve belgelenmiş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4 — İyi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eksikler; genel olarak tamam ve test edilmiş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3 — Yeterli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işlemler çalışıyor; belirgin eksikler 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2 — Zayıf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Derleniyor ama işlemlerin çoğu yanlış ya da eksik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1 — Kanıt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Teslim edilmemiş ya da çalışmıyor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8.2 RAP1 rubriği (7. hafta, 100 puan)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7864"/>
                <a:gridCol w="6604350"/>
                <a:gridCol w="2010019"/>
                <a:gridCol w="1579301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 ve varlık listesi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ÖÇ.1, ÖÇ.5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güvenliği: aktarım, bekleme, 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ÖÇ.2, ÖÇ.4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 ve bellek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 ve tepki politikası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 ortamı ve değişiklik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Birim testleri ve 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kılavuzu (S0–S5) ve gösterim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Toplam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8.3 RAP2 rubriği (15. hafta, 100 puan)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41202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5337"/>
                <a:gridCol w="6919510"/>
                <a:gridCol w="1862945"/>
                <a:gridCol w="1463742"/>
              </a:tblGrid>
              <a:tr h="45780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 ve sertifikalar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ÖÇ.2, ÖÇ.4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Binary uygulama koruması, gizleme, 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Varlık yönetimi ve dinamik varlıklar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testi ve gözlenen sonuçlar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Standartlar, uyum matrisi,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OWASP, SBOM ve derleme/dağıtım hattı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ÖÇ.1, ÖÇ.5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Rapor, sunum ve gösterim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14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Toplam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5589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satır bir </a:t>
            </a:r>
            <a:r>
              <a:rPr sz="1800" b="1">
                <a:solidFill>
                  <a:srgbClr val="1F2D3A"/>
                </a:solidFill>
              </a:rPr>
              <a:t>kanıt</a:t>
            </a:r>
            <a:r>
              <a:rPr sz="1800" b="0">
                <a:solidFill>
                  <a:srgbClr val="1F2D3A"/>
                </a:solidFill>
              </a:rPr>
              <a:t> ister: "karşılandı" diyen satırın kanıtı yoksa karşılanmamış sayılır.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9. Kabul koşulları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Teslim kabul edilmez, eğer…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63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GitHub deposu yoksa, </a:t>
            </a:r>
            <a:r>
              <a:rPr sz="2000" b="1">
                <a:solidFill>
                  <a:srgbClr val="1F2D3A"/>
                </a:solidFill>
              </a:rPr>
              <a:t>özel (private)</a:t>
            </a:r>
            <a:r>
              <a:rPr sz="2000" b="0">
                <a:solidFill>
                  <a:srgbClr val="1F2D3A"/>
                </a:solidFill>
              </a:rPr>
              <a:t> değilse ya da takım üyelerinin commit'i görünmüyorsa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gereksinimlerin karşılanma oranı asgari eşiğin altındaysa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 ya da arşivde </a:t>
            </a:r>
            <a:r>
              <a:rPr sz="2000" b="1">
                <a:solidFill>
                  <a:srgbClr val="1F2D3A"/>
                </a:solidFill>
              </a:rPr>
              <a:t>binary dosyalar</a:t>
            </a:r>
            <a:r>
              <a:rPr sz="2000" b="0">
                <a:solidFill>
                  <a:srgbClr val="1F2D3A"/>
                </a:solidFill>
              </a:rPr>
              <a:t> (derlenmiş 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.dll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 varsa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(release) üretilmemişse, uygulama Windows ya da WSL/Linux'ta </a:t>
            </a:r>
            <a:r>
              <a:rPr sz="2000" b="1">
                <a:solidFill>
                  <a:srgbClr val="1F2D3A"/>
                </a:solidFill>
              </a:rPr>
              <a:t>derlenmiyor/çalışmıyorsa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 gerçek sır, anahtar ya da kişisel veri varsa, </a:t>
            </a:r>
            <a:r>
              <a:rPr sz="2000" b="1">
                <a:solidFill>
                  <a:srgbClr val="1F2D3A"/>
                </a:solidFill>
              </a:rPr>
              <a:t>intihal</a:t>
            </a:r>
            <a:r>
              <a:rPr sz="2000" b="0">
                <a:solidFill>
                  <a:srgbClr val="1F2D3A"/>
                </a:solidFill>
              </a:rPr>
              <a:t> tespit edilmişse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10. Gösterimde sorulacaklar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Git/GitHub:</a:t>
            </a:r>
            <a:r>
              <a:rPr sz="2000" b="0">
                <a:solidFill>
                  <a:srgbClr val="1F2D3A"/>
                </a:solidFill>
              </a:rPr>
              <a:t> Şablonu doğru adla fork ettiniz mi? Depo özel mi, ders sorumlusu işbirlikçi mi? 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iki üyenin de commit'i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Kurulum-derleme:</a:t>
            </a:r>
            <a:r>
              <a:rPr sz="2000" b="0">
                <a:solidFill>
                  <a:srgbClr val="1F2D3A"/>
                </a:solidFill>
              </a:rPr>
              <a:t> Uygulamayı ve kütüphaneyi Windows'ta ve WSL/Linux'ta derleyin;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app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01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ayrımını gösterin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10. Gösterimde sorulacaklar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(satır satır):</a:t>
            </a:r>
            <a:r>
              <a:rPr sz="2000" b="0">
                <a:solidFill>
                  <a:srgbClr val="1F2D3A"/>
                </a:solidFill>
              </a:rPr>
              <a:t> Seçtiğiniz güvenlik gereksinimini kodda satır satır açıklayın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 ve belge:</a:t>
            </a:r>
            <a:r>
              <a:rPr sz="2000" b="0">
                <a:solidFill>
                  <a:srgbClr val="1F2D3A"/>
                </a:solidFill>
              </a:rPr>
              <a:t> Birim testlerini ve kapsam raporunu açın; kılavuzun ilgili S bölümünü gösterin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Dosya/veri işlemleri:</a:t>
            </a:r>
            <a:r>
              <a:rPr sz="2000" b="0">
                <a:solidFill>
                  <a:srgbClr val="1F2D3A"/>
                </a:solidFill>
              </a:rPr>
              <a:t> Bir kayıt ekleyin, programı kapatıp yeniden açın, verinin şifreli geldiğini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454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gösterin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9506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Programlama:</a:t>
            </a:r>
            <a:r>
              <a:rPr sz="2000" b="0">
                <a:solidFill>
                  <a:srgbClr val="1F2D3A"/>
                </a:solidFill>
              </a:rPr>
              <a:t> Bellek yönetimi, işaretçiler, derleyici/OS korumaları, hata ayıklayıcıda inceleme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11. Mesleki sorumluluk ve akademik dürüstlük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 ettiğiniz her satırı </a:t>
            </a:r>
            <a:r>
              <a:rPr sz="2000" b="1">
                <a:solidFill>
                  <a:srgbClr val="1F2D3A"/>
                </a:solidFill>
              </a:rPr>
              <a:t>açıklayabilmelisiniz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Başkasının kodunu/metnini kullandıysanız </a:t>
            </a:r>
            <a:r>
              <a:rPr sz="2000" b="1">
                <a:solidFill>
                  <a:srgbClr val="1F2D3A"/>
                </a:solidFill>
              </a:rPr>
              <a:t>kaynağını belirtin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örnekler ve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İntihal</a:t>
            </a:r>
            <a:r>
              <a:rPr sz="2000" b="0">
                <a:solidFill>
                  <a:srgbClr val="1F2D3A"/>
                </a:solidFill>
              </a:rPr>
              <a:t> ve izinsiz kopyalama başarısızlık nedenidir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Hayalet commit (başkası adına commit atmak) intihal sayılır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ve yasal çerçeve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üzerinde yapılır.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Örnekler ve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olmalı; hiçbir gerçek sır, anahtar ya da kişisel veri depoya girmemeli.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Uygulamanız başkasının sistemine/verisine zarar vermemeli.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12. Sık sorulan sorular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Takımı tek başıma kurabilir miyim?</a:t>
            </a:r>
            <a:r>
              <a:rPr sz="2000" b="0">
                <a:solidFill>
                  <a:srgbClr val="1F2D3A"/>
                </a:solidFill>
              </a:rPr>
              <a:t> Evet. Takım en çok 3 kişidir; takımlar 3. haftanın sonunda (04.10.2026) kesinleşir.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Konumu onaydan sonra değiştirebilir miyim?</a:t>
            </a:r>
            <a:r>
              <a:rPr sz="2000" b="0">
                <a:solidFill>
                  <a:srgbClr val="1F2D3A"/>
                </a:solidFill>
              </a:rPr>
              <a:t> Hayır. Onaydan sonra konu değişmez.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12. Sık sorulan sorular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tam karşılayamazsam ne olur?</a:t>
            </a:r>
            <a:r>
              <a:rPr sz="2000" b="0">
                <a:solidFill>
                  <a:srgbClr val="1F2D3A"/>
                </a:solidFill>
              </a:rPr>
              <a:t> S14'e gerekçenizi yazarak devredebilir ya da kapsam dışı bırakabilirsiniz.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RAP1'de eksik kalan bir gereksinim RAP2'de tamamlanabilir mi?</a:t>
            </a:r>
            <a:r>
              <a:rPr sz="2000" b="0">
                <a:solidFill>
                  <a:srgbClr val="1F2D3A"/>
                </a:solidFill>
              </a:rPr>
              <a:t> Evet, ama RAP1 puanı gösterim anındaki duruma göre verilir ve güncellenmez.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Geç teslim kabul edilir mi?</a:t>
            </a:r>
            <a:r>
              <a:rPr sz="2000" b="0">
                <a:solidFill>
                  <a:srgbClr val="1F2D3A"/>
                </a:solidFill>
              </a:rPr>
              <a:t> Hayır — izlencedeki kurallar geçerlidir.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— Proje konuları listesi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100 konu · 4 grup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Bütün veriler sentetiktir; sunucu tarafı yalnız kendi bilgisayarınızda (localhost) çalışan bir benzetimdir.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konu —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Çevrimdışı Ödeme Cüzdanı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Kullanıcının internet olmadan küçük ödemeler yapabildiği bir cüzdan. Bakiye ve tek kullanımlık ödeme anahtarları cihazda durur; bağlantı gelince işlemler sunucuyla eşleşir.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1861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 çıkan gereksinimler:</a:t>
            </a:r>
            <a:r>
              <a:rPr sz="2000" b="0">
                <a:solidFill>
                  <a:srgbClr val="1F2D3A"/>
                </a:solidFill>
              </a:rPr>
              <a:t> 4.4 Beklemedeki veri (AES-GCM + SoftHSM), 4.3 Aktarımdaki veri (TLS 1.3 + sabitleme), 4.10 RASP (hata ayıklayıcı algılanınca anahtar silinir)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konu —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Kişisel Sağlık Kaydı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Kullanıcının sentetik tanı, ilaç ve alerji kayıtlarını yerel bir kasada tuttuğu uygulama. Saldırgan, cihazı ele geçiren ya da kaybolan cihazı bulan kişidir.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41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 çıkan gereksinimler:</a:t>
            </a:r>
            <a:r>
              <a:rPr sz="2000" b="0">
                <a:solidFill>
                  <a:srgbClr val="1F2D3A"/>
                </a:solidFill>
              </a:rPr>
              <a:t> 4.4 Beklemedeki veri (SQLite + AES-GCM + SoftHSM), 4.2 Kullanımdaki veri (sınırlı süre bellekte açık), 4.11 Bellek koruması (görüntülenen kayıt kapatılınca silinir)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liste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Kalan </a:t>
            </a:r>
            <a:r>
              <a:rPr sz="2000" b="1">
                <a:solidFill>
                  <a:srgbClr val="1F2D3A"/>
                </a:solidFill>
              </a:rPr>
              <a:t>98 konu</a:t>
            </a:r>
            <a:r>
              <a:rPr sz="2000" b="0">
                <a:solidFill>
                  <a:srgbClr val="1F2D3A"/>
                </a:solidFill>
              </a:rPr>
              <a:t>, her biri aynı biçimde (kısa tanım, temel özellikler, korunacak varlıklar, öne çıkan gereksinimler) </a:t>
            </a:r>
            <a:r>
              <a:rPr sz="2000" b="1">
                <a:solidFill>
                  <a:srgbClr val="1F2D3A"/>
                </a:solidFill>
              </a:rPr>
              <a:t>Proje Rehberi</a:t>
            </a:r>
            <a:r>
              <a:rPr sz="2000" b="0">
                <a:solidFill>
                  <a:srgbClr val="1F2D3A"/>
                </a:solidFill>
              </a:rPr>
              <a:t> sayfasının sonundaki </a:t>
            </a:r>
            <a:r>
              <a:rPr sz="2000" b="1">
                <a:solidFill>
                  <a:srgbClr val="1F2D3A"/>
                </a:solidFill>
              </a:rPr>
              <a:t>Ek — Proje konuları listesi</a:t>
            </a:r>
            <a:r>
              <a:rPr sz="2000" b="0">
                <a:solidFill>
                  <a:srgbClr val="1F2D3A"/>
                </a:solidFill>
              </a:rPr>
              <a:t> bölümündedir.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ucoruh.github.io/cen429-secure-programming/project-guide/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Sorular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Proje rehberi:</a:t>
            </a:r>
            <a:r>
              <a:rPr sz="2000" b="0">
                <a:solidFill>
                  <a:srgbClr val="1F2D3A"/>
                </a:solidFill>
              </a:rPr>
              <a:t> ucoruh.github.io/cen429-secure-programming/project-guide/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sitesi:</a:t>
            </a:r>
            <a:r>
              <a:rPr sz="2000" b="0">
                <a:solidFill>
                  <a:srgbClr val="1F2D3A"/>
                </a:solidFill>
              </a:rPr>
              <a:t> ucoruh.github.io/cen429-secure-programming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Güvenli Programlama — Proje Rehberi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