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sunum, ders sitesindeki "Proje Rehberi" sayfasının sunumudur; kurallar, takvim, gereksinimler ve rubrikler bu sayfadan alınır — bağlayıcı olan sayfa sitedir, bu sunum onun özetidir.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Ayrıntılar her şablonun README'sinde ve docs/guide/ klasöründeki "Showing your project without GitHub Pages" sayfasında.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15 gereksinim rubrikteki kriterlerle birebir eşleşir (bkz. Bölüm 8); her biri hangi haftada işlendiği ve kılavuzda hangi S bölümüne yazılacağıyla birlikte verilir.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Dönem Projesi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 Rehberi — 2026-2027 Güz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Projenin amacı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projede, seçtiğiniz bir uygulamayı </a:t>
            </a:r>
            <a:r>
              <a:rPr sz="2000" b="1">
                <a:solidFill>
                  <a:srgbClr val="1F2D3A"/>
                </a:solidFill>
              </a:rPr>
              <a:t>sertifikasyon sürecinden geçiyormuş gibi</a:t>
            </a:r>
            <a:r>
              <a:rPr sz="2000" b="0">
                <a:solidFill>
                  <a:srgbClr val="1F2D3A"/>
                </a:solidFill>
              </a:rPr>
              <a:t> tasarlayıp geliştireceksiniz: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C++ konsol uygulaması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güvenliğini sağlayan bir </a:t>
            </a:r>
            <a:r>
              <a:rPr sz="2000" b="1">
                <a:solidFill>
                  <a:srgbClr val="1F2D3A"/>
                </a:solidFill>
              </a:rPr>
              <a:t>dinamik kütüphane (DLL/.so)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Amaç: dönem boyunca öğrendiğiniz güvenlik yöntemlerini </a:t>
            </a:r>
            <a:r>
              <a:rPr sz="2000" b="1">
                <a:solidFill>
                  <a:srgbClr val="1F2D3A"/>
                </a:solidFill>
              </a:rPr>
              <a:t>tek bir üründe</a:t>
            </a:r>
            <a:r>
              <a:rPr sz="2000" b="0">
                <a:solidFill>
                  <a:srgbClr val="1F2D3A"/>
                </a:solidFill>
              </a:rPr>
              <a:t> birleştirmek ve hepsini bir </a:t>
            </a:r>
            <a:r>
              <a:rPr sz="2000" b="1">
                <a:solidFill>
                  <a:srgbClr val="1F2D3A"/>
                </a:solidFill>
              </a:rPr>
              <a:t>güvenlik kılavuzuyla</a:t>
            </a:r>
            <a:r>
              <a:rPr sz="2000" b="0">
                <a:solidFill>
                  <a:srgbClr val="1F2D3A"/>
                </a:solidFill>
              </a:rPr>
              <a:t> (S0–S17) belgelemek.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Takım:</a:t>
            </a:r>
            <a:r>
              <a:rPr sz="1800" b="0">
                <a:solidFill>
                  <a:srgbClr val="1F2D3A"/>
                </a:solidFill>
              </a:rPr>
              <a:t> en çok 3 kişi (tek başınıza da olur); bir konuyu yalnız bir takım alır; 3. haftadan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(04.10.2026) sonra takım değişmez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3763"/>
            <a:ext cx="10911535" cy="24003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Dil/araçlar:</a:t>
            </a:r>
            <a:r>
              <a:rPr sz="1800" b="0">
                <a:solidFill>
                  <a:srgbClr val="1F2D3A"/>
                </a:solidFill>
              </a:rPr>
              <a:t> C++ (DLL/.so), CMake/CTest, SQLite, SoftHSM/PKCS#11, OpenSSL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İki teslim:</a:t>
            </a:r>
            <a:r>
              <a:rPr sz="1800" b="0">
                <a:solidFill>
                  <a:srgbClr val="1F2D3A"/>
                </a:solidFill>
              </a:rPr>
              <a:t> Vize (RAP1) — ürünün ilk yarısı; Final (RAP2) — tam ürün + test </a:t>
            </a:r>
            <a:r>
              <a:rPr sz="1800" b="1">
                <a:solidFill>
                  <a:srgbClr val="1F2D3A"/>
                </a:solidFill>
              </a:rPr>
              <a:t>sonuçları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Teslimin kalbi:</a:t>
            </a:r>
            <a:r>
              <a:rPr sz="1800" b="0">
                <a:solidFill>
                  <a:srgbClr val="1F2D3A"/>
                </a:solidFill>
              </a:rPr>
              <a:t> kodun yanında, sertifikasyon belgesi gibi yazılmış </a:t>
            </a:r>
            <a:r>
              <a:rPr sz="1800" b="1">
                <a:solidFill>
                  <a:srgbClr val="1F2D3A"/>
                </a:solidFill>
              </a:rPr>
              <a:t>güvenlik kılavuzu</a:t>
            </a:r>
            <a:r>
              <a:rPr sz="1800" b="0">
                <a:solidFill>
                  <a:srgbClr val="1F2D3A"/>
                </a:solidFill>
              </a:rPr>
              <a:t> (S0–S17)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Bütün veriler </a:t>
            </a:r>
            <a:r>
              <a:rPr sz="1800" b="1">
                <a:solidFill>
                  <a:srgbClr val="1F2D3A"/>
                </a:solidFill>
              </a:rPr>
              <a:t>sentetiktir</a:t>
            </a:r>
            <a:r>
              <a:rPr sz="1800" b="0">
                <a:solidFill>
                  <a:srgbClr val="1F2D3A"/>
                </a:solidFill>
              </a:rPr>
              <a:t>; depoda gerçek sır, anahtar ya da kişisel veri bulunmaz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Ayrıntılı puanlama anahtarı ve kanıt şablonları Microsoft Teams'te paylaşılabilir; **bu sayfadaki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93791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kriterler ve puanlar bağlayıcıdır**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noktaları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214"/>
                <a:gridCol w="8019320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Vize kontrolü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7. hafta (30.10.2026) · RAP1 — ürünün ilk yarısı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kontrolü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15. hafta (25.12.2026) · RAP2 — tam ürün + test sonuçları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1. Takvim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6931"/>
                <a:gridCol w="2537566"/>
                <a:gridCol w="6217037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Tarih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Etkinlik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3. hafta sonu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Konu ve takım seçiminin son günü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 planının ders sorumlusuna onaylatılması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Vize gösterimi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ara rapor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(1–6. haftalar)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15. hafta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gösterimi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final raporu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16.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(9–14. haftalar)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05262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Haftalık ders içeriğinin tamamı için bkz. izlence. Tarihler değişirse duyuru ders sınıfından yapılır.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Değerlendirme yapısı — ağırlıklar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Vize = 0,6·RAP1 + 0,4·Quiz-1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= 0,7·RAP2 + 0,3·Quiz-2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Başarı notu = 0,4·Vize + 0,6·Final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 (7. hafta):</a:t>
            </a:r>
            <a:r>
              <a:rPr sz="2000" b="0">
                <a:solidFill>
                  <a:srgbClr val="1F2D3A"/>
                </a:solidFill>
              </a:rPr>
              <a:t> ürünün ilk yarısı (S2–S5 + temel korumalar) </a:t>
            </a:r>
            <a:r>
              <a:rPr sz="2000" b="1">
                <a:solidFill>
                  <a:srgbClr val="1F2D3A"/>
                </a:solidFill>
              </a:rPr>
              <a:t>RAP2 (15. hafta):</a:t>
            </a:r>
            <a:r>
              <a:rPr sz="2000" b="0">
                <a:solidFill>
                  <a:srgbClr val="1F2D3A"/>
                </a:solidFill>
              </a:rPr>
              <a:t> tam ürün + S16 sonuçları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63"/>
                <a:gridCol w="10152471"/>
              </a:tblGrid>
              <a:tr h="52230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Yaygın yazılım güvenlik açıklarını (taşma, enjeksiyon, bellek sızıntısı) tanımlar ve sınıflandırır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şifreleme yöntemlerini ve güvenli iletişim ilkelerini (SSL/TLS)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tekniklerini (girdi doğrulama, güvenli bellek, RASP, kod gizleme) açıklar ve uygular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Şifreleme ve kimlik doğrulama ile güvenli iletişim kanalları kurma ilkelerini açıklar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Öğrenme çıktıları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3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98"/>
                <a:gridCol w="10139036"/>
              </a:tblGrid>
              <a:tr h="518464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Tanım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yazılım tasarımı ilkeleriyle (en az ayrıcalık, savunma derinliği) bir koruma planı oluşturur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84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Yazılım güvenlik açıklarını tespit etmek için temel güvenlik incelemesi ve açık değerlendirmesi yapar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1846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programlama standartlarını (ETSI, EMV, FIPS) ve sızma testi planlaması ilkelerini 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0946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iki kontrol de bütün öğrenme çıktılarına dokunur; RAP1 temel/erken düzeyi, RAP2 ileri düzeyi ve tam ürünü ölçer.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Araçlar ve kurulum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047"/>
                <a:gridCol w="4067026"/>
                <a:gridCol w="3273460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C++ derleyicisi (GCC/Clang/MSVC)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Konsol uygulaması + DLL/.so derlemesi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Çalışan binary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CMake + CTest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Derleme sistemi + birim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raporu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Beklemedeki veri deposu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şeması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SoftHSM /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sarma/saklama benzetimi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Anahtar deposu yapılandırması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Araçlar ve kurulum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558"/>
                <a:gridCol w="3762598"/>
                <a:gridCol w="4891377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Araç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için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Çıktı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Kriptografi, TLS, imzalama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Kütüphane bağlantısı + sertifikalar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belgelendirmesi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PDF/HTML çıktısı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kontrolü, iş birliği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Commit geçmişi, çekme isteği (PR)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Sürekli entegrasyon (CI)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Yeşil derleme/test rozeti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Şablon deposu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Şablon: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`ucoruh/cpp-cmake-ctest-template`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Fork etmeyin:</a:t>
            </a:r>
            <a:r>
              <a:rPr sz="2000" b="0">
                <a:solidFill>
                  <a:srgbClr val="1F2D3A"/>
                </a:solidFill>
              </a:rPr>
              <a:t> herkese açık bir deponun fork'u özel yapılamaz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Şablon sayfasında </a:t>
            </a:r>
            <a:r>
              <a:rPr sz="2000" b="1">
                <a:solidFill>
                  <a:srgbClr val="1F2D3A"/>
                </a:solidFill>
              </a:rPr>
              <a:t>Use this template → Create a new repository</a:t>
            </a:r>
            <a:r>
              <a:rPr sz="2000" b="0">
                <a:solidFill>
                  <a:srgbClr val="1F2D3A"/>
                </a:solidFill>
              </a:rPr>
              <a:t>; depo adı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cen429-proje-ad-soyad-cpp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sorumlusunu (</a:t>
            </a:r>
            <a:r>
              <a:rPr sz="2000" b="0">
                <a:solidFill>
                  <a:srgbClr val="A1123F"/>
                </a:solidFill>
                <a:latin typeface="Consolas"/>
              </a:rPr>
              <a:t>ucoruh</a:t>
            </a:r>
            <a:r>
              <a:rPr sz="2000" b="0">
                <a:solidFill>
                  <a:srgbClr val="1F2D3A"/>
                </a:solidFill>
              </a:rPr>
              <a:t>) ve varsa takım arkadaşınızı </a:t>
            </a:r>
            <a:r>
              <a:rPr sz="2000" b="1">
                <a:solidFill>
                  <a:srgbClr val="1F2D3A"/>
                </a:solidFill>
              </a:rPr>
              <a:t>işbirlikçi (collaborator)</a:t>
            </a:r>
            <a:r>
              <a:rPr sz="2000" b="0">
                <a:solidFill>
                  <a:srgbClr val="1F2D3A"/>
                </a:solidFill>
              </a:rPr>
              <a:t> olarak ekleyin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!!! tip "Şablonu tam kullanın" Şablon; derleme, CTest ile birim testi, dokümantasyon üretimi, test/dokümantasyon kapsamı ölçümü ve paketlemeyi sağlar. Şablon standartlarına uymayan teslimler kabul edilmez. Sürüm (release) üretin; sürüm kimliği ve özet değerlerini kaydedin.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Projenizi yerelde gösterme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GitHub Free'de özel (private) bir depoda GitHub Pages sitesi açılmaz. Her şeyi </a:t>
            </a:r>
            <a:r>
              <a:rPr sz="2000" b="1">
                <a:solidFill>
                  <a:srgbClr val="1F2D3A"/>
                </a:solidFill>
              </a:rPr>
              <a:t>kendi bilgisayarınızda</a:t>
            </a:r>
            <a:r>
              <a:rPr sz="2000" b="0">
                <a:solidFill>
                  <a:srgbClr val="1F2D3A"/>
                </a:solidFill>
              </a:rPr>
              <a:t> gösterirsiniz: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3246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7-build-all-windows.bat</a:t>
            </a:r>
            <a:r>
              <a:rPr sz="2000" b="0">
                <a:solidFill>
                  <a:srgbClr val="1F2D3A"/>
                </a:solidFill>
              </a:rPr>
              <a:t> (Linux/WSL: </a:t>
            </a:r>
            <a:r>
              <a:rPr sz="2000" b="0">
                <a:solidFill>
                  <a:srgbClr val="A1123F"/>
                </a:solidFill>
                <a:latin typeface="Consolas"/>
              </a:rPr>
              <a:t>7-build-all-linux.sh</a:t>
            </a:r>
            <a:r>
              <a:rPr sz="2000" b="0">
                <a:solidFill>
                  <a:srgbClr val="1F2D3A"/>
                </a:solidFill>
              </a:rPr>
              <a:t>) derler, test eder, bütün raporları üretir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9-open-site-linux.sh</a:t>
            </a:r>
            <a:r>
              <a:rPr sz="2000" b="0">
                <a:solidFill>
                  <a:srgbClr val="1F2D3A"/>
                </a:solidFill>
              </a:rPr>
              <a:t>) tam siteyi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 açar: bütün raporlar (testler, kod kapsamı, dokümantasyon kapsamı; Windows ve Linux) ve API belgeleri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release/</a:t>
            </a:r>
            <a:r>
              <a:rPr sz="2000" b="0">
                <a:solidFill>
                  <a:srgbClr val="1F2D3A"/>
                </a:solidFill>
              </a:rPr>
              <a:t> bütün çıktıları tutar: uygulama/exe, kütüphane, raporlar, API belgeleri, </a:t>
            </a:r>
            <a:r>
              <a:rPr sz="2000" b="0">
                <a:solidFill>
                  <a:srgbClr val="A1123F"/>
                </a:solidFill>
                <a:latin typeface="Consolas"/>
              </a:rPr>
              <a:t>site.zip</a:t>
            </a:r>
            <a:r>
              <a:rPr sz="2000" b="0">
                <a:solidFill>
                  <a:srgbClr val="1F2D3A"/>
                </a:solidFill>
              </a:rPr>
              <a:t>, kaynak kod, </a:t>
            </a:r>
            <a:r>
              <a:rPr sz="2000" b="0">
                <a:solidFill>
                  <a:srgbClr val="A1123F"/>
                </a:solidFill>
                <a:latin typeface="Consolas"/>
              </a:rPr>
              <a:t>ASSETS.md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SHA256SUMS.txt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10-release-windows.bat</a:t>
            </a:r>
            <a:r>
              <a:rPr sz="2000" b="0">
                <a:solidFill>
                  <a:srgbClr val="1F2D3A"/>
                </a:solidFill>
              </a:rPr>
              <a:t> (Linux: </a:t>
            </a:r>
            <a:r>
              <a:rPr sz="2000" b="0">
                <a:solidFill>
                  <a:srgbClr val="A1123F"/>
                </a:solidFill>
                <a:latin typeface="Consolas"/>
              </a:rPr>
              <a:t>10-release-linux.sh</a:t>
            </a:r>
            <a:r>
              <a:rPr sz="2000" b="0">
                <a:solidFill>
                  <a:srgbClr val="1F2D3A"/>
                </a:solidFill>
              </a:rPr>
              <a:t>) GitHub Release'i oluşturur; sürümler özel depolarda da çalışır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Gösterim 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Gösterimde sırayla neyi açıp göstereceğiniz: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300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Yerel sitenin </a:t>
            </a:r>
            <a:r>
              <a:rPr sz="2000" b="1">
                <a:solidFill>
                  <a:srgbClr val="1F2D3A"/>
                </a:solidFill>
              </a:rPr>
              <a:t>ana sayfası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9-open-site-...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http://localhost</a:t>
            </a:r>
            <a:r>
              <a:rPr sz="2000" b="0">
                <a:solidFill>
                  <a:srgbClr val="1F2D3A"/>
                </a:solidFill>
              </a:rPr>
              <a:t> adresinde).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Her rapor sayfası:</a:t>
            </a:r>
            <a:r>
              <a:rPr sz="2000" b="0">
                <a:solidFill>
                  <a:srgbClr val="1F2D3A"/>
                </a:solidFill>
              </a:rPr>
              <a:t> testler, kod kapsamı, dokümantasyon kapsamı (Windows ve Linux).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API belgeleri.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`release/` klasörünün</a:t>
            </a:r>
            <a:r>
              <a:rPr sz="2000" b="0">
                <a:solidFill>
                  <a:srgbClr val="1F2D3A"/>
                </a:solidFill>
              </a:rPr>
              <a:t> içeriği.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Uygulamayı </a:t>
            </a:r>
            <a:r>
              <a:rPr sz="2000" b="1">
                <a:solidFill>
                  <a:srgbClr val="1F2D3A"/>
                </a:solidFill>
              </a:rPr>
              <a:t>release arşivinden çalıştırma.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6. </a:t>
            </a:r>
            <a:r>
              <a:rPr sz="2000" b="0">
                <a:solidFill>
                  <a:srgbClr val="1F2D3A"/>
                </a:solidFill>
              </a:rPr>
              <a:t>Özel deponuzun </a:t>
            </a:r>
            <a:r>
              <a:rPr sz="2000" b="1">
                <a:solidFill>
                  <a:srgbClr val="1F2D3A"/>
                </a:solidFill>
              </a:rPr>
              <a:t>GitHub Release sayfası</a:t>
            </a:r>
            <a:r>
              <a:rPr sz="2000" b="0">
                <a:solidFill>
                  <a:srgbClr val="1F2D3A"/>
                </a:solidFill>
              </a:rPr>
              <a:t> (ders sorumlusu collaborator olarak ekli).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düzeni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lib/</a:t>
            </a:r>
            <a:r>
              <a:rPr sz="2000" b="0">
                <a:solidFill>
                  <a:srgbClr val="1F2D3A"/>
                </a:solidFill>
              </a:rPr>
              <a:t> — güvenlik kütüphanesi (DLL/.so): kriptografi, RASP, kod gizleme, veri koruma fonksiyonları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app/</a:t>
            </a:r>
            <a:r>
              <a:rPr sz="2000" b="0">
                <a:solidFill>
                  <a:srgbClr val="1F2D3A"/>
                </a:solidFill>
              </a:rPr>
              <a:t> — konsol uygulaması: kütüphaneyi kullanan kullanıcı arayüzü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test/</a:t>
            </a:r>
            <a:r>
              <a:rPr sz="2000" b="0">
                <a:solidFill>
                  <a:srgbClr val="1F2D3A"/>
                </a:solidFill>
              </a:rPr>
              <a:t> — CTest birim testleri (kripto ve koruma fonksiyonları)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Geliştirme ortamı kurulumu ve ön bilgi için bkz. </a:t>
            </a:r>
            <a:r>
              <a:rPr sz="2000" b="1">
                <a:solidFill>
                  <a:srgbClr val="1F2D3A"/>
                </a:solidFill>
              </a:rPr>
              <a:t>Ön gereksinimler</a:t>
            </a:r>
            <a:r>
              <a:rPr sz="2000" b="0">
                <a:solidFill>
                  <a:srgbClr val="1F2D3A"/>
                </a:solidFill>
              </a:rPr>
              <a:t> sayfası.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Konu seçimi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 konuları rehber sayfasının sonundaki </a:t>
            </a:r>
            <a:r>
              <a:rPr sz="2000" b="1">
                <a:solidFill>
                  <a:srgbClr val="1F2D3A"/>
                </a:solidFill>
              </a:rPr>
              <a:t>Ek — Proje konuları listesi</a:t>
            </a:r>
            <a:r>
              <a:rPr sz="2000" b="0">
                <a:solidFill>
                  <a:srgbClr val="1F2D3A"/>
                </a:solidFill>
              </a:rPr>
              <a:t> bölümündedir (</a:t>
            </a:r>
            <a:r>
              <a:rPr sz="2000" b="1">
                <a:solidFill>
                  <a:srgbClr val="1F2D3A"/>
                </a:solidFill>
              </a:rPr>
              <a:t>100 konu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konu kutusunda: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Uygulamanın kısa tanımı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özellikleri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Korunacak varlıklar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konuda </a:t>
            </a:r>
            <a:r>
              <a:rPr sz="2000" b="1">
                <a:solidFill>
                  <a:srgbClr val="1F2D3A"/>
                </a:solidFill>
              </a:rPr>
              <a:t>öne çıkan güvenlik gereksinimleri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Nasıl seçilir?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Rehber sayfasının sonundaki listeyi inceleyin ve bir konu seçin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Seçiminizi Microsoft Teams'teki </a:t>
            </a:r>
            <a:r>
              <a:rPr sz="2000" b="1">
                <a:solidFill>
                  <a:srgbClr val="1F2D3A"/>
                </a:solidFill>
              </a:rPr>
              <a:t>takım ve konu tablosuna</a:t>
            </a:r>
            <a:r>
              <a:rPr sz="2000" b="0">
                <a:solidFill>
                  <a:srgbClr val="1F2D3A"/>
                </a:solidFill>
              </a:rPr>
              <a:t> yazın — </a:t>
            </a:r>
            <a:r>
              <a:rPr sz="2000" b="1">
                <a:solidFill>
                  <a:srgbClr val="1F2D3A"/>
                </a:solidFill>
              </a:rPr>
              <a:t>bir konuyu yalnız bir takım alabilir</a:t>
            </a:r>
            <a:r>
              <a:rPr sz="2000" b="0">
                <a:solidFill>
                  <a:srgbClr val="1F2D3A"/>
                </a:solidFill>
              </a:rPr>
              <a:t>, tabloya ilk yazan takım 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Proje planınızla birlikte ders sorumlusuna onaylatın; </a:t>
            </a:r>
            <a:r>
              <a:rPr sz="2000" b="1">
                <a:solidFill>
                  <a:srgbClr val="1F2D3A"/>
                </a:solidFill>
              </a:rPr>
              <a:t>onaydan sonra konu değiştirilmez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Konu seçiminde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5. bölümdeki 15 gereksinimin </a:t>
            </a:r>
            <a:r>
              <a:rPr sz="2000" b="1">
                <a:solidFill>
                  <a:srgbClr val="1F2D3A"/>
                </a:solidFill>
              </a:rPr>
              <a:t>hepsi</a:t>
            </a:r>
            <a:r>
              <a:rPr sz="2000" b="0">
                <a:solidFill>
                  <a:srgbClr val="1F2D3A"/>
                </a:solidFill>
              </a:rPr>
              <a:t> her projede geçerlidir; konu kutusundaki "öne çıkan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gereksinimler" o konuda en doğal ve en çok puan getiren uygulama yerlerini gösterir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30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Listede olmayan bir fikriniz varsa, ders sorumlusunun onayıyla seçebilirsiniz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 tekrar alıyorsanız </a:t>
            </a:r>
            <a:r>
              <a:rPr sz="2000" b="1">
                <a:solidFill>
                  <a:srgbClr val="1F2D3A"/>
                </a:solidFill>
              </a:rPr>
              <a:t>önceki projenizden farklı</a:t>
            </a:r>
            <a:r>
              <a:rPr sz="2000" b="0">
                <a:solidFill>
                  <a:srgbClr val="1F2D3A"/>
                </a:solidFill>
              </a:rPr>
              <a:t> bir konu seçin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Gereksinimler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15 gereksinim · vize ve final kapsamına ayrılmış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Her maddeyi ya karşılayın ya da gerekçeli olarak devredin/kapsam dışı bırakın (13. hafta, S14)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 Geliştirme ortamı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5.1 Vize kapsamı (RAP1)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12 · S13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Yazılım geliştirme akışı ve </a:t>
            </a:r>
            <a:r>
              <a:rPr sz="2000" b="1">
                <a:solidFill>
                  <a:srgbClr val="1F2D3A"/>
                </a:solidFill>
              </a:rPr>
              <a:t>değişiklik yönetimi</a:t>
            </a:r>
            <a:r>
              <a:rPr sz="2000" b="0">
                <a:solidFill>
                  <a:srgbClr val="1F2D3A"/>
                </a:solidFill>
              </a:rPr>
              <a:t> (temel çizgi → talep → sınıflandırma → onay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55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yayın → doğrulama)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51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 ile sürüm kontrolü; erişim kaydı; imzalı sürüm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Geliştirme bilgisayarı/sunucu güvenliği (kısa politika)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4.2 Kullanımdaki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6 · 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Bellekteki hassas veri kullanımdan sonra </a:t>
            </a:r>
            <a:r>
              <a:rPr sz="2000" b="1">
                <a:solidFill>
                  <a:srgbClr val="1F2D3A"/>
                </a:solidFill>
              </a:rPr>
              <a:t>güvenli silinir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 benzeri)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Çalışma zamanı veri koruması (gölge kopya/bütünlük — 6. hafta)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4.3 Aktarımdaki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 · S6,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; sertifika zinciri +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doğrulaması; </a:t>
            </a:r>
            <a:r>
              <a:rPr sz="2000" b="1">
                <a:solidFill>
                  <a:srgbClr val="1F2D3A"/>
                </a:solidFill>
              </a:rPr>
              <a:t>sabitleme (pinning)</a:t>
            </a:r>
            <a:r>
              <a:rPr sz="2000" b="0">
                <a:solidFill>
                  <a:srgbClr val="1F2D3A"/>
                </a:solidFill>
              </a:rPr>
              <a:t> + yedek pin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Şifrelenmiş </a:t>
            </a:r>
            <a:r>
              <a:rPr sz="2000" b="1">
                <a:solidFill>
                  <a:srgbClr val="1F2D3A"/>
                </a:solidFill>
              </a:rPr>
              <a:t>oturum anahtarı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cihaz/sürüm bağlama</a:t>
            </a:r>
            <a:r>
              <a:rPr sz="2000" b="0">
                <a:solidFill>
                  <a:srgbClr val="1F2D3A"/>
                </a:solidFill>
              </a:rPr>
              <a:t>; bütünlük + kimlik doğrulama; sunucu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doğrulama kodu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4.4 Beklemedeki veri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10, 11 ·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Dosya/DB şifreleme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(AES-GCM); nonce tekrarsız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anahtarlar için </a:t>
            </a:r>
            <a:r>
              <a:rPr sz="2000" b="1">
                <a:solidFill>
                  <a:srgbClr val="1F2D3A"/>
                </a:solidFill>
              </a:rPr>
              <a:t>whitebox</a:t>
            </a:r>
            <a:r>
              <a:rPr sz="2000" b="0">
                <a:solidFill>
                  <a:srgbClr val="1F2D3A"/>
                </a:solidFill>
              </a:rPr>
              <a:t> ya da </a:t>
            </a:r>
            <a:r>
              <a:rPr sz="2000" b="1">
                <a:solidFill>
                  <a:srgbClr val="1F2D3A"/>
                </a:solidFill>
              </a:rPr>
              <a:t>SoftHSM/PKCS#11</a:t>
            </a:r>
            <a:r>
              <a:rPr sz="2000" b="0">
                <a:solidFill>
                  <a:srgbClr val="1F2D3A"/>
                </a:solidFill>
              </a:rPr>
              <a:t>; kararın </a:t>
            </a:r>
            <a:r>
              <a:rPr sz="2000" b="1">
                <a:solidFill>
                  <a:srgbClr val="1F2D3A"/>
                </a:solidFill>
              </a:rPr>
              <a:t>gerekçesi</a:t>
            </a:r>
            <a:r>
              <a:rPr sz="2000" b="0">
                <a:solidFill>
                  <a:srgbClr val="1F2D3A"/>
                </a:solidFill>
              </a:rPr>
              <a:t> (11. hafta)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4.8 Arayüz tanımları ve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4 · S3, 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arayüzler erişim kontrolü + kimlik doğrulama ile korunur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</a:t>
            </a:r>
            <a:r>
              <a:rPr sz="2000" b="1">
                <a:solidFill>
                  <a:srgbClr val="1F2D3A"/>
                </a:solidFill>
              </a:rPr>
              <a:t>güven sınırında</a:t>
            </a:r>
            <a:r>
              <a:rPr sz="2000" b="0">
                <a:solidFill>
                  <a:srgbClr val="1F2D3A"/>
                </a:solidFill>
              </a:rPr>
              <a:t> doğrulanır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4.9 Kod sağlamlaştırma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4, 9, 14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Opak döngü/yüklem, ad/dosya/dize/aritmetik gizleme, opak boolean, sahte işlem/ölü dal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Kontrol akışı düzleştirme</a:t>
            </a:r>
            <a:r>
              <a:rPr sz="2000" b="0">
                <a:solidFill>
                  <a:srgbClr val="1F2D3A"/>
                </a:solidFill>
              </a:rPr>
              <a:t> + rastgele çıkış, sürümde </a:t>
            </a:r>
            <a:r>
              <a:rPr sz="2000" b="1">
                <a:solidFill>
                  <a:srgbClr val="1F2D3A"/>
                </a:solidFill>
              </a:rPr>
              <a:t>log kapalı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Maliyeti </a:t>
            </a:r>
            <a:r>
              <a:rPr sz="2000" b="1">
                <a:solidFill>
                  <a:srgbClr val="1F2D3A"/>
                </a:solidFill>
              </a:rPr>
              <a:t>ölçün</a:t>
            </a:r>
            <a:r>
              <a:rPr sz="2000" b="0">
                <a:solidFill>
                  <a:srgbClr val="1F2D3A"/>
                </a:solidFill>
              </a:rPr>
              <a:t> (9/14. hafta demoları)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4.10 RASP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6 · 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Checksum bütünlük denetimi, çağıran uygulama hash/imza doğrulaması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Kök/emülatör tespiti, </a:t>
            </a:r>
            <a:r>
              <a:rPr sz="2000" b="1">
                <a:solidFill>
                  <a:srgbClr val="1F2D3A"/>
                </a:solidFill>
              </a:rPr>
              <a:t>hook/anti-debug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Kurcalama (tamper) tespiti + yanıt, kontrol akışı sayacı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4.11 Bellek koruması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Derleyici/OS korumaları (yığın koruyucu, PIE, RELRO, NX, CFI)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Hassas veri kullanım sonrası temizlenir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4.5 Statik varlıkların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5.2 Final kapsamı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4, 9 · S5, S9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Gizli anahtarlar, özet değerleri, kaynak kodu, kaynaklar: </a:t>
            </a:r>
            <a:r>
              <a:rPr sz="2000" b="1">
                <a:solidFill>
                  <a:srgbClr val="1F2D3A"/>
                </a:solidFill>
              </a:rPr>
              <a:t>şifreleme + erişim kontrolü + gizleme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4.6 Dinamik varlıkların korunması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6 · S5,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Cihaz/uygulama parmak izleri, oturum verileri, dinamik anahtarlar </a:t>
            </a:r>
            <a:r>
              <a:rPr sz="2000" b="1">
                <a:solidFill>
                  <a:srgbClr val="1F2D3A"/>
                </a:solidFill>
              </a:rPr>
              <a:t>şifrelenir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4.7 Varlık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1, 3, 13 · 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varlık için: </a:t>
            </a:r>
            <a:r>
              <a:rPr sz="2000" b="1">
                <a:solidFill>
                  <a:srgbClr val="1F2D3A"/>
                </a:solidFill>
              </a:rPr>
              <a:t>ad, açıklama, konum (tablo/sütun), kaynak, boyut, oluşturma/silme zamanı, varsayılan, koruma şeması (C/I/I+)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4.12 Kriptografi ve sertifikalar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3, 10 · S8,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algoritma/kip/dolgu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doğrulaması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==1</a:t>
            </a:r>
            <a:r>
              <a:rPr sz="2000" b="0">
                <a:solidFill>
                  <a:srgbClr val="1F2D3A"/>
                </a:solidFill>
              </a:rPr>
              <a:t>, sürüm kapsamı)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SSL/TLS + pinning + karşılıklı kimlik doğrulama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4.13 Sertifikasyon ve sızma testi planı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12, 13 · S16, S14, S17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Standart eşlemesi (ETSI/EMVCo/GSMA/PCI/MASVS)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 (kapsam, kurallar, yöntem, test kartı) ve </a:t>
            </a:r>
            <a:r>
              <a:rPr sz="2000" b="1">
                <a:solidFill>
                  <a:srgbClr val="1F2D3A"/>
                </a:solidFill>
              </a:rPr>
              <a:t>sonuçları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+ CVSS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4.14 Binary uygulama koruması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6, 9, 11, 14 · S9, S10,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Tespit</a:t>
            </a:r>
            <a:r>
              <a:rPr sz="2000" b="0">
                <a:solidFill>
                  <a:srgbClr val="1F2D3A"/>
                </a:solidFill>
              </a:rPr>
              <a:t> (checksum, anti-debug, emülatör)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Savunma</a:t>
            </a:r>
            <a:r>
              <a:rPr sz="2000" b="0">
                <a:solidFill>
                  <a:srgbClr val="1F2D3A"/>
                </a:solidFill>
              </a:rPr>
              <a:t> (gizleme, dize/kaynak şifreleme, çağrı gizleme)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Caydırma</a:t>
            </a:r>
            <a:r>
              <a:rPr sz="2000" b="0">
                <a:solidFill>
                  <a:srgbClr val="1F2D3A"/>
                </a:solidFill>
              </a:rPr>
              <a:t> (yanıt/kapanma politikası)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4.15 OWASP ve derleme/dağıtım hattı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Hafta 5, 14 · S13,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OWASP MASVS/ASVS ilkeleri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(CycloneDX) + bağımlılık taraması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+ imzalama içeren derleme hattı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5.3 Her iki kontrolde ortak kurallar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olmalı; depoda gerçek sır, anahtar ya da kişisel veri </a:t>
            </a:r>
            <a:r>
              <a:rPr sz="2000" b="1">
                <a:solidFill>
                  <a:srgbClr val="1F2D3A"/>
                </a:solidFill>
              </a:rPr>
              <a:t>bulunmaz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gereksinim maddesi kod içinde </a:t>
            </a:r>
            <a:r>
              <a:rPr sz="2000" b="1">
                <a:solidFill>
                  <a:srgbClr val="1F2D3A"/>
                </a:solidFill>
              </a:rPr>
              <a:t>görülebilir</a:t>
            </a:r>
            <a:r>
              <a:rPr sz="2000" b="0">
                <a:solidFill>
                  <a:srgbClr val="1F2D3A"/>
                </a:solidFill>
              </a:rPr>
              <a:t> olmalı ve güvenlik kılavuzunun ilgili S bölümünde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belgelenmelidir</a:t>
            </a:r>
            <a:r>
              <a:rPr sz="2000" b="0">
                <a:solidFill>
                  <a:srgbClr val="1F2D3A"/>
                </a:solidFill>
              </a:rPr>
              <a:t>; belgelenmeyen bir uygulama karşılanmamış sayılır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gereksinim karşılanamıyorsa </a:t>
            </a:r>
            <a:r>
              <a:rPr sz="2000" b="1">
                <a:solidFill>
                  <a:srgbClr val="1F2D3A"/>
                </a:solidFill>
              </a:rPr>
              <a:t>gerekçesiyle</a:t>
            </a:r>
            <a:r>
              <a:rPr sz="2000" b="0">
                <a:solidFill>
                  <a:srgbClr val="1F2D3A"/>
                </a:solidFill>
              </a:rPr>
              <a:t> S14'e yazılır; sessizce atlanamaz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Uygulama yalnız kendi bilgisayarınızda (localhost) çalışır; başka bir sisteme veya veriye zarar vermez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Teslim edilecekler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695"/>
                <a:gridCol w="3088170"/>
                <a:gridCol w="7308669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Teslim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Biçim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 kod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deposu (şablondan oluşturulmuş), C++ DLL/.so + SQLite +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testleri + CI kaydı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CTest raporu + CI günlüğü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kılavuzu (S0–S17)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.pdf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vizede S0–S5, finalde tam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sonuçları (S16)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bölümü — yalnız final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Teslim edilecekler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9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978"/>
                <a:gridCol w="4364614"/>
                <a:gridCol w="6050942"/>
              </a:tblGrid>
              <a:tr h="39392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Teslim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Biçim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Uyum matrisi (S17) + devredilenler (S14)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Kılavuz bölümü — yalnız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bağımlılık taraması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CycloneDX dosyası — yalnız final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9392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Sürüm (release)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etiketi: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midterm-v1.0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final-v1.0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92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Gösterim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Canlı sunum (~10 dk) — vizede 7. hafta, finalde 15. hafta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Güvenlik kılavuzu bölümleri (S0–S17)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0504"/>
                <a:gridCol w="5381030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S0–S8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S9–S17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Kapak, sürüm geçmişi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Kod sağlamlaştırma (ileri)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Kapsam, kısaltmalar, kaynaklar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+ tepki politikası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Ürün ve mimari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Güvenli iletişim (TLS)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S3 Arayüzler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Raporlama/günlükleme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S4 Tehdit modeli (STRIDE, ağaç)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Geliştirme süreci, 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Varlık listesi + koruma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Varsayımlar ve devredilenler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Kimlik/bağlama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Derleme, imzalama, dağıtım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Veri güvenliği + kabuk matrisi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Güvenlik testi ve sonuçları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Kripto, anahtar yaşam döngüsü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Gereksinim uyum matrisi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Tek ZIP arşivi yapısı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cen429-vize-ad-soyad.zip                  # final: cen429-final-ad-soyad.zip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cen429-proje-ad-soyad-cpp/            # GitHub deposunun klonu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                    # güvenlik kütüphanesi (DLL/.so)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                    # konsol uygulaması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                    # CTest birim testleri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                             # Doxygen çıktısı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security-guide/                   # S0–S17 güvenlik kılavuzu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sbom/                             # CycloneDX SBOM (final)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test-coverage/                    # CTest kapsam raporu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Adlandırma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Depo: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cen429-proje-ad-soyad-cpp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Arşiv: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cen429-vize-ad-soyad.zip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cen429-final-ad-soyad.zip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kılavuzu dosyası: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cen429-guvenlik-kilavuzu-ad-soyad.docx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Rapor/kılavuzun kapak sayfasında </a:t>
            </a:r>
            <a:r>
              <a:rPr sz="2000" b="1">
                <a:solidFill>
                  <a:srgbClr val="1F2D3A"/>
                </a:solidFill>
              </a:rPr>
              <a:t>GitHub deposu bağlantısı</a:t>
            </a:r>
            <a:r>
              <a:rPr sz="2000" b="0">
                <a:solidFill>
                  <a:srgbClr val="1F2D3A"/>
                </a:solidFill>
              </a:rPr>
              <a:t> bulunur.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Takım çalışması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 Flow: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 dalı korumalıdır, doğrudan commit yapılmaz; her iş için ayrı bir özellik dalı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(feature branch) açılır, birleştirme </a:t>
            </a:r>
            <a:r>
              <a:rPr sz="2000" b="1">
                <a:solidFill>
                  <a:srgbClr val="1F2D3A"/>
                </a:solidFill>
              </a:rPr>
              <a:t>çekme isteği (pull request)</a:t>
            </a:r>
            <a:r>
              <a:rPr sz="2000" b="0">
                <a:solidFill>
                  <a:srgbClr val="1F2D3A"/>
                </a:solidFill>
              </a:rPr>
              <a:t> ile yapılır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Commit mesajı kuralı: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Conventional Commits</a:t>
            </a:r>
            <a:r>
              <a:rPr sz="2000" b="0">
                <a:solidFill>
                  <a:srgbClr val="1F2D3A"/>
                </a:solidFill>
              </a:rPr>
              <a:t>, ör.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feat(crypto): add AES-GCM wrapper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fix(rasp): correct debugger detection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Takım çalışması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Çekme isteği + inceleme:</a:t>
            </a:r>
            <a:r>
              <a:rPr sz="2000" b="0">
                <a:solidFill>
                  <a:srgbClr val="1F2D3A"/>
                </a:solidFill>
              </a:rPr>
              <a:t> her PR en az bir takım arkadaşınca </a:t>
            </a:r>
            <a:r>
              <a:rPr sz="2000" b="1">
                <a:solidFill>
                  <a:srgbClr val="1F2D3A"/>
                </a:solidFill>
              </a:rPr>
              <a:t>incelenir (code review)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Issues + Projects panosu:</a:t>
            </a:r>
            <a:r>
              <a:rPr sz="2000" b="0">
                <a:solidFill>
                  <a:srgbClr val="1F2D3A"/>
                </a:solidFill>
              </a:rPr>
              <a:t> Backlog → In Progress → In Review → Done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CI yeşil olmadan birleştirme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Sürüm etiketleri:</a:t>
            </a:r>
            <a:r>
              <a:rPr sz="2000" b="0">
                <a:solidFill>
                  <a:srgbClr val="1F2D3A"/>
                </a:solidFill>
              </a:rPr>
              <a:t> vize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final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"Bitti" tanımı:</a:t>
            </a:r>
            <a:r>
              <a:rPr sz="2000" b="0">
                <a:solidFill>
                  <a:srgbClr val="1F2D3A"/>
                </a:solidFill>
              </a:rPr>
              <a:t> derleniyor · birim testi var · kapsam düşmedi · PR onaylandı · CI yeşil · kılavuz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70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güncellendi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Rubrikler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Her kriter 1–5 düzeyinde puanlanır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Puan = (düzey ÷ 5) × kriter puanı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8.1 Başarı düzeyleri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229"/>
                <a:gridCol w="7856305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Düzey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Anlamı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5 — Mükemmel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Her şey çalışıyor, test edilmiş ve belgelenmiş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4 — İyi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Küçük eksikler; genel olarak tamam ve test edilmiş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3 — Yeterli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işlemler çalışıyor; belirgin eksikler var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2 — Zayıf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Derleniyor ama işlemlerin çoğu yanlış ya da eksik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 — Kanıt yok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Teslim edilmemiş ya da çalışmıyor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8.2 RAP1 rubriği (7. hafta,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906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864"/>
                <a:gridCol w="6604350"/>
                <a:gridCol w="2010019"/>
                <a:gridCol w="1579301"/>
              </a:tblGrid>
              <a:tr h="43403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Tehdit modeli ve varlık listesi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 güvenliği: aktarım, bekleme, kullanım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ÖÇ.2, ÖÇ.4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Kod sağlamlaştırma ve bellek koruması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 ve tepki politikası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Geliştirme ortamı ve değişiklik yönetimi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Birim testleri ve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403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kılavuzu (S0–S5) ve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036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8.3 RAP2 rubriği (15. hafta, 100 puan)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4120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37"/>
                <a:gridCol w="6919510"/>
                <a:gridCol w="1862945"/>
                <a:gridCol w="1463742"/>
              </a:tblGrid>
              <a:tr h="45780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Kriter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ÖÇ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Kriptografi ve sertifikalar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ÖÇ.2, ÖÇ.4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uygulama koruması, gizleme, 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Varlık yönetimi ve dinamik varlıklar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Güvenlik testi ve gözlenen sonuçlar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Standartlar, uyum matrisi, devredilenler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OWASP, SBOM ve derleme/dağıtım hattı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ÖÇ.1, ÖÇ.5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Rapor, sunum ve gösterim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ÖÇ.7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14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Toplam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5589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Her satır bir </a:t>
            </a:r>
            <a:r>
              <a:rPr sz="1800" b="1">
                <a:solidFill>
                  <a:srgbClr val="1F2D3A"/>
                </a:solidFill>
              </a:rPr>
              <a:t>kanıt</a:t>
            </a:r>
            <a:r>
              <a:rPr sz="1800" b="0">
                <a:solidFill>
                  <a:srgbClr val="1F2D3A"/>
                </a:solidFill>
              </a:rPr>
              <a:t> ister: "karşılandı" diyen satırın kanıtı yoksa karşılanmamış sayılır.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Kabul koşulları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Teslim kabul edilmez, eğer…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631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GitHub deposu yoksa, </a:t>
            </a:r>
            <a:r>
              <a:rPr sz="2000" b="1">
                <a:solidFill>
                  <a:srgbClr val="1F2D3A"/>
                </a:solidFill>
              </a:rPr>
              <a:t>özel (private)</a:t>
            </a:r>
            <a:r>
              <a:rPr sz="2000" b="0">
                <a:solidFill>
                  <a:srgbClr val="1F2D3A"/>
                </a:solidFill>
              </a:rPr>
              <a:t> değilse ya da takım üyelerinin commit'i görünmüyorsa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gereksinimlerin karşılanma oranı asgari eşiğin altındaysa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ya da arşivde </a:t>
            </a:r>
            <a:r>
              <a:rPr sz="2000" b="1">
                <a:solidFill>
                  <a:srgbClr val="1F2D3A"/>
                </a:solidFill>
              </a:rPr>
              <a:t>binary dosyalar</a:t>
            </a:r>
            <a:r>
              <a:rPr sz="2000" b="0">
                <a:solidFill>
                  <a:srgbClr val="1F2D3A"/>
                </a:solidFill>
              </a:rPr>
              <a:t> (derlenmiş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.dll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 varsa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(release) üretilmemişse, uygulama Windows ya da WSL/Linux'ta </a:t>
            </a:r>
            <a:r>
              <a:rPr sz="2000" b="1">
                <a:solidFill>
                  <a:srgbClr val="1F2D3A"/>
                </a:solidFill>
              </a:rPr>
              <a:t>derlenmiyor/çalışmıyorsa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depoda gerçek sır, anahtar ya da kişisel veri varsa, </a:t>
            </a:r>
            <a:r>
              <a:rPr sz="2000" b="1">
                <a:solidFill>
                  <a:srgbClr val="1F2D3A"/>
                </a:solidFill>
              </a:rPr>
              <a:t>intihal</a:t>
            </a:r>
            <a:r>
              <a:rPr sz="2000" b="0">
                <a:solidFill>
                  <a:srgbClr val="1F2D3A"/>
                </a:solidFill>
              </a:rPr>
              <a:t> tespit edilmişse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Gösterimde sorulacaklar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Git/GitHub:</a:t>
            </a:r>
            <a:r>
              <a:rPr sz="2000" b="0">
                <a:solidFill>
                  <a:srgbClr val="1F2D3A"/>
                </a:solidFill>
              </a:rPr>
              <a:t> Depoyu şablondan doğru adla oluşturdunuz mu? Depo özel mi, ders sorumlusu işbirlikçi mi? 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iki üyenin de commit'i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Kurulum-derleme:</a:t>
            </a:r>
            <a:r>
              <a:rPr sz="2000" b="0">
                <a:solidFill>
                  <a:srgbClr val="1F2D3A"/>
                </a:solidFill>
              </a:rPr>
              <a:t> Uygulamayı ve kütüphaneyi Windows'ta ve WSL/Linux'ta derleyin;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ayrımını gösterin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Gösterimde sorulacaklar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Konu (satır satır):</a:t>
            </a:r>
            <a:r>
              <a:rPr sz="2000" b="0">
                <a:solidFill>
                  <a:srgbClr val="1F2D3A"/>
                </a:solidFill>
              </a:rPr>
              <a:t> Seçtiğiniz güvenlik gereksinimini kodda satır satır açıklayın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 ve belge:</a:t>
            </a:r>
            <a:r>
              <a:rPr sz="2000" b="0">
                <a:solidFill>
                  <a:srgbClr val="1F2D3A"/>
                </a:solidFill>
              </a:rPr>
              <a:t> Birim testlerini ve kapsam raporunu açın; kılavuzun ilgili S bölümünü gösterin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Dosya/veri işlemleri:</a:t>
            </a:r>
            <a:r>
              <a:rPr sz="2000" b="0">
                <a:solidFill>
                  <a:srgbClr val="1F2D3A"/>
                </a:solidFill>
              </a:rPr>
              <a:t> Bir kayıt ekleyin, programı kapatıp yeniden açın, verinin şifreli geldiğini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454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gösterin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Programlama:</a:t>
            </a:r>
            <a:r>
              <a:rPr sz="2000" b="0">
                <a:solidFill>
                  <a:srgbClr val="1F2D3A"/>
                </a:solidFill>
              </a:rPr>
              <a:t> Bellek yönetimi, işaretçiler, derleyici/OS korumaları, hata ayıklayıcıda inceleme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Mesleki sorumluluk ve akademik dürüstlük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 ettiğiniz her satırı </a:t>
            </a:r>
            <a:r>
              <a:rPr sz="2000" b="1">
                <a:solidFill>
                  <a:srgbClr val="1F2D3A"/>
                </a:solidFill>
              </a:rPr>
              <a:t>açıklayabilmelisiniz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Başkasının kodunu/metnini kullandıysanız </a:t>
            </a:r>
            <a:r>
              <a:rPr sz="2000" b="1">
                <a:solidFill>
                  <a:srgbClr val="1F2D3A"/>
                </a:solidFill>
              </a:rPr>
              <a:t>kaynağını belirtin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örnekler ve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İntihal</a:t>
            </a:r>
            <a:r>
              <a:rPr sz="2000" b="0">
                <a:solidFill>
                  <a:srgbClr val="1F2D3A"/>
                </a:solidFill>
              </a:rPr>
              <a:t> ve izinsiz kopyalama başarısızlık nedenidir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Hayalet commit (başkası adına commit atmak) intihal sayılır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 ve yasal çerçeve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üzerinde yapılır.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Örnekler ve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 olmalı; hiçbir gerçek sır, anahtar ya da kişisel veri depoya girmemeli.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Uygulamanız başkasının sistemine/verisine zarar vermemeli.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Sık sorulan sorular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Takımı tek başıma kurabilir miyim?</a:t>
            </a:r>
            <a:r>
              <a:rPr sz="2000" b="0">
                <a:solidFill>
                  <a:srgbClr val="1F2D3A"/>
                </a:solidFill>
              </a:rPr>
              <a:t> Evet. Takım en çok 3 kişidir; takımlar 3. haftanın sonunda (04.10.2026) kesinleşir.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Konumu onaydan sonra değiştirebilir miyim?</a:t>
            </a:r>
            <a:r>
              <a:rPr sz="2000" b="0">
                <a:solidFill>
                  <a:srgbClr val="1F2D3A"/>
                </a:solidFill>
              </a:rPr>
              <a:t> Hayır. Onaydan sonra konu değişmez.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Sık sorulan sorular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gereksinimi tam karşılayamazsam ne olur?</a:t>
            </a:r>
            <a:r>
              <a:rPr sz="2000" b="0">
                <a:solidFill>
                  <a:srgbClr val="1F2D3A"/>
                </a:solidFill>
              </a:rPr>
              <a:t> S14'e gerekçenizi yazarak devredebilir ya da kapsam dışı bırakabilirsiniz.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RAP1'de eksik kalan bir gereksinim RAP2'de tamamlanabilir mi?</a:t>
            </a:r>
            <a:r>
              <a:rPr sz="2000" b="0">
                <a:solidFill>
                  <a:srgbClr val="1F2D3A"/>
                </a:solidFill>
              </a:rPr>
              <a:t> Evet, ama RAP1 puanı gösterim anındaki duruma göre verilir ve güncellenmez.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Geç teslim kabul edilir mi?</a:t>
            </a:r>
            <a:r>
              <a:rPr sz="2000" b="0">
                <a:solidFill>
                  <a:srgbClr val="1F2D3A"/>
                </a:solidFill>
              </a:rPr>
              <a:t> Hayır — izlencedeki kurallar geçerlidir.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Proje Rehberi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— Proje konuları listesi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100 konu · 4 grup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Bütün veriler sentetiktir; sunucu tarafı yalnız kendi bilgisayarınızda (localhost) çalışan bir benzetimdir.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konu —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Çevrimdışı Ödeme Cüzdanı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Kullanıcının internet olmadan küçük ödemeler yapabildiği bir cüzdan. Bakiye ve tek kullanımlık ödeme anahtarları cihazda durur; bağlantı gelince işlemler sunucuyla eşleşir.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 çıkan gereksinimler:</a:t>
            </a:r>
            <a:r>
              <a:rPr sz="2000" b="0">
                <a:solidFill>
                  <a:srgbClr val="1F2D3A"/>
                </a:solidFill>
              </a:rPr>
              <a:t> 4.4 Beklemedeki veri (AES-GCM + SoftHSM), 4.3 Aktarımdaki veri (TLS 1.3 + sabitleme), 4.10 RASP (hata ayıklayıcı algılanınca anahtar silinir)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konu —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Kişisel Sağlık Kaydı Kasası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Kullanıcının sentetik tanı, ilaç ve alerji kayıtlarını yerel bir kasada tuttuğu uygulama. Saldırgan, cihazı ele geçiren ya da kaybolan cihazı bulan kişidir.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4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 çıkan gereksinimler:</a:t>
            </a:r>
            <a:r>
              <a:rPr sz="2000" b="0">
                <a:solidFill>
                  <a:srgbClr val="1F2D3A"/>
                </a:solidFill>
              </a:rPr>
              <a:t> 4.4 Beklemedeki veri (SQLite + AES-GCM + SoftHSM), 4.2 Kullanımdaki veri (sınırlı süre bellekte açık), 4.11 Bellek koruması (görüntülenen kayıt kapatılınca silinir)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Tam liste nerede?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Kalan </a:t>
            </a:r>
            <a:r>
              <a:rPr sz="2000" b="1">
                <a:solidFill>
                  <a:srgbClr val="1F2D3A"/>
                </a:solidFill>
              </a:rPr>
              <a:t>98 konu</a:t>
            </a:r>
            <a:r>
              <a:rPr sz="2000" b="0">
                <a:solidFill>
                  <a:srgbClr val="1F2D3A"/>
                </a:solidFill>
              </a:rPr>
              <a:t>, her biri aynı biçimde (kısa tanım, temel özellikler, korunacak varlıklar, öne çıkan gereksinimler) </a:t>
            </a:r>
            <a:r>
              <a:rPr sz="2000" b="1">
                <a:solidFill>
                  <a:srgbClr val="1F2D3A"/>
                </a:solidFill>
              </a:rPr>
              <a:t>Proje Rehberi</a:t>
            </a:r>
            <a:r>
              <a:rPr sz="2000" b="0">
                <a:solidFill>
                  <a:srgbClr val="1F2D3A"/>
                </a:solidFill>
              </a:rPr>
              <a:t> sayfasının sonundaki </a:t>
            </a:r>
            <a:r>
              <a:rPr sz="2000" b="1">
                <a:solidFill>
                  <a:srgbClr val="1F2D3A"/>
                </a:solidFill>
              </a:rPr>
              <a:t>Ek — Proje konuları listesi</a:t>
            </a:r>
            <a:r>
              <a:rPr sz="2000" b="0">
                <a:solidFill>
                  <a:srgbClr val="1F2D3A"/>
                </a:solidFill>
              </a:rPr>
              <a:t> bölümündedir.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ucoruh.github.io/cen429-secure-programming/project-guide/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Proje Rehberi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Sorular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 rehberi:</a:t>
            </a:r>
            <a:r>
              <a:rPr sz="2000" b="0">
                <a:solidFill>
                  <a:srgbClr val="1F2D3A"/>
                </a:solidFill>
              </a:rPr>
              <a:t> ucoruh.github.io/cen429-secure-programming/project-guide/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Ders sitesi: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Güvenli Programlama — Proje Rehberi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