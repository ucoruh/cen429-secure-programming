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Kendinizi ve dersi tanıtın. Bu ders "saldırıyı görerek savunmayı öğrenme" dersi. Her hafta çalışan demolar olacak.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bölüm hiçbir ön bilgi varsaymaz; dersin ilk günü olduğu için her temel terimi tanımlıyoruz. Sonraki bölümlerde bunları kullanacağız.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Demoları önceden bir kez derleyin (Windows: code içinde .\build.ps1, WSL: ./build.sh) ki derste bekleme olmasın. Öğrencilere iki ortamın da aynı sonucu verdiğini gösterin; Visual Studio'da Klasör Aç ile code klasörünü açmak yeterli.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Öğrencilere kendi örneklerini sorun: "Instagram hesabınız için varlık, tehdit, zafiyet ne?"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4'te aynı aileden bir hatayı (uzunluk denetimi) kendi ellerimizle göreceğiz.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 ödeme, DRM, oyun hileleri, lisans denetimi örnekleri. "Anahtarı gizle" demek yetmez; saldırgan belleği okuyabilir.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Bina benzetmesi: iyi kilit, açık pencere, paspas altındaki anahtar, şifresiz kasa. Öğrencilere her satırda "bunu kim yapar?" diye sorun.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İç katmanlar "doğru yaz", dış katmanlar "kod saldırganın elindeyken ne olacak" sorusu. Bu tablo dönemin yol haritası.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Oyun hilesi örneği: istemci gizlenmiş, ama sunucu "bir saniyede 100 metre" hareketi kabul ediyor.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Projenin güvenlik kılavuzu her katman için "hangi önlemi aldım, nasıl test ettim" sorusunu cevaplayacak.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bu slaytı aç.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mimari yalnız yöntemi göstermek için. Arayüz ve varlık tablosu yöntemini dönem boyunca kullanacağız; tablodaki varlıkları koruyan yöntemleri sonraki haftalarda tek tek açacağız (3: güvenlik kabukları, 4 ve 9: native sağlamlaştırma, 6: RASP, 10: anahtar hiyerarşisi, 11: whitebox).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Süreç altı tehdide de açıktır: taklit edilir, kodu değiştirilir, belleği okunur, çökertilir, yetkisi kötüye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Tahtaya diyagramı çizin; E ve F güven sınırını geçen oklar.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yedi adım dönem projesinin güvenlik kılavuzu iskeleti. Bu hafta adım 0-4 bekleniyor.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3-4 kişilik gruplar. 10 dakika çalışma, 5 dakika iki gruba sunum. İpucu: E için doğrudan URL ile not girme sayfası; R için değişiklik kaydının olmaması.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sahte/date (Windows'ta sahte\hostname.bat) dosyasını gösterin: yalnız bir mesaj basıyor. Windows'ta cmd.exe komutu PATH'ten önce çalışma klasöründe de arar. "Gerçek saldırgan burada ne yapardı?" sorusunu sorun.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PR_SET_DUMPABLE'ın ikinci etkisini vurgulayın: aynı kullanıcının hata ayıklayıcısı bile bağlanamaz. 6. haftaya köprü.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Değerlendirici programı kapalı stdout, zehirli PATH/LD_PRELOAD ve umask 000 ile başlatır. Sahada native katman getenv'in kancalanıp kancalanmadığını setenv/getenv ile sınar.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Linux'ta demo gdb ile programı durdurup gcore ile belleği döküyor; Windows'ta program kendi belleğini MiniDumpWriteDump ile dokum klasörüne yazıyor. Bu, çökme dökümü veya hata ayıklayıcı saldırısının güvenli bir benzetimi. MSVC /O2 de memset'i kaldırıyor. Makine kodu: Linux'ta objdump -d, Visual Studio'da Ayrıştırılmış Kod penceresi.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Gerçek yerleşim derleyiciye göre değişir. Bu derste sömürü tekniğine değil, hatanın nasıl oluştuğuna, nasıl bulunduğuna ve nasıl önlendiğine odaklanıyoruz.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Değerlendirici önce grep ile tehlikeli fonksiyonları arar, sonra dışarıdan gelen her uzunluk alanının doğrulanıp doğrulanmadığına bakar; checksec / dumpbin ile korumaları denetler.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Asıl vurgu: tek bayt yeter; araçların sınırı var; asıl düzeltme kodda.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Sahada oturum verisi işlem biter bitmez rastgele değerlerle doldurularak silinir; uzun sıfır dizisi bile "burada sır vardı" izi bırakır.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Sahada tek statik anahtar yarım bayt düzeyinde parçalanıp onlarca fonksiyona dağıtılır; parmak izi iki farklı özetle iki farklı yerde saklanıp karşılaştırılır. Örtme tek başına kale değil; diğer katmanlarla değer kazanır.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Bütünlük denetimi gibi önlemler derleme hattını da değiştirir: özet gömülür, yeniden derlenir; sahada beş turlu imzalı derleme. Korumaların maliyeti de ölçülür: kritik işlemi 20 kez çalıştırıp en kısa, en uzun, ortalama süre.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cevap slaytını aç; tam çözüm eklerde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cevap slaytını aç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aç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STRIDE'ın her harfini sentetik bir örnekte tek tek uyguluyoruz.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öğrenciye sordurun, sonra cevabı açın.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Güvenli Programlamaya Giriş ve Uygulama Koruma Planı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18.09.2026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bölüm?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ders "güvenlik", "zafiyet", "tehdit modeli" gibi terimlerle dolu.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Hiçbirini bilmediğinizi varsayıyoruz.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hepsini </a:t>
            </a:r>
            <a:r>
              <a:rPr sz="2000" b="1">
                <a:solidFill>
                  <a:srgbClr val="1F2D3A"/>
                </a:solidFill>
              </a:rPr>
              <a:t>tek tek</a:t>
            </a:r>
            <a:r>
              <a:rPr sz="2000" b="0">
                <a:solidFill>
                  <a:srgbClr val="1F2D3A"/>
                </a:solidFill>
              </a:rPr>
              <a:t> tanımlayalım.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Güvenlik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Güvenlik:</a:t>
            </a:r>
            <a:r>
              <a:rPr sz="2000" b="0">
                <a:solidFill>
                  <a:srgbClr val="1F2D3A"/>
                </a:solidFill>
              </a:rPr>
              <a:t> bir sistemi, ona </a:t>
            </a:r>
            <a:r>
              <a:rPr sz="2000" b="1">
                <a:solidFill>
                  <a:srgbClr val="1F2D3A"/>
                </a:solidFill>
              </a:rPr>
              <a:t>zarar vermek isteyen</a:t>
            </a:r>
            <a:r>
              <a:rPr sz="2000" b="0">
                <a:solidFill>
                  <a:srgbClr val="1F2D3A"/>
                </a:solidFill>
              </a:rPr>
              <a:t> birine karşı korumak.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Normal hata: yanlışlıkla olur.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Güvenlik: </a:t>
            </a:r>
            <a:r>
              <a:rPr sz="2000" b="1">
                <a:solidFill>
                  <a:srgbClr val="1F2D3A"/>
                </a:solidFill>
              </a:rPr>
              <a:t>kasıtlı</a:t>
            </a:r>
            <a:r>
              <a:rPr sz="2000" b="0">
                <a:solidFill>
                  <a:srgbClr val="1F2D3A"/>
                </a:solidFill>
              </a:rPr>
              <a:t> bir saldırgan var.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Varlık (asset)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Varlık:</a:t>
            </a:r>
            <a:r>
              <a:rPr sz="2000" b="0">
                <a:solidFill>
                  <a:srgbClr val="1F2D3A"/>
                </a:solidFill>
              </a:rPr>
              <a:t> korumaya değer her şey (veri, anahtar, işlev).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parola, kredi kartı, lisans, kullanıcı verisi.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"neyi koruyoruz?" ile başlar.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Tehdit ve zafiyet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Tehdit:</a:t>
            </a:r>
            <a:r>
              <a:rPr sz="2000" b="0">
                <a:solidFill>
                  <a:srgbClr val="1F2D3A"/>
                </a:solidFill>
              </a:rPr>
              <a:t> olabilecek kötü bir olay (veri çalınması).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Zafiyet:</a:t>
            </a:r>
            <a:r>
              <a:rPr sz="2000" b="0">
                <a:solidFill>
                  <a:srgbClr val="1F2D3A"/>
                </a:solidFill>
              </a:rPr>
              <a:t> bunu mümkün kılan </a:t>
            </a:r>
            <a:r>
              <a:rPr sz="2000" b="1">
                <a:solidFill>
                  <a:srgbClr val="1F2D3A"/>
                </a:solidFill>
              </a:rPr>
              <a:t>zayıf nokta</a:t>
            </a:r>
            <a:r>
              <a:rPr sz="2000" b="0">
                <a:solidFill>
                  <a:srgbClr val="1F2D3A"/>
                </a:solidFill>
              </a:rPr>
              <a:t> (denetimsiz girdi).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Tehdit + zafiyet + saldırgan =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Tehdit · zafiyet · varlık — şema</a:t>
            </a:r>
          </a:p>
        </p:txBody>
      </p:sp>
      <p:pic>
        <p:nvPicPr>
          <p:cNvPr id="7" name="Picture 6" descr="h01-01-tehdit-zafiyet-var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6011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CIA üçlüsü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Güvenliğin üç temel hedefi: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Gizlilik (C):</a:t>
            </a:r>
            <a:r>
              <a:rPr sz="2000" b="0">
                <a:solidFill>
                  <a:srgbClr val="1F2D3A"/>
                </a:solidFill>
              </a:rPr>
              <a:t> yalnız yetkili görsün.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Bütünlük (I):</a:t>
            </a:r>
            <a:r>
              <a:rPr sz="2000" b="0">
                <a:solidFill>
                  <a:srgbClr val="1F2D3A"/>
                </a:solidFill>
              </a:rPr>
              <a:t> izinsiz değişmesin.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Erişilebilirlik (A):</a:t>
            </a:r>
            <a:r>
              <a:rPr sz="2000" b="0">
                <a:solidFill>
                  <a:srgbClr val="1F2D3A"/>
                </a:solidFill>
              </a:rPr>
              <a:t> gerektiğinde çalışsın.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Saldırgan modeli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Saldırgan modeli:</a:t>
            </a:r>
            <a:r>
              <a:rPr sz="2000" b="0">
                <a:solidFill>
                  <a:srgbClr val="1F2D3A"/>
                </a:solidFill>
              </a:rPr>
              <a:t> "saldırgan neyi görebilir/yapabilir?"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Ağdan mı bağlanıyor, cihaza mı sahip?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Savunmayı buna göre tasarlarız.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Beyaz kutu / 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MATE (Man-At-The-End):</a:t>
            </a:r>
            <a:r>
              <a:rPr sz="2000" b="0">
                <a:solidFill>
                  <a:srgbClr val="1F2D3A"/>
                </a:solidFill>
              </a:rPr>
              <a:t> programa </a:t>
            </a:r>
            <a:r>
              <a:rPr sz="2000" b="1">
                <a:solidFill>
                  <a:srgbClr val="1F2D3A"/>
                </a:solidFill>
              </a:rPr>
              <a:t>sahip</a:t>
            </a:r>
            <a:r>
              <a:rPr sz="2000" b="0">
                <a:solidFill>
                  <a:srgbClr val="1F2D3A"/>
                </a:solidFill>
              </a:rPr>
              <a:t> saldırgan.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Kodu okur, belleği görür, değiştirir.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Mobil/masaüstü uygulamanın gerçek durumu (bu dersin ana teması).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Tehdit modelleme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Tehdit modelleme:</a:t>
            </a:r>
            <a:r>
              <a:rPr sz="2000" b="0">
                <a:solidFill>
                  <a:srgbClr val="1F2D3A"/>
                </a:solidFill>
              </a:rPr>
              <a:t> "neyi, kime karşı, nasıl koruyacağız?" sorusunu </a:t>
            </a:r>
            <a:r>
              <a:rPr sz="2000" b="1">
                <a:solidFill>
                  <a:srgbClr val="1F2D3A"/>
                </a:solidFill>
              </a:rPr>
              <a:t>sistemli</a:t>
            </a:r>
            <a:r>
              <a:rPr sz="2000" b="0">
                <a:solidFill>
                  <a:srgbClr val="1F2D3A"/>
                </a:solidFill>
              </a:rPr>
              <a:t> yanıtlamak.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Varlıkları, tehditleri, önlemleri listeler.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STRIDE ve saldırı ağaçlarıyla yapacağız.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Tehditleri altı harfle sınıflandıran yöntem: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</a:t>
            </a:r>
            <a:r>
              <a:rPr sz="2000" b="0">
                <a:solidFill>
                  <a:srgbClr val="1F2D3A"/>
                </a:solidFill>
              </a:rPr>
              <a:t>poofing, </a:t>
            </a:r>
            <a:r>
              <a:rPr sz="2000" b="1">
                <a:solidFill>
                  <a:srgbClr val="1F2D3A"/>
                </a:solidFill>
              </a:rPr>
              <a:t>T</a:t>
            </a:r>
            <a:r>
              <a:rPr sz="2000" b="0">
                <a:solidFill>
                  <a:srgbClr val="1F2D3A"/>
                </a:solidFill>
              </a:rPr>
              <a:t>ampering, </a:t>
            </a:r>
            <a:r>
              <a:rPr sz="2000" b="1">
                <a:solidFill>
                  <a:srgbClr val="1F2D3A"/>
                </a:solidFill>
              </a:rPr>
              <a:t>R</a:t>
            </a:r>
            <a:r>
              <a:rPr sz="2000" b="0">
                <a:solidFill>
                  <a:srgbClr val="1F2D3A"/>
                </a:solidFill>
              </a:rPr>
              <a:t>epudiation, </a:t>
            </a:r>
            <a:r>
              <a:rPr sz="2000" b="1">
                <a:solidFill>
                  <a:srgbClr val="1F2D3A"/>
                </a:solidFill>
              </a:rPr>
              <a:t>I</a:t>
            </a:r>
            <a:r>
              <a:rPr sz="2000" b="0">
                <a:solidFill>
                  <a:srgbClr val="1F2D3A"/>
                </a:solidFill>
              </a:rPr>
              <a:t>nformation disclosure, </a:t>
            </a:r>
            <a:r>
              <a:rPr sz="2000" b="1">
                <a:solidFill>
                  <a:srgbClr val="1F2D3A"/>
                </a:solidFill>
              </a:rPr>
              <a:t>D</a:t>
            </a:r>
            <a:r>
              <a:rPr sz="2000" b="0">
                <a:solidFill>
                  <a:srgbClr val="1F2D3A"/>
                </a:solidFill>
              </a:rPr>
              <a:t>enial of service, </a:t>
            </a:r>
            <a:r>
              <a:rPr sz="2000" b="1">
                <a:solidFill>
                  <a:srgbClr val="1F2D3A"/>
                </a:solidFill>
              </a:rPr>
              <a:t>E</a:t>
            </a:r>
            <a:r>
              <a:rPr sz="2000" b="0">
                <a:solidFill>
                  <a:srgbClr val="1F2D3A"/>
                </a:solidFill>
              </a:rPr>
              <a:t>levation of privilege.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öğe için "hangi tehdit?" diye sorar.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ağacı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Saldırı ağacı:</a:t>
            </a:r>
            <a:r>
              <a:rPr sz="2000" b="0">
                <a:solidFill>
                  <a:srgbClr val="1F2D3A"/>
                </a:solidFill>
              </a:rPr>
              <a:t> bir hedefi (ör. "anahtarı çal") </a:t>
            </a:r>
            <a:r>
              <a:rPr sz="2000" b="1">
                <a:solidFill>
                  <a:srgbClr val="1F2D3A"/>
                </a:solidFill>
              </a:rPr>
              <a:t>alt adımlara</a:t>
            </a:r>
            <a:r>
              <a:rPr sz="2000" b="0">
                <a:solidFill>
                  <a:srgbClr val="1F2D3A"/>
                </a:solidFill>
              </a:rPr>
              <a:t> bölen ağaç.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Kök: saldırganın amacı.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Dallar: bunu başarmanın yolları.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Veri akış diyagramı (DFD)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DFD:</a:t>
            </a:r>
            <a:r>
              <a:rPr sz="2000" b="0">
                <a:solidFill>
                  <a:srgbClr val="1F2D3A"/>
                </a:solidFill>
              </a:rPr>
              <a:t> verinin sistemde </a:t>
            </a:r>
            <a:r>
              <a:rPr sz="2000" b="1">
                <a:solidFill>
                  <a:srgbClr val="1F2D3A"/>
                </a:solidFill>
              </a:rPr>
              <a:t>nasıl aktığını</a:t>
            </a:r>
            <a:r>
              <a:rPr sz="2000" b="0">
                <a:solidFill>
                  <a:srgbClr val="1F2D3A"/>
                </a:solidFill>
              </a:rPr>
              <a:t> gösteren şema.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Süreç, veri deposu, dış varlık, akış, güven sınırı.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Tehditleri bulmak için harita.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Katmanlı savunma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Katmanlı savunma (defense in depth):</a:t>
            </a:r>
            <a:r>
              <a:rPr sz="2000" b="0">
                <a:solidFill>
                  <a:srgbClr val="1F2D3A"/>
                </a:solidFill>
              </a:rPr>
              <a:t> tek önlem değil, </a:t>
            </a:r>
            <a:r>
              <a:rPr sz="2000" b="1">
                <a:solidFill>
                  <a:srgbClr val="1F2D3A"/>
                </a:solidFill>
              </a:rPr>
              <a:t>birçok</a:t>
            </a:r>
            <a:r>
              <a:rPr sz="2000" b="0">
                <a:solidFill>
                  <a:srgbClr val="1F2D3A"/>
                </a:solidFill>
              </a:rPr>
              <a:t> önlem.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 aşılırsa diğeri durdurur.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"Güvenlik kabuğu" bu katmanların birleşimi.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 tasarım ilkeleri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Saltzer &amp; Schroeder (1975): en az yetki, güvenli varsayılan, ekonomi, açık tasarım…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hâlâ geçerli.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dersin omurgası.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Ödünleşim (trade-off)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koruma bir </a:t>
            </a:r>
            <a:r>
              <a:rPr sz="2000" b="1">
                <a:solidFill>
                  <a:srgbClr val="1F2D3A"/>
                </a:solidFill>
              </a:rPr>
              <a:t>bedel</a:t>
            </a:r>
            <a:r>
              <a:rPr sz="2000" b="0">
                <a:solidFill>
                  <a:srgbClr val="1F2D3A"/>
                </a:solidFill>
              </a:rPr>
              <a:t> getirir: hız, karmaşıklık, maliyet.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"sonsuz koruma" değil, </a:t>
            </a:r>
            <a:r>
              <a:rPr sz="2000" b="1">
                <a:solidFill>
                  <a:srgbClr val="1F2D3A"/>
                </a:solidFill>
              </a:rPr>
              <a:t>dengeli</a:t>
            </a:r>
            <a:r>
              <a:rPr sz="2000" b="0">
                <a:solidFill>
                  <a:srgbClr val="1F2D3A"/>
                </a:solidFill>
              </a:rPr>
              <a:t> koruma.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Kalan riski açıkça yazarız.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güvenlik · varlık · tehdit/zafiyet · CIA · saldırgan modeli · MATE · tehdit modelleme · STRIDE · saldırı ağacı · DFD · katmanlı savunma · tasarım ilkeleri · ödünleşim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güvenlik nedir, derinlemesine.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693"/>
                <a:gridCol w="10201841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Ders tanıtımı · Güvenlik nedir? · Saldırgan · İlkeler ·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Uygulama korumasına genel bakış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Koruma planı · STRIDE ve risk puanı · Saldırı ağacı ·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Uygulamalı örnek "Kasa"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Sınıf alıştırması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Güvenli başlatma · Taşmalar ·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3–4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Bellek yönetimi · Bölümleme · Güvenli süreç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Demolar: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code/week-01</a:t>
            </a:r>
            <a:r>
              <a:rPr sz="2000" b="0">
                <a:solidFill>
                  <a:srgbClr val="1F2D3A"/>
                </a:solidFill>
              </a:rPr>
              <a:t> —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· WSL / 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  <a:r>
              <a:rPr sz="2000" b="0">
                <a:solidFill>
                  <a:srgbClr val="1F2D3A"/>
                </a:solidFill>
              </a:rPr>
              <a:t> · Visual Studio: Klasör Aç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güvenli programlama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60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1975</a:t>
            </a:r>
            <a:r>
              <a:rPr sz="1800" b="0">
                <a:solidFill>
                  <a:srgbClr val="1F2D3A"/>
                </a:solidFill>
              </a:rPr>
              <a:t> — Saltzer &amp; Schroeder: güvenli tasarımın </a:t>
            </a:r>
            <a:r>
              <a:rPr sz="1800" b="1">
                <a:solidFill>
                  <a:srgbClr val="1F2D3A"/>
                </a:solidFill>
              </a:rPr>
              <a:t>8 ilkesi</a:t>
            </a:r>
            <a:r>
              <a:rPr sz="1800" b="0">
                <a:solidFill>
                  <a:srgbClr val="1F2D3A"/>
                </a:solidFill>
              </a:rPr>
              <a:t> (en az ayrıcalık, derinlemesine savunma…)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1970–80'ler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CIA üçlüsü</a:t>
            </a:r>
            <a:r>
              <a:rPr sz="1800" b="0">
                <a:solidFill>
                  <a:srgbClr val="1F2D3A"/>
                </a:solidFill>
              </a:rPr>
              <a:t> ortak dil hâline gelir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1998–99</a:t>
            </a:r>
            <a:r>
              <a:rPr sz="1800" b="0">
                <a:solidFill>
                  <a:srgbClr val="1F2D3A"/>
                </a:solidFill>
              </a:rPr>
              <a:t> — Microsoft'ta </a:t>
            </a:r>
            <a:r>
              <a:rPr sz="1800" b="1">
                <a:solidFill>
                  <a:srgbClr val="1F2D3A"/>
                </a:solidFill>
              </a:rPr>
              <a:t>STRIDE</a:t>
            </a:r>
            <a:r>
              <a:rPr sz="1800" b="0">
                <a:solidFill>
                  <a:srgbClr val="1F2D3A"/>
                </a:solidFill>
              </a:rPr>
              <a:t>; Schneier </a:t>
            </a:r>
            <a:r>
              <a:rPr sz="1800" b="1">
                <a:solidFill>
                  <a:srgbClr val="1F2D3A"/>
                </a:solidFill>
              </a:rPr>
              <a:t>saldırı ağaçlarını</a:t>
            </a:r>
            <a:r>
              <a:rPr sz="1800" b="0">
                <a:solidFill>
                  <a:srgbClr val="1F2D3A"/>
                </a:solidFill>
              </a:rPr>
              <a:t> tanıtır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2001–03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0" i="1">
                <a:solidFill>
                  <a:srgbClr val="1F2D3A"/>
                </a:solidFill>
              </a:rPr>
              <a:t>Building Secure Software</a:t>
            </a:r>
            <a:r>
              <a:rPr sz="1800" b="0">
                <a:solidFill>
                  <a:srgbClr val="1F2D3A"/>
                </a:solidFill>
              </a:rPr>
              <a:t> ve </a:t>
            </a:r>
            <a:r>
              <a:rPr sz="1800" b="1">
                <a:solidFill>
                  <a:srgbClr val="1F2D3A"/>
                </a:solidFill>
              </a:rPr>
              <a:t>Secure Programming Cookbook</a:t>
            </a:r>
            <a:r>
              <a:rPr sz="1800" b="0">
                <a:solidFill>
                  <a:srgbClr val="1F2D3A"/>
                </a:solidFill>
              </a:rPr>
              <a:t> (dersin ana kaynağı)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9582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Bugünkü araçlar (CIA · saldırgan modeli · STRIDE · saldırı ağacı) bu çizginin ürünüdür.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 programlamanın beş kararı — şema</a:t>
            </a:r>
          </a:p>
        </p:txBody>
      </p:sp>
      <p:pic>
        <p:nvPicPr>
          <p:cNvPr id="7" name="Picture 6" descr="h01-17-bes-kar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8515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 nasıl yürüyor?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1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 dönem projesi:</a:t>
            </a:r>
            <a:r>
              <a:rPr sz="2000" b="0">
                <a:solidFill>
                  <a:srgbClr val="1F2D3A"/>
                </a:solidFill>
              </a:rPr>
              <a:t> C/C++ uygulaması + "sertifikasyondan geçecekmiş gibi" bir </a:t>
            </a:r>
            <a:r>
              <a:rPr sz="2000" b="1">
                <a:solidFill>
                  <a:srgbClr val="1F2D3A"/>
                </a:solidFill>
              </a:rPr>
              <a:t>güvenlik kılavuzu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Vize kontrolü: </a:t>
            </a:r>
            <a:r>
              <a:rPr sz="2000" b="1">
                <a:solidFill>
                  <a:srgbClr val="1F2D3A"/>
                </a:solidFill>
              </a:rPr>
              <a:t>7. hafta</a:t>
            </a:r>
            <a:r>
              <a:rPr sz="2000" b="0">
                <a:solidFill>
                  <a:srgbClr val="1F2D3A"/>
                </a:solidFill>
              </a:rPr>
              <a:t> gösterim · Final kontrolü: </a:t>
            </a:r>
            <a:r>
              <a:rPr sz="2000" b="1">
                <a:solidFill>
                  <a:srgbClr val="1F2D3A"/>
                </a:solidFill>
              </a:rPr>
              <a:t>15. hafta</a:t>
            </a:r>
            <a:r>
              <a:rPr sz="2000" b="0">
                <a:solidFill>
                  <a:srgbClr val="1F2D3A"/>
                </a:solidFill>
              </a:rPr>
              <a:t> gösterim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 quiz:</a:t>
            </a:r>
            <a:r>
              <a:rPr sz="2000" b="0">
                <a:solidFill>
                  <a:srgbClr val="1F2D3A"/>
                </a:solidFill>
              </a:rPr>
              <a:t> 8. hafta (1–6) · 16. hafta (9–14)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Not: </a:t>
            </a:r>
            <a:r>
              <a:rPr sz="2000" b="0">
                <a:solidFill>
                  <a:srgbClr val="A1123F"/>
                </a:solidFill>
                <a:latin typeface="Consolas"/>
              </a:rPr>
              <a:t>Vize = 0,6·Proje1 + 0,4·Quiz1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 = 0,7·Proje2 + 0,3·Quiz2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hafta: </a:t>
            </a:r>
            <a:r>
              <a:rPr sz="2000" b="1">
                <a:solidFill>
                  <a:srgbClr val="1F2D3A"/>
                </a:solidFill>
              </a:rPr>
              <a:t>hatalı kod → saldırı → düzeltme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3684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Etik:</a:t>
            </a:r>
            <a:r>
              <a:rPr sz="2000" b="0">
                <a:solidFill>
                  <a:srgbClr val="1F2D3A"/>
                </a:solidFill>
              </a:rPr>
              <a:t> Teknikleri yalnız </a:t>
            </a:r>
            <a:r>
              <a:rPr sz="2000" b="1">
                <a:solidFill>
                  <a:srgbClr val="1F2D3A"/>
                </a:solidFill>
              </a:rPr>
              <a:t>kendi bilgisayarınızda</a:t>
            </a:r>
            <a:r>
              <a:rPr sz="2000" b="0">
                <a:solidFill>
                  <a:srgbClr val="1F2D3A"/>
                </a:solidFill>
              </a:rPr>
              <a:t> ve verilen demolar üzerinde deneyin.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Güvenlik nedir?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Kasa benzetmesi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569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1610"/>
                <a:gridCol w="2801610"/>
                <a:gridCol w="5308314"/>
              </a:tblGrid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Kasa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Yazılım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Varlık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Parola, ödeme anahtarı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Tehdit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Hırsız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Parolayı çalmak isteyen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Zafiyet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Arızalı kilit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Denetlenmeyen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strcpy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Saldırı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Kilidi açmak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Uzun adla yönetici olmak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Karşı önlem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Yeni kilit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Uzunluk denetimi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Olasılık × etki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"Bulunursa bütün hesaplar gider"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Güvenliğin üç hedefi: CIA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9149"/>
                <a:gridCol w="3978163"/>
                <a:gridCol w="2614221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Soru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Bozulursa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onfidentiality — Gizlilik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Yalnız yetkili görebiliyor mu?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Parolalar sızar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ntegrity — Bütünlük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Yetkisiz değiştirilebiliyor mu?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Bakiye, not değişir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vailability — Erişilebilirlik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Gerektiğinde çalışıyor mu?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Sistem çöker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+ Kimlik doğrulama · Yetkilendirme · İnkâr edilemezlik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123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Bankacılık uygulaması bakiyeyi şifresiz yazıyor → ? · Alıcı IBAN yolda değişiyor → ? · Bayram gecesi çöküyor → 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CIA üçlüsü — şema</a:t>
            </a:r>
          </a:p>
        </p:txBody>
      </p:sp>
      <p:pic>
        <p:nvPicPr>
          <p:cNvPr id="7" name="Picture 6" descr="h01-12-cia-ucl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4123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55933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Sorunun cevabı:</a:t>
            </a:r>
            <a:r>
              <a:rPr sz="1800" b="0">
                <a:solidFill>
                  <a:srgbClr val="1F2D3A"/>
                </a:solidFill>
              </a:rPr>
              <a:t> bakiye şifresiz → </a:t>
            </a:r>
            <a:r>
              <a:rPr sz="1800" b="1">
                <a:solidFill>
                  <a:srgbClr val="1F2D3A"/>
                </a:solidFill>
              </a:rPr>
              <a:t>C</a:t>
            </a:r>
            <a:r>
              <a:rPr sz="1800" b="0">
                <a:solidFill>
                  <a:srgbClr val="1F2D3A"/>
                </a:solidFill>
              </a:rPr>
              <a:t>; IBAN yolda değişiyor → </a:t>
            </a:r>
            <a:r>
              <a:rPr sz="1800" b="1">
                <a:solidFill>
                  <a:srgbClr val="1F2D3A"/>
                </a:solidFill>
              </a:rPr>
              <a:t>I</a:t>
            </a:r>
            <a:r>
              <a:rPr sz="1800" b="0">
                <a:solidFill>
                  <a:srgbClr val="1F2D3A"/>
                </a:solidFill>
              </a:rPr>
              <a:t>; bayram gecesi çöküyor → </a:t>
            </a:r>
            <a:r>
              <a:rPr sz="1800" b="1">
                <a:solidFill>
                  <a:srgbClr val="1F2D3A"/>
                </a:solidFill>
              </a:rPr>
              <a:t>A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CIA üçlüsü — tipik önlemler ve komşu kavramlar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4"/>
                <a:gridCol w="6183203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Hedef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Tipik 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Gizlilik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Şifreleme, erişim denetimi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Bütünlük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Özet (hash), MAC, dijital imza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Erişilebilirlik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Yedeklilik, kaynak sınırlama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+ </a:t>
            </a:r>
            <a:r>
              <a:rPr sz="2000" b="1">
                <a:solidFill>
                  <a:srgbClr val="1F2D3A"/>
                </a:solidFill>
              </a:rPr>
              <a:t>Kimlik doğrulama:</a:t>
            </a:r>
            <a:r>
              <a:rPr sz="2000" b="0">
                <a:solidFill>
                  <a:srgbClr val="1F2D3A"/>
                </a:solidFill>
              </a:rPr>
              <a:t> sen gerçekten o musun? · </a:t>
            </a:r>
            <a:r>
              <a:rPr sz="2000" b="1">
                <a:solidFill>
                  <a:srgbClr val="1F2D3A"/>
                </a:solidFill>
              </a:rPr>
              <a:t>Yetkilendirme:</a:t>
            </a:r>
            <a:r>
              <a:rPr sz="2000" b="0">
                <a:solidFill>
                  <a:srgbClr val="1F2D3A"/>
                </a:solidFill>
              </a:rPr>
              <a:t> bunu yapmaya iznin var mı? · </a:t>
            </a:r>
            <a:r>
              <a:rPr sz="2000" b="1">
                <a:solidFill>
                  <a:srgbClr val="1F2D3A"/>
                </a:solidFill>
              </a:rPr>
              <a:t>İnkâr edilemezlik:</a:t>
            </a:r>
            <a:r>
              <a:rPr sz="2000" b="0">
                <a:solidFill>
                  <a:srgbClr val="1F2D3A"/>
                </a:solidFill>
              </a:rPr>
              <a:t> bunu kim yaptı, sonradan inkâr edebilir mi?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≠ zafiyet, ama…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Güvenlik açıklarının çok büyük kısmı </a:t>
            </a:r>
            <a:r>
              <a:rPr sz="2000" b="1">
                <a:solidFill>
                  <a:srgbClr val="1F2D3A"/>
                </a:solidFill>
              </a:rPr>
              <a:t>sıradan yazılım hatalarıdır.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Heartbleed (2014, CVE-2014-0160)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İstemci: "Bana </a:t>
            </a:r>
            <a:r>
              <a:rPr sz="2000" b="1">
                <a:solidFill>
                  <a:srgbClr val="1F2D3A"/>
                </a:solidFill>
              </a:rPr>
              <a:t>64 KB</a:t>
            </a:r>
            <a:r>
              <a:rPr sz="2000" b="0">
                <a:solidFill>
                  <a:srgbClr val="1F2D3A"/>
                </a:solidFill>
              </a:rPr>
              <a:t> geri yolla" — ama yalnız </a:t>
            </a:r>
            <a:r>
              <a:rPr sz="2000" b="1">
                <a:solidFill>
                  <a:srgbClr val="1F2D3A"/>
                </a:solidFill>
              </a:rPr>
              <a:t>birkaç bayt</a:t>
            </a:r>
            <a:r>
              <a:rPr sz="2000" b="0">
                <a:solidFill>
                  <a:srgbClr val="1F2D3A"/>
                </a:solidFill>
              </a:rPr>
              <a:t> gönderir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 uzunluğu </a:t>
            </a:r>
            <a:r>
              <a:rPr sz="2000" b="1">
                <a:solidFill>
                  <a:srgbClr val="1F2D3A"/>
                </a:solidFill>
              </a:rPr>
              <a:t>denetlemez</a:t>
            </a:r>
            <a:r>
              <a:rPr sz="2000" b="0">
                <a:solidFill>
                  <a:srgbClr val="1F2D3A"/>
                </a:solidFill>
              </a:rPr>
              <a:t> → komşu belleği (parolalar, anahtarlar) geri yollar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eksik uzunluk denetimi → internetin önemli bir kısmı etkilendi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Saldırgan kim, neye erişebiliyor?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854"/>
                <a:gridCol w="4091825"/>
                <a:gridCol w="3409854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Saldırgan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Erişim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Savunma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Uzaktaki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Yalnız ağ mesajları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Girdi doğrulama, TLS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Yerel kullanıcı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Dosyalar, ortam değişkenleri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İzinler, güvenli başlatma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İçeriden kişi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Kaynak kod, sunucu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Ayrıcalık ayrımı, denetim kaydı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Cihazın sahibi (beyaz kutu)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Bellek, hata ayıklayıcı, ikili kod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RASP, kod gizleme, whitebox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Bu dersin farkı:</a:t>
            </a:r>
            <a:r>
              <a:rPr sz="2000" b="0">
                <a:solidFill>
                  <a:srgbClr val="1F2D3A"/>
                </a:solidFill>
              </a:rPr>
              <a:t> program </a:t>
            </a:r>
            <a:r>
              <a:rPr sz="2000" b="1">
                <a:solidFill>
                  <a:srgbClr val="1F2D3A"/>
                </a:solidFill>
              </a:rPr>
              <a:t>saldırganın cihazında</a:t>
            </a:r>
            <a:r>
              <a:rPr sz="2000" b="0">
                <a:solidFill>
                  <a:srgbClr val="1F2D3A"/>
                </a:solidFill>
              </a:rPr>
              <a:t> çalışıyorsa ne yaparız?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Saldırgan modelleri — şema</a:t>
            </a:r>
          </a:p>
        </p:txBody>
      </p:sp>
      <p:pic>
        <p:nvPicPr>
          <p:cNvPr id="7" name="Picture 6" descr="h01-02-saldirgan-model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Saldırganlar — gerçek hayattan örnek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865"/>
                <a:gridCol w="7308669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Saldırgan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Uzaktaki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Web sunucusuna saldıran biri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Yerel kullanıcı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Paylaşılan sunucudaki başka bir öğrenci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İçeriden kişi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Görevini kötüye kullanan çalışan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Cihazın sahibi (beyaz kutu)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Mobil ödeme uygulamasını kendi telefonunda kırmaya çalışan biri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4787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satırı kendi projenize uygulayın: sizin saldırganınız hangisi?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Güvenli tasarım ilkeleri (Saltzer &amp; Schroeder, 1975)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05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193"/>
                <a:gridCol w="7626341"/>
              </a:tblGrid>
              <a:tr h="33893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İlke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Tek cümle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 az ayrıcalık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gereken yetkiyle çalış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varsayılan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Varsayılan "izin yok"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Tam aracılık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erişimi her seferinde denetle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Açık tasarım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algoritmanın değil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anahtarın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gizliliğine dayanır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Mekanizma ekonomisi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Basit = daha az hata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Ayrıcalıkların ayrılması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Kritik işe iki koşul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 az ortak mekanizma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Paylaşılan kaynağı azalt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Kabul edilebilirlik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Kullanılamayan güvenlik atlatılır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8604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+ </a:t>
            </a:r>
            <a:r>
              <a:rPr sz="1800" b="1">
                <a:solidFill>
                  <a:srgbClr val="1F2D3A"/>
                </a:solidFill>
              </a:rPr>
              <a:t>Derinlemesine savunma:</a:t>
            </a:r>
            <a:r>
              <a:rPr sz="1800" b="0">
                <a:solidFill>
                  <a:srgbClr val="1F2D3A"/>
                </a:solidFill>
              </a:rPr>
              <a:t> tek önleme güvenme, </a:t>
            </a:r>
            <a:r>
              <a:rPr sz="1800" b="1">
                <a:solidFill>
                  <a:srgbClr val="1F2D3A"/>
                </a:solidFill>
              </a:rPr>
              <a:t>katman</a:t>
            </a:r>
            <a:r>
              <a:rPr sz="1800" b="0">
                <a:solidFill>
                  <a:srgbClr val="1F2D3A"/>
                </a:solidFill>
              </a:rPr>
              <a:t> kur.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Saltzer ve Schroeder ilkeleri — şema</a:t>
            </a:r>
          </a:p>
        </p:txBody>
      </p:sp>
      <p:pic>
        <p:nvPicPr>
          <p:cNvPr id="7" name="Picture 6" descr="h01-18-saltzer-schroe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7857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Güvenli tasarım ilkeleri — örnekler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162"/>
                <a:gridCol w="8087373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İlke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 az ayrıcalık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Rapor programı yönetici değil, sıradan kullanıcıyla çalışır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varsayılan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Yeni kullanıcının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yonetici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alanı 0 ile başlar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Tam aracılık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Yetki bir kez bakılıp önbelleğe yazılmaz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Açık tasarım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Kendi şifreleme algoritmanızı yazmazsınız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ilke soyut değil; kodda somut bir kararla karşılık bulur.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Güvenli tasarım ilkeleri — örnekler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83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3258"/>
                <a:gridCol w="7378276"/>
              </a:tblGrid>
              <a:tr h="4367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İlke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Mekanizma ekonomisi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 satırlık açık denetim, 500 satırlık "akıllı" denetimden iyidir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Ayrıcalıkların ayrılması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Para transferi için hem parola hem SMS kodu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 az ortak mekanizma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oturumun kendi geçici dosyası olur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Psikolojik kabul edilebilirlik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5 dakikada parola sormak, parolanın kâğıda yazılmasına yol açar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1919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Kullanılamayan güvenlik, </a:t>
            </a:r>
            <a:r>
              <a:rPr sz="1800" b="1">
                <a:solidFill>
                  <a:srgbClr val="1F2D3A"/>
                </a:solidFill>
              </a:rPr>
              <a:t>atlatılan</a:t>
            </a:r>
            <a:r>
              <a:rPr sz="1800" b="0">
                <a:solidFill>
                  <a:srgbClr val="1F2D3A"/>
                </a:solidFill>
              </a:rPr>
              <a:t> güvenliktir.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Uygulama korumasına genel bakış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tek bir önlem yetmez?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4278"/>
                <a:gridCol w="6647256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Neyi çözmez?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Hatasız kod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Saldırgan ikili dosyayı açıp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mantığı okur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Gizlenmiş kod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Hata ayıklayıcıyla durdurup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belleği okur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İzlenmeye karşı korunan bellek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 kodda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düz metin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→ dize taraması yeter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Gizlenmiş anahtar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bir denetimi değiştirip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korumayı atlar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Her katman bir öncekinin açığını kapatır; saldırgan hepsini </a:t>
            </a:r>
            <a:r>
              <a:rPr sz="2000" b="1">
                <a:solidFill>
                  <a:srgbClr val="1F2D3A"/>
                </a:solidFill>
              </a:rPr>
              <a:t>aynı anda</a:t>
            </a:r>
            <a:r>
              <a:rPr sz="2000" b="0">
                <a:solidFill>
                  <a:srgbClr val="1F2D3A"/>
                </a:solidFill>
              </a:rPr>
              <a:t> aşmalı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Yedi katman: içten dışa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534"/>
                <a:gridCol w="3237488"/>
                <a:gridCol w="5275907"/>
                <a:gridCol w="1798604"/>
              </a:tblGrid>
              <a:tr h="3943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Soru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tasarım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Neyi, kime karşı?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kodlama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Kodum hatasız mı?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1, 4, 5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Derleyici/OS korumaları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 kaçarsa sömürü zor mu?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Kodu okuyan anlayabiliyor mu?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4, 5, 9, 14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altında olduğunu fark ediyor mu?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ele geçse bile anlamsız mı?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3, 10, 11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Çalıştığını nasıl kanıtlıyoruz?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Yedi katman — şema (içten dışa)</a:t>
            </a:r>
          </a:p>
        </p:txBody>
      </p:sp>
      <p:pic>
        <p:nvPicPr>
          <p:cNvPr id="7" name="Picture 6" descr="h01-03-yedi-kat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46675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103195"/>
            <a:ext cx="10911535" cy="29133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</a:rPr>
              <a:t>Bir hata dış katmanları geçse bile </a:t>
            </a:r>
            <a:r>
              <a:rPr sz="1100" b="1">
                <a:solidFill>
                  <a:srgbClr val="1F2D3A"/>
                </a:solidFill>
              </a:rPr>
              <a:t>bir sonraki</a:t>
            </a:r>
            <a:r>
              <a:rPr sz="1100" b="0">
                <a:solidFill>
                  <a:srgbClr val="1F2D3A"/>
                </a:solidFill>
              </a:rPr>
              <a:t> katman durdurmayı dener (derinlemesine savunma).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Yedi katman — tipik teknikler ve durdurduğu saldırgan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587"/>
                <a:gridCol w="1374681"/>
                <a:gridCol w="5412808"/>
                <a:gridCol w="3694456"/>
              </a:tblGrid>
              <a:tr h="52806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Tipik teknikler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Durduğu saldırgan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Tasarım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Tehdit modeli, varlık/arayüz tabloları, en az ayrıcalık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Tasarım hatası arayan herkes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Girdi doğrulama, sınır denetimi, SEI CERT kuralları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Uzaktan girdi gönderen saldırgan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Derleyici/OS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Kanarya, ASLR, DEP/NX, CFI,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_FORTIFY_SOURCE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 hatasını kullanan saldırgan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Kontrol akışı düzleştirme, opak yüklem, sanallaştırma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Tersine mühendislik yapan analist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 ayıklayıcı/kanca/root algılama, bütünlük denetimi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Programı çalışırken inceleyen saldırgan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 doğrulamalı şifreleme, anahtar hiyerarşisi, whitebox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Veriyi ele geçiren saldırgan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806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incelemesi, fuzzing, sızma testi, sertifikasyon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Denetçi ve değerlendirici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Güvenlik kabuğu: katmanların birleştiği 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Hassas bir anahtar </a:t>
            </a:r>
            <a:r>
              <a:rPr sz="2000" b="1">
                <a:solidFill>
                  <a:srgbClr val="1F2D3A"/>
                </a:solidFill>
              </a:rPr>
              <a:t>aynı anda</a:t>
            </a:r>
            <a:r>
              <a:rPr sz="2000" b="0">
                <a:solidFill>
                  <a:srgbClr val="1F2D3A"/>
                </a:solidFill>
              </a:rPr>
              <a:t> birkaç katmanın içinde taşınır: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Diskte </a:t>
            </a:r>
            <a:r>
              <a:rPr sz="2000" b="1">
                <a:solidFill>
                  <a:srgbClr val="1F2D3A"/>
                </a:solidFill>
              </a:rPr>
              <a:t>şifreli</a:t>
            </a:r>
            <a:r>
              <a:rPr sz="2000" b="0">
                <a:solidFill>
                  <a:srgbClr val="1F2D3A"/>
                </a:solidFill>
              </a:rPr>
              <a:t> durur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Yalnız kullanılacağı an, yalnız gerektiği kadar </a:t>
            </a:r>
            <a:r>
              <a:rPr sz="2000" b="1">
                <a:solidFill>
                  <a:srgbClr val="1F2D3A"/>
                </a:solidFill>
              </a:rPr>
              <a:t>çözülür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Çözüldüğü kod bölümü </a:t>
            </a:r>
            <a:r>
              <a:rPr sz="2000" b="1">
                <a:solidFill>
                  <a:srgbClr val="1F2D3A"/>
                </a:solidFill>
              </a:rPr>
              <a:t>gizlenmiş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bütünlüğü denetlenmiş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Süreçte </a:t>
            </a:r>
            <a:r>
              <a:rPr sz="2000" b="1">
                <a:solidFill>
                  <a:srgbClr val="1F2D3A"/>
                </a:solidFill>
              </a:rPr>
              <a:t>hata ayıklayıcı denetimi</a:t>
            </a:r>
            <a:r>
              <a:rPr sz="2000" b="0">
                <a:solidFill>
                  <a:srgbClr val="1F2D3A"/>
                </a:solidFill>
              </a:rPr>
              <a:t> çalışıyor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3. haftada dört kabuklu bir tasarımı adım adım kuracağız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Hangi katman ne zaman? Saldırgan modeline göre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751"/>
                <a:gridCol w="5505820"/>
                <a:gridCol w="2802963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Uygulama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Saldırgan nerede?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Öncelik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Sunucu web hizmeti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Ağda; kod ve sunucuya erişimi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1, 2, 3, 6, 7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Masaüstü iş uygulaması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Kullanıcı bilgisayarında; kullanıcı saldırgan değil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1, 2, 3, 6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 ödeme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Cihaz saldırganın elinde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olabilir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Hepsi; özellikle 4, 5,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Oyun, lisanslı yazılım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Kullanıcı saldırgan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Gömülü cihaz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Fiziksel erişim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2, 3, 6 + donanım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72892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Beyaz kutu saldırgan:</a:t>
            </a:r>
            <a:r>
              <a:rPr sz="1800" b="0">
                <a:solidFill>
                  <a:srgbClr val="1F2D3A"/>
                </a:solidFill>
              </a:rPr>
              <a:t> programın kendisine sahip — kopyalar, açar, değiştirir, tekrar tekrar çalıştırır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Gizleme doğru kodun yerine geçmez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saldırganı </a:t>
            </a:r>
            <a:r>
              <a:rPr sz="2000" b="1">
                <a:solidFill>
                  <a:srgbClr val="1F2D3A"/>
                </a:solidFill>
              </a:rPr>
              <a:t>yavaşlatır</a:t>
            </a:r>
            <a:r>
              <a:rPr sz="2000" b="0">
                <a:solidFill>
                  <a:srgbClr val="1F2D3A"/>
                </a:solidFill>
              </a:rPr>
              <a:t>, hatayı </a:t>
            </a:r>
            <a:r>
              <a:rPr sz="2000" b="1">
                <a:solidFill>
                  <a:srgbClr val="1F2D3A"/>
                </a:solidFill>
              </a:rPr>
              <a:t>düzeltmez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Gizlenmiş bir taşma hâlâ bir taşmadır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Dış katmanlar ancak iç katmanlar sağlamsa anlam kazanır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Sunucu, istemciye asla güvenmez.</a:t>
            </a:r>
            <a:r>
              <a:rPr sz="2000" b="0">
                <a:solidFill>
                  <a:srgbClr val="1F2D3A"/>
                </a:solidFill>
              </a:rPr>
              <a:t> Gizlenmiş istemci bile sunucuya tutarsız veri gönderebilir.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Beyaz kutu saldırganın altı yolu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İstemci tarafında çalışan hassas bir kütüphane için altı satırlık bir </a:t>
            </a:r>
            <a:r>
              <a:rPr sz="1800" b="1">
                <a:solidFill>
                  <a:srgbClr val="1F2D3A"/>
                </a:solidFill>
              </a:rPr>
              <a:t>saldırı tablosu</a:t>
            </a:r>
            <a:r>
              <a:rPr sz="1800" b="0">
                <a:solidFill>
                  <a:srgbClr val="1F2D3A"/>
                </a:solidFill>
              </a:rPr>
              <a:t>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3" cy="2073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467"/>
                <a:gridCol w="3392662"/>
                <a:gridCol w="5043146"/>
                <a:gridCol w="2017258"/>
              </a:tblGrid>
              <a:tr h="51846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Saldırganın yolu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Cevap veren 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Platform denetimlerini aşmak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Root'lu cihaz, emülatör, değiştirilmiş 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 (RASP)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Kodu tersine mühendislikle çözmek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Tersine derleyiciyle mantık/anahtar okumak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 (gizleme),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1846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Kodu değiştirmek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if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denetimini ters çevirip yeniden paketlemek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 (bütünlük),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Beyaz kutu saldırganın altı yolu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3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467"/>
                <a:gridCol w="3300968"/>
                <a:gridCol w="4401291"/>
                <a:gridCol w="2750807"/>
              </a:tblGrid>
              <a:tr h="51846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Saldırganın yolu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Cevap veren 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Arayüzleri kötüye kullanmak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Kütüphaneyi kendi programından çağırmak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 (tasarım), 5,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Çalışma anında varlık çıkarmak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 dökümü, hata ayıklayıcı, kanca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(silme), 5, 6 (whitebox)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1846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Çalışma anında akışı değiştirmek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 dalı atlamak, dönüş değerini değiştirmek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 (akış sayacı),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09467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Bu tablo, koruma planındaki </a:t>
            </a:r>
            <a:r>
              <a:rPr sz="1800" b="1">
                <a:solidFill>
                  <a:srgbClr val="1F2D3A"/>
                </a:solidFill>
              </a:rPr>
              <a:t>tehdit</a:t>
            </a:r>
            <a:r>
              <a:rPr sz="1800" b="0">
                <a:solidFill>
                  <a:srgbClr val="1F2D3A"/>
                </a:solidFill>
              </a:rPr>
              <a:t> bölümünün başlangıç noktasıdır.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Korumanın bedeli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12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280"/>
                <a:gridCol w="8302254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Bedel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Performans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Kontrol akışı düzleştirme bir fonksiyonu birkaç kat yavaşlatabilir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Sanallaştırma, whitebox tabloları ikili dosyayı büyütür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Bakım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Gizlenmiş kodun çökme raporu okunmaz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5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Yanlış pozitif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Aşırı hassas root algılama meşru kullanıcıyı cezalandırır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47871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Her önlem </a:t>
            </a:r>
            <a:r>
              <a:rPr sz="2000" b="1">
                <a:solidFill>
                  <a:srgbClr val="1F2D3A"/>
                </a:solidFill>
              </a:rPr>
              <a:t>gerekçesiyle</a:t>
            </a:r>
            <a:r>
              <a:rPr sz="2000" b="0">
                <a:solidFill>
                  <a:srgbClr val="1F2D3A"/>
                </a:solidFill>
              </a:rPr>
              <a:t> yazılır: </a:t>
            </a:r>
            <a:r>
              <a:rPr sz="2000" b="0" i="1">
                <a:solidFill>
                  <a:srgbClr val="1F2D3A"/>
                </a:solidFill>
              </a:rPr>
              <a:t>şu varlığı, şu saldırgana karşı, şu maliyetle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Değerlendirici tabloyu tersten okur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Dize taraması → anahtar, URL, hata iletisi görünüyor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İkili dosyayı açma → mantık okunuyor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Hata ayıklayıcı bağlama → program fark ediyor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Kodu değiştirme → bütünlük denetimi yakalıyor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Bellek dökümü → sır bulunuyor mu?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Durdurulmadığı </a:t>
            </a:r>
            <a:r>
              <a:rPr sz="2000" b="1">
                <a:solidFill>
                  <a:srgbClr val="1F2D3A"/>
                </a:solidFill>
              </a:rPr>
              <a:t>her adım</a:t>
            </a:r>
            <a:r>
              <a:rPr sz="2000" b="0">
                <a:solidFill>
                  <a:srgbClr val="1F2D3A"/>
                </a:solidFill>
              </a:rPr>
              <a:t> raporda bir bulgu olur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dene (3 dk)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Çevrimdışı parola yöneticisi</a:t>
            </a:r>
            <a:r>
              <a:rPr sz="2000" b="0">
                <a:solidFill>
                  <a:srgbClr val="1F2D3A"/>
                </a:solidFill>
              </a:rPr>
              <a:t> için saldırgan modeli nedir? Hangi katmanlar önemli?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"Sunucuda çalışıyor, gizlemeye gerek yok" — ne zaman doğru, ne zaman yanlış?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Yalnız gizleme kullanan bir oyunda hangi yol açık kalır?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dene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Çevrimdışı parola yöneticisi:</a:t>
            </a:r>
            <a:r>
              <a:rPr sz="1800" b="0">
                <a:solidFill>
                  <a:srgbClr val="1F2D3A"/>
                </a:solidFill>
              </a:rPr>
              <a:t> saldırgan cihaza/dosyaya sahip (beyaz kutu). Önemli katmanlar: </a:t>
            </a:r>
            <a:r>
              <a:rPr sz="1800" b="1">
                <a:solidFill>
                  <a:srgbClr val="1F2D3A"/>
                </a:solidFill>
              </a:rPr>
              <a:t>kriptografi</a:t>
            </a:r>
            <a:r>
              <a:rPr sz="1800" b="0">
                <a:solidFill>
                  <a:srgbClr val="1F2D3A"/>
                </a:solidFill>
              </a:rPr>
              <a:t> (paroladan KDF + AEAD), </a:t>
            </a:r>
            <a:r>
              <a:rPr sz="1800" b="1">
                <a:solidFill>
                  <a:srgbClr val="1F2D3A"/>
                </a:solidFill>
              </a:rPr>
              <a:t>güvenli kodlama</a:t>
            </a:r>
            <a:r>
              <a:rPr sz="1800" b="0">
                <a:solidFill>
                  <a:srgbClr val="1F2D3A"/>
                </a:solidFill>
              </a:rPr>
              <a:t>, bir miktar gizleme/RASP.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"Sunucuda çalışıyor":</a:t>
            </a:r>
            <a:r>
              <a:rPr sz="1800" b="0">
                <a:solidFill>
                  <a:srgbClr val="1F2D3A"/>
                </a:solidFill>
              </a:rPr>
              <a:t> istemciye hassas mantık/anahtar </a:t>
            </a:r>
            <a:r>
              <a:rPr sz="1800" b="1">
                <a:solidFill>
                  <a:srgbClr val="1F2D3A"/>
                </a:solidFill>
              </a:rPr>
              <a:t>gönderilmiyorsa doğru</a:t>
            </a:r>
            <a:r>
              <a:rPr sz="1800" b="0">
                <a:solidFill>
                  <a:srgbClr val="1F2D3A"/>
                </a:solidFill>
              </a:rPr>
              <a:t>; istemcide çalışan kod/anahtar varsa </a:t>
            </a:r>
            <a:r>
              <a:rPr sz="1800" b="1">
                <a:solidFill>
                  <a:srgbClr val="1F2D3A"/>
                </a:solidFill>
              </a:rPr>
              <a:t>yanlış</a:t>
            </a:r>
            <a:r>
              <a:rPr sz="1800" b="0">
                <a:solidFill>
                  <a:srgbClr val="1F2D3A"/>
                </a:solidFill>
              </a:rPr>
              <a:t> (beyaz kutu).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Yalnız gizleme:</a:t>
            </a:r>
            <a:r>
              <a:rPr sz="1800" b="0">
                <a:solidFill>
                  <a:srgbClr val="1F2D3A"/>
                </a:solidFill>
              </a:rPr>
              <a:t> sunucu tarafı doğrulama yoksa, istemci hilesi (yamalı istemci) açık kalır — gizleme mantığı </a:t>
            </a:r>
            <a:r>
              <a:rPr sz="1800" b="1">
                <a:solidFill>
                  <a:srgbClr val="1F2D3A"/>
                </a:solidFill>
              </a:rPr>
              <a:t>düzeltmez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Uygulama koruma planı ve tehdit modelleme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Uygulama koruma planı: 7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72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Kapsam</a:t>
            </a:r>
            <a:r>
              <a:rPr sz="2000" b="0">
                <a:solidFill>
                  <a:srgbClr val="1F2D3A"/>
                </a:solidFill>
              </a:rPr>
              <a:t> — Neyi koruyoruz? Hangi ikili, hangi sürüm, hangi özet?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Mimari ve arayüzler</a:t>
            </a:r>
            <a:r>
              <a:rPr sz="2000" b="0">
                <a:solidFill>
                  <a:srgbClr val="1F2D3A"/>
                </a:solidFill>
              </a:rPr>
              <a:t> — Kim kiminle, hangi kanaldan konuşuyor?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Varlıklar</a:t>
            </a:r>
            <a:r>
              <a:rPr sz="2000" b="0">
                <a:solidFill>
                  <a:srgbClr val="1F2D3A"/>
                </a:solidFill>
              </a:rPr>
              <a:t> — Nerede durur, ne zaman silinir,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mi </a:t>
            </a:r>
            <a:r>
              <a:rPr sz="2000" b="1">
                <a:solidFill>
                  <a:srgbClr val="1F2D3A"/>
                </a:solidFill>
              </a:rPr>
              <a:t>I</a:t>
            </a:r>
            <a:r>
              <a:rPr sz="2000" b="0">
                <a:solidFill>
                  <a:srgbClr val="1F2D3A"/>
                </a:solidFill>
              </a:rPr>
              <a:t>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Tehditler</a:t>
            </a:r>
            <a:r>
              <a:rPr sz="2000" b="0">
                <a:solidFill>
                  <a:srgbClr val="1F2D3A"/>
                </a:solidFill>
              </a:rPr>
              <a:t> — Saldırgan kim, varlığa hangi yoldan ulaşır?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Karşı önlemler</a:t>
            </a:r>
            <a:r>
              <a:rPr sz="2000" b="0">
                <a:solidFill>
                  <a:srgbClr val="1F2D3A"/>
                </a:solidFill>
              </a:rPr>
              <a:t> — Hangi katman, hangi önlem?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1">
                <a:solidFill>
                  <a:srgbClr val="1F2D3A"/>
                </a:solidFill>
              </a:rPr>
              <a:t>Doğrulama</a:t>
            </a:r>
            <a:r>
              <a:rPr sz="2000" b="0">
                <a:solidFill>
                  <a:srgbClr val="1F2D3A"/>
                </a:solidFill>
              </a:rPr>
              <a:t> — Çalıştığı nasıl kanıtlanıyor?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7. </a:t>
            </a:r>
            <a:r>
              <a:rPr sz="2000" b="1">
                <a:solidFill>
                  <a:srgbClr val="1F2D3A"/>
                </a:solidFill>
              </a:rPr>
              <a:t>Kalan risk</a:t>
            </a:r>
            <a:r>
              <a:rPr sz="2000" b="0">
                <a:solidFill>
                  <a:srgbClr val="1F2D3A"/>
                </a:solidFill>
              </a:rPr>
              <a:t> — Kabul edilenler ve nedenleri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584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→ Sertifikasyonda bu plan </a:t>
            </a:r>
            <a:r>
              <a:rPr sz="2000" b="1">
                <a:solidFill>
                  <a:srgbClr val="1F2D3A"/>
                </a:solidFill>
              </a:rPr>
              <a:t>yüzlerce sayfalık bir güvenlik kılavuzudur.</a:t>
            </a:r>
            <a:r>
              <a:rPr sz="2000" b="0">
                <a:solidFill>
                  <a:srgbClr val="1F2D3A"/>
                </a:solidFill>
              </a:rPr>
              <a:t> Siz projede </a:t>
            </a:r>
            <a:r>
              <a:rPr sz="2000" b="1">
                <a:solidFill>
                  <a:srgbClr val="1F2D3A"/>
                </a:solidFill>
              </a:rPr>
              <a:t>20–30 sayfalık</a:t>
            </a:r>
            <a:r>
              <a:rPr sz="2000" b="0">
                <a:solidFill>
                  <a:srgbClr val="1F2D3A"/>
                </a:solidFill>
              </a:rPr>
              <a:t> sürümünü yazacaksınız.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detay: Kapsam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Neyi değerlendiriyoruz?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"sürüm 2.1"</a:t>
            </a:r>
            <a:r>
              <a:rPr sz="2000" b="0">
                <a:solidFill>
                  <a:srgbClr val="1F2D3A"/>
                </a:solidFill>
              </a:rPr>
              <a:t> demek yetmez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</a:t>
            </a:r>
            <a:r>
              <a:rPr sz="2000" b="1">
                <a:solidFill>
                  <a:srgbClr val="1F2D3A"/>
                </a:solidFill>
              </a:rPr>
              <a:t>ikili dosya</a:t>
            </a:r>
            <a:r>
              <a:rPr sz="2000" b="0">
                <a:solidFill>
                  <a:srgbClr val="1F2D3A"/>
                </a:solidFill>
              </a:rPr>
              <a:t>, hangi </a:t>
            </a:r>
            <a:r>
              <a:rPr sz="2000" b="1">
                <a:solidFill>
                  <a:srgbClr val="1F2D3A"/>
                </a:solidFill>
              </a:rPr>
              <a:t>kaynak kod</a:t>
            </a:r>
            <a:r>
              <a:rPr sz="2000" b="0">
                <a:solidFill>
                  <a:srgbClr val="1F2D3A"/>
                </a:solidFill>
              </a:rPr>
              <a:t>, hangi </a:t>
            </a:r>
            <a:r>
              <a:rPr sz="2000" b="1">
                <a:solidFill>
                  <a:srgbClr val="1F2D3A"/>
                </a:solidFill>
              </a:rPr>
              <a:t>özet (hash)</a:t>
            </a:r>
            <a:r>
              <a:rPr sz="2000" b="0">
                <a:solidFill>
                  <a:srgbClr val="1F2D3A"/>
                </a:solidFill>
              </a:rPr>
              <a:t> değeri?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Sertifikasyonda buna </a:t>
            </a:r>
            <a:r>
              <a:rPr sz="2000" b="1">
                <a:solidFill>
                  <a:srgbClr val="1F2D3A"/>
                </a:solidFill>
              </a:rPr>
              <a:t>değerlendirme hedefi</a:t>
            </a:r>
            <a:r>
              <a:rPr sz="2000" b="0">
                <a:solidFill>
                  <a:srgbClr val="1F2D3A"/>
                </a:solidFill>
              </a:rPr>
              <a:t> denir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detay: Mimari ve arayüzler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Bileşenler neler, nasıl konuşuyor?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Bileşenler </a:t>
            </a:r>
            <a:r>
              <a:rPr sz="2000" b="1">
                <a:solidFill>
                  <a:srgbClr val="1F2D3A"/>
                </a:solidFill>
              </a:rPr>
              <a:t>nelerdir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Birbirleriyle </a:t>
            </a:r>
            <a:r>
              <a:rPr sz="2000" b="1">
                <a:solidFill>
                  <a:srgbClr val="1F2D3A"/>
                </a:solidFill>
              </a:rPr>
              <a:t>hangi kanaldan</a:t>
            </a:r>
            <a:r>
              <a:rPr sz="2000" b="0">
                <a:solidFill>
                  <a:srgbClr val="1F2D3A"/>
                </a:solidFill>
              </a:rPr>
              <a:t> konuşuyorlar?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kanalda kimlik </a:t>
            </a:r>
            <a:r>
              <a:rPr sz="2000" b="1">
                <a:solidFill>
                  <a:srgbClr val="1F2D3A"/>
                </a:solidFill>
              </a:rPr>
              <a:t>nasıl doğrulanıyor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detay: Varlıklar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Korunacak veri nerede, ne zaman?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Korunacak her veri </a:t>
            </a:r>
            <a:r>
              <a:rPr sz="2000" b="1">
                <a:solidFill>
                  <a:srgbClr val="1F2D3A"/>
                </a:solidFill>
              </a:rPr>
              <a:t>tek tek</a:t>
            </a:r>
            <a:r>
              <a:rPr sz="2000" b="0">
                <a:solidFill>
                  <a:srgbClr val="1F2D3A"/>
                </a:solidFill>
              </a:rPr>
              <a:t> listelenir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Nerede</a:t>
            </a:r>
            <a:r>
              <a:rPr sz="2000" b="0">
                <a:solidFill>
                  <a:srgbClr val="1F2D3A"/>
                </a:solidFill>
              </a:rPr>
              <a:t> durur, </a:t>
            </a:r>
            <a:r>
              <a:rPr sz="2000" b="1">
                <a:solidFill>
                  <a:srgbClr val="1F2D3A"/>
                </a:solidFill>
              </a:rPr>
              <a:t>ne zaman</a:t>
            </a:r>
            <a:r>
              <a:rPr sz="2000" b="0">
                <a:solidFill>
                  <a:srgbClr val="1F2D3A"/>
                </a:solidFill>
              </a:rPr>
              <a:t> oluşur, </a:t>
            </a:r>
            <a:r>
              <a:rPr sz="2000" b="1">
                <a:solidFill>
                  <a:srgbClr val="1F2D3A"/>
                </a:solidFill>
              </a:rPr>
              <a:t>ne zaman</a:t>
            </a:r>
            <a:r>
              <a:rPr sz="2000" b="0">
                <a:solidFill>
                  <a:srgbClr val="1F2D3A"/>
                </a:solidFill>
              </a:rPr>
              <a:t> silinir?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Gizlilik (C)</a:t>
            </a:r>
            <a:r>
              <a:rPr sz="2000" b="0">
                <a:solidFill>
                  <a:srgbClr val="1F2D3A"/>
                </a:solidFill>
              </a:rPr>
              <a:t> mi, </a:t>
            </a:r>
            <a:r>
              <a:rPr sz="2000" b="1">
                <a:solidFill>
                  <a:srgbClr val="1F2D3A"/>
                </a:solidFill>
              </a:rPr>
              <a:t>bütünlük (I)</a:t>
            </a:r>
            <a:r>
              <a:rPr sz="2000" b="0">
                <a:solidFill>
                  <a:srgbClr val="1F2D3A"/>
                </a:solidFill>
              </a:rPr>
              <a:t> mü gerekir?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detay: Tehditler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Saldırgan kim, nasıl ulaşır?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</a:t>
            </a:r>
            <a:r>
              <a:rPr sz="2000" b="1">
                <a:solidFill>
                  <a:srgbClr val="1F2D3A"/>
                </a:solidFill>
              </a:rPr>
              <a:t>kim</a:t>
            </a:r>
            <a:r>
              <a:rPr sz="2000" b="0">
                <a:solidFill>
                  <a:srgbClr val="1F2D3A"/>
                </a:solidFill>
              </a:rPr>
              <a:t>? (bkz. saldırgan modelleri)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varlığa </a:t>
            </a:r>
            <a:r>
              <a:rPr sz="2000" b="1">
                <a:solidFill>
                  <a:srgbClr val="1F2D3A"/>
                </a:solidFill>
              </a:rPr>
              <a:t>hangi yoldan</a:t>
            </a:r>
            <a:r>
              <a:rPr sz="2000" b="0">
                <a:solidFill>
                  <a:srgbClr val="1F2D3A"/>
                </a:solidFill>
              </a:rPr>
              <a:t> ulaşabilir?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STRIDE ve saldırı ağacı burada devreye girer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detay: Karşı önlemler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Hangi önlem, hangi katmanda?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tehdit için </a:t>
            </a:r>
            <a:r>
              <a:rPr sz="2000" b="1">
                <a:solidFill>
                  <a:srgbClr val="1F2D3A"/>
                </a:solidFill>
              </a:rPr>
              <a:t>bir önlem</a:t>
            </a:r>
            <a:r>
              <a:rPr sz="2000" b="0">
                <a:solidFill>
                  <a:srgbClr val="1F2D3A"/>
                </a:solidFill>
              </a:rPr>
              <a:t> seçilir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Önlem, yedi katmandan </a:t>
            </a:r>
            <a:r>
              <a:rPr sz="2000" b="1">
                <a:solidFill>
                  <a:srgbClr val="1F2D3A"/>
                </a:solidFill>
              </a:rPr>
              <a:t>hangisine</a:t>
            </a:r>
            <a:r>
              <a:rPr sz="2000" b="0">
                <a:solidFill>
                  <a:srgbClr val="1F2D3A"/>
                </a:solidFill>
              </a:rPr>
              <a:t> ait?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Gerekçesiz önlem = </a:t>
            </a:r>
            <a:r>
              <a:rPr sz="2000" b="1">
                <a:solidFill>
                  <a:srgbClr val="1F2D3A"/>
                </a:solidFill>
              </a:rPr>
              <a:t>yanlış yerde</a:t>
            </a:r>
            <a:r>
              <a:rPr sz="2000" b="0">
                <a:solidFill>
                  <a:srgbClr val="1F2D3A"/>
                </a:solidFill>
              </a:rPr>
              <a:t> ya da </a:t>
            </a:r>
            <a:r>
              <a:rPr sz="2000" b="1">
                <a:solidFill>
                  <a:srgbClr val="1F2D3A"/>
                </a:solidFill>
              </a:rPr>
              <a:t>gereksiz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detay: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Çalıştığı nasıl kanıtlanıyor?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önlem için bir </a:t>
            </a:r>
            <a:r>
              <a:rPr sz="2000" b="1">
                <a:solidFill>
                  <a:srgbClr val="1F2D3A"/>
                </a:solidFill>
              </a:rPr>
              <a:t>test</a:t>
            </a:r>
            <a:r>
              <a:rPr sz="2000" b="0">
                <a:solidFill>
                  <a:srgbClr val="1F2D3A"/>
                </a:solidFill>
              </a:rPr>
              <a:t> yazılır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Birim testi mi, </a:t>
            </a:r>
            <a:r>
              <a:rPr sz="2000" b="1">
                <a:solidFill>
                  <a:srgbClr val="1F2D3A"/>
                </a:solidFill>
              </a:rPr>
              <a:t>atlatma denemesi</a:t>
            </a:r>
            <a:r>
              <a:rPr sz="2000" b="0">
                <a:solidFill>
                  <a:srgbClr val="1F2D3A"/>
                </a:solidFill>
              </a:rPr>
              <a:t>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Testi olmayan önlem, değerlendirici gözünde </a:t>
            </a:r>
            <a:r>
              <a:rPr sz="2000" b="1">
                <a:solidFill>
                  <a:srgbClr val="1F2D3A"/>
                </a:solidFill>
              </a:rPr>
              <a:t>yoktur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detay: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Soru:</a:t>
            </a:r>
            <a:r>
              <a:rPr sz="2000" b="0">
                <a:solidFill>
                  <a:srgbClr val="1F2D3A"/>
                </a:solidFill>
              </a:rPr>
              <a:t> Neyi bilerek kabul ettik?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Kapatılamayan ya da bilerek </a:t>
            </a:r>
            <a:r>
              <a:rPr sz="2000" b="1">
                <a:solidFill>
                  <a:srgbClr val="1F2D3A"/>
                </a:solidFill>
              </a:rPr>
              <a:t>kabul edilen</a:t>
            </a:r>
            <a:r>
              <a:rPr sz="2000" b="0">
                <a:solidFill>
                  <a:srgbClr val="1F2D3A"/>
                </a:solidFill>
              </a:rPr>
              <a:t> riskler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için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 (ör. performans, kullanılabilirlik)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Plan </a:t>
            </a:r>
            <a:r>
              <a:rPr sz="2000" b="1">
                <a:solidFill>
                  <a:srgbClr val="1F2D3A"/>
                </a:solidFill>
              </a:rPr>
              <a:t>bitmez</a:t>
            </a:r>
            <a:r>
              <a:rPr sz="2000" b="0">
                <a:solidFill>
                  <a:srgbClr val="1F2D3A"/>
                </a:solidFill>
              </a:rPr>
              <a:t>: ürün değiştikçe adım 1'e dönülür ve </a:t>
            </a:r>
            <a:r>
              <a:rPr sz="2000" b="1">
                <a:solidFill>
                  <a:srgbClr val="1F2D3A"/>
                </a:solidFill>
              </a:rPr>
              <a:t>güncellenir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Koruma planı — şema</a:t>
            </a:r>
          </a:p>
        </p:txBody>
      </p:sp>
      <p:pic>
        <p:nvPicPr>
          <p:cNvPr id="7" name="Picture 6" descr="h01-04-koruma-pla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mimari: mobil ödeme uygulaması</a:t>
            </a:r>
          </a:p>
        </p:txBody>
      </p:sp>
      <p:pic>
        <p:nvPicPr>
          <p:cNvPr id="7" name="Picture 6" descr="h01-05-mimari-arayuz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370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07264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Telefon </a:t>
            </a:r>
            <a:r>
              <a:rPr sz="2000" b="1">
                <a:solidFill>
                  <a:srgbClr val="1F2D3A"/>
                </a:solidFill>
              </a:rPr>
              <a:t>saldırganın elinde</a:t>
            </a:r>
            <a:r>
              <a:rPr sz="2000" b="0">
                <a:solidFill>
                  <a:srgbClr val="1F2D3A"/>
                </a:solidFill>
              </a:rPr>
              <a:t> olabilir: root, hata ayıklayıcı, bellek dökümü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hassas işler </a:t>
            </a:r>
            <a:r>
              <a:rPr sz="2000" b="1">
                <a:solidFill>
                  <a:srgbClr val="1F2D3A"/>
                </a:solidFill>
              </a:rPr>
              <a:t>native C/C++</a:t>
            </a:r>
            <a:r>
              <a:rPr sz="2000" b="0">
                <a:solidFill>
                  <a:srgbClr val="1F2D3A"/>
                </a:solidFill>
              </a:rPr>
              <a:t> katmanında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Arayüz ve varlık tabloları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322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900"/>
                <a:gridCol w="2587271"/>
                <a:gridCol w="2587271"/>
                <a:gridCol w="4612092"/>
              </a:tblGrid>
              <a:tr h="44074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Arayüz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Uçlar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Kimlik doğrulama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Gizlilik / bütünlük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074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native – veritabanı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+ MAC, anahtar cihaza bağlı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07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SDK – sunucu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 sabitleme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TLS + ayrıca mesaj şifreleme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757830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0150"/>
                <a:gridCol w="3233047"/>
                <a:gridCol w="1751234"/>
                <a:gridCol w="1347103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Varlık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Ömür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kullanımlık ödeme anahtarı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DB (şifreli), bellek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ödeme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Oturum anahtarı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bellek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Oturum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İşlem sayacı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Kalıcı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29950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Listede olmayan varlık korunmuyor demektir.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Arayüz tablosu — tam liste (mobil ödeme)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21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94"/>
                <a:gridCol w="2684584"/>
                <a:gridCol w="3637178"/>
                <a:gridCol w="3723777"/>
              </a:tblGrid>
              <a:tr h="4535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Arayüz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Uçlar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Kimlik doğrulama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Gizlilik / bütünlük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 – Kütüphane (Java)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Çağıranın imzası doğrulanır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Aynı süreç içi; hassas veri geçmez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Kütüphane (Java) – native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Karşılıklı bütünlük denetimi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Şifreli ve örtülü geçer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native – yerel veritabanı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+ MAC, anahtar cihaza bağlı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Kütüphane – arka uç sunucu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 sabitleme + sunucu 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TLS + ayrıca mesaj düzeyi şifreleme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Kütüphane – ödeme terminali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 protokolü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kullanımlık ödeme anahtarı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Varlık tablosu — tam liste (mobil ödeme)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2271"/>
                <a:gridCol w="2555855"/>
                <a:gridCol w="4030386"/>
                <a:gridCol w="983021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Varlık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Oluşma → silinme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kullanımlık ödeme anahtarı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DB (şifreli), bellek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Sunucudan iner → kullanılır → silinir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Cihaz parmak izi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Bellek, iki ayrı parça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Açılışta hesaplanır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Oturum anahtarı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bellek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Türetilir → oturum sonunda silinir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İşlem sayacı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Veritabanı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ödemede artar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Sunucu açık anahtarı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Uygulamaya gömülü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Derleme anında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282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724"/>
                <a:gridCol w="2297165"/>
                <a:gridCol w="2412023"/>
                <a:gridCol w="5168621"/>
              </a:tblGrid>
              <a:tr h="468956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Tehdit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Bozduğu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Kimlik taklidi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Kimlik doğrulama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Sahte uygulama SDK'yı çağırır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Kurcalama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Bütünlük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Native denetim ikili dosyada değiştirilir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İnkâr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İnkâr edilemezlik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"Bu ödemeyi ben yapmadım"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Bilgi sızması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Gizlilik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 bellek dökümünden okunur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8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Hizmet engelleme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Erişilebilirlik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Binlerce sahte kayıt isteği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896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Yetki yükseltme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Yetkilendirme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Sıradan kullanıcı → yönetici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71830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Veri akış diyagramını çiz → </a:t>
            </a:r>
            <a:r>
              <a:rPr sz="2000" b="1">
                <a:solidFill>
                  <a:srgbClr val="1F2D3A"/>
                </a:solidFill>
              </a:rPr>
              <a:t>güven sınırını geçen her ok</a:t>
            </a:r>
            <a:r>
              <a:rPr sz="2000" b="0">
                <a:solidFill>
                  <a:srgbClr val="1F2D3A"/>
                </a:solidFill>
              </a:rPr>
              <a:t> için altı harfi sor.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ağacı: "Ödeme anahtarını ele geçir"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HEDEF: Ödeme anahtarı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 i="1">
                <a:solidFill>
                  <a:srgbClr val="1F2D3A"/>
                </a:solidFill>
              </a:rPr>
              <a:t>VEYA</a:t>
            </a:r>
            <a:r>
              <a:rPr sz="2000" b="0">
                <a:solidFill>
                  <a:srgbClr val="1F2D3A"/>
                </a:solidFill>
              </a:rPr>
              <a:t> (biri yeter)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Veritabanını çöz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 i="1">
                <a:solidFill>
                  <a:srgbClr val="1F2D3A"/>
                </a:solidFill>
              </a:rPr>
              <a:t>VE</a:t>
            </a:r>
            <a:r>
              <a:rPr sz="2000" b="0">
                <a:solidFill>
                  <a:srgbClr val="1F2D3A"/>
                </a:solidFill>
              </a:rPr>
              <a:t> (hepsi gerekir): root yetkisi al </a:t>
            </a:r>
            <a:r>
              <a:rPr sz="2000" b="1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1F2D3A"/>
                </a:solidFill>
              </a:rPr>
              <a:t> veritabanı anahtarını bul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Bellekten oku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 i="1">
                <a:solidFill>
                  <a:srgbClr val="1F2D3A"/>
                </a:solidFill>
              </a:rPr>
              <a:t>VEYA</a:t>
            </a:r>
            <a:r>
              <a:rPr sz="2000" b="0">
                <a:solidFill>
                  <a:srgbClr val="1F2D3A"/>
                </a:solidFill>
              </a:rPr>
              <a:t>: hata ayıklayıcı bağla </a:t>
            </a:r>
            <a:r>
              <a:rPr sz="2000" b="1">
                <a:solidFill>
                  <a:srgbClr val="1F2D3A"/>
                </a:solidFill>
              </a:rPr>
              <a:t>|</a:t>
            </a:r>
            <a:r>
              <a:rPr sz="2000" b="0">
                <a:solidFill>
                  <a:srgbClr val="1F2D3A"/>
                </a:solidFill>
              </a:rPr>
              <a:t> bellek dökümü al </a:t>
            </a:r>
            <a:r>
              <a:rPr sz="2000" b="1">
                <a:solidFill>
                  <a:srgbClr val="1F2D3A"/>
                </a:solidFill>
              </a:rPr>
              <a:t>|</a:t>
            </a:r>
            <a:r>
              <a:rPr sz="2000" b="0">
                <a:solidFill>
                  <a:srgbClr val="1F2D3A"/>
                </a:solidFill>
              </a:rPr>
              <a:t> fonksiyona kanca 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Trafiği dinle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 i="1">
                <a:solidFill>
                  <a:srgbClr val="1F2D3A"/>
                </a:solidFill>
              </a:rPr>
              <a:t>VE</a:t>
            </a:r>
            <a:r>
              <a:rPr sz="2000" b="0">
                <a:solidFill>
                  <a:srgbClr val="1F2D3A"/>
                </a:solidFill>
              </a:rPr>
              <a:t>: TLS'i kır </a:t>
            </a:r>
            <a:r>
              <a:rPr sz="2000" b="1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1F2D3A"/>
                </a:solidFill>
              </a:rPr>
              <a:t> mesaj düzeyi şifrelemeyi kır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ağacı — "Veritabanını çöz" dalı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VE düğümü</a:t>
            </a:r>
            <a:r>
              <a:rPr sz="2000" b="0">
                <a:solidFill>
                  <a:srgbClr val="1F2D3A"/>
                </a:solidFill>
              </a:rPr>
              <a:t> (hepsi gerekir):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Root yetkisi 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VE</a:t>
            </a:r>
            <a:r>
              <a:rPr sz="2000" b="0">
                <a:solidFill>
                  <a:srgbClr val="1F2D3A"/>
                </a:solidFill>
              </a:rPr>
              <a:t> veritabanı anahtarını bul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 birden gerektiği için bu yol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dır.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782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derinlemesine savunmanın </a:t>
            </a:r>
            <a:r>
              <a:rPr sz="2000" b="1">
                <a:solidFill>
                  <a:srgbClr val="1F2D3A"/>
                </a:solidFill>
              </a:rPr>
              <a:t>çalıştığının</a:t>
            </a:r>
            <a:r>
              <a:rPr sz="2000" b="0">
                <a:solidFill>
                  <a:srgbClr val="1F2D3A"/>
                </a:solidFill>
              </a:rPr>
              <a:t> kanıtıdır.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ağacı — "Bellekten oku" dalı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VEYA düğümü</a:t>
            </a:r>
            <a:r>
              <a:rPr sz="2000" b="0">
                <a:solidFill>
                  <a:srgbClr val="1F2D3A"/>
                </a:solidFill>
              </a:rPr>
              <a:t> (biri yeter): üç alternatif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Hata ayıklayıcı bağla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VEYA</a:t>
            </a:r>
            <a:r>
              <a:rPr sz="2000" b="0">
                <a:solidFill>
                  <a:srgbClr val="1F2D3A"/>
                </a:solidFill>
              </a:rPr>
              <a:t> bellek dökümü 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VEYA</a:t>
            </a:r>
            <a:r>
              <a:rPr sz="2000" b="0">
                <a:solidFill>
                  <a:srgbClr val="1F2D3A"/>
                </a:solidFill>
              </a:rPr>
              <a:t> fonksiyona kanca 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 alternatif = </a:t>
            </a:r>
            <a:r>
              <a:rPr sz="2000" b="1">
                <a:solidFill>
                  <a:srgbClr val="1F2D3A"/>
                </a:solidFill>
              </a:rPr>
              <a:t>en zayıf nokta</a:t>
            </a:r>
            <a:r>
              <a:rPr sz="2000" b="0">
                <a:solidFill>
                  <a:srgbClr val="1F2D3A"/>
                </a:solidFill>
              </a:rPr>
              <a:t>: bellekteki anahtar.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5412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→ Bu hafta Demo 2 · 6. hafta çalışma zamanı koruması · 11. hafta whitebox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ağacı — "Trafiği dinle" dalı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VE düğümü</a:t>
            </a:r>
            <a:r>
              <a:rPr sz="2000" b="0">
                <a:solidFill>
                  <a:srgbClr val="1F2D3A"/>
                </a:solidFill>
              </a:rPr>
              <a:t> (hepsi gerekir):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TLS'i kır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VE</a:t>
            </a:r>
            <a:r>
              <a:rPr sz="2000" b="0">
                <a:solidFill>
                  <a:srgbClr val="1F2D3A"/>
                </a:solidFill>
              </a:rPr>
              <a:t> mesaj düzeyi şifrelemeyi kır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 katmanı </a:t>
            </a:r>
            <a:r>
              <a:rPr sz="2000" b="1">
                <a:solidFill>
                  <a:srgbClr val="1F2D3A"/>
                </a:solidFill>
              </a:rPr>
              <a:t>birden</a:t>
            </a:r>
            <a:r>
              <a:rPr sz="2000" b="0">
                <a:solidFill>
                  <a:srgbClr val="1F2D3A"/>
                </a:solidFill>
              </a:rPr>
              <a:t> kırmak gerekir → pahalı yol.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782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Savunmacının hedefi:</a:t>
            </a:r>
            <a:r>
              <a:rPr sz="2000" b="0">
                <a:solidFill>
                  <a:srgbClr val="1F2D3A"/>
                </a:solidFill>
              </a:rPr>
              <a:t> saldırganı mümkün olduğunca çok </a:t>
            </a:r>
            <a:r>
              <a:rPr sz="2000" b="1">
                <a:solidFill>
                  <a:srgbClr val="1F2D3A"/>
                </a:solidFill>
              </a:rPr>
              <a:t>VE</a:t>
            </a:r>
            <a:r>
              <a:rPr sz="2000" b="0">
                <a:solidFill>
                  <a:srgbClr val="1F2D3A"/>
                </a:solidFill>
              </a:rPr>
              <a:t> düğümüne zorlamak.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ağacından çıkan sonuçlar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7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"Trafiği dinle" yolu </a:t>
            </a:r>
            <a:r>
              <a:rPr sz="2000" b="1">
                <a:solidFill>
                  <a:srgbClr val="1F2D3A"/>
                </a:solidFill>
              </a:rPr>
              <a:t>iki katmanı birden</a:t>
            </a:r>
            <a:r>
              <a:rPr sz="2000" b="0">
                <a:solidFill>
                  <a:srgbClr val="1F2D3A"/>
                </a:solidFill>
              </a:rPr>
              <a:t> kırmayı gerektirir → pahalı → </a:t>
            </a:r>
            <a:r>
              <a:rPr sz="2000" b="1">
                <a:solidFill>
                  <a:srgbClr val="1F2D3A"/>
                </a:solidFill>
              </a:rPr>
              <a:t>derinlemesine savunma</a:t>
            </a:r>
            <a:r>
              <a:rPr sz="2000" b="0">
                <a:solidFill>
                  <a:srgbClr val="1F2D3A"/>
                </a:solidFill>
              </a:rPr>
              <a:t> çalışıyor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"Bellekten oku" yolunun </a:t>
            </a:r>
            <a:r>
              <a:rPr sz="2000" b="1">
                <a:solidFill>
                  <a:srgbClr val="1F2D3A"/>
                </a:solidFill>
              </a:rPr>
              <a:t>üç alternatifi</a:t>
            </a:r>
            <a:r>
              <a:rPr sz="2000" b="0">
                <a:solidFill>
                  <a:srgbClr val="1F2D3A"/>
                </a:solidFill>
              </a:rPr>
              <a:t> var → en zayıf nokta </a:t>
            </a:r>
            <a:r>
              <a:rPr sz="2000" b="1">
                <a:solidFill>
                  <a:srgbClr val="1F2D3A"/>
                </a:solidFill>
              </a:rPr>
              <a:t>bellekteki anahtar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Bu hafta: </a:t>
            </a:r>
            <a:r>
              <a:rPr sz="2000" b="1">
                <a:solidFill>
                  <a:srgbClr val="1F2D3A"/>
                </a:solidFill>
              </a:rPr>
              <a:t>Demo 2</a:t>
            </a:r>
            <a:r>
              <a:rPr sz="2000" b="0">
                <a:solidFill>
                  <a:srgbClr val="1F2D3A"/>
                </a:solidFill>
              </a:rPr>
              <a:t> (bellekte kalan sır)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Hafta 6: çalışma zamanı koruması (hata ayıklayıcı, kanca algılama)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Hafta 11: whitebox kriptografi (anahtar bellekte hiç açık durmaz)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Savunmacının hedefi: saldırganı </a:t>
            </a:r>
            <a:r>
              <a:rPr sz="2000" b="1">
                <a:solidFill>
                  <a:srgbClr val="1F2D3A"/>
                </a:solidFill>
              </a:rPr>
              <a:t>VE</a:t>
            </a:r>
            <a:r>
              <a:rPr sz="2000" b="0">
                <a:solidFill>
                  <a:srgbClr val="1F2D3A"/>
                </a:solidFill>
              </a:rPr>
              <a:t> düğümlerine zorlamak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Veri akış diyagramı: beş sembol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255"/>
                <a:gridCol w="2909742"/>
                <a:gridCol w="5237536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Sembol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Adı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▭ Dikdörtgen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Dış varlık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Kullanıcı, ödeme terminali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◯ Daire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Süreç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Giriş modülü, kripto kütüphanesi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═ İki çizgi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deposu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Veritabanı, yapılandırma dosyası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→ 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akışı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HTTP isteği, fonksiyon çağrısı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┄ Kesikli çizgi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Güven sınırı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İnternet ↔ sunucu, uygulama ↔ 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576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Güven sınırını geçen her oku </a:t>
            </a:r>
            <a:r>
              <a:rPr sz="2000" b="1">
                <a:solidFill>
                  <a:srgbClr val="1F2D3A"/>
                </a:solidFill>
              </a:rPr>
              <a:t>kırmızıya</a:t>
            </a:r>
            <a:r>
              <a:rPr sz="2000" b="0">
                <a:solidFill>
                  <a:srgbClr val="1F2D3A"/>
                </a:solidFill>
              </a:rPr>
              <a:t> boyayın: incelemeye oradan başlayın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Veri akış diyagramı ve güven sınırı — şema</a:t>
            </a:r>
          </a:p>
        </p:txBody>
      </p:sp>
      <p:pic>
        <p:nvPicPr>
          <p:cNvPr id="7" name="Picture 6" descr="h01-19-veri-akis-diyagra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6107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Hangi öğeye hangi harf?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5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1273012"/>
                <a:gridCol w="1273012"/>
                <a:gridCol w="1273012"/>
                <a:gridCol w="1273012"/>
                <a:gridCol w="1273012"/>
                <a:gridCol w="127301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Öğe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Dış varlık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deposu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✔¹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akışı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¹ Denetim kaydıysa · Veri akışının "kimliği" yoktur → </a:t>
            </a:r>
            <a:r>
              <a:rPr sz="1800" b="1">
                <a:solidFill>
                  <a:srgbClr val="1F2D3A"/>
                </a:solidFill>
              </a:rPr>
              <a:t>S sorulmaz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Her harf için soru ve önlem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830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060"/>
                <a:gridCol w="5117799"/>
                <a:gridCol w="4924675"/>
              </a:tblGrid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Harf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Kendinize sorun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Tipik 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 taraf gerçekten o mu?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 doğrulama, imza, sertifika sabitleme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Değiştirilse fark eder miyim?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MAC/HMAC, imza, bütünlük denetimi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"Ben yapmadım" derse kanıtım var mı?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Kurcalamaya dayanıklı günlük, imzalı işlem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Diskte, ağda, bellekte, günlükte sızar mı?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Şifreleme, bellek temizleme, maskeleme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Çökertilebilir, tüketilebilir mi?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Girdi sınırı, oran sınırlama, kota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442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Az yetkili, çok yetkilinin işini yaptırabilir mi?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 az ayrıcalık, tam aracılık, bellek güvenliği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26659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Bir taşma = </a:t>
            </a:r>
            <a:r>
              <a:rPr sz="1800" b="1">
                <a:solidFill>
                  <a:srgbClr val="1F2D3A"/>
                </a:solidFill>
              </a:rPr>
              <a:t>D</a:t>
            </a:r>
            <a:r>
              <a:rPr sz="1800" b="0">
                <a:solidFill>
                  <a:srgbClr val="1F2D3A"/>
                </a:solidFill>
              </a:rPr>
              <a:t> (çöker) + </a:t>
            </a:r>
            <a:r>
              <a:rPr sz="1800" b="1">
                <a:solidFill>
                  <a:srgbClr val="1F2D3A"/>
                </a:solidFill>
              </a:rPr>
              <a:t>E</a:t>
            </a:r>
            <a:r>
              <a:rPr sz="1800" b="0">
                <a:solidFill>
                  <a:srgbClr val="1F2D3A"/>
                </a:solidFill>
              </a:rPr>
              <a:t> (akış ele geçer) + </a:t>
            </a:r>
            <a:r>
              <a:rPr sz="1800" b="1">
                <a:solidFill>
                  <a:srgbClr val="1F2D3A"/>
                </a:solidFill>
              </a:rPr>
              <a:t>I</a:t>
            </a:r>
            <a:r>
              <a:rPr sz="1800" b="0">
                <a:solidFill>
                  <a:srgbClr val="1F2D3A"/>
                </a:solidFill>
              </a:rPr>
              <a:t> (bitişik sır okunur)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Risk puanı: olasılık × etki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82038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1818589"/>
                <a:gridCol w="1818589"/>
                <a:gridCol w="2909742"/>
              </a:tblGrid>
              <a:tr h="374903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Etki 1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Etki 2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Etki 3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Olasılık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9 kritik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Olasılık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Olasılık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Olasılık:</a:t>
            </a:r>
            <a:r>
              <a:rPr sz="2000" b="0">
                <a:solidFill>
                  <a:srgbClr val="1F2D3A"/>
                </a:solidFill>
              </a:rPr>
              <a:t> fiziksel erişim mi, internetten mi? Uzmanlık? Otomatikleşir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Etki:</a:t>
            </a:r>
            <a:r>
              <a:rPr sz="2000" b="0">
                <a:solidFill>
                  <a:srgbClr val="1F2D3A"/>
                </a:solidFill>
              </a:rPr>
              <a:t> hangi varlık, kaç kullanıcı, parasal/hukuki sonuç?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Daha ayrıntılı: </a:t>
            </a:r>
            <a:r>
              <a:rPr sz="2000" b="1">
                <a:solidFill>
                  <a:srgbClr val="1F2D3A"/>
                </a:solidFill>
              </a:rPr>
              <a:t>CVSS</a:t>
            </a:r>
            <a:r>
              <a:rPr sz="2000" b="0">
                <a:solidFill>
                  <a:srgbClr val="1F2D3A"/>
                </a:solidFill>
              </a:rPr>
              <a:t> (2. hafta),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 (13. hafta)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Tehdide dört 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Azalt</a:t>
            </a:r>
            <a:r>
              <a:rPr sz="2000" b="0">
                <a:solidFill>
                  <a:srgbClr val="1F2D3A"/>
                </a:solidFill>
              </a:rPr>
              <a:t> — önlem ekle (en sık)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Ortadan kaldır</a:t>
            </a:r>
            <a:r>
              <a:rPr sz="2000" b="0">
                <a:solidFill>
                  <a:srgbClr val="1F2D3A"/>
                </a:solidFill>
              </a:rPr>
              <a:t> — özelliği hiç yazma (en güçlü) </a:t>
            </a:r>
            <a:r>
              <a:rPr sz="2000" b="0" i="1">
                <a:solidFill>
                  <a:srgbClr val="1F2D3A"/>
                </a:solidFill>
              </a:rPr>
              <a:t>"Parolayı hatırla" yoksa, diskteki parola tehdidi de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Aktar</a:t>
            </a:r>
            <a:r>
              <a:rPr sz="2000" b="0">
                <a:solidFill>
                  <a:srgbClr val="1F2D3A"/>
                </a:solidFill>
              </a:rPr>
              <a:t> — kart verisini saklama, ödeme sağlayıcısına bırak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Kabul et</a:t>
            </a:r>
            <a:r>
              <a:rPr sz="2000" b="0">
                <a:solidFill>
                  <a:srgbClr val="1F2D3A"/>
                </a:solidFill>
              </a:rPr>
              <a:t> — gerekçesiyle </a:t>
            </a:r>
            <a:r>
              <a:rPr sz="2000" b="1">
                <a:solidFill>
                  <a:srgbClr val="1F2D3A"/>
                </a:solidFill>
              </a:rPr>
              <a:t>kalan risk</a:t>
            </a:r>
            <a:r>
              <a:rPr sz="2000" b="0">
                <a:solidFill>
                  <a:srgbClr val="1F2D3A"/>
                </a:solidFill>
              </a:rPr>
              <a:t> listesine yaz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609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Plana yazılmamış risk kabul edilmiş değil, </a:t>
            </a:r>
            <a:r>
              <a:rPr sz="2000" b="1">
                <a:solidFill>
                  <a:srgbClr val="1F2D3A"/>
                </a:solidFill>
              </a:rPr>
              <a:t>gözden kaçmıştır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Uygulamalı örnek: "Kasa" parola kasası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0–1: Uygulama ve kapsam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Kasa:</a:t>
            </a:r>
            <a:r>
              <a:rPr sz="2000" b="0">
                <a:solidFill>
                  <a:srgbClr val="1F2D3A"/>
                </a:solidFill>
              </a:rPr>
              <a:t> C++ masaüstü parola kasası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parola → türetilen anahtar → kayıtlar tek dosyada şifreli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Panoya kopyalama · isteğe bağlı bulut yedek · otomatik güncelleme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828544"/>
          <a:ext cx="10911534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768"/>
                <a:gridCol w="8292766"/>
              </a:tblGrid>
              <a:tr h="441198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Değer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Değerlendirme hedefi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kasa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1.0 +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kasa_cekirdek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+ yapılandırma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Kapsam dışı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Yedek sunucusunun kendisi, işletim sistemi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198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Güvenlik amacı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 parolayı bilmeyen için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okunamaz ve fark edilmeden değiştirilemez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2: Mimari ve arayüzler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283"/>
                <a:gridCol w="3167865"/>
                <a:gridCol w="2815880"/>
                <a:gridCol w="3754506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Arayüz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Uçlar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Kimlik doğrulama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Gizlilik / bütünlük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Kullanıcı → Arayüz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 parola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Ekranda gösterilmez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Arayüz → Çekirdek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Aynı süreç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Parola çağrı sonrası silinir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Çekirdek → Kasa dosyası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AES-GCM, anahtar paroladan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Çekirdek → Pano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30 s sonra temizlenir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Çekirdek → Yedek sunucu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 + belirteç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TLS + zaten şifreli dosya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Arayüz → Güncelleme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Paket imzası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TLS; asıl güvence imza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Kasa mimarisi — şema</a:t>
            </a:r>
          </a:p>
        </p:txBody>
      </p:sp>
      <p:pic>
        <p:nvPicPr>
          <p:cNvPr id="7" name="Picture 6" descr="h01-07-kasa-mim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5967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3: Varlıklar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04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196"/>
                <a:gridCol w="2828916"/>
                <a:gridCol w="2121687"/>
                <a:gridCol w="4344407"/>
                <a:gridCol w="1010327"/>
              </a:tblGrid>
              <a:tr h="43499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Varlık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Oluşma → silinme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Koruma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 parola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bellek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Yazılır → türetilir →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hemen silinir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Kasa anahtarı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bellek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Türetilir → kilitlenince silinir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Çözülmüş kayıt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Görüntülenir → kapanınca silinir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Kasa dosyası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Disk, yedek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Kalıcı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C, 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Tuz, türetme parametresi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Dosya başlığı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Oluşturulurken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Güncelleme açık anahtarı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Uygulamaya gömülü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Derlemede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8056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Koruma sınıfları: </a:t>
            </a:r>
            <a:r>
              <a:rPr sz="1800" b="1">
                <a:solidFill>
                  <a:srgbClr val="1F2D3A"/>
                </a:solidFill>
              </a:rPr>
              <a:t>C</a:t>
            </a:r>
            <a:r>
              <a:rPr sz="1800" b="0">
                <a:solidFill>
                  <a:srgbClr val="1F2D3A"/>
                </a:solidFill>
              </a:rPr>
              <a:t> gizlilik · </a:t>
            </a:r>
            <a:r>
              <a:rPr sz="1800" b="1">
                <a:solidFill>
                  <a:srgbClr val="1F2D3A"/>
                </a:solidFill>
              </a:rPr>
              <a:t>I</a:t>
            </a:r>
            <a:r>
              <a:rPr sz="1800" b="0">
                <a:solidFill>
                  <a:srgbClr val="1F2D3A"/>
                </a:solidFill>
              </a:rPr>
              <a:t> bütünlük · </a:t>
            </a:r>
            <a:r>
              <a:rPr sz="1800" b="1">
                <a:solidFill>
                  <a:srgbClr val="1F2D3A"/>
                </a:solidFill>
              </a:rPr>
              <a:t>I+</a:t>
            </a:r>
            <a:r>
              <a:rPr sz="1800" b="0">
                <a:solidFill>
                  <a:srgbClr val="1F2D3A"/>
                </a:solidFill>
              </a:rPr>
              <a:t> bütünlük + hesap verebilirlik · </a:t>
            </a:r>
            <a:r>
              <a:rPr sz="1800" b="1">
                <a:solidFill>
                  <a:srgbClr val="1F2D3A"/>
                </a:solidFill>
              </a:rPr>
              <a:t>N</a:t>
            </a:r>
            <a:r>
              <a:rPr sz="1800" b="0">
                <a:solidFill>
                  <a:srgbClr val="1F2D3A"/>
                </a:solidFill>
              </a:rPr>
              <a:t> yok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4: Tehditler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3796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148"/>
                <a:gridCol w="1522539"/>
                <a:gridCol w="1015026"/>
                <a:gridCol w="6343915"/>
                <a:gridCol w="1141904"/>
              </a:tblGrid>
              <a:tr h="47457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Harf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Tehdit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:-: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 / V4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Çalınan dosya, zayıf parola çevrimdışı denenir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 / V1-2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Parola/anahtar bellekte kalır → döküm, takas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 / V3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Panodaki parolayı başka uygulama okur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 / V5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Yineleme sayısı 1'e düşürülür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45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 / V6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T, 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Sahte güncelleme kurulur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7457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Kasa ayrıştırıcısında bellek hatası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3-4 (devam): eksik kalan varlık ve tehditler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825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861"/>
                <a:gridCol w="2345470"/>
                <a:gridCol w="6934433"/>
                <a:gridCol w="1019769"/>
              </a:tblGrid>
              <a:tr h="56509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Varlık/Tehdit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Ayrıntı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Değer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509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Yedekleme belirteci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Disk (OS anahtar deposu); bağlanınca oluşur → iptalde silinir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509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 / V4,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Kasa dosyası değiştirilir; bozuk kayıt fark edilmeden kullanılır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Risk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509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Sahte yedekleme sunucusu belirteci çalar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Risk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510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 parola ekrandan görülür (omuz sörfü)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Risk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26110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Dokuz tehdidin </a:t>
            </a:r>
            <a:r>
              <a:rPr sz="1800" b="1">
                <a:solidFill>
                  <a:srgbClr val="1F2D3A"/>
                </a:solidFill>
              </a:rPr>
              <a:t>hepsi</a:t>
            </a:r>
            <a:r>
              <a:rPr sz="1800" b="0">
                <a:solidFill>
                  <a:srgbClr val="1F2D3A"/>
                </a:solidFill>
              </a:rPr>
              <a:t> tabloda olmalı; atlanan tehdit kapatılmamış demektir.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5: Karşı önlemler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258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758"/>
                <a:gridCol w="8665042"/>
                <a:gridCol w="1176734"/>
              </a:tblGrid>
              <a:tr h="4655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Tehdit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Yavaş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türetme (Argon2id / yüksek yinelemeli PBKDF2) + parola gücü şartı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6, 2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silme,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mlock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döküm kapatma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Pano 30 s sonra temizlenir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T4-5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 doğrulamalı şifreleme; başlık =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AAD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en düşük yineleme kodda sabit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6, 2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5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İmzayı doğrulamadan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asla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çalıştırma; geri almayı reddet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556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Uzunluk doğrulama + fuzzing + derleyici korumaları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2, 3, 7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(devam): T7 ve T9 önlemleri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92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372"/>
                <a:gridCol w="8792790"/>
                <a:gridCol w="1059372"/>
              </a:tblGrid>
              <a:tr h="630935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Tehdit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3093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Sertifika doğrulama + ana makine adı denetimi, isteğe bağlı sertifika sabitleme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3093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Kabul et: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ekranda parolayı gizle; fiziksel gözetim kapsam dışı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2841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T9 örneği önemli: her tehdide önlem </a:t>
            </a:r>
            <a:r>
              <a:rPr sz="2000" b="1">
                <a:solidFill>
                  <a:srgbClr val="1F2D3A"/>
                </a:solidFill>
              </a:rPr>
              <a:t>eklemek</a:t>
            </a:r>
            <a:r>
              <a:rPr sz="2000" b="0">
                <a:solidFill>
                  <a:srgbClr val="1F2D3A"/>
                </a:solidFill>
              </a:rPr>
              <a:t> gerekmez, bazen </a:t>
            </a:r>
            <a:r>
              <a:rPr sz="2000" b="1">
                <a:solidFill>
                  <a:srgbClr val="1F2D3A"/>
                </a:solidFill>
              </a:rPr>
              <a:t>kabul etmek</a:t>
            </a:r>
            <a:r>
              <a:rPr sz="2000" b="0">
                <a:solidFill>
                  <a:srgbClr val="1F2D3A"/>
                </a:solidFill>
              </a:rPr>
              <a:t> doğru karardır.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6–7: Doğrulama ve kalan risk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12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218"/>
                <a:gridCol w="5639669"/>
                <a:gridCol w="3800647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Beklenen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Türetme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Süre ölçümü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≥ 250 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Silme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Kilitten sonra bellek dökümünde parola ara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Bulunmaz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Bütünlük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Dosyanın bir baytını değiştir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"Bozuk" der, açmaz, çökmez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İmza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Bozuk imzalı paket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Reddedilir, günlüğe yazılır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47871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Kalan risk:</a:t>
            </a:r>
            <a:r>
              <a:rPr sz="2000" b="0">
                <a:solidFill>
                  <a:srgbClr val="1F2D3A"/>
                </a:solidFill>
              </a:rPr>
              <a:t> kasa açıkken aynı kullanıcıyla çalışan zararlı · omuz sörfü · çok zayıf parola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2772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Testi olmayan önlem değerlendirici gözünde </a:t>
            </a:r>
            <a:r>
              <a:rPr sz="2000" b="1">
                <a:solidFill>
                  <a:srgbClr val="1F2D3A"/>
                </a:solidFill>
              </a:rPr>
              <a:t>yoktur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6 (devam): T5 ve T8 testleri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9442"/>
                <a:gridCol w="4643206"/>
                <a:gridCol w="4178885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Beklenen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T5 parametre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Başlıktaki yineleme sayısı 1 yapılır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Uygulama dosyayı reddeder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T8 ayrıştırıcı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24 saat fuzzing (4. hafta)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Çökme yok; sanitizer bulgusu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7 (devam): kalan risk — tam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3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1299"/>
                <a:gridCol w="5611646"/>
                <a:gridCol w="1818589"/>
              </a:tblGrid>
              <a:tr h="51846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Neden kabul edildi?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Yeniden değerlendirme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Kasa açıkken bilgisayarda zararlı çalışıyorsa bellek okunabilir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Aynı kullanıcı yetkisiyle çalışan zararlıya karşı tam koruma mümkün değil; kilitleme süresi kısa tutuldu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sürüm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Omuz sörfü (T9)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Fiziksel ortam kapsam dışı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1846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Çok zayıf ana parola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Kullanıcı uyarılıyor ama zorla engellenmiyor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Kullanıcı geri bildirimine göre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Varlık unutmak:</a:t>
            </a:r>
            <a:r>
              <a:rPr sz="2000" b="0">
                <a:solidFill>
                  <a:srgbClr val="1F2D3A"/>
                </a:solidFill>
              </a:rPr>
              <a:t> anahtarlar, belirteçler, sayaçlar, yapılandırma, </a:t>
            </a:r>
            <a:r>
              <a:rPr sz="2000" b="1">
                <a:solidFill>
                  <a:srgbClr val="1F2D3A"/>
                </a:solidFill>
              </a:rPr>
              <a:t>kodun kendisi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 sınırını yanlış çizmek:</a:t>
            </a:r>
            <a:r>
              <a:rPr sz="2000" b="0">
                <a:solidFill>
                  <a:srgbClr val="1F2D3A"/>
                </a:solidFill>
              </a:rPr>
              <a:t> kendi istemcinizi "güvenilir" saymak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Önlemi tehditle eşleştirmemek:</a:t>
            </a:r>
            <a:r>
              <a:rPr sz="2000" b="0">
                <a:solidFill>
                  <a:srgbClr val="1F2D3A"/>
                </a:solidFill>
              </a:rPr>
              <a:t> "TLS kullanıyoruz" — hangi tehdidi kapatıyor, hangisini kapatmıyor?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Testsiz önlem:</a:t>
            </a:r>
            <a:r>
              <a:rPr sz="2000" b="0">
                <a:solidFill>
                  <a:srgbClr val="1F2D3A"/>
                </a:solidFill>
              </a:rPr>
              <a:t> "siliyoruz" deyip derleyicinin silmeyi kaldırdığını fark etmemek (Demo 2)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Sınıf alıştırması (15 dk)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Öğrenci not sistemi:</a:t>
            </a:r>
            <a:r>
              <a:rPr sz="2000" b="0">
                <a:solidFill>
                  <a:srgbClr val="1F2D3A"/>
                </a:solidFill>
              </a:rPr>
              <a:t> öğretim üyesi not girer, öğrenci görür, veri sunucuda.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Veri akış diyagramı + güven sınırları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Her STRIDE harfinden </a:t>
            </a:r>
            <a:r>
              <a:rPr sz="2000" b="1">
                <a:solidFill>
                  <a:srgbClr val="1F2D3A"/>
                </a:solidFill>
              </a:rPr>
              <a:t>bir</a:t>
            </a:r>
            <a:r>
              <a:rPr sz="2000" b="0">
                <a:solidFill>
                  <a:srgbClr val="1F2D3A"/>
                </a:solidFill>
              </a:rPr>
              <a:t> tehdit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"Notumu 45'ten 85'e çıkar" saldırı ağacı — </a:t>
            </a:r>
            <a:r>
              <a:rPr sz="2000" b="1">
                <a:solidFill>
                  <a:srgbClr val="1F2D3A"/>
                </a:solidFill>
              </a:rPr>
              <a:t>en ucuz yol</a:t>
            </a:r>
            <a:r>
              <a:rPr sz="2000" b="0">
                <a:solidFill>
                  <a:srgbClr val="1F2D3A"/>
                </a:solidFill>
              </a:rPr>
              <a:t> hangisi?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Program başlarken ve bellekte kalan sırlar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Sır bellekten nasıl sızar — şema</a:t>
            </a:r>
          </a:p>
        </p:txBody>
      </p:sp>
      <p:pic>
        <p:nvPicPr>
          <p:cNvPr id="7" name="Picture 6" descr="h01-21-bellekten-sizma-yol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46617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Program boş sayfayla başlamaz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Çalıştıran kişiden </a:t>
            </a:r>
            <a:r>
              <a:rPr sz="2000" b="1">
                <a:solidFill>
                  <a:srgbClr val="1F2D3A"/>
                </a:solidFill>
              </a:rPr>
              <a:t>devraldıkları: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Ortam değişkenleri: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PATH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LD_PRELOAD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IFS</a:t>
            </a:r>
            <a:r>
              <a:rPr sz="2000" b="0">
                <a:solidFill>
                  <a:srgbClr val="1F2D3A"/>
                </a:solidFill>
              </a:rPr>
              <a:t>…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Açık dosya tanıtıcıları, çalışma dizini, </a:t>
            </a:r>
            <a:r>
              <a:rPr sz="2000" b="0">
                <a:solidFill>
                  <a:srgbClr val="A1123F"/>
                </a:solidFill>
                <a:latin typeface="Consolas"/>
              </a:rPr>
              <a:t>umask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sınırları, çökme dökümü ayarı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Program bunlara güvenirse, </a:t>
            </a:r>
            <a:r>
              <a:rPr sz="2000" b="1">
                <a:solidFill>
                  <a:srgbClr val="1F2D3A"/>
                </a:solidFill>
              </a:rPr>
              <a:t>onları kontrol eden programı kontrol eder.</a:t>
            </a:r>
            <a:r>
              <a:rPr sz="2000" b="0">
                <a:solidFill>
                  <a:srgbClr val="1F2D3A"/>
                </a:solidFill>
              </a:rPr>
              <a:t> Kitap: Viega &amp; Messier, Tarif 1.1–1.9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1 — PATH ile kandırma (CWE-426)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durum = system(KOMUT);  /* Linux: "date"  Windows: "hostname"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/* HANGİSİ çalışacak?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(Windows)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  <a:r>
              <a:rPr sz="2000" b="0">
                <a:solidFill>
                  <a:srgbClr val="1F2D3A"/>
                </a:solidFill>
              </a:rPr>
              <a:t> (WSL / Linux)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37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2 — PATH="$PWD/sahte:$PATH" ./bin/linux/rapor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Rapor tarihi: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!!! SAHTE 'date' calisti !!!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3 — ./bin/linux/rapor_guvenli  -&gt;  Rapor tarihi: Sat Sep 19 ...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ile kandırma — şema</a:t>
            </a:r>
          </a:p>
        </p:txBody>
      </p:sp>
      <p:pic>
        <p:nvPicPr>
          <p:cNvPr id="7" name="Picture 6" descr="h01-08-path-kand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Düzeltme: üç kural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char *const arguman[]     = { "date", NULL 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char *const temiz_ortam[] = { "PATH=/usr/bin:/bin", "LANG=C", NULL 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posix_spawn(&amp;pid, "/bin/date", NULL, NULL, arguman, temiz_ortam);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Mutlak yol</a:t>
            </a:r>
            <a:r>
              <a:rPr sz="2000" b="0">
                <a:solidFill>
                  <a:srgbClr val="1F2D3A"/>
                </a:solidFill>
              </a:rPr>
              <a:t> → PATH araması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Kabuk yok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posix_spawn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execve</a:t>
            </a:r>
            <a:r>
              <a:rPr sz="2000" b="0">
                <a:solidFill>
                  <a:srgbClr val="1F2D3A"/>
                </a:solidFill>
              </a:rPr>
              <a:t>) → özel karakter, </a:t>
            </a:r>
            <a:r>
              <a:rPr sz="2000" b="0">
                <a:solidFill>
                  <a:srgbClr val="A1123F"/>
                </a:solidFill>
                <a:latin typeface="Consolas"/>
              </a:rPr>
              <a:t>IFS</a:t>
            </a:r>
            <a:r>
              <a:rPr sz="2000" b="0">
                <a:solidFill>
                  <a:srgbClr val="1F2D3A"/>
                </a:solidFill>
              </a:rPr>
              <a:t>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Temiz ortam</a:t>
            </a:r>
            <a:r>
              <a:rPr sz="2000" b="0">
                <a:solidFill>
                  <a:srgbClr val="1F2D3A"/>
                </a:solidFill>
              </a:rPr>
              <a:t> → bilinen, küçük bir ortam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05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Windows: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CreateProcessW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System32hostname.exe</a:t>
            </a:r>
            <a:r>
              <a:rPr sz="2000" b="0">
                <a:solidFill>
                  <a:srgbClr val="1F2D3A"/>
                </a:solidFill>
              </a:rPr>
              <a:t> +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SystemRoot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5544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 iyisi: başka programa hiç gerek bırakma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strftime()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GetComputerNameW()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Güvenli başlatma: ne devralınıyor?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7274356"/>
                <a:gridCol w="909294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Devralınan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Tehlike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Tarif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Ortam değişkenleri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PATH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LD_PRELOAD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yüklenecek programı/kütüphaneyi değiştirir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Açık dosya tanıtıcıları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Ebeveynin gizli dosyası sızar; 0–2 kapalıysa ilk dosya "stdout" olur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umask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000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→ herkese yazılabilir dosyalar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 sınırları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Çekirdek dökümü açık → bellek diske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 ve yetkiler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setuid: gereğinden fazla yetki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4289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Kural:</a:t>
            </a:r>
            <a:r>
              <a:rPr sz="1800" b="0">
                <a:solidFill>
                  <a:srgbClr val="1F2D3A"/>
                </a:solidFill>
              </a:rPr>
              <a:t> kendi kurmadığın hiçbir şeye güvenme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Programın devraldığı durum — şema</a:t>
            </a:r>
          </a:p>
        </p:txBody>
      </p:sp>
      <p:pic>
        <p:nvPicPr>
          <p:cNvPr id="7" name="Picture 6" descr="h01-20-devralinan-du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8515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Devralınan diğer riskler: çalışma dizini, sinyal, dlopen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145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Çalışma dizini:</a:t>
            </a:r>
            <a:r>
              <a:rPr sz="1800" b="0">
                <a:solidFill>
                  <a:srgbClr val="1F2D3A"/>
                </a:solidFill>
              </a:rPr>
              <a:t> Göreli yollar (</a:t>
            </a:r>
            <a:r>
              <a:rPr sz="1800" b="0">
                <a:solidFill>
                  <a:srgbClr val="A1123F"/>
                </a:solidFill>
                <a:latin typeface="Consolas"/>
              </a:rPr>
              <a:t>./ayar.ini</a:t>
            </a:r>
            <a:r>
              <a:rPr sz="1800" b="0">
                <a:solidFill>
                  <a:srgbClr val="1F2D3A"/>
                </a:solidFill>
              </a:rPr>
              <a:t>) saldırganın seçtiği bir klasöre işaret edebilir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Sinyal ayarları:</a:t>
            </a:r>
            <a:r>
              <a:rPr sz="1800" b="0">
                <a:solidFill>
                  <a:srgbClr val="1F2D3A"/>
                </a:solidFill>
              </a:rPr>
              <a:t> Ebeveynin yok saydığı sinyaller </a:t>
            </a:r>
            <a:r>
              <a:rPr sz="1800" b="1">
                <a:solidFill>
                  <a:srgbClr val="1F2D3A"/>
                </a:solidFill>
              </a:rPr>
              <a:t>çocukta da</a:t>
            </a:r>
            <a:r>
              <a:rPr sz="1800" b="0">
                <a:solidFill>
                  <a:srgbClr val="1F2D3A"/>
                </a:solidFill>
              </a:rPr>
              <a:t> yok sayılır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`dlopen("lib.so")`: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LD_LIBRARY_PATH</a:t>
            </a:r>
            <a:r>
              <a:rPr sz="1800" b="0">
                <a:solidFill>
                  <a:srgbClr val="1F2D3A"/>
                </a:solidFill>
              </a:rPr>
              <a:t> ve arama yollarından etkilenir → tam yol kullanın; </a:t>
            </a:r>
            <a:r>
              <a:rPr sz="1800" b="0">
                <a:solidFill>
                  <a:srgbClr val="A1123F"/>
                </a:solidFill>
                <a:latin typeface="Consolas"/>
              </a:rPr>
              <a:t>LD_*</a:t>
            </a:r>
            <a:r>
              <a:rPr sz="1800" b="0">
                <a:solidFill>
                  <a:srgbClr val="1F2D3A"/>
                </a:solidFill>
              </a:rPr>
              <a:t> Adım 1'de temizlenmiş olmalı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010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Kural aynı: </a:t>
            </a:r>
            <a:r>
              <a:rPr sz="1800" b="1">
                <a:solidFill>
                  <a:srgbClr val="1F2D3A"/>
                </a:solidFill>
              </a:rPr>
              <a:t>programın kendisinin kurmadığı hiçbir şeye güvenme.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1–2: Ortam ve tanıtıcılar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6349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Ortam: kara liste değil BEYAZ liste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clearenv();                            /* önce korunacakları kopyala!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setenv("PATH", "/usr/bin:/bin", 1);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0-2 kapalıysa /dev/null'a bağla, gerisini kapat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for (int fd = 0; fd &lt;= 2; fd++)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(fcntl(fd, F_GETFD) == -1 &amp;&amp; open("/dev/null", O_RDWR) != fd) abort();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close_range(3, ~0U, 0);                /* Linux 5.9+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0555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getenv</a:t>
            </a:r>
            <a:r>
              <a:rPr sz="1800" b="0">
                <a:solidFill>
                  <a:srgbClr val="1F2D3A"/>
                </a:solidFill>
              </a:rPr>
              <a:t> işaretçisi </a:t>
            </a:r>
            <a:r>
              <a:rPr sz="1800" b="0">
                <a:solidFill>
                  <a:srgbClr val="A1123F"/>
                </a:solidFill>
                <a:latin typeface="Consolas"/>
              </a:rPr>
              <a:t>clearenv</a:t>
            </a:r>
            <a:r>
              <a:rPr sz="1800" b="0">
                <a:solidFill>
                  <a:srgbClr val="1F2D3A"/>
                </a:solidFill>
              </a:rPr>
              <a:t> sonrası </a:t>
            </a:r>
            <a:r>
              <a:rPr sz="1800" b="1">
                <a:solidFill>
                  <a:srgbClr val="1F2D3A"/>
                </a:solidFill>
              </a:rPr>
              <a:t>geçersiz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Kendi dosyalarınızda her zaman </a:t>
            </a:r>
            <a:r>
              <a:rPr sz="1800" b="0">
                <a:solidFill>
                  <a:srgbClr val="A1123F"/>
                </a:solidFill>
                <a:latin typeface="Consolas"/>
              </a:rPr>
              <a:t>O_CLOEXEC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3–4: İzinler ve çökme dökümü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umask(077);                                   /* rw-------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int fd = open(yol, O_WRONLY | O_CREAT | O_EXCL, 0600);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struct rlimit r = { 0, 0 };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setrlimit(RLIMIT_CORE, &amp;r);                   /* döküm boyutu 0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prctl(PR_SET_DUMPABLE, 0, 0, 0, 0);           /* + ptrace ile bağlanılamaz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Windows: </a:t>
            </a:r>
            <a:r>
              <a:rPr sz="1800" b="0">
                <a:solidFill>
                  <a:srgbClr val="A1123F"/>
                </a:solidFill>
                <a:latin typeface="Consolas"/>
              </a:rPr>
              <a:t>SetErrorMode(SEM_FAILCRITICALERRORS | SEM_NOGPFAULTERRORBOX)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Asıl savunma: döküm alınsa bile içinde </a:t>
            </a:r>
            <a:r>
              <a:rPr sz="1800" b="1">
                <a:solidFill>
                  <a:srgbClr val="1F2D3A"/>
                </a:solidFill>
              </a:rPr>
              <a:t>sır kalmamalı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5: Yetkiyi kalıcı bırak ve doğrula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(setresgid(g, g, g) != 0) abort();   /* 1. önce GRUP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(setresuid(u, u, u) != 0) abort();   /* 2. sonra kullanıcı: r/e/s üçü de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getresuid(&amp;r, &amp;e, &amp;s);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(r != u || e != u || s != u) abort();  /* 3. DOĞRULA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0241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seteuid()</a:t>
            </a:r>
            <a:r>
              <a:rPr sz="1800" b="0">
                <a:solidFill>
                  <a:srgbClr val="1F2D3A"/>
                </a:solidFill>
              </a:rPr>
              <a:t> geçicidir: saklı kimlik yetkili kalır (2. hafta Demo 13)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Windows: </a:t>
            </a:r>
            <a:r>
              <a:rPr sz="1800" b="1">
                <a:solidFill>
                  <a:srgbClr val="1F2D3A"/>
                </a:solidFill>
              </a:rPr>
              <a:t>kısıtlanmış belirteç</a:t>
            </a:r>
            <a:r>
              <a:rPr sz="1800" b="0">
                <a:solidFill>
                  <a:srgbClr val="1F2D3A"/>
                </a:solidFill>
              </a:rPr>
              <a:t> (</a:t>
            </a:r>
            <a:r>
              <a:rPr sz="1800" b="0">
                <a:solidFill>
                  <a:srgbClr val="A1123F"/>
                </a:solidFill>
                <a:latin typeface="Consolas"/>
              </a:rPr>
              <a:t>CreateRestrictedToken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Daha iyisi: </a:t>
            </a:r>
            <a:r>
              <a:rPr sz="1800" b="1">
                <a:solidFill>
                  <a:srgbClr val="1F2D3A"/>
                </a:solidFill>
              </a:rPr>
              <a:t>ayrıcalık ayrımı</a:t>
            </a:r>
            <a:r>
              <a:rPr sz="1800" b="0">
                <a:solidFill>
                  <a:srgbClr val="1F2D3A"/>
                </a:solidFill>
              </a:rPr>
              <a:t> — küçük yetkili süreç + büyük yetkisiz süreç (Tarif 1.4)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Adım 6: Program ve kütüphane yüklerken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364"/>
                <a:gridCol w="6673170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❌ Hatalı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✅ Doğrusu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system("convert " + dosya)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execve("/usr/bin/convert", argv, temiz_ortam)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execvp("convert", ...)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Tam yolla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execve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CreateProcess(NULL, "C:Program Files...")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lpApplicationName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= tam yol, komut satırı tırnaklı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LoadLibrary("yardimci.dll")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SetDefaultDllDirectories(LOAD_LIBRARY_SEARCH_DEFAULT_DIRS)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tam yol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0522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Windows DLL arama sırası = </a:t>
            </a:r>
            <a:r>
              <a:rPr sz="1800" b="0">
                <a:solidFill>
                  <a:srgbClr val="A1123F"/>
                </a:solidFill>
                <a:latin typeface="Consolas"/>
              </a:rPr>
              <a:t>PATH</a:t>
            </a:r>
            <a:r>
              <a:rPr sz="1800" b="0">
                <a:solidFill>
                  <a:srgbClr val="1F2D3A"/>
                </a:solidFill>
              </a:rPr>
              <a:t> sorununun ikizi (CWE-427)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Hepsi bir arada: </a:t>
            </a:r>
            <a:r>
              <a:rPr sz="3000" b="1">
                <a:solidFill>
                  <a:srgbClr val="006D77"/>
                </a:solidFill>
                <a:latin typeface="Consolas"/>
              </a:rPr>
              <a:t>guvenli_baslat()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main(int argc, char **argv)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tanitici_duzenle();   /* 1. tanıtıcılar 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ortami_temizle();     /* 2. ortam       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umask(077);           /* 3. izinler     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dokumu_kapat();       /* 4. döküm       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yetkiyi_birak();      /* 5. yetki       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... asıl iş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0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Sıra önemli:</a:t>
            </a:r>
            <a:r>
              <a:rPr sz="2000" b="0">
                <a:solidFill>
                  <a:srgbClr val="1F2D3A"/>
                </a:solidFill>
              </a:rPr>
              <a:t> başka hiçbir şey yapmadan önce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2 — Bellekte kalan parola (CWE-14)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char parola[64];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 = dosya_oku(fd, parola, sizeof(parola) - 1);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anahtar = anahtar_turet(parola,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memset(parola, 0, sizeof(parola));         /* sürüm 2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explicit_bzero(parola, sizeof(parola));    /* sürüm 3, Linux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SecureZeroMemory(parola, sizeof(parola));  /* sürüm 3, Windows */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43784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Hiç silmeyen   -&gt; parola dökümde BULUNDU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memset (-O2)   -&gt; parola dökümde BULUNDU      ← !!!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explicit_bzero -&gt; parola dökümde bulunamadı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Neden memset kayboldu?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Derleyicinin düşüncesi: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"</a:t>
            </a:r>
            <a:r>
              <a:rPr sz="1800" b="0">
                <a:solidFill>
                  <a:srgbClr val="A1123F"/>
                </a:solidFill>
                <a:latin typeface="Consolas"/>
              </a:rPr>
              <a:t>parola</a:t>
            </a:r>
            <a:r>
              <a:rPr sz="1800" b="0">
                <a:solidFill>
                  <a:srgbClr val="1F2D3A"/>
                </a:solidFill>
              </a:rPr>
              <a:t> bundan sonra </a:t>
            </a:r>
            <a:r>
              <a:rPr sz="1800" b="1">
                <a:solidFill>
                  <a:srgbClr val="1F2D3A"/>
                </a:solidFill>
              </a:rPr>
              <a:t>hiç okunmuyor</a:t>
            </a:r>
            <a:r>
              <a:rPr sz="1800" b="0">
                <a:solidFill>
                  <a:srgbClr val="1F2D3A"/>
                </a:solidFill>
              </a:rPr>
              <a:t>. Ona sıfır yazmak sonucu değiştirmez. </a:t>
            </a:r>
            <a:r>
              <a:rPr sz="1800" b="1">
                <a:solidFill>
                  <a:srgbClr val="1F2D3A"/>
                </a:solidFill>
              </a:rPr>
              <a:t>Gereksiz — siliyorum.</a:t>
            </a:r>
            <a:r>
              <a:rPr sz="1800" b="0">
                <a:solidFill>
                  <a:srgbClr val="1F2D3A"/>
                </a:solidFill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092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Ölü yazma giderme</a:t>
            </a:r>
            <a:r>
              <a:rPr sz="1800" b="0">
                <a:solidFill>
                  <a:srgbClr val="1F2D3A"/>
                </a:solidFill>
              </a:rPr>
              <a:t> (dead store elimination): hız için iyi, </a:t>
            </a:r>
            <a:r>
              <a:rPr sz="1800" b="1">
                <a:solidFill>
                  <a:srgbClr val="1F2D3A"/>
                </a:solidFill>
              </a:rPr>
              <a:t>sırlar için felaket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337557"/>
          <a:ext cx="745621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4364613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Kaldırılamayan silme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Linux (glibc)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explicit_bzero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SecureZeroMemory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C11 Ek 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memset_s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OpenSSL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OPENSSL_cleanse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20293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+ </a:t>
            </a:r>
            <a:r>
              <a:rPr sz="1800" b="0">
                <a:solidFill>
                  <a:srgbClr val="A1123F"/>
                </a:solidFill>
                <a:latin typeface="Consolas"/>
              </a:rPr>
              <a:t>setrlimit(RLIMIT_CORE, 0)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0">
                <a:solidFill>
                  <a:srgbClr val="A1123F"/>
                </a:solidFill>
                <a:latin typeface="Consolas"/>
              </a:rPr>
              <a:t>mlock</a:t>
            </a:r>
            <a:r>
              <a:rPr sz="1800" b="0">
                <a:solidFill>
                  <a:srgbClr val="1F2D3A"/>
                </a:solidFill>
              </a:rPr>
              <a:t> · sırrı </a:t>
            </a:r>
            <a:r>
              <a:rPr sz="1800" b="1">
                <a:solidFill>
                  <a:srgbClr val="1F2D3A"/>
                </a:solidFill>
              </a:rPr>
              <a:t>kısa</a:t>
            </a:r>
            <a:r>
              <a:rPr sz="1800" b="0">
                <a:solidFill>
                  <a:srgbClr val="1F2D3A"/>
                </a:solidFill>
              </a:rPr>
              <a:t> tut, </a:t>
            </a:r>
            <a:r>
              <a:rPr sz="1800" b="1">
                <a:solidFill>
                  <a:srgbClr val="1F2D3A"/>
                </a:solidFill>
              </a:rPr>
              <a:t>kopyalama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Süreç belleği ve taşmalar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Süreç belleği</a:t>
            </a:r>
          </a:p>
        </p:txBody>
      </p:sp>
      <p:pic>
        <p:nvPicPr>
          <p:cNvPr id="7" name="Picture 6" descr="h01-13-surec-belleg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43101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4576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C dizinin sonunu denetlemez.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ad[16]</a:t>
            </a:r>
            <a:r>
              <a:rPr sz="1800" b="0">
                <a:solidFill>
                  <a:srgbClr val="1F2D3A"/>
                </a:solidFill>
              </a:rPr>
              <a:t>'ya 17. bayt → arkadaki değişkenin üzerine.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Yapının bellekteki hali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struct oturum { char ad[16]; int yonetici; };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98903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ofset:  0 ............................ 15 | 16  17  18  19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[ a  y  s  e \0  .  .  .  .  .  . ][ 00  00  00  00 ]   yonetici = 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"AAAAAAAAAAAAAAAAB" (17 karakter) kopyalanınca: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[ A  A  A  A  A  A  A  A  A  A  A ][ 42  00  00  00 ]   yonetici = 66 (!)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                          'B'  '\0'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6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Küçük uçlu (little-endian): en düşük bayt en düşük adreste.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Bellekteki yapı ve taşma — şema</a:t>
            </a:r>
          </a:p>
        </p:txBody>
      </p:sp>
      <p:pic>
        <p:nvPicPr>
          <p:cNvPr id="7" name="Picture 6" descr="h01-14-yapi-bellek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Arabellek taşması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diziye </a:t>
            </a:r>
            <a:r>
              <a:rPr sz="2000" b="1">
                <a:solidFill>
                  <a:srgbClr val="1F2D3A"/>
                </a:solidFill>
              </a:rPr>
              <a:t>ayrılan boyuttan fazla</a:t>
            </a:r>
            <a:r>
              <a:rPr sz="2000" b="0">
                <a:solidFill>
                  <a:srgbClr val="1F2D3A"/>
                </a:solidFill>
              </a:rPr>
              <a:t> veri yazmak → taşan baytlar </a:t>
            </a:r>
            <a:r>
              <a:rPr sz="2000" b="1">
                <a:solidFill>
                  <a:srgbClr val="1F2D3A"/>
                </a:solidFill>
              </a:rPr>
              <a:t>komşu değişkenlerin</a:t>
            </a:r>
            <a:r>
              <a:rPr sz="2000" b="0">
                <a:solidFill>
                  <a:srgbClr val="1F2D3A"/>
                </a:solidFill>
              </a:rPr>
              <a:t> üzerine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 neden bu kadar kolay taşar?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Dizi </a:t>
            </a:r>
            <a:r>
              <a:rPr sz="2000" b="1">
                <a:solidFill>
                  <a:srgbClr val="1F2D3A"/>
                </a:solidFill>
              </a:rPr>
              <a:t>boyutunu bilmez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Fonksiyona yalnız </a:t>
            </a:r>
            <a:r>
              <a:rPr sz="2000" b="1">
                <a:solidFill>
                  <a:srgbClr val="1F2D3A"/>
                </a:solidFill>
              </a:rPr>
              <a:t>başlangıç adresi</a:t>
            </a:r>
            <a:r>
              <a:rPr sz="2000" b="0">
                <a:solidFill>
                  <a:srgbClr val="1F2D3A"/>
                </a:solidFill>
              </a:rPr>
              <a:t> gider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Dizge =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 ile biten dizi;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 hedefi </a:t>
            </a:r>
            <a:r>
              <a:rPr sz="2000" b="1">
                <a:solidFill>
                  <a:srgbClr val="1F2D3A"/>
                </a:solidFill>
              </a:rPr>
              <a:t>sormaz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Derleyici sınır denetimi </a:t>
            </a:r>
            <a:r>
              <a:rPr sz="2000" b="1">
                <a:solidFill>
                  <a:srgbClr val="1F2D3A"/>
                </a:solidFill>
              </a:rPr>
              <a:t>eklemez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6024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CWE-787 "sınırlar dışına yazma": CWE Top 25'in hep ilk sıralarında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Yığında bir taşma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12471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void selamla(const char *ad)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int  yetkili = 0;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char tampon[16];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strcpy(tampon, ad);          /* ad &gt; 15 karakter?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düşük adres  | tampon[0..15]      |  &lt;- yazma buradan başlar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      | yetkili            |  &lt;- biraz fazlası: MANTIK bozulur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      | kaydedilmiş çerçeve|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yüksek adres | dönüş adresi       |  &lt;- çok fazlası: ÇÖKME / akış ele geçer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Yığında taşma adım adım — şema</a:t>
            </a:r>
          </a:p>
        </p:txBody>
      </p:sp>
      <p:pic>
        <p:nvPicPr>
          <p:cNvPr id="7" name="Picture 6" descr="h01-15-yiginda-tas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4060751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Taşma türleri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8836"/>
                <a:gridCol w="5963280"/>
                <a:gridCol w="164941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Tür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Tipik neden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CWE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Yığın taşması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strcpy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sınırsız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scanf("%s")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Öbek taşması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Yanlış uzunluklu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memcpy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 fazla (off-by-one)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&lt;=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yerine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&lt;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;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'0'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için yer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Sınır dışı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okuma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 tarafın bildirdiği uzunluğa güvenmek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Tamsayı kaynaklı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 * boyut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taşar → küçük blok, büyük kopya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190 → 787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Heartbleed (2014): hiçbir şey yazılmadı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İstemci: "1 bayt gönderiyorum, </a:t>
            </a:r>
            <a:r>
              <a:rPr sz="2000" b="1">
                <a:solidFill>
                  <a:srgbClr val="1F2D3A"/>
                </a:solidFill>
              </a:rPr>
              <a:t>64 KB</a:t>
            </a:r>
            <a:r>
              <a:rPr sz="2000" b="0">
                <a:solidFill>
                  <a:srgbClr val="1F2D3A"/>
                </a:solidFill>
              </a:rPr>
              <a:t> diye bildiriyorum"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Sunucu: bildirilen uzunluğu </a:t>
            </a:r>
            <a:r>
              <a:rPr sz="2000" b="1">
                <a:solidFill>
                  <a:srgbClr val="1F2D3A"/>
                </a:solidFill>
              </a:rPr>
              <a:t>denetlemeden</a:t>
            </a:r>
            <a:r>
              <a:rPr sz="2000" b="0">
                <a:solidFill>
                  <a:srgbClr val="1F2D3A"/>
                </a:solidFill>
              </a:rPr>
              <a:t> 64 KB geri yolladı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Sızan: parolalar, oturumlar, hatta sunucunun </a:t>
            </a:r>
            <a:r>
              <a:rPr sz="2000" b="1">
                <a:solidFill>
                  <a:srgbClr val="1F2D3A"/>
                </a:solidFill>
              </a:rPr>
              <a:t>özel anahtarı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CVE-2014-0160 · CWE-125 · Düzeltme: </a:t>
            </a:r>
            <a:r>
              <a:rPr sz="2000" b="1">
                <a:solidFill>
                  <a:srgbClr val="1F2D3A"/>
                </a:solidFill>
              </a:rPr>
              <a:t>tek bir uzunluk denetimi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➡️ Sınır dışı okuma da yazma kadar tehlikeli; üstelik </a:t>
            </a:r>
            <a:r>
              <a:rPr sz="2000" b="1">
                <a:solidFill>
                  <a:srgbClr val="1F2D3A"/>
                </a:solidFill>
              </a:rPr>
              <a:t>çökmez, iz bırakmaz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Bir fazla hatası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char ad[8];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for (int i = 0; i &lt;= 8; i++)      /* 9 kez: ad[8] dışarıda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ad[i] = kaynak[i];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strncpy(ad, kaynak, sizeof ad);   /* kaynak &gt;= 8 → '\0' YOK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printf("%s\n", ad);               /* dizinin sonundan okumaya devam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strncpy</a:t>
            </a:r>
            <a:r>
              <a:rPr sz="1800" b="0">
                <a:solidFill>
                  <a:srgbClr val="1F2D3A"/>
                </a:solidFill>
              </a:rPr>
              <a:t> güvenli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değildir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Tek bayt taşma bile komşu değişkenin en düşük baytını değiştirir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Tehlikeli fonksiyonlar → yerine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6743"/>
                <a:gridCol w="7494791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❌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✅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gets(s)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fgets(s, sizeof s, stdin)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C11'de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kaldırıldı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strcpy(d, 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Uzunluk denetimi +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memcpy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snprintf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strlcpy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(glibc 2.38+)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strcat(d, 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Kalan yeri hesapla;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snprintf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strlcat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sprintf(d, ...)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snprintf(d, sizeof d, ...)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dönüş değeri denetimi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scanf("%s", 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scanf("%15s", 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memcpy(d, s, 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Önce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 &lt;= sizeof 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char a[n]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(VLA),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alloca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Sabit üst sınır ya da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6234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Tarif 3.3–3.4 bugün: </a:t>
            </a:r>
            <a:r>
              <a:rPr sz="1800" b="0">
                <a:solidFill>
                  <a:srgbClr val="A1123F"/>
                </a:solidFill>
                <a:latin typeface="Consolas"/>
              </a:rPr>
              <a:t>snprintf</a:t>
            </a:r>
            <a:r>
              <a:rPr sz="1800" b="0">
                <a:solidFill>
                  <a:srgbClr val="1F2D3A"/>
                </a:solidFill>
              </a:rPr>
              <a:t>/</a:t>
            </a:r>
            <a:r>
              <a:rPr sz="1800" b="0">
                <a:solidFill>
                  <a:srgbClr val="A1123F"/>
                </a:solidFill>
                <a:latin typeface="Consolas"/>
              </a:rPr>
              <a:t>strlcpy</a:t>
            </a:r>
            <a:r>
              <a:rPr sz="1800" b="0">
                <a:solidFill>
                  <a:srgbClr val="1F2D3A"/>
                </a:solidFill>
              </a:rPr>
              <a:t>, MSVC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strcpy_s</a:t>
            </a:r>
            <a:r>
              <a:rPr sz="1800" b="0">
                <a:solidFill>
                  <a:srgbClr val="1F2D3A"/>
                </a:solidFill>
              </a:rPr>
              <a:t>, C++ </a:t>
            </a:r>
            <a:r>
              <a:rPr sz="1800" b="0">
                <a:solidFill>
                  <a:srgbClr val="A1123F"/>
                </a:solidFill>
                <a:latin typeface="Consolas"/>
              </a:rPr>
              <a:t>std::string</a:t>
            </a:r>
            <a:r>
              <a:rPr sz="1800" b="0">
                <a:solidFill>
                  <a:srgbClr val="1F2D3A"/>
                </a:solidFill>
              </a:rPr>
              <a:t>/</a:t>
            </a:r>
            <a:r>
              <a:rPr sz="1800" b="0">
                <a:solidFill>
                  <a:srgbClr val="A1123F"/>
                </a:solidFill>
                <a:latin typeface="Consolas"/>
              </a:rPr>
              <a:t>span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Doğru kalıp: önce doğrula, sonra sınırlı kopyala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4518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int selamla(const char *ad)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char tampon[16];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size_t n = strnlen(ad, sizeof tampon);   /* en fazla 16 bayt oku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if (n == sizeof tampon)                  /* uzunsa REDDET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return -1;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memcpy(tampon, ad, 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tampon[n] = '\0';                        /* sonlandırıcı her zaman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printf("Merhaba %s\n", tampon);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8079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Neden kesmek yerine reddetmek? </a:t>
            </a:r>
            <a:r>
              <a:rPr sz="1800" b="0">
                <a:solidFill>
                  <a:srgbClr val="A1123F"/>
                </a:solidFill>
                <a:latin typeface="Consolas"/>
              </a:rPr>
              <a:t>/home/ayse/gizli_rapor.txt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/home/ayse/gizli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C++: boyutu tür taşır — ama dikkat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selamla(const std::string &amp;ad)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(ad.size() &gt; 15) throw std::invalid_argument("ad cok uzun");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std::cout &lt;&lt; "Merhaba " &lt;&lt; ad &lt;&lt; '\n';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vector::operator[]</a:t>
            </a:r>
            <a:r>
              <a:rPr sz="2000" b="0">
                <a:solidFill>
                  <a:srgbClr val="1F2D3A"/>
                </a:solidFill>
              </a:rPr>
              <a:t> sınır </a:t>
            </a:r>
            <a:r>
              <a:rPr sz="2000" b="1">
                <a:solidFill>
                  <a:srgbClr val="1F2D3A"/>
                </a:solidFill>
              </a:rPr>
              <a:t>denetlemez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at()</a:t>
            </a:r>
            <a:r>
              <a:rPr sz="2000" b="0">
                <a:solidFill>
                  <a:srgbClr val="1F2D3A"/>
                </a:solidFill>
              </a:rPr>
              <a:t> denetler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c_str()</a:t>
            </a:r>
            <a:r>
              <a:rPr sz="2000" b="0">
                <a:solidFill>
                  <a:srgbClr val="1F2D3A"/>
                </a:solidFill>
              </a:rPr>
              <a:t> ile alınan işaretçiye yazmak → C'nin bütün sorunları geri gelir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Taşmayı kim yakalar?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940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595"/>
                <a:gridCol w="7022275"/>
                <a:gridCol w="2052665"/>
              </a:tblGrid>
              <a:tr h="36758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Katman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zaman?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Sınır denetimi, güvenli API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zaman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-Wall -Wextra -Wformat-security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/W4 /sdl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Geliştirme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Statik analiz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clang --analyze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cppcheck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/analyze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-fsanitize=address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/fsanitize=address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libFuzzer, AFL++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(4. hafta)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58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Derleyici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Kanarya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-fstack-protector-strong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/GS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_FORTIFY_SOURCE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Sürüm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59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OS / donanım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DEP/NX, ASLR · Intel CET, ARM PAC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Sürüm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76318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⚠️ Koruma sömürüyü </a:t>
            </a:r>
            <a:r>
              <a:rPr sz="1800" b="1">
                <a:solidFill>
                  <a:srgbClr val="1F2D3A"/>
                </a:solidFill>
              </a:rPr>
              <a:t>zorlaştırır</a:t>
            </a:r>
            <a:r>
              <a:rPr sz="1800" b="0">
                <a:solidFill>
                  <a:srgbClr val="1F2D3A"/>
                </a:solidFill>
              </a:rPr>
              <a:t>, hatayı </a:t>
            </a:r>
            <a:r>
              <a:rPr sz="1800" b="1">
                <a:solidFill>
                  <a:srgbClr val="1F2D3A"/>
                </a:solidFill>
              </a:rPr>
              <a:t>gidermez</a:t>
            </a:r>
            <a:r>
              <a:rPr sz="1800" b="0">
                <a:solidFill>
                  <a:srgbClr val="1F2D3A"/>
                </a:solidFill>
              </a:rPr>
              <a:t> — kanarya programı sonlandırır = hizmet engelleme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ASan raporunu okumak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ERROR: AddressSanitizer: stack-buffer-overflow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WRITE of size 21 at 0x7ffd... thread T0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#0 in strcpy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#1 in selamla  ornek.c:7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#2 in main     ornek.c:15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This frame has 1 object(s):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[32, 48) 'tampon' &lt;== Memory access at offset 48 overflows this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Ne?</a:t>
            </a:r>
            <a:r>
              <a:rPr sz="1800" b="0">
                <a:solidFill>
                  <a:srgbClr val="1F2D3A"/>
                </a:solidFill>
              </a:rPr>
              <a:t> yığın taşması, 21 bayt yazma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Nerede?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ornek.c:7</a:t>
            </a:r>
            <a:r>
              <a:rPr sz="1800" b="0">
                <a:solidFill>
                  <a:srgbClr val="1F2D3A"/>
                </a:solidFill>
              </a:rPr>
              <a:t>,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strcpy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Hangi değişken?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tampon</a:t>
            </a:r>
            <a:r>
              <a:rPr sz="1800" b="0">
                <a:solidFill>
                  <a:srgbClr val="1F2D3A"/>
                </a:solidFill>
              </a:rPr>
              <a:t> (16 bayt), erişim tam sınırın ötesinde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034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Yaklaşık 2× yavaş → yalnız </a:t>
            </a:r>
            <a:r>
              <a:rPr sz="1800" b="1">
                <a:solidFill>
                  <a:srgbClr val="1F2D3A"/>
                </a:solidFill>
              </a:rPr>
              <a:t>test</a:t>
            </a:r>
            <a:r>
              <a:rPr sz="1800" b="0">
                <a:solidFill>
                  <a:srgbClr val="1F2D3A"/>
                </a:solidFill>
              </a:rPr>
              <a:t> derlemesinde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3 — Taşmayla yetki yükseltme (CWE-121)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(Windows)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  <a:r>
              <a:rPr sz="2000" b="0">
                <a:solidFill>
                  <a:srgbClr val="1F2D3A"/>
                </a:solidFill>
              </a:rPr>
              <a:t> (WSL / Linux)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9485"/>
                <a:gridCol w="5092049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Sürüm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17 karakterlik saldırı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giris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(korumasız)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❌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YÖNETİCİ erişimi verildi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giris_asan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(ASan)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❌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sessiz kaldı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— taşma yapının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içinde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giris_asan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+ 40 karakter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✅ stack-buffer-overflow yakalandı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giris_denetimli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_FORTIFY_SOURCE=2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strcpy_s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✅ program durduruldu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giris_guvenli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✅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Reddedildi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Düzeltme: doğrula, sonra sınırlı kopyala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İzin listesi: 1–15 karakter, harf/rakam/_/-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ad_gecerli_mi(const char *s)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size_t n = strnlen(s, 16);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 || n &gt;= 16)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(size_t i = 0;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unsigned char c = (unsigned char)s[i];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(!isalnum(c) &amp;&amp; c != '_' &amp;&amp; c != '-')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struct oturum o = { .yonetici = 0 };           /* güvenli varsayılan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snprintf(o.ad, sizeof(o.ad), "%s", argv[1]);   /* boyutu bilen kopya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661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Canary, NX, ASLR (4. hafta) </a:t>
            </a:r>
            <a:r>
              <a:rPr sz="2000" b="1">
                <a:solidFill>
                  <a:srgbClr val="1F2D3A"/>
                </a:solidFill>
              </a:rPr>
              <a:t>sömürmeyi zorlaştırır, hatayı düzeltmez.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Tamsayılar: -1 ne zaman dev olur?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int</a:t>
            </a:r>
            <a:r>
              <a:rPr sz="2000" b="0">
                <a:solidFill>
                  <a:srgbClr val="1F2D3A"/>
                </a:solidFill>
              </a:rPr>
              <a:t> işaretli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size_t</a:t>
            </a:r>
            <a:r>
              <a:rPr sz="2000" b="0">
                <a:solidFill>
                  <a:srgbClr val="1F2D3A"/>
                </a:solidFill>
              </a:rPr>
              <a:t> işaretsiz · negatifler </a:t>
            </a:r>
            <a:r>
              <a:rPr sz="2000" b="1">
                <a:solidFill>
                  <a:srgbClr val="1F2D3A"/>
                </a:solidFill>
              </a:rPr>
              <a:t>ikiye tümleyen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   -1  =  0xFFFFFFFFFFFFFFFF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size_t     =  18 446 744 073 709 551 615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37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(uzunluk &gt; 16) return -1;   /* -1 bu denetimi GEÇER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memcpy(hedef, kaynak, uzunluk); /* int -&gt; size_t */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4 — İşaretli uzunluk (CWE-195)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0  GCC -Wall -Wextra: sessiz · -Wsign-conversion: uyarı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MSVC (C): sessiz · aynı kod C++ olarak: C4365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1  kopya 8     -&gt; Kopyalandi: ORNEK-KA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2  kopya 100   -&gt; Reddedildi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3  kopya -1    -&gt; Linux: SIGSEGV (139) · Windows: 0xC0000409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4  ASan        -&gt; negative-size-param: (size=-1)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ADIM 5  kopya_guvenli -1 / 12abc -&gt; Reddedildi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Kural:</a:t>
            </a:r>
            <a:r>
              <a:rPr sz="2000" b="0">
                <a:solidFill>
                  <a:srgbClr val="1F2D3A"/>
                </a:solidFill>
              </a:rPr>
              <a:t> boyutlar </a:t>
            </a:r>
            <a:r>
              <a:rPr sz="2000" b="0">
                <a:solidFill>
                  <a:srgbClr val="A1123F"/>
                </a:solidFill>
                <a:latin typeface="Consolas"/>
              </a:rPr>
              <a:t>size_t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1">
                <a:solidFill>
                  <a:srgbClr val="1F2D3A"/>
                </a:solidFill>
              </a:rPr>
              <a:t>alt ve üst</a:t>
            </a:r>
            <a:r>
              <a:rPr sz="2000" b="0">
                <a:solidFill>
                  <a:srgbClr val="1F2D3A"/>
                </a:solidFill>
              </a:rPr>
              <a:t> sınır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strtol</a:t>
            </a:r>
            <a:r>
              <a:rPr sz="2000" b="0">
                <a:solidFill>
                  <a:srgbClr val="1F2D3A"/>
                </a:solidFill>
              </a:rPr>
              <a:t> · uyarıları </a:t>
            </a:r>
            <a:r>
              <a:rPr sz="2000" b="1">
                <a:solidFill>
                  <a:srgbClr val="1F2D3A"/>
                </a:solidFill>
              </a:rPr>
              <a:t>aç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İşaretli uzunluk hatası — şema</a:t>
            </a:r>
          </a:p>
        </p:txBody>
      </p:sp>
      <p:pic>
        <p:nvPicPr>
          <p:cNvPr id="7" name="Picture 6" descr="h01-22-isaretli-donus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290947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Bellek yönetimi, bölümleme ve güvenli süreç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Dinamik belleğin yaşam döngüsü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Ayır → doğrula → kullan → sırrı sil → bir kez serbest bırak → işaretçiyi unut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911533" cy="304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255"/>
                <a:gridCol w="7128869"/>
                <a:gridCol w="1018409"/>
              </a:tblGrid>
              <a:tr h="43499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Unutulursa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CWE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Doğrula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NULL döner, denetlenmez → çökme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476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Kullan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Sınır dışı yazma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787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Sırrı sil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Blok bir sonraki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'la başka koda gider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 kez bırak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Çift serbest bırakma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415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99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İşaretçiyi unut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Serbest bırakıldıktan sonra kullanma (UAF)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99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Hiç bırakmamak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Sızıntı → hizmet engelleme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401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Belleğin dört ömrü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39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637"/>
                <a:gridCol w="2888347"/>
                <a:gridCol w="2406956"/>
                <a:gridCol w="4011593"/>
              </a:tblGrid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Ömür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Nasıl oluşur?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zaman biter?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Tipik 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Statik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Genel değişken,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static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yerel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Program bitince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Aynı anda birden fazla iş parçacığının yazması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Otomatik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Fonksiyon içi yerel değişken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Fonksiyon dönünce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Yerel değişkenin adresini döndürmek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Dinamik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calloc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free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delete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çağrılınca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Sızıntı, çift serbest bırakma, UAF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951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İş parçacığı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_Thread_local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thread_local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 parçacığı bitince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316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Bu haftanın taşma ve UAF örnekleri hep </a:t>
            </a:r>
            <a:r>
              <a:rPr sz="1800" b="1">
                <a:solidFill>
                  <a:srgbClr val="1F2D3A"/>
                </a:solidFill>
              </a:rPr>
              <a:t>dinamik</a:t>
            </a:r>
            <a:r>
              <a:rPr sz="1800" b="0">
                <a:solidFill>
                  <a:srgbClr val="1F2D3A"/>
                </a:solidFill>
              </a:rPr>
              <a:t> ömürle ilgili; sırf onu bilmek yetmez.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Belleğin ömrü ve CWE'ler — şema</a:t>
            </a:r>
          </a:p>
        </p:txBody>
      </p:sp>
      <p:pic>
        <p:nvPicPr>
          <p:cNvPr id="7" name="Picture 6" descr="h01-09-bellek-om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UAF: neden bu kadar tehlikeli?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Kullanici *aktif = malloc(sizeof *aktif);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Kullanici *onbellek = aktif;              /* ikinci sahip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free(aktif);  aktif = NULL;               /* onbellek hâlâ eski adreste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char *not = malloc(sizeof(Kullanici));    /* aynı blok geri verilebilir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strcpy(not, "....");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(onbellek-&gt;yetki) { ... }              /* 'not'un baytlarını okuyor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free</a:t>
            </a:r>
            <a:r>
              <a:rPr sz="1800" b="0">
                <a:solidFill>
                  <a:srgbClr val="1F2D3A"/>
                </a:solidFill>
              </a:rPr>
              <a:t> belleği OS'e vermez, </a:t>
            </a:r>
            <a:r>
              <a:rPr sz="1800" b="1">
                <a:solidFill>
                  <a:srgbClr val="1F2D3A"/>
                </a:solidFill>
              </a:rPr>
              <a:t>boş listeye</a:t>
            </a:r>
            <a:r>
              <a:rPr sz="1800" b="0">
                <a:solidFill>
                  <a:srgbClr val="1F2D3A"/>
                </a:solidFill>
              </a:rPr>
              <a:t> koyar → aynı blok yeniden verilir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✅ </a:t>
            </a:r>
            <a:r>
              <a:rPr sz="1800" b="1">
                <a:solidFill>
                  <a:srgbClr val="1F2D3A"/>
                </a:solidFill>
              </a:rPr>
              <a:t>Sahiplik kuralı:</a:t>
            </a:r>
            <a:r>
              <a:rPr sz="1800" b="0">
                <a:solidFill>
                  <a:srgbClr val="1F2D3A"/>
                </a:solidFill>
              </a:rPr>
              <a:t> her bloğun </a:t>
            </a:r>
            <a:r>
              <a:rPr sz="1800" b="1">
                <a:solidFill>
                  <a:srgbClr val="1F2D3A"/>
                </a:solidFill>
              </a:rPr>
              <a:t>tek sahibi</a:t>
            </a:r>
            <a:r>
              <a:rPr sz="1800" b="0">
                <a:solidFill>
                  <a:srgbClr val="1F2D3A"/>
                </a:solidFill>
              </a:rPr>
              <a:t> var, yalnız o serbest bırakır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Düzeltilmiş kalıplar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Kayit *k = calloc(n, sizeof(Kayit));          /* çarpım taşmasını denetler + sıfırlar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(k == NULL) return HATA_BELLEK;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Kayit *yeni = reallocarray(k, n2, sizeof(Kayit));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if (yeni == NULL) { free(k); return HATA_BELLEK; }   /* k'yi kaybetme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 = yeni;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❌ </a:t>
            </a:r>
            <a:r>
              <a:rPr sz="1800" b="0">
                <a:solidFill>
                  <a:srgbClr val="A1123F"/>
                </a:solidFill>
                <a:latin typeface="Consolas"/>
              </a:rPr>
              <a:t>tampon = realloc(tampon, n);</a:t>
            </a:r>
            <a:r>
              <a:rPr sz="1800" b="0">
                <a:solidFill>
                  <a:srgbClr val="1F2D3A"/>
                </a:solidFill>
              </a:rPr>
              <a:t> → başarısızsa eski blok kaybolur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703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❌ Sır tutan tamponda </a:t>
            </a:r>
            <a:r>
              <a:rPr sz="1800" b="0">
                <a:solidFill>
                  <a:srgbClr val="A1123F"/>
                </a:solidFill>
                <a:latin typeface="Consolas"/>
              </a:rPr>
              <a:t>realloc</a:t>
            </a:r>
            <a:r>
              <a:rPr sz="1800" b="0">
                <a:solidFill>
                  <a:srgbClr val="1F2D3A"/>
                </a:solidFill>
              </a:rPr>
              <a:t> → taşınan eski blok </a:t>
            </a:r>
            <a:r>
              <a:rPr sz="1800" b="1">
                <a:solidFill>
                  <a:srgbClr val="1F2D3A"/>
                </a:solidFill>
              </a:rPr>
              <a:t>sıfırlanmaz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Sırları silmek (Tarif 13.2)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8203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6546920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Fonksiyon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Linux, BSD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explicit_bzero(p, 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SecureZeroMemory(p, 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C11 Ek K / C23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memset_s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memset_explicit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Hiçbiri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volatile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işaretçiyle bayt bayt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Sırrın </a:t>
            </a:r>
            <a:r>
              <a:rPr sz="1800" b="1">
                <a:solidFill>
                  <a:srgbClr val="1F2D3A"/>
                </a:solidFill>
              </a:rPr>
              <a:t>gizli kopyaları:</a:t>
            </a:r>
            <a:r>
              <a:rPr sz="1800" b="0">
                <a:solidFill>
                  <a:srgbClr val="1F2D3A"/>
                </a:solidFill>
              </a:rPr>
              <a:t> değerle geçirilen yapılar · </a:t>
            </a:r>
            <a:r>
              <a:rPr sz="1800" b="0">
                <a:solidFill>
                  <a:srgbClr val="A1123F"/>
                </a:solidFill>
                <a:latin typeface="Consolas"/>
              </a:rPr>
              <a:t>realloc</a:t>
            </a:r>
            <a:r>
              <a:rPr sz="1800" b="0">
                <a:solidFill>
                  <a:srgbClr val="1F2D3A"/>
                </a:solidFill>
              </a:rPr>
              <a:t>'un eski bloğu · </a:t>
            </a:r>
            <a:r>
              <a:rPr sz="1800" b="0">
                <a:solidFill>
                  <a:srgbClr val="A1123F"/>
                </a:solidFill>
                <a:latin typeface="Consolas"/>
              </a:rPr>
              <a:t>std::string</a:t>
            </a:r>
            <a:r>
              <a:rPr sz="1800" b="0">
                <a:solidFill>
                  <a:srgbClr val="1F2D3A"/>
                </a:solidFill>
              </a:rPr>
              <a:t> (SSO, silmeden yok olur) · G/Ç tamponları · takas ve hazırda bekletme dosyası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Diske düşmesin (Tarif 13.3) ve RAII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mlock(anahtar, sizeof anahtar);          /* Windows: VirtualLock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/* ... kullan ...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cen429_sil(anahtar, sizeof anahtar);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munlock(anahtar, sizeof anahtar);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90241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class GizliAnahtar {                     /* yıkıcı otomatik siler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~GizliAnahtar() { cen429_sil(v_.data(), v_.size()); }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GizliAnahtar(const GizliAnahtar&amp;) = delete;   /* kopya = ikinci sır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5460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Kilitleme </a:t>
            </a:r>
            <a:r>
              <a:rPr sz="1800" b="1">
                <a:solidFill>
                  <a:srgbClr val="1F2D3A"/>
                </a:solidFill>
              </a:rPr>
              <a:t>sayfa</a:t>
            </a:r>
            <a:r>
              <a:rPr sz="1800" b="0">
                <a:solidFill>
                  <a:srgbClr val="1F2D3A"/>
                </a:solidFill>
              </a:rPr>
              <a:t> düzeyinde, miktar sınırlı → yalnız küçük anahtar bölgesi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Bellek hatası avcıları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7"/>
                <a:gridCol w="2995323"/>
                <a:gridCol w="5027864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Bulduğu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Kullanım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AddressSanitizer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Taşma, UAF, çift bırakma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-fsanitize=address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LeakSanitizer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Sızıntı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ASan ile (Linux)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MemorySanitizer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İlklendirilmemiş okuma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Clang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Valgrind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Hepsi (yavaş)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valgrind --leak-check=full ./prog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CRT hata ayıklama öbeği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Sızıntı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MSVC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_CrtSetDbgFlag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Değerlendirici:</a:t>
            </a:r>
            <a:r>
              <a:rPr sz="1800" b="0">
                <a:solidFill>
                  <a:srgbClr val="1F2D3A"/>
                </a:solidFill>
              </a:rPr>
              <a:t> işlem bittikten sonra döküm alır, test parolasını arar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Korunan kod bölümleme: TCB'yi küçült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234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1">
                <a:solidFill>
                  <a:srgbClr val="1F2D3A"/>
                </a:solidFill>
              </a:rPr>
              <a:t>Güvenilir hesaplama tabanı (TCB):</a:t>
            </a:r>
            <a:r>
              <a:rPr sz="1900" b="0">
                <a:solidFill>
                  <a:srgbClr val="1F2D3A"/>
                </a:solidFill>
              </a:rPr>
              <a:t> "hatalıysa güvenlik çöker" dediğimiz kodun tamamı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59026"/>
            <a:ext cx="10911535" cy="8102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006D77"/>
                </a:solidFill>
              </a:rPr>
              <a:t>• </a:t>
            </a:r>
            <a:r>
              <a:rPr sz="1900" b="0">
                <a:solidFill>
                  <a:srgbClr val="1F2D3A"/>
                </a:solidFill>
              </a:rPr>
              <a:t>200.000 satırlık uygulama, 2.000 satırlık </a:t>
            </a:r>
            <a:r>
              <a:rPr sz="1900" b="1">
                <a:solidFill>
                  <a:srgbClr val="1F2D3A"/>
                </a:solidFill>
              </a:rPr>
              <a:t>korunan çekirdek</a:t>
            </a:r>
          </a:p>
          <a:p>
            <a:pPr>
              <a:spcAft>
                <a:spcPts val="300"/>
              </a:spcAft>
            </a:pPr>
            <a:r>
              <a:rPr sz="1900" b="1">
                <a:solidFill>
                  <a:srgbClr val="006D77"/>
                </a:solidFill>
              </a:rPr>
              <a:t>• </a:t>
            </a:r>
            <a:r>
              <a:rPr sz="1900" b="0">
                <a:solidFill>
                  <a:srgbClr val="1F2D3A"/>
                </a:solidFill>
              </a:rPr>
              <a:t>İnceleme, gizleme, bütünlük denetimi yalnız çekirdeğe → maliyet de yalnız orada</a:t>
            </a:r>
          </a:p>
        </p:txBody>
      </p:sp>
      <p:pic>
        <p:nvPicPr>
          <p:cNvPr id="9" name="Picture 8" descr="h01-10-boluml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2779014"/>
            <a:ext cx="7672173" cy="3290947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Bölümleme seçenekleri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945"/>
                <a:gridCol w="1620525"/>
                <a:gridCol w="6374065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Seçenek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Yalıtım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Örnek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Aynı süreçte ayrı modül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Düşük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Java uygulamasında native kütüphane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Ayrı süreç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Tarayıcı kum havuzu, yetkili yardımcı süreç (Tarif 1.4)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OS hizmeti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Orta–yüksek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DPAPI, Anahtarlık, Android Keystore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Donanım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Yüksek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eleman, TPM, TEE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Sunucuya taşıma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 yüksek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Sır hiç istemciye gitmez, HSM'de kalır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72892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En güçlüsü </a:t>
            </a:r>
            <a:r>
              <a:rPr sz="1800" b="1">
                <a:solidFill>
                  <a:srgbClr val="1F2D3A"/>
                </a:solidFill>
              </a:rPr>
              <a:t>sırrı istemciden kaldırmak</a:t>
            </a:r>
            <a:r>
              <a:rPr sz="1800" b="0">
                <a:solidFill>
                  <a:srgbClr val="1F2D3A"/>
                </a:solidFill>
              </a:rPr>
              <a:t>; olmazsa donanım; o da yoksa </a:t>
            </a:r>
            <a:r>
              <a:rPr sz="1800" b="1">
                <a:solidFill>
                  <a:srgbClr val="1F2D3A"/>
                </a:solidFill>
              </a:rPr>
              <a:t>yazılım koruması</a:t>
            </a:r>
            <a:r>
              <a:rPr sz="1800" b="0">
                <a:solidFill>
                  <a:srgbClr val="1F2D3A"/>
                </a:solidFill>
              </a:rPr>
              <a:t> (bu dersin konusu)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Arayüz: dar, doğrulanmış, sırsız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typedef struct KasaAnahtari KasaAnahtari;     /* opak tür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int  kasa_ac(const char *parola, size_t n, const unsigned char tuz[16],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     KasaAnahtari **cikti);           /* parolayı siler */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int  kasa_coz(KasaAnahtari *a, const unsigned char *sifreli, size_t n,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      unsigned char *acik, size_t kapasite, size_t *yazilan);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void kasa_kapat(KasaAnahtari *a);             /* anahtarı siler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Sırrı dışarı verme, iş yaptır</a:t>
            </a:r>
            <a:r>
              <a:rPr sz="1800" b="0">
                <a:solidFill>
                  <a:srgbClr val="1F2D3A"/>
                </a:solidFill>
              </a:rPr>
              <a:t> (tutamaç)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Sınırı geçen her şeyi </a:t>
            </a:r>
            <a:r>
              <a:rPr sz="1800" b="1">
                <a:solidFill>
                  <a:srgbClr val="1F2D3A"/>
                </a:solidFill>
              </a:rPr>
              <a:t>doğrula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Sınırdan </a:t>
            </a:r>
            <a:r>
              <a:rPr sz="1800" b="1">
                <a:solidFill>
                  <a:srgbClr val="1F2D3A"/>
                </a:solidFill>
              </a:rPr>
              <a:t>açık veri</a:t>
            </a:r>
            <a:r>
              <a:rPr sz="1800" b="0">
                <a:solidFill>
                  <a:srgbClr val="1F2D3A"/>
                </a:solidFill>
              </a:rPr>
              <a:t> geçirme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Kâhin ve kod kaldırma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Şifre çözme kâhini:</a:t>
            </a:r>
            <a:r>
              <a:rPr sz="1800" b="0">
                <a:solidFill>
                  <a:srgbClr val="1F2D3A"/>
                </a:solidFill>
              </a:rPr>
              <a:t> saldırgan </a:t>
            </a:r>
            <a:r>
              <a:rPr sz="1800" b="0">
                <a:solidFill>
                  <a:srgbClr val="A1123F"/>
                </a:solidFill>
                <a:latin typeface="Consolas"/>
              </a:rPr>
              <a:t>kasa_coz</a:t>
            </a:r>
            <a:r>
              <a:rPr sz="1800" b="0">
                <a:solidFill>
                  <a:srgbClr val="1F2D3A"/>
                </a:solidFill>
              </a:rPr>
              <a:t>'u kendi verisiyle çağırır — anahtara gerek yok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Kod kaldırma:</a:t>
            </a:r>
            <a:r>
              <a:rPr sz="1800" b="0">
                <a:solidFill>
                  <a:srgbClr val="1F2D3A"/>
                </a:solidFill>
              </a:rPr>
              <a:t> korunan fonksiyonu olduğu gibi kopyalayıp kara kutu gibi çalıştırır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12848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7830"/>
                <a:gridCol w="6943704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Fikir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Cihaza/örneğe bağlama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Başka ortamda doğru sonuç çıkmaz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Sürüme bağlama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Eski/değiştirilmiş sürümde anahtar çözülmez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Bağlam denetimi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Çağıranın bütünlüğü ve akış sırası doğrulanır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Ortak statik anahtar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 kopyanın kırılması diğerlerini etkilemez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Şifreleme ile güvenli işleme: açıklık penceresi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144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Kötü: [aç] ██████████████████████████████████ [kapat]   anahtar hep açık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İyi:  [aç] ░░░░░██░░░░░░░░██░░░░░░░░░░░██░░░░ [kapat]   yalnız işlem anında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0084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Tam zamanında çözme</a:t>
            </a:r>
            <a:r>
              <a:rPr sz="1800" b="0">
                <a:solidFill>
                  <a:srgbClr val="1F2D3A"/>
                </a:solidFill>
              </a:rPr>
              <a:t> → fonksiyon dönmeden sil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Örtme:</a:t>
            </a:r>
            <a:r>
              <a:rPr sz="1800" b="0">
                <a:solidFill>
                  <a:srgbClr val="1F2D3A"/>
                </a:solidFill>
              </a:rPr>
              <a:t> anahtar XOR rastgele maske — bellekte iki anlamsız parça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Parçalama:</a:t>
            </a:r>
            <a:r>
              <a:rPr sz="1800" b="0">
                <a:solidFill>
                  <a:srgbClr val="1F2D3A"/>
                </a:solidFill>
              </a:rPr>
              <a:t> farklı yerlerde, kullanımda birleştir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Kod şifreleme:</a:t>
            </a:r>
            <a:r>
              <a:rPr sz="1800" b="0">
                <a:solidFill>
                  <a:srgbClr val="1F2D3A"/>
                </a:solidFill>
              </a:rPr>
              <a:t> fonksiyon kodu çalışma anında çözülür (4, 9. hafta)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Whitebox:</a:t>
            </a:r>
            <a:r>
              <a:rPr sz="1800" b="0">
                <a:solidFill>
                  <a:srgbClr val="1F2D3A"/>
                </a:solidFill>
              </a:rPr>
              <a:t> anahtar hiç açılmaz (11. hafta)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Bellekte örtme — kod örneği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maske[32];    /* açılışta rastgele üretilir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ortulu[32];   /* anahtar XOR maske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OrtuluAnahtar;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anahtari_ac(const OrtuluAnahtar *o, uint8_t gecici[32])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(size_t i = 0; i &lt; 32;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gecici[i] = o-&gt;ortulu[i] ^ o-&gt;maske[i];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9968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Bellekte </a:t>
            </a:r>
            <a:r>
              <a:rPr sz="2000" b="1">
                <a:solidFill>
                  <a:srgbClr val="1F2D3A"/>
                </a:solidFill>
              </a:rPr>
              <a:t>anahtarın kendisi değil</a:t>
            </a:r>
            <a:r>
              <a:rPr sz="2000" b="0">
                <a:solidFill>
                  <a:srgbClr val="1F2D3A"/>
                </a:solidFill>
              </a:rPr>
              <a:t>, iki anlamsız parça durur; birleştirme yalnız kullanım anında.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Açıklık penceresi — şema</a:t>
            </a:r>
          </a:p>
        </p:txBody>
      </p:sp>
      <p:pic>
        <p:nvPicPr>
          <p:cNvPr id="7" name="Picture 6" descr="h01-16-aciklik-pencer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Güvenli geliştirme yaşam döngüsü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61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0678"/>
                <a:gridCol w="7445518"/>
                <a:gridCol w="1155339"/>
              </a:tblGrid>
              <a:tr h="37385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Aşama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Etkinlik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Standartlardan güvenlik gereksinimi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Tasarım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Tehdit modeli, koruma planı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1–2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Gerçekleştirme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Kodlama kuralları, yasaklı fonksiyonlar, statik analiz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Sanitizer, fuzzing, sızma testi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4, 12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Yayın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İmzalı derleme,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benzersiz sürüm kimliği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1, 10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Yanıt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Zafiyet bildirimi, acil güncelleme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5262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Microsoft SDL · NIST SSDF (SP 800-218)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Benzersiz sürüm kimliği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İncelenen ile dağıtılan aynı mı?</a:t>
            </a:r>
            <a:r>
              <a:rPr sz="1800" b="0">
                <a:solidFill>
                  <a:srgbClr val="1F2D3A"/>
                </a:solidFill>
              </a:rPr>
              <a:t> → </a:t>
            </a:r>
            <a:r>
              <a:rPr sz="1800" b="0">
                <a:solidFill>
                  <a:srgbClr val="A1123F"/>
                </a:solidFill>
                <a:latin typeface="Consolas"/>
              </a:rPr>
              <a:t>1.4.2</a:t>
            </a:r>
            <a:r>
              <a:rPr sz="1800" b="0">
                <a:solidFill>
                  <a:srgbClr val="1F2D3A"/>
                </a:solidFill>
              </a:rPr>
              <a:t> + git kimliği + ikili dosyanın SHA-256'sı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execute_process(COMMAND git rev-parse --short=12 HEAD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            OUTPUT_VARIABLE GIT_KIMLIK OUTPUT_STRIP_TRAILING_WHITESPACE)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target_compile_definitions(kasa PRIVATE SURUM="1.4.2" GIT_KIMLIK="${GIT_KIMLIK}")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3679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Get-FileHash .kasa.exe -Algorithm SHA256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0">
                <a:solidFill>
                  <a:srgbClr val="A1123F"/>
                </a:solidFill>
                <a:latin typeface="Consolas"/>
              </a:rPr>
              <a:t>sha256sum ./kasa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5343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Sahada sürüm, </a:t>
            </a:r>
            <a:r>
              <a:rPr sz="1800" b="1">
                <a:solidFill>
                  <a:srgbClr val="1F2D3A"/>
                </a:solidFill>
              </a:rPr>
              <a:t>anahtar türetmeye</a:t>
            </a:r>
            <a:r>
              <a:rPr sz="1800" b="0">
                <a:solidFill>
                  <a:srgbClr val="1F2D3A"/>
                </a:solidFill>
              </a:rPr>
              <a:t> de katılır → sürüm geri alma saldırısı çalışmaz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Değişiklik yönetimi: yedi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Temel çizgi → 2. Değişiklik talebi → 3. Sınıflandırma → 4. Onay ve planlama → 5. Geliştirme ve test → 6. Yayın → 7. Doğrulama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3 ile 4 arasında </a:t>
            </a:r>
            <a:r>
              <a:rPr sz="2000" b="1">
                <a:solidFill>
                  <a:srgbClr val="1F2D3A"/>
                </a:solidFill>
              </a:rPr>
              <a:t>güvenlik etki analizi:</a:t>
            </a:r>
            <a:r>
              <a:rPr sz="2000" b="0">
                <a:solidFill>
                  <a:srgbClr val="1F2D3A"/>
                </a:solidFill>
              </a:rPr>
              <a:t> hangi varlık, arayüz, tehdit, önlem?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değişen kısmın incelenmesi = </a:t>
            </a:r>
            <a:r>
              <a:rPr sz="2000" b="1">
                <a:solidFill>
                  <a:srgbClr val="1F2D3A"/>
                </a:solidFill>
              </a:rPr>
              <a:t>delta değerlendirme</a:t>
            </a:r>
            <a:r>
              <a:rPr sz="2000" b="0">
                <a:solidFill>
                  <a:srgbClr val="1F2D3A"/>
                </a:solidFill>
              </a:rPr>
              <a:t> (13. hafta)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Depo: korumalı dallar · en az bir gözden geçiren · imzalı etiket · MFA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Değişiklik yönetimi — şema</a:t>
            </a:r>
          </a:p>
        </p:txBody>
      </p:sp>
      <p:pic>
        <p:nvPicPr>
          <p:cNvPr id="7" name="Picture 6" descr="h01-11-degisiklik-yoneti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Ödünleşim kaydı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397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33"/>
                <a:gridCol w="3209275"/>
                <a:gridCol w="3209275"/>
                <a:gridCol w="2282151"/>
              </a:tblGrid>
              <a:tr h="47951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Karar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Seçilen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Gerekçe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Kalan risk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Sürümde günlükleme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Derleme makrosuyla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tamamen kaldırıldı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Susturulmuş kod dizge olarak kalır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Sahada tanı zor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 kodları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başarılı/başarısız (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opak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Ayrıntı saldırgana ipucu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Ayrı tanı kanalı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7951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Native "debuggable" bayrağı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Açık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(gerekçeli istisna)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Bütünlük denetimi kendi belleğini okumalı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Debugger algılama ile telafi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95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Parola türetme süresi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250 ms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Bekleme ↔ kaba kuvvet dengesi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Çok zayıf parola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316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Yazılmamış ödünleşim = değerlendiricinin gözünde </a:t>
            </a:r>
            <a:r>
              <a:rPr sz="1800" b="1">
                <a:solidFill>
                  <a:srgbClr val="1F2D3A"/>
                </a:solidFill>
              </a:rPr>
              <a:t>hata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Bu haftanın araç kutusu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050"/>
                <a:gridCol w="3997295"/>
                <a:gridCol w="3673190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İş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Linux / GCC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Windows / MSVC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Şüpheli kod uyarıları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-Wall -Wextra -Wsign-conversion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/W4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Kütüphanede boyut denetimi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-D_FORTIFY_SOURCE=2 -O2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strcpy_s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gibi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_s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işlevleri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 hatasını yakalama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/fsanitize=address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Bellek dökümü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gdb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gcore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MiniDumpWriteDump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Makine kodu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objdump -d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VS Ayrıştırılmış Kod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Kaldırılamayan silme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explicit_bzero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SecureZeroMemory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Güvenle program çalıştırma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posix_spawn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mutlak yol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CreateProcessW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tam yol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Haftanın araç kutusu — şema</a:t>
            </a:r>
          </a:p>
        </p:txBody>
      </p:sp>
      <p:pic>
        <p:nvPicPr>
          <p:cNvPr id="7" name="Picture 6" descr="h01-23-arac-kut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61078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Proje ve kapanış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Proje: bu hafta yapılacaklar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Takım</a:t>
            </a:r>
            <a:r>
              <a:rPr sz="2000" b="0">
                <a:solidFill>
                  <a:srgbClr val="1F2D3A"/>
                </a:solidFill>
              </a:rPr>
              <a:t> (bireysel ya da en çok 4 kişi) ve </a:t>
            </a:r>
            <a:r>
              <a:rPr sz="2000" b="1">
                <a:solidFill>
                  <a:srgbClr val="1F2D3A"/>
                </a:solidFill>
              </a:rPr>
              <a:t>konu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GitHub deposu + </a:t>
            </a:r>
            <a:r>
              <a:rPr sz="2000" b="1">
                <a:solidFill>
                  <a:srgbClr val="1F2D3A"/>
                </a:solidFill>
              </a:rPr>
              <a:t>proje planı</a:t>
            </a:r>
            <a:r>
              <a:rPr sz="2000" b="0">
                <a:solidFill>
                  <a:srgbClr val="1F2D3A"/>
                </a:solidFill>
              </a:rPr>
              <a:t> (iş paketleri, takvim) → onaylat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Güvenlik kılavuzu taslağı: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S0</a:t>
            </a:r>
            <a:r>
              <a:rPr sz="2000" b="0">
                <a:solidFill>
                  <a:srgbClr val="1F2D3A"/>
                </a:solidFill>
              </a:rPr>
              <a:t> kapak ve sürüm geçmişi · </a:t>
            </a:r>
            <a:r>
              <a:rPr sz="2000" b="1">
                <a:solidFill>
                  <a:srgbClr val="1F2D3A"/>
                </a:solidFill>
              </a:rPr>
              <a:t>S2</a:t>
            </a:r>
            <a:r>
              <a:rPr sz="2000" b="0">
                <a:solidFill>
                  <a:srgbClr val="1F2D3A"/>
                </a:solidFill>
              </a:rPr>
              <a:t> ürün genel bakışı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S3</a:t>
            </a:r>
            <a:r>
              <a:rPr sz="2000" b="0">
                <a:solidFill>
                  <a:srgbClr val="1F2D3A"/>
                </a:solidFill>
              </a:rPr>
              <a:t> mimari ve </a:t>
            </a:r>
            <a:r>
              <a:rPr sz="2000" b="1">
                <a:solidFill>
                  <a:srgbClr val="1F2D3A"/>
                </a:solidFill>
              </a:rPr>
              <a:t>arayüz tablosu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S4</a:t>
            </a:r>
            <a:r>
              <a:rPr sz="2000" b="0">
                <a:solidFill>
                  <a:srgbClr val="1F2D3A"/>
                </a:solidFill>
              </a:rPr>
              <a:t> saldırgan modeli · </a:t>
            </a:r>
            <a:r>
              <a:rPr sz="2000" b="1">
                <a:solidFill>
                  <a:srgbClr val="1F2D3A"/>
                </a:solidFill>
              </a:rPr>
              <a:t>STRIDE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1">
                <a:solidFill>
                  <a:srgbClr val="1F2D3A"/>
                </a:solidFill>
              </a:rPr>
              <a:t>saldırı ağacı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 başına çalış (not verilmez)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PATH tuzağı: </a:t>
            </a:r>
            <a:r>
              <a:rPr sz="2000" b="0">
                <a:solidFill>
                  <a:srgbClr val="A1123F"/>
                </a:solidFill>
                <a:latin typeface="Consolas"/>
              </a:rPr>
              <a:t>ls</a:t>
            </a:r>
            <a:r>
              <a:rPr sz="2000" b="0">
                <a:solidFill>
                  <a:srgbClr val="1F2D3A"/>
                </a:solidFill>
              </a:rPr>
              <a:t> (Linux) / </a:t>
            </a:r>
            <a:r>
              <a:rPr sz="2000" b="0">
                <a:solidFill>
                  <a:srgbClr val="A1123F"/>
                </a:solidFill>
                <a:latin typeface="Consolas"/>
              </a:rPr>
              <a:t>whoami</a:t>
            </a:r>
            <a:r>
              <a:rPr sz="2000" b="0">
                <a:solidFill>
                  <a:srgbClr val="1F2D3A"/>
                </a:solidFill>
              </a:rPr>
              <a:t> (Windows) ile tekrarla, tam yolla düzelt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Demo 2'de </a:t>
            </a:r>
            <a:r>
              <a:rPr sz="2000" b="0">
                <a:solidFill>
                  <a:srgbClr val="A1123F"/>
                </a:solidFill>
                <a:latin typeface="Consolas"/>
              </a:rPr>
              <a:t>MOD optimize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MOD korumasiz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</a:t>
            </a:r>
            <a:r>
              <a:rPr sz="2000" b="0">
                <a:solidFill>
                  <a:srgbClr val="1F2D3A"/>
                </a:solidFill>
              </a:rPr>
              <a:t> şimdi çalışıyor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Demo 3'te 16, 17, 18, 19, 20 karakter: </a:t>
            </a:r>
            <a:r>
              <a:rPr sz="2000" b="0">
                <a:solidFill>
                  <a:srgbClr val="A1123F"/>
                </a:solidFill>
                <a:latin typeface="Consolas"/>
              </a:rPr>
              <a:t>yonetici</a:t>
            </a:r>
            <a:r>
              <a:rPr sz="2000" b="0">
                <a:solidFill>
                  <a:srgbClr val="1F2D3A"/>
                </a:solidFill>
              </a:rPr>
              <a:t> değerleri tablosu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oturum</a:t>
            </a:r>
            <a:r>
              <a:rPr sz="2000" b="0">
                <a:solidFill>
                  <a:srgbClr val="1F2D3A"/>
                </a:solidFill>
              </a:rPr>
              <a:t>'a </a:t>
            </a:r>
            <a:r>
              <a:rPr sz="2000" b="0">
                <a:solidFill>
                  <a:srgbClr val="A1123F"/>
                </a:solidFill>
                <a:latin typeface="Consolas"/>
              </a:rPr>
              <a:t>bakiye</a:t>
            </a:r>
            <a:r>
              <a:rPr sz="2000" b="0">
                <a:solidFill>
                  <a:srgbClr val="1F2D3A"/>
                </a:solidFill>
              </a:rPr>
              <a:t> ekle: taşmayla 1000'in üstüne çıkar, sonra engelle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Kendi projenin STRIDE tablosu (≥ 8 tehdit + önlem)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Heartbleed raporunu oku: hangi denetim eksikti? Hangi CWE?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825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Ayrıntı ve ipuçları: ders sitesi → Hafta 1 → "Kendi başına çalış"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8506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Varlık, tehdit, zafiyet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Alıcı IBAN'ın yolda değişmesi CIA'nın hangisi?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Beyaz kutu saldırganı neyi farklı yapar?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STRIDE "E" hangi demo?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VE / VEYA düğümü — savunma için hangisi iyi?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system("date")</a:t>
            </a:r>
            <a:r>
              <a:rPr sz="2000" b="0">
                <a:solidFill>
                  <a:srgbClr val="1F2D3A"/>
                </a:solidFill>
              </a:rPr>
              <a:t> neden tehlikeli? Üç düzeltme?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7.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</a:t>
            </a:r>
            <a:r>
              <a:rPr sz="2000" b="0">
                <a:solidFill>
                  <a:srgbClr val="1F2D3A"/>
                </a:solidFill>
              </a:rPr>
              <a:t> neden kayboldu?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8. </a:t>
            </a:r>
            <a:r>
              <a:rPr sz="2000" b="0">
                <a:solidFill>
                  <a:srgbClr val="1F2D3A"/>
                </a:solidFill>
              </a:rPr>
              <a:t>ASan 17 karakteri neden yakalamadı?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9. </a:t>
            </a:r>
            <a:r>
              <a:rPr sz="2000" b="0">
                <a:solidFill>
                  <a:srgbClr val="A1123F"/>
                </a:solidFill>
                <a:latin typeface="Consolas"/>
              </a:rPr>
              <a:t>-1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memcpy</a:t>
            </a:r>
            <a:r>
              <a:rPr sz="2000" b="0">
                <a:solidFill>
                  <a:srgbClr val="1F2D3A"/>
                </a:solidFill>
              </a:rPr>
              <a:t>'ye gidince ne olur?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10. </a:t>
            </a:r>
            <a:r>
              <a:rPr sz="2000" b="0">
                <a:solidFill>
                  <a:srgbClr val="1F2D3A"/>
                </a:solidFill>
              </a:rPr>
              <a:t>Derinlemesine savunma — mobil ödeme mimarisinden örnek?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— cevaplar (1–10)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58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006D77"/>
                </a:solidFill>
              </a:rPr>
              <a:t>1. </a:t>
            </a:r>
            <a:r>
              <a:rPr sz="1700" b="1">
                <a:solidFill>
                  <a:srgbClr val="1F2D3A"/>
                </a:solidFill>
              </a:rPr>
              <a:t>Varlık</a:t>
            </a:r>
            <a:r>
              <a:rPr sz="1700" b="0">
                <a:solidFill>
                  <a:srgbClr val="1F2D3A"/>
                </a:solidFill>
              </a:rPr>
              <a:t> korunacak değerli şey; </a:t>
            </a:r>
            <a:r>
              <a:rPr sz="1700" b="1">
                <a:solidFill>
                  <a:srgbClr val="1F2D3A"/>
                </a:solidFill>
              </a:rPr>
              <a:t>tehdit</a:t>
            </a:r>
            <a:r>
              <a:rPr sz="1700" b="0">
                <a:solidFill>
                  <a:srgbClr val="1F2D3A"/>
                </a:solidFill>
              </a:rPr>
              <a:t> zarar verebilecek olası olay/aktör; </a:t>
            </a:r>
            <a:r>
              <a:rPr sz="1700" b="1">
                <a:solidFill>
                  <a:srgbClr val="1F2D3A"/>
                </a:solidFill>
              </a:rPr>
              <a:t>zafiyet</a:t>
            </a:r>
            <a:r>
              <a:rPr sz="1700" b="0">
                <a:solidFill>
                  <a:srgbClr val="1F2D3A"/>
                </a:solidFill>
              </a:rPr>
              <a:t> tehdidin kullanabileceği kusur.</a:t>
            </a:r>
          </a:p>
          <a:p>
            <a:pPr>
              <a:spcAft>
                <a:spcPts val="300"/>
              </a:spcAft>
            </a:pPr>
            <a:r>
              <a:rPr sz="1700" b="1">
                <a:solidFill>
                  <a:srgbClr val="006D77"/>
                </a:solidFill>
              </a:rPr>
              <a:t>2. </a:t>
            </a:r>
            <a:r>
              <a:rPr sz="1700" b="1">
                <a:solidFill>
                  <a:srgbClr val="1F2D3A"/>
                </a:solidFill>
              </a:rPr>
              <a:t>Bütünlük (Integrity)</a:t>
            </a:r>
            <a:r>
              <a:rPr sz="1700" b="0">
                <a:solidFill>
                  <a:srgbClr val="1F2D3A"/>
                </a:solidFill>
              </a:rPr>
              <a:t> — yoldaki IBAN'ın değişmesi veri bütünlüğü ihlalidir.</a:t>
            </a:r>
          </a:p>
          <a:p>
            <a:pPr>
              <a:spcAft>
                <a:spcPts val="300"/>
              </a:spcAft>
            </a:pPr>
            <a:r>
              <a:rPr sz="1700" b="1">
                <a:solidFill>
                  <a:srgbClr val="006D77"/>
                </a:solidFill>
              </a:rPr>
              <a:t>3. </a:t>
            </a:r>
            <a:r>
              <a:rPr sz="1700" b="1">
                <a:solidFill>
                  <a:srgbClr val="1F2D3A"/>
                </a:solidFill>
              </a:rPr>
              <a:t>Beyaz kutu (MATE)</a:t>
            </a:r>
            <a:r>
              <a:rPr sz="1700" b="0">
                <a:solidFill>
                  <a:srgbClr val="1F2D3A"/>
                </a:solidFill>
              </a:rPr>
              <a:t> programa </a:t>
            </a:r>
            <a:r>
              <a:rPr sz="1700" b="1">
                <a:solidFill>
                  <a:srgbClr val="1F2D3A"/>
                </a:solidFill>
              </a:rPr>
              <a:t>sahiptir</a:t>
            </a:r>
            <a:r>
              <a:rPr sz="1700" b="0">
                <a:solidFill>
                  <a:srgbClr val="1F2D3A"/>
                </a:solidFill>
              </a:rPr>
              <a:t> (belleği/anahtarı okur, kodu değiştirir); ağ saldırganı yalnız </a:t>
            </a:r>
            <a:r>
              <a:rPr sz="1700" b="1">
                <a:solidFill>
                  <a:srgbClr val="1F2D3A"/>
                </a:solidFill>
              </a:rPr>
              <a:t>dışarıdan</a:t>
            </a:r>
            <a:r>
              <a:rPr sz="1700" b="0">
                <a:solidFill>
                  <a:srgbClr val="1F2D3A"/>
                </a:solidFill>
              </a:rPr>
              <a:t> bağlanır.</a:t>
            </a:r>
          </a:p>
          <a:p>
            <a:pPr>
              <a:spcAft>
                <a:spcPts val="300"/>
              </a:spcAft>
            </a:pPr>
            <a:r>
              <a:rPr sz="1700" b="1">
                <a:solidFill>
                  <a:srgbClr val="006D77"/>
                </a:solidFill>
              </a:rPr>
              <a:t>4. </a:t>
            </a:r>
            <a:r>
              <a:rPr sz="1700" b="1">
                <a:solidFill>
                  <a:srgbClr val="1F2D3A"/>
                </a:solidFill>
              </a:rPr>
              <a:t>E = Elevation of Privilege</a:t>
            </a:r>
            <a:r>
              <a:rPr sz="1700" b="0">
                <a:solidFill>
                  <a:srgbClr val="1F2D3A"/>
                </a:solidFill>
              </a:rPr>
              <a:t> (yetki yükseltme) → ayrıcalık bırakma / </a:t>
            </a:r>
            <a:r>
              <a:rPr sz="1700" b="0">
                <a:solidFill>
                  <a:srgbClr val="A1123F"/>
                </a:solidFill>
                <a:latin typeface="Consolas"/>
              </a:rPr>
              <a:t>setuid</a:t>
            </a:r>
            <a:r>
              <a:rPr sz="1700" b="0">
                <a:solidFill>
                  <a:srgbClr val="1F2D3A"/>
                </a:solidFill>
              </a:rPr>
              <a:t> demosu.</a:t>
            </a:r>
          </a:p>
          <a:p>
            <a:pPr>
              <a:spcAft>
                <a:spcPts val="300"/>
              </a:spcAft>
            </a:pPr>
            <a:r>
              <a:rPr sz="1700" b="1">
                <a:solidFill>
                  <a:srgbClr val="006D77"/>
                </a:solidFill>
              </a:rPr>
              <a:t>5. </a:t>
            </a:r>
            <a:r>
              <a:rPr sz="1700" b="1">
                <a:solidFill>
                  <a:srgbClr val="1F2D3A"/>
                </a:solidFill>
              </a:rPr>
              <a:t>VE (AND)</a:t>
            </a:r>
            <a:r>
              <a:rPr sz="1700" b="0">
                <a:solidFill>
                  <a:srgbClr val="1F2D3A"/>
                </a:solidFill>
              </a:rPr>
              <a:t> savunmaya iyi: hedef tüm alt adımları ister, </a:t>
            </a:r>
            <a:r>
              <a:rPr sz="1700" b="1">
                <a:solidFill>
                  <a:srgbClr val="1F2D3A"/>
                </a:solidFill>
              </a:rPr>
              <a:t>birini</a:t>
            </a:r>
            <a:r>
              <a:rPr sz="1700" b="0">
                <a:solidFill>
                  <a:srgbClr val="1F2D3A"/>
                </a:solidFill>
              </a:rPr>
              <a:t> kesmek saldırıyı durdurur. VEYA saldırgana kolaylık.</a:t>
            </a:r>
          </a:p>
          <a:p>
            <a:pPr>
              <a:spcAft>
                <a:spcPts val="300"/>
              </a:spcAft>
            </a:pPr>
            <a:r>
              <a:rPr sz="1700" b="1">
                <a:solidFill>
                  <a:srgbClr val="006D77"/>
                </a:solidFill>
              </a:rPr>
              <a:t>6. </a:t>
            </a:r>
            <a:r>
              <a:rPr sz="1700" b="0">
                <a:solidFill>
                  <a:srgbClr val="A1123F"/>
                </a:solidFill>
                <a:latin typeface="Consolas"/>
              </a:rPr>
              <a:t>system</a:t>
            </a:r>
            <a:r>
              <a:rPr sz="1700" b="0">
                <a:solidFill>
                  <a:srgbClr val="1F2D3A"/>
                </a:solidFill>
              </a:rPr>
              <a:t> </a:t>
            </a:r>
            <a:r>
              <a:rPr sz="1700" b="1">
                <a:solidFill>
                  <a:srgbClr val="1F2D3A"/>
                </a:solidFill>
              </a:rPr>
              <a:t>kabuğu</a:t>
            </a:r>
            <a:r>
              <a:rPr sz="1700" b="0">
                <a:solidFill>
                  <a:srgbClr val="1F2D3A"/>
                </a:solidFill>
              </a:rPr>
              <a:t> yorumlar → komut enjeksiyonu/PATH ele geçirme. Düzelt: </a:t>
            </a:r>
            <a:r>
              <a:rPr sz="1700" b="0">
                <a:solidFill>
                  <a:srgbClr val="A1123F"/>
                </a:solidFill>
                <a:latin typeface="Consolas"/>
              </a:rPr>
              <a:t>execvp</a:t>
            </a:r>
            <a:r>
              <a:rPr sz="1700" b="0">
                <a:solidFill>
                  <a:srgbClr val="1F2D3A"/>
                </a:solidFill>
              </a:rPr>
              <a:t> ile </a:t>
            </a:r>
            <a:r>
              <a:rPr sz="1700" b="1">
                <a:solidFill>
                  <a:srgbClr val="1F2D3A"/>
                </a:solidFill>
              </a:rPr>
              <a:t>doğrudan</a:t>
            </a:r>
            <a:r>
              <a:rPr sz="1700" b="0">
                <a:solidFill>
                  <a:srgbClr val="1F2D3A"/>
                </a:solidFill>
              </a:rPr>
              <a:t> çağır (kabuksuz), </a:t>
            </a:r>
            <a:r>
              <a:rPr sz="1700" b="1">
                <a:solidFill>
                  <a:srgbClr val="1F2D3A"/>
                </a:solidFill>
              </a:rPr>
              <a:t>tam yol</a:t>
            </a:r>
            <a:r>
              <a:rPr sz="1700" b="0">
                <a:solidFill>
                  <a:srgbClr val="1F2D3A"/>
                </a:solidFill>
              </a:rPr>
              <a:t>, girdi allowlist.</a:t>
            </a:r>
          </a:p>
          <a:p>
            <a:pPr>
              <a:spcAft>
                <a:spcPts val="300"/>
              </a:spcAft>
            </a:pPr>
            <a:r>
              <a:rPr sz="1700" b="1">
                <a:solidFill>
                  <a:srgbClr val="006D77"/>
                </a:solidFill>
              </a:rPr>
              <a:t>7. </a:t>
            </a:r>
            <a:r>
              <a:rPr sz="1700" b="0">
                <a:solidFill>
                  <a:srgbClr val="1F2D3A"/>
                </a:solidFill>
              </a:rPr>
              <a:t>Derleyici </a:t>
            </a:r>
            <a:r>
              <a:rPr sz="1700" b="1">
                <a:solidFill>
                  <a:srgbClr val="1F2D3A"/>
                </a:solidFill>
              </a:rPr>
              <a:t>ölü mağaza</a:t>
            </a:r>
            <a:r>
              <a:rPr sz="1700" b="0">
                <a:solidFill>
                  <a:srgbClr val="1F2D3A"/>
                </a:solidFill>
              </a:rPr>
              <a:t> olarak sildi (sonra okunmuyor). </a:t>
            </a:r>
            <a:r>
              <a:rPr sz="1700" b="0">
                <a:solidFill>
                  <a:srgbClr val="A1123F"/>
                </a:solidFill>
                <a:latin typeface="Consolas"/>
              </a:rPr>
              <a:t>memset_s</a:t>
            </a:r>
            <a:r>
              <a:rPr sz="1700" b="0">
                <a:solidFill>
                  <a:srgbClr val="1F2D3A"/>
                </a:solidFill>
              </a:rPr>
              <a:t>/</a:t>
            </a:r>
            <a:r>
              <a:rPr sz="1700" b="0">
                <a:solidFill>
                  <a:srgbClr val="A1123F"/>
                </a:solidFill>
                <a:latin typeface="Consolas"/>
              </a:rPr>
              <a:t>explicit_bzero</a:t>
            </a:r>
            <a:r>
              <a:rPr sz="1700" b="0">
                <a:solidFill>
                  <a:srgbClr val="1F2D3A"/>
                </a:solidFill>
              </a:rPr>
              <a:t>/</a:t>
            </a:r>
            <a:r>
              <a:rPr sz="1700" b="0">
                <a:solidFill>
                  <a:srgbClr val="A1123F"/>
                </a:solidFill>
                <a:latin typeface="Consolas"/>
              </a:rPr>
              <a:t>volatile</a:t>
            </a:r>
            <a:r>
              <a:rPr sz="1700" b="0">
                <a:solidFill>
                  <a:srgbClr val="1F2D3A"/>
                </a:solidFill>
              </a:rPr>
              <a:t> kullan.</a:t>
            </a:r>
          </a:p>
          <a:p>
            <a:pPr>
              <a:spcAft>
                <a:spcPts val="300"/>
              </a:spcAft>
            </a:pPr>
            <a:r>
              <a:rPr sz="1700" b="1">
                <a:solidFill>
                  <a:srgbClr val="006D77"/>
                </a:solidFill>
              </a:rPr>
              <a:t>8. </a:t>
            </a:r>
            <a:r>
              <a:rPr sz="1700" b="0">
                <a:solidFill>
                  <a:srgbClr val="1F2D3A"/>
                </a:solidFill>
              </a:rPr>
              <a:t>Taşma </a:t>
            </a:r>
            <a:r>
              <a:rPr sz="1700" b="1">
                <a:solidFill>
                  <a:srgbClr val="1F2D3A"/>
                </a:solidFill>
              </a:rPr>
              <a:t>redzone</a:t>
            </a:r>
            <a:r>
              <a:rPr sz="1700" b="0">
                <a:solidFill>
                  <a:srgbClr val="1F2D3A"/>
                </a:solidFill>
              </a:rPr>
              <a:t>'a ulaşmadı / o kod yolu çalışmadı; ASan yalnız </a:t>
            </a:r>
            <a:r>
              <a:rPr sz="1700" b="1">
                <a:solidFill>
                  <a:srgbClr val="1F2D3A"/>
                </a:solidFill>
              </a:rPr>
              <a:t>enstrümante</a:t>
            </a:r>
            <a:r>
              <a:rPr sz="1700" b="0">
                <a:solidFill>
                  <a:srgbClr val="1F2D3A"/>
                </a:solidFill>
              </a:rPr>
              <a:t> bölgeyi görür.</a:t>
            </a:r>
          </a:p>
          <a:p>
            <a:pPr>
              <a:spcAft>
                <a:spcPts val="300"/>
              </a:spcAft>
            </a:pPr>
            <a:r>
              <a:rPr sz="1700" b="1">
                <a:solidFill>
                  <a:srgbClr val="006D77"/>
                </a:solidFill>
              </a:rPr>
              <a:t>9. </a:t>
            </a:r>
            <a:r>
              <a:rPr sz="1700" b="0">
                <a:solidFill>
                  <a:srgbClr val="A1123F"/>
                </a:solidFill>
                <a:latin typeface="Consolas"/>
              </a:rPr>
              <a:t>-1</a:t>
            </a:r>
            <a:r>
              <a:rPr sz="1700" b="0">
                <a:solidFill>
                  <a:srgbClr val="1F2D3A"/>
                </a:solidFill>
              </a:rPr>
              <a:t>, </a:t>
            </a:r>
            <a:r>
              <a:rPr sz="1700" b="0">
                <a:solidFill>
                  <a:srgbClr val="A1123F"/>
                </a:solidFill>
                <a:latin typeface="Consolas"/>
              </a:rPr>
              <a:t>size_t</a:t>
            </a:r>
            <a:r>
              <a:rPr sz="1700" b="0">
                <a:solidFill>
                  <a:srgbClr val="1F2D3A"/>
                </a:solidFill>
              </a:rPr>
              <a:t>'te </a:t>
            </a:r>
            <a:r>
              <a:rPr sz="1700" b="1">
                <a:solidFill>
                  <a:srgbClr val="1F2D3A"/>
                </a:solidFill>
              </a:rPr>
              <a:t>SIZE_MAX</a:t>
            </a:r>
            <a:r>
              <a:rPr sz="1700" b="0">
                <a:solidFill>
                  <a:srgbClr val="1F2D3A"/>
                </a:solidFill>
              </a:rPr>
              <a:t>'e döner → devasa kopya → taşma/çökme.</a:t>
            </a:r>
          </a:p>
          <a:p>
            <a:pPr>
              <a:spcAft>
                <a:spcPts val="300"/>
              </a:spcAft>
            </a:pPr>
            <a:r>
              <a:rPr sz="1700" b="1">
                <a:solidFill>
                  <a:srgbClr val="006D77"/>
                </a:solidFill>
              </a:rPr>
              <a:t>10. </a:t>
            </a:r>
            <a:r>
              <a:rPr sz="1700" b="0">
                <a:solidFill>
                  <a:srgbClr val="1F2D3A"/>
                </a:solidFill>
              </a:rPr>
              <a:t>Ödeme: TLS+pinning (aktarım) · AEAD (bekleme) · RASP/anti-debug · whitebox/HSM anahtar · sunucu denetimi — </a:t>
            </a:r>
            <a:r>
              <a:rPr sz="1700" b="1">
                <a:solidFill>
                  <a:srgbClr val="1F2D3A"/>
                </a:solidFill>
              </a:rPr>
              <a:t>katman</a:t>
            </a:r>
            <a:r>
              <a:rPr sz="17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(devam)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Bir veri akışına neden </a:t>
            </a:r>
            <a:r>
              <a:rPr sz="2000" b="1">
                <a:solidFill>
                  <a:srgbClr val="1F2D3A"/>
                </a:solidFill>
              </a:rPr>
              <a:t>S</a:t>
            </a:r>
            <a:r>
              <a:rPr sz="2000" b="0">
                <a:solidFill>
                  <a:srgbClr val="1F2D3A"/>
                </a:solidFill>
              </a:rPr>
              <a:t> sorulmaz?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Tehdide dört yanıt nedir? "Ortadan kaldırma"ya örnek verin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setuid programda neden </a:t>
            </a:r>
            <a:r>
              <a:rPr sz="2000" b="1">
                <a:solidFill>
                  <a:srgbClr val="1F2D3A"/>
                </a:solidFill>
              </a:rPr>
              <a:t>önce grup</a:t>
            </a:r>
            <a:r>
              <a:rPr sz="2000" b="0">
                <a:solidFill>
                  <a:srgbClr val="1F2D3A"/>
                </a:solidFill>
              </a:rPr>
              <a:t> bırakılır?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strncpy</a:t>
            </a:r>
            <a:r>
              <a:rPr sz="2000" b="0">
                <a:solidFill>
                  <a:srgbClr val="1F2D3A"/>
                </a:solidFill>
              </a:rPr>
              <a:t> neden güvenli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 değildir?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Heartbleed neden hiçbir şey çökmeden veri sızdırdı?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— cevaplar (devam 1–5)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Veri akışına </a:t>
            </a:r>
            <a:r>
              <a:rPr sz="2000" b="1">
                <a:solidFill>
                  <a:srgbClr val="1F2D3A"/>
                </a:solidFill>
              </a:rPr>
              <a:t>S sorulmaz</a:t>
            </a:r>
            <a:r>
              <a:rPr sz="2000" b="0">
                <a:solidFill>
                  <a:srgbClr val="1F2D3A"/>
                </a:solidFill>
              </a:rPr>
              <a:t>: akışın kimliği yoktur (sahtecilik uçlara/varlıklara sorulur).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Azalt · kaldır · aktar · kabul et.</a:t>
            </a:r>
            <a:r>
              <a:rPr sz="2000" b="0">
                <a:solidFill>
                  <a:srgbClr val="1F2D3A"/>
                </a:solidFill>
              </a:rPr>
              <a:t> "Kaldırma" örneği: "parolayı hatırla" özelliğini </a:t>
            </a:r>
            <a:r>
              <a:rPr sz="2000" b="1">
                <a:solidFill>
                  <a:srgbClr val="1F2D3A"/>
                </a:solidFill>
              </a:rPr>
              <a:t>hiç sunmamak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setuid</a:t>
            </a:r>
            <a:r>
              <a:rPr sz="2000" b="0">
                <a:solidFill>
                  <a:srgbClr val="1F2D3A"/>
                </a:solidFill>
              </a:rPr>
              <a:t>'de </a:t>
            </a:r>
            <a:r>
              <a:rPr sz="2000" b="1">
                <a:solidFill>
                  <a:srgbClr val="1F2D3A"/>
                </a:solidFill>
              </a:rPr>
              <a:t>önce grup</a:t>
            </a:r>
            <a:r>
              <a:rPr sz="2000" b="0">
                <a:solidFill>
                  <a:srgbClr val="1F2D3A"/>
                </a:solidFill>
              </a:rPr>
              <a:t> bırakılır; kullanıcı önce bırakılırsa grubu değiştirecek </a:t>
            </a:r>
            <a:r>
              <a:rPr sz="2000" b="1">
                <a:solidFill>
                  <a:srgbClr val="1F2D3A"/>
                </a:solidFill>
              </a:rPr>
              <a:t>yetki kalmaz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strncpy</a:t>
            </a:r>
            <a:r>
              <a:rPr sz="2000" b="0">
                <a:solidFill>
                  <a:srgbClr val="1F2D3A"/>
                </a:solidFill>
              </a:rPr>
              <a:t> uzun kaynakta sonuna sonlandırıcı </a:t>
            </a:r>
            <a:r>
              <a:rPr sz="2000" b="1">
                <a:solidFill>
                  <a:srgbClr val="1F2D3A"/>
                </a:solidFill>
              </a:rPr>
              <a:t>koymaz</a:t>
            </a:r>
            <a:r>
              <a:rPr sz="2000" b="0">
                <a:solidFill>
                  <a:srgbClr val="1F2D3A"/>
                </a:solidFill>
              </a:rPr>
              <a:t> → sonlandırılmamış dize.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Heartbleed yalnız </a:t>
            </a:r>
            <a:r>
              <a:rPr sz="2000" b="1">
                <a:solidFill>
                  <a:srgbClr val="1F2D3A"/>
                </a:solidFill>
              </a:rPr>
              <a:t>okudu</a:t>
            </a:r>
            <a:r>
              <a:rPr sz="2000" b="0">
                <a:solidFill>
                  <a:srgbClr val="1F2D3A"/>
                </a:solidFill>
              </a:rPr>
              <a:t>; okunan bellek sürecin kendi </a:t>
            </a:r>
            <a:r>
              <a:rPr sz="2000" b="1">
                <a:solidFill>
                  <a:srgbClr val="1F2D3A"/>
                </a:solidFill>
              </a:rPr>
              <a:t>geçerli</a:t>
            </a:r>
            <a:r>
              <a:rPr sz="2000" b="0">
                <a:solidFill>
                  <a:srgbClr val="1F2D3A"/>
                </a:solidFill>
              </a:rPr>
              <a:t> belleğiydi → çökmeden sızdı.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(devam)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Kanarya taşmayı fark edince ne yapar? Neden hâlâ sorun?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free(p); p = NULL;</a:t>
            </a:r>
            <a:r>
              <a:rPr sz="2000" b="0">
                <a:solidFill>
                  <a:srgbClr val="1F2D3A"/>
                </a:solidFill>
              </a:rPr>
              <a:t> neyi önler, neyi önlemez?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mlock</a:t>
            </a:r>
            <a:r>
              <a:rPr sz="2000" b="0">
                <a:solidFill>
                  <a:srgbClr val="1F2D3A"/>
                </a:solidFill>
              </a:rPr>
              <a:t> neyi önler, neyi önlemez?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"Şifre çözme kâhini" nedir? Bir karşı önlem?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Benzersiz sürüm kimliğinin üç bileşeni?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Kendini sınama — cevaplar (devam 6–10)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Kanarya bozulunca programı </a:t>
            </a:r>
            <a:r>
              <a:rPr sz="2000" b="1">
                <a:solidFill>
                  <a:srgbClr val="1F2D3A"/>
                </a:solidFill>
              </a:rPr>
              <a:t>sonlandırır</a:t>
            </a:r>
            <a:r>
              <a:rPr sz="2000" b="0">
                <a:solidFill>
                  <a:srgbClr val="1F2D3A"/>
                </a:solidFill>
              </a:rPr>
              <a:t> (hizmet reddi); bitişik değişkene taşmayı </a:t>
            </a:r>
            <a:r>
              <a:rPr sz="2000" b="1">
                <a:solidFill>
                  <a:srgbClr val="1F2D3A"/>
                </a:solidFill>
              </a:rPr>
              <a:t>görmez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free(p); p=NULL;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çift bırakma/UAF</a:t>
            </a:r>
            <a:r>
              <a:rPr sz="2000" b="0">
                <a:solidFill>
                  <a:srgbClr val="1F2D3A"/>
                </a:solidFill>
              </a:rPr>
              <a:t>'ı önler; </a:t>
            </a:r>
            <a:r>
              <a:rPr sz="2000" b="1">
                <a:solidFill>
                  <a:srgbClr val="1F2D3A"/>
                </a:solidFill>
              </a:rPr>
              <a:t>takma adları</a:t>
            </a:r>
            <a:r>
              <a:rPr sz="2000" b="0">
                <a:solidFill>
                  <a:srgbClr val="1F2D3A"/>
                </a:solidFill>
              </a:rPr>
              <a:t> (aynı adrese başka işaretçi) korumaz.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mlock</a:t>
            </a:r>
            <a:r>
              <a:rPr sz="2000" b="0">
                <a:solidFill>
                  <a:srgbClr val="1F2D3A"/>
                </a:solidFill>
              </a:rPr>
              <a:t> belleğin </a:t>
            </a:r>
            <a:r>
              <a:rPr sz="2000" b="1">
                <a:solidFill>
                  <a:srgbClr val="1F2D3A"/>
                </a:solidFill>
              </a:rPr>
              <a:t>takasa</a:t>
            </a:r>
            <a:r>
              <a:rPr sz="2000" b="0">
                <a:solidFill>
                  <a:srgbClr val="1F2D3A"/>
                </a:solidFill>
              </a:rPr>
              <a:t> yazılmasını önler; </a:t>
            </a:r>
            <a:r>
              <a:rPr sz="2000" b="1">
                <a:solidFill>
                  <a:srgbClr val="1F2D3A"/>
                </a:solidFill>
              </a:rPr>
              <a:t>okunmasını</a:t>
            </a:r>
            <a:r>
              <a:rPr sz="2000" b="0">
                <a:solidFill>
                  <a:srgbClr val="1F2D3A"/>
                </a:solidFill>
              </a:rPr>
              <a:t> ve silinmemiş sırrı önlemez.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Şifre çözme kâhini:</a:t>
            </a:r>
            <a:r>
              <a:rPr sz="2000" b="0">
                <a:solidFill>
                  <a:srgbClr val="1F2D3A"/>
                </a:solidFill>
              </a:rPr>
              <a:t> anahtarsız çözdürme imkânı. Karşı önlem: bağlam/bütünlük denetimi, çağrı sınırı, </a:t>
            </a:r>
            <a:r>
              <a:rPr sz="2000" b="1">
                <a:solidFill>
                  <a:srgbClr val="1F2D3A"/>
                </a:solidFill>
              </a:rPr>
              <a:t>cihaza bağlama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Benzersiz sürüm: </a:t>
            </a:r>
            <a:r>
              <a:rPr sz="2000" b="1">
                <a:solidFill>
                  <a:srgbClr val="1F2D3A"/>
                </a:solidFill>
              </a:rPr>
              <a:t>anlamsal sürüm + git kimliği + ikili SHA-256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Gelecek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2 — Bilgisayar Virüsleri ve Güvenlik Modelleri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Kötü yazılım türleri · Bell–LaPadula, Biba, Clark–Wilson · CWE, OWASP, CVSS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374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Kaynak: Viega &amp; Messier, Tarif 1, 3, 12.1, 13.2–13.3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STRIDE'ı adım adım uygulamak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mobil bankacılık uygulaması: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kullanıcı girişi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bakiye görüntüleme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para transferi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STRIDE harfini bu sisteme uygulayalım.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 · Spoofing (sahtecilik)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Tehdit:</a:t>
            </a:r>
            <a:r>
              <a:rPr sz="2000" b="0">
                <a:solidFill>
                  <a:srgbClr val="1F2D3A"/>
                </a:solidFill>
              </a:rPr>
              <a:t> başkası gibi davranmak (sahte kullanıcı/sunucu).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sahte sunucu, çalınan oturum.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Önlem:</a:t>
            </a:r>
            <a:r>
              <a:rPr sz="2000" b="0">
                <a:solidFill>
                  <a:srgbClr val="1F2D3A"/>
                </a:solidFill>
              </a:rPr>
              <a:t> güçlü kimlik doğrulama, TLS + sertifika denetimi.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 · Tampering (kurcalama)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Tehdit:</a:t>
            </a:r>
            <a:r>
              <a:rPr sz="2000" b="0">
                <a:solidFill>
                  <a:srgbClr val="1F2D3A"/>
                </a:solidFill>
              </a:rPr>
              <a:t> veriyi/kodu izinsiz değiştirmek.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transfer tutarını değiştirmek.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Önlem:</a:t>
            </a:r>
            <a:r>
              <a:rPr sz="2000" b="0">
                <a:solidFill>
                  <a:srgbClr val="1F2D3A"/>
                </a:solidFill>
              </a:rPr>
              <a:t> bütünlük (MAC/imza), bütünlük denetimi (RASP).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 · Repudiation (inkâr)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Tehdit:</a:t>
            </a:r>
            <a:r>
              <a:rPr sz="2000" b="0">
                <a:solidFill>
                  <a:srgbClr val="1F2D3A"/>
                </a:solidFill>
              </a:rPr>
              <a:t> yaptığını inkâr etmek.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"ben o transferi yapmadım".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Önlem:</a:t>
            </a:r>
            <a:r>
              <a:rPr sz="2000" b="0">
                <a:solidFill>
                  <a:srgbClr val="1F2D3A"/>
                </a:solidFill>
              </a:rPr>
              <a:t> güvenli günlük, imza, denetim izi.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 · Information disclosure (bilgi sızması)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Tehdit:</a:t>
            </a:r>
            <a:r>
              <a:rPr sz="2000" b="0">
                <a:solidFill>
                  <a:srgbClr val="1F2D3A"/>
                </a:solidFill>
              </a:rPr>
              <a:t> gizli verinin sızması.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bakiye/parola sızıntısı.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Önlem:</a:t>
            </a:r>
            <a:r>
              <a:rPr sz="2000" b="0">
                <a:solidFill>
                  <a:srgbClr val="1F2D3A"/>
                </a:solidFill>
              </a:rPr>
              <a:t> şifreleme, en az yetki, sızıntısız hata iletisi.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 · Denial of service (hizmet reddi)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Tehdit:</a:t>
            </a:r>
            <a:r>
              <a:rPr sz="2000" b="0">
                <a:solidFill>
                  <a:srgbClr val="1F2D3A"/>
                </a:solidFill>
              </a:rPr>
              <a:t> hizmeti kullanılamaz kılmak.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aşırı istek, kaynak tüketimi.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Önlem:</a:t>
            </a:r>
            <a:r>
              <a:rPr sz="2000" b="0">
                <a:solidFill>
                  <a:srgbClr val="1F2D3A"/>
                </a:solidFill>
              </a:rPr>
              <a:t> hız sınırı, kaynak kotaları, girdi sınırı.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 · Elevation of privilege (yetki yükseltme)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Tehdit:</a:t>
            </a:r>
            <a:r>
              <a:rPr sz="2000" b="0">
                <a:solidFill>
                  <a:srgbClr val="1F2D3A"/>
                </a:solidFill>
              </a:rPr>
              <a:t> izinsiz yetki kazanmak.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Örnek:</a:t>
            </a:r>
            <a:r>
              <a:rPr sz="2000" b="0">
                <a:solidFill>
                  <a:srgbClr val="1F2D3A"/>
                </a:solidFill>
              </a:rPr>
              <a:t> normal kullanıcı yönetici olur.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Önlem:</a:t>
            </a:r>
            <a:r>
              <a:rPr sz="2000" b="0">
                <a:solidFill>
                  <a:srgbClr val="1F2D3A"/>
                </a:solidFill>
              </a:rPr>
              <a:t> en az yetki, yetki denetimi, güvenli varsayılan.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STRIDE · özet uygulama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6365061" cy="2569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4910190"/>
              </a:tblGrid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Harf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Bu sistemde 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 + kimlik doğrulama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MAC/imza + RASP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Güvenli günlük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Şifreleme + en az yetki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Hız sınırı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Yetki denetimi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Saldırı ağacı adım adım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Kök · hedef</a:t>
            </a:r>
          </a:p>
        </p:txBody>
      </p:sp>
      <p:pic>
        <p:nvPicPr>
          <p:cNvPr id="7" name="Picture 6" descr="h01-06-saldiri-aga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370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07264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Saldırganın nihai amacı. Şimdi yolları bölelim.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Dallar · nasıl?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Kökten sonra sorulacak soru: </a:t>
            </a:r>
            <a:r>
              <a:rPr sz="2000" b="1">
                <a:solidFill>
                  <a:srgbClr val="1F2D3A"/>
                </a:solidFill>
              </a:rPr>
              <a:t>"Bu hedefe hangi yollardan ulaşılır?"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dal, hedefe ulaşmanın </a:t>
            </a:r>
            <a:r>
              <a:rPr sz="2000" b="1">
                <a:solidFill>
                  <a:srgbClr val="1F2D3A"/>
                </a:solidFill>
              </a:rPr>
              <a:t>bir yolu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</a:t>
            </a:r>
            <a:r>
              <a:rPr sz="2000" b="0">
                <a:solidFill>
                  <a:srgbClr val="1F2D3A"/>
                </a:solidFill>
              </a:rPr>
              <a:t>: dalın hepsi gerekir · </a:t>
            </a:r>
            <a:r>
              <a:rPr sz="2000" b="1">
                <a:solidFill>
                  <a:srgbClr val="1F2D3A"/>
                </a:solidFill>
              </a:rPr>
              <a:t>VEYA</a:t>
            </a:r>
            <a:r>
              <a:rPr sz="2000" b="0">
                <a:solidFill>
                  <a:srgbClr val="1F2D3A"/>
                </a:solidFill>
              </a:rPr>
              <a:t>: biri yeter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Sonraki adım: en olası dalı </a:t>
            </a:r>
            <a:r>
              <a:rPr sz="2000" b="1">
                <a:solidFill>
                  <a:srgbClr val="1F2D3A"/>
                </a:solidFill>
              </a:rPr>
              <a:t>alt dallara</a:t>
            </a:r>
            <a:r>
              <a:rPr sz="2000" b="0">
                <a:solidFill>
                  <a:srgbClr val="1F2D3A"/>
                </a:solidFill>
              </a:rPr>
              <a:t> bölmek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Alt dallar · bellekten oku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Bellekten oku</a:t>
            </a:r>
            <a:r>
              <a:rPr sz="2000" b="0">
                <a:solidFill>
                  <a:srgbClr val="1F2D3A"/>
                </a:solidFill>
              </a:rPr>
              <a:t> — üç yol: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Debugger bağla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 dökümü 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Hook ile yakala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yaprak bir saldırı adımı.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Ağaçtan önceliklendirme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</a:t>
            </a:r>
            <a:r>
              <a:rPr sz="2000" b="1">
                <a:solidFill>
                  <a:srgbClr val="1F2D3A"/>
                </a:solidFill>
              </a:rPr>
              <a:t>kolay</a:t>
            </a:r>
            <a:r>
              <a:rPr sz="2000" b="0">
                <a:solidFill>
                  <a:srgbClr val="1F2D3A"/>
                </a:solidFill>
              </a:rPr>
              <a:t> yaprak en büyük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onu kapat (ör. RASP + kısa ömür).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Ağaç, savunma önceliğini gösterir.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Ağaçtan önleme eşleme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729227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545576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Yaprak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Önlem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Debugger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Anti-debug (6)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 dökümü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Kısa ömür + koruma (6, 10)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İkiliden çıkar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Gizleme + whitebox (9, 11)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Ağdan sız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 + pin (10)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Güvenli tasarım ilkeleri derinleşme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 az yetki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bileşen yalnız gerekeni yapabilsin.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Fazla yetki = büyük saldırı yüzeyi.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DB kullanıcısı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SELECT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 varsayılan (fail-safe)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şey ters giderse </a:t>
            </a:r>
            <a:r>
              <a:rPr sz="2000" b="1">
                <a:solidFill>
                  <a:srgbClr val="1F2D3A"/>
                </a:solidFill>
              </a:rPr>
              <a:t>güvenli</a:t>
            </a:r>
            <a:r>
              <a:rPr sz="2000" b="0">
                <a:solidFill>
                  <a:srgbClr val="1F2D3A"/>
                </a:solidFill>
              </a:rPr>
              <a:t> tarafa düş.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 → erişim </a:t>
            </a:r>
            <a:r>
              <a:rPr sz="2000" b="1">
                <a:solidFill>
                  <a:srgbClr val="1F2D3A"/>
                </a:solidFill>
              </a:rPr>
              <a:t>reddedilir</a:t>
            </a:r>
            <a:r>
              <a:rPr sz="2000" b="0">
                <a:solidFill>
                  <a:srgbClr val="1F2D3A"/>
                </a:solidFill>
              </a:rPr>
              <a:t> (fail-closed).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Varsayılan: kapalı, kısıtlı.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Ekonomi ve açık tasarım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Ekonomi:</a:t>
            </a:r>
            <a:r>
              <a:rPr sz="2000" b="0">
                <a:solidFill>
                  <a:srgbClr val="1F2D3A"/>
                </a:solidFill>
              </a:rPr>
              <a:t> basit tasarım, az hata.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 tasarım:</a:t>
            </a:r>
            <a:r>
              <a:rPr sz="2000" b="0">
                <a:solidFill>
                  <a:srgbClr val="1F2D3A"/>
                </a:solidFill>
              </a:rPr>
              <a:t> güvenlik gizliliğe değil, </a:t>
            </a:r>
            <a:r>
              <a:rPr sz="2000" b="1">
                <a:solidFill>
                  <a:srgbClr val="1F2D3A"/>
                </a:solidFill>
              </a:rPr>
              <a:t>anahtara</a:t>
            </a:r>
            <a:r>
              <a:rPr sz="2000" b="0">
                <a:solidFill>
                  <a:srgbClr val="1F2D3A"/>
                </a:solidFill>
              </a:rPr>
              <a:t> dayanır (Kerckhoffs).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Karmaşıklık düşmandır.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Tam aracılık ve ayrık ayrıcalık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Tam aracılık:</a:t>
            </a:r>
            <a:r>
              <a:rPr sz="2000" b="0">
                <a:solidFill>
                  <a:srgbClr val="1F2D3A"/>
                </a:solidFill>
              </a:rPr>
              <a:t> her erişim denetlenir (önbelleğe güvenip atlama).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Ayrık ayrıcalık:</a:t>
            </a:r>
            <a:r>
              <a:rPr sz="2000" b="0">
                <a:solidFill>
                  <a:srgbClr val="1F2D3A"/>
                </a:solidFill>
              </a:rPr>
              <a:t> kritik işlem için birden çok koşul.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Derinlemesine savunmanın temeli.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İlkeler → bu 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ilkeler dönem boyunca her haftada tekrar edecek.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Kod, kripto, RASP, gereksinimler — hepsi bunlara dayanır.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İlkeler değişmez; teknikler değişir.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Ek · 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STRIDE her öğeye altı soru sorar.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ağacı hedefi yollara böler, önceliklendirir.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Tasarım ilkeleri her kararın pusulası.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Tehdidi </a:t>
            </a:r>
            <a:r>
              <a:rPr sz="2000" b="1">
                <a:solidFill>
                  <a:srgbClr val="1F2D3A"/>
                </a:solidFill>
              </a:rPr>
              <a:t>modelle</a:t>
            </a:r>
            <a:r>
              <a:rPr sz="2000" b="0">
                <a:solidFill>
                  <a:srgbClr val="1F2D3A"/>
                </a:solidFill>
              </a:rPr>
              <a:t>, sonra </a:t>
            </a:r>
            <a:r>
              <a:rPr sz="2000" b="1">
                <a:solidFill>
                  <a:srgbClr val="1F2D3A"/>
                </a:solidFill>
              </a:rPr>
              <a:t>katmanla</a:t>
            </a:r>
            <a:r>
              <a:rPr sz="2000" b="0">
                <a:solidFill>
                  <a:srgbClr val="1F2D3A"/>
                </a:solidFill>
              </a:rPr>
              <a:t> koru.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Çözümlü kendini sınama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CIA üçlüsünü bir örnekle açıklayın.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Gizlilik: parola yalnız sahibince görülür. Bütünlük: banka bakiyesi izinsiz değişmez. Erişilebilirlik: uygulama gerektiğinde çalışır.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Hata ile zafiyet arasındaki fark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Her zafiyet bir hatadır ama her hata zafiyet değildir. Zafiyet, bir saldırganın </a:t>
            </a:r>
            <a:r>
              <a:rPr sz="2000" b="1">
                <a:solidFill>
                  <a:srgbClr val="1F2D3A"/>
                </a:solidFill>
              </a:rPr>
              <a:t>kötüye kullanabileceği</a:t>
            </a:r>
            <a:r>
              <a:rPr sz="2000" b="0">
                <a:solidFill>
                  <a:srgbClr val="1F2D3A"/>
                </a:solidFill>
              </a:rPr>
              <a:t> hatadır.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MATE (beyaz kutu) saldırgan ağ saldırganından nasıl ayrılır?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MATE programa sahiptir: kodu okur, belleği görür, değiştirir. Ağ saldırganı yalnız dışarıdan bağlanır.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STRIDE neyi sağlar?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Tehditleri altı sınıfta sistemli aramayı: sahtecilik, kurcalama, inkâr, bilgi sızması, hizmet reddi, yetki yükseltme.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Saldırı ağacı ne işe yarar?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Bir saldırı hedefini alt adımlara böler; en kolay/olası yolu ve önceliklendirmeyi gösterir.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Neden tek bir önlem yetmez?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Her önlem aşılabilir; katmanlı savunmada biri aşılsa diğeri durdurur. Güç birliktelikten gelir.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"Gizleme doğru kodun yerine geçer mi?"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Hayır. Gizleme okumayı zorlaştırır ama hatayı düzeltmez. Önce güvenli kod, sonra gizleme.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En az yetki ilkesi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Her bileşen yalnız </a:t>
            </a:r>
            <a:r>
              <a:rPr sz="2000" b="1">
                <a:solidFill>
                  <a:srgbClr val="1F2D3A"/>
                </a:solidFill>
              </a:rPr>
              <a:t>gereken</a:t>
            </a:r>
            <a:r>
              <a:rPr sz="2000" b="0">
                <a:solidFill>
                  <a:srgbClr val="1F2D3A"/>
                </a:solidFill>
              </a:rPr>
              <a:t> yetkiye sahip olmalı; fazlası saldırı yüzeyini büyütür.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güven sınırı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Güvenilen ve güvenilmeyen bölgelerin ayrıldığı yer; girdi doğrulama en erken burada yapılır.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Kalan risk neden yazılır?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Hiçbir sistem %100 güvenli değildir; bilinen ve kabul edilen riskler açıkça belgelenir.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İşlenmiş mini tehdit modeli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Ürün · sentetik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"parola kasası" uygulaması: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parolaları yerelde saklar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parolayla açılır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Hızlı bir tehdit modeli yapalım.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· varlıklar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parola (C/I)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Saklanan parolalar (C/I)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Şifreleme anahtarı (C/I)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· tehditler (STRIDE)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</a:t>
            </a:r>
            <a:r>
              <a:rPr sz="2000" b="0">
                <a:solidFill>
                  <a:srgbClr val="1F2D3A"/>
                </a:solidFill>
              </a:rPr>
              <a:t> (bilgi sızması): cihaz çalınırsa parolalar okunur.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</a:t>
            </a:r>
            <a:r>
              <a:rPr sz="2000" b="0">
                <a:solidFill>
                  <a:srgbClr val="1F2D3A"/>
                </a:solidFill>
              </a:rPr>
              <a:t> (kurcalama): kasa dosyası değiştirilir.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</a:t>
            </a:r>
            <a:r>
              <a:rPr sz="2000" b="0">
                <a:solidFill>
                  <a:srgbClr val="1F2D3A"/>
                </a:solidFill>
              </a:rPr>
              <a:t> (yetki): kök cihazda belleğe erişim.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· önlemler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Parolalar AEAD ile şifreli (I → C).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paroladan KDF ile anahtar.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Bütünlük etiketi (T).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Kısa ömürlü bellek + RASP (E).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·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Köklü cihazda ana parola girilirken bellekte açık olabilir.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Azaltma: hızlı silme, cihaz bağlama.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Açıkça yazılır.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6728779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Gizlilik/bütünlük/erişilebilirlik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Programa sahip saldırgan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STRIDE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Altı tehdit sınıfı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ağacı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Hedefi alt adımlara bölme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DFD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akış diyagramı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Katmanlı savunma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Çok önlem birlikte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haftadan projeye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S2–S5:</a:t>
            </a:r>
            <a:r>
              <a:rPr sz="2000" b="0">
                <a:solidFill>
                  <a:srgbClr val="1F2D3A"/>
                </a:solidFill>
              </a:rPr>
              <a:t> ürün, mimari, varlık listesi, tehdit modeli.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S1:</a:t>
            </a:r>
            <a:r>
              <a:rPr sz="2000" b="0">
                <a:solidFill>
                  <a:srgbClr val="1F2D3A"/>
                </a:solidFill>
              </a:rPr>
              <a:t> kapsam, kaynaklar.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varlık C/I/I+ ile etiketli; her tehdide bir önlem.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(1.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Güvenlik "his" değil, </a:t>
            </a:r>
            <a:r>
              <a:rPr sz="2000" b="1">
                <a:solidFill>
                  <a:srgbClr val="1F2D3A"/>
                </a:solidFill>
              </a:rPr>
              <a:t>süreçtir</a:t>
            </a:r>
            <a:r>
              <a:rPr sz="2000" b="0">
                <a:solidFill>
                  <a:srgbClr val="1F2D3A"/>
                </a:solidFill>
              </a:rPr>
              <a:t>: varlığı tanı, tehdidi modelle, katmanla koru, kalan riski yaz.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çerçeveyi dönem boyunca kullanacağız.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 — Güvenli Programlamaya Giriş ve Uygulama Koruma Planı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