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varsaymaz; dersin ilk günü olduğu için her temel terimi tanımlıyoruz. Sonraki bölümlerde bunları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STRIDE'ın her harfini sentetik bir örnekte tek tek uyguluyoruz.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 "güvenlik", "zafiyet", "tehdit modeli" gibi terimlerle dolu.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Güvenlik:</a:t>
            </a:r>
            <a:r>
              <a:rPr sz="2000" b="0">
                <a:solidFill>
                  <a:srgbClr val="1F2D3A"/>
                </a:solidFill>
              </a:rPr>
              <a:t> bir sistemi, ona </a:t>
            </a:r>
            <a:r>
              <a:rPr sz="2000" b="1">
                <a:solidFill>
                  <a:srgbClr val="1F2D3A"/>
                </a:solidFill>
              </a:rPr>
              <a:t>zarar vermek isteyen</a:t>
            </a:r>
            <a:r>
              <a:rPr sz="2000" b="0">
                <a:solidFill>
                  <a:srgbClr val="1F2D3A"/>
                </a:solidFill>
              </a:rPr>
              <a:t> birine karşı korumak.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 hata: yanlışlıkla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Güvenlik: </a:t>
            </a:r>
            <a:r>
              <a:rPr sz="2000" b="1">
                <a:solidFill>
                  <a:srgbClr val="1F2D3A"/>
                </a:solidFill>
              </a:rPr>
              <a:t>kasıtlı</a:t>
            </a:r>
            <a:r>
              <a:rPr sz="2000" b="0">
                <a:solidFill>
                  <a:srgbClr val="1F2D3A"/>
                </a:solidFill>
              </a:rPr>
              <a:t> bir saldırgan var.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(asset)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Varlık:</a:t>
            </a:r>
            <a:r>
              <a:rPr sz="2000" b="0">
                <a:solidFill>
                  <a:srgbClr val="1F2D3A"/>
                </a:solidFill>
              </a:rPr>
              <a:t> korumaya değer her şey (veri, anahtar, işlev).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parola, kredi kartı, lisans, kullanıcı verisi.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"neyi koruyoruz?" ile başlar.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ve zafiyet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olabilecek kötü bir olay (veri çalınması).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bunu mümkün kılan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(denetimsiz girdi).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+ zafiyet + saldırgan =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· zafiyet · varlık — şema</a:t>
            </a:r>
          </a:p>
        </p:txBody>
      </p:sp>
      <p:pic>
        <p:nvPicPr>
          <p:cNvPr id="7" name="Picture 6" descr="h01-01-tehdit-zafiyet-va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Güvenliğin üç temel hedefi: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(C):</a:t>
            </a:r>
            <a:r>
              <a:rPr sz="2000" b="0">
                <a:solidFill>
                  <a:srgbClr val="1F2D3A"/>
                </a:solidFill>
              </a:rPr>
              <a:t> yalnız yetkili görsün.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(I):</a:t>
            </a:r>
            <a:r>
              <a:rPr sz="2000" b="0">
                <a:solidFill>
                  <a:srgbClr val="1F2D3A"/>
                </a:solidFill>
              </a:rPr>
              <a:t> izinsiz değişmesin.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Erişilebilirlik (A):</a:t>
            </a:r>
            <a:r>
              <a:rPr sz="2000" b="0">
                <a:solidFill>
                  <a:srgbClr val="1F2D3A"/>
                </a:solidFill>
              </a:rPr>
              <a:t> gerektiğinde çalışsın.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 modeli:</a:t>
            </a:r>
            <a:r>
              <a:rPr sz="2000" b="0">
                <a:solidFill>
                  <a:srgbClr val="1F2D3A"/>
                </a:solidFill>
              </a:rPr>
              <a:t> "saldırgan neyi görebilir/yapabilir?"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Ağdan mı bağlanıyor, cihaza mı sahip?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Savunmayı buna göre tasarlarız.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altı harfle sınıflandıran yöntem: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poofing,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ampering, </a:t>
            </a:r>
            <a:r>
              <a:rPr sz="2000" b="1">
                <a:solidFill>
                  <a:srgbClr val="1F2D3A"/>
                </a:solidFill>
              </a:rPr>
              <a:t>R</a:t>
            </a:r>
            <a:r>
              <a:rPr sz="2000" b="0">
                <a:solidFill>
                  <a:srgbClr val="1F2D3A"/>
                </a:solidFill>
              </a:rPr>
              <a:t>epudiation,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nformation disclosure, </a:t>
            </a:r>
            <a:r>
              <a:rPr sz="2000" b="1">
                <a:solidFill>
                  <a:srgbClr val="1F2D3A"/>
                </a:solidFill>
              </a:rPr>
              <a:t>D</a:t>
            </a:r>
            <a:r>
              <a:rPr sz="2000" b="0">
                <a:solidFill>
                  <a:srgbClr val="1F2D3A"/>
                </a:solidFill>
              </a:rPr>
              <a:t>enial of service,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levation of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öğe için "hangi tehdit?" diye sorar.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bir hedefi (ör. "anahtarı çal") </a:t>
            </a:r>
            <a:r>
              <a:rPr sz="2000" b="1">
                <a:solidFill>
                  <a:srgbClr val="1F2D3A"/>
                </a:solidFill>
              </a:rPr>
              <a:t>alt adımlara</a:t>
            </a:r>
            <a:r>
              <a:rPr sz="2000" b="0">
                <a:solidFill>
                  <a:srgbClr val="1F2D3A"/>
                </a:solidFill>
              </a:rPr>
              <a:t> bölen ağaç.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amacı.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Dallar: bunu başarmanın yolları.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(DFD)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DFD:</a:t>
            </a:r>
            <a:r>
              <a:rPr sz="2000" b="0">
                <a:solidFill>
                  <a:srgbClr val="1F2D3A"/>
                </a:solidFill>
              </a:rPr>
              <a:t> verinin sistemde </a:t>
            </a:r>
            <a:r>
              <a:rPr sz="2000" b="1">
                <a:solidFill>
                  <a:srgbClr val="1F2D3A"/>
                </a:solidFill>
              </a:rPr>
              <a:t>nasıl aktığını</a:t>
            </a:r>
            <a:r>
              <a:rPr sz="2000" b="0">
                <a:solidFill>
                  <a:srgbClr val="1F2D3A"/>
                </a:solidFill>
              </a:rPr>
              <a:t> gösteren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veri deposu, dış varlık, akış, güven sınırı.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bulmak için harita.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tasarım ilkeleri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Saltzer &amp; Schroeder (1975): en az yetki, güvenli varsayılan, ekonomi, açık tasarım…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omurgası.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· varlık · tehdit/zafiyet · CIA · saldırgan modeli · MATE · tehdit modelleme · STRIDE · saldırı ağacı · DFD · katmanlı savunma · tasarım ilkeleri · ödünleşim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güvenlik nedir, derinlemesine.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/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· Visual Studio: Klasör Aç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 programlama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güvenli tasarımın </a:t>
            </a:r>
            <a:r>
              <a:rPr sz="1800" b="1">
                <a:solidFill>
                  <a:srgbClr val="1F2D3A"/>
                </a:solidFill>
              </a:rPr>
              <a:t>8 ilkesi</a:t>
            </a:r>
            <a:r>
              <a:rPr sz="1800" b="0">
                <a:solidFill>
                  <a:srgbClr val="1F2D3A"/>
                </a:solidFill>
              </a:rPr>
              <a:t> (en az ayrıcalık, derinlemesine savunma…)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1970–80'ler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CIA üçlüsü</a:t>
            </a:r>
            <a:r>
              <a:rPr sz="1800" b="0">
                <a:solidFill>
                  <a:srgbClr val="1F2D3A"/>
                </a:solidFill>
              </a:rPr>
              <a:t> ortak dil hâline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Microsoft'ta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; Schneier </a:t>
            </a:r>
            <a:r>
              <a:rPr sz="1800" b="1">
                <a:solidFill>
                  <a:srgbClr val="1F2D3A"/>
                </a:solidFill>
              </a:rPr>
              <a:t>saldırı ağaçlarını</a:t>
            </a:r>
            <a:r>
              <a:rPr sz="1800" b="0">
                <a:solidFill>
                  <a:srgbClr val="1F2D3A"/>
                </a:solidFill>
              </a:rPr>
              <a:t> tanıtır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(dersin ana kaynağı)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9582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araçlar (CIA · saldırgan modeli · STRIDE · saldırı ağacı) bu çizginin ürünüdür.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pic>
        <p:nvPicPr>
          <p:cNvPr id="7" name="Picture 6" descr="h01-12-cia-ucl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1237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55933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Sorunun cevabı:</a:t>
            </a:r>
            <a:r>
              <a:rPr sz="1800" b="0">
                <a:solidFill>
                  <a:srgbClr val="1F2D3A"/>
                </a:solidFill>
              </a:rPr>
              <a:t> bakiye şifresiz →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; IBAN yolda değişiyor →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; bayram gecesi çöküyor → </a:t>
            </a:r>
            <a:r>
              <a:rPr sz="1800" b="1">
                <a:solidFill>
                  <a:srgbClr val="1F2D3A"/>
                </a:solidFill>
              </a:rPr>
              <a:t>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modelleri — şema</a:t>
            </a:r>
          </a:p>
        </p:txBody>
      </p:sp>
      <p:pic>
        <p:nvPicPr>
          <p:cNvPr id="7" name="Picture 6" descr="h01-02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pic>
        <p:nvPicPr>
          <p:cNvPr id="7" name="Picture 6" descr="h01-03-yedi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675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03195"/>
            <a:ext cx="10911535" cy="2913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3A"/>
                </a:solidFill>
              </a:rPr>
              <a:t>Bir hata dış katmanları geçse bile </a:t>
            </a:r>
            <a:r>
              <a:rPr sz="1100" b="1">
                <a:solidFill>
                  <a:srgbClr val="1F2D3A"/>
                </a:solidFill>
              </a:rPr>
              <a:t>bir sonraki</a:t>
            </a:r>
            <a:r>
              <a:rPr sz="11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planı — şema</a:t>
            </a:r>
          </a:p>
        </p:txBody>
      </p:sp>
      <p:pic>
        <p:nvPicPr>
          <p:cNvPr id="7" name="Picture 6" descr="h01-04-koru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TELEFON (güvenilmez)                    SUNUCU (güvenilir)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─────────────────────                   ──────────────────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Mobil uygulama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Java  ──── D: TLS + mesaj şifreleme ───&gt;  Arka uç + HSM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B (JNI)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native C/C++ ── E: NFC ──&gt;  Ödeme terminali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Yerel veritabanı (şifreli)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Mobil ödeme mimarisi — şema</a:t>
            </a:r>
          </a:p>
        </p:txBody>
      </p:sp>
      <p:pic>
        <p:nvPicPr>
          <p:cNvPr id="7" name="Picture 6" descr="h01-05-mimari-arayuz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3909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şema</a:t>
            </a:r>
          </a:p>
        </p:txBody>
      </p:sp>
      <p:pic>
        <p:nvPicPr>
          <p:cNvPr id="7" name="Picture 6" descr="h01-06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3909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ağacından çıkan sonuçlar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"Trafiği dinle" yolu </a:t>
            </a:r>
            <a:r>
              <a:rPr sz="2000" b="1">
                <a:solidFill>
                  <a:srgbClr val="1F2D3A"/>
                </a:solidFill>
              </a:rPr>
              <a:t>iki katmanı birden</a:t>
            </a:r>
            <a:r>
              <a:rPr sz="2000" b="0">
                <a:solidFill>
                  <a:srgbClr val="1F2D3A"/>
                </a:solidFill>
              </a:rPr>
              <a:t> kırmayı gerektirir → pahalı → </a:t>
            </a:r>
            <a:r>
              <a:rPr sz="2000" b="1">
                <a:solidFill>
                  <a:srgbClr val="1F2D3A"/>
                </a:solidFill>
              </a:rPr>
              <a:t>derinlemesine savunma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yolunun </a:t>
            </a:r>
            <a:r>
              <a:rPr sz="2000" b="1">
                <a:solidFill>
                  <a:srgbClr val="1F2D3A"/>
                </a:solidFill>
              </a:rPr>
              <a:t>üç alternatifi</a:t>
            </a:r>
            <a:r>
              <a:rPr sz="2000" b="0">
                <a:solidFill>
                  <a:srgbClr val="1F2D3A"/>
                </a:solidFill>
              </a:rPr>
              <a:t> var → en zayıf nokta </a:t>
            </a:r>
            <a:r>
              <a:rPr sz="2000" b="1">
                <a:solidFill>
                  <a:srgbClr val="1F2D3A"/>
                </a:solidFill>
              </a:rPr>
              <a:t>bellekteki anahtar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 hafta: </a:t>
            </a:r>
            <a:r>
              <a:rPr sz="2000" b="1">
                <a:solidFill>
                  <a:srgbClr val="1F2D3A"/>
                </a:solidFill>
              </a:rPr>
              <a:t>Demo 2</a:t>
            </a:r>
            <a:r>
              <a:rPr sz="2000" b="0">
                <a:solidFill>
                  <a:srgbClr val="1F2D3A"/>
                </a:solidFill>
              </a:rPr>
              <a:t> (bellekte kalan sır)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6: çalışma zamanı koruması (hata ayıklayıcı, kanca algılama)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11: whitebox kriptografi (anahtar bellekte hiç açık durmaz)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hedefi: saldırganı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düğümlerine zorlamak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mimarisi — şema</a:t>
            </a:r>
          </a:p>
        </p:txBody>
      </p:sp>
      <p:pic>
        <p:nvPicPr>
          <p:cNvPr id="7" name="Picture 6" descr="h01-07-kasa-mim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596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PATH ile kandırma — şema</a:t>
            </a:r>
          </a:p>
        </p:txBody>
      </p:sp>
      <p:pic>
        <p:nvPicPr>
          <p:cNvPr id="7" name="Picture 6" descr="h01-08-path-kand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Ölü yazma giderme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yüksek adres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┌──────────────────────┐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Yığın (stack)   ↓    │  yerel değişkenler, dönüş adresleri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     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Öbek (heap)     ↑    │  malloc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.data / .bss         │  küresel değişkenler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.text                │  makine kodu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└──────────────────────┘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düşük adres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dizinin sonunu denetlemez.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20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uçlu (little-endian): en düşük bayt en düşük adreste.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düşük adres  | tampon[0..15]      |  &lt;- yazma buradan başlar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yetkili            |  &lt;- biraz fazlası: MANTIK bozulur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kaydedilmiş çerçeve|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yüksek adres | dönüş adresi       |  &lt;- çok fazlası: ÇÖKME / akış ele geçer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Belleğin ömrü ve CWE'ler — şema</a:t>
            </a:r>
          </a:p>
        </p:txBody>
      </p:sp>
      <p:pic>
        <p:nvPicPr>
          <p:cNvPr id="7" name="Picture 6" descr="h01-09-bellek-om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Güvenilir hesaplama tabanı (TCB):</a:t>
            </a:r>
            <a:r>
              <a:rPr sz="20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200.000 satırlık uygulama, 2.000 satırlık </a:t>
            </a:r>
            <a:r>
              <a:rPr sz="20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8744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[ Arayüz ] → [ İş mantığı ] ──yalnız tutamaç + şifreli veri──▶ [ Korunan çekirdek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                    kripto · anahtar · RASP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Bölümleme — şema</a:t>
            </a:r>
          </a:p>
        </p:txBody>
      </p:sp>
      <p:pic>
        <p:nvPicPr>
          <p:cNvPr id="7" name="Picture 6" descr="h01-10-bolum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kaldırma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kaldırma: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 — şema</a:t>
            </a:r>
          </a:p>
        </p:txBody>
      </p:sp>
      <p:pic>
        <p:nvPicPr>
          <p:cNvPr id="7" name="Picture 6" descr="h01-11-degisiklik-yonet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dizge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2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Kötü yazılım türleri · Bell–LaPadula, Biba, Clark–Wilson · CWE, OWASP,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37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1, 3, 12.1, 13.2–13.3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STRIDE'ı adım adım uygulamak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· özet uygulama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Saldırı ağacı adım adım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Ödeme anahtarını ele geçir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Dallar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Ödeme anahtarını ele geçir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Bellekten oku (çalışırken)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İkiliden çıkar (statik)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Sunucudan sız (ağ)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Alt dallar · bellekten oku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Bellekten oku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Debugger bağla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 dökümü al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Hook ile yakala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yaprak bir saldırı adımı.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önceliklendirme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</a:t>
            </a:r>
            <a:r>
              <a:rPr sz="2000" b="1">
                <a:solidFill>
                  <a:srgbClr val="1F2D3A"/>
                </a:solidFill>
              </a:rPr>
              <a:t>kolay</a:t>
            </a:r>
            <a:r>
              <a:rPr sz="2000" b="0">
                <a:solidFill>
                  <a:srgbClr val="1F2D3A"/>
                </a:solidFill>
              </a:rPr>
              <a:t> yaprak en büyük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onu kapat (ör. RASP + kısa ömür).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Ağaç, savunma önceliğini gösterir.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önleme eşleme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Güvenli tasarım ilkeleri derinleşme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az yetki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bileşen yalnız gerekeni yapabilsin.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Fazla yetki = büyük saldırı yüzeyi.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varsayılan (fail-safe)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şey ters giderse </a:t>
            </a:r>
            <a:r>
              <a:rPr sz="2000" b="1">
                <a:solidFill>
                  <a:srgbClr val="1F2D3A"/>
                </a:solidFill>
              </a:rPr>
              <a:t>güvenli</a:t>
            </a:r>
            <a:r>
              <a:rPr sz="2000" b="0">
                <a:solidFill>
                  <a:srgbClr val="1F2D3A"/>
                </a:solidFill>
              </a:rPr>
              <a:t> tarafa düş.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→ erişim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 (fail-closed).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Varsayılan: kapalı, kısıtlı.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Ekonomi ve açık tasarım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Ekonomi:</a:t>
            </a:r>
            <a:r>
              <a:rPr sz="2000" b="0">
                <a:solidFill>
                  <a:srgbClr val="1F2D3A"/>
                </a:solidFill>
              </a:rPr>
              <a:t> basit tasarım, az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tasarım:</a:t>
            </a:r>
            <a:r>
              <a:rPr sz="2000" b="0">
                <a:solidFill>
                  <a:srgbClr val="1F2D3A"/>
                </a:solidFill>
              </a:rPr>
              <a:t> güvenlik gizliliğe değil, </a:t>
            </a:r>
            <a:r>
              <a:rPr sz="2000" b="1">
                <a:solidFill>
                  <a:srgbClr val="1F2D3A"/>
                </a:solidFill>
              </a:rPr>
              <a:t>anahtara</a:t>
            </a:r>
            <a:r>
              <a:rPr sz="2000" b="0">
                <a:solidFill>
                  <a:srgbClr val="1F2D3A"/>
                </a:solidFill>
              </a:rPr>
              <a:t> dayanır (Kerckhoffs).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Karmaşıklık düşmandır.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aracılık ve ayrık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 aracılık:</a:t>
            </a:r>
            <a:r>
              <a:rPr sz="2000" b="0">
                <a:solidFill>
                  <a:srgbClr val="1F2D3A"/>
                </a:solidFill>
              </a:rPr>
              <a:t> her erişim denetlenir (önbelleğe güvenip atlama).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Ayrık ayrıcalık:</a:t>
            </a:r>
            <a:r>
              <a:rPr sz="2000" b="0">
                <a:solidFill>
                  <a:srgbClr val="1F2D3A"/>
                </a:solidFill>
              </a:rPr>
              <a:t> kritik işlem için birden çok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Derinlemesine savunmanın temeli.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İlkeler → bu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ilkeler dönem boyunca her haftada tekrar edecek.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Kod, kripto, RASP, gereksinimler — hepsi bunlara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İlkeler değişmez; teknikler değişir.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her öğeye altı soru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ağacı hedefi yollara böler, önceliklendirir.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Tasarım ilkeleri her kararın pusulası.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katmanla</a:t>
            </a:r>
            <a:r>
              <a:rPr sz="2000" b="0">
                <a:solidFill>
                  <a:srgbClr val="1F2D3A"/>
                </a:solidFill>
              </a:rPr>
              <a:t> koru.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CIA üçlüsünü bir örnekle açıklayın.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Gizlilik: parola yalnız sahibince görülür. Bütünlük: banka bakiyesi izinsiz değişmez. Erişilebilirlik: uygulama gerektiğinde çalışır.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Hata ile zafiyet arasındaki fark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zafiyet bir hatadır ama her hata zafiyet değildir. Zafiyet, bir saldırganın </a:t>
            </a:r>
            <a:r>
              <a:rPr sz="2000" b="1">
                <a:solidFill>
                  <a:srgbClr val="1F2D3A"/>
                </a:solidFill>
              </a:rPr>
              <a:t>kötüye kullanabileceği</a:t>
            </a:r>
            <a:r>
              <a:rPr sz="2000" b="0">
                <a:solidFill>
                  <a:srgbClr val="1F2D3A"/>
                </a:solidFill>
              </a:rPr>
              <a:t> hatadır.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(beyaz kutu) saldırgan ağ saldırganından nasıl ayrılır?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MATE programa sahiptir: kodu okur, belleği görür, değiştirir. Ağ saldırganı yalnız dışarıdan bağlanır.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STRIDE neyi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Tehditleri altı sınıfta sistemli aramayı: sahtecilik, kurcalama, inkâr, bilgi sızması, hizmet reddi, yetki yükseltme.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ağacı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saldırı hedefini alt adımlara böler; en kolay/olası yolu ve önceliklendirmeyi gösterir.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Neden tek bir önlem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önlem aşılabilir; katmanlı savunmada biri aşılsa diğeri durdurur. Güç birliktelikten gelir.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"Gizleme doğru kodun yerine geçer mi?"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Gizleme okumayı zorlaştırır ama hatayı düzeltmez. Önce güvenli kod, sonra gizleme.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bileşen yalnız </a:t>
            </a:r>
            <a:r>
              <a:rPr sz="2000" b="1">
                <a:solidFill>
                  <a:srgbClr val="1F2D3A"/>
                </a:solidFill>
              </a:rPr>
              <a:t>gereken</a:t>
            </a:r>
            <a:r>
              <a:rPr sz="2000" b="0">
                <a:solidFill>
                  <a:srgbClr val="1F2D3A"/>
                </a:solidFill>
              </a:rPr>
              <a:t> yetkiye sahip olmalı; fazlası saldırı yüzeyini büyütür.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güven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Güvenilen ve güvenilmeyen bölgelerin ayrıldığı yer; girdi doğrulama en erken burada yapılır.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 neden yazılır?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Hiçbir sistem %100 güvenli değildir; bilinen ve kabul edilen riskler açıkça belgelenir.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İşlenmiş mini tehdit modeli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Ürün · sentetik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"parola kasası"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parolaları yerelde saklar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parolayla açılır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Hızlı bir tehdit modeli yapalım.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Saklanan parolalar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anahtarı (C/I)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tehditler (STRIDE)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(bilgi sızması): cihaz çalınırsa parolalar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 (kurcalama): kasa dosyası değiştirilir.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 (yetki): kök cihazda belleğe erişim.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 AEAD ile şifreli (I → 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paroladan KDF ile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etiketi (T).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bellek + RASP (E).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ana parola girilirken bellekte açık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hızlı silme, cihaz bağlama.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S2–S5:</a:t>
            </a:r>
            <a:r>
              <a:rPr sz="2000" b="0">
                <a:solidFill>
                  <a:srgbClr val="1F2D3A"/>
                </a:solidFill>
              </a:rPr>
              <a:t> ürün, mimari, varlık listesi, tehdit modeli.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S1:</a:t>
            </a:r>
            <a:r>
              <a:rPr sz="2000" b="0">
                <a:solidFill>
                  <a:srgbClr val="1F2D3A"/>
                </a:solidFill>
              </a:rPr>
              <a:t> kapsam, kaynaklar.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C/I/I+ ile etiketli; her tehdide bir önlem.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"his" değil,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 varlığı tanı, tehdidi modelle, katmanla koru, kalan riski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çerçeveyi dönem boyunca kullanacağız.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