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Kendinizi ve dersi tanıtın. Bu ders "saldırıyı görerek savunmayı öğrenme" dersi. Her hafta çalışan demolar olacak.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(Windows: code içinde .\build.ps1, WSL: ./build.sh) ki derste bekleme olmasın. Öğrencilere iki ortamın da aynı sonucu verdiğini gösterin; Visual Studio'da Klasör Aç ile code klasörünü açmak yeterli.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kendi örneklerini sorun: "Instagram hesabınız için varlık, tehdit, zafiyet ne?"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4'te aynı aileden bir hatayı (uzunluk denetimi) kendi ellerimizle göreceğiz.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Mobil ödeme, DRM, oyun hileleri, lisans denetimi örnekleri. "Anahtarı gizle" demek yetmez; saldırgan belleği okuyabilir.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Bina benzetmesi: iyi kilit, açık pencere, paspas altındaki anahtar, şifresiz kasa. Öğrencilere her satırda "bunu kim yapar?" diye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İç katmanlar "doğru yaz", dış katmanlar "kod saldırganın elindeyken ne olacak" sorusu. Bu tablo dönemin yol haritası.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Oyun hilesi örneği: istemci gizlenmiş, ama sunucu "bir saniyede 100 metre" hareketi kabul ediyor.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Projenin güvenlik kılavuzu her katman için "hangi önlemi aldım, nasıl test ettim" sorusunu cevaplayacak.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mimari yalnız yöntemi göstermek için. Arayüz ve varlık tablosu yöntemini dönem boyunca kullanacağız; tablodaki varlıkları koruyan yöntemleri sonraki haftalarda tek tek açacağız (3: güvenlik kabukları, 4 ve 9: native sağlamlaştırma, 6: RASP, 10: anahtar hiyerarşisi, 11: whitebox).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Süreç altı tehdide de açıktır: taklit edilir, kodu değiştirilir, belleği okunur, çökertilir, yetkisi kötüye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Tahtaya diyagramı çizin; E ve F güven sınırını geçen oklar.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yedi adım dönem projesinin güvenlik kılavuzu iskeleti. Bu hafta adım 0-4 bekleniyor.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sahte/date (Windows'ta sahte\hostname.bat) dosyasını gösterin: yalnız bir mesaj basıyor. Windows'ta cmd.exe komutu PATH'ten önce çalışma klasöründe de arar. "Gerçek saldırgan burada ne yapardı?" sorusunu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PR_SET_DUMPABLE'ın ikinci etkisini vurgulayın: aynı kullanıcının hata ayıklayıcısı bile bağlanamaz. 6. haftaya köprü.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programı kapalı stdout, zehirli PATH/LD_PRELOAD ve umask 000 ile başlatır. Sahada native katman getenv'in kancalanıp kancalanmadığını setenv/getenv ile sınar.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Linux'ta demo gdb ile programı durdurup gcore ile belleği döküyor; Windows'ta program kendi belleğini MiniDumpWriteDump ile dokum klasörüne yazıyor. Bu, çökme dökümü veya hata ayıklayıcı saldırısının güvenli bir benzetimi. MSVC /O2 de memset'i kaldırıyor. Makine kodu: Linux'ta objdump -d, Visual Studio'da Ayrıştırılmış Kod penceresi.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Gerçek yerleşim derleyiciye göre değişir. Bu derste sömürü tekniğine değil, hatanın nasıl oluştuğuna, nasıl bulunduğuna ve nasıl önlendiğine odaklanıyoruz.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grep ile tehlikeli fonksiyonları arar, sonra dışarıdan gelen her uzunluk alanının doğrulanıp doğrulanmadığına bakar; checksec / dumpbin ile korumaları denetler.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Asıl vurgu: tek bayt yeter; araçların sınırı var; asıl düzeltme kodda.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oturum verisi işlem biter bitmez rastgele değerlerle doldurularak silinir; uzun sıfır dizisi bile "burada sır vardı" izi bırakır.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tek statik anahtar yarım bayt düzeyinde parçalanıp onlarca fonksiyona dağıtılır; parmak izi iki farklı özetle iki farklı yerde saklanıp karşılaştırılır. Örtme tek başına kale değil; diğer katmanlarla değer kazanır.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Bütünlük denetimi gibi önlemler derleme hattını da değiştirir: özet gömülür, yeniden derlenir; sahada beş turlu imzalı derleme. Korumaların maliyeti de ölçülür: kritik işlemi 20 kez çalıştırıp en kısa, en uzun, ortalama süre.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3-4 kişilik gruplar. 10 dakika çalışma, 5 dakika iki gruba sunum. İpucu: E için doğrudan URL ile not girme sayfası; R için değişiklik kaydının olmaması.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aç; tam çözüm eklerde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9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 Programlamaya Giriş ve Uygulama Koruma Planı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693"/>
                <a:gridCol w="10201841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Ders tanıtımı · Güvenlik nedir? · Saldırgan · İlkeler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 korumasına genel bakış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planı · STRIDE ve risk puanı · Saldırı ağacı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Uygulamalı örnek "Kasa"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Sınıf alıştırması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Güvenli başlatma · Taşmalar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3–4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Bellek yönetimi · Bölümleme · Güvenli süreç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çıktıları:</a:t>
            </a:r>
            <a:r>
              <a:rPr sz="2000" b="0">
                <a:solidFill>
                  <a:srgbClr val="1F2D3A"/>
                </a:solidFill>
              </a:rPr>
              <a:t> ÖÇ.1 (zafiyetleri tanır ve sınıflandırır) · ÖÇ.5 (güvenli tasarım ilkeleriyle yazılım planı oluşturur)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derse nasıl başlıyoruz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dersin </a:t>
            </a:r>
            <a:r>
              <a:rPr sz="2000" b="1">
                <a:solidFill>
                  <a:srgbClr val="1F2D3A"/>
                </a:solidFill>
              </a:rPr>
              <a:t>ilk haftası</a:t>
            </a:r>
            <a:r>
              <a:rPr sz="2000" b="0">
                <a:solidFill>
                  <a:srgbClr val="1F2D3A"/>
                </a:solidFill>
              </a:rPr>
              <a:t>; önceki bir haftaya dayanmıyoruz.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Varsayılan ön bilgi: C'de fonksiyon, dizi, işaretçi; terminalde </a:t>
            </a:r>
            <a:r>
              <a:rPr sz="2000" b="0">
                <a:solidFill>
                  <a:srgbClr val="A1123F"/>
                </a:solidFill>
                <a:latin typeface="Consolas"/>
              </a:rPr>
              <a:t>cd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ls</a:t>
            </a:r>
            <a:r>
              <a:rPr sz="2000" b="0">
                <a:solidFill>
                  <a:srgbClr val="1F2D3A"/>
                </a:solidFill>
              </a:rPr>
              <a:t> (PowerShell ya da Linux).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Aşağıdaki </a:t>
            </a:r>
            <a:r>
              <a:rPr sz="2000" b="1">
                <a:solidFill>
                  <a:srgbClr val="1F2D3A"/>
                </a:solidFill>
              </a:rPr>
              <a:t>"Bu haftanın kavramları"</a:t>
            </a:r>
            <a:r>
              <a:rPr sz="2000" b="0">
                <a:solidFill>
                  <a:srgbClr val="1F2D3A"/>
                </a:solidFill>
              </a:rPr>
              <a:t> tablosu, bu haftanın terimlerini birer cümleyle tanımlamak yerine, her birinin </a:t>
            </a:r>
            <a:r>
              <a:rPr sz="2000" b="1">
                <a:solidFill>
                  <a:srgbClr val="1F2D3A"/>
                </a:solidFill>
              </a:rPr>
              <a:t>hangi bölümde</a:t>
            </a:r>
            <a:r>
              <a:rPr sz="2000" b="0">
                <a:solidFill>
                  <a:srgbClr val="1F2D3A"/>
                </a:solidFill>
              </a:rPr>
              <a:t> öğretileceğini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Dönem boyunca izleyeceğimiz kalıp: </a:t>
            </a:r>
            <a:r>
              <a:rPr sz="2000" b="1">
                <a:solidFill>
                  <a:srgbClr val="1F2D3A"/>
                </a:solidFill>
              </a:rPr>
              <a:t>hatalı kod → saldırı → düzeltme.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kavramları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738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F2D3A"/>
                </a:solidFill>
              </a:rPr>
              <a:t>Her terim, gövdede ilk geçtiği yerde tanımlanır; burada yalnız </a:t>
            </a:r>
            <a:r>
              <a:rPr sz="1600" b="1">
                <a:solidFill>
                  <a:srgbClr val="1F2D3A"/>
                </a:solidFill>
              </a:rPr>
              <a:t>nerede</a:t>
            </a:r>
            <a:r>
              <a:rPr sz="1600" b="0">
                <a:solidFill>
                  <a:srgbClr val="1F2D3A"/>
                </a:solidFill>
              </a:rPr>
              <a:t> olduğunu işaretliyoruz.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09496"/>
          <a:ext cx="7274355" cy="43360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3908"/>
                <a:gridCol w="2000447"/>
              </a:tblGrid>
              <a:tr h="309720">
                <a:tc>
                  <a:txBody>
                    <a:bodyPr wrap="square"/>
                    <a:lstStyle/>
                    <a:p>
                      <a:r>
                        <a:rPr sz="1152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Güvenlik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Varlık (asset)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Tehdit ve zafiyet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CIA üçlüsü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Saldırgan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Beyaz kutu / MATE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Güvenli tasarım ilkeleri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Katmanlı 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Ödünleşim (trade-off)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Tehdit modelleme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STRIDE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Saldırı ağacı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09724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Veri akış diyagramı (DFD)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Demolar nasıl çalışıyor?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6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kaynak, iki/üç ortam: </a:t>
            </a:r>
            <a:r>
              <a:rPr sz="2000" b="1">
                <a:solidFill>
                  <a:srgbClr val="1F2D3A"/>
                </a:solidFill>
              </a:rPr>
              <a:t>Windows</a:t>
            </a:r>
            <a:r>
              <a:rPr sz="2000" b="0">
                <a:solidFill>
                  <a:srgbClr val="1F2D3A"/>
                </a:solidFill>
              </a:rPr>
              <a:t> (Visual Studio 2022 Community ya da PowerShell), </a:t>
            </a:r>
            <a:r>
              <a:rPr sz="2000" b="1">
                <a:solidFill>
                  <a:srgbClr val="1F2D3A"/>
                </a:solidFill>
              </a:rPr>
              <a:t>WSL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Linux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.build.ps1</a:t>
            </a:r>
            <a:r>
              <a:rPr sz="2000" b="0">
                <a:solidFill>
                  <a:srgbClr val="1F2D3A"/>
                </a:solidFill>
              </a:rPr>
              <a:t> · WSL/Linux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./build.sh</a:t>
            </a:r>
            <a:r>
              <a:rPr sz="2000" b="0">
                <a:solidFill>
                  <a:srgbClr val="1F2D3A"/>
                </a:solidFill>
              </a:rPr>
              <a:t> — dersten önce bir kez derleyin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WSL/Linux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Visual Studio: </a:t>
            </a:r>
            <a:r>
              <a:rPr sz="2000" b="1">
                <a:solidFill>
                  <a:srgbClr val="1F2D3A"/>
                </a:solidFill>
              </a:rPr>
              <a:t>Dosya &gt; Aç &gt; Klasör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</a:t>
            </a:r>
            <a:r>
              <a:rPr sz="2000" b="0">
                <a:solidFill>
                  <a:srgbClr val="1F2D3A"/>
                </a:solidFill>
              </a:rPr>
              <a:t> → yapılandırma </a:t>
            </a:r>
            <a:r>
              <a:rPr sz="2000" b="1">
                <a:solidFill>
                  <a:srgbClr val="1F2D3A"/>
                </a:solidFill>
              </a:rPr>
              <a:t>Windows (MSVC)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Derle &gt; Tümünü Derle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4 demo: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code/week-01</a:t>
            </a:r>
            <a:r>
              <a:rPr sz="2000" b="0">
                <a:solidFill>
                  <a:srgbClr val="1F2D3A"/>
                </a:solidFill>
              </a:rPr>
              <a:t> altında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972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Bütün demolar yalnız kendi klasöründe çalışır, yönetici yetkisi istemez. Teknikleri yalnız </a:t>
            </a:r>
            <a:r>
              <a:rPr sz="2000" b="1">
                <a:solidFill>
                  <a:srgbClr val="1F2D3A"/>
                </a:solidFill>
              </a:rPr>
              <a:t>kendi bilgisayarınızda</a:t>
            </a:r>
            <a:r>
              <a:rPr sz="2000" b="0">
                <a:solidFill>
                  <a:srgbClr val="1F2D3A"/>
                </a:solidFill>
              </a:rPr>
              <a:t> deneyin.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güvenli programlama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1975</a:t>
            </a:r>
            <a:r>
              <a:rPr sz="1800" b="0">
                <a:solidFill>
                  <a:srgbClr val="1F2D3A"/>
                </a:solidFill>
              </a:rPr>
              <a:t> — Saltzer &amp; Schroeder: güvenli tasarımın </a:t>
            </a:r>
            <a:r>
              <a:rPr sz="1800" b="1">
                <a:solidFill>
                  <a:srgbClr val="1F2D3A"/>
                </a:solidFill>
              </a:rPr>
              <a:t>8 ilkesi</a:t>
            </a:r>
            <a:r>
              <a:rPr sz="1800" b="0">
                <a:solidFill>
                  <a:srgbClr val="1F2D3A"/>
                </a:solidFill>
              </a:rPr>
              <a:t> (en az ayrıcalık, derinlemesine savunma…)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1970–80'ler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CIA üçlüsü</a:t>
            </a:r>
            <a:r>
              <a:rPr sz="1800" b="0">
                <a:solidFill>
                  <a:srgbClr val="1F2D3A"/>
                </a:solidFill>
              </a:rPr>
              <a:t> ortak dil hâline gelir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1998–99</a:t>
            </a:r>
            <a:r>
              <a:rPr sz="1800" b="0">
                <a:solidFill>
                  <a:srgbClr val="1F2D3A"/>
                </a:solidFill>
              </a:rPr>
              <a:t> — Microsoft'ta </a:t>
            </a:r>
            <a:r>
              <a:rPr sz="1800" b="1">
                <a:solidFill>
                  <a:srgbClr val="1F2D3A"/>
                </a:solidFill>
              </a:rPr>
              <a:t>STRIDE</a:t>
            </a:r>
            <a:r>
              <a:rPr sz="1800" b="0">
                <a:solidFill>
                  <a:srgbClr val="1F2D3A"/>
                </a:solidFill>
              </a:rPr>
              <a:t>; Schneier </a:t>
            </a:r>
            <a:r>
              <a:rPr sz="1800" b="1">
                <a:solidFill>
                  <a:srgbClr val="1F2D3A"/>
                </a:solidFill>
              </a:rPr>
              <a:t>saldırı ağaçlarını</a:t>
            </a:r>
            <a:r>
              <a:rPr sz="1800" b="0">
                <a:solidFill>
                  <a:srgbClr val="1F2D3A"/>
                </a:solidFill>
              </a:rPr>
              <a:t> tanıtır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2001–03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Building Secure Software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Secure Programming Cookbook</a:t>
            </a:r>
            <a:r>
              <a:rPr sz="1800" b="0">
                <a:solidFill>
                  <a:srgbClr val="1F2D3A"/>
                </a:solidFill>
              </a:rPr>
              <a:t> (dersin ana kaynağı)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9582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araçlar (CIA · saldırgan modeli · STRIDE · saldırı ağacı) bu çizginin ürünüdür.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programlamanın beş kararı — şema</a:t>
            </a:r>
          </a:p>
        </p:txBody>
      </p:sp>
      <p:pic>
        <p:nvPicPr>
          <p:cNvPr id="7" name="Picture 6" descr="h01-17-bes-kar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8580" y="1325880"/>
            <a:ext cx="903453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nasıl yürüyor?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dönem projesi:</a:t>
            </a:r>
            <a:r>
              <a:rPr sz="2000" b="0">
                <a:solidFill>
                  <a:srgbClr val="1F2D3A"/>
                </a:solidFill>
              </a:rPr>
              <a:t> C/C++ uygulaması + "sertifikasyondan geçecekmiş gibi" bir </a:t>
            </a:r>
            <a:r>
              <a:rPr sz="2000" b="1">
                <a:solidFill>
                  <a:srgbClr val="1F2D3A"/>
                </a:solidFill>
              </a:rPr>
              <a:t>güvenlik kılavuzu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Vize kontrolü: </a:t>
            </a:r>
            <a:r>
              <a:rPr sz="2000" b="1">
                <a:solidFill>
                  <a:srgbClr val="1F2D3A"/>
                </a:solidFill>
              </a:rPr>
              <a:t>7. hafta</a:t>
            </a:r>
            <a:r>
              <a:rPr sz="2000" b="0">
                <a:solidFill>
                  <a:srgbClr val="1F2D3A"/>
                </a:solidFill>
              </a:rPr>
              <a:t> gösterim · Final kontrolü: </a:t>
            </a:r>
            <a:r>
              <a:rPr sz="2000" b="1">
                <a:solidFill>
                  <a:srgbClr val="1F2D3A"/>
                </a:solidFill>
              </a:rPr>
              <a:t>15. hafta</a:t>
            </a:r>
            <a:r>
              <a:rPr sz="2000" b="0">
                <a:solidFill>
                  <a:srgbClr val="1F2D3A"/>
                </a:solidFill>
              </a:rPr>
              <a:t> gösterim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quiz:</a:t>
            </a:r>
            <a:r>
              <a:rPr sz="2000" b="0">
                <a:solidFill>
                  <a:srgbClr val="1F2D3A"/>
                </a:solidFill>
              </a:rPr>
              <a:t> 8. hafta (1–6) · 16. hafta (9–14)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Not: </a:t>
            </a:r>
            <a:r>
              <a:rPr sz="2000" b="0">
                <a:solidFill>
                  <a:srgbClr val="A1123F"/>
                </a:solidFill>
                <a:latin typeface="Consolas"/>
              </a:rPr>
              <a:t>Vize = 0,6·Proje1 + 0,4·Quiz1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 = 0,7·Proje2 + 0,3·Quiz2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hafta: </a:t>
            </a:r>
            <a:r>
              <a:rPr sz="2000" b="1">
                <a:solidFill>
                  <a:srgbClr val="1F2D3A"/>
                </a:solidFill>
              </a:rPr>
              <a:t>hatalı kod → saldırı → düzeltme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Teknikleri yalnız </a:t>
            </a:r>
            <a:r>
              <a:rPr sz="2000" b="1">
                <a:solidFill>
                  <a:srgbClr val="1F2D3A"/>
                </a:solidFill>
              </a:rPr>
              <a:t>kendi bilgisayarınızda</a:t>
            </a:r>
            <a:r>
              <a:rPr sz="2000" b="0">
                <a:solidFill>
                  <a:srgbClr val="1F2D3A"/>
                </a:solidFill>
              </a:rPr>
              <a:t> ve verilen demolar üzerinde deneyin.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Güvenlik nedir?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Kasa benzetmesi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1610"/>
                <a:gridCol w="2801610"/>
                <a:gridCol w="5308314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Yazılım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Hırsız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Parolayı çalmak isteyen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Zafiyet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Arızalı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Denetlenmeyen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Kilidi açmak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 adla yönetici olmak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Karşı önlem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Uzunluk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Olasılık × 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"Bulunursa bütün hesaplar gider"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· zafiyet · varlık — şema</a:t>
            </a:r>
          </a:p>
        </p:txBody>
      </p:sp>
      <p:pic>
        <p:nvPicPr>
          <p:cNvPr id="7" name="Picture 6" descr="h01-01-tehdit-zafiyet-var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841" y="1325880"/>
            <a:ext cx="9000012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Güvenliğin üç hedefi: CIA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9149"/>
                <a:gridCol w="3978163"/>
                <a:gridCol w="2614221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onfidentiality —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yetkili görebiliyor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Parolalar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ntegrity —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Yetkisiz değiştirilebiliyor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Bakiye, not değişir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vailability — 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Gerektiğinde çalışıyor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Sistem çöker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Kimlik doğrulama · Yetkilendirme · İnkâr edilemezlik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123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Bankacılık uygulaması bakiyeyi şifresiz yazıyor → ? · Alıcı IBAN yolda değişiyor → ? · Bayram gecesi çöküyor →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 — şema</a:t>
            </a:r>
          </a:p>
        </p:txBody>
      </p:sp>
      <p:pic>
        <p:nvPicPr>
          <p:cNvPr id="7" name="Picture 6" descr="h01-12-cia-ucl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2808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716441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Sorunun cevabı:</a:t>
            </a:r>
            <a:r>
              <a:rPr sz="2000" b="0">
                <a:solidFill>
                  <a:srgbClr val="1F2D3A"/>
                </a:solidFill>
              </a:rPr>
              <a:t> bakiye şifresiz →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; IBAN yolda değişiyor →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; bayram gecesi çöküyor → </a:t>
            </a:r>
            <a:r>
              <a:rPr sz="2000" b="1">
                <a:solidFill>
                  <a:srgbClr val="1F2D3A"/>
                </a:solidFill>
              </a:rPr>
              <a:t>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 — tipik önlemler ve komşu kavramlar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4"/>
                <a:gridCol w="6183203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Hedef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Tipik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Şifreleme, erişim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 (hash), MAC, dijital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Yedeklilik, kaynak sınırlama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</a:t>
            </a:r>
            <a:r>
              <a:rPr sz="2000" b="1">
                <a:solidFill>
                  <a:srgbClr val="1F2D3A"/>
                </a:solidFill>
              </a:rPr>
              <a:t>Kimlik doğrulama:</a:t>
            </a:r>
            <a:r>
              <a:rPr sz="2000" b="0">
                <a:solidFill>
                  <a:srgbClr val="1F2D3A"/>
                </a:solidFill>
              </a:rPr>
              <a:t> sen gerçekten o musun? · </a:t>
            </a:r>
            <a:r>
              <a:rPr sz="2000" b="1">
                <a:solidFill>
                  <a:srgbClr val="1F2D3A"/>
                </a:solidFill>
              </a:rPr>
              <a:t>Yetkilendirme:</a:t>
            </a:r>
            <a:r>
              <a:rPr sz="2000" b="0">
                <a:solidFill>
                  <a:srgbClr val="1F2D3A"/>
                </a:solidFill>
              </a:rPr>
              <a:t> bunu yapmaya iznin var mı? · </a:t>
            </a:r>
            <a:r>
              <a:rPr sz="2000" b="1">
                <a:solidFill>
                  <a:srgbClr val="1F2D3A"/>
                </a:solidFill>
              </a:rPr>
              <a:t>İnkâr edilemezlik:</a:t>
            </a:r>
            <a:r>
              <a:rPr sz="2000" b="0">
                <a:solidFill>
                  <a:srgbClr val="1F2D3A"/>
                </a:solidFill>
              </a:rPr>
              <a:t> bunu kim yaptı, sonradan inkâr edebilir mi?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≠ zafiyet, ama…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açıklarının çok büyük kısmı </a:t>
            </a:r>
            <a:r>
              <a:rPr sz="2000" b="1">
                <a:solidFill>
                  <a:srgbClr val="1F2D3A"/>
                </a:solidFill>
              </a:rPr>
              <a:t>sıradan yazılım hatalarıdır.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Heartbleed (2014, CVE-2014-0160)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"Bana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geri yolla" — ama yalnız </a:t>
            </a:r>
            <a:r>
              <a:rPr sz="2000" b="1">
                <a:solidFill>
                  <a:srgbClr val="1F2D3A"/>
                </a:solidFill>
              </a:rPr>
              <a:t>birkaç bayt</a:t>
            </a:r>
            <a:r>
              <a:rPr sz="2000" b="0">
                <a:solidFill>
                  <a:srgbClr val="1F2D3A"/>
                </a:solidFill>
              </a:rPr>
              <a:t> gönderir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uzunluğu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komşu belleği (parolalar, anahtarlar) geri yollar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eksik uzunluk denetimi → internetin önemli bir kısmı etkilendi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kim, neye erişebiliyor?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854"/>
                <a:gridCol w="4091825"/>
                <a:gridCol w="340985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Saldırgan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Erişim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Uzaktaki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ağ mesajları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Girdi doğrulama,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kullanıcı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Dosyalar, ortam değişkenleri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İzinler, güvenli başlatma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İçeriden kişi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kod,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Ayrıcalık ayrımı, denetim kaydı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Cihazın sahibi (beyaz kutu)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Bellek, hata ayıklayıcı, ikili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RASP, kod gizleme,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dersin farkı: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saldırganın cihazında</a:t>
            </a:r>
            <a:r>
              <a:rPr sz="2000" b="0">
                <a:solidFill>
                  <a:srgbClr val="1F2D3A"/>
                </a:solidFill>
              </a:rPr>
              <a:t> çalışıyorsa ne yaparız?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/ 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MATE (Man-At-The-End):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sahip</a:t>
            </a:r>
            <a:r>
              <a:rPr sz="2000" b="0">
                <a:solidFill>
                  <a:srgbClr val="1F2D3A"/>
                </a:solidFill>
              </a:rPr>
              <a:t> saldırgan.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Kodu okur, belleği görür,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Mobil/masaüstü uygulamanın gerçek durumu (bu dersin ana teması).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modelleri — şema</a:t>
            </a:r>
          </a:p>
        </p:txBody>
      </p:sp>
      <p:pic>
        <p:nvPicPr>
          <p:cNvPr id="7" name="Picture 6" descr="h01-02-saldirgan-model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36595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Saldırganlar — gerçek hayattan örnek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2865"/>
                <a:gridCol w="7308669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Saldırgan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Uzaktaki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 sunucusuna saldıran biri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kullanıcı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Paylaşılan sunucudaki başka bir öğrenci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İçeriden kişi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Görevini kötüye kullanan çalışan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Cihazın sahibi (beyaz kutu)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Mobil ödeme uygulamasını kendi telefonunda kırmaya çalışan biri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satırı kendi projenize uygulayın: sizin saldırganınız hangisi?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tasarım ilkeleri (Saltzer &amp; Schroeder, 1975)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5193"/>
                <a:gridCol w="7626341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 cümle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gereken yetkiyle çalış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 "izin yok"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aracılık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erişimi her seferinde denetle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algoritmanın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anahtarın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gizliliğine dayanır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Mekanizma ekonomisi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Basit = daha az 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Ayrıcalıkların ayrılması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Kritik işe iki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ortak mekanizma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 kaynağı azalt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Kabul edilebilirlik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Kullanılamayan güvenlik atlatılır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604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1">
                <a:solidFill>
                  <a:srgbClr val="1F2D3A"/>
                </a:solidFill>
              </a:rPr>
              <a:t>Derinlemesine savunma:</a:t>
            </a:r>
            <a:r>
              <a:rPr sz="1800" b="0">
                <a:solidFill>
                  <a:srgbClr val="1F2D3A"/>
                </a:solidFill>
              </a:rPr>
              <a:t> tek önleme güvenme, </a:t>
            </a:r>
            <a:r>
              <a:rPr sz="1800" b="1">
                <a:solidFill>
                  <a:srgbClr val="1F2D3A"/>
                </a:solidFill>
              </a:rPr>
              <a:t>katman</a:t>
            </a:r>
            <a:r>
              <a:rPr sz="1800" b="0">
                <a:solidFill>
                  <a:srgbClr val="1F2D3A"/>
                </a:solidFill>
              </a:rPr>
              <a:t> kur.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Saltzer ve Schroeder ilkeleri — şema</a:t>
            </a:r>
          </a:p>
        </p:txBody>
      </p:sp>
      <p:pic>
        <p:nvPicPr>
          <p:cNvPr id="7" name="Picture 6" descr="h01-18-saltzer-schroe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269" y="1325880"/>
            <a:ext cx="808915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tasarım ilkeleri — örnekler (1/2)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4162"/>
                <a:gridCol w="8087373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Rapor programı yönetici değil, sıradan kullanıcıyla çalışır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kullanıcının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yonetici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alanı 0 ile başlar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aracılık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bir kez bakılıp önbelleğe yazılmaz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şifreleme algoritmanızı yazmazsınız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ilke soyut değil; kodda somut bir kararla karşılık bulur.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tasarım ilkeleri — örnekler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83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3258"/>
                <a:gridCol w="7378276"/>
              </a:tblGrid>
              <a:tr h="4367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Mekanizma ekonomisi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 satırlık açık denetim, 500 satırlık "akıllı" denetimden iyidir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Ayrıcalıkların ayrılması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 transferi için hem parola hem SMS kodu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ortak mekanizma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oturumun kendi geçici dosyası olur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67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Psikolojik kabul edilebilirlik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5 dakikada parola sormak, parolanın kâğıda yazılmasına yol açar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1919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Kullanılamayan güvenlik, </a:t>
            </a:r>
            <a:r>
              <a:rPr sz="1800" b="1">
                <a:solidFill>
                  <a:srgbClr val="1F2D3A"/>
                </a:solidFill>
              </a:rPr>
              <a:t>atlatılan</a:t>
            </a:r>
            <a:r>
              <a:rPr sz="1800" b="0">
                <a:solidFill>
                  <a:srgbClr val="1F2D3A"/>
                </a:solidFill>
              </a:rPr>
              <a:t> güvenliktir.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Uygulama korumasına genel bakış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 savunma (defense in depth):</a:t>
            </a:r>
            <a:r>
              <a:rPr sz="2000" b="0">
                <a:solidFill>
                  <a:srgbClr val="1F2D3A"/>
                </a:solidFill>
              </a:rPr>
              <a:t> tek önlem değil,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aşılırsa diğeri durdurur.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"Güvenlik kabuğu" bu katmanların birleşimi.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tek bir önlem yetmez?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4278"/>
                <a:gridCol w="664725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Neyi çözmez?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Hatasız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Saldırgan ikili dosyayı açıp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mantığı okur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 ayıklayıcıyla durdurup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belleği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İzlenmeye karşı korunan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kodda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düz metin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→ dize taraması yeter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anahtar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bir denetimi değiştirip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korumayı atlar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katman bir öncekinin açığını kapatır; saldırgan hepsini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aşmalı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katman: içten dışa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534"/>
                <a:gridCol w="3237488"/>
                <a:gridCol w="5275907"/>
                <a:gridCol w="1798604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tasarım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Neyi, kime karşı?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kodlama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Kodum hatasız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kaçarsa sömürü zor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 okuyan anlayabiliyor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4, 5, 9, 14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altında olduğunu fark ediyor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ele geçse bile anlamsız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3, 10, 11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Çalıştığını nasıl kanıtlıyoruz?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 — şema (içten dışa)</a:t>
            </a:r>
          </a:p>
        </p:txBody>
      </p:sp>
      <p:pic>
        <p:nvPicPr>
          <p:cNvPr id="7" name="Picture 6" descr="h01-03-yedi-katm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961" y="1325880"/>
            <a:ext cx="6143773" cy="40142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449824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hata dış katmanları geçse bile </a:t>
            </a:r>
            <a:r>
              <a:rPr sz="1800" b="1">
                <a:solidFill>
                  <a:srgbClr val="1F2D3A"/>
                </a:solidFill>
              </a:rPr>
              <a:t>bir sonraki</a:t>
            </a:r>
            <a:r>
              <a:rPr sz="1800" b="0">
                <a:solidFill>
                  <a:srgbClr val="1F2D3A"/>
                </a:solidFill>
              </a:rPr>
              <a:t> katman durdurmayı dener (derinlemesine savunma).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 — tipik teknikler ve durdurduğu saldırgan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587"/>
                <a:gridCol w="1374681"/>
                <a:gridCol w="5412808"/>
                <a:gridCol w="3694456"/>
              </a:tblGrid>
              <a:tr h="52806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teknikler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Durduğu saldırgan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Tasarım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Tehdit modeli, varlık/arayüz tabloları, en az ayrıcalık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Tasarım hatası arayan herkes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 doğrulama, sınır denetimi, SEI CERT kuralları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Uzaktan girdi gönderen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Kanarya, ASLR, DEP/NX, CFI,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hatasını kullanan saldırgan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 düzleştirme, opak yüklem, sanallaştırma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Tersine mühendislik yapan analist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ayıklayıcı/kanca/root algılama, bütünlük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Programı çalışırken inceleyen saldırgan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doğrulamalı şifreleme, anahtar hiyerarşisi,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Veriyi ele geçiren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incelemesi, fuzzing, sızma testi, sertifikasyon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Denetçi ve değerlendirici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kabuğu: katmanların birleştiği 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anahtar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birkaç katmanın içinde taşınır: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Diskte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Yalnız kullanılacağı an, yalnız gerektiği kadar </a:t>
            </a:r>
            <a:r>
              <a:rPr sz="2000" b="1">
                <a:solidFill>
                  <a:srgbClr val="1F2D3A"/>
                </a:solidFill>
              </a:rPr>
              <a:t>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Çözüldüğü kod bölümü </a:t>
            </a:r>
            <a:r>
              <a:rPr sz="2000" b="1">
                <a:solidFill>
                  <a:srgbClr val="1F2D3A"/>
                </a:solidFill>
              </a:rPr>
              <a:t>gizlenmiş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bütünlüğü denetlenmiş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Süreçte </a:t>
            </a:r>
            <a:r>
              <a:rPr sz="2000" b="1">
                <a:solidFill>
                  <a:srgbClr val="1F2D3A"/>
                </a:solidFill>
              </a:rPr>
              <a:t>hata ayıklayıcı denetimi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3. haftada dört kabuklu bir tasarımı adım adım kuracağız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katman ne zaman? Saldırgan modeline göre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2751"/>
                <a:gridCol w="5505820"/>
                <a:gridCol w="28029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Saldırgan nerede?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 web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Ağda; kod ve sunucuya erişimi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Masaüstü iş uygulaması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bilgisayarında; kullanıcı saldırgan değil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Cihaz saldırganın elinde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Hepsi; özellikle 4, 5,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lisanslı yazılım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Gömülü cihaz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Fiziksel erişim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6 +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Beyaz kutu saldırgan:</a:t>
            </a:r>
            <a:r>
              <a:rPr sz="1800" b="0">
                <a:solidFill>
                  <a:srgbClr val="1F2D3A"/>
                </a:solidFill>
              </a:rPr>
              <a:t> programın kendisine sahip — kopyalar, açar, değiştirir, tekrar tekrar çalıştırır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Gizleme doğru kodun yerine geçmez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saldırganı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,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Gizlenmiş bir taşma hâlâ bir taşmadır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Dış katmanlar ancak iç katmanlar sağlamsa anlam kazanır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Sunucu, istemciye asla güvenmez.</a:t>
            </a:r>
            <a:r>
              <a:rPr sz="2000" b="0">
                <a:solidFill>
                  <a:srgbClr val="1F2D3A"/>
                </a:solidFill>
              </a:rPr>
              <a:t> Gizlenmiş istemci bile sunucuya tutarsız veri gönderebilir.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Beyaz kutu saldırganın altı yolu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İstemci tarafında çalışan hassas bir kütüphane için altı satırlık bir </a:t>
            </a:r>
            <a:r>
              <a:rPr sz="1800" b="1">
                <a:solidFill>
                  <a:srgbClr val="1F2D3A"/>
                </a:solidFill>
              </a:rPr>
              <a:t>saldırı tablosu</a:t>
            </a:r>
            <a:r>
              <a:rPr sz="1800" b="0">
                <a:solidFill>
                  <a:srgbClr val="1F2D3A"/>
                </a:solidFill>
              </a:rPr>
              <a:t>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3" cy="20738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467"/>
                <a:gridCol w="3392662"/>
                <a:gridCol w="5043146"/>
                <a:gridCol w="2017258"/>
              </a:tblGrid>
              <a:tr h="51846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Saldırganın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Cevap veren 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Platform denetimlerini aşmak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Root'lu cihaz, emülatör, değiştirilmiş 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 (RASP)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 tersine mühendislikle çözmek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Tersine derleyiciyle mantık/anahtar okumak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 (gizleme),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1846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 değiştirmek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if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denetimini ters çevirip yeniden paketlemek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 (bütünlük),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Beyaz kutu saldırganın altı yolu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38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467"/>
                <a:gridCol w="3300968"/>
                <a:gridCol w="4401291"/>
                <a:gridCol w="2750807"/>
              </a:tblGrid>
              <a:tr h="51846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Saldırganın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Cevap veren 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Arayüzleri kötüye kullanmak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Kütüphaneyi kendi programından çağırmak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 (tasarım), 5,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anında varlık çıkarmak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dökümü, hata ayıklayıcı, kanca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(silme), 5, 6 (whitebox)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1846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anında akışı değiştirmek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dalı atlamak, dönüş değerini değiştirmek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 (akış sayacı),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09467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Bu tablo, koruma planındaki </a:t>
            </a:r>
            <a:r>
              <a:rPr sz="1800" b="1">
                <a:solidFill>
                  <a:srgbClr val="1F2D3A"/>
                </a:solidFill>
              </a:rPr>
              <a:t>tehdit</a:t>
            </a:r>
            <a:r>
              <a:rPr sz="1800" b="0">
                <a:solidFill>
                  <a:srgbClr val="1F2D3A"/>
                </a:solidFill>
              </a:rPr>
              <a:t> bölümünün başlangıç noktasıdır.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Ödünleşim (trade-off)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bedel</a:t>
            </a:r>
            <a:r>
              <a:rPr sz="2000" b="0">
                <a:solidFill>
                  <a:srgbClr val="1F2D3A"/>
                </a:solidFill>
              </a:rPr>
              <a:t> getirir: hız, karmaşıklık, maliyet.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"sonsuz koruma" değil,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koruma.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yazarız.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Korumanın bedeli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9280"/>
                <a:gridCol w="8302254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Performans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düzleştirme bir fonksiyonu birkaç kat yavaşlatabilir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Sanallaştırma, whitebox tabloları ikili dosyayı büyütür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Bakım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kodun çökme raporu okunmaz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Aşırı hassas root algılama meşru kullanıcıyı cezalandırır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önlem </a:t>
            </a:r>
            <a:r>
              <a:rPr sz="2000" b="1">
                <a:solidFill>
                  <a:srgbClr val="1F2D3A"/>
                </a:solidFill>
              </a:rPr>
              <a:t>gerekçesiyle</a:t>
            </a:r>
            <a:r>
              <a:rPr sz="2000" b="0">
                <a:solidFill>
                  <a:srgbClr val="1F2D3A"/>
                </a:solidFill>
              </a:rPr>
              <a:t> yazılır: </a:t>
            </a:r>
            <a:r>
              <a:rPr sz="2000" b="0" i="1">
                <a:solidFill>
                  <a:srgbClr val="1F2D3A"/>
                </a:solidFill>
              </a:rPr>
              <a:t>şu varlığı, şu saldırgana karşı, şu maliyetle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tabloyu tersten okur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taraması → anahtar, URL, hata iletisi görünüyor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İkili dosyayı açma → mantık okunuyor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 bağlama → program fark ediyor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Kodu değiştirme → bütünlük denetimi yakalıyor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Bellek dökümü → sır bulunuyor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Durdurulmadığı </a:t>
            </a:r>
            <a:r>
              <a:rPr sz="2000" b="1">
                <a:solidFill>
                  <a:srgbClr val="1F2D3A"/>
                </a:solidFill>
              </a:rPr>
              <a:t>her adım</a:t>
            </a:r>
            <a:r>
              <a:rPr sz="2000" b="0">
                <a:solidFill>
                  <a:srgbClr val="1F2D3A"/>
                </a:solidFill>
              </a:rPr>
              <a:t> raporda bir bulgu olur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dene (3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Çevrimdışı parola yöneticisi</a:t>
            </a:r>
            <a:r>
              <a:rPr sz="2000" b="0">
                <a:solidFill>
                  <a:srgbClr val="1F2D3A"/>
                </a:solidFill>
              </a:rPr>
              <a:t> için saldırgan modeli nedir? Hangi katmanlar önemli?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"Sunucuda çalışıyor, gizlemeye gerek yok" — ne zaman doğru, ne zaman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Yalnız gizleme kullanan bir oyunda hangi yol açık kalır?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dene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Çevrimdışı parola yöneticisi:</a:t>
            </a:r>
            <a:r>
              <a:rPr sz="1800" b="0">
                <a:solidFill>
                  <a:srgbClr val="1F2D3A"/>
                </a:solidFill>
              </a:rPr>
              <a:t> saldırgan cihaza/dosyaya sahip (beyaz kutu). Önemli katmanlar: </a:t>
            </a:r>
            <a:r>
              <a:rPr sz="1800" b="1">
                <a:solidFill>
                  <a:srgbClr val="1F2D3A"/>
                </a:solidFill>
              </a:rPr>
              <a:t>kriptografi</a:t>
            </a:r>
            <a:r>
              <a:rPr sz="1800" b="0">
                <a:solidFill>
                  <a:srgbClr val="1F2D3A"/>
                </a:solidFill>
              </a:rPr>
              <a:t> (paroladan KDF + AEAD), </a:t>
            </a:r>
            <a:r>
              <a:rPr sz="1800" b="1">
                <a:solidFill>
                  <a:srgbClr val="1F2D3A"/>
                </a:solidFill>
              </a:rPr>
              <a:t>güvenli kodlama</a:t>
            </a:r>
            <a:r>
              <a:rPr sz="1800" b="0">
                <a:solidFill>
                  <a:srgbClr val="1F2D3A"/>
                </a:solidFill>
              </a:rPr>
              <a:t>, bir miktar gizleme/RASP.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"Sunucuda çalışıyor":</a:t>
            </a:r>
            <a:r>
              <a:rPr sz="1800" b="0">
                <a:solidFill>
                  <a:srgbClr val="1F2D3A"/>
                </a:solidFill>
              </a:rPr>
              <a:t> istemciye hassas mantık/anahtar </a:t>
            </a:r>
            <a:r>
              <a:rPr sz="1800" b="1">
                <a:solidFill>
                  <a:srgbClr val="1F2D3A"/>
                </a:solidFill>
              </a:rPr>
              <a:t>gönderilmiyorsa doğru</a:t>
            </a:r>
            <a:r>
              <a:rPr sz="1800" b="0">
                <a:solidFill>
                  <a:srgbClr val="1F2D3A"/>
                </a:solidFill>
              </a:rPr>
              <a:t>; istemcide çalışan kod/anahtar varsa </a:t>
            </a:r>
            <a:r>
              <a:rPr sz="1800" b="1">
                <a:solidFill>
                  <a:srgbClr val="1F2D3A"/>
                </a:solidFill>
              </a:rPr>
              <a:t>yanlış</a:t>
            </a:r>
            <a:r>
              <a:rPr sz="1800" b="0">
                <a:solidFill>
                  <a:srgbClr val="1F2D3A"/>
                </a:solidFill>
              </a:rPr>
              <a:t> (beyaz kutu).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Yalnız gizleme:</a:t>
            </a:r>
            <a:r>
              <a:rPr sz="1800" b="0">
                <a:solidFill>
                  <a:srgbClr val="1F2D3A"/>
                </a:solidFill>
              </a:rPr>
              <a:t> sunucu tarafı doğrulama yoksa, istemci hilesi (yamalı istemci) açık kalır — gizleme mantığı </a:t>
            </a:r>
            <a:r>
              <a:rPr sz="1800" b="1">
                <a:solidFill>
                  <a:srgbClr val="1F2D3A"/>
                </a:solidFill>
              </a:rPr>
              <a:t>düzeltmez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Uygulama koruma planı ve tehdit modelleme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modelleme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 modelleme:</a:t>
            </a:r>
            <a:r>
              <a:rPr sz="2000" b="0">
                <a:solidFill>
                  <a:srgbClr val="1F2D3A"/>
                </a:solidFill>
              </a:rPr>
              <a:t> "neyi, kime karşı, nasıl koruyacağız?" sorusunu </a:t>
            </a:r>
            <a:r>
              <a:rPr sz="2000" b="1">
                <a:solidFill>
                  <a:srgbClr val="1F2D3A"/>
                </a:solidFill>
              </a:rPr>
              <a:t>sistemli</a:t>
            </a:r>
            <a:r>
              <a:rPr sz="2000" b="0">
                <a:solidFill>
                  <a:srgbClr val="1F2D3A"/>
                </a:solidFill>
              </a:rPr>
              <a:t> yanıtlamak.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Varlıkları, tehditleri, önlemleri listeler.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STRIDE ve saldırı ağaçlarıyla yapacağız.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Uygulama koruma planı: 7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72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Kapsam</a:t>
            </a:r>
            <a:r>
              <a:rPr sz="2000" b="0">
                <a:solidFill>
                  <a:srgbClr val="1F2D3A"/>
                </a:solidFill>
              </a:rPr>
              <a:t> — Neyi koruyoruz? Hangi ikili, hangi sürüm, hangi özet?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Mimari ve arayüzler</a:t>
            </a:r>
            <a:r>
              <a:rPr sz="2000" b="0">
                <a:solidFill>
                  <a:srgbClr val="1F2D3A"/>
                </a:solidFill>
              </a:rPr>
              <a:t> — Kim kiminle, hangi kanaldan konuşuyor?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Varlıklar</a:t>
            </a:r>
            <a:r>
              <a:rPr sz="2000" b="0">
                <a:solidFill>
                  <a:srgbClr val="1F2D3A"/>
                </a:solidFill>
              </a:rPr>
              <a:t> — Nerede durur, ne zaman silinir,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mi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Tehditler</a:t>
            </a:r>
            <a:r>
              <a:rPr sz="2000" b="0">
                <a:solidFill>
                  <a:srgbClr val="1F2D3A"/>
                </a:solidFill>
              </a:rPr>
              <a:t> — Saldırgan kim, varlığa hangi yoldan ulaşır?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Karşı önlemler</a:t>
            </a:r>
            <a:r>
              <a:rPr sz="2000" b="0">
                <a:solidFill>
                  <a:srgbClr val="1F2D3A"/>
                </a:solidFill>
              </a:rPr>
              <a:t> — Hangi katman, hangi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Doğrulama</a:t>
            </a:r>
            <a:r>
              <a:rPr sz="2000" b="0">
                <a:solidFill>
                  <a:srgbClr val="1F2D3A"/>
                </a:solidFill>
              </a:rPr>
              <a:t> — Çalıştığı nasıl kanıtlanıyor?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— Kabul edilenler ve nedenleri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58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Sertifikasyonda bu plan </a:t>
            </a:r>
            <a:r>
              <a:rPr sz="2000" b="1">
                <a:solidFill>
                  <a:srgbClr val="1F2D3A"/>
                </a:solidFill>
              </a:rPr>
              <a:t>yüzlerce sayfalık bir güvenlik kılavuzudur.</a:t>
            </a:r>
            <a:r>
              <a:rPr sz="2000" b="0">
                <a:solidFill>
                  <a:srgbClr val="1F2D3A"/>
                </a:solidFill>
              </a:rPr>
              <a:t> Siz projede </a:t>
            </a:r>
            <a:r>
              <a:rPr sz="2000" b="1">
                <a:solidFill>
                  <a:srgbClr val="1F2D3A"/>
                </a:solidFill>
              </a:rPr>
              <a:t>20–30 sayfalık</a:t>
            </a:r>
            <a:r>
              <a:rPr sz="2000" b="0">
                <a:solidFill>
                  <a:srgbClr val="1F2D3A"/>
                </a:solidFill>
              </a:rPr>
              <a:t> sürümünü yazacaksınız.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detay: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Neyi değerlendiriyoruz?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"sürüm 2.1"</a:t>
            </a:r>
            <a:r>
              <a:rPr sz="2000" b="0">
                <a:solidFill>
                  <a:srgbClr val="1F2D3A"/>
                </a:solidFill>
              </a:rPr>
              <a:t> demek yetmez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</a:t>
            </a:r>
            <a:r>
              <a:rPr sz="2000" b="1">
                <a:solidFill>
                  <a:srgbClr val="1F2D3A"/>
                </a:solidFill>
              </a:rPr>
              <a:t>ikili dosya</a:t>
            </a:r>
            <a:r>
              <a:rPr sz="2000" b="0">
                <a:solidFill>
                  <a:srgbClr val="1F2D3A"/>
                </a:solidFill>
              </a:rPr>
              <a:t>, hangi </a:t>
            </a:r>
            <a:r>
              <a:rPr sz="2000" b="1">
                <a:solidFill>
                  <a:srgbClr val="1F2D3A"/>
                </a:solidFill>
              </a:rPr>
              <a:t>kaynak kod</a:t>
            </a:r>
            <a:r>
              <a:rPr sz="2000" b="0">
                <a:solidFill>
                  <a:srgbClr val="1F2D3A"/>
                </a:solidFill>
              </a:rPr>
              <a:t>, hangi </a:t>
            </a:r>
            <a:r>
              <a:rPr sz="2000" b="1">
                <a:solidFill>
                  <a:srgbClr val="1F2D3A"/>
                </a:solidFill>
              </a:rPr>
              <a:t>özet (hash)</a:t>
            </a:r>
            <a:r>
              <a:rPr sz="2000" b="0">
                <a:solidFill>
                  <a:srgbClr val="1F2D3A"/>
                </a:solidFill>
              </a:rPr>
              <a:t> değeri?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Sertifikasyonda buna </a:t>
            </a:r>
            <a:r>
              <a:rPr sz="2000" b="1">
                <a:solidFill>
                  <a:srgbClr val="1F2D3A"/>
                </a:solidFill>
              </a:rPr>
              <a:t>değerlendirme hedefi</a:t>
            </a:r>
            <a:r>
              <a:rPr sz="2000" b="0">
                <a:solidFill>
                  <a:srgbClr val="1F2D3A"/>
                </a:solidFill>
              </a:rPr>
              <a:t> denir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detay: Mimari ve arayüzler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Bileşenler neler, nasıl konuşuyor?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Bileşenler </a:t>
            </a:r>
            <a:r>
              <a:rPr sz="2000" b="1">
                <a:solidFill>
                  <a:srgbClr val="1F2D3A"/>
                </a:solidFill>
              </a:rPr>
              <a:t>nelerdir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Birbirleriyle </a:t>
            </a:r>
            <a:r>
              <a:rPr sz="2000" b="1">
                <a:solidFill>
                  <a:srgbClr val="1F2D3A"/>
                </a:solidFill>
              </a:rPr>
              <a:t>hangi kanaldan</a:t>
            </a:r>
            <a:r>
              <a:rPr sz="2000" b="0">
                <a:solidFill>
                  <a:srgbClr val="1F2D3A"/>
                </a:solidFill>
              </a:rPr>
              <a:t> konuşuyorlar?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kanalda kimlik </a:t>
            </a:r>
            <a:r>
              <a:rPr sz="2000" b="1">
                <a:solidFill>
                  <a:srgbClr val="1F2D3A"/>
                </a:solidFill>
              </a:rPr>
              <a:t>nasıl doğrulanıyor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detay: Varlıklar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Korunacak veri nerede, ne zaman?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Korunacak her veri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listelenir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durur, </a:t>
            </a:r>
            <a:r>
              <a:rPr sz="2000" b="1">
                <a:solidFill>
                  <a:srgbClr val="1F2D3A"/>
                </a:solidFill>
              </a:rPr>
              <a:t>ne zaman</a:t>
            </a:r>
            <a:r>
              <a:rPr sz="2000" b="0">
                <a:solidFill>
                  <a:srgbClr val="1F2D3A"/>
                </a:solidFill>
              </a:rPr>
              <a:t> oluşur, </a:t>
            </a:r>
            <a:r>
              <a:rPr sz="2000" b="1">
                <a:solidFill>
                  <a:srgbClr val="1F2D3A"/>
                </a:solidFill>
              </a:rPr>
              <a:t>ne zaman</a:t>
            </a:r>
            <a:r>
              <a:rPr sz="2000" b="0">
                <a:solidFill>
                  <a:srgbClr val="1F2D3A"/>
                </a:solidFill>
              </a:rPr>
              <a:t> silinir?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Gizlilik (C)</a:t>
            </a:r>
            <a:r>
              <a:rPr sz="2000" b="0">
                <a:solidFill>
                  <a:srgbClr val="1F2D3A"/>
                </a:solidFill>
              </a:rPr>
              <a:t> mi, </a:t>
            </a:r>
            <a:r>
              <a:rPr sz="2000" b="1">
                <a:solidFill>
                  <a:srgbClr val="1F2D3A"/>
                </a:solidFill>
              </a:rPr>
              <a:t>bütünlük (I)</a:t>
            </a:r>
            <a:r>
              <a:rPr sz="2000" b="0">
                <a:solidFill>
                  <a:srgbClr val="1F2D3A"/>
                </a:solidFill>
              </a:rPr>
              <a:t> mü gerekir?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detay: Tehditler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Saldırgan kim, nasıl ulaşır?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kim</a:t>
            </a:r>
            <a:r>
              <a:rPr sz="2000" b="0">
                <a:solidFill>
                  <a:srgbClr val="1F2D3A"/>
                </a:solidFill>
              </a:rPr>
              <a:t>? (bkz. saldırgan modelleri)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varlığa </a:t>
            </a:r>
            <a:r>
              <a:rPr sz="2000" b="1">
                <a:solidFill>
                  <a:srgbClr val="1F2D3A"/>
                </a:solidFill>
              </a:rPr>
              <a:t>hangi yoldan</a:t>
            </a:r>
            <a:r>
              <a:rPr sz="2000" b="0">
                <a:solidFill>
                  <a:srgbClr val="1F2D3A"/>
                </a:solidFill>
              </a:rPr>
              <a:t> ulaşabilir?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ve saldırı ağacı burada devreye girer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detay: Karşı önlemler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Hangi önlem, hangi katmanda?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tehdit için </a:t>
            </a:r>
            <a:r>
              <a:rPr sz="2000" b="1">
                <a:solidFill>
                  <a:srgbClr val="1F2D3A"/>
                </a:solidFill>
              </a:rPr>
              <a:t>bir önlem</a:t>
            </a:r>
            <a:r>
              <a:rPr sz="2000" b="0">
                <a:solidFill>
                  <a:srgbClr val="1F2D3A"/>
                </a:solidFill>
              </a:rPr>
              <a:t> seçilir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Önlem, yedi katmandan </a:t>
            </a:r>
            <a:r>
              <a:rPr sz="2000" b="1">
                <a:solidFill>
                  <a:srgbClr val="1F2D3A"/>
                </a:solidFill>
              </a:rPr>
              <a:t>hangisine</a:t>
            </a:r>
            <a:r>
              <a:rPr sz="2000" b="0">
                <a:solidFill>
                  <a:srgbClr val="1F2D3A"/>
                </a:solidFill>
              </a:rPr>
              <a:t> ait?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Gerekçesiz önlem = </a:t>
            </a:r>
            <a:r>
              <a:rPr sz="2000" b="1">
                <a:solidFill>
                  <a:srgbClr val="1F2D3A"/>
                </a:solidFill>
              </a:rPr>
              <a:t>yanlış yerde</a:t>
            </a:r>
            <a:r>
              <a:rPr sz="2000" b="0">
                <a:solidFill>
                  <a:srgbClr val="1F2D3A"/>
                </a:solidFill>
              </a:rPr>
              <a:t> ya da </a:t>
            </a:r>
            <a:r>
              <a:rPr sz="2000" b="1">
                <a:solidFill>
                  <a:srgbClr val="1F2D3A"/>
                </a:solidFill>
              </a:rPr>
              <a:t>gereksiz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detay: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Çalıştığı nasıl kanıtlanıyor?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önlem için bir </a:t>
            </a:r>
            <a:r>
              <a:rPr sz="2000" b="1">
                <a:solidFill>
                  <a:srgbClr val="1F2D3A"/>
                </a:solidFill>
              </a:rPr>
              <a:t>test</a:t>
            </a:r>
            <a:r>
              <a:rPr sz="2000" b="0">
                <a:solidFill>
                  <a:srgbClr val="1F2D3A"/>
                </a:solidFill>
              </a:rPr>
              <a:t> yazılır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testi mi, </a:t>
            </a:r>
            <a:r>
              <a:rPr sz="2000" b="1">
                <a:solidFill>
                  <a:srgbClr val="1F2D3A"/>
                </a:solidFill>
              </a:rPr>
              <a:t>atlatma denemesi</a:t>
            </a:r>
            <a:r>
              <a:rPr sz="2000" b="0">
                <a:solidFill>
                  <a:srgbClr val="1F2D3A"/>
                </a:solidFill>
              </a:rPr>
              <a:t>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Testi olmayan önlem, değerlendirici gözünde </a:t>
            </a:r>
            <a:r>
              <a:rPr sz="2000" b="1">
                <a:solidFill>
                  <a:srgbClr val="1F2D3A"/>
                </a:solidFill>
              </a:rPr>
              <a:t>yoktur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detay: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Neyi bilerek kabul ettik?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Kapatılamayan ya da bilerek </a:t>
            </a:r>
            <a:r>
              <a:rPr sz="2000" b="1">
                <a:solidFill>
                  <a:srgbClr val="1F2D3A"/>
                </a:solidFill>
              </a:rPr>
              <a:t>kabul edilen</a:t>
            </a:r>
            <a:r>
              <a:rPr sz="2000" b="0">
                <a:solidFill>
                  <a:srgbClr val="1F2D3A"/>
                </a:solidFill>
              </a:rPr>
              <a:t> riskler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(ör. performans, kullanılabilirlik)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Plan </a:t>
            </a:r>
            <a:r>
              <a:rPr sz="2000" b="1">
                <a:solidFill>
                  <a:srgbClr val="1F2D3A"/>
                </a:solidFill>
              </a:rPr>
              <a:t>bitmez</a:t>
            </a:r>
            <a:r>
              <a:rPr sz="2000" b="0">
                <a:solidFill>
                  <a:srgbClr val="1F2D3A"/>
                </a:solidFill>
              </a:rPr>
              <a:t>: ürün değiştikçe adım 1'e dönülür ve </a:t>
            </a:r>
            <a:r>
              <a:rPr sz="2000" b="1">
                <a:solidFill>
                  <a:srgbClr val="1F2D3A"/>
                </a:solidFill>
              </a:rPr>
              <a:t>güncellenir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 planı — şema</a:t>
            </a:r>
          </a:p>
        </p:txBody>
      </p:sp>
      <p:pic>
        <p:nvPicPr>
          <p:cNvPr id="7" name="Picture 6" descr="h01-04-koruma-pla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473762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mimari: mobil ödeme uygulaması</a:t>
            </a:r>
          </a:p>
        </p:txBody>
      </p:sp>
      <p:pic>
        <p:nvPicPr>
          <p:cNvPr id="7" name="Picture 6" descr="h01-05-mimari-arayuz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6828" y="1325880"/>
            <a:ext cx="4018038" cy="38750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1063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</a:t>
            </a:r>
            <a:r>
              <a:rPr sz="2000" b="1">
                <a:solidFill>
                  <a:srgbClr val="1F2D3A"/>
                </a:solidFill>
              </a:rPr>
              <a:t>saldırganın elinde</a:t>
            </a:r>
            <a:r>
              <a:rPr sz="2000" b="0">
                <a:solidFill>
                  <a:srgbClr val="1F2D3A"/>
                </a:solidFill>
              </a:rPr>
              <a:t> olabilir: root, hata ayıklayıcı, bellek dökümü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hassas işler </a:t>
            </a:r>
            <a:r>
              <a:rPr sz="2000" b="1">
                <a:solidFill>
                  <a:srgbClr val="1F2D3A"/>
                </a:solidFill>
              </a:rPr>
              <a:t>native C/C++</a:t>
            </a:r>
            <a:r>
              <a:rPr sz="2000" b="0">
                <a:solidFill>
                  <a:srgbClr val="1F2D3A"/>
                </a:solidFill>
              </a:rPr>
              <a:t> katmanında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 ve varlık tabloları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322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900"/>
                <a:gridCol w="2587271"/>
                <a:gridCol w="2587271"/>
                <a:gridCol w="4612092"/>
              </a:tblGrid>
              <a:tr h="44074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074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– veritabanı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MAC, anahtar cihaza bağlı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7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SDK –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sabitleme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TLS + ayrıca mesaj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5783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0150"/>
                <a:gridCol w="3233047"/>
                <a:gridCol w="1751234"/>
                <a:gridCol w="134710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Ömür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 (şifreli),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İşlem sayacı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2995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Listede olmayan varlık korunmuyor demektir.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 tablosu — tam liste (mobil ödeme)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7212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994"/>
                <a:gridCol w="2684584"/>
                <a:gridCol w="3637178"/>
                <a:gridCol w="3723777"/>
              </a:tblGrid>
              <a:tr h="4535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– Kütüphane (Java)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Çağıranın imzası doğrulanır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 içi; hassas veri geçmez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 (Java) – native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Karşılıklı bütünlük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Şifreli ve örtülü geçer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– yerel veritabanı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MAC, anahtar cihaza bağlı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 – arka uç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sabitleme + sunucu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TLS + ayrıca mesaj düzeyi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354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 – ödeme terminali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 protokolü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Varlık tablosu — tam liste (mobil ödeme)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2271"/>
                <a:gridCol w="2555855"/>
                <a:gridCol w="4030386"/>
                <a:gridCol w="983021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Oluşma → silinme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 (şifreli),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Sunucudan iner → kullanılır →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 parmak 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Bellek, iki ayrı parça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Açılışta hesaplanır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Türetilir → oturum sonunda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İşlem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Veritabanı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ödemede artar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 açık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Uygulamaya 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anında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282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3724"/>
                <a:gridCol w="2297165"/>
                <a:gridCol w="2412023"/>
                <a:gridCol w="5168621"/>
              </a:tblGrid>
              <a:tr h="468956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taklidi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Sahte uygulama SDK'yı çağırır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Native denetim ikili dosyada değiştirilir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 ödemeyi ben yapmadım"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Bilgi sızması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bellek dökümünden okunur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Hizmet engelleme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sahte kayıt isteği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6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Sıradan kullanıcı → yönetici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71830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akış diyagramını çiz → </a:t>
            </a:r>
            <a:r>
              <a:rPr sz="2000" b="1">
                <a:solidFill>
                  <a:srgbClr val="1F2D3A"/>
                </a:solidFill>
              </a:rPr>
              <a:t>güven sınırını geçen her ok</a:t>
            </a:r>
            <a:r>
              <a:rPr sz="2000" b="0">
                <a:solidFill>
                  <a:srgbClr val="1F2D3A"/>
                </a:solidFill>
              </a:rPr>
              <a:t> için altı harfi sor.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bankacılık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girişi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bakiye görüntüleme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para transferi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STRIDE harfini bu sisteme uygulayalım.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 · Spoofing (sahtecilik)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başkası gibi davranmak (sahte kullanıcı/sunucu).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sahte sunucu, çalınan oturum.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güçlü kimlik doğrulama, TLS + sertifika denetimi.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 · Tampering (kurcalama)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veriyi/kodu izinsiz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transfer tutarını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bütünlük (MAC/imza), bütünlük denetimi (RASP).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 · Repudiation (inkâr)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yaptığını inkâr etmek.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"ben o transferi yapmadım".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güvenli günlük, imza, denetim izi.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 · Information disclosure (bilgi sızması)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gizli verinin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bakiye/parola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şifreleme, en az yetki, sızıntısız hata iletisi.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 · Denial of service (hizmet reddi)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hizmeti kullanılamaz kılmak.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aşırı istek, kaynak tüketimi.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hız sınırı, kaynak kotaları, girdi sınırı.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 · Elevation of privilege (yetki yükseltme)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izinsiz yetki kazanmak.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normal kullanıcı yönetici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en az yetki, yetki denetimi, güvenli varsayılan.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Bankacılık örneğinde STRIDE özeti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365061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4910190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 sistemde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MAC/imza + 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Şifreleme + en az yetki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hedef</a:t>
            </a:r>
          </a:p>
        </p:txBody>
      </p:sp>
      <p:pic>
        <p:nvPicPr>
          <p:cNvPr id="7" name="Picture 6" descr="h01-06-saldiri-ag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952" y="1325880"/>
            <a:ext cx="4935791" cy="4278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13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nihai amacı. Şimdi yolları bölelim.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ağacı: "Ödeme anahtarını ele geçir"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HEDEF: Ödeme anahtarı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(biri yeter)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Veritabanını çöz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(hepsi gerekir): root yetkisi al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veritabanı anahtarını bul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Bellekten oku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: hata ayıklayıcı bağla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bellek dökümü al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fonksiyona kanca 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Trafiği dinle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: TLS'i kır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mesaj düzeyi şifrelemeyi kır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— "Veritabanını çöz" dalı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VE düğümü</a:t>
            </a:r>
            <a:r>
              <a:rPr sz="2000" b="0">
                <a:solidFill>
                  <a:srgbClr val="1F2D3A"/>
                </a:solidFill>
              </a:rPr>
              <a:t> (hepsi gerekir):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Root yetkisi 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veritabanı anahtarını bul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birden gerektiği için bu yol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dır.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782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derinlemesine savunmanın </a:t>
            </a:r>
            <a:r>
              <a:rPr sz="2000" b="1">
                <a:solidFill>
                  <a:srgbClr val="1F2D3A"/>
                </a:solidFill>
              </a:rPr>
              <a:t>çalıştığının</a:t>
            </a:r>
            <a:r>
              <a:rPr sz="2000" b="0">
                <a:solidFill>
                  <a:srgbClr val="1F2D3A"/>
                </a:solidFill>
              </a:rPr>
              <a:t> kanıtıdır.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— "Bellekten oku" dalı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VEYA düğümü</a:t>
            </a:r>
            <a:r>
              <a:rPr sz="2000" b="0">
                <a:solidFill>
                  <a:srgbClr val="1F2D3A"/>
                </a:solidFill>
              </a:rPr>
              <a:t> (biri yeter): üç alternatif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Hata ayıklayıcı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bellek dökümü 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fonksiyona kanca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alternatif = </a:t>
            </a:r>
            <a:r>
              <a:rPr sz="2000" b="1">
                <a:solidFill>
                  <a:srgbClr val="1F2D3A"/>
                </a:solidFill>
              </a:rPr>
              <a:t>en zayıf nokta</a:t>
            </a:r>
            <a:r>
              <a:rPr sz="2000" b="0">
                <a:solidFill>
                  <a:srgbClr val="1F2D3A"/>
                </a:solidFill>
              </a:rPr>
              <a:t>: bellekteki anahtar.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5412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Bu hafta Demo 2 · 6. hafta çalışma zamanı koruması · 11. hafta whitebox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— "Trafiği dinle" dalı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VE düğümü</a:t>
            </a:r>
            <a:r>
              <a:rPr sz="2000" b="0">
                <a:solidFill>
                  <a:srgbClr val="1F2D3A"/>
                </a:solidFill>
              </a:rPr>
              <a:t> (hepsi gerekir):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TLS'i kır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mesaj düzeyi şifrelemeyi kır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 katmanı </a:t>
            </a:r>
            <a:r>
              <a:rPr sz="2000" b="1">
                <a:solidFill>
                  <a:srgbClr val="1F2D3A"/>
                </a:solidFill>
              </a:rPr>
              <a:t>birden</a:t>
            </a:r>
            <a:r>
              <a:rPr sz="2000" b="0">
                <a:solidFill>
                  <a:srgbClr val="1F2D3A"/>
                </a:solidFill>
              </a:rPr>
              <a:t> kırmak gerekir → pahalı yol.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782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Savunmacının hedefi:</a:t>
            </a:r>
            <a:r>
              <a:rPr sz="2000" b="0">
                <a:solidFill>
                  <a:srgbClr val="1F2D3A"/>
                </a:solidFill>
              </a:rPr>
              <a:t> saldırganı mümkün olduğunca çok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düğümüne zorlamak.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— önlem eşlemesi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Saldırı ağacının yapraklarını doğrudan bir savunma katmanına bağlayalım: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8729227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Debugger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Anti-debug (6)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 + koruma (6, 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İkiliden çıkar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+ whitebox (9, 11)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Ağdan 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 (10)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diyagramı: beş sembol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2909742"/>
                <a:gridCol w="5237536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Sembol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▭ Dikdörtgen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Kullanıcı, ödeme terminali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◯ Daire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modülü, kripto kütüphanesi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═ İki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Veritabanı, yapılandırma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→ 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HTTP isteği, fonksiyon çağrısı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┄ Kesikli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Güven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 ↔ sunucu, uygulama ↔ 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576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Güven sınırını geçen her oku </a:t>
            </a:r>
            <a:r>
              <a:rPr sz="2000" b="1">
                <a:solidFill>
                  <a:srgbClr val="1F2D3A"/>
                </a:solidFill>
              </a:rPr>
              <a:t>kırmızıya</a:t>
            </a:r>
            <a:r>
              <a:rPr sz="2000" b="0">
                <a:solidFill>
                  <a:srgbClr val="1F2D3A"/>
                </a:solidFill>
              </a:rPr>
              <a:t> boyayın: incelemeye oradan başlayın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 ve güven sınırı — şema</a:t>
            </a:r>
          </a:p>
        </p:txBody>
      </p:sp>
      <p:pic>
        <p:nvPicPr>
          <p:cNvPr id="7" name="Picture 6" descr="h01-19-veri-akis-diyagr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8576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öğeye hangi harf?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5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273012"/>
                <a:gridCol w="1273012"/>
                <a:gridCol w="1273012"/>
                <a:gridCol w="1273012"/>
                <a:gridCol w="1273012"/>
                <a:gridCol w="127301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Öğe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✔¹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¹ Denetim kaydıysa · Veri akışının "kimliği" yoktur → </a:t>
            </a:r>
            <a:r>
              <a:rPr sz="1800" b="1">
                <a:solidFill>
                  <a:srgbClr val="1F2D3A"/>
                </a:solidFill>
              </a:rPr>
              <a:t>S sorulmaz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Her harf için soru ve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3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9060"/>
                <a:gridCol w="5117799"/>
                <a:gridCol w="4924675"/>
              </a:tblGrid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Kendinize sorun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 gerçekten o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doğrulama, imza, sertifika 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Değiştirilse fark eder miyim?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MAC/HMAC, imza, bütünlük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"Ben yapmadım" derse kanıtım var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Kurcalamaya dayanıklı günlük, imzalı işlem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Diskte, ağda, bellekte, günlükte sızar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Şifreleme, bellek temizleme, maskeleme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Çökertilebilir, tüketilebilir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 sınırı, oran sınırlama, kota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Az yetkili, çok yetkilinin işini yaptırabilir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ayrıcalık, tam aracılık, 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665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taşma = </a:t>
            </a:r>
            <a:r>
              <a:rPr sz="1800" b="1">
                <a:solidFill>
                  <a:srgbClr val="1F2D3A"/>
                </a:solidFill>
              </a:rPr>
              <a:t>D</a:t>
            </a:r>
            <a:r>
              <a:rPr sz="1800" b="0">
                <a:solidFill>
                  <a:srgbClr val="1F2D3A"/>
                </a:solidFill>
              </a:rPr>
              <a:t> (çöker) + </a:t>
            </a:r>
            <a:r>
              <a:rPr sz="1800" b="1">
                <a:solidFill>
                  <a:srgbClr val="1F2D3A"/>
                </a:solidFill>
              </a:rPr>
              <a:t>E</a:t>
            </a:r>
            <a:r>
              <a:rPr sz="1800" b="0">
                <a:solidFill>
                  <a:srgbClr val="1F2D3A"/>
                </a:solidFill>
              </a:rPr>
              <a:t> (akış ele geçer) +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(bitişik sır okunur)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puanı: olasılık × etki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1818589"/>
                <a:gridCol w="1818589"/>
                <a:gridCol w="2909742"/>
              </a:tblGrid>
              <a:tr h="374903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9 kritik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Olasılık:</a:t>
            </a:r>
            <a:r>
              <a:rPr sz="2000" b="0">
                <a:solidFill>
                  <a:srgbClr val="1F2D3A"/>
                </a:solidFill>
              </a:rPr>
              <a:t> fiziksel erişim mi, internetten mi? Uzmanlık? Otomatikleşir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Etki:</a:t>
            </a:r>
            <a:r>
              <a:rPr sz="2000" b="0">
                <a:solidFill>
                  <a:srgbClr val="1F2D3A"/>
                </a:solidFill>
              </a:rPr>
              <a:t> hangi varlık, kaç kullanıcı, parasal/hukuki sonuç?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ayrıntılı: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(2. hafta),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Tehdide dört 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Azalt</a:t>
            </a:r>
            <a:r>
              <a:rPr sz="2000" b="0">
                <a:solidFill>
                  <a:srgbClr val="1F2D3A"/>
                </a:solidFill>
              </a:rPr>
              <a:t> — önlem ekle (en sık)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Ortadan kaldır</a:t>
            </a:r>
            <a:r>
              <a:rPr sz="2000" b="0">
                <a:solidFill>
                  <a:srgbClr val="1F2D3A"/>
                </a:solidFill>
              </a:rPr>
              <a:t> — özelliği hiç yazma (en güçlü) </a:t>
            </a:r>
            <a:r>
              <a:rPr sz="2000" b="0" i="1">
                <a:solidFill>
                  <a:srgbClr val="1F2D3A"/>
                </a:solidFill>
              </a:rPr>
              <a:t>"Parolayı hatırla" yoksa, diskteki parola tehdidi de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Aktar</a:t>
            </a:r>
            <a:r>
              <a:rPr sz="2000" b="0">
                <a:solidFill>
                  <a:srgbClr val="1F2D3A"/>
                </a:solidFill>
              </a:rPr>
              <a:t> — kart verisini saklama, ödeme sağlayıcısına bırak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Kabul et</a:t>
            </a:r>
            <a:r>
              <a:rPr sz="2000" b="0">
                <a:solidFill>
                  <a:srgbClr val="1F2D3A"/>
                </a:solidFill>
              </a:rPr>
              <a:t> — gerekçesiyle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listesine 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09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Plana yazılmamış risk kabul edilmiş değil, </a:t>
            </a:r>
            <a:r>
              <a:rPr sz="2000" b="1">
                <a:solidFill>
                  <a:srgbClr val="1F2D3A"/>
                </a:solidFill>
              </a:rPr>
              <a:t>gözden kaçmıştır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Uygulamalı örnek: "Kasa" parola kasası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0–1: Uygulama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Kasa:</a:t>
            </a:r>
            <a:r>
              <a:rPr sz="2000" b="0">
                <a:solidFill>
                  <a:srgbClr val="1F2D3A"/>
                </a:solidFill>
              </a:rPr>
              <a:t> C++ masaüstü parola kasası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→ türetilen anahtar → kayıtlar tek dosyada şifreli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Panoya kopyalama · isteğe bağlı bulut yedek · otomatik güncelleme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4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68"/>
                <a:gridCol w="8292766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Değerlendirme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1.0 +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kasa_cekirdek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 dışı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Yedek sunucusunun kendisi, işletim sistemi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amacı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 parolayı bilmeyen için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okunamaz ve fark edilmeden değiştirilemez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2: Mimari ve arayüzler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283"/>
                <a:gridCol w="3167865"/>
                <a:gridCol w="2815880"/>
                <a:gridCol w="37545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→ Arayüz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Ekranda gösterilmez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Çekirdek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çağrı sonrası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Kasa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AES-GCM, anahtar paroladan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Pano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30 s sonra temizlenir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Yedek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+ belirteç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zaten şifreli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Paket imzası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TLS; asıl güvence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Kasa mimarisi — şema</a:t>
            </a:r>
          </a:p>
        </p:txBody>
      </p:sp>
      <p:pic>
        <p:nvPicPr>
          <p:cNvPr id="7" name="Picture 6" descr="h01-07-kasa-mim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531105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3: Varlıklar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6196"/>
                <a:gridCol w="2828916"/>
                <a:gridCol w="2121687"/>
                <a:gridCol w="4344407"/>
                <a:gridCol w="1010327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Oluşma → silinme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Yazılır → türetilir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hemen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Türetilir → kilitlenince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Çözülmüş kayıt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Görüntülenir → kapanınca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dosyası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Disk, yedek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Tuz, türetme parametresi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başlığı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Oluşturulurken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açık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Uygulamaya gömülü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05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sınıfları: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 gizlilik ·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bütünlük · </a:t>
            </a:r>
            <a:r>
              <a:rPr sz="1800" b="1">
                <a:solidFill>
                  <a:srgbClr val="1F2D3A"/>
                </a:solidFill>
              </a:rPr>
              <a:t>I+</a:t>
            </a:r>
            <a:r>
              <a:rPr sz="1800" b="0">
                <a:solidFill>
                  <a:srgbClr val="1F2D3A"/>
                </a:solidFill>
              </a:rPr>
              <a:t> bütünlük + hesap verebilirlik · </a:t>
            </a:r>
            <a:r>
              <a:rPr sz="1800" b="1">
                <a:solidFill>
                  <a:srgbClr val="1F2D3A"/>
                </a:solidFill>
              </a:rPr>
              <a:t>N</a:t>
            </a:r>
            <a:r>
              <a:rPr sz="1800" b="0">
                <a:solidFill>
                  <a:srgbClr val="1F2D3A"/>
                </a:solidFill>
              </a:rPr>
              <a:t> yok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4: Tehditler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37965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8148"/>
                <a:gridCol w="1522539"/>
                <a:gridCol w="1015026"/>
                <a:gridCol w="6343915"/>
                <a:gridCol w="1141904"/>
              </a:tblGrid>
              <a:tr h="47457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Çalınan dosya, zayıf parola çevrimdışı denenir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 / V1-2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Parola/anahtar bellekte kalır → döküm, takas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 / V3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Panodaki parolayı başka uygulama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Yineleme sayısı 1'e düşürülür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 / 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T, 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güncelleme kurulur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ayrıştırıcısında bellek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3-4 (devam): eksik kalan varlık ve tehditler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825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1861"/>
                <a:gridCol w="2345470"/>
                <a:gridCol w="6934433"/>
                <a:gridCol w="1019769"/>
              </a:tblGrid>
              <a:tr h="56509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Varlık/Tehdit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Ayrıntı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509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Yedekleme belirteci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 (OS anahtar deposu); bağlanınca oluşur → iptalde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509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V4,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dosyası değiştirilir; bozuk kayıt fark edilmeden kullanılır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Risk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509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yedekleme sunucusu belirteci çalar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Risk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510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 ekrandan görülür (omuz sörfü)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Risk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6110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Dokuz tehdidin </a:t>
            </a:r>
            <a:r>
              <a:rPr sz="1800" b="1">
                <a:solidFill>
                  <a:srgbClr val="1F2D3A"/>
                </a:solidFill>
              </a:rPr>
              <a:t>hepsi</a:t>
            </a:r>
            <a:r>
              <a:rPr sz="1800" b="0">
                <a:solidFill>
                  <a:srgbClr val="1F2D3A"/>
                </a:solidFill>
              </a:rPr>
              <a:t> tabloda olmalı; atlanan tehdit kapatılmamış demektir.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58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758"/>
                <a:gridCol w="8665042"/>
                <a:gridCol w="1176734"/>
              </a:tblGrid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Yavaş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türetme (Argon2id / yüksek yinelemeli PBKDF2) + parola gücü şartı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silme,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döküm kapatma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 30 s sonra temizlenir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T4-5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doğrulamalı şifreleme; başlık =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en düşük yineleme kodda sabit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İmzayı doğrulamadan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asla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çalıştırma; geri almayı reddet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doğrulama + fuzzing + derleyici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(devam): T7 ve T9 önlemleri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92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372"/>
                <a:gridCol w="8792790"/>
                <a:gridCol w="1059372"/>
              </a:tblGrid>
              <a:tr h="63093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3093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Sertifika doğrulama + ana makine adı denetimi, isteğe bağlı sertifika 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Kabul et: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ekranda parolayı gizle; fiziksel gözetim kapsam dışı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2841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T9 örneği önemli: her tehdide önlem </a:t>
            </a:r>
            <a:r>
              <a:rPr sz="2000" b="1">
                <a:solidFill>
                  <a:srgbClr val="1F2D3A"/>
                </a:solidFill>
              </a:rPr>
              <a:t>eklemek</a:t>
            </a:r>
            <a:r>
              <a:rPr sz="2000" b="0">
                <a:solidFill>
                  <a:srgbClr val="1F2D3A"/>
                </a:solidFill>
              </a:rPr>
              <a:t> gerekmez, bazen </a:t>
            </a:r>
            <a:r>
              <a:rPr sz="2000" b="1">
                <a:solidFill>
                  <a:srgbClr val="1F2D3A"/>
                </a:solidFill>
              </a:rPr>
              <a:t>kabul etmek</a:t>
            </a:r>
            <a:r>
              <a:rPr sz="2000" b="0">
                <a:solidFill>
                  <a:srgbClr val="1F2D3A"/>
                </a:solidFill>
              </a:rPr>
              <a:t> doğru karardır.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6–7: Doğrulama ve kalan risk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218"/>
                <a:gridCol w="5639669"/>
                <a:gridCol w="3800647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Türetme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 ölçümü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250 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Kilitten sonra bellek dökümünde parola ara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Bulunmaz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Dosyanın bir baytını değiştir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"Bozuk" der, açmaz, çökmez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Bozuk imzalı paket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Reddedilir, günlüğe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kasa açıkken aynı kullanıcıyla çalışan zararlı · omuz sörfü · çok zayıf parola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2772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Testi olmayan önlem değerlendirici gözünde </a:t>
            </a:r>
            <a:r>
              <a:rPr sz="2000" b="1">
                <a:solidFill>
                  <a:srgbClr val="1F2D3A"/>
                </a:solidFill>
              </a:rPr>
              <a:t>yoktur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6 (devam): T5 ve T8 testleri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9442"/>
                <a:gridCol w="4643206"/>
                <a:gridCol w="4178885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T5 parametre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Başlıktaki yineleme sayısı 1 yapılır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dosyayı reddeder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 ayrıştırıcı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24 saat fuzzing (4. hafta)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Çökme yok; sanitizer bulgusu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7 (devam): kalan risk — tam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38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1299"/>
                <a:gridCol w="5611646"/>
                <a:gridCol w="1818589"/>
              </a:tblGrid>
              <a:tr h="51846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 kabul edildi?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Yeniden değerlendirme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açıkken bilgisayarda zararlı çalışıyorsa bellek okunabilir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kullanıcı yetkisiyle çalışan zararlıya karşı tam koruma mümkün değil; kilitleme süresi kısa tutuldu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sürüm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Omuz sörfü (T9)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Fiziksel ortam kapsam dışı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1846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zayıf 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uyarılıyor ama zorla engellenmiyor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geri bildirimine göre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 unutmak:</a:t>
            </a:r>
            <a:r>
              <a:rPr sz="2000" b="0">
                <a:solidFill>
                  <a:srgbClr val="1F2D3A"/>
                </a:solidFill>
              </a:rPr>
              <a:t> anahtarlar, belirteçler, sayaçlar, yapılandırma, </a:t>
            </a:r>
            <a:r>
              <a:rPr sz="2000" b="1">
                <a:solidFill>
                  <a:srgbClr val="1F2D3A"/>
                </a:solidFill>
              </a:rPr>
              <a:t>kodun kendisi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 sınırını yanlış çizmek:</a:t>
            </a:r>
            <a:r>
              <a:rPr sz="2000" b="0">
                <a:solidFill>
                  <a:srgbClr val="1F2D3A"/>
                </a:solidFill>
              </a:rPr>
              <a:t> kendi istemcinizi "güvenilir" saymak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Önlemi tehditle eşleştirmemek:</a:t>
            </a:r>
            <a:r>
              <a:rPr sz="2000" b="0">
                <a:solidFill>
                  <a:srgbClr val="1F2D3A"/>
                </a:solidFill>
              </a:rPr>
              <a:t> "TLS kullanıyoruz" — hangi tehdidi kapatıyor, hangisini kapatmıyor?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Testsiz önlem:</a:t>
            </a:r>
            <a:r>
              <a:rPr sz="2000" b="0">
                <a:solidFill>
                  <a:srgbClr val="1F2D3A"/>
                </a:solidFill>
              </a:rPr>
              <a:t> "siliyoruz" deyip derleyicinin silmeyi kaldırdığını fark etmemek (Demo 2)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Program başlarken ve bellekte kalan sırlar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Sır bellekten nasıl sızar — şema</a:t>
            </a:r>
          </a:p>
        </p:txBody>
      </p:sp>
      <p:pic>
        <p:nvPicPr>
          <p:cNvPr id="7" name="Picture 6" descr="h01-21-bellekten-sizma-yol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992" y="1325880"/>
            <a:ext cx="952371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Program boş sayfayla başlamaz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Çalıştıran kişiden </a:t>
            </a:r>
            <a:r>
              <a:rPr sz="2000" b="1">
                <a:solidFill>
                  <a:srgbClr val="1F2D3A"/>
                </a:solidFill>
              </a:rPr>
              <a:t>devraldıkları: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Ortam değişkenleri: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LD_PRELOAD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 dosya tanıtıcıları, çalışma dizini, </a:t>
            </a:r>
            <a:r>
              <a:rPr sz="2000" b="0">
                <a:solidFill>
                  <a:srgbClr val="A1123F"/>
                </a:solidFill>
                <a:latin typeface="Consolas"/>
              </a:rPr>
              <a:t>umask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sınırları, çökme dökümü ayarı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bunlara güvenirse, </a:t>
            </a:r>
            <a:r>
              <a:rPr sz="2000" b="1">
                <a:solidFill>
                  <a:srgbClr val="1F2D3A"/>
                </a:solidFill>
              </a:rPr>
              <a:t>onları kontrol eden programı kontrol eder.</a:t>
            </a:r>
            <a:r>
              <a:rPr sz="2000" b="0">
                <a:solidFill>
                  <a:srgbClr val="1F2D3A"/>
                </a:solidFill>
              </a:rPr>
              <a:t> Kitap: Viega &amp; Messier, Tarif 1.1–1.9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PATH ile kandırma (CWE-426)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system(KOMUT);  /* Linux: "date"  Windows: "hostname"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/* HANGİSİ çalışacak?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— PATH="$PWD/sahte:$PATH" ./bin/linux/rapor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Rapor tarihi: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!!! SAHTE 'date' calisti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— ./bin/linux/rapor_guvenli  -&gt;  Rapor tarihi: Sat Sep 19 ...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PATH ile kandırma — şema</a:t>
            </a:r>
          </a:p>
        </p:txBody>
      </p:sp>
      <p:pic>
        <p:nvPicPr>
          <p:cNvPr id="7" name="Picture 6" descr="h01-08-path-kandir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501831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üç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arguman[]     = { "date",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temiz_ortam[] = { "PATH=/usr/bin:/bin", "LANG=C",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posix_spawn(&amp;pid, "/bin/date", NULL, NULL, arguman, temiz_ortam);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Mutlak yol</a:t>
            </a:r>
            <a:r>
              <a:rPr sz="2000" b="0">
                <a:solidFill>
                  <a:srgbClr val="1F2D3A"/>
                </a:solidFill>
              </a:rPr>
              <a:t> → PATH araması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Kabuk yok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posix_spawn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execve</a:t>
            </a:r>
            <a:r>
              <a:rPr sz="2000" b="0">
                <a:solidFill>
                  <a:srgbClr val="1F2D3A"/>
                </a:solidFill>
              </a:rPr>
              <a:t>) → özel karakter,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Temiz ortam</a:t>
            </a:r>
            <a:r>
              <a:rPr sz="2000" b="0">
                <a:solidFill>
                  <a:srgbClr val="1F2D3A"/>
                </a:solidFill>
              </a:rPr>
              <a:t> → bilinen, küçük bir ortam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05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Windows: </a:t>
            </a:r>
            <a:r>
              <a:rPr sz="2000" b="0">
                <a:solidFill>
                  <a:srgbClr val="A1123F"/>
                </a:solidFill>
                <a:latin typeface="Consolas"/>
              </a:rPr>
              <a:t>CreateProcessW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System32hostname.exe</a:t>
            </a:r>
            <a:r>
              <a:rPr sz="2000" b="0">
                <a:solidFill>
                  <a:srgbClr val="1F2D3A"/>
                </a:solidFill>
              </a:rPr>
              <a:t> +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554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iyisi: başka programa hiç gerek bırakma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strftime()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GetComputerNameW()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başlatma: ne devralınıyor?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7274356"/>
                <a:gridCol w="909294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Devralınan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Tarif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 değişkenleri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PATH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LD_PRELOAD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yüklenecek programı/kütüphaneyi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dosya tanıtıcıları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Ebeveynin gizli dosyası sızar; 0–2 kapalıysa ilk dosya "stdout" olur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umask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000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herkese yazılabilir dosyalar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sınırları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dökümü açık → bellek diske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ve yetkiler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setuid: gereğinden fazla yetki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kendi kurmadığın hiçbir şeye güvenme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Programın devraldığı durum — şema</a:t>
            </a:r>
          </a:p>
        </p:txBody>
      </p:sp>
      <p:pic>
        <p:nvPicPr>
          <p:cNvPr id="7" name="Picture 6" descr="h01-20-devralinan-du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6149" y="1325880"/>
            <a:ext cx="905939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Devralınan diğer riskler: çalışma dizini, sinyal, dlopen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145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Çalışma dizini:</a:t>
            </a:r>
            <a:r>
              <a:rPr sz="1800" b="0">
                <a:solidFill>
                  <a:srgbClr val="1F2D3A"/>
                </a:solidFill>
              </a:rPr>
              <a:t> Göreli yollar (</a:t>
            </a:r>
            <a:r>
              <a:rPr sz="1800" b="0">
                <a:solidFill>
                  <a:srgbClr val="A1123F"/>
                </a:solidFill>
                <a:latin typeface="Consolas"/>
              </a:rPr>
              <a:t>./ayar.ini</a:t>
            </a:r>
            <a:r>
              <a:rPr sz="1800" b="0">
                <a:solidFill>
                  <a:srgbClr val="1F2D3A"/>
                </a:solidFill>
              </a:rPr>
              <a:t>) saldırganın seçtiği bir klasöre işaret edebilir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Sinyal ayarları:</a:t>
            </a:r>
            <a:r>
              <a:rPr sz="1800" b="0">
                <a:solidFill>
                  <a:srgbClr val="1F2D3A"/>
                </a:solidFill>
              </a:rPr>
              <a:t> Ebeveynin yok saydığı sinyaller </a:t>
            </a:r>
            <a:r>
              <a:rPr sz="1800" b="1">
                <a:solidFill>
                  <a:srgbClr val="1F2D3A"/>
                </a:solidFill>
              </a:rPr>
              <a:t>çocukta da</a:t>
            </a:r>
            <a:r>
              <a:rPr sz="1800" b="0">
                <a:solidFill>
                  <a:srgbClr val="1F2D3A"/>
                </a:solidFill>
              </a:rPr>
              <a:t> yok sayılır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`dlopen("lib.so")`: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LD_LIBRARY_PATH</a:t>
            </a:r>
            <a:r>
              <a:rPr sz="1800" b="0">
                <a:solidFill>
                  <a:srgbClr val="1F2D3A"/>
                </a:solidFill>
              </a:rPr>
              <a:t> ve arama yollarından etkilenir → tam yol kullanın; </a:t>
            </a:r>
            <a:r>
              <a:rPr sz="1800" b="0">
                <a:solidFill>
                  <a:srgbClr val="A1123F"/>
                </a:solidFill>
                <a:latin typeface="Consolas"/>
              </a:rPr>
              <a:t>LD_*</a:t>
            </a:r>
            <a:r>
              <a:rPr sz="1800" b="0">
                <a:solidFill>
                  <a:srgbClr val="1F2D3A"/>
                </a:solidFill>
              </a:rPr>
              <a:t> Adım 1'de temizlenmiş olmalı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01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Kural aynı: </a:t>
            </a:r>
            <a:r>
              <a:rPr sz="1800" b="1">
                <a:solidFill>
                  <a:srgbClr val="1F2D3A"/>
                </a:solidFill>
              </a:rPr>
              <a:t>programın kendisinin kurmadığı hiçbir şeye güvenme.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1–2: Ortam ve tanıtıcılar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Ortam: kara liste değil BEYAZ liste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clearenv();                            /* önce korunacakları kopyala!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setenv("PATH", "/usr/bin:/bin", 1);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0-2 kapalıysa /dev/null'a bağla, gerisini kapat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fd = 0; fd &lt;= 2; fd++)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(fcntl(fd, F_GETFD) == -1 &amp;&amp; open("/dev/null", O_RDWR) != fd) abort();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close_range(3, ~0U, 0);                /* Linux 5.9+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getenv</a:t>
            </a:r>
            <a:r>
              <a:rPr sz="1800" b="0">
                <a:solidFill>
                  <a:srgbClr val="1F2D3A"/>
                </a:solidFill>
              </a:rPr>
              <a:t> işaretçisi </a:t>
            </a:r>
            <a:r>
              <a:rPr sz="1800" b="0">
                <a:solidFill>
                  <a:srgbClr val="A1123F"/>
                </a:solidFill>
                <a:latin typeface="Consolas"/>
              </a:rPr>
              <a:t>clearenv</a:t>
            </a:r>
            <a:r>
              <a:rPr sz="1800" b="0">
                <a:solidFill>
                  <a:srgbClr val="1F2D3A"/>
                </a:solidFill>
              </a:rPr>
              <a:t> sonrası </a:t>
            </a:r>
            <a:r>
              <a:rPr sz="1800" b="1">
                <a:solidFill>
                  <a:srgbClr val="1F2D3A"/>
                </a:solidFill>
              </a:rPr>
              <a:t>geçersiz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Kendi dosyalarınızda her zaman </a:t>
            </a:r>
            <a:r>
              <a:rPr sz="1800" b="0">
                <a:solidFill>
                  <a:srgbClr val="A1123F"/>
                </a:solidFill>
                <a:latin typeface="Consolas"/>
              </a:rPr>
              <a:t>O_CLOEXEC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3–4: İzinler ve çökme dökümü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umask(077);                                   /* rw-------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fd = open(yol, O_WRONLY | O_CREAT | O_EXCL, 0600);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struct rlimit r = { 0, 0 };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setrlimit(RLIMIT_CORE, &amp;r);                   /* döküm boyutu 0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prctl(PR_SET_DUMPABLE, 0, 0, 0, 0);           /* + ptrace ile bağlanılamaz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SetErrorMode(SEM_FAILCRITICALERRORS | SEM_NOGPFAULTERRORBOX)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Asıl savunma: döküm alınsa bile içinde </a:t>
            </a:r>
            <a:r>
              <a:rPr sz="1800" b="1">
                <a:solidFill>
                  <a:srgbClr val="1F2D3A"/>
                </a:solidFill>
              </a:rPr>
              <a:t>sır kalmamalı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Yetkiyi kalıcı bırak ve doğrula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(setresgid(g, g, g) != 0) abort();   /* 1. önce GRUP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(setresuid(u, u, u) != 0) abort();   /* 2. sonra kullanıcı: r/e/s üçü de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getresuid(&amp;r, &amp;e, &amp;s);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 != u || e != u || s != u) abort();  /* 3. DOĞRULA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seteuid()</a:t>
            </a:r>
            <a:r>
              <a:rPr sz="1800" b="0">
                <a:solidFill>
                  <a:srgbClr val="1F2D3A"/>
                </a:solidFill>
              </a:rPr>
              <a:t> geçicidir: saklı kimlik yetkili kalır (2. hafta Demo 13)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1">
                <a:solidFill>
                  <a:srgbClr val="1F2D3A"/>
                </a:solidFill>
              </a:rPr>
              <a:t>kısıtlanmış belirteç</a:t>
            </a:r>
            <a:r>
              <a:rPr sz="1800" b="0">
                <a:solidFill>
                  <a:srgbClr val="1F2D3A"/>
                </a:solidFill>
              </a:rPr>
              <a:t> (</a:t>
            </a:r>
            <a:r>
              <a:rPr sz="1800" b="0">
                <a:solidFill>
                  <a:srgbClr val="A1123F"/>
                </a:solidFill>
                <a:latin typeface="Consolas"/>
              </a:rPr>
              <a:t>CreateRestrictedToken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Daha iyisi: </a:t>
            </a:r>
            <a:r>
              <a:rPr sz="1800" b="1">
                <a:solidFill>
                  <a:srgbClr val="1F2D3A"/>
                </a:solidFill>
              </a:rPr>
              <a:t>ayrıcalık ayrımı</a:t>
            </a:r>
            <a:r>
              <a:rPr sz="1800" b="0">
                <a:solidFill>
                  <a:srgbClr val="1F2D3A"/>
                </a:solidFill>
              </a:rPr>
              <a:t> — küçük yetkili süreç + büyük yetkisiz süreç (Tarif 1.4)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6: Program ve kütüphane yüklerken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8364"/>
                <a:gridCol w="6673170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 Hatalı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 Doğrusu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system("convert " + dosya)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execve("/usr/bin/convert", argv, temiz_ortam)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execvp("convert",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yolla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CreateProcess(NULL, "C:Program Files...")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lpApplicationName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= tam yol, komut satırı tırnaklı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LoadLibrary("yardimci.dll")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SetDefaultDllDirectories(LOAD_LIBRARY_SEARCH_DEFAULT_DIRS)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Windows DLL arama sırası = </a:t>
            </a:r>
            <a:r>
              <a:rPr sz="1800" b="0">
                <a:solidFill>
                  <a:srgbClr val="A1123F"/>
                </a:solidFill>
                <a:latin typeface="Consolas"/>
              </a:rPr>
              <a:t>PATH</a:t>
            </a:r>
            <a:r>
              <a:rPr sz="1800" b="0">
                <a:solidFill>
                  <a:srgbClr val="1F2D3A"/>
                </a:solidFill>
              </a:rPr>
              <a:t> sorununun ikizi (CWE-427)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Hepsi bir arada: </a:t>
            </a:r>
            <a:r>
              <a:rPr sz="3000" b="1">
                <a:solidFill>
                  <a:srgbClr val="006D77"/>
                </a:solidFill>
                <a:latin typeface="Consolas"/>
              </a:rPr>
              <a:t>guvenli_baslat()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main(int argc, char **argv)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tanitici_duzenle();   /* 1. tanıtıcılar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ortami_temizle();     /* 2. ortam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umask(077);           /* 3. izinler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dokumu_kapat();       /* 4. döküm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yetkiyi_birak();      /* 5. yetki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asıl iş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Sıra önemli:</a:t>
            </a:r>
            <a:r>
              <a:rPr sz="2000" b="0">
                <a:solidFill>
                  <a:srgbClr val="1F2D3A"/>
                </a:solidFill>
              </a:rPr>
              <a:t> başka hiçbir şey yapmadan önce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Bellekte kalan parola (CWE-14)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parola[64];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 = dosya_oku(fd, parola, sizeof(parola) - 1);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anahtar = anahtar_turet(parola,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memset(parola, 0, sizeof(parola));         /* sürüm 2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explicit_bzero(parola, sizeof(parola));    /* sürüm 3, Linux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SecureZeroMemory(parola, sizeof(parola));  /* sürüm 3, Windows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43784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Hiç silmeyen   -&gt; parola dökümde BULUNDU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 (-O2)   -&gt; parola dökümde BULUNDU      ←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 -&gt; parola dökümde bulunamadı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Neden memset kayboldu?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Derleyicinin düşüncesi: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</a:t>
            </a:r>
            <a:r>
              <a:rPr sz="1800" b="0">
                <a:solidFill>
                  <a:srgbClr val="1F2D3A"/>
                </a:solidFill>
              </a:rPr>
              <a:t> bundan sonra </a:t>
            </a:r>
            <a:r>
              <a:rPr sz="1800" b="1">
                <a:solidFill>
                  <a:srgbClr val="1F2D3A"/>
                </a:solidFill>
              </a:rPr>
              <a:t>hiç okunmuyor</a:t>
            </a:r>
            <a:r>
              <a:rPr sz="1800" b="0">
                <a:solidFill>
                  <a:srgbClr val="1F2D3A"/>
                </a:solidFill>
              </a:rPr>
              <a:t>. Ona sıfır yazmak sonucu değiştirmez. </a:t>
            </a:r>
            <a:r>
              <a:rPr sz="1800" b="1">
                <a:solidFill>
                  <a:srgbClr val="1F2D3A"/>
                </a:solidFill>
              </a:rPr>
              <a:t>Gereksiz — siliyorum.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0922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Kullanılmayan yazmanın silinmesi</a:t>
            </a:r>
            <a:r>
              <a:rPr sz="1800" b="0">
                <a:solidFill>
                  <a:srgbClr val="1F2D3A"/>
                </a:solidFill>
              </a:rPr>
              <a:t> (dead store elimination): hız için iyi, </a:t>
            </a:r>
            <a:r>
              <a:rPr sz="1800" b="1">
                <a:solidFill>
                  <a:srgbClr val="1F2D3A"/>
                </a:solidFill>
              </a:rPr>
              <a:t>sırlar için felaket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634738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364613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(glibc)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OpenSSL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0011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setrlimit(RLIMIT_CORE, 0)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mlock</a:t>
            </a:r>
            <a:r>
              <a:rPr sz="1800" b="0">
                <a:solidFill>
                  <a:srgbClr val="1F2D3A"/>
                </a:solidFill>
              </a:rPr>
              <a:t> · sırrı </a:t>
            </a:r>
            <a:r>
              <a:rPr sz="1800" b="1">
                <a:solidFill>
                  <a:srgbClr val="1F2D3A"/>
                </a:solidFill>
              </a:rPr>
              <a:t>kısa</a:t>
            </a:r>
            <a:r>
              <a:rPr sz="1800" b="0">
                <a:solidFill>
                  <a:srgbClr val="1F2D3A"/>
                </a:solidFill>
              </a:rPr>
              <a:t> tut, </a:t>
            </a:r>
            <a:r>
              <a:rPr sz="1800" b="1">
                <a:solidFill>
                  <a:srgbClr val="1F2D3A"/>
                </a:solidFill>
              </a:rPr>
              <a:t>kopyalama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Süreç belleği ve taşmalar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Süreç belleği</a:t>
            </a:r>
          </a:p>
        </p:txBody>
      </p:sp>
      <p:pic>
        <p:nvPicPr>
          <p:cNvPr id="7" name="Picture 6" descr="h01-13-surec-belleg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681" y="1325880"/>
            <a:ext cx="8192332" cy="4278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13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 dizinin sonunu denetlemez.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ad[16]</a:t>
            </a:r>
            <a:r>
              <a:rPr sz="2000" b="0">
                <a:solidFill>
                  <a:srgbClr val="1F2D3A"/>
                </a:solidFill>
              </a:rPr>
              <a:t>'ya 17. bayt → arkadaki değişkenin üzerine.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Yapının bellekteki hali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{ char ad[16]; int yonetici; };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8903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ofset:  0 ............................ 15 | 16  17  18  19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y  s  e \0  .  .  .  .  .  . ][ 00  00  00  00 ]   yonetici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"AAAAAAAAAAAAAAAAB" (17 karakter) kopyalanınca: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A  A  A  A  A  A  A  A  A  A ][ 42  00  00  00 ]   yonetici = 66 (!)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'B'  '\0'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Az anlamlı bayt önce (little-endian): en düşük bayt en düşük adreste.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Bellekteki yapı ve taşma — şema</a:t>
            </a:r>
          </a:p>
        </p:txBody>
      </p:sp>
      <p:pic>
        <p:nvPicPr>
          <p:cNvPr id="7" name="Picture 6" descr="h01-14-yapi-bellek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574" y="1325880"/>
            <a:ext cx="972654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Arabellek taşması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diziye </a:t>
            </a:r>
            <a:r>
              <a:rPr sz="2000" b="1">
                <a:solidFill>
                  <a:srgbClr val="1F2D3A"/>
                </a:solidFill>
              </a:rPr>
              <a:t>ayrılan boyuttan fazla</a:t>
            </a:r>
            <a:r>
              <a:rPr sz="2000" b="0">
                <a:solidFill>
                  <a:srgbClr val="1F2D3A"/>
                </a:solidFill>
              </a:rPr>
              <a:t> veri yazmak → taşan baytlar </a:t>
            </a:r>
            <a:r>
              <a:rPr sz="2000" b="1">
                <a:solidFill>
                  <a:srgbClr val="1F2D3A"/>
                </a:solidFill>
              </a:rPr>
              <a:t>komşu değişkenlerin</a:t>
            </a:r>
            <a:r>
              <a:rPr sz="2000" b="0">
                <a:solidFill>
                  <a:srgbClr val="1F2D3A"/>
                </a:solidFill>
              </a:rPr>
              <a:t> üzerine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 neden bu kadar kolay taşar?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Dizi </a:t>
            </a:r>
            <a:r>
              <a:rPr sz="2000" b="1">
                <a:solidFill>
                  <a:srgbClr val="1F2D3A"/>
                </a:solidFill>
              </a:rPr>
              <a:t>boyutunu bilmez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Fonksiyona yalnız </a:t>
            </a:r>
            <a:r>
              <a:rPr sz="2000" b="1">
                <a:solidFill>
                  <a:srgbClr val="1F2D3A"/>
                </a:solidFill>
              </a:rPr>
              <a:t>başlangıç adresi</a:t>
            </a:r>
            <a:r>
              <a:rPr sz="2000" b="0">
                <a:solidFill>
                  <a:srgbClr val="1F2D3A"/>
                </a:solidFill>
              </a:rPr>
              <a:t> gider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Dize (string) = </a:t>
            </a:r>
            <a:r>
              <a:rPr sz="2000" b="0">
                <a:solidFill>
                  <a:srgbClr val="A1123F"/>
                </a:solidFill>
                <a:latin typeface="Consolas"/>
              </a:rPr>
              <a:t>'0'</a:t>
            </a:r>
            <a:r>
              <a:rPr sz="2000" b="0">
                <a:solidFill>
                  <a:srgbClr val="1F2D3A"/>
                </a:solidFill>
              </a:rPr>
              <a:t> ile biten dizi;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hedefi </a:t>
            </a:r>
            <a:r>
              <a:rPr sz="2000" b="1">
                <a:solidFill>
                  <a:srgbClr val="1F2D3A"/>
                </a:solidFill>
              </a:rPr>
              <a:t>sormaz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Derleyici sınır denetimi </a:t>
            </a:r>
            <a:r>
              <a:rPr sz="2000" b="1">
                <a:solidFill>
                  <a:srgbClr val="1F2D3A"/>
                </a:solidFill>
              </a:rPr>
              <a:t>eklemez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602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CWE-787 "sınırlar dışına yazma": CWE Top 25'in hep ilk sıralarında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Yığında bir taşma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int  yetkili =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strcpy(tampon, ad);          /* ad &gt; 15 karakter?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pic>
        <p:nvPicPr>
          <p:cNvPr id="8" name="Picture 7" descr="h01-15-yiginda-tas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870" y="2560320"/>
            <a:ext cx="7527955" cy="3593592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 türleri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8836"/>
                <a:gridCol w="5963280"/>
                <a:gridCol w="164941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neden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(stack) taşması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sınırsız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Öbek (heap)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uzunluklu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fazla (off-by-one)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&lt;=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yerine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'0'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 yer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dışı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tarafın bildirdiği uzunluğa güvenmek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 kaynaklı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* boyut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taşar → küçük blok, büyük kopya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190 → 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Heartbleed (2014): hiçbir şey yazılmadı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"1 bayt gönderiyorum,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diye bildiriyorum"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Sunucu: bildirilen uzunluğu </a:t>
            </a:r>
            <a:r>
              <a:rPr sz="2000" b="1">
                <a:solidFill>
                  <a:srgbClr val="1F2D3A"/>
                </a:solidFill>
              </a:rPr>
              <a:t>denetlemeden</a:t>
            </a:r>
            <a:r>
              <a:rPr sz="2000" b="0">
                <a:solidFill>
                  <a:srgbClr val="1F2D3A"/>
                </a:solidFill>
              </a:rPr>
              <a:t> 64 KB geri yolladı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Sızan: parolalar, oturumlar, hatta sunucunun </a:t>
            </a:r>
            <a:r>
              <a:rPr sz="2000" b="1">
                <a:solidFill>
                  <a:srgbClr val="1F2D3A"/>
                </a:solidFill>
              </a:rPr>
              <a:t>özel anahtarı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CVE-2014-0160 · CWE-125 · Düzeltme: </a:t>
            </a:r>
            <a:r>
              <a:rPr sz="2000" b="1">
                <a:solidFill>
                  <a:srgbClr val="1F2D3A"/>
                </a:solidFill>
              </a:rPr>
              <a:t>tek bir uzunluk denetimi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Sınır dışı okuma da yazma kadar tehlikeli; üstelik </a:t>
            </a:r>
            <a:r>
              <a:rPr sz="2000" b="1">
                <a:solidFill>
                  <a:srgbClr val="1F2D3A"/>
                </a:solidFill>
              </a:rPr>
              <a:t>çökmez, iz bırakmaz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fazla hatası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ad[8];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i = 0; i &lt;= 8; i++)      /* 9 kez: ad[8] dışarıda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ad[i] = kaynak[i];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strncpy(ad, kaynak, sizeof ad);   /* kaynak &gt;= 8 → '\0' YOK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printf("%s\n", ad);               /* dizinin sonundan okumaya devam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1800" b="0">
                <a:solidFill>
                  <a:srgbClr val="1F2D3A"/>
                </a:solidFill>
              </a:rPr>
              <a:t> güvenli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değildir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Tek bayt taşma bile komşu değişkenin en düşük baytını değiştirir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Tehlikeli fonksiyonlar → yerine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6743"/>
                <a:gridCol w="749479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fgets(s, sizeof s, stdin)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C11'de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strcpy(d, s)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denetimi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(glibc 2.38+)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strcat(d,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yeri hesapla;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sprintf(d,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snprintf(d, sizeof d, ...)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dönüş değeri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scanf("%15s",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memcpy(d, s,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&lt;= sizeof 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char a[n]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(VLA),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alloca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 üst sınır ya da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16234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Tarif 3.3–3.4 bugün: </a:t>
            </a:r>
            <a:r>
              <a:rPr sz="18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strlcpy</a:t>
            </a:r>
            <a:r>
              <a:rPr sz="1800" b="0">
                <a:solidFill>
                  <a:srgbClr val="1F2D3A"/>
                </a:solidFill>
              </a:rPr>
              <a:t>, MSVC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strcpy_s</a:t>
            </a:r>
            <a:r>
              <a:rPr sz="1800" b="0">
                <a:solidFill>
                  <a:srgbClr val="1F2D3A"/>
                </a:solidFill>
              </a:rPr>
              <a:t>, C++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span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kalıp: önce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4518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selamla(const char *ad)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strnlen(ad, sizeof tampon);   /* en fazla 16 bayt oku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(n == sizeof tampon)                  /* uzunsa REDDET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memcpy(tampon, ad, 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tampon[n] = '\0';                        /* sonlandırıcı her zaman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807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Neden kesmek yerine reddetmek?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/home/ayse/gizli_rapor.txt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C++: boyutu tür taşır — ama dikkat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std::string &amp;ad)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(ad.size() &gt; 15) throw std::invalid_argument("ad cok uzun");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std::cout &lt;&lt; "Merhaba " &lt;&lt; ad &lt;&lt; '\n';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vector::operator[]</a:t>
            </a:r>
            <a:r>
              <a:rPr sz="2000" b="0">
                <a:solidFill>
                  <a:srgbClr val="1F2D3A"/>
                </a:solidFill>
              </a:rPr>
              <a:t> sınır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at()</a:t>
            </a:r>
            <a:r>
              <a:rPr sz="2000" b="0">
                <a:solidFill>
                  <a:srgbClr val="1F2D3A"/>
                </a:solidFill>
              </a:rPr>
              <a:t> denetler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c_str()</a:t>
            </a:r>
            <a:r>
              <a:rPr sz="2000" b="0">
                <a:solidFill>
                  <a:srgbClr val="1F2D3A"/>
                </a:solidFill>
              </a:rPr>
              <a:t> ile alınan işaretçiye yazmak → C'nin bütün sorunları geri gelir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Taşmayı kim yakalar?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940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95"/>
                <a:gridCol w="7022275"/>
                <a:gridCol w="2052665"/>
              </a:tblGrid>
              <a:tr h="36758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zaman?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denetimi, güvenli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 /sdl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Geliştirme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libFuzzer, AFL++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(4. hafta)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/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DEP/NX, ASLR · Intel CET, ARM PAC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7631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Koruma sömürüyü </a:t>
            </a:r>
            <a:r>
              <a:rPr sz="1800" b="1">
                <a:solidFill>
                  <a:srgbClr val="1F2D3A"/>
                </a:solidFill>
              </a:rPr>
              <a:t>zorlaştırır</a:t>
            </a:r>
            <a:r>
              <a:rPr sz="1800" b="0">
                <a:solidFill>
                  <a:srgbClr val="1F2D3A"/>
                </a:solidFill>
              </a:rPr>
              <a:t>, hatayı </a:t>
            </a:r>
            <a:r>
              <a:rPr sz="1800" b="1">
                <a:solidFill>
                  <a:srgbClr val="1F2D3A"/>
                </a:solidFill>
              </a:rPr>
              <a:t>gidermez</a:t>
            </a:r>
            <a:r>
              <a:rPr sz="1800" b="0">
                <a:solidFill>
                  <a:srgbClr val="1F2D3A"/>
                </a:solidFill>
              </a:rPr>
              <a:t> — kanarya programı sonlandırır = hizmet engelleme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ASan raporunu okumak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ERROR: AddressSanitizer: stack-buffer-overflow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WRITE of size 21 at 0x7ffd... thread T0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#0 in strcpy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#1 in selamla  ornek.c:7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#2 in main     ornek.c:15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This frame has 1 object(s):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[32, 48) 'tampon' &lt;== Memory access at offset 48 overflows this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Ne?</a:t>
            </a:r>
            <a:r>
              <a:rPr sz="1800" b="0">
                <a:solidFill>
                  <a:srgbClr val="1F2D3A"/>
                </a:solidFill>
              </a:rPr>
              <a:t> yığın taşması, 21 bayt yazma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Nerede?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ornek.c:7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Hangi değişken?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1800" b="0">
                <a:solidFill>
                  <a:srgbClr val="1F2D3A"/>
                </a:solidFill>
              </a:rPr>
              <a:t> (16 bayt), erişim tam sınırın ötesinde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034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Yaklaşık 2× yavaş → yalnız </a:t>
            </a:r>
            <a:r>
              <a:rPr sz="1800" b="1">
                <a:solidFill>
                  <a:srgbClr val="1F2D3A"/>
                </a:solidFill>
              </a:rPr>
              <a:t>test</a:t>
            </a:r>
            <a:r>
              <a:rPr sz="1800" b="0">
                <a:solidFill>
                  <a:srgbClr val="1F2D3A"/>
                </a:solidFill>
              </a:rPr>
              <a:t> derlemesinde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Taşmayla yetki yükseltme (CWE-121)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9485"/>
                <a:gridCol w="5092049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17 karakterlik 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(korumasız)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YÖNETİCİ erişimi verildi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(ASan)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sessiz kaldı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— taşma yapının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içinde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+ 40 karakter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stack-buffer-overflow yakalandı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giris_denetimli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_FORTIFY_SOURCE=2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program durduruldu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Reddedildi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İzin listesi: 1–15 karakter, harf/rakam/_/-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ad_gecerli_mi(const char *s)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size_t n = strnlen(s, 16);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 == 0 || n &gt;= 16)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 = 0;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unsigned char c = (unsigned char)s[i];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(!isalnum(c) &amp;&amp; c != '_' &amp;&amp; c != '-')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o = { .yonetici = 0 };           /* güvenli varsayılan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snprintf(o.ad, sizeof(o.ad), "%s", argv[1]);   /* boyutu bilen kopya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661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Canary, NX, ASLR (4. hafta) </a:t>
            </a:r>
            <a:r>
              <a:rPr sz="2000" b="1">
                <a:solidFill>
                  <a:srgbClr val="1F2D3A"/>
                </a:solidFill>
              </a:rPr>
              <a:t>sömürmeyi zorlaştırır, hatayı düzeltmez.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Tamsayılar: -1 ne zaman dev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int</a:t>
            </a:r>
            <a:r>
              <a:rPr sz="2000" b="0">
                <a:solidFill>
                  <a:srgbClr val="1F2D3A"/>
                </a:solidFill>
              </a:rPr>
              <a:t> işaretli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işaretsiz · negatifler </a:t>
            </a:r>
            <a:r>
              <a:rPr sz="2000" b="1">
                <a:solidFill>
                  <a:srgbClr val="1F2D3A"/>
                </a:solidFill>
              </a:rPr>
              <a:t>ikiye tümleyen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   -1  =  0xFFFFFFFFFFFFFFFF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    =  18 446 744 073 709 551 615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16) return -1;   /* -1 bu denetimi GEÇER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memcpy(hedef, kaynak, uzunluk); /* int -&gt; size_t */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İşaretli uzunluk (CWE-195)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0  GCC -Wall -Wextra: sessiz · -Wsign-conversion: uyarı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MSVC (C): sessiz · aynı kod C++ olarak: C4365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1  kopya 8     -&gt; Kopyalandi: ORNEK-KA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 kopya 100   -&gt;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kopya -1    -&gt; Linux: SIGSEGV (139) · Windows: 0xC0000409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ASan        -&gt; negative-size-param: (size=-1)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kopya_guvenli -1 / 12abc -&gt;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boyutlar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alt ve üst</a:t>
            </a:r>
            <a:r>
              <a:rPr sz="2000" b="0">
                <a:solidFill>
                  <a:srgbClr val="1F2D3A"/>
                </a:solidFill>
              </a:rPr>
              <a:t> sınır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· uyarıları </a:t>
            </a:r>
            <a:r>
              <a:rPr sz="2000" b="1">
                <a:solidFill>
                  <a:srgbClr val="1F2D3A"/>
                </a:solidFill>
              </a:rPr>
              <a:t>aç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İşaretli uzunluk hatası — şema</a:t>
            </a:r>
          </a:p>
        </p:txBody>
      </p:sp>
      <p:pic>
        <p:nvPicPr>
          <p:cNvPr id="7" name="Picture 6" descr="h01-22-isaretli-donu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831" y="1325880"/>
            <a:ext cx="7596032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Bellek yönetimi, bölümleme ve güvenli süreç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Dinamik belleğin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Ayır → doğrula → kullan → sırrı sil → bir kez serbest bırak → işaretçiyi unut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7128869"/>
                <a:gridCol w="1018409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Unutulursa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NULL döner, denetlenmez → çökme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476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 yazma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787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Sırrı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bir sonraki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'la başka koda gider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kez bırak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Çift serbest bırakma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İşaretçiyi unut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Serbest bırakıldıktan sonra kullanma (UAF)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Hiç bırakmamak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Sızıntı → hizmet engelleme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401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Belleğin dört ömrü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397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637"/>
                <a:gridCol w="2888347"/>
                <a:gridCol w="2406956"/>
                <a:gridCol w="4011593"/>
              </a:tblGrid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Ömür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Nasıl oluşur?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zaman biter?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Statik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Genel değişken,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static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yerel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 bitince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anda birden fazla iş parçacığının yazması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Otomatik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içi yerel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dönünce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Yerel değişkenin adresini döndürmek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Dinamik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calloc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delete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çağrılınca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Sızıntı, çift serbest bırakma, UAF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İş parçacığı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_Thread_local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thread_local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 parçacığı bitince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316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Bu haftanın taşma ve UAF örnekleri hep </a:t>
            </a:r>
            <a:r>
              <a:rPr sz="1800" b="1">
                <a:solidFill>
                  <a:srgbClr val="1F2D3A"/>
                </a:solidFill>
              </a:rPr>
              <a:t>dinamik</a:t>
            </a:r>
            <a:r>
              <a:rPr sz="1800" b="0">
                <a:solidFill>
                  <a:srgbClr val="1F2D3A"/>
                </a:solidFill>
              </a:rPr>
              <a:t> ömürle ilgili; sırf onu bilmek yetmez.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Belleğin ömrü ve CWE'ler — şema</a:t>
            </a:r>
          </a:p>
        </p:txBody>
      </p:sp>
      <p:pic>
        <p:nvPicPr>
          <p:cNvPr id="7" name="Picture 6" descr="h01-09-bellek-om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625794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UAF: neden bu kadar tehlikeli?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*aktif = malloc(sizeof *aktif);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*onbellek = aktif;              /* ikinci sahip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free(aktif);  aktif = NULL;               /* onbellek hâlâ eski adreste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*not = malloc(sizeof(Kullanici));    /* aynı blok geri verilebilir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strcpy(not, "....");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(onbellek-&gt;yetki) { ... }              /* 'not'un baytlarını okuyor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free</a:t>
            </a:r>
            <a:r>
              <a:rPr sz="1800" b="0">
                <a:solidFill>
                  <a:srgbClr val="1F2D3A"/>
                </a:solidFill>
              </a:rPr>
              <a:t> belleği OS'e vermez, </a:t>
            </a:r>
            <a:r>
              <a:rPr sz="1800" b="1">
                <a:solidFill>
                  <a:srgbClr val="1F2D3A"/>
                </a:solidFill>
              </a:rPr>
              <a:t>boş listeye</a:t>
            </a:r>
            <a:r>
              <a:rPr sz="1800" b="0">
                <a:solidFill>
                  <a:srgbClr val="1F2D3A"/>
                </a:solidFill>
              </a:rPr>
              <a:t> koyar → aynı blok yeniden verilir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Sahiplik kuralı:</a:t>
            </a:r>
            <a:r>
              <a:rPr sz="1800" b="0">
                <a:solidFill>
                  <a:srgbClr val="1F2D3A"/>
                </a:solidFill>
              </a:rPr>
              <a:t> her bloğun </a:t>
            </a:r>
            <a:r>
              <a:rPr sz="1800" b="1">
                <a:solidFill>
                  <a:srgbClr val="1F2D3A"/>
                </a:solidFill>
              </a:rPr>
              <a:t>tek sahibi</a:t>
            </a:r>
            <a:r>
              <a:rPr sz="1800" b="0">
                <a:solidFill>
                  <a:srgbClr val="1F2D3A"/>
                </a:solidFill>
              </a:rPr>
              <a:t> var, yalnız o serbest bırakır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Düzeltilmiş kalıplar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*k = calloc(n, sizeof(Kayit));          /* çarpım taşmasını denetler + sıfırlar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(k == NULL) return HATA_BELLEK;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*yeni = reallocarray(k, n2, sizeof(Kayit));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(yeni == NULL) { free(k); return HATA_BELLEK; }   /* k'yi kaybetme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 = yeni;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 = realloc(tampon, n);</a:t>
            </a:r>
            <a:r>
              <a:rPr sz="1800" b="0">
                <a:solidFill>
                  <a:srgbClr val="1F2D3A"/>
                </a:solidFill>
              </a:rPr>
              <a:t> → başarısızsa eski blok kaybolur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Sır tutan tamponda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 → taşınan eski blok </a:t>
            </a:r>
            <a:r>
              <a:rPr sz="1800" b="1">
                <a:solidFill>
                  <a:srgbClr val="1F2D3A"/>
                </a:solidFill>
              </a:rPr>
              <a:t>sıfırlanmaz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Sırları silmek (Tarif 13.2)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546920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Linux, BSD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explicit_bzero(p, 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SecureZeroMemory(p,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 / C23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memset_explicit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Hiçbiri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volatile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işaretçiyle bayt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Sırrın </a:t>
            </a:r>
            <a:r>
              <a:rPr sz="1800" b="1">
                <a:solidFill>
                  <a:srgbClr val="1F2D3A"/>
                </a:solidFill>
              </a:rPr>
              <a:t>gizli kopyaları:</a:t>
            </a:r>
            <a:r>
              <a:rPr sz="1800" b="0">
                <a:solidFill>
                  <a:srgbClr val="1F2D3A"/>
                </a:solidFill>
              </a:rPr>
              <a:t> değerle geçirilen yapılar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'un eski bloğu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 (SSO, silmeden yok olur) · G/Ç tamponları · takas ve hazırda bekletme dosyası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Diske düşmesin (Tarif 13.3) ve RAII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mlock(anahtar, sizeof anahtar);          /* Windows: VirtualLock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... kullan 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cen429_sil(anahtar, sizeof anahtar);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munlock(anahtar, sizeof anahtar);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0241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class GizliAnahtar {                     /* yıkıcı otomatik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~GizliAnahtar() { cen429_sil(v_.data(), v_.size());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GizliAnahtar(const GizliAnahtar&amp;) = delete;   /* kopya = ikinci sır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5460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Kilitleme </a:t>
            </a:r>
            <a:r>
              <a:rPr sz="1800" b="1">
                <a:solidFill>
                  <a:srgbClr val="1F2D3A"/>
                </a:solidFill>
              </a:rPr>
              <a:t>sayfa</a:t>
            </a:r>
            <a:r>
              <a:rPr sz="1800" b="0">
                <a:solidFill>
                  <a:srgbClr val="1F2D3A"/>
                </a:solidFill>
              </a:rPr>
              <a:t> düzeyinde, miktar sınırlı → yalnız küçük anahtar bölgesi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Bellek hatası avcıları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7"/>
                <a:gridCol w="2995323"/>
                <a:gridCol w="502786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AddressSanitizer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LeakSanitizer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(Linux)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Clang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Valgrind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(yavaş)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valgrind --leak-check=full ./prog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CRT hata ayıklama öbeği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_CrtSetDbgFlag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Değerlendirici:</a:t>
            </a:r>
            <a:r>
              <a:rPr sz="1800" b="0">
                <a:solidFill>
                  <a:srgbClr val="1F2D3A"/>
                </a:solidFill>
              </a:rPr>
              <a:t> işlem bittikten sonra döküm alır, test parolasını arar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kod bölümleme: TCB'yi küçült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Güvenilir hesaplama tabanı (TCB):</a:t>
            </a:r>
            <a:r>
              <a:rPr sz="2000" b="0">
                <a:solidFill>
                  <a:srgbClr val="1F2D3A"/>
                </a:solidFill>
              </a:rPr>
              <a:t> "hatalıysa güvenlik çöker" dediğimiz kodun tamamı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200.000 satırlık uygulama, 2.000 satırlık </a:t>
            </a:r>
            <a:r>
              <a:rPr sz="2000" b="1">
                <a:solidFill>
                  <a:srgbClr val="1F2D3A"/>
                </a:solidFill>
              </a:rPr>
              <a:t>korunan çekirdek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İnceleme, gizleme, bütünlük denetimi yalnız çekirdeğe → maliyet de yalnız orada</a:t>
            </a:r>
          </a:p>
        </p:txBody>
      </p:sp>
      <p:pic>
        <p:nvPicPr>
          <p:cNvPr id="9" name="Picture 8" descr="h01-10-bolum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7130" y="3158744"/>
            <a:ext cx="6677434" cy="2995168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Bölümleme seçenekleri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6945"/>
                <a:gridCol w="1620525"/>
                <a:gridCol w="6374065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Yalıtım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süreçte ayrı modül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uygulamasında native kütüphane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Tarayıcı kum havuzu, yetkili yardımcı süreç (Tarif 1.4)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Orta–yüksek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DPAPI, Anahtarlık,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eleman, TPM, TEE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Sunucuya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 hiç istemciye gitmez, HSM'de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En güçlüsü </a:t>
            </a:r>
            <a:r>
              <a:rPr sz="1800" b="1">
                <a:solidFill>
                  <a:srgbClr val="1F2D3A"/>
                </a:solidFill>
              </a:rPr>
              <a:t>sırrı istemciden kaldırmak</a:t>
            </a:r>
            <a:r>
              <a:rPr sz="1800" b="0">
                <a:solidFill>
                  <a:srgbClr val="1F2D3A"/>
                </a:solidFill>
              </a:rPr>
              <a:t>; olmazsa donanım; o da yoksa </a:t>
            </a:r>
            <a:r>
              <a:rPr sz="1800" b="1">
                <a:solidFill>
                  <a:srgbClr val="1F2D3A"/>
                </a:solidFill>
              </a:rPr>
              <a:t>yazılım koruması</a:t>
            </a:r>
            <a:r>
              <a:rPr sz="1800" b="0">
                <a:solidFill>
                  <a:srgbClr val="1F2D3A"/>
                </a:solidFill>
              </a:rPr>
              <a:t> (bu dersin konusu)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Arayüz: dar, doğrulanmış, sırsız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typedef struct KasaAnahtari KasaAnahtari;     /* opak tür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kasa_ac(const char *parola, size_t n, const unsigned char tuz[16],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KasaAnahtari **cikti);           /* parolayı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kasa_coz(KasaAnahtari *a, const unsigned char *sifreli, size_t n,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unsigned char *acik, size_t kapasite, size_t *yazilan);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kasa_kapat(KasaAnahtari *a);             /* anahtarı siler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Sırrı dışarı verme, iş yaptır</a:t>
            </a:r>
            <a:r>
              <a:rPr sz="1800" b="0">
                <a:solidFill>
                  <a:srgbClr val="1F2D3A"/>
                </a:solidFill>
              </a:rPr>
              <a:t> (tutamaç)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Sınırı geçen her şeyi </a:t>
            </a:r>
            <a:r>
              <a:rPr sz="1800" b="1">
                <a:solidFill>
                  <a:srgbClr val="1F2D3A"/>
                </a:solidFill>
              </a:rPr>
              <a:t>doğrula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Sınırdan </a:t>
            </a:r>
            <a:r>
              <a:rPr sz="1800" b="1">
                <a:solidFill>
                  <a:srgbClr val="1F2D3A"/>
                </a:solidFill>
              </a:rPr>
              <a:t>açık veri</a:t>
            </a:r>
            <a:r>
              <a:rPr sz="1800" b="0">
                <a:solidFill>
                  <a:srgbClr val="1F2D3A"/>
                </a:solidFill>
              </a:rPr>
              <a:t> geçirme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Kâhin ve kod sökme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0744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Şifre çözme kâhini:</a:t>
            </a:r>
            <a:r>
              <a:rPr sz="1800" b="0">
                <a:solidFill>
                  <a:srgbClr val="1F2D3A"/>
                </a:solidFill>
              </a:rPr>
              <a:t> saldırgan </a:t>
            </a:r>
            <a:r>
              <a:rPr sz="1800" b="0">
                <a:solidFill>
                  <a:srgbClr val="A1123F"/>
                </a:solidFill>
                <a:latin typeface="Consolas"/>
              </a:rPr>
              <a:t>kasa_coz</a:t>
            </a:r>
            <a:r>
              <a:rPr sz="1800" b="0">
                <a:solidFill>
                  <a:srgbClr val="1F2D3A"/>
                </a:solidFill>
              </a:rPr>
              <a:t>'u kendi verisiyle çağırır — anahtara gerek yok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Kod sökme (code lifting):</a:t>
            </a:r>
            <a:r>
              <a:rPr sz="1800" b="0">
                <a:solidFill>
                  <a:srgbClr val="1F2D3A"/>
                </a:solidFill>
              </a:rPr>
              <a:t> korunan fonksiyonu olduğu gibi kopyalayıp kara kutu gibi çalıştırır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510028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7830"/>
                <a:gridCol w="6943704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Cihaza/örneğe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ortamda doğru sonuç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Eski/değiştirilmiş sürümde anahtar çözülmez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Bağlam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Çağıranın bütünlüğü ve akış sırası doğrulanır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statik anahtar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kopyanın kırılması diğerlerini etkilemez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Şifreleme ile güvenli işleme: açıklık penceresi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Kötü: [aç] ██████████████████████████████████ [kapat]   anahtar hep açık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İyi:  [aç] ░░░░░██░░░░░░░░██░░░░░░░░░░░██░░░░ [kapat]   yalnız işlem anında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0084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Tam zamanında çözme</a:t>
            </a:r>
            <a:r>
              <a:rPr sz="1800" b="0">
                <a:solidFill>
                  <a:srgbClr val="1F2D3A"/>
                </a:solidFill>
              </a:rPr>
              <a:t> → fonksiyon dönmeden sil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Örtme:</a:t>
            </a:r>
            <a:r>
              <a:rPr sz="1800" b="0">
                <a:solidFill>
                  <a:srgbClr val="1F2D3A"/>
                </a:solidFill>
              </a:rPr>
              <a:t> anahtar XOR rastgele maske — bellekte iki anlamsız parça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Parçalama:</a:t>
            </a:r>
            <a:r>
              <a:rPr sz="1800" b="0">
                <a:solidFill>
                  <a:srgbClr val="1F2D3A"/>
                </a:solidFill>
              </a:rPr>
              <a:t> farklı yerlerde, kullanımda 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Kod şifreleme:</a:t>
            </a:r>
            <a:r>
              <a:rPr sz="1800" b="0">
                <a:solidFill>
                  <a:srgbClr val="1F2D3A"/>
                </a:solidFill>
              </a:rPr>
              <a:t> fonksiyon kodu çalışma anında çözülür (4, 9. hafta)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Whitebox:</a:t>
            </a:r>
            <a:r>
              <a:rPr sz="1800" b="0">
                <a:solidFill>
                  <a:srgbClr val="1F2D3A"/>
                </a:solidFill>
              </a:rPr>
              <a:t> anahtar hiç açılmaz (11. hafta)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Bellekte örtme — kod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maske[32];    /* açılışta rastgele üretilir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ortulu[32];   /* anahtar XOR maske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OrtuluAnahtar;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void anahtari_ac(const OrtuluAnahtar *o, uint8_t gecici[32])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 = 0; i &lt; 32;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gecici[i] = o-&gt;ortulu[i] ^ o-&gt;maske[i];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9968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Bellekte </a:t>
            </a:r>
            <a:r>
              <a:rPr sz="2000" b="1">
                <a:solidFill>
                  <a:srgbClr val="1F2D3A"/>
                </a:solidFill>
              </a:rPr>
              <a:t>anahtarın kendisi değil</a:t>
            </a:r>
            <a:r>
              <a:rPr sz="2000" b="0">
                <a:solidFill>
                  <a:srgbClr val="1F2D3A"/>
                </a:solidFill>
              </a:rPr>
              <a:t>, iki anlamsız parça durur; birleştirme yalnız kullanım anında.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Açıklık penceresi — şema</a:t>
            </a:r>
          </a:p>
        </p:txBody>
      </p:sp>
      <p:pic>
        <p:nvPicPr>
          <p:cNvPr id="7" name="Picture 6" descr="h01-16-aciklik-pencere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08" y="1325880"/>
            <a:ext cx="1051407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geliştirme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678"/>
                <a:gridCol w="7445518"/>
                <a:gridCol w="1155339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Etkinlik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Standartlardan güvenlik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Tehdit modeli, koruma planı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 kuralları, yasaklı fonksiyonlar, 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Sanitizer, fuzzing, sızma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Yayın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İmzalı derleme,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benzersiz sürüm kimliği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Yanıt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 bildirimi, acil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Microsoft SDL · NIST SSDF (SP 800-218)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Benzersiz sürüm kimliği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İncelenen ile dağıtılan aynı mı?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1.4.2</a:t>
            </a:r>
            <a:r>
              <a:rPr sz="1800" b="0">
                <a:solidFill>
                  <a:srgbClr val="1F2D3A"/>
                </a:solidFill>
              </a:rPr>
              <a:t> + git kimliği + ikili dosyanın SHA-256'sı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execute_process(COMMAND git rev-parse --short=12 HEAD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  OUTPUT_VARIABLE GIT_KIMLIK OUTPUT_STRIP_TRAILING_WHITESPACE)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target_compile_definitions(kasa PRIVATE SURUM="1.4.2" GIT_KIMLIK="${GIT_KIMLIK}")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367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Get-FileHash .kasa.exe -Algorithm SHA256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sha256sum ./kasa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534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Sahada sürüm, </a:t>
            </a:r>
            <a:r>
              <a:rPr sz="1800" b="1">
                <a:solidFill>
                  <a:srgbClr val="1F2D3A"/>
                </a:solidFill>
              </a:rPr>
              <a:t>anahtar türetmeye</a:t>
            </a:r>
            <a:r>
              <a:rPr sz="1800" b="0">
                <a:solidFill>
                  <a:srgbClr val="1F2D3A"/>
                </a:solidFill>
              </a:rPr>
              <a:t> de katılır → sürüm geri alma saldırısı çalışmaz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Değişiklik yönetimi: yedi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Temel çizgi → 2. Değişiklik talebi → 3. Sınıflandırma → 4. Onay ve planlama → 5. Geliştirme ve test → 6. Yayın → 7. Doğrulama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3 ile 4 arasında </a:t>
            </a:r>
            <a:r>
              <a:rPr sz="2000" b="1">
                <a:solidFill>
                  <a:srgbClr val="1F2D3A"/>
                </a:solidFill>
              </a:rPr>
              <a:t>güvenlik etki analizi:</a:t>
            </a:r>
            <a:r>
              <a:rPr sz="2000" b="0">
                <a:solidFill>
                  <a:srgbClr val="1F2D3A"/>
                </a:solidFill>
              </a:rPr>
              <a:t> hangi varlık, arayüz, tehdit,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değişen kısmın incelenmesi = </a:t>
            </a:r>
            <a:r>
              <a:rPr sz="2000" b="1">
                <a:solidFill>
                  <a:srgbClr val="1F2D3A"/>
                </a:solidFill>
              </a:rPr>
              <a:t>delta değerlendirme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Depo: korumalı dallar · en az bir gözden geçiren · imzalı etiket · MFA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Değişiklik yönetimi — şema</a:t>
            </a:r>
          </a:p>
        </p:txBody>
      </p:sp>
      <p:pic>
        <p:nvPicPr>
          <p:cNvPr id="7" name="Picture 6" descr="h01-11-degisiklik-yonet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504839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Ödünleşim kaydı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397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0833"/>
                <a:gridCol w="3209275"/>
                <a:gridCol w="3209275"/>
                <a:gridCol w="2282151"/>
              </a:tblGrid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Seçilen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Sürümde günlükleme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makrosuyla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tamamen 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Susturulmuş kod dize olarak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Sahada tanı zor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kodları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başarılı/başarısız (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opak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Ayrıntı saldırgana ipucu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tanı kanalı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"debuggable" bayrağı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Açık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(gerekçeli istisna)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denetimi kendi belleğini okumalı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algılama ile telafi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türetme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250 ms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 ↔ kaba kuvvet dengesi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zayıf parola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316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Yazılmamış ödünleşim = değerlendiricinin gözünde </a:t>
            </a:r>
            <a:r>
              <a:rPr sz="1800" b="1">
                <a:solidFill>
                  <a:srgbClr val="1F2D3A"/>
                </a:solidFill>
              </a:rPr>
              <a:t>hata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araç kutusu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1050"/>
                <a:gridCol w="3997295"/>
                <a:gridCol w="3673190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Linux / GCC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 / 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Şüpheli kod uyarıları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-Wsign-conversion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Kütüphanede boyut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-D_FORTIFY_SOURCE=2 -O2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gibi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işlevleri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hatasını yakalama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gdb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gcore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MiniDumpWriteDump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 -d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VS Ayrıştırılmış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Güvenle program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posix_spawn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mutlak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CreateProcessW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Haftanın araç kutusu — şema</a:t>
            </a:r>
          </a:p>
        </p:txBody>
      </p:sp>
      <p:pic>
        <p:nvPicPr>
          <p:cNvPr id="7" name="Picture 6" descr="h01-23-arac-kut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445" y="1325880"/>
            <a:ext cx="783680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Proje ve kapanış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yapılacaklar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Takım</a:t>
            </a:r>
            <a:r>
              <a:rPr sz="2000" b="0">
                <a:solidFill>
                  <a:srgbClr val="1F2D3A"/>
                </a:solidFill>
              </a:rPr>
              <a:t> (bireysel ya da en çok 4 kişi) ve </a:t>
            </a:r>
            <a:r>
              <a:rPr sz="2000" b="1">
                <a:solidFill>
                  <a:srgbClr val="1F2D3A"/>
                </a:solidFill>
              </a:rPr>
              <a:t>konu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GitHub deposu + </a:t>
            </a:r>
            <a:r>
              <a:rPr sz="2000" b="1">
                <a:solidFill>
                  <a:srgbClr val="1F2D3A"/>
                </a:solidFill>
              </a:rPr>
              <a:t>proje planı</a:t>
            </a:r>
            <a:r>
              <a:rPr sz="2000" b="0">
                <a:solidFill>
                  <a:srgbClr val="1F2D3A"/>
                </a:solidFill>
              </a:rPr>
              <a:t> (iş paketleri, takvim) → onaylat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Güvenlik kılavuzu taslağı: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S0</a:t>
            </a:r>
            <a:r>
              <a:rPr sz="2000" b="0">
                <a:solidFill>
                  <a:srgbClr val="1F2D3A"/>
                </a:solidFill>
              </a:rPr>
              <a:t> kapak ve sürüm geçmişi · </a:t>
            </a:r>
            <a:r>
              <a:rPr sz="2000" b="1">
                <a:solidFill>
                  <a:srgbClr val="1F2D3A"/>
                </a:solidFill>
              </a:rPr>
              <a:t>S2</a:t>
            </a:r>
            <a:r>
              <a:rPr sz="2000" b="0">
                <a:solidFill>
                  <a:srgbClr val="1F2D3A"/>
                </a:solidFill>
              </a:rPr>
              <a:t> ürün genel bakışı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S3</a:t>
            </a:r>
            <a:r>
              <a:rPr sz="2000" b="0">
                <a:solidFill>
                  <a:srgbClr val="1F2D3A"/>
                </a:solidFill>
              </a:rPr>
              <a:t> mimari ve </a:t>
            </a:r>
            <a:r>
              <a:rPr sz="2000" b="1">
                <a:solidFill>
                  <a:srgbClr val="1F2D3A"/>
                </a:solidFill>
              </a:rPr>
              <a:t>arayüz tablosu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S4</a:t>
            </a:r>
            <a:r>
              <a:rPr sz="2000" b="0">
                <a:solidFill>
                  <a:srgbClr val="1F2D3A"/>
                </a:solidFill>
              </a:rPr>
              <a:t> saldırgan modeli · </a:t>
            </a:r>
            <a:r>
              <a:rPr sz="2000" b="1">
                <a:solidFill>
                  <a:srgbClr val="1F2D3A"/>
                </a:solidFill>
              </a:rPr>
              <a:t>STRIDE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alıştırması (15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Öğrenci not sistemi:</a:t>
            </a:r>
            <a:r>
              <a:rPr sz="2000" b="0">
                <a:solidFill>
                  <a:srgbClr val="1F2D3A"/>
                </a:solidFill>
              </a:rPr>
              <a:t> öğretim üyesi not girer, öğrenci görür, veri sunucuda.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 diyagramı + güven sınırları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STRIDE harfinden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tehdit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"Notumu 45'ten 85'e çıkar" saldırı ağacı — </a:t>
            </a:r>
            <a:r>
              <a:rPr sz="2000" b="1">
                <a:solidFill>
                  <a:srgbClr val="1F2D3A"/>
                </a:solidFill>
              </a:rPr>
              <a:t>en ucuz yol</a:t>
            </a:r>
            <a:r>
              <a:rPr sz="2000" b="0">
                <a:solidFill>
                  <a:srgbClr val="1F2D3A"/>
                </a:solidFill>
              </a:rPr>
              <a:t> hangisi?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Uçtan uca: Kasa'nın savunmasını tamamlamak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Bölüm 4'te "Kasa"nın tehdit tablosunda iki madde vardı; bu haftanın geri kalanı onları </a:t>
            </a:r>
            <a:r>
              <a:rPr sz="2000" b="1">
                <a:solidFill>
                  <a:srgbClr val="1F2D3A"/>
                </a:solidFill>
              </a:rPr>
              <a:t>somut kodla</a:t>
            </a:r>
            <a:r>
              <a:rPr sz="2000" b="0">
                <a:solidFill>
                  <a:srgbClr val="1F2D3A"/>
                </a:solidFill>
              </a:rPr>
              <a:t> kapatıyor: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05736"/>
          <a:ext cx="10911534" cy="14173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355"/>
                <a:gridCol w="7427179"/>
              </a:tblGrid>
              <a:tr h="472439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Kasa'nın tehdidi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 haftaki karşılık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243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T2 — parola/anahtar bellekte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5: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döküm kapatma (Demo 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244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T8 — ayrıştırıcıda bellek hatası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6–7: sınır denetimi, ASan, güvenli kalıp (Demo 3–4)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3732784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</a:t>
            </a:r>
            <a:r>
              <a:rPr sz="2000" b="1">
                <a:solidFill>
                  <a:srgbClr val="1F2D3A"/>
                </a:solidFill>
              </a:rPr>
              <a:t>his</a:t>
            </a:r>
            <a:r>
              <a:rPr sz="2000" b="0">
                <a:solidFill>
                  <a:srgbClr val="1F2D3A"/>
                </a:solidFill>
              </a:rPr>
              <a:t> değil, </a:t>
            </a:r>
            <a:r>
              <a:rPr sz="2000" b="1">
                <a:solidFill>
                  <a:srgbClr val="1F2D3A"/>
                </a:solidFill>
              </a:rPr>
              <a:t>süreçtir:</a:t>
            </a:r>
            <a:r>
              <a:rPr sz="2000" b="0">
                <a:solidFill>
                  <a:srgbClr val="1F2D3A"/>
                </a:solidFill>
              </a:rPr>
              <a:t> varlığı tanı, tehdidi modelle, katmanla koru, kalan riski yaz. Bu çerçeveyi dönem boyunca kullanacağız.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Klasik hatalar —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686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6014"/>
                <a:gridCol w="706502"/>
                <a:gridCol w="5809018"/>
              </a:tblGrid>
              <a:tr h="52669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PATH/ortama güvenmek (CWE-426)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Mutlak yol + temiz ortam + kabuksuz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 bellekte kalır (CWE-14)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derleyicinin silemeyeceği biçimde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Arabellek taşması (CWE-121/787)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Önce doğrula, sonra sınırlı kopyala; tehlikeli fonksiyonları kullanma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fazla hatası (CWE-193)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&lt;=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değil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sonlandırıcıya her zaman yer bırak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İşaretli/işaretsiz tamsayı (CWE-195)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Boyutları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size_t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tut; alt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üst sınırı denetle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Sızıntı, çift serbest bırakma, UAF (CWE-401/415/416)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bloğun tek sahibi olsun;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sonrası işaretçiyi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NULL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yap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12246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Altı hatanın hepsi bu destede bir demo ya da kod örneğiyle işlendi; burada tek bakışta toparlıyoruz.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başına çalış (not verilmez)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PATH tuzağı: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ls</a:t>
            </a:r>
            <a:r>
              <a:rPr sz="2000" b="0">
                <a:solidFill>
                  <a:srgbClr val="1F2D3A"/>
                </a:solidFill>
              </a:rPr>
              <a:t> (Linux) / </a:t>
            </a:r>
            <a:r>
              <a:rPr sz="2000" b="0">
                <a:solidFill>
                  <a:srgbClr val="A1123F"/>
                </a:solidFill>
                <a:latin typeface="Consolas"/>
              </a:rPr>
              <a:t>whoami</a:t>
            </a:r>
            <a:r>
              <a:rPr sz="2000" b="0">
                <a:solidFill>
                  <a:srgbClr val="1F2D3A"/>
                </a:solidFill>
              </a:rPr>
              <a:t> (Windows) ile tekrarla, tam yolla düzelt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Demo 2'de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optimize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korumasiz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şimdi çalışıyor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Demo 3'te 16, 17, 18, 19, 20 karakter: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değerleri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 oturum</a:t>
            </a:r>
            <a:r>
              <a:rPr sz="2000" b="0">
                <a:solidFill>
                  <a:srgbClr val="1F2D3A"/>
                </a:solidFill>
              </a:rPr>
              <a:t>'a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bakiye</a:t>
            </a:r>
            <a:r>
              <a:rPr sz="2000" b="0">
                <a:solidFill>
                  <a:srgbClr val="1F2D3A"/>
                </a:solidFill>
              </a:rPr>
              <a:t> ekle: taşmayla 1000'in üstüne çıkar, sonra engelle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Kendi projenin STRIDE tablosu (≥ 8 tehdit + önlem)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Heartbleed raporunu oku: hangi denetim eksikti? Hangi CWE?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25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 ve ipuçları: ders sitesi → Hafta 1 → "Kendi başına çalış"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8506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Varlık, tehdit, zafiyet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Alıcı IBAN'ın yolda değişmesi CIA'nın hangisi?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Beyaz kutu saldırganı neyi farklı yapar?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STRIDE "E" hangi demo?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 / VEYA düğümü — savunma için hangisi iyi?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system("date")</a:t>
            </a:r>
            <a:r>
              <a:rPr sz="2000" b="0">
                <a:solidFill>
                  <a:srgbClr val="1F2D3A"/>
                </a:solidFill>
              </a:rPr>
              <a:t> neden tehlikeli? Üç düzeltme?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neden kayboldu?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ASan 17 karakteri neden yakalamadı?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9. </a:t>
            </a:r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memcpy</a:t>
            </a:r>
            <a:r>
              <a:rPr sz="2000" b="0">
                <a:solidFill>
                  <a:srgbClr val="1F2D3A"/>
                </a:solidFill>
              </a:rPr>
              <a:t>'ye gidince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10. </a:t>
            </a:r>
            <a:r>
              <a:rPr sz="2000" b="0">
                <a:solidFill>
                  <a:srgbClr val="1F2D3A"/>
                </a:solidFill>
              </a:rPr>
              <a:t>Derinlemesine savunma — mobil ödeme mimarisinden örnek?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58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1. </a:t>
            </a:r>
            <a:r>
              <a:rPr sz="1700" b="1">
                <a:solidFill>
                  <a:srgbClr val="1F2D3A"/>
                </a:solidFill>
              </a:rPr>
              <a:t>Varlık</a:t>
            </a:r>
            <a:r>
              <a:rPr sz="1700" b="0">
                <a:solidFill>
                  <a:srgbClr val="1F2D3A"/>
                </a:solidFill>
              </a:rPr>
              <a:t> korunacak değerli şey; </a:t>
            </a:r>
            <a:r>
              <a:rPr sz="1700" b="1">
                <a:solidFill>
                  <a:srgbClr val="1F2D3A"/>
                </a:solidFill>
              </a:rPr>
              <a:t>tehdit</a:t>
            </a:r>
            <a:r>
              <a:rPr sz="1700" b="0">
                <a:solidFill>
                  <a:srgbClr val="1F2D3A"/>
                </a:solidFill>
              </a:rPr>
              <a:t> zarar verebilecek olası olay/aktör; </a:t>
            </a:r>
            <a:r>
              <a:rPr sz="1700" b="1">
                <a:solidFill>
                  <a:srgbClr val="1F2D3A"/>
                </a:solidFill>
              </a:rPr>
              <a:t>zafiyet</a:t>
            </a:r>
            <a:r>
              <a:rPr sz="1700" b="0">
                <a:solidFill>
                  <a:srgbClr val="1F2D3A"/>
                </a:solidFill>
              </a:rPr>
              <a:t> tehdidin kullanabileceği kusur.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2. </a:t>
            </a:r>
            <a:r>
              <a:rPr sz="1700" b="1">
                <a:solidFill>
                  <a:srgbClr val="1F2D3A"/>
                </a:solidFill>
              </a:rPr>
              <a:t>Bütünlük (Integrity)</a:t>
            </a:r>
            <a:r>
              <a:rPr sz="1700" b="0">
                <a:solidFill>
                  <a:srgbClr val="1F2D3A"/>
                </a:solidFill>
              </a:rPr>
              <a:t> — yoldaki IBAN'ın değişmesi veri bütünlüğü ihlalidir.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3. </a:t>
            </a:r>
            <a:r>
              <a:rPr sz="1700" b="1">
                <a:solidFill>
                  <a:srgbClr val="1F2D3A"/>
                </a:solidFill>
              </a:rPr>
              <a:t>Beyaz kutu (MATE)</a:t>
            </a:r>
            <a:r>
              <a:rPr sz="1700" b="0">
                <a:solidFill>
                  <a:srgbClr val="1F2D3A"/>
                </a:solidFill>
              </a:rPr>
              <a:t> programa </a:t>
            </a:r>
            <a:r>
              <a:rPr sz="1700" b="1">
                <a:solidFill>
                  <a:srgbClr val="1F2D3A"/>
                </a:solidFill>
              </a:rPr>
              <a:t>sahiptir</a:t>
            </a:r>
            <a:r>
              <a:rPr sz="1700" b="0">
                <a:solidFill>
                  <a:srgbClr val="1F2D3A"/>
                </a:solidFill>
              </a:rPr>
              <a:t> (belleği/anahtarı okur, kodu değiştirir); ağ saldırganı yalnız </a:t>
            </a:r>
            <a:r>
              <a:rPr sz="1700" b="1">
                <a:solidFill>
                  <a:srgbClr val="1F2D3A"/>
                </a:solidFill>
              </a:rPr>
              <a:t>dışarıdan</a:t>
            </a:r>
            <a:r>
              <a:rPr sz="17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4. </a:t>
            </a:r>
            <a:r>
              <a:rPr sz="1700" b="1">
                <a:solidFill>
                  <a:srgbClr val="1F2D3A"/>
                </a:solidFill>
              </a:rPr>
              <a:t>E = Elevation of Privilege</a:t>
            </a:r>
            <a:r>
              <a:rPr sz="1700" b="0">
                <a:solidFill>
                  <a:srgbClr val="1F2D3A"/>
                </a:solidFill>
              </a:rPr>
              <a:t> (yetki yükseltme) → ayrıcalık bırakma / </a:t>
            </a:r>
            <a:r>
              <a:rPr sz="17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1700" b="0">
                <a:solidFill>
                  <a:srgbClr val="1F2D3A"/>
                </a:solidFill>
              </a:rPr>
              <a:t> demosu.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5. </a:t>
            </a:r>
            <a:r>
              <a:rPr sz="1700" b="1">
                <a:solidFill>
                  <a:srgbClr val="1F2D3A"/>
                </a:solidFill>
              </a:rPr>
              <a:t>VE (AND)</a:t>
            </a:r>
            <a:r>
              <a:rPr sz="1700" b="0">
                <a:solidFill>
                  <a:srgbClr val="1F2D3A"/>
                </a:solidFill>
              </a:rPr>
              <a:t> savunmaya iyi: hedef tüm alt adımları ister, </a:t>
            </a:r>
            <a:r>
              <a:rPr sz="1700" b="1">
                <a:solidFill>
                  <a:srgbClr val="1F2D3A"/>
                </a:solidFill>
              </a:rPr>
              <a:t>birini</a:t>
            </a:r>
            <a:r>
              <a:rPr sz="1700" b="0">
                <a:solidFill>
                  <a:srgbClr val="1F2D3A"/>
                </a:solidFill>
              </a:rPr>
              <a:t> kesmek saldırıyı durdurur. VEYA saldırgana kolaylık.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6. </a:t>
            </a:r>
            <a:r>
              <a:rPr sz="1700" b="0">
                <a:solidFill>
                  <a:srgbClr val="A1123F"/>
                </a:solidFill>
                <a:latin typeface="Consolas"/>
              </a:rPr>
              <a:t>system</a:t>
            </a:r>
            <a:r>
              <a:rPr sz="1700" b="0">
                <a:solidFill>
                  <a:srgbClr val="1F2D3A"/>
                </a:solidFill>
              </a:rPr>
              <a:t> </a:t>
            </a:r>
            <a:r>
              <a:rPr sz="1700" b="1">
                <a:solidFill>
                  <a:srgbClr val="1F2D3A"/>
                </a:solidFill>
              </a:rPr>
              <a:t>kabuğu</a:t>
            </a:r>
            <a:r>
              <a:rPr sz="1700" b="0">
                <a:solidFill>
                  <a:srgbClr val="1F2D3A"/>
                </a:solidFill>
              </a:rPr>
              <a:t> yorumlar → komut enjeksiyonu/PATH ele geçirme. Düzelt: </a:t>
            </a:r>
            <a:r>
              <a:rPr sz="1700" b="0">
                <a:solidFill>
                  <a:srgbClr val="A1123F"/>
                </a:solidFill>
                <a:latin typeface="Consolas"/>
              </a:rPr>
              <a:t>execvp</a:t>
            </a:r>
            <a:r>
              <a:rPr sz="1700" b="0">
                <a:solidFill>
                  <a:srgbClr val="1F2D3A"/>
                </a:solidFill>
              </a:rPr>
              <a:t> ile </a:t>
            </a:r>
            <a:r>
              <a:rPr sz="1700" b="1">
                <a:solidFill>
                  <a:srgbClr val="1F2D3A"/>
                </a:solidFill>
              </a:rPr>
              <a:t>doğrudan</a:t>
            </a:r>
            <a:r>
              <a:rPr sz="1700" b="0">
                <a:solidFill>
                  <a:srgbClr val="1F2D3A"/>
                </a:solidFill>
              </a:rPr>
              <a:t> çağır (kabuksuz), </a:t>
            </a:r>
            <a:r>
              <a:rPr sz="1700" b="1">
                <a:solidFill>
                  <a:srgbClr val="1F2D3A"/>
                </a:solidFill>
              </a:rPr>
              <a:t>tam yol</a:t>
            </a:r>
            <a:r>
              <a:rPr sz="1700" b="0">
                <a:solidFill>
                  <a:srgbClr val="1F2D3A"/>
                </a:solidFill>
              </a:rPr>
              <a:t>, girdi allowlist.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7. </a:t>
            </a:r>
            <a:r>
              <a:rPr sz="1700" b="0">
                <a:solidFill>
                  <a:srgbClr val="1F2D3A"/>
                </a:solidFill>
              </a:rPr>
              <a:t>Derleyici </a:t>
            </a:r>
            <a:r>
              <a:rPr sz="1700" b="1">
                <a:solidFill>
                  <a:srgbClr val="1F2D3A"/>
                </a:solidFill>
              </a:rPr>
              <a:t>ölü mağaza</a:t>
            </a:r>
            <a:r>
              <a:rPr sz="1700" b="0">
                <a:solidFill>
                  <a:srgbClr val="1F2D3A"/>
                </a:solidFill>
              </a:rPr>
              <a:t> olarak sildi (sonra okunmuyor). </a:t>
            </a:r>
            <a:r>
              <a:rPr sz="17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explicit_bzero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volatile</a:t>
            </a:r>
            <a:r>
              <a:rPr sz="17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8. </a:t>
            </a:r>
            <a:r>
              <a:rPr sz="1700" b="0">
                <a:solidFill>
                  <a:srgbClr val="1F2D3A"/>
                </a:solidFill>
              </a:rPr>
              <a:t>Taşma </a:t>
            </a:r>
            <a:r>
              <a:rPr sz="1700" b="1">
                <a:solidFill>
                  <a:srgbClr val="1F2D3A"/>
                </a:solidFill>
              </a:rPr>
              <a:t>redzone</a:t>
            </a:r>
            <a:r>
              <a:rPr sz="1700" b="0">
                <a:solidFill>
                  <a:srgbClr val="1F2D3A"/>
                </a:solidFill>
              </a:rPr>
              <a:t>'a ulaşmadı / o kod yolu çalışmadı; ASan yalnız </a:t>
            </a:r>
            <a:r>
              <a:rPr sz="1700" b="1">
                <a:solidFill>
                  <a:srgbClr val="1F2D3A"/>
                </a:solidFill>
              </a:rPr>
              <a:t>enstrümante</a:t>
            </a:r>
            <a:r>
              <a:rPr sz="1700" b="0">
                <a:solidFill>
                  <a:srgbClr val="1F2D3A"/>
                </a:solidFill>
              </a:rPr>
              <a:t> bölgeyi görür.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9. </a:t>
            </a:r>
            <a:r>
              <a:rPr sz="1700" b="0">
                <a:solidFill>
                  <a:srgbClr val="A1123F"/>
                </a:solidFill>
                <a:latin typeface="Consolas"/>
              </a:rPr>
              <a:t>-1</a:t>
            </a:r>
            <a:r>
              <a:rPr sz="1700" b="0">
                <a:solidFill>
                  <a:srgbClr val="1F2D3A"/>
                </a:solidFill>
              </a:rPr>
              <a:t>, </a:t>
            </a:r>
            <a:r>
              <a:rPr sz="17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1700" b="0">
                <a:solidFill>
                  <a:srgbClr val="1F2D3A"/>
                </a:solidFill>
              </a:rPr>
              <a:t>'te </a:t>
            </a:r>
            <a:r>
              <a:rPr sz="1700" b="1">
                <a:solidFill>
                  <a:srgbClr val="1F2D3A"/>
                </a:solidFill>
              </a:rPr>
              <a:t>SIZE_MAX</a:t>
            </a:r>
            <a:r>
              <a:rPr sz="1700" b="0">
                <a:solidFill>
                  <a:srgbClr val="1F2D3A"/>
                </a:solidFill>
              </a:rPr>
              <a:t>'e döner → devasa kopya → taşma/çökme.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10. </a:t>
            </a:r>
            <a:r>
              <a:rPr sz="1700" b="0">
                <a:solidFill>
                  <a:srgbClr val="1F2D3A"/>
                </a:solidFill>
              </a:rPr>
              <a:t>Ödeme: TLS+pinning (aktarım) · AEAD (bekleme) · RASP/anti-debug · whitebox/HSM anahtar · sunucu denetimi — </a:t>
            </a:r>
            <a:r>
              <a:rPr sz="1700" b="1">
                <a:solidFill>
                  <a:srgbClr val="1F2D3A"/>
                </a:solidFill>
              </a:rPr>
              <a:t>katman</a:t>
            </a:r>
            <a:r>
              <a:rPr sz="17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Bir veri akışına neden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 sorulmaz?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Tehdide dört yanıt nedir? "Ortadan kaldırma"ya örnek verin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setuid programda neden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neden güvenli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değildir?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neden hiçbir şey çökmeden veri sızdırdı?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akışına </a:t>
            </a:r>
            <a:r>
              <a:rPr sz="2000" b="1">
                <a:solidFill>
                  <a:srgbClr val="1F2D3A"/>
                </a:solidFill>
              </a:rPr>
              <a:t>S sorulmaz</a:t>
            </a:r>
            <a:r>
              <a:rPr sz="2000" b="0">
                <a:solidFill>
                  <a:srgbClr val="1F2D3A"/>
                </a:solidFill>
              </a:rPr>
              <a:t>: akışın kimliği yoktur (sahtecilik uçlara/varlıklara sorulur).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Azalt · kaldır · aktar · kabul et.</a:t>
            </a:r>
            <a:r>
              <a:rPr sz="2000" b="0">
                <a:solidFill>
                  <a:srgbClr val="1F2D3A"/>
                </a:solidFill>
              </a:rPr>
              <a:t> "Kaldırma" örneği: "parolayı hatırla" özelliğini </a:t>
            </a:r>
            <a:r>
              <a:rPr sz="2000" b="1">
                <a:solidFill>
                  <a:srgbClr val="1F2D3A"/>
                </a:solidFill>
              </a:rPr>
              <a:t>hiç sunmamak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2000" b="0">
                <a:solidFill>
                  <a:srgbClr val="1F2D3A"/>
                </a:solidFill>
              </a:rPr>
              <a:t>'de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bırakılır; kullanıcı önce bırakılırsa grubu değiştirecek </a:t>
            </a:r>
            <a:r>
              <a:rPr sz="2000" b="1">
                <a:solidFill>
                  <a:srgbClr val="1F2D3A"/>
                </a:solidFill>
              </a:rPr>
              <a:t>yetki kalmaz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uzun kaynakta sonuna sonlandırıcı </a:t>
            </a:r>
            <a:r>
              <a:rPr sz="2000" b="1">
                <a:solidFill>
                  <a:srgbClr val="1F2D3A"/>
                </a:solidFill>
              </a:rPr>
              <a:t>koymaz</a:t>
            </a:r>
            <a:r>
              <a:rPr sz="2000" b="0">
                <a:solidFill>
                  <a:srgbClr val="1F2D3A"/>
                </a:solidFill>
              </a:rPr>
              <a:t> → sonlandırılmamış dize.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yalnız </a:t>
            </a:r>
            <a:r>
              <a:rPr sz="2000" b="1">
                <a:solidFill>
                  <a:srgbClr val="1F2D3A"/>
                </a:solidFill>
              </a:rPr>
              <a:t>okudu</a:t>
            </a:r>
            <a:r>
              <a:rPr sz="2000" b="0">
                <a:solidFill>
                  <a:srgbClr val="1F2D3A"/>
                </a:solidFill>
              </a:rPr>
              <a:t>; okunan bellek sürecin kendi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belleğiydi → çökmeden sızdı.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taşmayı fark edince ne yapar? Neden hâlâ sorun?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 = NULL;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"Şifre çözme kâhini" nedir? Bir karşı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 kimliğinin üç bileşeni?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bozulunca programı </a:t>
            </a:r>
            <a:r>
              <a:rPr sz="2000" b="1">
                <a:solidFill>
                  <a:srgbClr val="1F2D3A"/>
                </a:solidFill>
              </a:rPr>
              <a:t>sonlandırır</a:t>
            </a:r>
            <a:r>
              <a:rPr sz="2000" b="0">
                <a:solidFill>
                  <a:srgbClr val="1F2D3A"/>
                </a:solidFill>
              </a:rPr>
              <a:t> (hizmet reddi); bitişik değişkene taşmayı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p=NULL;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çift bırakma/UAF</a:t>
            </a:r>
            <a:r>
              <a:rPr sz="2000" b="0">
                <a:solidFill>
                  <a:srgbClr val="1F2D3A"/>
                </a:solidFill>
              </a:rPr>
              <a:t>'ı önler; </a:t>
            </a:r>
            <a:r>
              <a:rPr sz="2000" b="1">
                <a:solidFill>
                  <a:srgbClr val="1F2D3A"/>
                </a:solidFill>
              </a:rPr>
              <a:t>takma adları</a:t>
            </a:r>
            <a:r>
              <a:rPr sz="2000" b="0">
                <a:solidFill>
                  <a:srgbClr val="1F2D3A"/>
                </a:solidFill>
              </a:rPr>
              <a:t> (aynı adrese başka işaretçi) korumaz.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belleğin </a:t>
            </a:r>
            <a:r>
              <a:rPr sz="2000" b="1">
                <a:solidFill>
                  <a:srgbClr val="1F2D3A"/>
                </a:solidFill>
              </a:rPr>
              <a:t>takasa</a:t>
            </a:r>
            <a:r>
              <a:rPr sz="2000" b="0">
                <a:solidFill>
                  <a:srgbClr val="1F2D3A"/>
                </a:solidFill>
              </a:rPr>
              <a:t> yazılmasını önler; </a:t>
            </a:r>
            <a:r>
              <a:rPr sz="2000" b="1">
                <a:solidFill>
                  <a:srgbClr val="1F2D3A"/>
                </a:solidFill>
              </a:rPr>
              <a:t>okunmasını</a:t>
            </a:r>
            <a:r>
              <a:rPr sz="2000" b="0">
                <a:solidFill>
                  <a:srgbClr val="1F2D3A"/>
                </a:solidFill>
              </a:rPr>
              <a:t> ve silinmemiş sırrı önlemez.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Şifre çözme kâhini:</a:t>
            </a:r>
            <a:r>
              <a:rPr sz="2000" b="0">
                <a:solidFill>
                  <a:srgbClr val="1F2D3A"/>
                </a:solidFill>
              </a:rPr>
              <a:t> anahtarsız çözdürme imkânı. Karşı önlem: bağlam/bütünlük denetimi, çağrı sınırı, </a:t>
            </a:r>
            <a:r>
              <a:rPr sz="2000" b="1">
                <a:solidFill>
                  <a:srgbClr val="1F2D3A"/>
                </a:solidFill>
              </a:rPr>
              <a:t>cihaza bağlama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sürüm: </a:t>
            </a:r>
            <a:r>
              <a:rPr sz="2000" b="1">
                <a:solidFill>
                  <a:srgbClr val="1F2D3A"/>
                </a:solidFill>
              </a:rPr>
              <a:t>anlamsal sürüm + git kimliği + ikili SHA-256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Gizlilik/bütünlük/erişilebilirlik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Altı tehdit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ağacı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Hedefi alt adımlara bölme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 diyagramı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Katmanlı 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önlem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Bir sonraki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2. hafta — Bilgisayar virüsleri ve güvenlik modelleri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14305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 hafta kurduğumuz tehdit modelleme (STRIDE, saldırı ağacı) ve saldırgan modeli araçlarını, gelecek hafta somut bir tehdit sınıfına — zararlı yazılıma — uygulayacağız: bir virüsün nasıl yayıldığını, nasıl gizlendiğini ve hangi erişim denetimi modelleriyle (DAC/MAC/RBAC) durdurulduğunu göreceğiz.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280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 haftaki bellek güvenliği hataları için gördüğümüz CWE sınıflandırması, 2. haftada CVE ve CVSS ile birlikte derinleşecek.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 — Güvenli Programlamaya Giriş ve Uygulama Koruma Planı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