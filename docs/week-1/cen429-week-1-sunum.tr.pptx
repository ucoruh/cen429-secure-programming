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Kendinizi ve dersi tanıtın. Bu ders "saldırıyı görerek savunmayı öğrenme" dersi. Her hafta çalışan demolar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varsaymaz; dersin ilk günü olduğu için her temel terimi tanımlıyoruz. Sonraki bölümlerde bunları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(Windows: code içinde .\build.ps1, WSL: ./build.sh) ki derste bekleme olmasın. Öğrencilere iki ortamın da aynı sonucu verdiğini gösterin; Visual Studio'da Klasör Aç ile code klasörünü açmak yeterli.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kendi örneklerini sorun: "Instagram hesabınız için varlık, tehdit, zafiyet ne?"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4'te aynı aileden bir hatayı (uzunluk denetimi) kendi ellerimizle göreceğiz.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 ödeme, DRM, oyun hileleri, lisans denetimi örnekleri. "Anahtarı gizle" demek yetmez; saldırgan belleği okuyabilir.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 benzetmesi: iyi kilit, açık pencere, paspas altındaki anahtar, şifresiz kasa. Öğrencilere her satırda "bunu kim yapar?" diye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İç katmanlar "doğru yaz", dış katmanlar "kod saldırganın elindeyken ne olacak" sorusu. Bu tablo dönemin yol haritası.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Oyun hilesi örneği: istemci gizlenmiş, ama sunucu "bir saniyede 100 metre" hareketi kabul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Projenin güvenlik kılavuzu her katman için "hangi önlemi aldım, nasıl test ettim" sorusunu cevaplayacak.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mimari yalnız yöntemi göstermek için. Arayüz ve varlık tablosu yöntemini dönem boyunca kullanacağız; tablodaki varlıkları koruyan yöntemleri sonraki haftalarda tek tek açacağız (3: güvenlik kabukları, 4 ve 9: native sağlamlaştırma, 6: RASP, 10: anahtar hiyerarşisi, 11: whitebox).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Süreç altı tehdide de açıktır: taklit edilir, kodu değiştirilir, belleği okunur, çökertilir, yetkisi kötüye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Tahtaya diyagramı çizin; E ve F güven sınırını geçen oklar.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yedi adım dönem projesinin güvenlik kılavuzu iskeleti. Bu hafta adım 0-4 bekleniyor.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3-4 kişilik gruplar. 10 dakika çalışma, 5 dakika iki gruba sunum. İpucu: E için doğrudan URL ile not girme sayfası; R için değişiklik kaydının olmaması.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sahte/date (Windows'ta sahte\hostname.bat) dosyasını gösterin: yalnız bir mesaj basıyor. Windows'ta cmd.exe komutu PATH'ten önce çalışma klasöründe de arar. "Gerçek saldırgan burada ne yapardı?" sorusunu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PR_SET_DUMPABLE'ın ikinci etkisini vurgulayın: aynı kullanıcının hata ayıklayıcısı bile bağlanamaz. 6. haftaya köprü.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programı kapalı stdout, zehirli PATH/LD_PRELOAD ve umask 000 ile başlatır. Sahada native katman getenv'in kancalanıp kancalanmadığını setenv/getenv ile sınar.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Linux'ta demo gdb ile programı durdurup gcore ile belleği döküyor; Windows'ta program kendi belleğini MiniDumpWriteDump ile dokum klasörüne yazıyor. Bu, çökme dökümü veya hata ayıklayıcı saldırısının güvenli bir benzetimi. MSVC /O2 de memset'i kaldırıyor. Makine kodu: Linux'ta objdump -d, Visual Studio'da Ayrıştırılmış Kod penceresi.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Gerçek yerleşim derleyiciye göre değişir. Bu derste sömürü tekniğine değil, hatanın nasıl oluştuğuna, nasıl bulunduğuna ve nasıl önlendiğine odaklanıyoruz.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grep ile tehlikeli fonksiyonları arar, sonra dışarıdan gelen her uzunluk alanının doğrulanıp doğrulanmadığına bakar; checksec / dumpbin ile korumaları denetler.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Asıl vurgu: tek bayt yeter; araçların sınırı var; asıl düzeltme kodda.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oturum verisi işlem biter bitmez rastgele değerlerle doldurularak silinir; uzun sıfır dizisi bile "burada sır vardı" izi bırakır.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tek statik anahtar yarım bayt düzeyinde parçalanıp onlarca fonksiyona dağıtılır; parmak izi iki farklı özetle iki farklı yerde saklanıp karşılaştırılır. Örtme tek başına kale değil; diğer katmanlarla değer kazanır.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Bütünlük denetimi gibi önlemler derleme hattını da değiştirir: özet gömülür, yeniden derlenir; sahada beş turlu imzalı derleme. Korumaların maliyeti de ölçülür: kritik işlemi 20 kez çalıştırıp en kısa, en uzun, ortalama süre.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aç; tam çözüm eklerde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STRIDE'ın her harfini sentetik bir örnekte tek tek uyguluyoruz.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 Programlamaya Giriş ve Uygulama Koruma Planı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 "güvenlik", "zafiyet", "tehdit modeli" gibi terimlerle dolu.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Güvenlik:</a:t>
            </a:r>
            <a:r>
              <a:rPr sz="2000" b="0">
                <a:solidFill>
                  <a:srgbClr val="1F2D3A"/>
                </a:solidFill>
              </a:rPr>
              <a:t> bir sistemi, ona </a:t>
            </a:r>
            <a:r>
              <a:rPr sz="2000" b="1">
                <a:solidFill>
                  <a:srgbClr val="1F2D3A"/>
                </a:solidFill>
              </a:rPr>
              <a:t>zarar vermek isteyen</a:t>
            </a:r>
            <a:r>
              <a:rPr sz="2000" b="0">
                <a:solidFill>
                  <a:srgbClr val="1F2D3A"/>
                </a:solidFill>
              </a:rPr>
              <a:t> birine karşı korumak.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 hata: yanlışlıkla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Güvenlik: </a:t>
            </a:r>
            <a:r>
              <a:rPr sz="2000" b="1">
                <a:solidFill>
                  <a:srgbClr val="1F2D3A"/>
                </a:solidFill>
              </a:rPr>
              <a:t>kasıtlı</a:t>
            </a:r>
            <a:r>
              <a:rPr sz="2000" b="0">
                <a:solidFill>
                  <a:srgbClr val="1F2D3A"/>
                </a:solidFill>
              </a:rPr>
              <a:t> bir saldırgan var.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(asset)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Varlık:</a:t>
            </a:r>
            <a:r>
              <a:rPr sz="2000" b="0">
                <a:solidFill>
                  <a:srgbClr val="1F2D3A"/>
                </a:solidFill>
              </a:rPr>
              <a:t> korumaya değer her şey (veri, anahtar, işlev).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parola, kredi kartı, lisans, kullanıcı verisi.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"neyi koruyoruz?" ile başlar.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ve zafiyet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olabilecek kötü bir olay (veri çalınması).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bunu mümkün kılan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(denetimsiz girdi).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 + zafiyet + saldırgan =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Güvenliğin üç temel hedefi: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Gizlilik (C):</a:t>
            </a:r>
            <a:r>
              <a:rPr sz="2000" b="0">
                <a:solidFill>
                  <a:srgbClr val="1F2D3A"/>
                </a:solidFill>
              </a:rPr>
              <a:t> yalnız yetkili görsün.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(I):</a:t>
            </a:r>
            <a:r>
              <a:rPr sz="2000" b="0">
                <a:solidFill>
                  <a:srgbClr val="1F2D3A"/>
                </a:solidFill>
              </a:rPr>
              <a:t> izinsiz değişmesin.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Erişilebilirlik (A):</a:t>
            </a:r>
            <a:r>
              <a:rPr sz="2000" b="0">
                <a:solidFill>
                  <a:srgbClr val="1F2D3A"/>
                </a:solidFill>
              </a:rPr>
              <a:t> gerektiğinde çalışsın.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 modeli:</a:t>
            </a:r>
            <a:r>
              <a:rPr sz="2000" b="0">
                <a:solidFill>
                  <a:srgbClr val="1F2D3A"/>
                </a:solidFill>
              </a:rPr>
              <a:t> "saldırgan neyi görebilir/yapabilir?"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Ağdan mı bağlanıyor, cihaza mı sahip?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Savunmayı buna göre tasarlarız.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/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sahip</a:t>
            </a:r>
            <a:r>
              <a:rPr sz="2000" b="0">
                <a:solidFill>
                  <a:srgbClr val="1F2D3A"/>
                </a:solidFill>
              </a:rPr>
              <a:t> saldırgan.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Kodu okur, belleği görür,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Mobil/masaüstü uygulamanın gerçek durumu (bu dersin ana teması).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modelleme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 modelleme:</a:t>
            </a:r>
            <a:r>
              <a:rPr sz="2000" b="0">
                <a:solidFill>
                  <a:srgbClr val="1F2D3A"/>
                </a:solidFill>
              </a:rPr>
              <a:t> "neyi, kime karşı, nasıl koruyacağız?" sorusunu </a:t>
            </a:r>
            <a:r>
              <a:rPr sz="2000" b="1">
                <a:solidFill>
                  <a:srgbClr val="1F2D3A"/>
                </a:solidFill>
              </a:rPr>
              <a:t>sistemli</a:t>
            </a:r>
            <a:r>
              <a:rPr sz="2000" b="0">
                <a:solidFill>
                  <a:srgbClr val="1F2D3A"/>
                </a:solidFill>
              </a:rPr>
              <a:t> yanıtlamak.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Varlıkları, tehditleri, önlemleri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STRIDE ve saldırı ağaçlarıyla yapacağız.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altı harfle sınıflandıran yöntem: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poofing,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ampering, </a:t>
            </a:r>
            <a:r>
              <a:rPr sz="2000" b="1">
                <a:solidFill>
                  <a:srgbClr val="1F2D3A"/>
                </a:solidFill>
              </a:rPr>
              <a:t>R</a:t>
            </a:r>
            <a:r>
              <a:rPr sz="2000" b="0">
                <a:solidFill>
                  <a:srgbClr val="1F2D3A"/>
                </a:solidFill>
              </a:rPr>
              <a:t>epudiation,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nformation disclosure, </a:t>
            </a:r>
            <a:r>
              <a:rPr sz="2000" b="1">
                <a:solidFill>
                  <a:srgbClr val="1F2D3A"/>
                </a:solidFill>
              </a:rPr>
              <a:t>D</a:t>
            </a:r>
            <a:r>
              <a:rPr sz="2000" b="0">
                <a:solidFill>
                  <a:srgbClr val="1F2D3A"/>
                </a:solidFill>
              </a:rPr>
              <a:t>enial of service,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levation of privilege.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öğe için "hangi tehdit?" diye sorar.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ağacı:</a:t>
            </a:r>
            <a:r>
              <a:rPr sz="2000" b="0">
                <a:solidFill>
                  <a:srgbClr val="1F2D3A"/>
                </a:solidFill>
              </a:rPr>
              <a:t> bir hedefi (ör. "anahtarı çal") </a:t>
            </a:r>
            <a:r>
              <a:rPr sz="2000" b="1">
                <a:solidFill>
                  <a:srgbClr val="1F2D3A"/>
                </a:solidFill>
              </a:rPr>
              <a:t>alt adımlara</a:t>
            </a:r>
            <a:r>
              <a:rPr sz="2000" b="0">
                <a:solidFill>
                  <a:srgbClr val="1F2D3A"/>
                </a:solidFill>
              </a:rPr>
              <a:t> bölen ağaç.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amacı.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Dallar: bunu başarmanın yolları.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 (DFD)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DFD:</a:t>
            </a:r>
            <a:r>
              <a:rPr sz="2000" b="0">
                <a:solidFill>
                  <a:srgbClr val="1F2D3A"/>
                </a:solidFill>
              </a:rPr>
              <a:t> verinin sistemde </a:t>
            </a:r>
            <a:r>
              <a:rPr sz="2000" b="1">
                <a:solidFill>
                  <a:srgbClr val="1F2D3A"/>
                </a:solidFill>
              </a:rPr>
              <a:t>nasıl aktığını</a:t>
            </a:r>
            <a:r>
              <a:rPr sz="2000" b="0">
                <a:solidFill>
                  <a:srgbClr val="1F2D3A"/>
                </a:solidFill>
              </a:rPr>
              <a:t> gösteren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Süreç, veri deposu, dış varlık, akış, güven sınırı.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bulmak için harita.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 savunma (defense in depth):</a:t>
            </a:r>
            <a:r>
              <a:rPr sz="2000" b="0">
                <a:solidFill>
                  <a:srgbClr val="1F2D3A"/>
                </a:solidFill>
              </a:rPr>
              <a:t> tek önlem değil,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aşılırsa diğeri durdurur.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"Güvenlik kabuğu" bu katmanların birleşimi.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tasarım ilkeleri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Saltzer &amp; Schroeder (1975): en az yetki, güvenli varsayılan, ekonomi, açık tasarım…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hâlâ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omurgası.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Ödünleşim (trade-off)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bedel</a:t>
            </a:r>
            <a:r>
              <a:rPr sz="2000" b="0">
                <a:solidFill>
                  <a:srgbClr val="1F2D3A"/>
                </a:solidFill>
              </a:rPr>
              <a:t> getirir: hız, karmaşıklık, maliyet.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"sonsuz koruma" değil,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koruma.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yazarız.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· varlık · tehdit/zafiyet · CIA · saldırgan modeli · MATE · tehdit modelleme · STRIDE · saldırı ağacı · DFD · katmanlı savunma · tasarım ilkeleri · ödünleşim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güvenlik nedir, derinlemesine.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693"/>
                <a:gridCol w="10201841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Ders tanıtımı · Güvenlik nedir? · Saldırgan · İlkeler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 korumasına genel bakış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planı · STRIDE ve risk puanı · Saldırı ağacı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Uygulamalı örnek "Kasa"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Sınıf alıştırması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Güvenli başlatma · Taşmalar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3–4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Bellek yönetimi · Bölümleme · Güvenli süreç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code/week-01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/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· Visual Studio: Klasör Aç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 programlama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1975</a:t>
            </a:r>
            <a:r>
              <a:rPr sz="1800" b="0">
                <a:solidFill>
                  <a:srgbClr val="1F2D3A"/>
                </a:solidFill>
              </a:rPr>
              <a:t> — Saltzer &amp; Schroeder: güvenli tasarımın </a:t>
            </a:r>
            <a:r>
              <a:rPr sz="1800" b="1">
                <a:solidFill>
                  <a:srgbClr val="1F2D3A"/>
                </a:solidFill>
              </a:rPr>
              <a:t>8 ilkesi</a:t>
            </a:r>
            <a:r>
              <a:rPr sz="1800" b="0">
                <a:solidFill>
                  <a:srgbClr val="1F2D3A"/>
                </a:solidFill>
              </a:rPr>
              <a:t> (en az ayrıcalık, derinlemesine savunma…)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1970–80'ler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CIA üçlüsü</a:t>
            </a:r>
            <a:r>
              <a:rPr sz="1800" b="0">
                <a:solidFill>
                  <a:srgbClr val="1F2D3A"/>
                </a:solidFill>
              </a:rPr>
              <a:t> ortak dil hâline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1998–99</a:t>
            </a:r>
            <a:r>
              <a:rPr sz="1800" b="0">
                <a:solidFill>
                  <a:srgbClr val="1F2D3A"/>
                </a:solidFill>
              </a:rPr>
              <a:t> — Microsoft'ta </a:t>
            </a:r>
            <a:r>
              <a:rPr sz="1800" b="1">
                <a:solidFill>
                  <a:srgbClr val="1F2D3A"/>
                </a:solidFill>
              </a:rPr>
              <a:t>STRIDE</a:t>
            </a:r>
            <a:r>
              <a:rPr sz="1800" b="0">
                <a:solidFill>
                  <a:srgbClr val="1F2D3A"/>
                </a:solidFill>
              </a:rPr>
              <a:t>; Schneier </a:t>
            </a:r>
            <a:r>
              <a:rPr sz="1800" b="1">
                <a:solidFill>
                  <a:srgbClr val="1F2D3A"/>
                </a:solidFill>
              </a:rPr>
              <a:t>saldırı ağaçlarını</a:t>
            </a:r>
            <a:r>
              <a:rPr sz="1800" b="0">
                <a:solidFill>
                  <a:srgbClr val="1F2D3A"/>
                </a:solidFill>
              </a:rPr>
              <a:t> tanıtır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2001–03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Building Secure Software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Secure Programming Cookbook</a:t>
            </a:r>
            <a:r>
              <a:rPr sz="1800" b="0">
                <a:solidFill>
                  <a:srgbClr val="1F2D3A"/>
                </a:solidFill>
              </a:rPr>
              <a:t> (dersin ana kaynağı)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9582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araçlar (CIA · saldırgan modeli · STRIDE · saldırı ağacı) bu çizginin ürünüdür.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nasıl yürüyor?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dönem projesi:</a:t>
            </a:r>
            <a:r>
              <a:rPr sz="2000" b="0">
                <a:solidFill>
                  <a:srgbClr val="1F2D3A"/>
                </a:solidFill>
              </a:rPr>
              <a:t> C/C++ uygulaması + "sertifikasyondan geçecekmiş gibi" bir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Vize kontrolü: </a:t>
            </a:r>
            <a:r>
              <a:rPr sz="2000" b="1">
                <a:solidFill>
                  <a:srgbClr val="1F2D3A"/>
                </a:solidFill>
              </a:rPr>
              <a:t>7. hafta</a:t>
            </a:r>
            <a:r>
              <a:rPr sz="2000" b="0">
                <a:solidFill>
                  <a:srgbClr val="1F2D3A"/>
                </a:solidFill>
              </a:rPr>
              <a:t> gösterim · Final kontrolü: </a:t>
            </a:r>
            <a:r>
              <a:rPr sz="2000" b="1">
                <a:solidFill>
                  <a:srgbClr val="1F2D3A"/>
                </a:solidFill>
              </a:rPr>
              <a:t>15. hafta</a:t>
            </a:r>
            <a:r>
              <a:rPr sz="2000" b="0">
                <a:solidFill>
                  <a:srgbClr val="1F2D3A"/>
                </a:solidFill>
              </a:rPr>
              <a:t> gösterim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quiz:</a:t>
            </a:r>
            <a:r>
              <a:rPr sz="2000" b="0">
                <a:solidFill>
                  <a:srgbClr val="1F2D3A"/>
                </a:solidFill>
              </a:rPr>
              <a:t> 8. hafta (1–6) · 16. hafta (9–14)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Not: </a:t>
            </a:r>
            <a:r>
              <a:rPr sz="2000" b="0">
                <a:solidFill>
                  <a:srgbClr val="A1123F"/>
                </a:solidFill>
                <a:latin typeface="Consolas"/>
              </a:rPr>
              <a:t>Vize = 0,6·Proje1 + 0,4·Quiz1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 = 0,7·Proje2 + 0,3·Quiz2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hafta: </a:t>
            </a:r>
            <a:r>
              <a:rPr sz="2000" b="1">
                <a:solidFill>
                  <a:srgbClr val="1F2D3A"/>
                </a:solidFill>
              </a:rPr>
              <a:t>hatalı kod → saldırı → düzeltme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ve verilen demolar üzerinde deneyin.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Güvenlik nedir?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benzetmesi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1610"/>
                <a:gridCol w="2801610"/>
                <a:gridCol w="5308314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Yazılım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Hırsız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Parolayı çalmak isteyen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Arızalı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Denetlenmeyen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Kilidi açmak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 adla yönetici olmak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Karşı önlem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Uzunluk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Olasılık × 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"Bulunursa bütün hesaplar gider"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Güvenliğin üç hedefi: CIA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9149"/>
                <a:gridCol w="3978163"/>
                <a:gridCol w="2614221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onfidentiality —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yetkili görebiliyor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Parolalar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ntegrity —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Yetkisiz değiştirilebiliyor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Bakiye, not değişir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vailability — 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Gerektiğinde çalışıyor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Sistem çöker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Kimlik doğrulama · Yetkilendirme · İnkâr edilemezlik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123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Bankacılık uygulaması bakiyeyi şifresiz yazıyor → ? · Alıcı IBAN yolda değişiyor → ? · Bayram gecesi çöküyor → 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 — şema</a:t>
            </a:r>
          </a:p>
        </p:txBody>
      </p:sp>
      <p:pic>
        <p:nvPicPr>
          <p:cNvPr id="7" name="Picture 6" descr="h01-12-cia-ucl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1237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55933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Sorunun cevabı:</a:t>
            </a:r>
            <a:r>
              <a:rPr sz="1800" b="0">
                <a:solidFill>
                  <a:srgbClr val="1F2D3A"/>
                </a:solidFill>
              </a:rPr>
              <a:t> bakiye şifresiz →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; IBAN yolda değişiyor →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; bayram gecesi çöküyor → </a:t>
            </a:r>
            <a:r>
              <a:rPr sz="1800" b="1">
                <a:solidFill>
                  <a:srgbClr val="1F2D3A"/>
                </a:solidFill>
              </a:rPr>
              <a:t>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≠ zafiyet, ama…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açıklarının çok büyük kısmı </a:t>
            </a:r>
            <a:r>
              <a:rPr sz="2000" b="1">
                <a:solidFill>
                  <a:srgbClr val="1F2D3A"/>
                </a:solidFill>
              </a:rPr>
              <a:t>sıradan yazılım hatalarıdır.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Heartbleed (2014, CVE-2014-0160)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"Bana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geri yolla" — ama yalnız </a:t>
            </a:r>
            <a:r>
              <a:rPr sz="2000" b="1">
                <a:solidFill>
                  <a:srgbClr val="1F2D3A"/>
                </a:solidFill>
              </a:rPr>
              <a:t>birkaç bayt</a:t>
            </a:r>
            <a:r>
              <a:rPr sz="2000" b="0">
                <a:solidFill>
                  <a:srgbClr val="1F2D3A"/>
                </a:solidFill>
              </a:rPr>
              <a:t> gönderir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uzunluğu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komşu belleği (parolalar, anahtarlar) geri yollar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eksik uzunluk denetimi → internetin önemli bir kısmı etkilendi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kim, neye erişebiliyor?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854"/>
                <a:gridCol w="4091825"/>
                <a:gridCol w="340985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Erişim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Uzaktaki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ağ mesajları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Girdi doğrulama,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kullanıcı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Dosyalar, ortam değişkenleri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İzinler, güvenli başlatma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İçeriden kişi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kod,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Ayrıcalık ayrımı, denetim kaydı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Cihazın sahibi (beyaz kutu)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Bellek, hata ayıklayıcı, ikili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RASP, kod gizleme,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dersin farkı: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saldırganın cihazında</a:t>
            </a:r>
            <a:r>
              <a:rPr sz="2000" b="0">
                <a:solidFill>
                  <a:srgbClr val="1F2D3A"/>
                </a:solidFill>
              </a:rPr>
              <a:t> çalışıyorsa ne yaparız?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(Saltzer &amp; Schroeder, 1975)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5193"/>
                <a:gridCol w="7626341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 cümle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gereken yetkiyle çalış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 "izin yok"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aracılık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erişimi her seferinde denetle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algoritmanın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anahtarın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gizliliğine dayanır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Mekanizma ekonomisi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Basit = daha az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Ayrıcalıkların ayrılması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 işe iki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ortak mekanizma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 kaynağı azalt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Kabul edilebilirlik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Kullanılamayan güvenlik atlatılır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604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1">
                <a:solidFill>
                  <a:srgbClr val="1F2D3A"/>
                </a:solidFill>
              </a:rPr>
              <a:t>Derinlemesine savunma:</a:t>
            </a:r>
            <a:r>
              <a:rPr sz="1800" b="0">
                <a:solidFill>
                  <a:srgbClr val="1F2D3A"/>
                </a:solidFill>
              </a:rPr>
              <a:t> tek önleme güvenme, </a:t>
            </a:r>
            <a:r>
              <a:rPr sz="1800" b="1">
                <a:solidFill>
                  <a:srgbClr val="1F2D3A"/>
                </a:solidFill>
              </a:rPr>
              <a:t>katman</a:t>
            </a:r>
            <a:r>
              <a:rPr sz="1800" b="0">
                <a:solidFill>
                  <a:srgbClr val="1F2D3A"/>
                </a:solidFill>
              </a:rPr>
              <a:t> kur.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Uygulama korumasına genel bakış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bir önlem yetmez?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4278"/>
                <a:gridCol w="664725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çözmez?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Hatasız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Saldırgan ikili dosyayı açıp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mantığı okur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 ayıklayıcıyla durdurup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belleği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İzlenmeye karşı korunan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kodda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düz metin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dize taraması yeter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anahtar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bir denetimi değiştirip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korumayı atlar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katman bir öncekinin açığını kapatır; saldırgan hepsini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aşmalı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katman: içten dışa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534"/>
                <a:gridCol w="3237488"/>
                <a:gridCol w="5275907"/>
                <a:gridCol w="1798604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tasarım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Neyi, kime karşı?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Kodum hatasız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kaçarsa sömürü zor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okuyan anlayabiliyor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4, 5, 9, 14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altında olduğunu fark ediyor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ele geçse bile anlamsız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3, 10, 11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Çalıştığını nasıl kanıtlıyoruz?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 — şema (içten dışa)</a:t>
            </a:r>
          </a:p>
        </p:txBody>
      </p:sp>
      <p:pic>
        <p:nvPicPr>
          <p:cNvPr id="7" name="Picture 6" descr="h01-03-yedi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6675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03195"/>
            <a:ext cx="10911535" cy="29133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3A"/>
                </a:solidFill>
              </a:rPr>
              <a:t>Bir hata dış katmanları geçse bile </a:t>
            </a:r>
            <a:r>
              <a:rPr sz="1100" b="1">
                <a:solidFill>
                  <a:srgbClr val="1F2D3A"/>
                </a:solidFill>
              </a:rPr>
              <a:t>bir sonraki</a:t>
            </a:r>
            <a:r>
              <a:rPr sz="1100" b="0">
                <a:solidFill>
                  <a:srgbClr val="1F2D3A"/>
                </a:solidFill>
              </a:rPr>
              <a:t> katman durdurmayı dener (derinlemesine savunma).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kabuğu: katmanların birleştiği 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anahtar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birkaç katmanın içinde taşınır: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Diskte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Yalnız kullanılacağı an, yalnız gerektiği kadar </a:t>
            </a:r>
            <a:r>
              <a:rPr sz="2000" b="1">
                <a:solidFill>
                  <a:srgbClr val="1F2D3A"/>
                </a:solidFill>
              </a:rPr>
              <a:t>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Çözüldüğü kod bölümü </a:t>
            </a:r>
            <a:r>
              <a:rPr sz="2000" b="1">
                <a:solidFill>
                  <a:srgbClr val="1F2D3A"/>
                </a:solidFill>
              </a:rPr>
              <a:t>gizlenmiş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bütünlüğü denetlenmiş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Süreçte </a:t>
            </a:r>
            <a:r>
              <a:rPr sz="2000" b="1">
                <a:solidFill>
                  <a:srgbClr val="1F2D3A"/>
                </a:solidFill>
              </a:rPr>
              <a:t>hata ayıklayıcı denetimi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3. haftada dört kabuklu bir tasarımı adım adım kuracağız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katman ne zaman? Saldırgan modeline göre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2751"/>
                <a:gridCol w="5505820"/>
                <a:gridCol w="28029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 nerede?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web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Ağda; kod ve sunucuya erişimi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Masaüstü iş uygulaması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bilgisayarında; kullanıcı saldırgan değil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Cihaz saldırganın elinde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Hepsi; özellikle 4,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lisanslı yazılım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Gömülü cihaz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Fiziksel erişim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6 +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Beyaz kutu saldırgan:</a:t>
            </a:r>
            <a:r>
              <a:rPr sz="1800" b="0">
                <a:solidFill>
                  <a:srgbClr val="1F2D3A"/>
                </a:solidFill>
              </a:rPr>
              <a:t> programın kendisine sahip — kopyalar, açar, değiştirir, tekrar tekrar çalıştırır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Gizleme doğru kodun yerine geçmez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saldırganı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,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Gizlenmiş bir taşma hâlâ bir taşmadır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Dış katmanlar ancak iç katmanlar sağlamsa anlam kazanır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Sunucu, istemciye asla güvenmez.</a:t>
            </a:r>
            <a:r>
              <a:rPr sz="2000" b="0">
                <a:solidFill>
                  <a:srgbClr val="1F2D3A"/>
                </a:solidFill>
              </a:rPr>
              <a:t> Gizlenmiş istemci bile sunucuya tutarsız veri gönderebilir.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Korumanın bedeli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280"/>
                <a:gridCol w="8302254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Performans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düzleştirme bir fonksiyonu birkaç kat yavaşlatabilir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Sanallaştırma, whitebox tabloları ikili dosyayı büyütür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Bakım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kodun çökme raporu okunmaz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Aşırı hassas root algılama meşru kullanıcıyı cezalandırır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önlem </a:t>
            </a:r>
            <a:r>
              <a:rPr sz="2000" b="1">
                <a:solidFill>
                  <a:srgbClr val="1F2D3A"/>
                </a:solidFill>
              </a:rPr>
              <a:t>gerekçesiyle</a:t>
            </a:r>
            <a:r>
              <a:rPr sz="2000" b="0">
                <a:solidFill>
                  <a:srgbClr val="1F2D3A"/>
                </a:solidFill>
              </a:rPr>
              <a:t> yazılır: </a:t>
            </a:r>
            <a:r>
              <a:rPr sz="2000" b="0" i="1">
                <a:solidFill>
                  <a:srgbClr val="1F2D3A"/>
                </a:solidFill>
              </a:rPr>
              <a:t>şu varlığı, şu saldırgana karşı, şu maliyetle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tabloyu tersten okur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taraması → anahtar, URL, hata iletisi görünüyor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İkili dosyayı açma → mantık okunuyor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 bağlama → program fark ediyor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Kodu değiştirme → bütünlük denetimi yakalıyor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Bellek dökümü → sır bulunuyor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Durdurulmadığı </a:t>
            </a:r>
            <a:r>
              <a:rPr sz="2000" b="1">
                <a:solidFill>
                  <a:srgbClr val="1F2D3A"/>
                </a:solidFill>
              </a:rPr>
              <a:t>her adım</a:t>
            </a:r>
            <a:r>
              <a:rPr sz="2000" b="0">
                <a:solidFill>
                  <a:srgbClr val="1F2D3A"/>
                </a:solidFill>
              </a:rPr>
              <a:t> raporda bir bulgu olur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dene (3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Çevrimdışı parola yöneticisi</a:t>
            </a:r>
            <a:r>
              <a:rPr sz="2000" b="0">
                <a:solidFill>
                  <a:srgbClr val="1F2D3A"/>
                </a:solidFill>
              </a:rPr>
              <a:t> için saldırgan modeli nedir? Hangi katmanlar önemli?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"Sunucuda çalışıyor, gizlemeye gerek yok" — ne zaman doğru, ne zaman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Yalnız gizleme kullanan bir oyunda hangi yol açık kalır?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dene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Çevrimdışı parola yöneticisi:</a:t>
            </a:r>
            <a:r>
              <a:rPr sz="1800" b="0">
                <a:solidFill>
                  <a:srgbClr val="1F2D3A"/>
                </a:solidFill>
              </a:rPr>
              <a:t> saldırgan cihaza/dosyaya sahip (beyaz kutu). Önemli katmanlar: </a:t>
            </a:r>
            <a:r>
              <a:rPr sz="1800" b="1">
                <a:solidFill>
                  <a:srgbClr val="1F2D3A"/>
                </a:solidFill>
              </a:rPr>
              <a:t>kriptografi</a:t>
            </a:r>
            <a:r>
              <a:rPr sz="1800" b="0">
                <a:solidFill>
                  <a:srgbClr val="1F2D3A"/>
                </a:solidFill>
              </a:rPr>
              <a:t> (paroladan KDF + AEAD), </a:t>
            </a:r>
            <a:r>
              <a:rPr sz="1800" b="1">
                <a:solidFill>
                  <a:srgbClr val="1F2D3A"/>
                </a:solidFill>
              </a:rPr>
              <a:t>güvenli kodlama</a:t>
            </a:r>
            <a:r>
              <a:rPr sz="1800" b="0">
                <a:solidFill>
                  <a:srgbClr val="1F2D3A"/>
                </a:solidFill>
              </a:rPr>
              <a:t>, bir miktar gizleme/RASP.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"Sunucuda çalışıyor":</a:t>
            </a:r>
            <a:r>
              <a:rPr sz="1800" b="0">
                <a:solidFill>
                  <a:srgbClr val="1F2D3A"/>
                </a:solidFill>
              </a:rPr>
              <a:t> istemciye hassas mantık/anahtar </a:t>
            </a:r>
            <a:r>
              <a:rPr sz="1800" b="1">
                <a:solidFill>
                  <a:srgbClr val="1F2D3A"/>
                </a:solidFill>
              </a:rPr>
              <a:t>gönderilmiyorsa doğru</a:t>
            </a:r>
            <a:r>
              <a:rPr sz="1800" b="0">
                <a:solidFill>
                  <a:srgbClr val="1F2D3A"/>
                </a:solidFill>
              </a:rPr>
              <a:t>; istemcide çalışan kod/anahtar varsa </a:t>
            </a:r>
            <a:r>
              <a:rPr sz="1800" b="1">
                <a:solidFill>
                  <a:srgbClr val="1F2D3A"/>
                </a:solidFill>
              </a:rPr>
              <a:t>yanlış</a:t>
            </a:r>
            <a:r>
              <a:rPr sz="1800" b="0">
                <a:solidFill>
                  <a:srgbClr val="1F2D3A"/>
                </a:solidFill>
              </a:rPr>
              <a:t> (beyaz kutu).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Yalnız gizleme:</a:t>
            </a:r>
            <a:r>
              <a:rPr sz="1800" b="0">
                <a:solidFill>
                  <a:srgbClr val="1F2D3A"/>
                </a:solidFill>
              </a:rPr>
              <a:t> sunucu tarafı doğrulama yoksa, istemci hilesi (yamalı istemci) açık kalır — gizleme mantığı </a:t>
            </a:r>
            <a:r>
              <a:rPr sz="1800" b="1">
                <a:solidFill>
                  <a:srgbClr val="1F2D3A"/>
                </a:solidFill>
              </a:rPr>
              <a:t>düzeltmez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Uygulama koruma planı ve tehdit modelleme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Uygulama koruma planı: 7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</a:t>
            </a:r>
            <a:r>
              <a:rPr sz="2000" b="0">
                <a:solidFill>
                  <a:srgbClr val="1F2D3A"/>
                </a:solidFill>
              </a:rPr>
              <a:t> — Neyi koruyoruz? Hangi ikili, hangi sürüm, hangi özet?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Mimari ve arayüzler</a:t>
            </a:r>
            <a:r>
              <a:rPr sz="2000" b="0">
                <a:solidFill>
                  <a:srgbClr val="1F2D3A"/>
                </a:solidFill>
              </a:rPr>
              <a:t> — Kim kiminle, hangi kanaldan konuşuyor?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Varlıklar</a:t>
            </a:r>
            <a:r>
              <a:rPr sz="2000" b="0">
                <a:solidFill>
                  <a:srgbClr val="1F2D3A"/>
                </a:solidFill>
              </a:rPr>
              <a:t> — Nerede durur, ne zaman silinir,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mi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Tehditler</a:t>
            </a:r>
            <a:r>
              <a:rPr sz="2000" b="0">
                <a:solidFill>
                  <a:srgbClr val="1F2D3A"/>
                </a:solidFill>
              </a:rPr>
              <a:t> — Saldırgan kim, varlığa hangi yoldan ulaşır?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Karşı önlemler</a:t>
            </a:r>
            <a:r>
              <a:rPr sz="2000" b="0">
                <a:solidFill>
                  <a:srgbClr val="1F2D3A"/>
                </a:solidFill>
              </a:rPr>
              <a:t> — Hangi katman, hangi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Doğrulama</a:t>
            </a:r>
            <a:r>
              <a:rPr sz="2000" b="0">
                <a:solidFill>
                  <a:srgbClr val="1F2D3A"/>
                </a:solidFill>
              </a:rPr>
              <a:t> — Çalıştığı nasıl kanıtlanıyor?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— Kabul edilenler ve nedenleri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58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Sertifikasyonda bu plan </a:t>
            </a:r>
            <a:r>
              <a:rPr sz="2000" b="1">
                <a:solidFill>
                  <a:srgbClr val="1F2D3A"/>
                </a:solidFill>
              </a:rPr>
              <a:t>yüzlerce sayfalık bir güvenlik kılavuzudur.</a:t>
            </a:r>
            <a:r>
              <a:rPr sz="2000" b="0">
                <a:solidFill>
                  <a:srgbClr val="1F2D3A"/>
                </a:solidFill>
              </a:rPr>
              <a:t> Siz projede </a:t>
            </a:r>
            <a:r>
              <a:rPr sz="2000" b="1">
                <a:solidFill>
                  <a:srgbClr val="1F2D3A"/>
                </a:solidFill>
              </a:rPr>
              <a:t>20–30 sayfalık</a:t>
            </a:r>
            <a:r>
              <a:rPr sz="2000" b="0">
                <a:solidFill>
                  <a:srgbClr val="1F2D3A"/>
                </a:solidFill>
              </a:rPr>
              <a:t> sürümünü yazacaksınız.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mimari: mobil ödeme uygulaması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TELEFON (güvenilmez)                    SUNUCU (güvenilir)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─────────────────────                   ──────────────────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Mobil uygulama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Kütüphane – Java  ──── D: TLS + mesaj şifreleme ───&gt;  Arka uç + HSM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B (JNI)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Kütüphane – native C/C++ ── E: NFC ──&gt;  Ödeme terminali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Yerel veritabanı (şifreli)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</a:t>
            </a:r>
            <a:r>
              <a:rPr sz="2000" b="1">
                <a:solidFill>
                  <a:srgbClr val="1F2D3A"/>
                </a:solidFill>
              </a:rPr>
              <a:t>saldırganın elinde</a:t>
            </a:r>
            <a:r>
              <a:rPr sz="2000" b="0">
                <a:solidFill>
                  <a:srgbClr val="1F2D3A"/>
                </a:solidFill>
              </a:rPr>
              <a:t> olabilir: root, hata ayıklayıcı, bellek dökümü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hassas işler </a:t>
            </a:r>
            <a:r>
              <a:rPr sz="2000" b="1">
                <a:solidFill>
                  <a:srgbClr val="1F2D3A"/>
                </a:solidFill>
              </a:rPr>
              <a:t>native C/C++</a:t>
            </a:r>
            <a:r>
              <a:rPr sz="2000" b="0">
                <a:solidFill>
                  <a:srgbClr val="1F2D3A"/>
                </a:solidFill>
              </a:rPr>
              <a:t> katmanında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 ve varlık tabloları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900"/>
                <a:gridCol w="2587271"/>
                <a:gridCol w="2587271"/>
                <a:gridCol w="4612092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veritabanı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MAC, anahtar cihaza bağlı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SDK –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sabitleme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ayrıca mesaj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5783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0150"/>
                <a:gridCol w="3233047"/>
                <a:gridCol w="1751234"/>
                <a:gridCol w="134710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Ömür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(şifreli),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İşlem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995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Listede olmayan varlık korunmuyor demektir.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282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724"/>
                <a:gridCol w="2297165"/>
                <a:gridCol w="2412023"/>
                <a:gridCol w="5168621"/>
              </a:tblGrid>
              <a:tr h="468956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taklidi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Sahte uygulama SDK'yı çağırır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Native denetim ikili dosyada değiştirilir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 ödemeyi ben yapmadım"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Bilgi sızması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bellek dökümünden okunur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Hizmet engelleme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sahte kayıt isteği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6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Sıradan kullanıcı → yönetici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1830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akış diyagramını çiz → </a:t>
            </a:r>
            <a:r>
              <a:rPr sz="2000" b="1">
                <a:solidFill>
                  <a:srgbClr val="1F2D3A"/>
                </a:solidFill>
              </a:rPr>
              <a:t>güven sınırını geçen her ok</a:t>
            </a:r>
            <a:r>
              <a:rPr sz="2000" b="0">
                <a:solidFill>
                  <a:srgbClr val="1F2D3A"/>
                </a:solidFill>
              </a:rPr>
              <a:t> için altı harfi sor.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ağacı: "Ödeme anahtarını ele geçir"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HEDEF: Ödeme anahtarı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(biri yeter)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Veritabanını çöz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(hepsi gerekir): root yetkisi al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veritabanı anahtarını bul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Bellekten oku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: hata ayıklayıcı bağla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bellek dökümü al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fonksiyona kanca 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Trafiği dinle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: TLS'i kır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mesaj düzeyi şifrelemeyi kır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ağacından çıkan sonuçlar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"Trafiği dinle" yolu </a:t>
            </a:r>
            <a:r>
              <a:rPr sz="2000" b="1">
                <a:solidFill>
                  <a:srgbClr val="1F2D3A"/>
                </a:solidFill>
              </a:rPr>
              <a:t>iki katmanı birden</a:t>
            </a:r>
            <a:r>
              <a:rPr sz="2000" b="0">
                <a:solidFill>
                  <a:srgbClr val="1F2D3A"/>
                </a:solidFill>
              </a:rPr>
              <a:t> kırmayı gerektirir → pahalı → </a:t>
            </a:r>
            <a:r>
              <a:rPr sz="2000" b="1">
                <a:solidFill>
                  <a:srgbClr val="1F2D3A"/>
                </a:solidFill>
              </a:rPr>
              <a:t>derinlemesine savunma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yolunun </a:t>
            </a:r>
            <a:r>
              <a:rPr sz="2000" b="1">
                <a:solidFill>
                  <a:srgbClr val="1F2D3A"/>
                </a:solidFill>
              </a:rPr>
              <a:t>üç alternatifi</a:t>
            </a:r>
            <a:r>
              <a:rPr sz="2000" b="0">
                <a:solidFill>
                  <a:srgbClr val="1F2D3A"/>
                </a:solidFill>
              </a:rPr>
              <a:t> var → en zayıf nokta </a:t>
            </a:r>
            <a:r>
              <a:rPr sz="2000" b="1">
                <a:solidFill>
                  <a:srgbClr val="1F2D3A"/>
                </a:solidFill>
              </a:rPr>
              <a:t>bellekteki anahtar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Bu hafta: </a:t>
            </a:r>
            <a:r>
              <a:rPr sz="2000" b="1">
                <a:solidFill>
                  <a:srgbClr val="1F2D3A"/>
                </a:solidFill>
              </a:rPr>
              <a:t>Demo 2</a:t>
            </a:r>
            <a:r>
              <a:rPr sz="2000" b="0">
                <a:solidFill>
                  <a:srgbClr val="1F2D3A"/>
                </a:solidFill>
              </a:rPr>
              <a:t> (bellekte kalan sır)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6: çalışma zamanı koruması (hata ayıklayıcı, kanca algılama)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11: whitebox kriptografi (anahtar bellekte hiç açık durmaz)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Savunmacının hedefi: saldırganı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düğümlerine zorlamak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diyagramı: beş sembol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2909742"/>
                <a:gridCol w="5237536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Sembol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▭ Dikdörtgen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Kullanıcı, ödeme terminali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◯ Daire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modülü, kripto kütüphanesi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═ İki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Veritabanı, yapılandırma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→ 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isteği, fonksiyon çağrısı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┄ Kesikli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Güven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 ↔ sunucu, uygulama ↔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576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Güven sınırını geçen her oku </a:t>
            </a:r>
            <a:r>
              <a:rPr sz="2000" b="1">
                <a:solidFill>
                  <a:srgbClr val="1F2D3A"/>
                </a:solidFill>
              </a:rPr>
              <a:t>kırmızıya</a:t>
            </a:r>
            <a:r>
              <a:rPr sz="2000" b="0">
                <a:solidFill>
                  <a:srgbClr val="1F2D3A"/>
                </a:solidFill>
              </a:rPr>
              <a:t> boyayın: incelemeye oradan başlayın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öğeye hangi harf?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5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273012"/>
                <a:gridCol w="1273012"/>
                <a:gridCol w="1273012"/>
                <a:gridCol w="1273012"/>
                <a:gridCol w="1273012"/>
                <a:gridCol w="127301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Öğe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✔¹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¹ Denetim kaydıysa · Veri akışının "kimliği" yoktur → </a:t>
            </a:r>
            <a:r>
              <a:rPr sz="1800" b="1">
                <a:solidFill>
                  <a:srgbClr val="1F2D3A"/>
                </a:solidFill>
              </a:rPr>
              <a:t>S sorulmaz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Her harf için soru ve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060"/>
                <a:gridCol w="5117799"/>
                <a:gridCol w="4924675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Kendinize sorun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 gerçekten o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doğrulama, imza, sertifika 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Değiştirilse fark eder miyim?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MAC/HMAC, imza, bütünlük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"Ben yapmadım" derse kanıtım var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Kurcalamaya dayanıklı günlük, imzalı işlem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Diskte, ağda, bellekte, günlükte sızar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Şifreleme, bellek temizleme, maskeleme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Çökertilebilir, tüketilebilir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sınırı, oran sınırlama, kota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Az yetkili, çok yetkilinin işini yaptırabilir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ayrıcalık, tam aracılık, 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65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taşma = </a:t>
            </a:r>
            <a:r>
              <a:rPr sz="1800" b="1">
                <a:solidFill>
                  <a:srgbClr val="1F2D3A"/>
                </a:solidFill>
              </a:rPr>
              <a:t>D</a:t>
            </a:r>
            <a:r>
              <a:rPr sz="1800" b="0">
                <a:solidFill>
                  <a:srgbClr val="1F2D3A"/>
                </a:solidFill>
              </a:rPr>
              <a:t> (çöker) + </a:t>
            </a:r>
            <a:r>
              <a:rPr sz="1800" b="1">
                <a:solidFill>
                  <a:srgbClr val="1F2D3A"/>
                </a:solidFill>
              </a:rPr>
              <a:t>E</a:t>
            </a:r>
            <a:r>
              <a:rPr sz="1800" b="0">
                <a:solidFill>
                  <a:srgbClr val="1F2D3A"/>
                </a:solidFill>
              </a:rPr>
              <a:t> (akış ele geçer) +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(bitişik sır okunur)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puanı: olasılık × etki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1818589"/>
                <a:gridCol w="1818589"/>
                <a:gridCol w="2909742"/>
              </a:tblGrid>
              <a:tr h="37490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9 kritik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Olasılık:</a:t>
            </a:r>
            <a:r>
              <a:rPr sz="2000" b="0">
                <a:solidFill>
                  <a:srgbClr val="1F2D3A"/>
                </a:solidFill>
              </a:rPr>
              <a:t> fiziksel erişim mi, internetten mi? Uzmanlık? Otomatikleşir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Etki:</a:t>
            </a:r>
            <a:r>
              <a:rPr sz="2000" b="0">
                <a:solidFill>
                  <a:srgbClr val="1F2D3A"/>
                </a:solidFill>
              </a:rPr>
              <a:t> hangi varlık, kaç kullanıcı, parasal/hukuki sonuç?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ayrıntılı: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(2. hafta),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Tehdide dört 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Azalt</a:t>
            </a:r>
            <a:r>
              <a:rPr sz="2000" b="0">
                <a:solidFill>
                  <a:srgbClr val="1F2D3A"/>
                </a:solidFill>
              </a:rPr>
              <a:t> — önlem ekle (en sık)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Ortadan kaldır</a:t>
            </a:r>
            <a:r>
              <a:rPr sz="2000" b="0">
                <a:solidFill>
                  <a:srgbClr val="1F2D3A"/>
                </a:solidFill>
              </a:rPr>
              <a:t> — özelliği hiç yazma (en güçlü) </a:t>
            </a:r>
            <a:r>
              <a:rPr sz="2000" b="0" i="1">
                <a:solidFill>
                  <a:srgbClr val="1F2D3A"/>
                </a:solidFill>
              </a:rPr>
              <a:t>"Parolayı hatırla" yoksa, diskteki parola tehdidi de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 — kart verisini saklama, ödeme sağlayıcısına bırak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Kabul et</a:t>
            </a:r>
            <a:r>
              <a:rPr sz="2000" b="0">
                <a:solidFill>
                  <a:srgbClr val="1F2D3A"/>
                </a:solidFill>
              </a:rPr>
              <a:t> — gerekçesiyle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listesine 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Plana yazılmamış risk kabul edilmiş değil, </a:t>
            </a:r>
            <a:r>
              <a:rPr sz="2000" b="1">
                <a:solidFill>
                  <a:srgbClr val="1F2D3A"/>
                </a:solidFill>
              </a:rPr>
              <a:t>gözden kaçmıştır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Uygulamalı örnek: "Kasa" parola kasası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0–1: Uygulama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Kasa:</a:t>
            </a:r>
            <a:r>
              <a:rPr sz="2000" b="0">
                <a:solidFill>
                  <a:srgbClr val="1F2D3A"/>
                </a:solidFill>
              </a:rPr>
              <a:t> C++ masaüstü parola kasası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türetilen anahtar → kayıtlar tek dosyada şifreli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Panoya kopyalama · isteğe bağlı bulut yedek · otomatik güncelleme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68"/>
                <a:gridCol w="8292766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Değerlendirme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1.0 +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kasa_cekirdek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Yedek sunucusunun kendisi, işletim sistemi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amacı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 parolayı bilmeyen için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okunamaz ve fark edilmeden değiştirilemez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2: Mimari ve arayüzler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83"/>
                <a:gridCol w="3167865"/>
                <a:gridCol w="2815880"/>
                <a:gridCol w="37545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→ Arayüz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Ekranda gösterilmez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Çekirdek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çağrı sonrası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Kasa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AES-GCM, anahtar paroladan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Pano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 s sonra temizlenir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Yedek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+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zaten şifreli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Paket imzası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TLS; asıl güvence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3: Varlıklar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2828916"/>
                <a:gridCol w="2121687"/>
                <a:gridCol w="4344407"/>
                <a:gridCol w="1010327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Oluşma → silinme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Yazılır → türetilir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hemen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Türetilir → kilitlenince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Çözülmüş kayıt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Görüntülenir → kapanınca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dosyası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Disk, yedek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Tuz, türetme parametresi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başlığı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Oluşturulurken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açık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Uygulamaya gömülü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05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sınıfları: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 gizlilik ·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bütünlük · </a:t>
            </a:r>
            <a:r>
              <a:rPr sz="1800" b="1">
                <a:solidFill>
                  <a:srgbClr val="1F2D3A"/>
                </a:solidFill>
              </a:rPr>
              <a:t>I+</a:t>
            </a:r>
            <a:r>
              <a:rPr sz="1800" b="0">
                <a:solidFill>
                  <a:srgbClr val="1F2D3A"/>
                </a:solidFill>
              </a:rPr>
              <a:t> bütünlük + hesap verebilirlik · </a:t>
            </a:r>
            <a:r>
              <a:rPr sz="1800" b="1">
                <a:solidFill>
                  <a:srgbClr val="1F2D3A"/>
                </a:solidFill>
              </a:rPr>
              <a:t>N</a:t>
            </a:r>
            <a:r>
              <a:rPr sz="1800" b="0">
                <a:solidFill>
                  <a:srgbClr val="1F2D3A"/>
                </a:solidFill>
              </a:rPr>
              <a:t> yok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4: Tehditler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3796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148"/>
                <a:gridCol w="1522539"/>
                <a:gridCol w="1015026"/>
                <a:gridCol w="6343915"/>
                <a:gridCol w="1141904"/>
              </a:tblGrid>
              <a:tr h="47457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Çalınan dosya, zayıf parola çevrimdışı denenir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 / V1-2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Parola/anahtar bellekte kalır → döküm, takas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 / V3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Panodaki parolayı başka uygulama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Yineleme sayısı 1'e düşürülür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 / 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T, 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güncelleme kurulur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ayrıştırıcısında bellek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58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758"/>
                <a:gridCol w="8665042"/>
                <a:gridCol w="1176734"/>
              </a:tblGrid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Yavaş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türetme (Argon2id / yüksek yinelemeli PBKDF2) + parola gücü şartı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silme,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döküm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 30 s sonra temizlenir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T4-5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doğrulamalı şifreleme; başlık =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en düşük yineleme kodda sabit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İmzayı doğrulamadan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asla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çalıştırma; geri almayı reddet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doğrulama + fuzzing + derleyici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6–7: Doğrulama ve kalan risk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218"/>
                <a:gridCol w="5639669"/>
                <a:gridCol w="3800647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Türetme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 ölçümü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250 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Kilitten sonra bellek dökümünde parola ara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Bulunmaz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Dosyanın bir baytını değiştir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"Bozuk" der, açmaz, çökmez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Bozuk imzalı paket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Reddedilir, günlüğe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kasa açıkken aynı kullanıcıyla çalışan zararlı · omuz sörfü · çok zayıf parola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2772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Testi olmayan önlem değerlendirici gözünde </a:t>
            </a:r>
            <a:r>
              <a:rPr sz="2000" b="1">
                <a:solidFill>
                  <a:srgbClr val="1F2D3A"/>
                </a:solidFill>
              </a:rPr>
              <a:t>yoktur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 unutmak:</a:t>
            </a:r>
            <a:r>
              <a:rPr sz="2000" b="0">
                <a:solidFill>
                  <a:srgbClr val="1F2D3A"/>
                </a:solidFill>
              </a:rPr>
              <a:t> anahtarlar, belirteçler, sayaçlar, yapılandırma, </a:t>
            </a:r>
            <a:r>
              <a:rPr sz="2000" b="1">
                <a:solidFill>
                  <a:srgbClr val="1F2D3A"/>
                </a:solidFill>
              </a:rPr>
              <a:t>kodun kendisi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 sınırını yanlış çizmek:</a:t>
            </a:r>
            <a:r>
              <a:rPr sz="2000" b="0">
                <a:solidFill>
                  <a:srgbClr val="1F2D3A"/>
                </a:solidFill>
              </a:rPr>
              <a:t> kendi istemcinizi "güvenilir" 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Önlemi tehditle eşleştirmemek:</a:t>
            </a:r>
            <a:r>
              <a:rPr sz="2000" b="0">
                <a:solidFill>
                  <a:srgbClr val="1F2D3A"/>
                </a:solidFill>
              </a:rPr>
              <a:t> "TLS kullanıyoruz" — hangi tehdidi kapatıyor, hangisini kapatmıyor?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Testsiz önlem:</a:t>
            </a:r>
            <a:r>
              <a:rPr sz="2000" b="0">
                <a:solidFill>
                  <a:srgbClr val="1F2D3A"/>
                </a:solidFill>
              </a:rPr>
              <a:t> "siliyoruz" deyip derleyicinin silmeyi kaldırdığını fark etmemek (Demo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alıştırması (15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Öğrenci not sistemi:</a:t>
            </a:r>
            <a:r>
              <a:rPr sz="2000" b="0">
                <a:solidFill>
                  <a:srgbClr val="1F2D3A"/>
                </a:solidFill>
              </a:rPr>
              <a:t> öğretim üyesi not girer, öğrenci görür, veri sunucuda.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 diyagramı + güven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STRIDE harfinden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tehdit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"Notumu 45'ten 85'e çıkar" saldırı ağacı — </a:t>
            </a:r>
            <a:r>
              <a:rPr sz="2000" b="1">
                <a:solidFill>
                  <a:srgbClr val="1F2D3A"/>
                </a:solidFill>
              </a:rPr>
              <a:t>en ucuz yol</a:t>
            </a:r>
            <a:r>
              <a:rPr sz="2000" b="0">
                <a:solidFill>
                  <a:srgbClr val="1F2D3A"/>
                </a:solidFill>
              </a:rPr>
              <a:t> hangisi?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Program başlarken ve bellekte kalan sırlar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 boş sayfayla başlamaz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Çalıştıran kişiden </a:t>
            </a:r>
            <a:r>
              <a:rPr sz="2000" b="1">
                <a:solidFill>
                  <a:srgbClr val="1F2D3A"/>
                </a:solidFill>
              </a:rPr>
              <a:t>devraldıkları: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Ortam değişkenleri: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 dosya tanıtıcıları, çalışma dizini,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sınırları, çökme dökümü ayarı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bunlara güvenirse, </a:t>
            </a:r>
            <a:r>
              <a:rPr sz="2000" b="1">
                <a:solidFill>
                  <a:srgbClr val="1F2D3A"/>
                </a:solidFill>
              </a:rPr>
              <a:t>onları kontrol eden programı kontrol eder.</a:t>
            </a:r>
            <a:r>
              <a:rPr sz="2000" b="0">
                <a:solidFill>
                  <a:srgbClr val="1F2D3A"/>
                </a:solidFill>
              </a:rPr>
              <a:t> Kitap: Viega &amp; Messier, Tarif 1.1–1.9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PATH ile kandırma (CWE-426)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system(KOMUT);  /* Linux: "date"  Windows: "hostname"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/* HANGİSİ çalışacak?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— PATH="$PWD/sahte:$PATH" ./bin/linux/rapor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Rapor tarihi: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!!! SAHTE 'date' calisti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— ./bin/linux/rapor_guvenli  -&gt;  Rapor tarihi: Sat Sep 19 ...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üç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arguman[]     = { "date",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temiz_ortam[] = { "PATH=/usr/bin:/bin", "LANG=C",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posix_spawn(&amp;pid, "/bin/date", NULL, NULL, arguman, temiz_ortam);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Mutlak yol</a:t>
            </a:r>
            <a:r>
              <a:rPr sz="2000" b="0">
                <a:solidFill>
                  <a:srgbClr val="1F2D3A"/>
                </a:solidFill>
              </a:rPr>
              <a:t> → PATH araması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Kabuk yok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posix_spawn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execve</a:t>
            </a:r>
            <a:r>
              <a:rPr sz="2000" b="0">
                <a:solidFill>
                  <a:srgbClr val="1F2D3A"/>
                </a:solidFill>
              </a:rPr>
              <a:t>) → özel karakter,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Temiz ortam</a:t>
            </a:r>
            <a:r>
              <a:rPr sz="2000" b="0">
                <a:solidFill>
                  <a:srgbClr val="1F2D3A"/>
                </a:solidFill>
              </a:rPr>
              <a:t> → bilinen, küçük bir ortam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05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Windows: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CreateProcessW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System32hostname.exe</a:t>
            </a:r>
            <a:r>
              <a:rPr sz="2000" b="0">
                <a:solidFill>
                  <a:srgbClr val="1F2D3A"/>
                </a:solidFill>
              </a:rPr>
              <a:t> +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554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iyisi: başka programa hiç gerek bırakma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strftime()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GetComputerNameW()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başlatma: ne devralınıyor?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7274356"/>
                <a:gridCol w="909294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Devralınan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 değişkenleri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PATH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LD_PRELOAD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yüklenecek programı/kütüphaneyi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dosya tanıtıcıları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Ebeveynin gizli dosyası sızar; 0–2 kapalıysa ilk dosya "stdout" olur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umask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000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herkese yazılabilir dosyalar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sınırları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dökümü açık → bellek diske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ve yetkiler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setuid: gereğinden fazla yetki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kendi kurmadığın hiçbir şeye güvenme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1–2: Ortam ve tanıtıcılar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Ortam: kara liste değil BEYAZ liste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clearenv();                            /* önce korunacakları kopyala!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setenv("PATH", "/usr/bin:/bin", 1);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0-2 kapalıysa /dev/null'a bağla, gerisini kapat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fd = 0; fd &lt;= 2; fd++)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(fcntl(fd, F_GETFD) == -1 &amp;&amp; open("/dev/null", O_RDWR) != fd) abort();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close_range(3, ~0U, 0);                /* Linux 5.9+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1800" b="0">
                <a:solidFill>
                  <a:srgbClr val="1F2D3A"/>
                </a:solidFill>
              </a:rPr>
              <a:t> işaretçisi </a:t>
            </a:r>
            <a:r>
              <a:rPr sz="1800" b="0">
                <a:solidFill>
                  <a:srgbClr val="A1123F"/>
                </a:solidFill>
                <a:latin typeface="Consolas"/>
              </a:rPr>
              <a:t>clearenv</a:t>
            </a:r>
            <a:r>
              <a:rPr sz="1800" b="0">
                <a:solidFill>
                  <a:srgbClr val="1F2D3A"/>
                </a:solidFill>
              </a:rPr>
              <a:t> sonrası </a:t>
            </a:r>
            <a:r>
              <a:rPr sz="1800" b="1">
                <a:solidFill>
                  <a:srgbClr val="1F2D3A"/>
                </a:solidFill>
              </a:rPr>
              <a:t>geçersiz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Kendi dosyalarınızda her zaman </a:t>
            </a:r>
            <a:r>
              <a:rPr sz="1800" b="0">
                <a:solidFill>
                  <a:srgbClr val="A1123F"/>
                </a:solidFill>
                <a:latin typeface="Consolas"/>
              </a:rPr>
              <a:t>O_CLOEXEC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3–4: İzinler ve çökme dökümü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umask(077);                                   /* rw-------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fd = open(yol, O_WRONLY | O_CREAT | O_EXCL, 0600);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struct rlimit r = { 0, 0 };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setrlimit(RLIMIT_CORE, &amp;r);                   /* döküm boyutu 0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prctl(PR_SET_DUMPABLE, 0, 0, 0, 0);           /* + ptrace ile bağlanılamaz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SetErrorMode(SEM_FAILCRITICALERRORS | SEM_NOGPFAULTERRORBOX)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Asıl savunma: döküm alınsa bile içinde </a:t>
            </a:r>
            <a:r>
              <a:rPr sz="1800" b="1">
                <a:solidFill>
                  <a:srgbClr val="1F2D3A"/>
                </a:solidFill>
              </a:rPr>
              <a:t>sır kalmamalı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Yetkiyi kalıcı bırak ve doğrula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(setresgid(g, g, g) != 0) abort();   /* 1. önce GRUP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(setresuid(u, u, u) != 0) abort();   /* 2. sonra kullanıcı: r/e/s üçü de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getresuid(&amp;r, &amp;e, &amp;s);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 != u || e != u || s != u) abort();  /* 3. DOĞRULA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seteuid()</a:t>
            </a:r>
            <a:r>
              <a:rPr sz="1800" b="0">
                <a:solidFill>
                  <a:srgbClr val="1F2D3A"/>
                </a:solidFill>
              </a:rPr>
              <a:t> geçicidir: saklı kimlik yetkili kalır (2. hafta Demo 13)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1">
                <a:solidFill>
                  <a:srgbClr val="1F2D3A"/>
                </a:solidFill>
              </a:rPr>
              <a:t>kısıtlanmış belirteç</a:t>
            </a:r>
            <a:r>
              <a:rPr sz="1800" b="0">
                <a:solidFill>
                  <a:srgbClr val="1F2D3A"/>
                </a:solidFill>
              </a:rPr>
              <a:t> (</a:t>
            </a:r>
            <a:r>
              <a:rPr sz="1800" b="0">
                <a:solidFill>
                  <a:srgbClr val="A1123F"/>
                </a:solidFill>
                <a:latin typeface="Consolas"/>
              </a:rPr>
              <a:t>CreateRestrictedToken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Daha iyisi: </a:t>
            </a:r>
            <a:r>
              <a:rPr sz="1800" b="1">
                <a:solidFill>
                  <a:srgbClr val="1F2D3A"/>
                </a:solidFill>
              </a:rPr>
              <a:t>ayrıcalık ayrımı</a:t>
            </a:r>
            <a:r>
              <a:rPr sz="1800" b="0">
                <a:solidFill>
                  <a:srgbClr val="1F2D3A"/>
                </a:solidFill>
              </a:rPr>
              <a:t> — küçük yetkili süreç + büyük yetkisiz süreç (Tarif 1.4)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6: Program ve kütüphane yüklerken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8364"/>
                <a:gridCol w="6673170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 Hatalı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 Doğrusu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system("convert " + dosya)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execve("/usr/bin/convert", argv, temiz_ortam)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execvp("convert",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yolla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CreateProcess(NULL, "C:Program Files...")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lpApplicationName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= tam yol, komut satırı tırnaklı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LoadLibrary("yardimci.dll")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SetDefaultDllDirectories(LOAD_LIBRARY_SEARCH_DEFAULT_DIRS)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Windows DLL arama sırası = </a:t>
            </a:r>
            <a:r>
              <a:rPr sz="1800" b="0">
                <a:solidFill>
                  <a:srgbClr val="A1123F"/>
                </a:solidFill>
                <a:latin typeface="Consolas"/>
              </a:rPr>
              <a:t>PATH</a:t>
            </a:r>
            <a:r>
              <a:rPr sz="1800" b="0">
                <a:solidFill>
                  <a:srgbClr val="1F2D3A"/>
                </a:solidFill>
              </a:rPr>
              <a:t> sorununun ikizi (CWE-427)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Hepsi bir arada: </a:t>
            </a:r>
            <a:r>
              <a:rPr sz="3000" b="1">
                <a:solidFill>
                  <a:srgbClr val="006D77"/>
                </a:solidFill>
                <a:latin typeface="Consolas"/>
              </a:rPr>
              <a:t>guvenli_baslat()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main(int argc, char **argv)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tanitici_duzenle();   /* 1. tanıtıcılar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ortami_temizle();     /* 2. ortam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umask(077);           /* 3. izinler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dokumu_kapat();       /* 4. döküm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yetkiyi_birak();      /* 5. yetki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asıl iş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Sıra önemli:</a:t>
            </a:r>
            <a:r>
              <a:rPr sz="2000" b="0">
                <a:solidFill>
                  <a:srgbClr val="1F2D3A"/>
                </a:solidFill>
              </a:rPr>
              <a:t> başka hiçbir şey yapmadan önce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Bellekte kalan parola (CWE-14)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parola[64];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 = dosya_oku(fd, parola, sizeof(parola) - 1);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 = anahtar_turet(parola,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memset(parola, 0, sizeof(parola));         /* sürüm 2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explicit_bzero(parola, sizeof(parola));    /* sürüm 3, Linux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SecureZeroMemory(parola, sizeof(parola));  /* sürüm 3, Windows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4378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Hiç silmeyen   -&gt; parola dökümde BULUNDU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 (-O2)   -&gt; parola dökümde BULUNDU      ←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 -&gt; parola dökümde bulunamadı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Neden memset kayboldu?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Derleyicinin düşüncesi: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</a:t>
            </a:r>
            <a:r>
              <a:rPr sz="1800" b="0">
                <a:solidFill>
                  <a:srgbClr val="1F2D3A"/>
                </a:solidFill>
              </a:rPr>
              <a:t> bundan sonra </a:t>
            </a:r>
            <a:r>
              <a:rPr sz="1800" b="1">
                <a:solidFill>
                  <a:srgbClr val="1F2D3A"/>
                </a:solidFill>
              </a:rPr>
              <a:t>hiç okunmuyor</a:t>
            </a:r>
            <a:r>
              <a:rPr sz="1800" b="0">
                <a:solidFill>
                  <a:srgbClr val="1F2D3A"/>
                </a:solidFill>
              </a:rPr>
              <a:t>. Ona sıfır yazmak sonucu değiştirmez. </a:t>
            </a:r>
            <a:r>
              <a:rPr sz="1800" b="1">
                <a:solidFill>
                  <a:srgbClr val="1F2D3A"/>
                </a:solidFill>
              </a:rPr>
              <a:t>Gereksiz — siliyorum.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092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Ölü yazma giderme</a:t>
            </a:r>
            <a:r>
              <a:rPr sz="1800" b="0">
                <a:solidFill>
                  <a:srgbClr val="1F2D3A"/>
                </a:solidFill>
              </a:rPr>
              <a:t> (dead store elimination): hız için iyi, </a:t>
            </a:r>
            <a:r>
              <a:rPr sz="1800" b="1">
                <a:solidFill>
                  <a:srgbClr val="1F2D3A"/>
                </a:solidFill>
              </a:rPr>
              <a:t>sırlar için felaket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337557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36461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(glibc)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029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setrlimit(RLIMIT_CORE, 0)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mlock</a:t>
            </a:r>
            <a:r>
              <a:rPr sz="1800" b="0">
                <a:solidFill>
                  <a:srgbClr val="1F2D3A"/>
                </a:solidFill>
              </a:rPr>
              <a:t> · sırrı </a:t>
            </a:r>
            <a:r>
              <a:rPr sz="1800" b="1">
                <a:solidFill>
                  <a:srgbClr val="1F2D3A"/>
                </a:solidFill>
              </a:rPr>
              <a:t>kısa</a:t>
            </a:r>
            <a:r>
              <a:rPr sz="1800" b="0">
                <a:solidFill>
                  <a:srgbClr val="1F2D3A"/>
                </a:solidFill>
              </a:rPr>
              <a:t> tut, </a:t>
            </a:r>
            <a:r>
              <a:rPr sz="1800" b="1">
                <a:solidFill>
                  <a:srgbClr val="1F2D3A"/>
                </a:solidFill>
              </a:rPr>
              <a:t>kopyalama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Süreç belleği ve taşmalar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Süreç belleği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yüksek adres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┌──────────────────────┐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Yığın (stack)   ↓    │  yerel değişkenler, dönüş adresleri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                     │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Öbek (heap)     ↑    │  malloc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├──────────────────────┤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.data / .bss         │  küresel değişkenler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├──────────────────────┤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.text                │  makine kodu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└──────────────────────┘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düşük adres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8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 dizinin sonunu denetlemez.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ad[16]</a:t>
            </a:r>
            <a:r>
              <a:rPr sz="2000" b="0">
                <a:solidFill>
                  <a:srgbClr val="1F2D3A"/>
                </a:solidFill>
              </a:rPr>
              <a:t>'ya 17. bayt → arkadaki değişkenin üzerine.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Yapının bellekteki hali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{ char ad[16]; int yonetici; };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ofset:  0 ............................ 15 | 16  17  18  19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y  s  e \0  .  .  .  .  .  . ][ 00  00  00  00 ]   yonetici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"AAAAAAAAAAAAAAAAB" (17 karakter) kopyalanınca: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A  A  A  A  A  A  A  A  A  A ][ 42  00  00  00 ]   yonetici = 66 (!)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'B'  '\0'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uçlu (little-endian): en düşük bayt en düşük adreste.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Arabellek taşması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diziye </a:t>
            </a:r>
            <a:r>
              <a:rPr sz="2000" b="1">
                <a:solidFill>
                  <a:srgbClr val="1F2D3A"/>
                </a:solidFill>
              </a:rPr>
              <a:t>ayrılan boyuttan fazla</a:t>
            </a:r>
            <a:r>
              <a:rPr sz="2000" b="0">
                <a:solidFill>
                  <a:srgbClr val="1F2D3A"/>
                </a:solidFill>
              </a:rPr>
              <a:t> veri yazmak → taşan baytlar </a:t>
            </a:r>
            <a:r>
              <a:rPr sz="2000" b="1">
                <a:solidFill>
                  <a:srgbClr val="1F2D3A"/>
                </a:solidFill>
              </a:rPr>
              <a:t>komşu değişkenlerin</a:t>
            </a:r>
            <a:r>
              <a:rPr sz="2000" b="0">
                <a:solidFill>
                  <a:srgbClr val="1F2D3A"/>
                </a:solidFill>
              </a:rPr>
              <a:t> üzerine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 neden bu kadar kolay taşar?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Dizi </a:t>
            </a:r>
            <a:r>
              <a:rPr sz="2000" b="1">
                <a:solidFill>
                  <a:srgbClr val="1F2D3A"/>
                </a:solidFill>
              </a:rPr>
              <a:t>boyutunu bilmez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Fonksiyona yalnız </a:t>
            </a:r>
            <a:r>
              <a:rPr sz="2000" b="1">
                <a:solidFill>
                  <a:srgbClr val="1F2D3A"/>
                </a:solidFill>
              </a:rPr>
              <a:t>başlangıç adresi</a:t>
            </a:r>
            <a:r>
              <a:rPr sz="2000" b="0">
                <a:solidFill>
                  <a:srgbClr val="1F2D3A"/>
                </a:solidFill>
              </a:rPr>
              <a:t> gider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Dizge = </a:t>
            </a:r>
            <a:r>
              <a:rPr sz="2000" b="0">
                <a:solidFill>
                  <a:srgbClr val="A1123F"/>
                </a:solidFill>
                <a:latin typeface="Consolas"/>
              </a:rPr>
              <a:t>'0'</a:t>
            </a:r>
            <a:r>
              <a:rPr sz="2000" b="0">
                <a:solidFill>
                  <a:srgbClr val="1F2D3A"/>
                </a:solidFill>
              </a:rPr>
              <a:t> ile biten dizi;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hedefi </a:t>
            </a:r>
            <a:r>
              <a:rPr sz="2000" b="1">
                <a:solidFill>
                  <a:srgbClr val="1F2D3A"/>
                </a:solidFill>
              </a:rPr>
              <a:t>sormaz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Derleyici sınır denetimi </a:t>
            </a:r>
            <a:r>
              <a:rPr sz="2000" b="1">
                <a:solidFill>
                  <a:srgbClr val="1F2D3A"/>
                </a:solidFill>
              </a:rPr>
              <a:t>eklemez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602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CWE-787 "sınırlar dışına yazma": CWE Top 25'in hep ilk sıralarında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Yığında bir taşma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int  yetkili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strcpy(tampon, ad);          /* ad &gt; 15 karakter?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düşük adres  | tampon[0..15]      |  &lt;- yazma buradan başlar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yetkili            |  &lt;- biraz fazlası: MANTIK bozulur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kaydedilmiş çerçeve|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yüksek adres | dönüş adresi       |  &lt;- çok fazlası: ÇÖKME / akış ele geçer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 türleri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5963280"/>
                <a:gridCol w="164941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neden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taşması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sınırsız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Öbek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uzunluklu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fazla (off-by-one)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yerine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'0'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 yer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dışı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tarafın bildirdiği uzunluğa güvenmek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 kaynaklı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* boyut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taşar → küçük blok, büyük kopya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190 → 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Heartbleed (2014): hiçbir şey yazılmadı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"1 bayt gönderiyorum,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diye bildiriyorum"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Sunucu: bildirilen uzunluğu </a:t>
            </a:r>
            <a:r>
              <a:rPr sz="2000" b="1">
                <a:solidFill>
                  <a:srgbClr val="1F2D3A"/>
                </a:solidFill>
              </a:rPr>
              <a:t>denetlemeden</a:t>
            </a:r>
            <a:r>
              <a:rPr sz="2000" b="0">
                <a:solidFill>
                  <a:srgbClr val="1F2D3A"/>
                </a:solidFill>
              </a:rPr>
              <a:t> 64 KB geri yolladı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Sızan: parolalar, oturumlar, hatta sunucunun </a:t>
            </a:r>
            <a:r>
              <a:rPr sz="2000" b="1">
                <a:solidFill>
                  <a:srgbClr val="1F2D3A"/>
                </a:solidFill>
              </a:rPr>
              <a:t>özel anahtarı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CVE-2014-0160 · CWE-125 · Düzeltme: </a:t>
            </a:r>
            <a:r>
              <a:rPr sz="2000" b="1">
                <a:solidFill>
                  <a:srgbClr val="1F2D3A"/>
                </a:solidFill>
              </a:rPr>
              <a:t>tek bir uzunluk denetimi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Sınır dışı okuma da yazma kadar tehlikeli; üstelik </a:t>
            </a:r>
            <a:r>
              <a:rPr sz="2000" b="1">
                <a:solidFill>
                  <a:srgbClr val="1F2D3A"/>
                </a:solidFill>
              </a:rPr>
              <a:t>çökmez, iz bırakmaz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fazla hatası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ad[8];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i = 0; i &lt;= 8; i++)      /* 9 kez: ad[8] dışarıda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ad[i] = kaynak[i];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strncpy(ad, kaynak, sizeof ad);   /* kaynak &gt;= 8 → '\0' YOK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printf("%s\n", ad);               /* dizinin sonundan okumaya devam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1800" b="0">
                <a:solidFill>
                  <a:srgbClr val="1F2D3A"/>
                </a:solidFill>
              </a:rPr>
              <a:t> güvenli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değildir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 bayt taşma bile komşu değişkenin en düşük baytını değiştirir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Tehlikeli fonksiyonlar → yerine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6743"/>
                <a:gridCol w="749479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fgets(s, sizeof s, stdin)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C11'de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strcpy(d, 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denetimi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(glibc 2.38+)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strcat(d,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yeri hesapla;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sprintf(d,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snprintf(d, sizeof d, 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dönüş değeri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scanf("%15s",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memcpy(d, s,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&lt;= sizeof 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char a[n]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(VLA),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alloca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 üst sınır ya da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234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Tarif 3.3–3.4 bugün: </a:t>
            </a:r>
            <a:r>
              <a:rPr sz="18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strlcpy</a:t>
            </a:r>
            <a:r>
              <a:rPr sz="1800" b="0">
                <a:solidFill>
                  <a:srgbClr val="1F2D3A"/>
                </a:solidFill>
              </a:rPr>
              <a:t>, MSVC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strcpy_s</a:t>
            </a:r>
            <a:r>
              <a:rPr sz="1800" b="0">
                <a:solidFill>
                  <a:srgbClr val="1F2D3A"/>
                </a:solidFill>
              </a:rPr>
              <a:t>, C++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span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kalıp: önce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4518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selamla(const char *ad)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strnlen(ad, sizeof tampon);   /* en fazla 16 bayt oku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(n == sizeof tampon)                  /* uzunsa REDDET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memcpy(tampon, ad,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tampon[n] = '\0';                        /* sonlandırıcı her zaman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807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Neden kesmek yerine reddetmek?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/home/ayse/gizli_rapor.txt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C++: boyutu tür taşır — ama dikkat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std::string &amp;ad)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(ad.size() &gt; 15) throw std::invalid_argument("ad cok uzun");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std::cout &lt;&lt; "Merhaba " &lt;&lt; ad &lt;&lt; '\n';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vector::operator[]</a:t>
            </a:r>
            <a:r>
              <a:rPr sz="2000" b="0">
                <a:solidFill>
                  <a:srgbClr val="1F2D3A"/>
                </a:solidFill>
              </a:rPr>
              <a:t> sınır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at()</a:t>
            </a:r>
            <a:r>
              <a:rPr sz="2000" b="0">
                <a:solidFill>
                  <a:srgbClr val="1F2D3A"/>
                </a:solidFill>
              </a:rPr>
              <a:t> denetler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c_str()</a:t>
            </a:r>
            <a:r>
              <a:rPr sz="2000" b="0">
                <a:solidFill>
                  <a:srgbClr val="1F2D3A"/>
                </a:solidFill>
              </a:rPr>
              <a:t> ile alınan işaretçiye yazmak → C'nin bütün sorunları geri gelir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Taşmayı kim yakalar?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940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95"/>
                <a:gridCol w="7022275"/>
                <a:gridCol w="2052665"/>
              </a:tblGrid>
              <a:tr h="36758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denetimi, güvenli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 /sdl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libFuzzer, AFL++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(4. hafta)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/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DEP/NX, ASLR · Intel CET, ARM PAC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7631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Koruma sömürüyü </a:t>
            </a:r>
            <a:r>
              <a:rPr sz="1800" b="1">
                <a:solidFill>
                  <a:srgbClr val="1F2D3A"/>
                </a:solidFill>
              </a:rPr>
              <a:t>zorlaştırır</a:t>
            </a:r>
            <a:r>
              <a:rPr sz="1800" b="0">
                <a:solidFill>
                  <a:srgbClr val="1F2D3A"/>
                </a:solidFill>
              </a:rPr>
              <a:t>, hatayı </a:t>
            </a:r>
            <a:r>
              <a:rPr sz="1800" b="1">
                <a:solidFill>
                  <a:srgbClr val="1F2D3A"/>
                </a:solidFill>
              </a:rPr>
              <a:t>gidermez</a:t>
            </a:r>
            <a:r>
              <a:rPr sz="1800" b="0">
                <a:solidFill>
                  <a:srgbClr val="1F2D3A"/>
                </a:solidFill>
              </a:rPr>
              <a:t> — kanarya programı sonlandırır = hizmet engelleme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ASan raporunu okumak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ERROR: AddressSanitizer: stack-buffer-overflow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WRITE of size 21 at 0x7ffd... thread T0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#0 in strcpy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#1 in selamla  ornek.c:7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#2 in main     ornek.c:15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This frame has 1 object(s):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[32, 48) 'tampon' &lt;== Memory access at offset 48 overflows this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Ne?</a:t>
            </a:r>
            <a:r>
              <a:rPr sz="1800" b="0">
                <a:solidFill>
                  <a:srgbClr val="1F2D3A"/>
                </a:solidFill>
              </a:rPr>
              <a:t> yığın taşması, 21 bayt yazma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Nerede?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ornek.c:7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Hangi değişken?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1800" b="0">
                <a:solidFill>
                  <a:srgbClr val="1F2D3A"/>
                </a:solidFill>
              </a:rPr>
              <a:t> (16 bayt), erişim tam sınırın ötesinde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034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Yaklaşık 2× yavaş → yalnız </a:t>
            </a:r>
            <a:r>
              <a:rPr sz="1800" b="1">
                <a:solidFill>
                  <a:srgbClr val="1F2D3A"/>
                </a:solidFill>
              </a:rPr>
              <a:t>test</a:t>
            </a:r>
            <a:r>
              <a:rPr sz="1800" b="0">
                <a:solidFill>
                  <a:srgbClr val="1F2D3A"/>
                </a:solidFill>
              </a:rPr>
              <a:t> derlemesinde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Taşmayla yetki yükseltme (CWE-121)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9485"/>
                <a:gridCol w="5092049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17 karakterlik 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(korumasız)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YÖNETİCİ erişimi verildi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(ASan)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sessiz kaldı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taşma yapının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içinde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+ 40 karakter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stack-buffer-overflow yakalandı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giris_denetimli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_FORTIFY_SOURCE=2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program durduruldu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Reddedildi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İzin listesi: 1–15 karakter, harf/rakam/_/-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ad_gecerli_mi(const char *s)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size_t n = strnlen(s, 16);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 || n &gt;= 16)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unsigned char c = (unsigned char)s[i];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(!isalnum(c) &amp;&amp; c != '_' &amp;&amp; c != '-')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o = { .yonetici = 0 };           /* güvenli varsayılan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snprintf(o.ad, sizeof(o.ad), "%s", argv[1]);   /* boyutu bilen kopya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Canary, NX, ASLR (4. hafta) </a:t>
            </a:r>
            <a:r>
              <a:rPr sz="2000" b="1">
                <a:solidFill>
                  <a:srgbClr val="1F2D3A"/>
                </a:solidFill>
              </a:rPr>
              <a:t>sömürmeyi zorlaştırır, hatayı düzeltmez.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Tamsayılar: -1 ne zaman dev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 işaretli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işaretsiz · negatifler </a:t>
            </a:r>
            <a:r>
              <a:rPr sz="2000" b="1">
                <a:solidFill>
                  <a:srgbClr val="1F2D3A"/>
                </a:solidFill>
              </a:rPr>
              <a:t>ikiye tümleyen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  -1  =  0xFFFFFFFFFFFFFFFF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    =  18 446 744 073 709 551 615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16) return -1;   /* -1 bu denetimi GEÇER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memcpy(hedef, kaynak, uzunluk); /* int -&gt; size_t */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İşaretli uzunluk (CWE-195)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0  GCC -Wall -Wextra: sessiz · -Wsign-conversion: uyarı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MSVC (C): sessiz · aynı kod C++ olarak: C4365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 kopya 8     -&gt; Kopyalandi: ORNEK-KA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 kopya 100   -&gt;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kopya -1    -&gt; Linux: SIGSEGV (139) · Windows: 0xC0000409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ASan        -&gt; negative-size-param: (size=-1)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kopya_guvenli -1 / 12abc -&gt;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boyutlar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alt ve üst</a:t>
            </a:r>
            <a:r>
              <a:rPr sz="2000" b="0">
                <a:solidFill>
                  <a:srgbClr val="1F2D3A"/>
                </a:solidFill>
              </a:rPr>
              <a:t> sınır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· uyarıları </a:t>
            </a:r>
            <a:r>
              <a:rPr sz="2000" b="1">
                <a:solidFill>
                  <a:srgbClr val="1F2D3A"/>
                </a:solidFill>
              </a:rPr>
              <a:t>aç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Bellek yönetimi, bölümleme ve güvenli süreç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Dinamik belleğin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Ayır → doğrula → kullan → sırrı sil → bir kez serbest bırak → işaretçiyi unut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7128869"/>
                <a:gridCol w="1018409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Unutulursa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NULL döner, denetlenmez → çökme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 yazma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787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Sırrı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bir sonraki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'la başka koda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kez bırak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Çift serbest bırakma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İşaretçiyi unut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Serbest bırakıldıktan sonra kullanma (UAF)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Hiç bırakmamak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Sızıntı → hizmet engelleme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UAF: neden bu kadar tehlikeli?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*aktif = malloc(sizeof *aktif);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*onbellek = aktif;              /* ikinci sahip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free(aktif);  aktif = NULL;               /* onbellek hâlâ eski adreste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*not = malloc(sizeof(Kullanici));    /* aynı blok geri verilebilir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strcpy(not, "....");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(onbellek-&gt;yetki) { ... }              /* 'not'un baytlarını okuyor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free</a:t>
            </a:r>
            <a:r>
              <a:rPr sz="1800" b="0">
                <a:solidFill>
                  <a:srgbClr val="1F2D3A"/>
                </a:solidFill>
              </a:rPr>
              <a:t> belleği OS'e vermez, </a:t>
            </a:r>
            <a:r>
              <a:rPr sz="1800" b="1">
                <a:solidFill>
                  <a:srgbClr val="1F2D3A"/>
                </a:solidFill>
              </a:rPr>
              <a:t>boş listeye</a:t>
            </a:r>
            <a:r>
              <a:rPr sz="1800" b="0">
                <a:solidFill>
                  <a:srgbClr val="1F2D3A"/>
                </a:solidFill>
              </a:rPr>
              <a:t> koyar → aynı blok yeniden verilir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Sahiplik kuralı:</a:t>
            </a:r>
            <a:r>
              <a:rPr sz="1800" b="0">
                <a:solidFill>
                  <a:srgbClr val="1F2D3A"/>
                </a:solidFill>
              </a:rPr>
              <a:t> her bloğun </a:t>
            </a:r>
            <a:r>
              <a:rPr sz="1800" b="1">
                <a:solidFill>
                  <a:srgbClr val="1F2D3A"/>
                </a:solidFill>
              </a:rPr>
              <a:t>tek sahibi</a:t>
            </a:r>
            <a:r>
              <a:rPr sz="1800" b="0">
                <a:solidFill>
                  <a:srgbClr val="1F2D3A"/>
                </a:solidFill>
              </a:rPr>
              <a:t> var, yalnız o serbest bırakır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Düzeltilmiş kalıplar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*k = calloc(n, sizeof(Kayit));          /* çarpım taşmasını denetler + sıfırlar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(k == NULL) return HATA_BELLEK;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*yeni = reallocarray(k, n2, sizeof(Kayit));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(yeni == NULL) { free(k); return HATA_BELLEK; }   /* k'yi kaybetme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 = yeni;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 = realloc(tampon, n);</a:t>
            </a:r>
            <a:r>
              <a:rPr sz="1800" b="0">
                <a:solidFill>
                  <a:srgbClr val="1F2D3A"/>
                </a:solidFill>
              </a:rPr>
              <a:t> → başarısızsa eski blok kaybolur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Sır tutan tamponda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 → taşınan eski blok </a:t>
            </a:r>
            <a:r>
              <a:rPr sz="1800" b="1">
                <a:solidFill>
                  <a:srgbClr val="1F2D3A"/>
                </a:solidFill>
              </a:rPr>
              <a:t>sıfırlanmaz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Sırları silmek (Tarif 13.2)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546920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Linux, BSD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explicit_bzero(p,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SecureZeroMemory(p,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 / C23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memset_explicit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Hiçbiri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volatile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işaretçiyle bayt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Sırrın </a:t>
            </a:r>
            <a:r>
              <a:rPr sz="1800" b="1">
                <a:solidFill>
                  <a:srgbClr val="1F2D3A"/>
                </a:solidFill>
              </a:rPr>
              <a:t>gizli kopyaları:</a:t>
            </a:r>
            <a:r>
              <a:rPr sz="1800" b="0">
                <a:solidFill>
                  <a:srgbClr val="1F2D3A"/>
                </a:solidFill>
              </a:rPr>
              <a:t> değerle geçirilen yapılar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'un eski bloğu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 (SSO, silmeden yok olur) · G/Ç tamponları · takas ve hazırda bekletme dosyası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Diske düşmesin (Tarif 13.3) ve RAII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mlock(anahtar, sizeof anahtar);          /* Windows: VirtualLock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... kullan 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cen429_sil(anahtar, sizeof anahtar);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munlock(anahtar, sizeof anahtar);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class GizliAnahtar {                     /* yıkıcı otomatik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~GizliAnahtar() { cen429_sil(v_.data(), v_.size());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GizliAnahtar(const GizliAnahtar&amp;) = delete;   /* kopya = ikinci sır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5460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Kilitleme </a:t>
            </a:r>
            <a:r>
              <a:rPr sz="1800" b="1">
                <a:solidFill>
                  <a:srgbClr val="1F2D3A"/>
                </a:solidFill>
              </a:rPr>
              <a:t>sayfa</a:t>
            </a:r>
            <a:r>
              <a:rPr sz="1800" b="0">
                <a:solidFill>
                  <a:srgbClr val="1F2D3A"/>
                </a:solidFill>
              </a:rPr>
              <a:t> düzeyinde, miktar sınırlı → yalnız küçük anahtar bölgesi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Bellek hatası avcıları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7"/>
                <a:gridCol w="2995323"/>
                <a:gridCol w="502786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AddressSanitizer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(Linux)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Clang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Valgrind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(yavaş)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valgrind --leak-check=full ./prog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CRT hata ayıklama öbeği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_CrtSetDbgFlag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Değerlendirici:</a:t>
            </a:r>
            <a:r>
              <a:rPr sz="1800" b="0">
                <a:solidFill>
                  <a:srgbClr val="1F2D3A"/>
                </a:solidFill>
              </a:rPr>
              <a:t> işlem bittikten sonra döküm alır, test parolasını arar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kod bölümleme: TCB'yi küçült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Güvenilir hesaplama tabanı (TCB):</a:t>
            </a:r>
            <a:r>
              <a:rPr sz="2000" b="0">
                <a:solidFill>
                  <a:srgbClr val="1F2D3A"/>
                </a:solidFill>
              </a:rPr>
              <a:t> "hatalıysa güvenlik çöker" dediğimiz kodun tamamı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200.000 satırlık uygulama, 2.000 satırlık </a:t>
            </a:r>
            <a:r>
              <a:rPr sz="2000" b="1">
                <a:solidFill>
                  <a:srgbClr val="1F2D3A"/>
                </a:solidFill>
              </a:rPr>
              <a:t>korunan çekirdek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İnceleme, gizleme, bütünlük denetimi yalnız çekirdeğe → maliyet de yalnız orada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58744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[ Arayüz ] → [ İş mantığı ] ──yalnız tutamaç + şifreli veri──▶ [ Korunan çekirdek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                    kripto · anahtar · RASP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Bölümleme seçenekleri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6945"/>
                <a:gridCol w="1620525"/>
                <a:gridCol w="637406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Yalıtım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süreçte ayrı modül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uygulamasında native kütüphane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Tarayıcı kum havuzu, yetkili yardımcı süreç (Tarif 1.4)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Orta–yüksek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DPAPI, Anahtarlık,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eleman, TPM, TEE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Sunucuya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 hiç istemciye gitmez, HSM'de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En güçlüsü </a:t>
            </a:r>
            <a:r>
              <a:rPr sz="1800" b="1">
                <a:solidFill>
                  <a:srgbClr val="1F2D3A"/>
                </a:solidFill>
              </a:rPr>
              <a:t>sırrı istemciden kaldırmak</a:t>
            </a:r>
            <a:r>
              <a:rPr sz="1800" b="0">
                <a:solidFill>
                  <a:srgbClr val="1F2D3A"/>
                </a:solidFill>
              </a:rPr>
              <a:t>; olmazsa donanım; o da yoksa </a:t>
            </a:r>
            <a:r>
              <a:rPr sz="1800" b="1">
                <a:solidFill>
                  <a:srgbClr val="1F2D3A"/>
                </a:solidFill>
              </a:rPr>
              <a:t>yazılım koruması</a:t>
            </a:r>
            <a:r>
              <a:rPr sz="1800" b="0">
                <a:solidFill>
                  <a:srgbClr val="1F2D3A"/>
                </a:solidFill>
              </a:rPr>
              <a:t> (bu dersin konusu)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Arayüz: dar, doğrulanmış, sırsız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typedef struct KasaAnahtari KasaAnahtari;     /* opak tür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kasa_ac(const char *parola, size_t n, const unsigned char tuz[16],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KasaAnahtari **cikti);           /* parolayı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kasa_coz(KasaAnahtari *a, const unsigned char *sifreli, size_t n,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unsigned char *acik, size_t kapasite, size_t *yazilan);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kasa_kapat(KasaAnahtari *a);             /* anahtarı siler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Sırrı dışarı verme, iş yaptır</a:t>
            </a:r>
            <a:r>
              <a:rPr sz="1800" b="0">
                <a:solidFill>
                  <a:srgbClr val="1F2D3A"/>
                </a:solidFill>
              </a:rPr>
              <a:t> (tutamaç)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Sınırı geçen her şeyi </a:t>
            </a:r>
            <a:r>
              <a:rPr sz="1800" b="1">
                <a:solidFill>
                  <a:srgbClr val="1F2D3A"/>
                </a:solidFill>
              </a:rPr>
              <a:t>doğrula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Sınırdan </a:t>
            </a:r>
            <a:r>
              <a:rPr sz="1800" b="1">
                <a:solidFill>
                  <a:srgbClr val="1F2D3A"/>
                </a:solidFill>
              </a:rPr>
              <a:t>açık veri</a:t>
            </a:r>
            <a:r>
              <a:rPr sz="1800" b="0">
                <a:solidFill>
                  <a:srgbClr val="1F2D3A"/>
                </a:solidFill>
              </a:rPr>
              <a:t> geçirme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Kâhin ve kod kaldırma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Şifre çözme kâhini:</a:t>
            </a:r>
            <a:r>
              <a:rPr sz="1800" b="0">
                <a:solidFill>
                  <a:srgbClr val="1F2D3A"/>
                </a:solidFill>
              </a:rPr>
              <a:t> saldırgan </a:t>
            </a:r>
            <a:r>
              <a:rPr sz="1800" b="0">
                <a:solidFill>
                  <a:srgbClr val="A1123F"/>
                </a:solidFill>
                <a:latin typeface="Consolas"/>
              </a:rPr>
              <a:t>kasa_coz</a:t>
            </a:r>
            <a:r>
              <a:rPr sz="1800" b="0">
                <a:solidFill>
                  <a:srgbClr val="1F2D3A"/>
                </a:solidFill>
              </a:rPr>
              <a:t>'u kendi verisiyle çağırır — anahtara gerek yok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Kod kaldırma:</a:t>
            </a:r>
            <a:r>
              <a:rPr sz="1800" b="0">
                <a:solidFill>
                  <a:srgbClr val="1F2D3A"/>
                </a:solidFill>
              </a:rPr>
              <a:t> korunan fonksiyonu olduğu gibi kopyalayıp kara kutu gibi çalıştırır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12848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7830"/>
                <a:gridCol w="694370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Cihaza/örneğe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ortamda doğru sonuç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Eski/değiştirilmiş sürümde anahtar çözülmez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Bağlam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Çağıranın bütünlüğü ve akış sırası doğrulanır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statik anahtar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kopyanın kırılması diğerlerini etkilemez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Şifreleme ile güvenli işleme: açıklık penceresi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Kötü: [aç] ██████████████████████████████████ [kapat]   anahtar hep açık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İyi:  [aç] ░░░░░██░░░░░░░░██░░░░░░░░░░░██░░░░ [kapat]   yalnız işlem anında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0084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Tam zamanında çözme</a:t>
            </a:r>
            <a:r>
              <a:rPr sz="1800" b="0">
                <a:solidFill>
                  <a:srgbClr val="1F2D3A"/>
                </a:solidFill>
              </a:rPr>
              <a:t> → fonksiyon dönmeden sil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Örtme:</a:t>
            </a:r>
            <a:r>
              <a:rPr sz="1800" b="0">
                <a:solidFill>
                  <a:srgbClr val="1F2D3A"/>
                </a:solidFill>
              </a:rPr>
              <a:t> anahtar XOR rastgele maske — bellekte iki anlamsız parça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Parçalama:</a:t>
            </a:r>
            <a:r>
              <a:rPr sz="1800" b="0">
                <a:solidFill>
                  <a:srgbClr val="1F2D3A"/>
                </a:solidFill>
              </a:rPr>
              <a:t> farklı yerlerde, kullanımda 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Kod şifreleme:</a:t>
            </a:r>
            <a:r>
              <a:rPr sz="1800" b="0">
                <a:solidFill>
                  <a:srgbClr val="1F2D3A"/>
                </a:solidFill>
              </a:rPr>
              <a:t> fonksiyon kodu çalışma anında çözülür (4, 9. hafta)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Whitebox:</a:t>
            </a:r>
            <a:r>
              <a:rPr sz="1800" b="0">
                <a:solidFill>
                  <a:srgbClr val="1F2D3A"/>
                </a:solidFill>
              </a:rPr>
              <a:t> anahtar hiç açılmaz (11. hafta)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geliştirme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678"/>
                <a:gridCol w="7445518"/>
                <a:gridCol w="1155339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Etkinlik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Standartlardan güvenlik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modeli, koruma planı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kuralları, yasaklı fonksiyonlar, 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Sanitizer, fuzzing, 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İmzalı derleme,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benzersiz sürüm kimliği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Yanıt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bildirimi, acil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Microsoft SDL · NIST SSDF (SP 800-218)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Benzersiz sürüm kimliği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İncelenen ile dağıtılan aynı mı?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1.4.2</a:t>
            </a:r>
            <a:r>
              <a:rPr sz="1800" b="0">
                <a:solidFill>
                  <a:srgbClr val="1F2D3A"/>
                </a:solidFill>
              </a:rPr>
              <a:t> + git kimliği + ikili dosyanın SHA-256'sı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execute_process(COMMAND git rev-parse --short=12 HEAD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  OUTPUT_VARIABLE GIT_KIMLIK OUTPUT_STRIP_TRAILING_WHITESPACE)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target_compile_definitions(kasa PRIVATE SURUM="1.4.2" GIT_KIMLIK="${GIT_KIMLIK}")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367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Get-FileHash .kasa.exe -Algorithm SHA256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sha256sum ./kasa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34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Sahada sürüm, </a:t>
            </a:r>
            <a:r>
              <a:rPr sz="1800" b="1">
                <a:solidFill>
                  <a:srgbClr val="1F2D3A"/>
                </a:solidFill>
              </a:rPr>
              <a:t>anahtar türetmeye</a:t>
            </a:r>
            <a:r>
              <a:rPr sz="1800" b="0">
                <a:solidFill>
                  <a:srgbClr val="1F2D3A"/>
                </a:solidFill>
              </a:rPr>
              <a:t> de katılır → sürüm geri alma saldırısı çalışmaz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yönetimi: yedi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Temel çizgi → 2. Değişiklik talebi → 3. Sınıflandırma → 4. Onay ve planlama → 5. Geliştirme ve test → 6. Yayın → 7.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3 ile 4 arasında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hangi varlık, arayüz, tehdit,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değişen kısmın incelenmesi = </a:t>
            </a:r>
            <a:r>
              <a:rPr sz="2000" b="1">
                <a:solidFill>
                  <a:srgbClr val="1F2D3A"/>
                </a:solidFill>
              </a:rPr>
              <a:t>delta değerlendirme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Depo: korumalı dallar · en az bir gözden geçiren · imzalı etiket · MFA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Ödünleşim kaydı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833"/>
                <a:gridCol w="3209275"/>
                <a:gridCol w="3209275"/>
                <a:gridCol w="2282151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Seçilen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Sürümde günlükleme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makrosuyla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tamamen 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Susturulmuş kod dizge olarak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Sahada tanı zor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kodları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başarılı/başarısız (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opak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Ayrıntı saldırgana ipucu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tanı kanalı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"debuggable" bayrağı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Açık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(gerekçeli istisna)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denetimi kendi belleğini okumalı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algılama ile telafi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türetme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250 ms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 ↔ kaba kuvvet dengesi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zayıf parola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316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Yazılmamış ödünleşim = değerlendiricinin gözünde </a:t>
            </a:r>
            <a:r>
              <a:rPr sz="1800" b="1">
                <a:solidFill>
                  <a:srgbClr val="1F2D3A"/>
                </a:solidFill>
              </a:rPr>
              <a:t>hata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araç kutusu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50"/>
                <a:gridCol w="3997295"/>
                <a:gridCol w="367319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Linux / GCC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 / 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Şüpheli kod uyarıları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-Wsign-conversion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Kütüphanede boyut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-D_FORTIFY_SOURCE=2 -O2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gibi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işlevleri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hatasını yakalama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MiniDumpWriteDump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 -d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VS Ayrıştırılmış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Güvenle program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posix_spawn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mutlak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CreateProcessW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Proje ve kapanış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yapılacaklar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Takım</a:t>
            </a:r>
            <a:r>
              <a:rPr sz="2000" b="0">
                <a:solidFill>
                  <a:srgbClr val="1F2D3A"/>
                </a:solidFill>
              </a:rPr>
              <a:t> (bireysel ya da en çok 4 kişi) ve </a:t>
            </a:r>
            <a:r>
              <a:rPr sz="2000" b="1">
                <a:solidFill>
                  <a:srgbClr val="1F2D3A"/>
                </a:solidFill>
              </a:rPr>
              <a:t>konu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GitHub deposu + </a:t>
            </a:r>
            <a:r>
              <a:rPr sz="2000" b="1">
                <a:solidFill>
                  <a:srgbClr val="1F2D3A"/>
                </a:solidFill>
              </a:rPr>
              <a:t>proje planı</a:t>
            </a:r>
            <a:r>
              <a:rPr sz="2000" b="0">
                <a:solidFill>
                  <a:srgbClr val="1F2D3A"/>
                </a:solidFill>
              </a:rPr>
              <a:t> (iş paketleri, takvim) → onaylat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Güvenlik kılavuzu taslağı: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S0</a:t>
            </a:r>
            <a:r>
              <a:rPr sz="2000" b="0">
                <a:solidFill>
                  <a:srgbClr val="1F2D3A"/>
                </a:solidFill>
              </a:rPr>
              <a:t> kapak ve sürüm geçmişi · </a:t>
            </a:r>
            <a:r>
              <a:rPr sz="2000" b="1">
                <a:solidFill>
                  <a:srgbClr val="1F2D3A"/>
                </a:solidFill>
              </a:rPr>
              <a:t>S2</a:t>
            </a:r>
            <a:r>
              <a:rPr sz="2000" b="0">
                <a:solidFill>
                  <a:srgbClr val="1F2D3A"/>
                </a:solidFill>
              </a:rPr>
              <a:t> ürün genel bakışı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S3</a:t>
            </a:r>
            <a:r>
              <a:rPr sz="2000" b="0">
                <a:solidFill>
                  <a:srgbClr val="1F2D3A"/>
                </a:solidFill>
              </a:rPr>
              <a:t> mimari ve </a:t>
            </a:r>
            <a:r>
              <a:rPr sz="2000" b="1">
                <a:solidFill>
                  <a:srgbClr val="1F2D3A"/>
                </a:solidFill>
              </a:rPr>
              <a:t>arayüz tablosu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S4</a:t>
            </a:r>
            <a:r>
              <a:rPr sz="2000" b="0">
                <a:solidFill>
                  <a:srgbClr val="1F2D3A"/>
                </a:solidFill>
              </a:rPr>
              <a:t> saldırgan modeli · </a:t>
            </a:r>
            <a:r>
              <a:rPr sz="2000" b="1">
                <a:solidFill>
                  <a:srgbClr val="1F2D3A"/>
                </a:solidFill>
              </a:rPr>
              <a:t>STRIDE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başına çalış (not verilmez)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PATH tuzağı: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(Linux) / </a:t>
            </a:r>
            <a:r>
              <a:rPr sz="2000" b="0">
                <a:solidFill>
                  <a:srgbClr val="A1123F"/>
                </a:solidFill>
                <a:latin typeface="Consolas"/>
              </a:rPr>
              <a:t>whoami</a:t>
            </a:r>
            <a:r>
              <a:rPr sz="2000" b="0">
                <a:solidFill>
                  <a:srgbClr val="1F2D3A"/>
                </a:solidFill>
              </a:rPr>
              <a:t> (Windows) ile tekrarla, tam yolla düzelt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Demo 2'de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optimize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korumasiz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şimdi çalışıyor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Demo 3'te 16, 17, 18, 19, 20 karakter: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değerleri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 oturum</a:t>
            </a:r>
            <a:r>
              <a:rPr sz="2000" b="0">
                <a:solidFill>
                  <a:srgbClr val="1F2D3A"/>
                </a:solidFill>
              </a:rPr>
              <a:t>'a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bakiye</a:t>
            </a:r>
            <a:r>
              <a:rPr sz="2000" b="0">
                <a:solidFill>
                  <a:srgbClr val="1F2D3A"/>
                </a:solidFill>
              </a:rPr>
              <a:t> ekle: taşmayla 1000'in üstüne çıkar, sonra engelle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Kendi projenin STRIDE tablosu (≥ 8 tehdit + önlem)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Heartbleed raporunu oku: hangi denetim eksikti? Hangi CWE?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25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ve ipuçları: ders sitesi → Hafta 1 → "Kendi başına çalış"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506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Varlık, tehdit, zafiyet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Alıcı IBAN'ın yolda değişmesi CIA'nın hangisi?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Beyaz kutu saldırganı neyi farklı yapar?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STRIDE "E" hangi demo?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 / VEYA düğümü — savunma için hangisi iyi?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system("date")</a:t>
            </a:r>
            <a:r>
              <a:rPr sz="2000" b="0">
                <a:solidFill>
                  <a:srgbClr val="1F2D3A"/>
                </a:solidFill>
              </a:rPr>
              <a:t> neden tehlikeli? Üç düzeltme?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neden kayboldu?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ASan 17 karakteri neden yakalamadı?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9.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memcpy</a:t>
            </a:r>
            <a:r>
              <a:rPr sz="2000" b="0">
                <a:solidFill>
                  <a:srgbClr val="1F2D3A"/>
                </a:solidFill>
              </a:rPr>
              <a:t>'ye gidince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10. </a:t>
            </a:r>
            <a:r>
              <a:rPr sz="2000" b="0">
                <a:solidFill>
                  <a:srgbClr val="1F2D3A"/>
                </a:solidFill>
              </a:rPr>
              <a:t>Derinlemesine savunma — mobil ödeme mimarisinden örnek?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58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1. </a:t>
            </a:r>
            <a:r>
              <a:rPr sz="1700" b="1">
                <a:solidFill>
                  <a:srgbClr val="1F2D3A"/>
                </a:solidFill>
              </a:rPr>
              <a:t>Varlık</a:t>
            </a:r>
            <a:r>
              <a:rPr sz="1700" b="0">
                <a:solidFill>
                  <a:srgbClr val="1F2D3A"/>
                </a:solidFill>
              </a:rPr>
              <a:t> korunacak değerli şey; </a:t>
            </a:r>
            <a:r>
              <a:rPr sz="1700" b="1">
                <a:solidFill>
                  <a:srgbClr val="1F2D3A"/>
                </a:solidFill>
              </a:rPr>
              <a:t>tehdit</a:t>
            </a:r>
            <a:r>
              <a:rPr sz="1700" b="0">
                <a:solidFill>
                  <a:srgbClr val="1F2D3A"/>
                </a:solidFill>
              </a:rPr>
              <a:t> zarar verebilecek olası olay/aktör; </a:t>
            </a:r>
            <a:r>
              <a:rPr sz="1700" b="1">
                <a:solidFill>
                  <a:srgbClr val="1F2D3A"/>
                </a:solidFill>
              </a:rPr>
              <a:t>zafiyet</a:t>
            </a:r>
            <a:r>
              <a:rPr sz="1700" b="0">
                <a:solidFill>
                  <a:srgbClr val="1F2D3A"/>
                </a:solidFill>
              </a:rPr>
              <a:t> tehdidin kullanabileceği kusur.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2. </a:t>
            </a:r>
            <a:r>
              <a:rPr sz="1700" b="1">
                <a:solidFill>
                  <a:srgbClr val="1F2D3A"/>
                </a:solidFill>
              </a:rPr>
              <a:t>Bütünlük (Integrity)</a:t>
            </a:r>
            <a:r>
              <a:rPr sz="1700" b="0">
                <a:solidFill>
                  <a:srgbClr val="1F2D3A"/>
                </a:solidFill>
              </a:rPr>
              <a:t> — yoldaki IBAN'ın değişmesi veri bütünlüğü ihlalidir.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3. </a:t>
            </a:r>
            <a:r>
              <a:rPr sz="1700" b="1">
                <a:solidFill>
                  <a:srgbClr val="1F2D3A"/>
                </a:solidFill>
              </a:rPr>
              <a:t>Beyaz kutu (MATE)</a:t>
            </a:r>
            <a:r>
              <a:rPr sz="1700" b="0">
                <a:solidFill>
                  <a:srgbClr val="1F2D3A"/>
                </a:solidFill>
              </a:rPr>
              <a:t> programa </a:t>
            </a:r>
            <a:r>
              <a:rPr sz="1700" b="1">
                <a:solidFill>
                  <a:srgbClr val="1F2D3A"/>
                </a:solidFill>
              </a:rPr>
              <a:t>sahiptir</a:t>
            </a:r>
            <a:r>
              <a:rPr sz="1700" b="0">
                <a:solidFill>
                  <a:srgbClr val="1F2D3A"/>
                </a:solidFill>
              </a:rPr>
              <a:t> (belleği/anahtarı okur, kodu değiştirir); ağ saldırganı yalnız </a:t>
            </a:r>
            <a:r>
              <a:rPr sz="1700" b="1">
                <a:solidFill>
                  <a:srgbClr val="1F2D3A"/>
                </a:solidFill>
              </a:rPr>
              <a:t>dışarıdan</a:t>
            </a:r>
            <a:r>
              <a:rPr sz="17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4. </a:t>
            </a:r>
            <a:r>
              <a:rPr sz="1700" b="1">
                <a:solidFill>
                  <a:srgbClr val="1F2D3A"/>
                </a:solidFill>
              </a:rPr>
              <a:t>E = Elevation of Privilege</a:t>
            </a:r>
            <a:r>
              <a:rPr sz="1700" b="0">
                <a:solidFill>
                  <a:srgbClr val="1F2D3A"/>
                </a:solidFill>
              </a:rPr>
              <a:t> (yetki yükseltme) → ayrıcalık bırakma / </a:t>
            </a:r>
            <a:r>
              <a:rPr sz="17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1700" b="0">
                <a:solidFill>
                  <a:srgbClr val="1F2D3A"/>
                </a:solidFill>
              </a:rPr>
              <a:t> demosu.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5. </a:t>
            </a:r>
            <a:r>
              <a:rPr sz="1700" b="1">
                <a:solidFill>
                  <a:srgbClr val="1F2D3A"/>
                </a:solidFill>
              </a:rPr>
              <a:t>VE (AND)</a:t>
            </a:r>
            <a:r>
              <a:rPr sz="1700" b="0">
                <a:solidFill>
                  <a:srgbClr val="1F2D3A"/>
                </a:solidFill>
              </a:rPr>
              <a:t> savunmaya iyi: hedef tüm alt adımları ister, </a:t>
            </a:r>
            <a:r>
              <a:rPr sz="1700" b="1">
                <a:solidFill>
                  <a:srgbClr val="1F2D3A"/>
                </a:solidFill>
              </a:rPr>
              <a:t>birini</a:t>
            </a:r>
            <a:r>
              <a:rPr sz="1700" b="0">
                <a:solidFill>
                  <a:srgbClr val="1F2D3A"/>
                </a:solidFill>
              </a:rPr>
              <a:t> kesmek saldırıyı durdurur. VEYA saldırgana kolaylık.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6. </a:t>
            </a:r>
            <a:r>
              <a:rPr sz="1700" b="0">
                <a:solidFill>
                  <a:srgbClr val="A1123F"/>
                </a:solidFill>
                <a:latin typeface="Consolas"/>
              </a:rPr>
              <a:t>system</a:t>
            </a:r>
            <a:r>
              <a:rPr sz="1700" b="0">
                <a:solidFill>
                  <a:srgbClr val="1F2D3A"/>
                </a:solidFill>
              </a:rPr>
              <a:t> </a:t>
            </a:r>
            <a:r>
              <a:rPr sz="1700" b="1">
                <a:solidFill>
                  <a:srgbClr val="1F2D3A"/>
                </a:solidFill>
              </a:rPr>
              <a:t>kabuğu</a:t>
            </a:r>
            <a:r>
              <a:rPr sz="1700" b="0">
                <a:solidFill>
                  <a:srgbClr val="1F2D3A"/>
                </a:solidFill>
              </a:rPr>
              <a:t> yorumlar → komut enjeksiyonu/PATH ele geçirme. Düzelt: </a:t>
            </a:r>
            <a:r>
              <a:rPr sz="1700" b="0">
                <a:solidFill>
                  <a:srgbClr val="A1123F"/>
                </a:solidFill>
                <a:latin typeface="Consolas"/>
              </a:rPr>
              <a:t>execvp</a:t>
            </a:r>
            <a:r>
              <a:rPr sz="1700" b="0">
                <a:solidFill>
                  <a:srgbClr val="1F2D3A"/>
                </a:solidFill>
              </a:rPr>
              <a:t> ile </a:t>
            </a:r>
            <a:r>
              <a:rPr sz="1700" b="1">
                <a:solidFill>
                  <a:srgbClr val="1F2D3A"/>
                </a:solidFill>
              </a:rPr>
              <a:t>doğrudan</a:t>
            </a:r>
            <a:r>
              <a:rPr sz="1700" b="0">
                <a:solidFill>
                  <a:srgbClr val="1F2D3A"/>
                </a:solidFill>
              </a:rPr>
              <a:t> çağır (kabuksuz), </a:t>
            </a:r>
            <a:r>
              <a:rPr sz="1700" b="1">
                <a:solidFill>
                  <a:srgbClr val="1F2D3A"/>
                </a:solidFill>
              </a:rPr>
              <a:t>tam yol</a:t>
            </a:r>
            <a:r>
              <a:rPr sz="1700" b="0">
                <a:solidFill>
                  <a:srgbClr val="1F2D3A"/>
                </a:solidFill>
              </a:rPr>
              <a:t>, girdi allowlist.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7. </a:t>
            </a:r>
            <a:r>
              <a:rPr sz="1700" b="0">
                <a:solidFill>
                  <a:srgbClr val="1F2D3A"/>
                </a:solidFill>
              </a:rPr>
              <a:t>Derleyici </a:t>
            </a:r>
            <a:r>
              <a:rPr sz="1700" b="1">
                <a:solidFill>
                  <a:srgbClr val="1F2D3A"/>
                </a:solidFill>
              </a:rPr>
              <a:t>ölü mağaza</a:t>
            </a:r>
            <a:r>
              <a:rPr sz="1700" b="0">
                <a:solidFill>
                  <a:srgbClr val="1F2D3A"/>
                </a:solidFill>
              </a:rPr>
              <a:t> olarak sildi (sonra okunmuyor). </a:t>
            </a:r>
            <a:r>
              <a:rPr sz="17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explicit_bzero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volatile</a:t>
            </a:r>
            <a:r>
              <a:rPr sz="17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8. </a:t>
            </a:r>
            <a:r>
              <a:rPr sz="1700" b="0">
                <a:solidFill>
                  <a:srgbClr val="1F2D3A"/>
                </a:solidFill>
              </a:rPr>
              <a:t>Taşma </a:t>
            </a:r>
            <a:r>
              <a:rPr sz="1700" b="1">
                <a:solidFill>
                  <a:srgbClr val="1F2D3A"/>
                </a:solidFill>
              </a:rPr>
              <a:t>redzone</a:t>
            </a:r>
            <a:r>
              <a:rPr sz="1700" b="0">
                <a:solidFill>
                  <a:srgbClr val="1F2D3A"/>
                </a:solidFill>
              </a:rPr>
              <a:t>'a ulaşmadı / o kod yolu çalışmadı; ASan yalnız </a:t>
            </a:r>
            <a:r>
              <a:rPr sz="1700" b="1">
                <a:solidFill>
                  <a:srgbClr val="1F2D3A"/>
                </a:solidFill>
              </a:rPr>
              <a:t>enstrümante</a:t>
            </a:r>
            <a:r>
              <a:rPr sz="1700" b="0">
                <a:solidFill>
                  <a:srgbClr val="1F2D3A"/>
                </a:solidFill>
              </a:rPr>
              <a:t> bölgeyi görür.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9. </a:t>
            </a:r>
            <a:r>
              <a:rPr sz="1700" b="0">
                <a:solidFill>
                  <a:srgbClr val="A1123F"/>
                </a:solidFill>
                <a:latin typeface="Consolas"/>
              </a:rPr>
              <a:t>-1</a:t>
            </a:r>
            <a:r>
              <a:rPr sz="1700" b="0">
                <a:solidFill>
                  <a:srgbClr val="1F2D3A"/>
                </a:solidFill>
              </a:rPr>
              <a:t>, </a:t>
            </a:r>
            <a:r>
              <a:rPr sz="17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1700" b="0">
                <a:solidFill>
                  <a:srgbClr val="1F2D3A"/>
                </a:solidFill>
              </a:rPr>
              <a:t>'te </a:t>
            </a:r>
            <a:r>
              <a:rPr sz="1700" b="1">
                <a:solidFill>
                  <a:srgbClr val="1F2D3A"/>
                </a:solidFill>
              </a:rPr>
              <a:t>SIZE_MAX</a:t>
            </a:r>
            <a:r>
              <a:rPr sz="1700" b="0">
                <a:solidFill>
                  <a:srgbClr val="1F2D3A"/>
                </a:solidFill>
              </a:rPr>
              <a:t>'e döner → devasa kopya → taşma/çökme.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10. </a:t>
            </a:r>
            <a:r>
              <a:rPr sz="1700" b="0">
                <a:solidFill>
                  <a:srgbClr val="1F2D3A"/>
                </a:solidFill>
              </a:rPr>
              <a:t>Ödeme: TLS+pinning (aktarım) · AEAD (bekleme) · RASP/anti-debug · whitebox/HSM anahtar · sunucu denetimi — </a:t>
            </a:r>
            <a:r>
              <a:rPr sz="1700" b="1">
                <a:solidFill>
                  <a:srgbClr val="1F2D3A"/>
                </a:solidFill>
              </a:rPr>
              <a:t>katman</a:t>
            </a:r>
            <a:r>
              <a:rPr sz="17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Bir veri akışına neden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 sorulmaz?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Tehdide dört yanıt nedir? "Ortadan kaldırma"ya örnek verin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setuid programda neden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neden güvenli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değildir?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neden hiçbir şey çökmeden veri sızdırdı?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akışına </a:t>
            </a:r>
            <a:r>
              <a:rPr sz="2000" b="1">
                <a:solidFill>
                  <a:srgbClr val="1F2D3A"/>
                </a:solidFill>
              </a:rPr>
              <a:t>S sorulmaz</a:t>
            </a:r>
            <a:r>
              <a:rPr sz="2000" b="0">
                <a:solidFill>
                  <a:srgbClr val="1F2D3A"/>
                </a:solidFill>
              </a:rPr>
              <a:t>: akışın kimliği yoktur (sahtecilik uçlara/varlıklara sorulur).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Azalt · kaldır · aktar · kabul et.</a:t>
            </a:r>
            <a:r>
              <a:rPr sz="2000" b="0">
                <a:solidFill>
                  <a:srgbClr val="1F2D3A"/>
                </a:solidFill>
              </a:rPr>
              <a:t> "Kaldırma" örneği: "parolayı hatırla" özelliğini </a:t>
            </a:r>
            <a:r>
              <a:rPr sz="2000" b="1">
                <a:solidFill>
                  <a:srgbClr val="1F2D3A"/>
                </a:solidFill>
              </a:rPr>
              <a:t>hiç sunmamak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2000" b="0">
                <a:solidFill>
                  <a:srgbClr val="1F2D3A"/>
                </a:solidFill>
              </a:rPr>
              <a:t>'de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bırakılır; kullanıcı önce bırakılırsa grubu değiştirecek </a:t>
            </a:r>
            <a:r>
              <a:rPr sz="2000" b="1">
                <a:solidFill>
                  <a:srgbClr val="1F2D3A"/>
                </a:solidFill>
              </a:rPr>
              <a:t>yetki kalmaz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uzun kaynakta sonuna sonlandırıcı </a:t>
            </a:r>
            <a:r>
              <a:rPr sz="2000" b="1">
                <a:solidFill>
                  <a:srgbClr val="1F2D3A"/>
                </a:solidFill>
              </a:rPr>
              <a:t>koymaz</a:t>
            </a:r>
            <a:r>
              <a:rPr sz="2000" b="0">
                <a:solidFill>
                  <a:srgbClr val="1F2D3A"/>
                </a:solidFill>
              </a:rPr>
              <a:t> → sonlandırılmamış dize.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yalnız </a:t>
            </a:r>
            <a:r>
              <a:rPr sz="2000" b="1">
                <a:solidFill>
                  <a:srgbClr val="1F2D3A"/>
                </a:solidFill>
              </a:rPr>
              <a:t>okudu</a:t>
            </a:r>
            <a:r>
              <a:rPr sz="2000" b="0">
                <a:solidFill>
                  <a:srgbClr val="1F2D3A"/>
                </a:solidFill>
              </a:rPr>
              <a:t>; okunan bellek sürecin kendi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belleğiydi → çökmeden sızdı.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taşmayı fark edince ne yapar? Neden hâlâ sorun?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 = NULL;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"Şifre çözme kâhini" nedir? Bir karşı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 kimliğinin üç bileşeni?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bozulunca programı </a:t>
            </a:r>
            <a:r>
              <a:rPr sz="2000" b="1">
                <a:solidFill>
                  <a:srgbClr val="1F2D3A"/>
                </a:solidFill>
              </a:rPr>
              <a:t>sonlandırır</a:t>
            </a:r>
            <a:r>
              <a:rPr sz="2000" b="0">
                <a:solidFill>
                  <a:srgbClr val="1F2D3A"/>
                </a:solidFill>
              </a:rPr>
              <a:t> (hizmet reddi); bitişik değişkene taşmayı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p=NULL;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çift bırakma/UAF</a:t>
            </a:r>
            <a:r>
              <a:rPr sz="2000" b="0">
                <a:solidFill>
                  <a:srgbClr val="1F2D3A"/>
                </a:solidFill>
              </a:rPr>
              <a:t>'ı önler; </a:t>
            </a:r>
            <a:r>
              <a:rPr sz="2000" b="1">
                <a:solidFill>
                  <a:srgbClr val="1F2D3A"/>
                </a:solidFill>
              </a:rPr>
              <a:t>takma adları</a:t>
            </a:r>
            <a:r>
              <a:rPr sz="2000" b="0">
                <a:solidFill>
                  <a:srgbClr val="1F2D3A"/>
                </a:solidFill>
              </a:rPr>
              <a:t> (aynı adrese başka işaretçi) korumaz.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belleğin </a:t>
            </a:r>
            <a:r>
              <a:rPr sz="2000" b="1">
                <a:solidFill>
                  <a:srgbClr val="1F2D3A"/>
                </a:solidFill>
              </a:rPr>
              <a:t>takasa</a:t>
            </a:r>
            <a:r>
              <a:rPr sz="2000" b="0">
                <a:solidFill>
                  <a:srgbClr val="1F2D3A"/>
                </a:solidFill>
              </a:rPr>
              <a:t> yazılmasını önler; </a:t>
            </a:r>
            <a:r>
              <a:rPr sz="2000" b="1">
                <a:solidFill>
                  <a:srgbClr val="1F2D3A"/>
                </a:solidFill>
              </a:rPr>
              <a:t>okunmasını</a:t>
            </a:r>
            <a:r>
              <a:rPr sz="2000" b="0">
                <a:solidFill>
                  <a:srgbClr val="1F2D3A"/>
                </a:solidFill>
              </a:rPr>
              <a:t> ve silinmemiş sırrı önlemez.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Şifre çözme kâhini:</a:t>
            </a:r>
            <a:r>
              <a:rPr sz="2000" b="0">
                <a:solidFill>
                  <a:srgbClr val="1F2D3A"/>
                </a:solidFill>
              </a:rPr>
              <a:t> anahtarsız çözdürme imkânı. Karşı önlem: bağlam/bütünlük denetimi, çağrı sınırı, </a:t>
            </a:r>
            <a:r>
              <a:rPr sz="2000" b="1">
                <a:solidFill>
                  <a:srgbClr val="1F2D3A"/>
                </a:solidFill>
              </a:rPr>
              <a:t>cihaza bağlama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sürüm: </a:t>
            </a:r>
            <a:r>
              <a:rPr sz="2000" b="1">
                <a:solidFill>
                  <a:srgbClr val="1F2D3A"/>
                </a:solidFill>
              </a:rPr>
              <a:t>anlamsal sürüm + git kimliği + ikili SHA-256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2 — Bilgisayar Virüsleri ve Güvenlik Modelleri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Kötü yazılım türleri · Bell–LaPadula, Biba, Clark–Wilson · CWE, OWASP,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374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1, 3, 12.1, 13.2–13.3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STRIDE'ı adım adım uygulamak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bankacılık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girişi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bakiye görüntüleme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 transferi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STRIDE harfini bu sisteme uygulayalım.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 · Spoofing (sahtecilik)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başkası gibi davranmak (sahte kullanıcı/sunucu).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sahte sunucu, çalınan oturum.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güçlü kimlik doğrulama, TLS + sertifika denetimi.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 · Tampering (kurcalama)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veriyi/kodu izinsiz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transfer tutarını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bütünlük (MAC/imza), bütünlük denetimi (RASP).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 · Repudiation (inkâr)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yaptığını inkâr 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"ben o transferi yapmadım".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güvenli günlük, imza, denetim izi.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 · Information disclosure (bilgi sızması)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gizli verinin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bakiye/parola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şifreleme, en az yetki, sızıntısız hata iletisi.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 · Denial of service (hizmet reddi)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hizmeti kullanılamaz kılmak.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aşırı istek, kaynak tüketimi.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hız sınırı, kaynak kotaları, girdi sınırı.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 · Elevation of privilege (yetki yükseltme)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izinsiz yetki kazanmak.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normal kullanıcı yönetici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en az yetki, yetki denetimi, güvenli varsayılan.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 · özet uygulama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4910190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 sistemde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MAC/imza +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Şifreleme + en az yetki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Saldırı ağacı adım adım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hedef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HEDEF: Ödeme anahtarını ele geçir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nihai amacı. Şimdi yolları bölelim.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Dallar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Ödeme anahtarını ele geçir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Bellekten oku (çalışırken)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İkiliden çıkar (statik)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 Sunucudan sız (ağ)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Alt dallar · bellekten oku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Bellekten oku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Debugger bağla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Bellek dökümü al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 Hook ile yakala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yaprak bir saldırı adımı.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önceliklendirme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</a:t>
            </a:r>
            <a:r>
              <a:rPr sz="2000" b="1">
                <a:solidFill>
                  <a:srgbClr val="1F2D3A"/>
                </a:solidFill>
              </a:rPr>
              <a:t>kolay</a:t>
            </a:r>
            <a:r>
              <a:rPr sz="2000" b="0">
                <a:solidFill>
                  <a:srgbClr val="1F2D3A"/>
                </a:solidFill>
              </a:rPr>
              <a:t> yaprak en büyük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onu kapat (ör. RASP + kısa ömür).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Ağaç, savunma önceliğini gösterir.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önleme eşleme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Debugger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Anti-debug (6)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koruma (6, 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İkiliden çıkar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+ whitebox (9, 11)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Ağdan 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 (10)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Güvenli tasarım ilkeleri derinleşme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az yetki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bileşen yalnız gerekeni yapabilsin.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Fazla yetki = büyük saldırı yüzeyi.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varsayılan (fail-safe)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şey ters giderse </a:t>
            </a:r>
            <a:r>
              <a:rPr sz="2000" b="1">
                <a:solidFill>
                  <a:srgbClr val="1F2D3A"/>
                </a:solidFill>
              </a:rPr>
              <a:t>güvenli</a:t>
            </a:r>
            <a:r>
              <a:rPr sz="2000" b="0">
                <a:solidFill>
                  <a:srgbClr val="1F2D3A"/>
                </a:solidFill>
              </a:rPr>
              <a:t> tarafa düş.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→ erişim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 (fail-closed).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Varsayılan: kapalı, kısıtlı.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Ekonomi ve açık tasarım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Ekonomi:</a:t>
            </a:r>
            <a:r>
              <a:rPr sz="2000" b="0">
                <a:solidFill>
                  <a:srgbClr val="1F2D3A"/>
                </a:solidFill>
              </a:rPr>
              <a:t> basit tasarım, az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tasarım:</a:t>
            </a:r>
            <a:r>
              <a:rPr sz="2000" b="0">
                <a:solidFill>
                  <a:srgbClr val="1F2D3A"/>
                </a:solidFill>
              </a:rPr>
              <a:t> güvenlik gizliliğe değil, </a:t>
            </a:r>
            <a:r>
              <a:rPr sz="2000" b="1">
                <a:solidFill>
                  <a:srgbClr val="1F2D3A"/>
                </a:solidFill>
              </a:rPr>
              <a:t>anahtara</a:t>
            </a:r>
            <a:r>
              <a:rPr sz="2000" b="0">
                <a:solidFill>
                  <a:srgbClr val="1F2D3A"/>
                </a:solidFill>
              </a:rPr>
              <a:t> dayanır (Kerckhoffs).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Karmaşıklık düşmandır.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aracılık ve ayrık ayrıcalık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 aracılık:</a:t>
            </a:r>
            <a:r>
              <a:rPr sz="2000" b="0">
                <a:solidFill>
                  <a:srgbClr val="1F2D3A"/>
                </a:solidFill>
              </a:rPr>
              <a:t> her erişim denetlenir (önbelleğe güvenip atlama).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Ayrık ayrıcalık:</a:t>
            </a:r>
            <a:r>
              <a:rPr sz="2000" b="0">
                <a:solidFill>
                  <a:srgbClr val="1F2D3A"/>
                </a:solidFill>
              </a:rPr>
              <a:t> kritik işlem için birden çok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Derinlemesine savunmanın temeli.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İlkeler → bu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ilkeler dönem boyunca her haftada tekrar edecek.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Kod, kripto, RASP, gereksinimler — hepsi bunlara dayanır.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İlkeler değişmez; teknikler değişir.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her öğeye altı soru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ağacı hedefi yollara böler, önceliklendirir.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Tasarım ilkeleri her kararın pusulası.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sonra </a:t>
            </a:r>
            <a:r>
              <a:rPr sz="2000" b="1">
                <a:solidFill>
                  <a:srgbClr val="1F2D3A"/>
                </a:solidFill>
              </a:rPr>
              <a:t>katmanla</a:t>
            </a:r>
            <a:r>
              <a:rPr sz="2000" b="0">
                <a:solidFill>
                  <a:srgbClr val="1F2D3A"/>
                </a:solidFill>
              </a:rPr>
              <a:t> koru.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CIA üçlüsünü bir örnekle açıklayın.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Gizlilik: parola yalnız sahibince görülür. Bütünlük: banka bakiyesi izinsiz değişmez. Erişilebilirlik: uygulama gerektiğinde çalışır.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Hata ile zafiyet arasındaki fark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zafiyet bir hatadır ama her hata zafiyet değildir. Zafiyet, bir saldırganın </a:t>
            </a:r>
            <a:r>
              <a:rPr sz="2000" b="1">
                <a:solidFill>
                  <a:srgbClr val="1F2D3A"/>
                </a:solidFill>
              </a:rPr>
              <a:t>kötüye kullanabileceği</a:t>
            </a:r>
            <a:r>
              <a:rPr sz="2000" b="0">
                <a:solidFill>
                  <a:srgbClr val="1F2D3A"/>
                </a:solidFill>
              </a:rPr>
              <a:t> hatadır.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MATE (beyaz kutu) saldırgan ağ saldırganından nasıl ayrılır?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MATE programa sahiptir: kodu okur, belleği görür, değiştirir. Ağ saldırganı yalnız dışarıdan bağlanır.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STRIDE neyi sağlar?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Tehditleri altı sınıfta sistemli aramayı: sahtecilik, kurcalama, inkâr, bilgi sızması, hizmet reddi, yetki yükseltme.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ağacı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saldırı hedefini alt adımlara böler; en kolay/olası yolu ve önceliklendirmeyi gösterir.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Neden tek bir önlem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önlem aşılabilir; katmanlı savunmada biri aşılsa diğeri durdurur. Güç birliktelikten gelir.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"Gizleme doğru kodun yerine geçer mi?"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Gizleme okumayı zorlaştırır ama hatayı düzeltmez. Önce güvenli kod, sonra gizleme.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az yetki ilkesi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bileşen yalnız </a:t>
            </a:r>
            <a:r>
              <a:rPr sz="2000" b="1">
                <a:solidFill>
                  <a:srgbClr val="1F2D3A"/>
                </a:solidFill>
              </a:rPr>
              <a:t>gereken</a:t>
            </a:r>
            <a:r>
              <a:rPr sz="2000" b="0">
                <a:solidFill>
                  <a:srgbClr val="1F2D3A"/>
                </a:solidFill>
              </a:rPr>
              <a:t> yetkiye sahip olmalı; fazlası saldırı yüzeyini büyütür.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güven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Güvenilen ve güvenilmeyen bölgelerin ayrıldığı yer; girdi doğrulama en erken burada yapılır.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 neden yazılır?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Hiçbir sistem %100 güvenli değildir; bilinen ve kabul edilen riskler açıkça belgelenir.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İşlenmiş mini tehdit modeli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Ürün · sentetik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"parola kasası"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parolaları yerelde saklar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parolayla açılır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Hızlı bir tehdit modeli yapalım.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varlıklar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Saklanan parolalar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anahtarı (C/I)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tehditler (STRIDE)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(bilgi sızması): cihaz çalınırsa parolalar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 (kurcalama): kasa dosyası değiştirilir.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 (yetki): kök cihazda belleğe erişim.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önlemler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 AEAD ile şifreli (I → 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paroladan KDF ile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etiketi (T).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ömürlü bellek + RASP (E).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ana parola girilirken bellekte açık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hızlı silme, cihaz bağlama.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Gizlilik/bütünlük/erişilebilirlik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Altı tehdit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ağacı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Hedefi alt adımlara bölme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 diyagramı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Katmanlı 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önlem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S2–S5:</a:t>
            </a:r>
            <a:r>
              <a:rPr sz="2000" b="0">
                <a:solidFill>
                  <a:srgbClr val="1F2D3A"/>
                </a:solidFill>
              </a:rPr>
              <a:t> ürün, mimari, varlık listesi, tehdit modeli.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S1:</a:t>
            </a:r>
            <a:r>
              <a:rPr sz="2000" b="0">
                <a:solidFill>
                  <a:srgbClr val="1F2D3A"/>
                </a:solidFill>
              </a:rPr>
              <a:t> kapsam, kaynaklar.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C/I/I+ ile etiketli; her tehdide bir önlem.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"his" değil, </a:t>
            </a:r>
            <a:r>
              <a:rPr sz="2000" b="1">
                <a:solidFill>
                  <a:srgbClr val="1F2D3A"/>
                </a:solidFill>
              </a:rPr>
              <a:t>süreçtir</a:t>
            </a:r>
            <a:r>
              <a:rPr sz="2000" b="0">
                <a:solidFill>
                  <a:srgbClr val="1F2D3A"/>
                </a:solidFill>
              </a:rPr>
              <a:t>: varlığı tanı, tehdidi modelle, katmanla koru, kalan riski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çerçeveyi dönem boyunca kullanacağız.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 — Güvenli Programlamaya Giriş ve Uygulama Koruma Planı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