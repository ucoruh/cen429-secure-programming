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Encrypt-then-MAC — şema</a:t>
            </a:r>
          </a:p>
        </p:txBody>
      </p:sp>
      <p:pic>
        <p:nvPicPr>
          <p:cNvPr id="7" name="Picture 6" descr="h10-01-encrypt-then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ve MITM — şema</a:t>
            </a:r>
          </a:p>
        </p:txBody>
      </p:sp>
      <p:pic>
        <p:nvPicPr>
          <p:cNvPr id="7" name="Picture 6" descr="h10-02-dh-mi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38681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pic>
        <p:nvPicPr>
          <p:cNvPr id="7" name="Picture 6" descr="h10-13-en-zayif-hal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65027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/ PSS — şema</a:t>
            </a:r>
          </a:p>
        </p:txBody>
      </p:sp>
      <p:pic>
        <p:nvPicPr>
          <p:cNvPr id="7" name="Picture 6" descr="h10-09-oaep-p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neden kötü — şema</a:t>
            </a:r>
          </a:p>
        </p:txBody>
      </p:sp>
      <p:pic>
        <p:nvPicPr>
          <p:cNvPr id="7" name="Picture 6" descr="h10-06-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PKCS#7 dolgusu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13 baytlık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"MERHABA DUNYA"</a:t>
            </a:r>
            <a:r>
              <a:rPr sz="2000" b="0">
                <a:solidFill>
                  <a:srgbClr val="1F2D3A"/>
                </a:solidFill>
              </a:rPr>
              <a:t> metnini AES-128-CBC ile şifreleyelim (K, IV yalnız gösterim için sabit):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 'MERHABA DUNYA' | openssl enc -aes-128-cbc -K "$K" -iv "$IV" -out cikti.bin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xxd -p cikti.bin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7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Çıktı </a:t>
            </a:r>
            <a:r>
              <a:rPr sz="2000" b="1">
                <a:solidFill>
                  <a:srgbClr val="1F2D3A"/>
                </a:solidFill>
              </a:rPr>
              <a:t>16 bayt</a:t>
            </a:r>
            <a:r>
              <a:rPr sz="2000" b="0">
                <a:solidFill>
                  <a:srgbClr val="1F2D3A"/>
                </a:solidFill>
              </a:rPr>
              <a:t> (32 hex karakter) — girdi 13 bayttı, demek ki </a:t>
            </a:r>
            <a:r>
              <a:rPr sz="2000" b="1">
                <a:solidFill>
                  <a:srgbClr val="1F2D3A"/>
                </a:solidFill>
              </a:rPr>
              <a:t>3 bayt dolgu</a:t>
            </a:r>
            <a:r>
              <a:rPr sz="2000" b="0">
                <a:solidFill>
                  <a:srgbClr val="1F2D3A"/>
                </a:solidFill>
              </a:rPr>
              <a:t> eklendi.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PKCS#7 dolgusu · çıktı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-nopad</a:t>
            </a:r>
            <a:r>
              <a:rPr sz="2000" b="0">
                <a:solidFill>
                  <a:srgbClr val="1F2D3A"/>
                </a:solidFill>
              </a:rPr>
              <a:t> ile dolgunun içeriğini görelim (yalnız öğretici amaçla):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4d45 5248 4142 4120 4455 4e59 4103 0303  MERHABA DUNYA...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 üç bayt </a:t>
            </a:r>
            <a:r>
              <a:rPr sz="2000" b="1">
                <a:solidFill>
                  <a:srgbClr val="1F2D3A"/>
                </a:solidFill>
              </a:rPr>
              <a:t>`03 03 03`</a:t>
            </a:r>
            <a:r>
              <a:rPr sz="2000" b="0">
                <a:solidFill>
                  <a:srgbClr val="1F2D3A"/>
                </a:solidFill>
              </a:rPr>
              <a:t>: eksik bayt sayısı (16 − 13 = 3) kadar, o sayı değerinde bayt eklenmiş — tam olarak PKCS#7 kuralı. Normal </a:t>
            </a:r>
            <a:r>
              <a:rPr sz="2000" b="0">
                <a:solidFill>
                  <a:srgbClr val="A1123F"/>
                </a:solidFill>
                <a:latin typeface="Consolas"/>
              </a:rPr>
              <a:t>openssl enc -d</a:t>
            </a:r>
            <a:r>
              <a:rPr sz="2000" b="0">
                <a:solidFill>
                  <a:srgbClr val="1F2D3A"/>
                </a:solidFill>
              </a:rPr>
              <a:t> bu baytları otomatik okuyup atar.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 tekrarı — şema</a:t>
            </a:r>
          </a:p>
        </p:txBody>
      </p:sp>
      <p:pic>
        <p:nvPicPr>
          <p:cNvPr id="7" name="Picture 6" descr="h10-07-nonce-tek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 neden — şema</a:t>
            </a:r>
          </a:p>
        </p:txBody>
      </p:sp>
      <p:pic>
        <p:nvPicPr>
          <p:cNvPr id="7" name="Picture 6" descr="h10-08-h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HMAC-SHA-256 · gerçek çıktı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ödeme talimatının HMAC'ini hesaplayalım (32 baytlık anahtar, yalnız gösterim için sabit):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 'tutar=100;alici=TR00' |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openssl dgst -sha256 -mac HMAC -macopt hexkey:$ANAHTAR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67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SHA2-256(stdin)= a08fb115...c5f9a1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HMAC-SHA-256 · çığ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anahtarla, yalnız tutarı değiştirelim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100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900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SHA2-256(stdin)= 8a786eac...91a46be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karakterlik değişiklik (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→</a:t>
            </a:r>
            <a:r>
              <a:rPr sz="2000" b="0">
                <a:solidFill>
                  <a:srgbClr val="A1123F"/>
                </a:solidFill>
                <a:latin typeface="Consolas"/>
              </a:rPr>
              <a:t>9</a:t>
            </a:r>
            <a:r>
              <a:rPr sz="2000" b="0">
                <a:solidFill>
                  <a:srgbClr val="1F2D3A"/>
                </a:solidFill>
              </a:rPr>
              <a:t>), etiketin </a:t>
            </a:r>
            <a:r>
              <a:rPr sz="2000" b="1">
                <a:solidFill>
                  <a:srgbClr val="1F2D3A"/>
                </a:solidFill>
              </a:rPr>
              <a:t>tamamen farklı</a:t>
            </a:r>
            <a:r>
              <a:rPr sz="2000" b="0">
                <a:solidFill>
                  <a:srgbClr val="1F2D3A"/>
                </a:solidFill>
              </a:rPr>
              <a:t> çıkmasına yol açtı — buna </a:t>
            </a:r>
            <a:r>
              <a:rPr sz="2000" b="1">
                <a:solidFill>
                  <a:srgbClr val="1F2D3A"/>
                </a:solidFill>
              </a:rPr>
              <a:t>çığ etkisi</a:t>
            </a:r>
            <a:r>
              <a:rPr sz="2000" b="0">
                <a:solidFill>
                  <a:srgbClr val="1F2D3A"/>
                </a:solidFill>
              </a:rPr>
              <a:t> (avalanche effect) denir. Saldırgan anahtarı bilmeden geçerli bir yeni etiket üretemez; alıcı uyuşmazlığı yakalar.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YANLIS: ilk farkta durur, sure farki sizdirir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(memcmp(hesaplanan, gelen, 32) == 0) { /* kabul */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DOGRU: her zaman 32 baytin tamamini gezer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(CRYPTO_memcmp(hesaplanan, gelen, 32) == 0) { /* kabul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MAC/imza/parola özeti gibi gizli değerleri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sabit zamanlı karşılaştırın;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==</a:t>
            </a:r>
            <a:r>
              <a:rPr sz="2000" b="0">
                <a:solidFill>
                  <a:srgbClr val="1F2D3A"/>
                </a:solidFill>
              </a:rPr>
              <a:t> bir zamanlama saldırısına açık kapı bırakır.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MAC/HMAC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Bütünlüğü </a:t>
            </a:r>
            <a:r>
              <a:rPr sz="2000" b="1">
                <a:solidFill>
                  <a:srgbClr val="1F2D3A"/>
                </a:solidFill>
              </a:rPr>
              <a:t>HMAC</a:t>
            </a:r>
            <a:r>
              <a:rPr sz="2000" b="0">
                <a:solidFill>
                  <a:srgbClr val="1F2D3A"/>
                </a:solidFill>
              </a:rPr>
              <a:t> ile sağlayın;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H(K‖m)</a:t>
            </a:r>
            <a:r>
              <a:rPr sz="2000" b="0">
                <a:solidFill>
                  <a:srgbClr val="1F2D3A"/>
                </a:solidFill>
              </a:rPr>
              <a:t> değil (uzunluk uzatma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+ MAC birleşiminde sıra </a:t>
            </a:r>
            <a:r>
              <a:rPr sz="2000" b="1">
                <a:solidFill>
                  <a:srgbClr val="1F2D3A"/>
                </a:solidFill>
              </a:rPr>
              <a:t>şifrele-sonra-MAC</a:t>
            </a:r>
            <a:r>
              <a:rPr sz="2000" b="0">
                <a:solidFill>
                  <a:srgbClr val="1F2D3A"/>
                </a:solidFill>
              </a:rPr>
              <a:t>'tir.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Etiket/imza karşılaştırması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olmalı; erken çıkışlı fonksiyon kullanmayın.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↔ asimetrik — şema</a:t>
            </a:r>
          </a:p>
        </p:txBody>
      </p:sp>
      <p:pic>
        <p:nvPicPr>
          <p:cNvPr id="7" name="Picture 6" descr="h10-05-simetrik-asimet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OAEP'in rastgeleliği · komut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mesajı iki kez OAEP ile şifreleyelim: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-encrypt -pubin -inkey rsa_acik.pem -in kisa.txt -out c1.bin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-pkeyopt rsa_padding_mode:oaep -pkeyopt rsa_oaep_md:sha256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-encrypt -pubin -inkey rsa_acik.pem -in kisa.txt -out c2.bin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-pkeyopt rsa_padding_mode:oaep -pkeyopt rsa_oaep_md:sha256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cmp c1.bin c2.bin &amp;&amp; echo AYNI || echo FARKLI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OAEP'in rastgeleliği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c1.bin c2.bin differ: char 1, line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FARKLI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anahtar, aynı düz metin, ama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şifreli metin — OAEP her şifrelemede yeni bir rastgele değer karıştırır. </a:t>
            </a:r>
            <a:r>
              <a:rPr sz="2000" b="1">
                <a:solidFill>
                  <a:srgbClr val="1F2D3A"/>
                </a:solidFill>
              </a:rPr>
              <a:t>Ham RSA</a:t>
            </a:r>
            <a:r>
              <a:rPr sz="2000" b="0">
                <a:solidFill>
                  <a:srgbClr val="1F2D3A"/>
                </a:solidFill>
              </a:rPr>
              <a:t> (dolgusuz) deterministiktir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c = m^e mod n</a:t>
            </a:r>
            <a:r>
              <a:rPr sz="2000" b="0">
                <a:solidFill>
                  <a:srgbClr val="1F2D3A"/>
                </a:solidFill>
              </a:rPr>
              <a:t>); bu yüzden hiçbir zaman doğrudan şifreleme için kullanılmaz.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RSA-3072 ile Ed25519 · ölçüm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ikisi de ~128 bit güvenlik düzeyinde (bkz. Bölüm 1 tablosu):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rsa_acik.pem ed_acik.pem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belge.rsa.sig belge.ed.sig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RSA-3072 ile Ed25519 · sonuç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8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2182306"/>
                <a:gridCol w="218230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Dosya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RSA-3072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anahtar (PEM)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636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116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384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Açık anahtar </a:t>
            </a:r>
            <a:r>
              <a:rPr sz="2000" b="1">
                <a:solidFill>
                  <a:srgbClr val="1F2D3A"/>
                </a:solidFill>
              </a:rPr>
              <a:t>~5,5 kat</a:t>
            </a:r>
            <a:r>
              <a:rPr sz="2000" b="0">
                <a:solidFill>
                  <a:srgbClr val="1F2D3A"/>
                </a:solidFill>
              </a:rPr>
              <a:t>, imza </a:t>
            </a:r>
            <a:r>
              <a:rPr sz="2000" b="1">
                <a:solidFill>
                  <a:srgbClr val="1F2D3A"/>
                </a:solidFill>
              </a:rPr>
              <a:t>6 kat</a:t>
            </a:r>
            <a:r>
              <a:rPr sz="2000" b="0">
                <a:solidFill>
                  <a:srgbClr val="1F2D3A"/>
                </a:solidFill>
              </a:rPr>
              <a:t> küçük. IoT/mobil el sıkışmalarında, gömülü flash'ta ya da blok zincirinde bu fark birikerek büyür.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 — şema</a:t>
            </a:r>
          </a:p>
        </p:txBody>
      </p:sp>
      <p:pic>
        <p:nvPicPr>
          <p:cNvPr id="7" name="Picture 6" descr="h10-10-im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X25519 · iki tarafın aynı sırra ulaşması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X25519 -out alice.key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X25519 -out bob.key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 -in alice.key -pubout -out alice.pub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 -in bob.key -pubout -out bob.pub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-derive -inkey alice.key -peerkey bob.pub -out alice_sir.bin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-derive -inkey bob.key -peerkey alice.pub -out bob_sir.bin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X25519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8c53744a000c1a6f...bbc1376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8c53744a000c1a6f...bbc1376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AYNI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Alice ve Bob, birbirinin </a:t>
            </a:r>
            <a:r>
              <a:rPr sz="2000" b="1">
                <a:solidFill>
                  <a:srgbClr val="1F2D3A"/>
                </a:solidFill>
              </a:rPr>
              <a:t>hiç görmediği</a:t>
            </a:r>
            <a:r>
              <a:rPr sz="2000" b="0">
                <a:solidFill>
                  <a:srgbClr val="1F2D3A"/>
                </a:solidFill>
              </a:rPr>
              <a:t> özel anahtarını bilmeden, ağdan yalnız açık anahtarları geçirerek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32 baytlık sırra ulaştı. Bu ham sır doğrudan AES anahtarı olarak kullanılmaz; önce bir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'den (HKDF) geçirilip oturum anahtarları türetilir.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pic>
        <p:nvPicPr>
          <p:cNvPr id="7" name="Picture 6" descr="h10-03-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 doğrulama — şema</a:t>
            </a:r>
          </a:p>
        </p:txBody>
      </p:sp>
      <p:pic>
        <p:nvPicPr>
          <p:cNvPr id="7" name="Picture 6" descr="h10-12-zincir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X.509 alanları — şema</a:t>
            </a:r>
          </a:p>
        </p:txBody>
      </p:sp>
      <p:pic>
        <p:nvPicPr>
          <p:cNvPr id="7" name="Picture 6" descr="h10-11-x5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sertifika · üst alanlar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Version: 3 (0x2)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Serial Number: 35:e2:f6:8d:...:76:e7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Signature Algorithm: ecdsa-with-SHA256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Issuer: CN=CEN429 Lab Ara CA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Validity: Sep 23 2026 – Dec 22 2026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Subject: CN=localhost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Subject Public Key Info: 256 bit, NIST CURVE: P-256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openssl x509 -text</a:t>
            </a:r>
            <a:r>
              <a:rPr sz="1800" b="0">
                <a:solidFill>
                  <a:srgbClr val="1F2D3A"/>
                </a:solidFill>
              </a:rPr>
              <a:t> çıktısı; her alan "dört soru"dan (bir sonraki bölüm) birinin cevabını taşır.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sertifika · uzantılar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Basic Constraints: CA:FALSE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Key Usage: critical, Digital Signature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Extended Key Usage: TLS Web Server Authentication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Subject Alternative Name: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DNS:localhost, IP Address:127.0.0.1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X509v3 Authority Key Identifier: F5:BA:39:86:...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Authority Key Identifier</a:t>
            </a:r>
            <a:r>
              <a:rPr sz="1800" b="0">
                <a:solidFill>
                  <a:srgbClr val="1F2D3A"/>
                </a:solidFill>
              </a:rPr>
              <a:t>, sertifikayı imzalayan CA'nın </a:t>
            </a:r>
            <a:r>
              <a:rPr sz="1800" b="1">
                <a:solidFill>
                  <a:srgbClr val="1F2D3A"/>
                </a:solidFill>
              </a:rPr>
              <a:t>parmak izidir</a:t>
            </a:r>
            <a:r>
              <a:rPr sz="1800" b="0">
                <a:solidFill>
                  <a:srgbClr val="1F2D3A"/>
                </a:solidFill>
              </a:rPr>
              <a:t>; zinciri kurarken "aynı isimli ama farklı anahtarlı sahte ara CA" karışıklığını bununla önler.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 · zincir (issuer/subject)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-issuer -subject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ara.crt    -noout -issuer -subject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kok.crt    -noout -issuer -subject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685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issuer=CN=...Ara CA   subject=CN=localhost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issuer=CN=...Kok CA   subject=CN=...Ara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issuer=CN=...Kok CA   subject=CN=...Kok 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27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okunur: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sunucu</a:t>
            </a:r>
            <a:r>
              <a:rPr sz="2000" b="0">
                <a:solidFill>
                  <a:srgbClr val="1F2D3A"/>
                </a:solidFill>
              </a:rPr>
              <a:t>'nun issuer'ı = </a:t>
            </a:r>
            <a:r>
              <a:rPr sz="2000" b="0">
                <a:solidFill>
                  <a:srgbClr val="A1123F"/>
                </a:solidFill>
                <a:latin typeface="Consolas"/>
              </a:rPr>
              <a:t>ara</a:t>
            </a:r>
            <a:r>
              <a:rPr sz="2000" b="0">
                <a:solidFill>
                  <a:srgbClr val="1F2D3A"/>
                </a:solidFill>
              </a:rPr>
              <a:t>'nın subject'i; kök </a:t>
            </a:r>
            <a:r>
              <a:rPr sz="2000" b="1">
                <a:solidFill>
                  <a:srgbClr val="1F2D3A"/>
                </a:solidFill>
              </a:rPr>
              <a:t>kendi kendini</a:t>
            </a:r>
            <a:r>
              <a:rPr sz="2000" b="0">
                <a:solidFill>
                  <a:srgbClr val="1F2D3A"/>
                </a:solidFill>
              </a:rPr>
              <a:t> imzalar.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 · geçerlilik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-dates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-checkend 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notBefore=Sep 23 2026 GMT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notAfter=Dec 22 2026 GMT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Certificate will not expire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38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-checkend 0</a:t>
            </a:r>
            <a:r>
              <a:rPr sz="2000" b="0">
                <a:solidFill>
                  <a:srgbClr val="1F2D3A"/>
                </a:solidFill>
              </a:rPr>
              <a:t>: "şu an itibarıyla süresi doldu mu?" TLS istemcileri bunu her bağlantıda otomatik sorar.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 · kullanım (CA:TRUE/FALSE)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sunucu.crt -noout -ext basicConstraints,keyUsage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x509 -in ara.crt    -noout -ext basicConstraints,keyUsage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sunucu.crt:  CA:FALSE            (baska sertifika imzalayamaz)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ara.crt:     CA:TRUE, pathlen:0  (yalniz uc sertifika imzalayabilir)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 · ad (SAN)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X509v3 Subject Alternative Name: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DNS:localhost, IP Address:127.0.0.1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İstemci bağlandığı adı bu listeyle karşılaştırır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Subject</a:t>
            </a:r>
            <a:r>
              <a:rPr sz="2000" b="0">
                <a:solidFill>
                  <a:srgbClr val="1F2D3A"/>
                </a:solidFill>
              </a:rPr>
              <a:t>'teki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CN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 kütüphanesi bu dört soruyu </a:t>
            </a:r>
            <a:r>
              <a:rPr sz="2000" b="1">
                <a:solidFill>
                  <a:srgbClr val="1F2D3A"/>
                </a:solidFill>
              </a:rPr>
              <a:t>sizin yerinize</a:t>
            </a:r>
            <a:r>
              <a:rPr sz="2000" b="0">
                <a:solidFill>
                  <a:srgbClr val="1F2D3A"/>
                </a:solidFill>
              </a:rPr>
              <a:t> sorar;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kapatmak ya da hataları yutmak, dört sorunun hiç sorulmaması anlamına gelir.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zincir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doğrulamanın </a:t>
            </a:r>
            <a:r>
              <a:rPr sz="2000" b="1">
                <a:solidFill>
                  <a:srgbClr val="1F2D3A"/>
                </a:solidFill>
              </a:rPr>
              <a:t>dört sorusundan</a:t>
            </a:r>
            <a:r>
              <a:rPr sz="2000" b="0">
                <a:solidFill>
                  <a:srgbClr val="1F2D3A"/>
                </a:solidFill>
              </a:rPr>
              <a:t> (imza, süre, kullanım, ad) hiçbirini atlamayın.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ad denetlemez —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denetimi ayrıca yapılmalı.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 sertifikayı</a:t>
            </a:r>
            <a:r>
              <a:rPr sz="2000" b="0">
                <a:solidFill>
                  <a:srgbClr val="1F2D3A"/>
                </a:solidFill>
              </a:rPr>
              <a:t> göndermezse, kriptografik olarak doğru zincir bile bağlanamaz.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iptali — şema</a:t>
            </a:r>
          </a:p>
        </p:txBody>
      </p:sp>
      <p:pic>
        <p:nvPicPr>
          <p:cNvPr id="7" name="Picture 6" descr="h10-04-sertifika-ipt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iş akışı · iptal et ve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ca -config ara.cnf -revoke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ca -config ara.cnf -gencrl -out ara.crl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Revoking Certificate 35E2F68D...76E7.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Database 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49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 dosyası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yalnız CA'nın defterine (</a:t>
            </a:r>
            <a:r>
              <a:rPr sz="2000" b="0">
                <a:solidFill>
                  <a:srgbClr val="A1123F"/>
                </a:solidFill>
                <a:latin typeface="Consolas"/>
              </a:rPr>
              <a:t>index.txt</a:t>
            </a:r>
            <a:r>
              <a:rPr sz="2000" b="0">
                <a:solidFill>
                  <a:srgbClr val="1F2D3A"/>
                </a:solidFill>
              </a:rPr>
              <a:t>) bir iptal kaydı eklenir.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-gencrl</a:t>
            </a:r>
            <a:r>
              <a:rPr sz="2000" b="0">
                <a:solidFill>
                  <a:srgbClr val="1F2D3A"/>
                </a:solidFill>
              </a:rPr>
              <a:t>, bu kaydı CA'nın kendi anahtarıyla </a:t>
            </a:r>
            <a:r>
              <a:rPr sz="2000" b="1">
                <a:solidFill>
                  <a:srgbClr val="1F2D3A"/>
                </a:solidFill>
              </a:rPr>
              <a:t>imzalı</a:t>
            </a:r>
            <a:r>
              <a:rPr sz="2000" b="0">
                <a:solidFill>
                  <a:srgbClr val="1F2D3A"/>
                </a:solidFill>
              </a:rPr>
              <a:t> bir listeye dönüştürür.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ile doğrulama · sonuç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-crl_check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-CRLfile ara.crl sunucu.crt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87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 23 at 0 depth lookup: certificate revoked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 sunucu.crt: verification failed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49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Sertifikanın </a:t>
            </a:r>
            <a:r>
              <a:rPr sz="2000" b="1">
                <a:solidFill>
                  <a:srgbClr val="1F2D3A"/>
                </a:solidFill>
              </a:rPr>
              <a:t>süresi hâlâ dolmamış</a:t>
            </a:r>
            <a:r>
              <a:rPr sz="2000" b="0">
                <a:solidFill>
                  <a:srgbClr val="1F2D3A"/>
                </a:solidFill>
              </a:rPr>
              <a:t> olsa bile CRL'de listelendiği için reddedildi — iptal denetimi, süre denetiminden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 ile imzalama — şema</a:t>
            </a:r>
          </a:p>
        </p:txBody>
      </p:sp>
      <p:pic>
        <p:nvPicPr>
          <p:cNvPr id="7" name="Picture 6" descr="h10-14-pkcs11-imza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910515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 ·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Değerli bir anahtar üretilirken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CKA_EXTRACTABLE=false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ayarlanmalı; varsayılana güvenmeyin.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HSM'de anahtar hiç çıkmaz; uygulama yalnız bir </a:t>
            </a:r>
            <a:r>
              <a:rPr sz="2000" b="1">
                <a:solidFill>
                  <a:srgbClr val="1F2D3A"/>
                </a:solidFill>
              </a:rPr>
              <a:t>tutamaç</a:t>
            </a:r>
            <a:r>
              <a:rPr sz="2000" b="0">
                <a:solidFill>
                  <a:srgbClr val="1F2D3A"/>
                </a:solidFill>
              </a:rPr>
              <a:t> (handle) üzerinden "imzala"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SoftHSM test içindir; üretimde gerçek HSM/donanım koruması gerekir.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— şema</a:t>
            </a:r>
          </a:p>
        </p:txBody>
      </p:sp>
      <p:pic>
        <p:nvPicPr>
          <p:cNvPr id="7" name="Picture 6" descr="h10-15-kuantum-sonr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29419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boyutları · komut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OpenSSL 3.5, standartlaşan PQC algoritmalarını </a:t>
            </a:r>
            <a:r>
              <a:rPr sz="2000" b="1">
                <a:solidFill>
                  <a:srgbClr val="1F2D3A"/>
                </a:solidFill>
              </a:rPr>
              <a:t>bugün</a:t>
            </a:r>
            <a:r>
              <a:rPr sz="2000" b="0">
                <a:solidFill>
                  <a:srgbClr val="1F2D3A"/>
                </a:solidFill>
              </a:rPr>
              <a:t> üretebilir: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ML-KEM-768 -out mlkem.pem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genpkey -algorithm ML-DSA-65  -out mldsa.pem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pkeyutl -sign -inkey mldsa.pem -rawin -in belge.txt -out belge.mldsa.sig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wc -c mlkem_pub.pem mldsa_pub.pem belge.mldsa.sig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PQC boyutları · sonuç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2909742"/>
                <a:gridCol w="254602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Algoritma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Açık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 (klasik)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116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64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RSA-3072 (klasik)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636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384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ML-KEM-768 (PQC)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1.714 bayt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ML-DSA-65 (PQC)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2.770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3.309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ML-DSA-65: açık anahtar Ed25519'dan </a:t>
            </a:r>
            <a:r>
              <a:rPr sz="1800" b="1">
                <a:solidFill>
                  <a:srgbClr val="1F2D3A"/>
                </a:solidFill>
              </a:rPr>
              <a:t>~24 kat</a:t>
            </a:r>
            <a:r>
              <a:rPr sz="1800" b="0">
                <a:solidFill>
                  <a:srgbClr val="1F2D3A"/>
                </a:solidFill>
              </a:rPr>
              <a:t>, imza </a:t>
            </a:r>
            <a:r>
              <a:rPr sz="1800" b="1">
                <a:solidFill>
                  <a:srgbClr val="1F2D3A"/>
                </a:solidFill>
              </a:rPr>
              <a:t>~52 kat</a:t>
            </a:r>
            <a:r>
              <a:rPr sz="1800" b="0">
                <a:solidFill>
                  <a:srgbClr val="1F2D3A"/>
                </a:solidFill>
              </a:rPr>
              <a:t> büyük. TLS'te </a:t>
            </a:r>
            <a:r>
              <a:rPr sz="1800" b="1">
                <a:solidFill>
                  <a:srgbClr val="1F2D3A"/>
                </a:solidFill>
              </a:rPr>
              <a:t>karma</a:t>
            </a:r>
            <a:r>
              <a:rPr sz="1800" b="0">
                <a:solidFill>
                  <a:srgbClr val="1F2D3A"/>
                </a:solidFill>
              </a:rPr>
              <a:t> (klasik + PQC) yaklaşım bu geçiş maliyetini yönetmek içindir.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