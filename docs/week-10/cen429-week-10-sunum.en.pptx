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build the building blocks of cryptography and PKI end to end: modes, MAC, RSA and elliptic curves, signatures, certificate chains, revocation, and key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is about using crypto correctly, and PKI. Students saw an introduction in Week 3; here we recap from scratch and go deeper. Emphasis: not the right algorithm, but the right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padding added + three checks (length, last-byte range, every padding byte). Which</a:t>
            </a:r>
          </a:p>
          <a:p>
            <a:r>
              <a:t>corruption stops at which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Same message, four modes. ECB: pattern leaks (same byte = same output). CBC: flipping one bit</a:t>
            </a:r>
          </a:p>
          <a:p>
            <a:r>
              <a:t>garbles that block and flips the SAME bit one block later. CTR: flipping one bit changes EXACTLY one bit. The</a:t>
            </a:r>
          </a:p>
          <a:p>
            <a:r>
              <a:t>GCM-like mode: tampering is REJECTED on tag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GCM's fail-closed behavior — no plaintext at all when the tag doesn't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MAC/HMAC and asymmetric crypto.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K' xor ipad -&gt; inner digest (with the message); K' xor opad -&gt; outer digest (with the</a:t>
            </a:r>
          </a:p>
          <a:p>
            <a:r>
              <a:t>inner digest) = the tag. Compare a short/long/exactly-one-block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same tamper, two orders. EtM always rejects with the SAME failure (MAC). MtE can report TWO</a:t>
            </a:r>
          </a:p>
          <a:p>
            <a:r>
              <a:t>DIFFERENT failures (padding / MAC) depending on what the tamper corrupted — that's the padding-oracle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classic p=61, q=53, e=17 example. n, phi, d; encrypt/decrypt/sign/verify are the same</a:t>
            </a:r>
          </a:p>
          <a:p>
            <a:r>
              <a:t>exponentiation, only the exponent changes. Why a tampered signature and the wrong public key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inside X25519/Ed25519 it's POINT ADDITION ON A CURVE instead of exponentiation. Same DH</a:t>
            </a:r>
          </a:p>
          <a:p>
            <a:r>
              <a:t>idea, different math. Mallory intercepting still gives two different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digital signature pitfalls and DH.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correct signature accepted; document tampered after signing -&gt; rejected; a message signed</a:t>
            </a:r>
          </a:p>
          <a:p>
            <a:r>
              <a:t>with the attacker's own key, checked against the REAL public key -&gt;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classic p=23, g=5 example. First the honest exchange (Alice/Bob reach the same key).</a:t>
            </a:r>
          </a:p>
          <a:p>
            <a:r>
              <a:t>Then Mallory intercepts: Alice gets one key, Bob gets a DIFFERENT key — both are really talking to Mallory.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PKI, X.509, chain, revocation.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missing intermediate, expired, wrong root, CA:FALSE issuer, wrong hostname, complete chain</a:t>
            </a:r>
          </a:p>
          <a:p>
            <a:r>
              <a:t>— all answer the same four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OCSP is always LIVE. A CRL is cacheable but can go STALE — once nextUpdate passes it must</a:t>
            </a:r>
          </a:p>
          <a:p>
            <a:r>
              <a:t>say "stale," not "good." In the edge case a stale CRL does NOT show the revocation.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HSM, PKCS#11, PQC,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generate_keypair() returns only a HANDLE. sign(handle, data) computes the signature INSIDE</a:t>
            </a:r>
          </a:p>
          <a:p>
            <a:r>
              <a:t>the HSM. An unknown/destroyed handle is rejected; a signature made under one handle does not verify under</a:t>
            </a:r>
          </a:p>
          <a:p>
            <a:r>
              <a:t>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1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gif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1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18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Certificates and Cryptographic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20.11.2026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519"/>
                <a:gridCol w="1034714"/>
                <a:gridCol w="9124300"/>
              </a:tblGrid>
              <a:tr h="61950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1950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Algorithm/key selection · block cipher modes/padding · MAC/HMAC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RSA/ECC (OAEP/PSS) · digital signature · Diffie–Hellman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61950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PKI · X.509 · building a chain with OpenSSL · CRL/OCSP · HSM/PKCS#11 · post-quantum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1363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 (LO.2 / LO.4):</a:t>
            </a:r>
            <a:r>
              <a:rPr sz="2000" b="0">
                <a:solidFill>
                  <a:srgbClr val="1F2D3A"/>
                </a:solidFill>
              </a:rPr>
              <a:t> choose the right algorithm, mode, padding, and key length · spot the pitfalls of signatures and key exchange · correctly validate a certificate 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12368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 cryptography, mistakes are usually not in the algorithm but in the </a:t>
            </a:r>
            <a:r>
              <a:rPr sz="2000" b="1">
                <a:solidFill>
                  <a:srgbClr val="1F2D3A"/>
                </a:solidFill>
              </a:rPr>
              <a:t>usage</a:t>
            </a:r>
            <a:r>
              <a:rPr sz="2000" b="0">
                <a:solidFill>
                  <a:srgbClr val="1F2D3A"/>
                </a:solidFill>
              </a:rPr>
              <a:t>: the wrong mode, the wrong padding, an unverified signature, an unchecked 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683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Symmetric and asymmetric encryption</a:t>
            </a:r>
            <a:r>
              <a:rPr sz="1400" b="0">
                <a:solidFill>
                  <a:srgbClr val="1F2D3A"/>
                </a:solidFill>
              </a:rPr>
              <a:t> — symmetric encryption runs fast with a single shared key; asymmetric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3908"/>
            <a:ext cx="10911535" cy="3408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encryption uses a public/private key pair, making key distribution easy but slow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54504"/>
            <a:ext cx="10911535" cy="6451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AEAD</a:t>
            </a:r>
            <a:r>
              <a:rPr sz="1400" b="0">
                <a:solidFill>
                  <a:srgbClr val="1F2D3A"/>
                </a:solidFill>
              </a:rPr>
              <a:t> — authenticated encryption gives confidentiality and integrity together, in a single call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Digest, MAC, and digital signature</a:t>
            </a:r>
            <a:r>
              <a:rPr sz="1400" b="0">
                <a:solidFill>
                  <a:srgbClr val="1F2D3A"/>
                </a:solidFill>
              </a:rPr>
              <a:t> — a digest is a one-way fingerprint; a MAC proves a message hasn't 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09391"/>
            <a:ext cx="10911535" cy="3408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with a shared key, a signature does the same with a public/private key pair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9987"/>
            <a:ext cx="10911535" cy="3683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Forward secrecy</a:t>
            </a:r>
            <a:r>
              <a:rPr sz="1400" b="0">
                <a:solidFill>
                  <a:srgbClr val="1F2D3A"/>
                </a:solidFill>
              </a:rPr>
              <a:t> — deleting a session's derived key after use, so that even if today's key leaks, past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8015"/>
            <a:ext cx="10911535" cy="3408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sessions cannot be decrypted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8611"/>
            <a:ext cx="10911535" cy="3683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TLS certificate validation</a:t>
            </a:r>
            <a:r>
              <a:rPr sz="1400" b="0">
                <a:solidFill>
                  <a:srgbClr val="1F2D3A"/>
                </a:solidFill>
              </a:rPr>
              <a:t> — the client checking a server certificate's chain, validity, intended usage, 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66639"/>
            <a:ext cx="10911535" cy="3408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name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17235"/>
            <a:ext cx="10911535" cy="8031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This week we go deeper: asymmetric mathematics and the right mode/padding (Sections 2, 4) · HMAC's internal structure and signature pitfalls (Sections 3, 5) · DH and authentication (Section 6) · PKI, X.509, and revocation (Sections 7–10).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8547368" cy="4021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1344"/>
                <a:gridCol w="2546024"/>
              </a:tblGrid>
              <a:tr h="33512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Block cipher modes, padding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MAC, HMAC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RSA, elliptic curve (ECC)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Digital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Diffie–Hellman (DH)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PKI, CA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Certificate, X.509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a chain with OpenSSL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CRL, OCSP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HSM, PKCS#11, SoftHSM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3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Post-quantum (PQC)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Algorithm and Key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Keys, Certificates, PKI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1976–77</a:t>
            </a:r>
            <a:r>
              <a:rPr sz="1800" b="0">
                <a:solidFill>
                  <a:srgbClr val="1F2D3A"/>
                </a:solidFill>
              </a:rPr>
              <a:t> — Diffie–Hellman and </a:t>
            </a:r>
            <a:r>
              <a:rPr sz="1800" b="1">
                <a:solidFill>
                  <a:srgbClr val="1F2D3A"/>
                </a:solidFill>
              </a:rPr>
              <a:t>RSA</a:t>
            </a:r>
            <a:r>
              <a:rPr sz="1800" b="0">
                <a:solidFill>
                  <a:srgbClr val="1F2D3A"/>
                </a:solidFill>
              </a:rPr>
              <a:t>: talking securely with someone you don't know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1988</a:t>
            </a:r>
            <a:r>
              <a:rPr sz="1800" b="0">
                <a:solidFill>
                  <a:srgbClr val="1F2D3A"/>
                </a:solidFill>
              </a:rPr>
              <a:t> — the </a:t>
            </a:r>
            <a:r>
              <a:rPr sz="1800" b="1">
                <a:solidFill>
                  <a:srgbClr val="1F2D3A"/>
                </a:solidFill>
              </a:rPr>
              <a:t>X.509</a:t>
            </a:r>
            <a:r>
              <a:rPr sz="1800" b="0">
                <a:solidFill>
                  <a:srgbClr val="1F2D3A"/>
                </a:solidFill>
              </a:rPr>
              <a:t> certificate format; identity carries a </a:t>
            </a:r>
            <a:r>
              <a:rPr sz="1800" b="1">
                <a:solidFill>
                  <a:srgbClr val="1F2D3A"/>
                </a:solidFill>
              </a:rPr>
              <a:t>CA signature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1995</a:t>
            </a:r>
            <a:r>
              <a:rPr sz="1800" b="0">
                <a:solidFill>
                  <a:srgbClr val="1F2D3A"/>
                </a:solidFill>
              </a:rPr>
              <a:t> — commercial CAs and </a:t>
            </a:r>
            <a:r>
              <a:rPr sz="1800" b="1">
                <a:solidFill>
                  <a:srgbClr val="1F2D3A"/>
                </a:solidFill>
              </a:rPr>
              <a:t>PKI</a:t>
            </a:r>
            <a:r>
              <a:rPr sz="1800" b="0">
                <a:solidFill>
                  <a:srgbClr val="1F2D3A"/>
                </a:solidFill>
              </a:rPr>
              <a:t>; then </a:t>
            </a:r>
            <a:r>
              <a:rPr sz="1800" b="1">
                <a:solidFill>
                  <a:srgbClr val="1F2D3A"/>
                </a:solidFill>
              </a:rPr>
              <a:t>CRL</a:t>
            </a:r>
            <a:r>
              <a:rPr sz="1800" b="0">
                <a:solidFill>
                  <a:srgbClr val="1F2D3A"/>
                </a:solidFill>
              </a:rPr>
              <a:t> and </a:t>
            </a:r>
            <a:r>
              <a:rPr sz="1800" b="1">
                <a:solidFill>
                  <a:srgbClr val="1F2D3A"/>
                </a:solidFill>
              </a:rPr>
              <a:t>OCSP</a:t>
            </a:r>
            <a:r>
              <a:rPr sz="1800" b="0">
                <a:solidFill>
                  <a:srgbClr val="1F2D3A"/>
                </a:solidFill>
              </a:rPr>
              <a:t> (revocation)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2014</a:t>
            </a:r>
            <a:r>
              <a:rPr sz="1800" b="0">
                <a:solidFill>
                  <a:srgbClr val="1F2D3A"/>
                </a:solidFill>
              </a:rPr>
              <a:t> Heartbleed · </a:t>
            </a:r>
            <a:r>
              <a:rPr sz="1800" b="1">
                <a:solidFill>
                  <a:srgbClr val="1F2D3A"/>
                </a:solidFill>
              </a:rPr>
              <a:t>2015</a:t>
            </a:r>
            <a:r>
              <a:rPr sz="1800" b="0">
                <a:solidFill>
                  <a:srgbClr val="1F2D3A"/>
                </a:solidFill>
              </a:rPr>
              <a:t> Let's Encrypt · </a:t>
            </a:r>
            <a:r>
              <a:rPr sz="1800" b="1">
                <a:solidFill>
                  <a:srgbClr val="1F2D3A"/>
                </a:solidFill>
              </a:rPr>
              <a:t>2018</a:t>
            </a:r>
            <a:r>
              <a:rPr sz="1800" b="0">
                <a:solidFill>
                  <a:srgbClr val="1F2D3A"/>
                </a:solidFill>
              </a:rPr>
              <a:t> TLS 1.3 · </a:t>
            </a:r>
            <a:r>
              <a:rPr sz="1800" b="1">
                <a:solidFill>
                  <a:srgbClr val="1F2D3A"/>
                </a:solidFill>
              </a:rPr>
              <a:t>2022–24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PQC</a:t>
            </a:r>
            <a:r>
              <a:rPr sz="1800" b="0">
                <a:solidFill>
                  <a:srgbClr val="1F2D3A"/>
                </a:solidFill>
              </a:rPr>
              <a:t> (Kyber/Dilithium)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Today's rules (the right mode/padding, chain validation, revocation) came out of these painful lessons.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Current, Standard, Properly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Three rules: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Current:</a:t>
            </a:r>
            <a:r>
              <a:rPr sz="2000" b="0">
                <a:solidFill>
                  <a:srgbClr val="1F2D3A"/>
                </a:solidFill>
              </a:rPr>
              <a:t> an unbroken algorithm (AES, SHA-256, Ed25519).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Standard:</a:t>
            </a:r>
            <a:r>
              <a:rPr sz="2000" b="0">
                <a:solidFill>
                  <a:srgbClr val="1F2D3A"/>
                </a:solidFill>
              </a:rPr>
              <a:t> don't write your own crypto; use a proven library.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Properly used:</a:t>
            </a:r>
            <a:r>
              <a:rPr sz="2000" b="0">
                <a:solidFill>
                  <a:srgbClr val="1F2D3A"/>
                </a:solidFill>
              </a:rPr>
              <a:t> the right mode, padding, key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to Avoid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MD5, SHA-1 (for digests), DES/3DES, RC4.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ECB mode.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Your own "encryption" algorithm.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fixed/predictable IV or key.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Key Length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165"/>
                <a:gridCol w="6001344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Recommendation (approx.)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Symmetric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AES-128 (sufficient), AES-256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RSA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≥ 2048, prefer 3072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256-bit (≈ RSA-3072)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SHA-256+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Weakest-Link Rule</a:t>
            </a:r>
          </a:p>
        </p:txBody>
      </p:sp>
      <p:pic>
        <p:nvPicPr>
          <p:cNvPr id="7" name="Picture 6" descr="h10-13-en-zayif-hal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397" y="1325880"/>
            <a:ext cx="9150901" cy="3875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1063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Choose components with </a:t>
            </a:r>
            <a:r>
              <a:rPr sz="2000" b="1">
                <a:solidFill>
                  <a:srgbClr val="1F2D3A"/>
                </a:solidFill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strength.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Targeting 128 bits? Use RSA-3072 or ECC.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Which Mode?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8130"/>
                <a:gridCol w="592340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Confidentiality + integrity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AES-GCM / ChaCha20-Poly1305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Speed only (no hardware AES)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ChaCha20-Poly1305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ECB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Legacy CBC system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encrypt-then-MAC, a single error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Which Asymmetric Algorithm?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63807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895"/>
                <a:gridCol w="3637178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 (modern)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 agreement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X25519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 encryption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RSA-OAEP (≥3072)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RSA-PSS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Decision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Choose current, standard, properly used.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 first; ECC first.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the decision and its rationale into </a:t>
            </a:r>
            <a:r>
              <a:rPr sz="2000" b="1">
                <a:solidFill>
                  <a:srgbClr val="1F2D3A"/>
                </a:solidFill>
              </a:rPr>
              <a:t>S8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Block Cipher Modes and Padding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ECB · Never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ECB:</a:t>
            </a:r>
            <a:r>
              <a:rPr sz="2000" b="0">
                <a:solidFill>
                  <a:srgbClr val="1F2D3A"/>
                </a:solidFill>
              </a:rPr>
              <a:t> encrypts each block independently.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block → same ciphertext block → </a:t>
            </a:r>
            <a:r>
              <a:rPr sz="2000" b="1">
                <a:solidFill>
                  <a:srgbClr val="1F2D3A"/>
                </a:solidFill>
              </a:rPr>
              <a:t>pattern leaks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famous "ECB penguin" example.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use ECB.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ECB Is Bad — Diagram</a:t>
            </a:r>
          </a:p>
        </p:txBody>
      </p:sp>
      <p:pic>
        <p:nvPicPr>
          <p:cNvPr id="7" name="Picture 6" descr="h10-06-e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652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CBC · Use with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CBC:</a:t>
            </a:r>
            <a:r>
              <a:rPr sz="2000" b="0">
                <a:solidFill>
                  <a:srgbClr val="1F2D3A"/>
                </a:solidFill>
              </a:rPr>
              <a:t> each block is chained with the previous one; an </a:t>
            </a:r>
            <a:r>
              <a:rPr sz="2000" b="1">
                <a:solidFill>
                  <a:srgbClr val="1F2D3A"/>
                </a:solidFill>
              </a:rPr>
              <a:t>IV</a:t>
            </a:r>
            <a:r>
              <a:rPr sz="2000" b="0">
                <a:solidFill>
                  <a:srgbClr val="1F2D3A"/>
                </a:solidFill>
              </a:rPr>
              <a:t> is required.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IV must be </a:t>
            </a:r>
            <a:r>
              <a:rPr sz="2000" b="1">
                <a:solidFill>
                  <a:srgbClr val="1F2D3A"/>
                </a:solidFill>
              </a:rPr>
              <a:t>random</a:t>
            </a:r>
            <a:r>
              <a:rPr sz="2000" b="0">
                <a:solidFill>
                  <a:srgbClr val="1F2D3A"/>
                </a:solidFill>
              </a:rPr>
              <a:t> and never repeated.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Does </a:t>
            </a:r>
            <a:r>
              <a:rPr sz="2000" b="1">
                <a:solidFill>
                  <a:srgbClr val="1F2D3A"/>
                </a:solidFill>
              </a:rPr>
              <a:t>not provide integrity</a:t>
            </a:r>
            <a:r>
              <a:rPr sz="2000" b="0">
                <a:solidFill>
                  <a:srgbClr val="1F2D3A"/>
                </a:solidFill>
              </a:rPr>
              <a:t> on its own → a separate MAC is required.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CBC + Padding =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CBC requires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Handling padding incorrectly → </a:t>
            </a:r>
            <a:r>
              <a:rPr sz="2000" b="1">
                <a:solidFill>
                  <a:srgbClr val="1F2D3A"/>
                </a:solidFill>
              </a:rPr>
              <a:t>padding oracle</a:t>
            </a:r>
            <a:r>
              <a:rPr sz="2000" b="0">
                <a:solidFill>
                  <a:srgbClr val="1F2D3A"/>
                </a:solidFill>
              </a:rPr>
              <a:t> (coming up next).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why the modern choice is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PKCS#7 Padding ·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encrypt the 13-byte text </a:t>
            </a:r>
            <a:r>
              <a:rPr sz="2000" b="0">
                <a:solidFill>
                  <a:srgbClr val="A1123F"/>
                </a:solidFill>
                <a:latin typeface="Consolas"/>
              </a:rPr>
              <a:t>"MERHABA DUNYA"</a:t>
            </a:r>
            <a:r>
              <a:rPr sz="2000" b="0">
                <a:solidFill>
                  <a:srgbClr val="1F2D3A"/>
                </a:solidFill>
              </a:rPr>
              <a:t> with AES-128-CBC (K and IV are fixed here only for the demo):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 'MERHABA DUNYA' | openssl enc -aes-128-cbc -K "$K" -iv "$IV" -out cikti.bin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xxd -p cikti.bin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7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output is </a:t>
            </a:r>
            <a:r>
              <a:rPr sz="2000" b="1">
                <a:solidFill>
                  <a:srgbClr val="1F2D3A"/>
                </a:solidFill>
              </a:rPr>
              <a:t>16 bytes</a:t>
            </a:r>
            <a:r>
              <a:rPr sz="2000" b="0">
                <a:solidFill>
                  <a:srgbClr val="1F2D3A"/>
                </a:solidFill>
              </a:rPr>
              <a:t> (32 hex characters) — the input was 13 bytes, so </a:t>
            </a:r>
            <a:r>
              <a:rPr sz="2000" b="1">
                <a:solidFill>
                  <a:srgbClr val="1F2D3A"/>
                </a:solidFill>
              </a:rPr>
              <a:t>3 bytes of padding</a:t>
            </a:r>
            <a:r>
              <a:rPr sz="2000" b="0">
                <a:solidFill>
                  <a:srgbClr val="1F2D3A"/>
                </a:solidFill>
              </a:rPr>
              <a:t> were added.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PKCS#7 Padding ·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look at the padding content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-nopad</a:t>
            </a:r>
            <a:r>
              <a:rPr sz="2000" b="0">
                <a:solidFill>
                  <a:srgbClr val="1F2D3A"/>
                </a:solidFill>
              </a:rPr>
              <a:t> (for teaching purposes only):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4d45 5248 4142 4120 4455 4e59 4103 0303  MERHABA DUNYA...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last three bytes are </a:t>
            </a:r>
            <a:r>
              <a:rPr sz="2000" b="1">
                <a:solidFill>
                  <a:srgbClr val="1F2D3A"/>
                </a:solidFill>
              </a:rPr>
              <a:t>`03 03 03`</a:t>
            </a:r>
            <a:r>
              <a:rPr sz="2000" b="0">
                <a:solidFill>
                  <a:srgbClr val="1F2D3A"/>
                </a:solidFill>
              </a:rPr>
              <a:t>: the number of missing bytes (16 − 13 = 3) worth of bytes, each with that value, were added — exactly the PKCS#7 rule. A normal </a:t>
            </a:r>
            <a:r>
              <a:rPr sz="2000" b="0">
                <a:solidFill>
                  <a:srgbClr val="A1123F"/>
                </a:solidFill>
                <a:latin typeface="Consolas"/>
              </a:rPr>
              <a:t>openssl enc -d</a:t>
            </a:r>
            <a:r>
              <a:rPr sz="2000" b="0">
                <a:solidFill>
                  <a:srgbClr val="1F2D3A"/>
                </a:solidFill>
              </a:rPr>
              <a:t> reads and strips these bytes automatically.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PKCS#7 · Padding and the Check — Animation</a:t>
            </a:r>
          </a:p>
        </p:txBody>
      </p:sp>
      <p:pic>
        <p:nvPicPr>
          <p:cNvPr id="7" name="Picture 6" descr="pkcs7-padd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642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GCM · the Modern Choice (AEAD)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AES-GCM:</a:t>
            </a:r>
            <a:r>
              <a:rPr sz="2000" b="0">
                <a:solidFill>
                  <a:srgbClr val="1F2D3A"/>
                </a:solidFill>
              </a:rPr>
              <a:t> confidentiality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integrity together.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padding; a </a:t>
            </a:r>
            <a:r>
              <a:rPr sz="2000" b="1">
                <a:solidFill>
                  <a:srgbClr val="1F2D3A"/>
                </a:solidFill>
              </a:rPr>
              <a:t>nonce</a:t>
            </a:r>
            <a:r>
              <a:rPr sz="2000" b="0">
                <a:solidFill>
                  <a:srgbClr val="1F2D3A"/>
                </a:solidFill>
              </a:rPr>
              <a:t> (a number used once) is required.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nonce must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repeat (under the same key).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Nonce/IV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IV/nonce must be </a:t>
            </a:r>
            <a:r>
              <a:rPr sz="2000" b="1">
                <a:solidFill>
                  <a:srgbClr val="1F2D3A"/>
                </a:solidFill>
              </a:rPr>
              <a:t>unique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Nonce reuse in GCM is </a:t>
            </a:r>
            <a:r>
              <a:rPr sz="2000" b="1">
                <a:solidFill>
                  <a:srgbClr val="1F2D3A"/>
                </a:solidFill>
              </a:rPr>
              <a:t>catastrophic</a:t>
            </a:r>
            <a:r>
              <a:rPr sz="2000" b="0">
                <a:solidFill>
                  <a:srgbClr val="1F2D3A"/>
                </a:solidFill>
              </a:rPr>
              <a:t> (the key/data can leak).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a counter or a random value (of sufficient length).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Nonce Reuse — Diagram</a:t>
            </a:r>
          </a:p>
        </p:txBody>
      </p:sp>
      <p:pic>
        <p:nvPicPr>
          <p:cNvPr id="7" name="Picture 6" descr="h10-07-nonce-tekr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5512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ChaCha20-Poly1305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AEAD alternative to AES-GCM.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Fast when there is no hardware AES support.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nonce rule applies.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Comparing the Modes — Animation</a:t>
            </a:r>
          </a:p>
        </p:txBody>
      </p:sp>
      <p:pic>
        <p:nvPicPr>
          <p:cNvPr id="7" name="Picture 6" descr="block-cipher-mod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18" y="1325880"/>
            <a:ext cx="967805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Modes · Edge Case</a:t>
            </a:r>
          </a:p>
        </p:txBody>
      </p:sp>
      <p:pic>
        <p:nvPicPr>
          <p:cNvPr id="7" name="Picture 6" descr="block-cipher-modes--edge-gcm-rejec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274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Padding Oracle · the Problem,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While decrypting CBC, the server gives a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response/timing for </a:t>
            </a:r>
            <a:r>
              <a:rPr sz="2000" b="1">
                <a:solidFill>
                  <a:srgbClr val="1F2D3A"/>
                </a:solidFill>
              </a:rPr>
              <a:t>invalid padding</a:t>
            </a:r>
            <a:r>
              <a:rPr sz="2000" b="0">
                <a:solidFill>
                  <a:srgbClr val="1F2D3A"/>
                </a:solidFill>
              </a:rPr>
              <a:t> versus </a:t>
            </a:r>
            <a:r>
              <a:rPr sz="2000" b="1">
                <a:solidFill>
                  <a:srgbClr val="1F2D3A"/>
                </a:solidFill>
              </a:rPr>
              <a:t>invalid MAC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attacker modifies the ciphertext and watches the responses.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From the response difference, they decrypt the </a:t>
            </a:r>
            <a:r>
              <a:rPr sz="2000" b="1">
                <a:solidFill>
                  <a:srgbClr val="1F2D3A"/>
                </a:solidFill>
              </a:rPr>
              <a:t>plaintext</a:t>
            </a:r>
            <a:r>
              <a:rPr sz="2000" b="0">
                <a:solidFill>
                  <a:srgbClr val="1F2D3A"/>
                </a:solidFill>
              </a:rPr>
              <a:t> byte by byte.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Does It Happen?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error message/timing </a:t>
            </a:r>
            <a:r>
              <a:rPr sz="2000" b="1">
                <a:solidFill>
                  <a:srgbClr val="1F2D3A"/>
                </a:solidFill>
              </a:rPr>
              <a:t>leaks</a:t>
            </a:r>
            <a:r>
              <a:rPr sz="2000" b="0">
                <a:solidFill>
                  <a:srgbClr val="1F2D3A"/>
                </a:solidFill>
              </a:rPr>
              <a:t> internal state.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uses this like an </a:t>
            </a:r>
            <a:r>
              <a:rPr sz="2000" b="1">
                <a:solidFill>
                  <a:srgbClr val="1F2D3A"/>
                </a:solidFill>
              </a:rPr>
              <a:t>oracle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Use AEAD</a:t>
            </a:r>
            <a:r>
              <a:rPr sz="2000" b="0">
                <a:solidFill>
                  <a:srgbClr val="1F2D3A"/>
                </a:solidFill>
              </a:rPr>
              <a:t> (GCM): no padding, a single verification.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CBC is unavoidable: </a:t>
            </a:r>
            <a:r>
              <a:rPr sz="2000" b="1">
                <a:solidFill>
                  <a:srgbClr val="1F2D3A"/>
                </a:solidFill>
              </a:rPr>
              <a:t>encrypt-then-MAC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one and the same</a:t>
            </a:r>
            <a:r>
              <a:rPr sz="2000" b="0">
                <a:solidFill>
                  <a:srgbClr val="1F2D3A"/>
                </a:solidFill>
              </a:rPr>
              <a:t> error.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timing difference is a leak too → make it constant-time.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Lesson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Encryption alone is not enough; </a:t>
            </a:r>
            <a:r>
              <a:rPr sz="2000" b="1">
                <a:solidFill>
                  <a:srgbClr val="1F2D3A"/>
                </a:solidFill>
              </a:rPr>
              <a:t>integrity</a:t>
            </a:r>
            <a:r>
              <a:rPr sz="2000" b="0">
                <a:solidFill>
                  <a:srgbClr val="1F2D3A"/>
                </a:solidFill>
              </a:rPr>
              <a:t> and a </a:t>
            </a:r>
            <a:r>
              <a:rPr sz="2000" b="1">
                <a:solidFill>
                  <a:srgbClr val="1F2D3A"/>
                </a:solidFill>
              </a:rPr>
              <a:t>consistent error</a:t>
            </a:r>
            <a:r>
              <a:rPr sz="2000" b="0">
                <a:solidFill>
                  <a:srgbClr val="1F2D3A"/>
                </a:solidFill>
              </a:rPr>
              <a:t> are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padding oracle is the classic example of a "usage mistake."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Explain the weakest-link rule with an example.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 ECB never used?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is nonce reuse catastrophic in GCM?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How does AEAD close off the padding oracle?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 system is only as secure as its </a:t>
            </a:r>
            <a:r>
              <a:rPr sz="2000" b="1">
                <a:solidFill>
                  <a:srgbClr val="1F2D3A"/>
                </a:solidFill>
              </a:rPr>
              <a:t>weakest component</a:t>
            </a:r>
            <a:r>
              <a:rPr sz="2000" b="0">
                <a:solidFill>
                  <a:srgbClr val="1F2D3A"/>
                </a:solidFill>
              </a:rPr>
              <a:t>. E.g., using AES-256 but storing the key in a plain file → the key is the weakest link.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ECB</a:t>
            </a:r>
            <a:r>
              <a:rPr sz="2000" b="0">
                <a:solidFill>
                  <a:srgbClr val="1F2D3A"/>
                </a:solidFill>
              </a:rPr>
              <a:t> turns the same plaintext block into the same ciphertext block → the pattern leaks, no semantic security.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same key+nonce repeats the </a:t>
            </a:r>
            <a:r>
              <a:rPr sz="2000" b="1">
                <a:solidFill>
                  <a:srgbClr val="1F2D3A"/>
                </a:solidFill>
              </a:rPr>
              <a:t>keystream</a:t>
            </a:r>
            <a:r>
              <a:rPr sz="2000" b="0">
                <a:solidFill>
                  <a:srgbClr val="1F2D3A"/>
                </a:solidFill>
              </a:rPr>
              <a:t> (confidentiality collapses), and the GHASH </a:t>
            </a:r>
            <a:r>
              <a:rPr sz="2000" b="1">
                <a:solidFill>
                  <a:srgbClr val="1F2D3A"/>
                </a:solidFill>
              </a:rPr>
              <a:t>authentication key</a:t>
            </a:r>
            <a:r>
              <a:rPr sz="2000" b="0">
                <a:solidFill>
                  <a:srgbClr val="1F2D3A"/>
                </a:solidFill>
              </a:rPr>
              <a:t> can be recovered → catastrophe.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 verifies the tag first and </a:t>
            </a:r>
            <a:r>
              <a:rPr sz="2000" b="1">
                <a:solidFill>
                  <a:srgbClr val="1F2D3A"/>
                </a:solidFill>
              </a:rPr>
              <a:t>refuses to decrypt</a:t>
            </a:r>
            <a:r>
              <a:rPr sz="2000" b="0">
                <a:solidFill>
                  <a:srgbClr val="1F2D3A"/>
                </a:solidFill>
              </a:rPr>
              <a:t> text with an invalid tag → no oracle is left for a padding error.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MAC, HMAC, and Integrity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HMAC — Diagram</a:t>
            </a:r>
          </a:p>
        </p:txBody>
      </p:sp>
      <p:pic>
        <p:nvPicPr>
          <p:cNvPr id="7" name="Picture 6" descr="h10-08-hm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339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MAC?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Encryption gives confidentiality, </a:t>
            </a:r>
            <a:r>
              <a:rPr sz="2000" b="1">
                <a:solidFill>
                  <a:srgbClr val="1F2D3A"/>
                </a:solidFill>
              </a:rPr>
              <a:t>not integrity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can modify the ciphertext.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MAC: the message </a:t>
            </a:r>
            <a:r>
              <a:rPr sz="2000" b="1">
                <a:solidFill>
                  <a:srgbClr val="1F2D3A"/>
                </a:solidFill>
              </a:rPr>
              <a:t>has not changed</a:t>
            </a:r>
            <a:r>
              <a:rPr sz="2000" b="0">
                <a:solidFill>
                  <a:srgbClr val="1F2D3A"/>
                </a:solidFill>
              </a:rPr>
              <a:t> and came from the right party.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MAC built on a digest function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HMAC-SHA256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symmetric key; both parties know the same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Verified with a </a:t>
            </a:r>
            <a:r>
              <a:rPr sz="2000" b="1">
                <a:solidFill>
                  <a:srgbClr val="1F2D3A"/>
                </a:solidFill>
              </a:rPr>
              <a:t>constant-time</a:t>
            </a:r>
            <a:r>
              <a:rPr sz="2000" b="0">
                <a:solidFill>
                  <a:srgbClr val="1F2D3A"/>
                </a:solidFill>
              </a:rPr>
              <a:t> comparison.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HMAC-SHA-256 · Real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compute the HMAC of a payment instruction (a 32-byte key, fixed here only for the demo):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 'tutar=100;alici=TR00' |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openssl dgst -sha256 -mac HMAC -macopt hexkey:$ANAHTAR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677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SHA2-256(stdin)= a08fb115...c5f9a1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HMAC-SHA-256 · Avalanche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Using the same key, let's change only the amount (</a:t>
            </a:r>
            <a:r>
              <a:rPr sz="2000" b="0">
                <a:solidFill>
                  <a:srgbClr val="A1123F"/>
                </a:solidFill>
                <a:latin typeface="Consolas"/>
              </a:rPr>
              <a:t>100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900</a:t>
            </a:r>
            <a:r>
              <a:rPr sz="2000" b="0">
                <a:solidFill>
                  <a:srgbClr val="1F2D3A"/>
                </a:solidFill>
              </a:rPr>
              <a:t>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SHA2-256(stdin)= 8a786eac...91a46be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single-character change (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9</a:t>
            </a:r>
            <a:r>
              <a:rPr sz="2000" b="0">
                <a:solidFill>
                  <a:srgbClr val="1F2D3A"/>
                </a:solidFill>
              </a:rPr>
              <a:t>) makes the tag come out </a:t>
            </a:r>
            <a:r>
              <a:rPr sz="2000" b="1">
                <a:solidFill>
                  <a:srgbClr val="1F2D3A"/>
                </a:solidFill>
              </a:rPr>
              <a:t>completely different</a:t>
            </a:r>
            <a:r>
              <a:rPr sz="2000" b="0">
                <a:solidFill>
                  <a:srgbClr val="1F2D3A"/>
                </a:solidFill>
              </a:rPr>
              <a:t> — this is called the </a:t>
            </a:r>
            <a:r>
              <a:rPr sz="2000" b="1">
                <a:solidFill>
                  <a:srgbClr val="1F2D3A"/>
                </a:solidFill>
              </a:rPr>
              <a:t>avalanche effect</a:t>
            </a:r>
            <a:r>
              <a:rPr sz="2000" b="0">
                <a:solidFill>
                  <a:srgbClr val="1F2D3A"/>
                </a:solidFill>
              </a:rPr>
              <a:t>. Without knowing the key, an attacker cannot produce a valid new tag; the receiver catches the mismatch.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 · Inner/Outer Digest — Animation</a:t>
            </a:r>
          </a:p>
        </p:txBody>
      </p:sp>
      <p:pic>
        <p:nvPicPr>
          <p:cNvPr id="7" name="Picture 6" descr="hmac-inner-out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912" y="1325880"/>
            <a:ext cx="88698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Constant-Time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YANLIS: ilk farkta durur, sure farki sizdirir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(memcmp(hesaplanan, gelen, 32) == 0) { /* kabul */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DOGRU: her zaman 32 baytin tamamini gezer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(CRYPTO_memcmp(hesaplanan, gelen, 32) == 0) { /* kabul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always compare secret values such as a MAC/signature/password digest with a constant-time comparison;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==</a:t>
            </a:r>
            <a:r>
              <a:rPr sz="2000" b="0">
                <a:solidFill>
                  <a:srgbClr val="1F2D3A"/>
                </a:solidFill>
              </a:rPr>
              <a:t> leaves an open door to a timing attack.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Encrypt-then-MAC — Diagram</a:t>
            </a:r>
          </a:p>
        </p:txBody>
      </p:sp>
      <p:pic>
        <p:nvPicPr>
          <p:cNvPr id="7" name="Picture 6" descr="h10-01-encrypt-then-m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58776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Correct Order · Encrypt-then-MAC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1. şifrele:  c = ENC(k1, m)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2. MAC'le:   t = MAC(k2, c)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3. gönder:   c ||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Encrypt first, </a:t>
            </a:r>
            <a:r>
              <a:rPr sz="2000" b="1">
                <a:solidFill>
                  <a:srgbClr val="1F2D3A"/>
                </a:solidFill>
              </a:rPr>
              <a:t>then</a:t>
            </a:r>
            <a:r>
              <a:rPr sz="2000" b="0">
                <a:solidFill>
                  <a:srgbClr val="1F2D3A"/>
                </a:solidFill>
              </a:rPr>
              <a:t> MAC the ciphertext.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MAC does not pass, </a:t>
            </a:r>
            <a:r>
              <a:rPr sz="2000" b="1">
                <a:solidFill>
                  <a:srgbClr val="1F2D3A"/>
                </a:solidFill>
              </a:rPr>
              <a:t>don't even attempt</a:t>
            </a:r>
            <a:r>
              <a:rPr sz="2000" b="0">
                <a:solidFill>
                  <a:srgbClr val="1F2D3A"/>
                </a:solidFill>
              </a:rPr>
              <a:t> to decrypt.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Wrong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MAC-then-encrypt:</a:t>
            </a:r>
            <a:r>
              <a:rPr sz="2000" b="0">
                <a:solidFill>
                  <a:srgbClr val="1F2D3A"/>
                </a:solidFill>
              </a:rPr>
              <a:t> open to the padding oracle.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Encrypt-and-MAC:</a:t>
            </a:r>
            <a:r>
              <a:rPr sz="2000" b="0">
                <a:solidFill>
                  <a:srgbClr val="1F2D3A"/>
                </a:solidFill>
              </a:rPr>
              <a:t> the MAC can leak the plaintext.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correct way: </a:t>
            </a:r>
            <a:r>
              <a:rPr sz="2000" b="1">
                <a:solidFill>
                  <a:srgbClr val="1F2D3A"/>
                </a:solidFill>
              </a:rPr>
              <a:t>encrypt-then-MAC</a:t>
            </a:r>
            <a:r>
              <a:rPr sz="2000" b="0">
                <a:solidFill>
                  <a:srgbClr val="1F2D3A"/>
                </a:solidFill>
              </a:rPr>
              <a:t> (or AEAD, which already does this).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the Order Matters — Animation</a:t>
            </a:r>
          </a:p>
        </p:txBody>
      </p:sp>
      <p:pic>
        <p:nvPicPr>
          <p:cNvPr id="7" name="Picture 6" descr="encrypt-then-mac-ord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1742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resends a valid message </a:t>
            </a:r>
            <a:r>
              <a:rPr sz="2000" b="1">
                <a:solidFill>
                  <a:srgbClr val="1F2D3A"/>
                </a:solidFill>
              </a:rPr>
              <a:t>again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MAC is valid (the message hasn't changed), but the operation is </a:t>
            </a:r>
            <a:r>
              <a:rPr sz="2000" b="1">
                <a:solidFill>
                  <a:srgbClr val="1F2D3A"/>
                </a:solidFill>
              </a:rPr>
              <a:t>repeated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</a:t>
            </a:r>
            <a:r>
              <a:rPr sz="2000" b="1">
                <a:solidFill>
                  <a:srgbClr val="1F2D3A"/>
                </a:solidFill>
              </a:rPr>
              <a:t>nonce</a:t>
            </a:r>
            <a:r>
              <a:rPr sz="2000" b="0">
                <a:solidFill>
                  <a:srgbClr val="1F2D3A"/>
                </a:solidFill>
              </a:rPr>
              <a:t>, timestamp, counter.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 Does It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AES-GCM: encryption + integrity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"Associated data" (AAD) also authenticates headers/context.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choice: AEAD instead of a separate MAC.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· MAC/HMAC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Provide integrity with </a:t>
            </a:r>
            <a:r>
              <a:rPr sz="2000" b="1">
                <a:solidFill>
                  <a:srgbClr val="1F2D3A"/>
                </a:solidFill>
              </a:rPr>
              <a:t>HMAC</a:t>
            </a:r>
            <a:r>
              <a:rPr sz="2000" b="0">
                <a:solidFill>
                  <a:srgbClr val="1F2D3A"/>
                </a:solidFill>
              </a:rPr>
              <a:t>, not plain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H(K‖m)</a:t>
            </a:r>
            <a:r>
              <a:rPr sz="2000" b="0">
                <a:solidFill>
                  <a:srgbClr val="1F2D3A"/>
                </a:solidFill>
              </a:rPr>
              <a:t> (risk of length extension).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combining encryption + MAC, the order is </a:t>
            </a:r>
            <a:r>
              <a:rPr sz="2000" b="1">
                <a:solidFill>
                  <a:srgbClr val="1F2D3A"/>
                </a:solidFill>
              </a:rPr>
              <a:t>encrypt-then-MAC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Tag/signature comparison must be </a:t>
            </a:r>
            <a:r>
              <a:rPr sz="2000" b="1">
                <a:solidFill>
                  <a:srgbClr val="1F2D3A"/>
                </a:solidFill>
              </a:rPr>
              <a:t>constant-time</a:t>
            </a:r>
            <a:r>
              <a:rPr sz="2000" b="0">
                <a:solidFill>
                  <a:srgbClr val="1F2D3A"/>
                </a:solidFill>
              </a:rPr>
              <a:t>; don't use a function with an early exit.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Asymmetric Cryptography: RSA and ECC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Symmetric ↔ Asymmetric — Diagram</a:t>
            </a:r>
          </a:p>
        </p:txBody>
      </p:sp>
      <p:pic>
        <p:nvPicPr>
          <p:cNvPr id="7" name="Picture 6" descr="h10-05-simetrik-asimetr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7379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 / PSS — Diagram</a:t>
            </a:r>
          </a:p>
        </p:txBody>
      </p:sp>
      <p:pic>
        <p:nvPicPr>
          <p:cNvPr id="7" name="Picture 6" descr="h10-09-oaep-p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2232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 · Two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Encryption:</a:t>
            </a:r>
            <a:r>
              <a:rPr sz="2000" b="0">
                <a:solidFill>
                  <a:srgbClr val="1F2D3A"/>
                </a:solidFill>
              </a:rPr>
              <a:t> encrypt with the public key, decrypt with the private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Signing:</a:t>
            </a:r>
            <a:r>
              <a:rPr sz="2000" b="0">
                <a:solidFill>
                  <a:srgbClr val="1F2D3A"/>
                </a:solidFill>
              </a:rPr>
              <a:t> sign with the private key, verify with the public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Large keys (2048+).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 · Padding Is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Raw RSA is </a:t>
            </a:r>
            <a:r>
              <a:rPr sz="2000" b="1">
                <a:solidFill>
                  <a:srgbClr val="1F2D3A"/>
                </a:solidFill>
              </a:rPr>
              <a:t>insecure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 encryption:</a:t>
            </a:r>
            <a:r>
              <a:rPr sz="2000" b="0">
                <a:solidFill>
                  <a:srgbClr val="1F2D3A"/>
                </a:solidFill>
              </a:rPr>
              <a:t> OAEP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 signing:</a:t>
            </a:r>
            <a:r>
              <a:rPr sz="2000" b="0">
                <a:solidFill>
                  <a:srgbClr val="1F2D3A"/>
                </a:solidFill>
              </a:rPr>
              <a:t> PSS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Old PKCS#1 v1.5: avoid where possible.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Toy RSA · End to End — Animation</a:t>
            </a:r>
          </a:p>
        </p:txBody>
      </p:sp>
      <p:pic>
        <p:nvPicPr>
          <p:cNvPr id="7" name="Picture 6" descr="rsa-to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298" y="1325880"/>
            <a:ext cx="753309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 vs PSS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OAEP:</a:t>
            </a:r>
            <a:r>
              <a:rPr sz="2000" b="0">
                <a:solidFill>
                  <a:srgbClr val="1F2D3A"/>
                </a:solidFill>
              </a:rPr>
              <a:t> RSA </a:t>
            </a:r>
            <a:r>
              <a:rPr sz="2000" b="1">
                <a:solidFill>
                  <a:srgbClr val="1F2D3A"/>
                </a:solidFill>
              </a:rPr>
              <a:t>encryption</a:t>
            </a:r>
            <a:r>
              <a:rPr sz="2000" b="0">
                <a:solidFill>
                  <a:srgbClr val="1F2D3A"/>
                </a:solidFill>
              </a:rPr>
              <a:t>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PSS:</a:t>
            </a:r>
            <a:r>
              <a:rPr sz="2000" b="0">
                <a:solidFill>
                  <a:srgbClr val="1F2D3A"/>
                </a:solidFill>
              </a:rPr>
              <a:t> RSA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mix-up: OAEP is not for signing, PSS is not for encryption.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OAEP's Randomness ·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encrypt the same message twice with OAEP: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-encrypt -pubin -inkey rsa_acik.pem -in kisa.txt -out c1.bin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-pkeyopt rsa_padding_mode:oaep -pkeyopt rsa_oaep_md:sha256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-encrypt -pubin -inkey rsa_acik.pem -in kisa.txt -out c2.bin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-pkeyopt rsa_padding_mode:oaep -pkeyopt rsa_oaep_md:sha256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cmp c1.bin c2.bin &amp;&amp; echo AYNI || echo FARKLI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OAEP's Randomness ·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c1.bin c2.bin differ: char 1, line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FARKLI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Same key, same plaintext, but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ciphertext — OAEP mixes in a fresh random value on every encryption. </a:t>
            </a:r>
            <a:r>
              <a:rPr sz="2000" b="1">
                <a:solidFill>
                  <a:srgbClr val="1F2D3A"/>
                </a:solidFill>
              </a:rPr>
              <a:t>Raw RSA</a:t>
            </a:r>
            <a:r>
              <a:rPr sz="2000" b="0">
                <a:solidFill>
                  <a:srgbClr val="1F2D3A"/>
                </a:solidFill>
              </a:rPr>
              <a:t> (without padding) is deterministic (</a:t>
            </a:r>
            <a:r>
              <a:rPr sz="2000" b="0">
                <a:solidFill>
                  <a:srgbClr val="A1123F"/>
                </a:solidFill>
                <a:latin typeface="Consolas"/>
              </a:rPr>
              <a:t>c = m^e mod n</a:t>
            </a:r>
            <a:r>
              <a:rPr sz="2000" b="0">
                <a:solidFill>
                  <a:srgbClr val="1F2D3A"/>
                </a:solidFill>
              </a:rPr>
              <a:t>); that is why it is never used directly for encryption.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ECC ·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security with a </a:t>
            </a:r>
            <a:r>
              <a:rPr sz="2000" b="1">
                <a:solidFill>
                  <a:srgbClr val="1F2D3A"/>
                </a:solidFill>
              </a:rPr>
              <a:t>smaller</a:t>
            </a:r>
            <a:r>
              <a:rPr sz="2000" b="0">
                <a:solidFill>
                  <a:srgbClr val="1F2D3A"/>
                </a:solidFill>
              </a:rPr>
              <a:t> key (256-bit ≈ RSA-3072).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Faster, less space.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Ideal for mobile/embedded.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Ed25519 and X25519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Ed25519:</a:t>
            </a:r>
            <a:r>
              <a:rPr sz="2000" b="0">
                <a:solidFill>
                  <a:srgbClr val="1F2D3A"/>
                </a:solidFill>
              </a:rPr>
              <a:t> the modern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 algorithm.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X25519:</a:t>
            </a:r>
            <a:r>
              <a:rPr sz="2000" b="0">
                <a:solidFill>
                  <a:srgbClr val="1F2D3A"/>
                </a:solidFill>
              </a:rPr>
              <a:t> modern </a:t>
            </a:r>
            <a:r>
              <a:rPr sz="2000" b="1">
                <a:solidFill>
                  <a:srgbClr val="1F2D3A"/>
                </a:solidFill>
              </a:rPr>
              <a:t>key agreement</a:t>
            </a:r>
            <a:r>
              <a:rPr sz="2000" b="0">
                <a:solidFill>
                  <a:srgbClr val="1F2D3A"/>
                </a:solidFill>
              </a:rPr>
              <a:t> (DH).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mix-up: Ed25519 signs, X25519 exchanges keys.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ECDH · Point Addition — Animation</a:t>
            </a:r>
          </a:p>
        </p:txBody>
      </p:sp>
      <p:pic>
        <p:nvPicPr>
          <p:cNvPr id="7" name="Picture 6" descr="ecdh-to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634" y="1325880"/>
            <a:ext cx="47684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RSA-3072 vs Ed25519 ·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at roughly 128 bits of security (see the table in Section 1):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wc -c rsa_acik.pem ed_acik.pem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wc -c belge.rsa.sig belge.ed.sig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RSA-3072 vs Ed25519 · Result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8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2364165"/>
                <a:gridCol w="2364165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RSA-3072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Public key (PEM)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636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116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384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64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public key is </a:t>
            </a:r>
            <a:r>
              <a:rPr sz="2000" b="1">
                <a:solidFill>
                  <a:srgbClr val="1F2D3A"/>
                </a:solidFill>
              </a:rPr>
              <a:t>~5.5 times</a:t>
            </a:r>
            <a:r>
              <a:rPr sz="2000" b="0">
                <a:solidFill>
                  <a:srgbClr val="1F2D3A"/>
                </a:solidFill>
              </a:rPr>
              <a:t> smaller, the signature </a:t>
            </a:r>
            <a:r>
              <a:rPr sz="2000" b="1">
                <a:solidFill>
                  <a:srgbClr val="1F2D3A"/>
                </a:solidFill>
              </a:rPr>
              <a:t>6 times</a:t>
            </a:r>
            <a:r>
              <a:rPr sz="2000" b="0">
                <a:solidFill>
                  <a:srgbClr val="1F2D3A"/>
                </a:solidFill>
              </a:rPr>
              <a:t> smaller. In IoT/mobile handshakes, in embedded flash, or on a blockchain, this difference adds up.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Symmetric + Asymmetric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1. X25519 ile ortak sır türet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2. Ondan bir AES anahtarı çıkar (KDF)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3. AES-GCM ile veriyi şifrele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Asymmetric: carry the key. Symmetric: encrypt the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TLS does exactly this.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3–4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encrypt-then-MAC the correct order?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How is replay prevented?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Which is OAEP and which is PSS for?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What's the difference between Ed25519 and X25519?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3–4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receiver verifies the </a:t>
            </a:r>
            <a:r>
              <a:rPr sz="2000" b="1">
                <a:solidFill>
                  <a:srgbClr val="1F2D3A"/>
                </a:solidFill>
              </a:rPr>
              <a:t>MAC first</a:t>
            </a:r>
            <a:r>
              <a:rPr sz="2000" b="0">
                <a:solidFill>
                  <a:srgbClr val="1F2D3A"/>
                </a:solidFill>
              </a:rPr>
              <a:t>; if it fails, it does not decrypt → a modified ciphertext is never processed (closes off the padding oracle).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Freshness:</a:t>
            </a:r>
            <a:r>
              <a:rPr sz="2000" b="0">
                <a:solidFill>
                  <a:srgbClr val="1F2D3A"/>
                </a:solidFill>
              </a:rPr>
              <a:t> a nonce/counter, a timestamp + window, a one-time challenge.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OAEP</a:t>
            </a:r>
            <a:r>
              <a:rPr sz="2000" b="0">
                <a:solidFill>
                  <a:srgbClr val="1F2D3A"/>
                </a:solidFill>
              </a:rPr>
              <a:t> = RSA </a:t>
            </a:r>
            <a:r>
              <a:rPr sz="2000" b="1">
                <a:solidFill>
                  <a:srgbClr val="1F2D3A"/>
                </a:solidFill>
              </a:rPr>
              <a:t>encryption</a:t>
            </a:r>
            <a:r>
              <a:rPr sz="2000" b="0">
                <a:solidFill>
                  <a:srgbClr val="1F2D3A"/>
                </a:solidFill>
              </a:rPr>
              <a:t> padding; </a:t>
            </a:r>
            <a:r>
              <a:rPr sz="2000" b="1">
                <a:solidFill>
                  <a:srgbClr val="1F2D3A"/>
                </a:solidFill>
              </a:rPr>
              <a:t>PSS</a:t>
            </a:r>
            <a:r>
              <a:rPr sz="2000" b="0">
                <a:solidFill>
                  <a:srgbClr val="1F2D3A"/>
                </a:solidFill>
              </a:rPr>
              <a:t> = RSA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Ed25519</a:t>
            </a:r>
            <a:r>
              <a:rPr sz="2000" b="0">
                <a:solidFill>
                  <a:srgbClr val="1F2D3A"/>
                </a:solidFill>
              </a:rPr>
              <a:t> = signing (EdDSA); </a:t>
            </a:r>
            <a:r>
              <a:rPr sz="2000" b="1">
                <a:solidFill>
                  <a:srgbClr val="1F2D3A"/>
                </a:solidFill>
              </a:rPr>
              <a:t>X25519</a:t>
            </a:r>
            <a:r>
              <a:rPr sz="2000" b="0">
                <a:solidFill>
                  <a:srgbClr val="1F2D3A"/>
                </a:solidFill>
              </a:rPr>
              <a:t> = key exchange (ECDH). Same curve family, different job.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Digital Signatures and Pitfalls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Digital Signature — Diagram</a:t>
            </a:r>
          </a:p>
        </p:txBody>
      </p:sp>
      <p:pic>
        <p:nvPicPr>
          <p:cNvPr id="7" name="Picture 6" descr="h10-10-im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1434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· What Does It Provide?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Integrity:</a:t>
            </a:r>
            <a:r>
              <a:rPr sz="2000" b="0">
                <a:solidFill>
                  <a:srgbClr val="1F2D3A"/>
                </a:solidFill>
              </a:rPr>
              <a:t> the message has not changed.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Identity/non-repudiation:</a:t>
            </a:r>
            <a:r>
              <a:rPr sz="2000" b="0">
                <a:solidFill>
                  <a:srgbClr val="1F2D3A"/>
                </a:solidFill>
              </a:rPr>
              <a:t> the private key holder signed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Verification: with the public key, anyone can do it.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· Where Is It Used?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Signing software/updates.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Certificates (CA signature).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Signing documents/transactions.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Server identity in TLS (CertificateVerify).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Pitfall 1 · Not Checking the Return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r = EVP_DigestVerify(ctx, imza, n, veri, 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(r) guncellemeyi_kur();   /* HATALI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negative error value is also treated as "true." The correct check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r == 1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Pitfall 2 · Not Including the Version in the Signature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signature covers only the content, an attacker can install an </a:t>
            </a:r>
            <a:r>
              <a:rPr sz="2000" b="1">
                <a:solidFill>
                  <a:srgbClr val="1F2D3A"/>
                </a:solidFill>
              </a:rPr>
              <a:t>old</a:t>
            </a:r>
            <a:r>
              <a:rPr sz="2000" b="0">
                <a:solidFill>
                  <a:srgbClr val="1F2D3A"/>
                </a:solidFill>
              </a:rPr>
              <a:t> but validly signed version (downgrade).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signed content must also cover the </a:t>
            </a:r>
            <a:r>
              <a:rPr sz="2000" b="1">
                <a:solidFill>
                  <a:srgbClr val="1F2D3A"/>
                </a:solidFill>
              </a:rPr>
              <a:t>version number</a:t>
            </a:r>
            <a:r>
              <a:rPr sz="2000" b="0">
                <a:solidFill>
                  <a:srgbClr val="1F2D3A"/>
                </a:solidFill>
              </a:rPr>
              <a:t>; an old version must be rejected.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Pitfall 3 · Verifying with the Wrong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 verification key trusted? Where did it come from?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verify with the attacker's key, their signature is "valid."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must be </a:t>
            </a:r>
            <a:r>
              <a:rPr sz="2000" b="1">
                <a:solidFill>
                  <a:srgbClr val="1F2D3A"/>
                </a:solidFill>
              </a:rPr>
              <a:t>pinned</a:t>
            </a:r>
            <a:r>
              <a:rPr sz="2000" b="0">
                <a:solidFill>
                  <a:srgbClr val="1F2D3A"/>
                </a:solidFill>
              </a:rPr>
              <a:t>, or come from a trusted chain.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Verification · Three Scenarios — Animation</a:t>
            </a:r>
          </a:p>
        </p:txBody>
      </p:sp>
      <p:pic>
        <p:nvPicPr>
          <p:cNvPr id="7" name="Picture 6" descr="digital-signature-tamp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0905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· the Digest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signature is really the signing of a </a:t>
            </a:r>
            <a:r>
              <a:rPr sz="2000" b="1">
                <a:solidFill>
                  <a:srgbClr val="1F2D3A"/>
                </a:solidFill>
              </a:rPr>
              <a:t>digest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weak digest (MD5/SHA-1) → a weak signature.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SHA-256+.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Diffie–Hellman and MITM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DH · What Does It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parties derive a shared secret </a:t>
            </a:r>
            <a:r>
              <a:rPr sz="2000" b="1">
                <a:solidFill>
                  <a:srgbClr val="1F2D3A"/>
                </a:solidFill>
              </a:rPr>
              <a:t>without sharing</a:t>
            </a:r>
            <a:r>
              <a:rPr sz="2000" b="0">
                <a:solidFill>
                  <a:srgbClr val="1F2D3A"/>
                </a:solidFill>
              </a:rPr>
              <a:t> a private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 agreement over the network.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modern form: X25519.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DH · Step by Step (Concept)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Ali:  a gizli, A = g^a açık gönderir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Veli: b gizli, B = g^b açık gönderir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Ortak sır: A^b = B^a = g^(ab)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eavesdropper sees </a:t>
            </a:r>
            <a:r>
              <a:rPr sz="2000" b="0">
                <a:solidFill>
                  <a:srgbClr val="A1123F"/>
                </a:solidFill>
                <a:latin typeface="Consolas"/>
              </a:rPr>
              <a:t>g^a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g^b</a:t>
            </a:r>
            <a:r>
              <a:rPr sz="2000" b="0">
                <a:solidFill>
                  <a:srgbClr val="1F2D3A"/>
                </a:solidFill>
              </a:rPr>
              <a:t> but cannot compute </a:t>
            </a:r>
            <a:r>
              <a:rPr sz="2000" b="0">
                <a:solidFill>
                  <a:srgbClr val="A1123F"/>
                </a:solidFill>
                <a:latin typeface="Consolas"/>
              </a:rPr>
              <a:t>g^(ab)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X25519 · Both Sides Reach the Same Secret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X25519 -out alice.key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X25519 -out bob.key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 -in alice.key -pubout -out alice.pub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 -in bob.key -pubout -out bob.pub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-derive -inkey alice.key -peerkey bob.pub -out alice_sir.bin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-derive -inkey bob.key -peerkey alice.pub -out bob_sir.bin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X25519 ·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8c53744a000c1a6f...bbc1376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8c53744a000c1a6f...bbc1376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AYNI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Alice and Bob, without ever knowing each other's private key, reached the </a:t>
            </a:r>
            <a:r>
              <a:rPr sz="2000" b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32-byte secret by exchanging only public keys over the network. This raw secret is not used directly as an AES key; it is first passed through a </a:t>
            </a:r>
            <a:r>
              <a:rPr sz="2000" b="1">
                <a:solidFill>
                  <a:srgbClr val="1F2D3A"/>
                </a:solidFill>
              </a:rPr>
              <a:t>KDF</a:t>
            </a:r>
            <a:r>
              <a:rPr sz="2000" b="0">
                <a:solidFill>
                  <a:srgbClr val="1F2D3A"/>
                </a:solidFill>
              </a:rPr>
              <a:t> (HKDF) to derive session keys.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Unauthenticated DH · MITM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Alice and Bob don't </a:t>
            </a:r>
            <a:r>
              <a:rPr sz="2000" b="1">
                <a:solidFill>
                  <a:srgbClr val="1F2D3A"/>
                </a:solidFill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each other's identity...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</a:t>
            </a:r>
            <a:r>
              <a:rPr sz="2000" b="1">
                <a:solidFill>
                  <a:srgbClr val="1F2D3A"/>
                </a:solidFill>
              </a:rPr>
              <a:t>sits in the middle</a:t>
            </a:r>
            <a:r>
              <a:rPr sz="2000" b="0">
                <a:solidFill>
                  <a:srgbClr val="1F2D3A"/>
                </a:solidFill>
              </a:rPr>
              <a:t>: doing DH separately with Alice and separately with Bob.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Listening to/modifying both.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Unauthenticated DH · MITM — Diagram</a:t>
            </a:r>
          </a:p>
        </p:txBody>
      </p:sp>
      <p:pic>
        <p:nvPicPr>
          <p:cNvPr id="7" name="Picture 6" descr="h10-02-dh-mi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829" y="1325880"/>
            <a:ext cx="568003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MITM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Alice ↔ [Attacker] ↔ Bob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two separate DH exchanges; the attacker sits in the middle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sides think "I've established a secure channel."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DH and MITM — Animation</a:t>
            </a:r>
          </a:p>
        </p:txBody>
      </p:sp>
      <p:pic>
        <p:nvPicPr>
          <p:cNvPr id="7" name="Picture 6" descr="diffie-hellman-mitm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414" y="1325880"/>
            <a:ext cx="444886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DH/MITM · Edge Case</a:t>
            </a:r>
          </a:p>
        </p:txBody>
      </p:sp>
      <p:pic>
        <p:nvPicPr>
          <p:cNvPr id="7" name="Picture 6" descr="diffie-hellman-mitm--edge-mitm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174" y="1325880"/>
            <a:ext cx="565734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Fix · Authenticated DH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DH values are </a:t>
            </a:r>
            <a:r>
              <a:rPr sz="2000" b="1">
                <a:solidFill>
                  <a:srgbClr val="1F2D3A"/>
                </a:solidFill>
              </a:rPr>
              <a:t>signed</a:t>
            </a:r>
            <a:r>
              <a:rPr sz="2000" b="0">
                <a:solidFill>
                  <a:srgbClr val="1F2D3A"/>
                </a:solidFill>
              </a:rPr>
              <a:t> with a key whose identity is known.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CertificateVerify</a:t>
            </a:r>
            <a:r>
              <a:rPr sz="2000" b="0">
                <a:solidFill>
                  <a:srgbClr val="1F2D3A"/>
                </a:solidFill>
              </a:rPr>
              <a:t> in TLS 1.3.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other side </a:t>
            </a:r>
            <a:r>
              <a:rPr sz="2000" b="1">
                <a:solidFill>
                  <a:srgbClr val="1F2D3A"/>
                </a:solidFill>
              </a:rPr>
              <a:t>verifies</a:t>
            </a:r>
            <a:r>
              <a:rPr sz="2000" b="0">
                <a:solidFill>
                  <a:srgbClr val="1F2D3A"/>
                </a:solidFill>
              </a:rPr>
              <a:t> this identity (certificate chain).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Forward Secrecy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new</a:t>
            </a:r>
            <a:r>
              <a:rPr sz="2000" b="0">
                <a:solidFill>
                  <a:srgbClr val="1F2D3A"/>
                </a:solidFill>
              </a:rPr>
              <a:t> DH key for every session.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if the long-term key leaks, </a:t>
            </a:r>
            <a:r>
              <a:rPr sz="2000" b="1">
                <a:solidFill>
                  <a:srgbClr val="1F2D3A"/>
                </a:solidFill>
              </a:rPr>
              <a:t>old</a:t>
            </a:r>
            <a:r>
              <a:rPr sz="2000" b="0">
                <a:solidFill>
                  <a:srgbClr val="1F2D3A"/>
                </a:solidFill>
              </a:rPr>
              <a:t> sessions cannot be decrypted.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TLS provides this.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5–6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(r)</a:t>
            </a:r>
            <a:r>
              <a:rPr sz="2000" b="0">
                <a:solidFill>
                  <a:srgbClr val="1F2D3A"/>
                </a:solidFill>
              </a:rPr>
              <a:t> wrong in signature verification?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must the version be part of the signature?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How does MITM happen against unauthenticated DH? The fix?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What does forward secrecy provide?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5–6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Verification returns 1=success, 0=failure, &lt;0=error;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(r)</a:t>
            </a:r>
            <a:r>
              <a:rPr sz="2000" b="0">
                <a:solidFill>
                  <a:srgbClr val="1F2D3A"/>
                </a:solidFill>
              </a:rPr>
              <a:t> also treats the error (−1) as "true." Check for </a:t>
            </a:r>
            <a:r>
              <a:rPr sz="2000" b="1">
                <a:solidFill>
                  <a:srgbClr val="1F2D3A"/>
                </a:solidFill>
              </a:rPr>
              <a:t>`r == 1`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Otherwise an attacker can present an </a:t>
            </a:r>
            <a:r>
              <a:rPr sz="2000" b="1">
                <a:solidFill>
                  <a:srgbClr val="1F2D3A"/>
                </a:solidFill>
              </a:rPr>
              <a:t>old/insecure version</a:t>
            </a:r>
            <a:r>
              <a:rPr sz="2000" b="0">
                <a:solidFill>
                  <a:srgbClr val="1F2D3A"/>
                </a:solidFill>
              </a:rPr>
              <a:t> as "valid" with the same signature (downgrade). The version must be part of the signed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attacker establishes a separate key with each side. Fix: bind DH to </a:t>
            </a:r>
            <a:r>
              <a:rPr sz="2000" b="1">
                <a:solidFill>
                  <a:srgbClr val="1F2D3A"/>
                </a:solidFill>
              </a:rPr>
              <a:t>authentication</a:t>
            </a:r>
            <a:r>
              <a:rPr sz="2000" b="0">
                <a:solidFill>
                  <a:srgbClr val="1F2D3A"/>
                </a:solidFill>
              </a:rPr>
              <a:t> (signed DH / a certificate).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Each session uses an </a:t>
            </a:r>
            <a:r>
              <a:rPr sz="2000" b="1">
                <a:solidFill>
                  <a:srgbClr val="1F2D3A"/>
                </a:solidFill>
              </a:rPr>
              <a:t>ephemeral</a:t>
            </a:r>
            <a:r>
              <a:rPr sz="2000" b="0">
                <a:solidFill>
                  <a:srgbClr val="1F2D3A"/>
                </a:solidFill>
              </a:rPr>
              <a:t> key; even if the long-term key leaks, </a:t>
            </a:r>
            <a:r>
              <a:rPr sz="2000" b="1">
                <a:solidFill>
                  <a:srgbClr val="1F2D3A"/>
                </a:solidFill>
              </a:rPr>
              <a:t>past sessions</a:t>
            </a:r>
            <a:r>
              <a:rPr sz="2000" b="0">
                <a:solidFill>
                  <a:srgbClr val="1F2D3A"/>
                </a:solidFill>
              </a:rPr>
              <a:t> cannot be decrypted.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Public Key Infrastructure (PKI)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Problem · Who Do We Trust?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You've seen a public key. Does it really belong to that person/site?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malicious actor can present their own key as "the bank."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PKI solves this trust problem.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Chain of Trust</a:t>
            </a:r>
          </a:p>
        </p:txBody>
      </p:sp>
      <p:pic>
        <p:nvPicPr>
          <p:cNvPr id="7" name="Picture 6" descr="h10-03-p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232" y="1325880"/>
            <a:ext cx="6441231" cy="4278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13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level </a:t>
            </a:r>
            <a:r>
              <a:rPr sz="2000" b="1">
                <a:solidFill>
                  <a:srgbClr val="1F2D3A"/>
                </a:solidFill>
              </a:rPr>
              <a:t>signs</a:t>
            </a:r>
            <a:r>
              <a:rPr sz="2000" b="0">
                <a:solidFill>
                  <a:srgbClr val="1F2D3A"/>
                </a:solidFill>
              </a:rPr>
              <a:t> the one below it.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Chain Validation — Diagram</a:t>
            </a:r>
          </a:p>
        </p:txBody>
      </p:sp>
      <p:pic>
        <p:nvPicPr>
          <p:cNvPr id="7" name="Picture 6" descr="h10-12-zincir-dogru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0253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Root and Intermediate 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Root CA:</a:t>
            </a:r>
            <a:r>
              <a:rPr sz="2000" b="0">
                <a:solidFill>
                  <a:srgbClr val="1F2D3A"/>
                </a:solidFill>
              </a:rPr>
              <a:t> offline, self-signed, heavily protected.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Intermediate CA:</a:t>
            </a:r>
            <a:r>
              <a:rPr sz="2000" b="0">
                <a:solidFill>
                  <a:srgbClr val="1F2D3A"/>
                </a:solidFill>
              </a:rPr>
              <a:t> issues day-to-day certificates.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root leaks, it's a </a:t>
            </a:r>
            <a:r>
              <a:rPr sz="2000" b="1">
                <a:solidFill>
                  <a:srgbClr val="1F2D3A"/>
                </a:solidFill>
              </a:rPr>
              <a:t>catastrophe</a:t>
            </a:r>
            <a:r>
              <a:rPr sz="2000" b="0">
                <a:solidFill>
                  <a:srgbClr val="1F2D3A"/>
                </a:solidFill>
              </a:rPr>
              <a:t>; this is why an intermediate CA is used.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Trust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OS/browser carries the trusted </a:t>
            </a:r>
            <a:r>
              <a:rPr sz="2000" b="1">
                <a:solidFill>
                  <a:srgbClr val="1F2D3A"/>
                </a:solidFill>
              </a:rPr>
              <a:t>root CAs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chain reaches one of these roots, it is trusted.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 can't, it is </a:t>
            </a:r>
            <a:r>
              <a:rPr sz="2000" b="1">
                <a:solidFill>
                  <a:srgbClr val="1F2D3A"/>
                </a:solidFill>
              </a:rPr>
              <a:t>untrusted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Four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When validating a certificate chain: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Is the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 valid? (at every level)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Does the </a:t>
            </a:r>
            <a:r>
              <a:rPr sz="2000" b="1">
                <a:solidFill>
                  <a:srgbClr val="1F2D3A"/>
                </a:solidFill>
              </a:rPr>
              <a:t>chain</a:t>
            </a:r>
            <a:r>
              <a:rPr sz="2000" b="0">
                <a:solidFill>
                  <a:srgbClr val="1F2D3A"/>
                </a:solidFill>
              </a:rPr>
              <a:t> reach a trusted root?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Has the </a:t>
            </a:r>
            <a:r>
              <a:rPr sz="2000" b="1">
                <a:solidFill>
                  <a:srgbClr val="1F2D3A"/>
                </a:solidFill>
              </a:rPr>
              <a:t>validity period</a:t>
            </a:r>
            <a:r>
              <a:rPr sz="2000" b="0">
                <a:solidFill>
                  <a:srgbClr val="1F2D3A"/>
                </a:solidFill>
              </a:rPr>
              <a:t> not expired?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Does the </a:t>
            </a:r>
            <a:r>
              <a:rPr sz="2000" b="1">
                <a:solidFill>
                  <a:srgbClr val="1F2D3A"/>
                </a:solidFill>
              </a:rPr>
              <a:t>name</a:t>
            </a:r>
            <a:r>
              <a:rPr sz="2000" b="0">
                <a:solidFill>
                  <a:srgbClr val="1F2D3A"/>
                </a:solidFill>
              </a:rPr>
              <a:t> match (SAN)?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four must be </a:t>
            </a:r>
            <a:r>
              <a:rPr sz="2000" b="1">
                <a:solidFill>
                  <a:srgbClr val="1F2D3A"/>
                </a:solidFill>
              </a:rPr>
              <a:t>yes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 · Chain (Issuer/Subject)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-issuer -subject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ara.crt    -noout -issuer -subject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kok.crt    -noout -issuer -subject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6856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issuer=CN=...Ara CA   subject=CN=localhost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issuer=CN=...Kok CA   subject=CN=...Ara CA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issuer=CN=...Kok CA   subject=CN=...Kok 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27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chain reads: </a:t>
            </a:r>
            <a:r>
              <a:rPr sz="2000" b="0">
                <a:solidFill>
                  <a:srgbClr val="A1123F"/>
                </a:solidFill>
                <a:latin typeface="Consolas"/>
              </a:rPr>
              <a:t>sunucu</a:t>
            </a:r>
            <a:r>
              <a:rPr sz="2000" b="0">
                <a:solidFill>
                  <a:srgbClr val="1F2D3A"/>
                </a:solidFill>
              </a:rPr>
              <a:t>'s issuer = </a:t>
            </a:r>
            <a:r>
              <a:rPr sz="2000" b="0">
                <a:solidFill>
                  <a:srgbClr val="A1123F"/>
                </a:solidFill>
                <a:latin typeface="Consolas"/>
              </a:rPr>
              <a:t>ara</a:t>
            </a:r>
            <a:r>
              <a:rPr sz="2000" b="0">
                <a:solidFill>
                  <a:srgbClr val="1F2D3A"/>
                </a:solidFill>
              </a:rPr>
              <a:t>'s subject; the root signs </a:t>
            </a:r>
            <a:r>
              <a:rPr sz="2000" b="1">
                <a:solidFill>
                  <a:srgbClr val="1F2D3A"/>
                </a:solidFill>
              </a:rPr>
              <a:t>itself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 · Validity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-dates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-checkend 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notBefore=Sep 23 2026 GMT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notAfter=Dec 22 2026 GMT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Certificate will not expire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388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-checkend 0</a:t>
            </a:r>
            <a:r>
              <a:rPr sz="2000" b="0">
                <a:solidFill>
                  <a:srgbClr val="1F2D3A"/>
                </a:solidFill>
              </a:rPr>
              <a:t>: "has it expired as of right now?" TLS clients ask this automatically on every connection.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 · Usage (CA:TRUE/FALSE)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-ext basicConstraints,keyUsage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ara.crt    -noout -ext basicConstraints,keyUsage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sunucu.crt:  CA:FALSE            (baska sertifika imzalayamaz)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ara.crt:     CA:TRUE, pathlen:0  (yalniz uc sertifika imzalayabilir)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 · Name (SAN)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X509v3 Subject Alternative Name: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DNS:localhost, IP Address:127.0.0.1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client compares the address it connected to against this list —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CN</a:t>
            </a:r>
            <a:r>
              <a:rPr sz="2000" b="0">
                <a:solidFill>
                  <a:srgbClr val="1F2D3A"/>
                </a:solidFill>
              </a:rPr>
              <a:t>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Subject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7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client library asks these four questions </a:t>
            </a:r>
            <a:r>
              <a:rPr sz="2000" b="1">
                <a:solidFill>
                  <a:srgbClr val="1F2D3A"/>
                </a:solidFill>
              </a:rPr>
              <a:t>on your behalf</a:t>
            </a:r>
            <a:r>
              <a:rPr sz="2000" b="0">
                <a:solidFill>
                  <a:srgbClr val="1F2D3A"/>
                </a:solidFill>
              </a:rPr>
              <a:t>; turning off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or swallowing errors means none of the four questions are ever asked.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With OpenSSL ·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-CAfile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-untrusted ara.crt sunucu.crt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-CAfile</a:t>
            </a:r>
            <a:r>
              <a:rPr sz="2000" b="0">
                <a:solidFill>
                  <a:srgbClr val="1F2D3A"/>
                </a:solidFill>
              </a:rPr>
              <a:t>: the trusted root.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-untrusted</a:t>
            </a:r>
            <a:r>
              <a:rPr sz="2000" b="0">
                <a:solidFill>
                  <a:srgbClr val="1F2D3A"/>
                </a:solidFill>
              </a:rPr>
              <a:t>: the intermediate certificate(s).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SPKI Pinning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embeds the </a:t>
            </a:r>
            <a:r>
              <a:rPr sz="2000" b="1">
                <a:solidFill>
                  <a:srgbClr val="1F2D3A"/>
                </a:solidFill>
              </a:rPr>
              <a:t>digest</a:t>
            </a:r>
            <a:r>
              <a:rPr sz="2000" b="0">
                <a:solidFill>
                  <a:srgbClr val="1F2D3A"/>
                </a:solidFill>
              </a:rPr>
              <a:t> of the expected server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a fake but "valid" certificate is not accepted.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backup pin</a:t>
            </a:r>
            <a:r>
              <a:rPr sz="2000" b="0">
                <a:solidFill>
                  <a:srgbClr val="1F2D3A"/>
                </a:solidFill>
              </a:rPr>
              <a:t> is required (so you're not locked out when the key changes).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· Chain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skip any of the chain validation's </a:t>
            </a:r>
            <a:r>
              <a:rPr sz="2000" b="1">
                <a:solidFill>
                  <a:srgbClr val="1F2D3A"/>
                </a:solidFill>
              </a:rPr>
              <a:t>four questions</a:t>
            </a:r>
            <a:r>
              <a:rPr sz="2000" b="0">
                <a:solidFill>
                  <a:srgbClr val="1F2D3A"/>
                </a:solidFill>
              </a:rPr>
              <a:t> (signature, validity, usage, name).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does not check the name —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checking must be done separately.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a cryptographically correct chain can't connect if the server doesn't send the </a:t>
            </a:r>
            <a:r>
              <a:rPr sz="2000" b="1">
                <a:solidFill>
                  <a:srgbClr val="1F2D3A"/>
                </a:solidFill>
              </a:rPr>
              <a:t>intermediate certificate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The X.509 Certificate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X.509 Fields — Diagram</a:t>
            </a:r>
          </a:p>
        </p:txBody>
      </p:sp>
      <p:pic>
        <p:nvPicPr>
          <p:cNvPr id="7" name="Picture 6" descr="h10-11-x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150" y="1325880"/>
            <a:ext cx="880139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What's Inside?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Subject:</a:t>
            </a:r>
            <a:r>
              <a:rPr sz="2000" b="0">
                <a:solidFill>
                  <a:srgbClr val="1F2D3A"/>
                </a:solidFill>
              </a:rPr>
              <a:t> who it belongs to (domain name).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Public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Validity:</a:t>
            </a:r>
            <a:r>
              <a:rPr sz="2000" b="0">
                <a:solidFill>
                  <a:srgbClr val="1F2D3A"/>
                </a:solidFill>
              </a:rPr>
              <a:t> start/end.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Issuer:</a:t>
            </a:r>
            <a:r>
              <a:rPr sz="2000" b="0">
                <a:solidFill>
                  <a:srgbClr val="1F2D3A"/>
                </a:solidFill>
              </a:rPr>
              <a:t> which CA signed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Signature.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 · Name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SAN (Subject Alternative Name):</a:t>
            </a:r>
            <a:r>
              <a:rPr sz="2000" b="0">
                <a:solidFill>
                  <a:srgbClr val="1F2D3A"/>
                </a:solidFill>
              </a:rPr>
              <a:t> the domain names the certificate is valid for.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Name checking is done against the </a:t>
            </a:r>
            <a:r>
              <a:rPr sz="2000" b="1">
                <a:solidFill>
                  <a:srgbClr val="1F2D3A"/>
                </a:solidFill>
              </a:rPr>
              <a:t>SAN, not the CN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certificate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example.com</a:t>
            </a:r>
            <a:r>
              <a:rPr sz="2000" b="0">
                <a:solidFill>
                  <a:srgbClr val="1F2D3A"/>
                </a:solidFill>
              </a:rPr>
              <a:t> must not be valid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baska.com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Real Certificate · Top-Level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Version: 3 (0x2)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Serial Number: 35:e2:f6:8d:...:76:e7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Signature Algorithm: ecdsa-with-SHA256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Issuer: CN=CEN429 Lab Ara CA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Validity: Sep 23 2026 – Dec 22 2026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Subject: CN=localhost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Subject Public Key Info: 256 bit, NIST CURVE: P-256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Real </a:t>
            </a:r>
            <a:r>
              <a:rPr sz="1800" b="0">
                <a:solidFill>
                  <a:srgbClr val="A1123F"/>
                </a:solidFill>
                <a:latin typeface="Consolas"/>
              </a:rPr>
              <a:t>openssl x509 -text</a:t>
            </a:r>
            <a:r>
              <a:rPr sz="1800" b="0">
                <a:solidFill>
                  <a:srgbClr val="1F2D3A"/>
                </a:solidFill>
              </a:rPr>
              <a:t> output; each field carries the answer to one of the "four questions" (next section).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Real Certificate · Extensions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Basic Constraints: CA:FALSE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Key Usage: critical, Digital Signature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Extended Key Usage: TLS Web Server Authentication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Subject Alternative Name: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DNS:localhost, IP Address:127.0.0.1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Authority Key Identifier: F5:BA:39:86:...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10012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</a:t>
            </a:r>
            <a:r>
              <a:rPr sz="1800" b="0">
                <a:solidFill>
                  <a:srgbClr val="A1123F"/>
                </a:solidFill>
                <a:latin typeface="Consolas"/>
              </a:rPr>
              <a:t>Authority Key Identifier</a:t>
            </a:r>
            <a:r>
              <a:rPr sz="1800" b="0">
                <a:solidFill>
                  <a:srgbClr val="1F2D3A"/>
                </a:solidFill>
              </a:rPr>
              <a:t> is the </a:t>
            </a:r>
            <a:r>
              <a:rPr sz="1800" b="1">
                <a:solidFill>
                  <a:srgbClr val="1F2D3A"/>
                </a:solidFill>
              </a:rPr>
              <a:t>fingerprint</a:t>
            </a:r>
            <a:r>
              <a:rPr sz="1800" b="0">
                <a:solidFill>
                  <a:srgbClr val="1F2D3A"/>
                </a:solidFill>
              </a:rPr>
              <a:t> of the CA that signed the certificate; when building the chain, it prevents confusion with a "fake intermediate CA with the same name but a different key."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Building a Certificate Chain with OpenSSL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build a small chain: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Root CA → Intermediate CA → Server certificate.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Then let's validate it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and see the typical mistake.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Root CA (Self-Signed)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req -x509 -newkey ed25519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-keyout kok.key -out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-subj "/CN=Ders Kok CA" -days 3650 -nodes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root signs itself; it is kept offline.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Intermediate CA (Signed by the Root)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req -newkey ed25519 -keyout ara.key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-out ara.csr -subj "/CN=Ders Ara CA" -nodes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x509 -req -in ara.csr -CA kok.crt -CAkey kok.key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-CAcreateserial -out ara.crt -days 1825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Server Certificate (Signed by the Intermediate)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req -newkey ed25519 -keyout sunucu.key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-out sunucu.csr -subj "/CN=ornek.test" -nodes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x509 -req -in sunucu.csr -CA ara.crt -CAkey ara.key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-CAcreateserial -out sunucu.crt -days 365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Validate (Missing Intermediate)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-CAfile kok.crt sunucu.crt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HATA: unable to get local issuer 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chain can't reach the root: the </a:t>
            </a:r>
            <a:r>
              <a:rPr sz="2000" b="1">
                <a:solidFill>
                  <a:srgbClr val="1F2D3A"/>
                </a:solidFill>
              </a:rPr>
              <a:t>intermediate certificate is missing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Validate (With the Intermediate)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-CAfile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-untrusted ara.crt sunucu.crt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Given the intermediate certificate, the chain is complete.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server must also send the </a:t>
            </a:r>
            <a:r>
              <a:rPr sz="2000" b="1">
                <a:solidFill>
                  <a:srgbClr val="1F2D3A"/>
                </a:solidFill>
              </a:rPr>
              <a:t>intermediate</a:t>
            </a:r>
            <a:r>
              <a:rPr sz="2000" b="0">
                <a:solidFill>
                  <a:srgbClr val="1F2D3A"/>
                </a:solidFill>
              </a:rPr>
              <a:t> certificate.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it's missing, the client says "issuer not found."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most common TLS configuration mistake in the field.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Chain's Four Questions ·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Signature:</a:t>
            </a:r>
            <a:r>
              <a:rPr sz="2000" b="0">
                <a:solidFill>
                  <a:srgbClr val="1F2D3A"/>
                </a:solidFill>
              </a:rPr>
              <a:t> each level signed by the one above ✓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Root: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-CAfile kok.crt</a:t>
            </a:r>
            <a:r>
              <a:rPr sz="2000" b="0">
                <a:solidFill>
                  <a:srgbClr val="1F2D3A"/>
                </a:solidFill>
              </a:rPr>
              <a:t> trust store ✓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Validity:</a:t>
            </a:r>
            <a:r>
              <a:rPr sz="2000" b="0">
                <a:solidFill>
                  <a:srgbClr val="1F2D3A"/>
                </a:solidFill>
              </a:rPr>
              <a:t> within </a:t>
            </a:r>
            <a:r>
              <a:rPr sz="2000" b="0">
                <a:solidFill>
                  <a:srgbClr val="A1123F"/>
                </a:solidFill>
                <a:latin typeface="Consolas"/>
              </a:rPr>
              <a:t>-days</a:t>
            </a:r>
            <a:r>
              <a:rPr sz="2000" b="0">
                <a:solidFill>
                  <a:srgbClr val="1F2D3A"/>
                </a:solidFill>
              </a:rPr>
              <a:t> ✓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Name:</a:t>
            </a:r>
            <a:r>
              <a:rPr sz="2000" b="0">
                <a:solidFill>
                  <a:srgbClr val="1F2D3A"/>
                </a:solidFill>
              </a:rPr>
              <a:t> SAN checking in the application (verify does not check the name!)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Chain Validation · Six Scenarios — Animation</a:t>
            </a:r>
          </a:p>
        </p:txBody>
      </p:sp>
      <p:pic>
        <p:nvPicPr>
          <p:cNvPr id="7" name="Picture 6" descr="x509-chain-valida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269103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Chain · Edge Case (Expired)</a:t>
            </a:r>
          </a:p>
        </p:txBody>
      </p:sp>
      <p:pic>
        <p:nvPicPr>
          <p:cNvPr id="7" name="Picture 6" descr="x509-chain-validation--edge-expir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269103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Turning Off Certificate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ASLA: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SSL_CTX_set_verify(ctx, SSL_VERIFY_NONE, NULL);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opens the door to MITM. A line left in "for testing" is a catastrophe in the field.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Skipping Name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chain is valid but the </a:t>
            </a:r>
            <a:r>
              <a:rPr sz="2000" b="1">
                <a:solidFill>
                  <a:srgbClr val="1F2D3A"/>
                </a:solidFill>
              </a:rPr>
              <a:t>name</a:t>
            </a:r>
            <a:r>
              <a:rPr sz="2000" b="0">
                <a:solidFill>
                  <a:srgbClr val="1F2D3A"/>
                </a:solidFill>
              </a:rPr>
              <a:t> is not verified, the attacker's valid certificate is accepted.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hostname (SAN) must always be checked.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Critical Reading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Ask this when reading TLS setup code: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validation turned 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 name checked?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it </a:t>
            </a:r>
            <a:r>
              <a:rPr sz="2000" b="1">
                <a:solidFill>
                  <a:srgbClr val="1F2D3A"/>
                </a:solidFill>
              </a:rPr>
              <a:t>fail-closed</a:t>
            </a:r>
            <a:r>
              <a:rPr sz="2000" b="0">
                <a:solidFill>
                  <a:srgbClr val="1F2D3A"/>
                </a:solidFill>
              </a:rPr>
              <a:t> on error?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Certificate Revocation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Certificate Revocation — Diagram</a:t>
            </a:r>
          </a:p>
        </p:txBody>
      </p:sp>
      <p:pic>
        <p:nvPicPr>
          <p:cNvPr id="7" name="Picture 6" descr="h10-04-sertifika-ipta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60065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Revoke?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certificate's private key leaks, it must be </a:t>
            </a:r>
            <a:r>
              <a:rPr sz="2000" b="1">
                <a:solidFill>
                  <a:srgbClr val="1F2D3A"/>
                </a:solidFill>
              </a:rPr>
              <a:t>revoked</a:t>
            </a:r>
            <a:r>
              <a:rPr sz="2000" b="0">
                <a:solidFill>
                  <a:srgbClr val="1F2D3A"/>
                </a:solidFill>
              </a:rPr>
              <a:t> before it expires.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revoked certificate must not be accepted.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CRL:</a:t>
            </a:r>
            <a:r>
              <a:rPr sz="2000" b="0">
                <a:solidFill>
                  <a:srgbClr val="1F2D3A"/>
                </a:solidFill>
              </a:rPr>
              <a:t> a </a:t>
            </a:r>
            <a:r>
              <a:rPr sz="2000" b="1">
                <a:solidFill>
                  <a:srgbClr val="1F2D3A"/>
                </a:solidFill>
              </a:rPr>
              <a:t>periodic list</a:t>
            </a:r>
            <a:r>
              <a:rPr sz="2000" b="0">
                <a:solidFill>
                  <a:srgbClr val="1F2D3A"/>
                </a:solidFill>
              </a:rPr>
              <a:t> of revoked certificates.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Can be large, and can be out of date.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OCSP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OCSP:</a:t>
            </a:r>
            <a:r>
              <a:rPr sz="2000" b="0">
                <a:solidFill>
                  <a:srgbClr val="1F2D3A"/>
                </a:solidFill>
              </a:rPr>
              <a:t> asking about a certificate's status </a:t>
            </a:r>
            <a:r>
              <a:rPr sz="2000" b="1">
                <a:solidFill>
                  <a:srgbClr val="1F2D3A"/>
                </a:solidFill>
              </a:rPr>
              <a:t>on the spot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More current; but has privacy/speed issues.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OCSP Stapling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server fetches the OCSP response </a:t>
            </a:r>
            <a:r>
              <a:rPr sz="2000" b="1">
                <a:solidFill>
                  <a:srgbClr val="1F2D3A"/>
                </a:solidFill>
              </a:rPr>
              <a:t>itself</a:t>
            </a:r>
            <a:r>
              <a:rPr sz="2000" b="0">
                <a:solidFill>
                  <a:srgbClr val="1F2D3A"/>
                </a:solidFill>
              </a:rPr>
              <a:t> and presents it along with the certificate.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Gains privacy + speed.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CRL Workflow · Revoke and Generate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ca -config ara.cnf -revoke sunucu.crt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ca -config ara.cnf -gencrl -out ara.crl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Revoking Certificate 35E2F68D...76E7.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Database updated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49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certificate file </a:t>
            </a:r>
            <a:r>
              <a:rPr sz="2000" b="1">
                <a:solidFill>
                  <a:srgbClr val="1F2D3A"/>
                </a:solidFill>
              </a:rPr>
              <a:t>does not change</a:t>
            </a:r>
            <a:r>
              <a:rPr sz="2000" b="0">
                <a:solidFill>
                  <a:srgbClr val="1F2D3A"/>
                </a:solidFill>
              </a:rPr>
              <a:t>; only a revocation record is added to the CA's ledger (</a:t>
            </a:r>
            <a:r>
              <a:rPr sz="2000" b="0">
                <a:solidFill>
                  <a:srgbClr val="A1123F"/>
                </a:solidFill>
                <a:latin typeface="Consolas"/>
              </a:rPr>
              <a:t>index.txt</a:t>
            </a:r>
            <a:r>
              <a:rPr sz="2000" b="0">
                <a:solidFill>
                  <a:srgbClr val="1F2D3A"/>
                </a:solidFill>
              </a:rPr>
              <a:t>). </a:t>
            </a:r>
            <a:r>
              <a:rPr sz="2000" b="0">
                <a:solidFill>
                  <a:srgbClr val="A1123F"/>
                </a:solidFill>
                <a:latin typeface="Consolas"/>
              </a:rPr>
              <a:t>-gencrl</a:t>
            </a:r>
            <a:r>
              <a:rPr sz="2000" b="0">
                <a:solidFill>
                  <a:srgbClr val="1F2D3A"/>
                </a:solidFill>
              </a:rPr>
              <a:t> turns this record into a list </a:t>
            </a:r>
            <a:r>
              <a:rPr sz="2000" b="1">
                <a:solidFill>
                  <a:srgbClr val="1F2D3A"/>
                </a:solidFill>
              </a:rPr>
              <a:t>signed</a:t>
            </a:r>
            <a:r>
              <a:rPr sz="2000" b="0">
                <a:solidFill>
                  <a:srgbClr val="1F2D3A"/>
                </a:solidFill>
              </a:rPr>
              <a:t> with the CA's own key.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Validating with a CRL ·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-crl_check -CAfile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-untrusted ara.crt -CRLfile ara.crl sunucu.crt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error 23 at 0 depth lookup: certificate revoked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error sunucu.crt: verification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49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Even though the certificate </a:t>
            </a:r>
            <a:r>
              <a:rPr sz="2000" b="1">
                <a:solidFill>
                  <a:srgbClr val="1F2D3A"/>
                </a:solidFill>
              </a:rPr>
              <a:t>has not yet expired</a:t>
            </a:r>
            <a:r>
              <a:rPr sz="2000" b="0">
                <a:solidFill>
                  <a:srgbClr val="1F2D3A"/>
                </a:solidFill>
              </a:rPr>
              <a:t>, it is rejected because it is listed in the CRL — revocation checking works </a:t>
            </a:r>
            <a:r>
              <a:rPr sz="2000" b="1">
                <a:solidFill>
                  <a:srgbClr val="1F2D3A"/>
                </a:solidFill>
              </a:rPr>
              <a:t>independently</a:t>
            </a:r>
            <a:r>
              <a:rPr sz="2000" b="0">
                <a:solidFill>
                  <a:srgbClr val="1F2D3A"/>
                </a:solidFill>
              </a:rPr>
              <a:t> of validity checking.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CRL vs OCSP — Animation</a:t>
            </a:r>
          </a:p>
        </p:txBody>
      </p:sp>
      <p:pic>
        <p:nvPicPr>
          <p:cNvPr id="7" name="Picture 6" descr="crl-ocsp-revoca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746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Fail-Open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Accepting</a:t>
            </a:r>
            <a:r>
              <a:rPr sz="2000" b="0">
                <a:solidFill>
                  <a:srgbClr val="1F2D3A"/>
                </a:solidFill>
              </a:rPr>
              <a:t> a certificate when OCSP is unreachable = fail-open.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can block OCSP and slip a revoked certificate through.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Mitigation: </a:t>
            </a:r>
            <a:r>
              <a:rPr sz="2000" b="1">
                <a:solidFill>
                  <a:srgbClr val="1F2D3A"/>
                </a:solidFill>
              </a:rPr>
              <a:t>Must-Staple</a:t>
            </a:r>
            <a:r>
              <a:rPr sz="2000" b="0">
                <a:solidFill>
                  <a:srgbClr val="1F2D3A"/>
                </a:solidFill>
              </a:rPr>
              <a:t>, short-lived certificates.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7–10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are the four questions of chain validation?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is name checking done against (CN or SAN)?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does a missing intermediate certificate break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What is fail-open, and how is it mitigated?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7–10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(1) is the chain </a:t>
            </a:r>
            <a:r>
              <a:rPr sz="2000" b="1">
                <a:solidFill>
                  <a:srgbClr val="1F2D3A"/>
                </a:solidFill>
              </a:rPr>
              <a:t>valid</a:t>
            </a:r>
            <a:r>
              <a:rPr sz="2000" b="0">
                <a:solidFill>
                  <a:srgbClr val="1F2D3A"/>
                </a:solidFill>
              </a:rPr>
              <a:t> to the root, (2) is it within its </a:t>
            </a:r>
            <a:r>
              <a:rPr sz="2000" b="1">
                <a:solidFill>
                  <a:srgbClr val="1F2D3A"/>
                </a:solidFill>
              </a:rPr>
              <a:t>validity</a:t>
            </a:r>
            <a:r>
              <a:rPr sz="2000" b="0">
                <a:solidFill>
                  <a:srgbClr val="1F2D3A"/>
                </a:solidFill>
              </a:rPr>
              <a:t> period, (3) does it have the right </a:t>
            </a:r>
            <a:r>
              <a:rPr sz="2000" b="1">
                <a:solidFill>
                  <a:srgbClr val="1F2D3A"/>
                </a:solidFill>
              </a:rPr>
              <a:t>purpose/constraint</a:t>
            </a:r>
            <a:r>
              <a:rPr sz="2000" b="0">
                <a:solidFill>
                  <a:srgbClr val="1F2D3A"/>
                </a:solidFill>
              </a:rPr>
              <a:t> (CA:TRUE, KeyUsage/EKU), (4) has it been </a:t>
            </a:r>
            <a:r>
              <a:rPr sz="2000" b="1">
                <a:solidFill>
                  <a:srgbClr val="1F2D3A"/>
                </a:solidFill>
              </a:rPr>
              <a:t>revoked</a:t>
            </a:r>
            <a:r>
              <a:rPr sz="2000" b="0">
                <a:solidFill>
                  <a:srgbClr val="1F2D3A"/>
                </a:solidFill>
              </a:rPr>
              <a:t> (CRL/OCSP).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(Subject Alternative Name); CN is no longer used.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chain </a:t>
            </a:r>
            <a:r>
              <a:rPr sz="2000" b="1">
                <a:solidFill>
                  <a:srgbClr val="1F2D3A"/>
                </a:solidFill>
              </a:rPr>
              <a:t>cannot be built</a:t>
            </a:r>
            <a:r>
              <a:rPr sz="2000" b="0">
                <a:solidFill>
                  <a:srgbClr val="1F2D3A"/>
                </a:solidFill>
              </a:rPr>
              <a:t> to the root; the trust path is never completed → failure. The server must also send the </a:t>
            </a:r>
            <a:r>
              <a:rPr sz="2000" b="1">
                <a:solidFill>
                  <a:srgbClr val="1F2D3A"/>
                </a:solidFill>
              </a:rPr>
              <a:t>intermediate</a:t>
            </a:r>
            <a:r>
              <a:rPr sz="2000" b="0">
                <a:solidFill>
                  <a:srgbClr val="1F2D3A"/>
                </a:solidFill>
              </a:rPr>
              <a:t> certificate.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Fail-open:</a:t>
            </a:r>
            <a:r>
              <a:rPr sz="2000" b="0">
                <a:solidFill>
                  <a:srgbClr val="1F2D3A"/>
                </a:solidFill>
              </a:rPr>
              <a:t> counting an error/unreachability as "passed." Mitigation: </a:t>
            </a:r>
            <a:r>
              <a:rPr sz="2000" b="1">
                <a:solidFill>
                  <a:srgbClr val="1F2D3A"/>
                </a:solidFill>
              </a:rPr>
              <a:t>fail-closed</a:t>
            </a:r>
            <a:r>
              <a:rPr sz="2000" b="0">
                <a:solidFill>
                  <a:srgbClr val="1F2D3A"/>
                </a:solidFill>
              </a:rPr>
              <a:t>, OCSP stapling / must-staple, reject on error.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Storing Keys in Hardware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an HSM?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HSM:</a:t>
            </a:r>
            <a:r>
              <a:rPr sz="2000" b="0">
                <a:solidFill>
                  <a:srgbClr val="1F2D3A"/>
                </a:solidFill>
              </a:rPr>
              <a:t> dedicated hardware that stores/operates keys.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never leaves the HSM; you say "sign this," and the result comes back.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Tamper-resistant.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standard interface</a:t>
            </a:r>
            <a:r>
              <a:rPr sz="2000" b="0">
                <a:solidFill>
                  <a:srgbClr val="1F2D3A"/>
                </a:solidFill>
              </a:rPr>
              <a:t> for talking to key modules.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never </a:t>
            </a:r>
            <a:r>
              <a:rPr sz="2000" b="1">
                <a:solidFill>
                  <a:srgbClr val="1F2D3A"/>
                </a:solidFill>
              </a:rPr>
              <a:t>sees</a:t>
            </a:r>
            <a:r>
              <a:rPr sz="2000" b="0">
                <a:solidFill>
                  <a:srgbClr val="1F2D3A"/>
                </a:solidFill>
              </a:rPr>
              <a:t> the value of the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HSMs and software simulations expose this same interface.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Signing with PKCS#11 — Diagram</a:t>
            </a:r>
          </a:p>
        </p:txBody>
      </p:sp>
      <p:pic>
        <p:nvPicPr>
          <p:cNvPr id="7" name="Picture 6" descr="h10-14-pkcs11-imza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670" y="1325880"/>
            <a:ext cx="481635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Key Never Leaves — Animation</a:t>
            </a:r>
          </a:p>
        </p:txBody>
      </p:sp>
      <p:pic>
        <p:nvPicPr>
          <p:cNvPr id="7" name="Picture 6" descr="hsm-pkcs11-key-us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46" y="1325880"/>
            <a:ext cx="1041340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SoftHSM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software simulation</a:t>
            </a:r>
            <a:r>
              <a:rPr sz="2000" b="0">
                <a:solidFill>
                  <a:srgbClr val="1F2D3A"/>
                </a:solidFill>
              </a:rPr>
              <a:t> of an HSM; the same PKCS#11 interface.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development/testing; </a:t>
            </a:r>
            <a:r>
              <a:rPr sz="2000" b="1">
                <a:solidFill>
                  <a:srgbClr val="1F2D3A"/>
                </a:solidFill>
              </a:rPr>
              <a:t>no real hardware protection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real HSM in production.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Hardware?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software, the key is exposed to a whitebox attacker (Week 11).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hardware, the key is isolated → far stronger.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possible, never put the key in software at all.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Key Lifecycle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274803" cy="256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6183202"/>
              </a:tblGrid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What's Done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Generation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Strong randomness (CSPRNG)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Storage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HSM/TEE or protected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Least privilege, constant-time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Crypto-period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lifespan limit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Renewal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Regular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Destruction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Secure erasure from 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· Key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generating a valuable key, </a:t>
            </a:r>
            <a:r>
              <a:rPr sz="2000" b="0">
                <a:solidFill>
                  <a:srgbClr val="A1123F"/>
                </a:solidFill>
                <a:latin typeface="Consolas"/>
              </a:rPr>
              <a:t>CKA_EXTRACTABLE=false</a:t>
            </a:r>
            <a:r>
              <a:rPr sz="2000" b="0">
                <a:solidFill>
                  <a:srgbClr val="1F2D3A"/>
                </a:solidFill>
              </a:rPr>
              <a:t> must be set </a:t>
            </a:r>
            <a:r>
              <a:rPr sz="2000" b="1">
                <a:solidFill>
                  <a:srgbClr val="1F2D3A"/>
                </a:solidFill>
              </a:rPr>
              <a:t>explicitly</a:t>
            </a:r>
            <a:r>
              <a:rPr sz="2000" b="0">
                <a:solidFill>
                  <a:srgbClr val="1F2D3A"/>
                </a:solidFill>
              </a:rPr>
              <a:t>; don't rely on the default.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an HSM the key never leaves; the application only says "sign" through a </a:t>
            </a:r>
            <a:r>
              <a:rPr sz="2000" b="1">
                <a:solidFill>
                  <a:srgbClr val="1F2D3A"/>
                </a:solidFill>
              </a:rPr>
              <a:t>handle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SoftHSM is for testing; production requires a real HSM/hardware protection.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Post-Quantum Cryptography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Post-Quantum — Diagram</a:t>
            </a:r>
          </a:p>
        </p:txBody>
      </p:sp>
      <p:pic>
        <p:nvPicPr>
          <p:cNvPr id="7" name="Picture 6" descr="h10-15-kuantum-sonr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79671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sufficiently powerful quantum computer could break today's </a:t>
            </a:r>
            <a:r>
              <a:rPr sz="2000" b="1">
                <a:solidFill>
                  <a:srgbClr val="1F2D3A"/>
                </a:solidFill>
              </a:rPr>
              <a:t>RSA/ECC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"harvest now, decrypt later" attack: store encrypted data today, decrypt it in the future.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PQC ·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Quantum-resistant algorithms (e.g., ML-KEM key encapsulation).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Standardization is ongoing.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Crypto agility:</a:t>
            </a:r>
            <a:r>
              <a:rPr sz="2000" b="0">
                <a:solidFill>
                  <a:srgbClr val="1F2D3A"/>
                </a:solidFill>
              </a:rPr>
              <a:t> a design that lets you swap the algorithm easily.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PQC Sizes ·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OpenSSL 3.5 can generate the standardized PQC algorithms </a:t>
            </a:r>
            <a:r>
              <a:rPr sz="2000" b="1">
                <a:solidFill>
                  <a:srgbClr val="1F2D3A"/>
                </a:solidFill>
              </a:rPr>
              <a:t>today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ML-KEM-768 -out mlkem.pem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ML-DSA-65  -out mldsa.pem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-sign -inkey mldsa.pem -rawin -in belge.txt -out belge.mldsa.sig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wc -c mlkem_pub.pem mldsa_pub.pem belge.mldsa.sig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PQC Sizes · Result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82037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613"/>
                <a:gridCol w="2727883"/>
                <a:gridCol w="2727883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Public Key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 (classical)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116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64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RSA-3072 (classical)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636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384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ML-KEM-768 (PQC)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1,714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ML-DSA-65 (PQC)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2,770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3,309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ML-DSA-65: the public key is </a:t>
            </a:r>
            <a:r>
              <a:rPr sz="1800" b="1">
                <a:solidFill>
                  <a:srgbClr val="1F2D3A"/>
                </a:solidFill>
              </a:rPr>
              <a:t>~24 times</a:t>
            </a:r>
            <a:r>
              <a:rPr sz="1800" b="0">
                <a:solidFill>
                  <a:srgbClr val="1F2D3A"/>
                </a:solidFill>
              </a:rPr>
              <a:t> larger than Ed25519's, the signature </a:t>
            </a:r>
            <a:r>
              <a:rPr sz="1800" b="1">
                <a:solidFill>
                  <a:srgbClr val="1F2D3A"/>
                </a:solidFill>
              </a:rPr>
              <a:t>~52 times</a:t>
            </a:r>
            <a:r>
              <a:rPr sz="1800" b="0">
                <a:solidFill>
                  <a:srgbClr val="1F2D3A"/>
                </a:solidFill>
              </a:rPr>
              <a:t> larger. TLS's </a:t>
            </a:r>
            <a:r>
              <a:rPr sz="1800" b="1">
                <a:solidFill>
                  <a:srgbClr val="1F2D3A"/>
                </a:solidFill>
              </a:rPr>
              <a:t>hybrid</a:t>
            </a:r>
            <a:r>
              <a:rPr sz="1800" b="0">
                <a:solidFill>
                  <a:srgbClr val="1F2D3A"/>
                </a:solidFill>
              </a:rPr>
              <a:t> (classical + PQC) approach exists to manage this transition cost.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Should You Do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 crypto-agile (don't hardcode the algorithm).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Watch PQC for long-lived secrets.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panic; but prepare.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13. Project: This Week (S8, S11)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S8/S11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Algorithm inventory:</a:t>
            </a:r>
            <a:r>
              <a:rPr sz="2000" b="0">
                <a:solidFill>
                  <a:srgbClr val="1F2D3A"/>
                </a:solidFill>
              </a:rPr>
              <a:t> purpose, algorithm, mode, key length, library.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key lifecycle</a:t>
            </a:r>
            <a:r>
              <a:rPr sz="2000" b="0">
                <a:solidFill>
                  <a:srgbClr val="1F2D3A"/>
                </a:solidFill>
              </a:rPr>
              <a:t> table.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End to End: a Crypto Design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mobile app: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Encrypts sensitive data locally.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Talks to a server securely.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Verifies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design the crypto.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Local Data Encryption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AES-256-GCM</a:t>
            </a:r>
            <a:r>
              <a:rPr sz="2000" b="0">
                <a:solidFill>
                  <a:srgbClr val="1F2D3A"/>
                </a:solidFill>
              </a:rPr>
              <a:t> (AEAD): confidentiality + integrity.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counter or random nonce, </a:t>
            </a:r>
            <a:r>
              <a:rPr sz="2000" b="1">
                <a:solidFill>
                  <a:srgbClr val="1F2D3A"/>
                </a:solidFill>
              </a:rPr>
              <a:t>never repeated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in TEE/HSM; otherwise whitebox (Week 11).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Server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 1.3</a:t>
            </a:r>
            <a:r>
              <a:rPr sz="2000" b="0">
                <a:solidFill>
                  <a:srgbClr val="1F2D3A"/>
                </a:solidFill>
              </a:rPr>
              <a:t>: X25519 key agreement + AEAD.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Certificate chain validation + (if applicable) SPKI pinning + a backup pin.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fail-open.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Update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</a:t>
            </a:r>
            <a:r>
              <a:rPr sz="2000" b="1">
                <a:solidFill>
                  <a:srgbClr val="1F2D3A"/>
                </a:solidFill>
              </a:rPr>
              <a:t>Ed25519</a:t>
            </a:r>
            <a:r>
              <a:rPr sz="2000" b="0">
                <a:solidFill>
                  <a:srgbClr val="1F2D3A"/>
                </a:solidFill>
              </a:rPr>
              <a:t> signature;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 == 1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signed content covers the </a:t>
            </a:r>
            <a:r>
              <a:rPr sz="2000" b="1">
                <a:solidFill>
                  <a:srgbClr val="1F2D3A"/>
                </a:solidFill>
              </a:rPr>
              <a:t>version</a:t>
            </a:r>
            <a:r>
              <a:rPr sz="2000" b="0">
                <a:solidFill>
                  <a:srgbClr val="1F2D3A"/>
                </a:solidFill>
              </a:rPr>
              <a:t>; downgrade rejected.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verification key is pinned/embedded (protected by integrity).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Key Inventory (S8)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918"/>
                <a:gridCol w="2508398"/>
                <a:gridCol w="2257558"/>
                <a:gridCol w="2884658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Alg/Length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Storage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Data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Local encryption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AES-256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TEE/whitebox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Session key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X25519-derived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Memory, short-lived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Signature verification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Update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Ed25519 public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Embedded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Classic Crypto Mistakes —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911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8533"/>
                <a:gridCol w="1143113"/>
                <a:gridCol w="5299888"/>
              </a:tblGrid>
              <a:tr h="35561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The Right Way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Writing your own crypto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proven library, a standard algorithm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ECB mode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 (GCM / ChaCha20-Poly1305)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IV/nonce reuse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unique, non-repeating nonce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Encryption without integrity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 or encrypt-then-MAC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Raw RSA / wrong padding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OAEP (encryption), PSS (signing)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Weak digest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SHA-256+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checking the signature return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== 1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and the version is covered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checking the chain/name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four questions + SAN checking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Fail-open revocation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Must-Staple, short lifetimes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Embedding the key in plaintext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HSM/TEE; otherwise whitebox + a layer (Week 11)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4741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All ten mistakes were covered earlier in this deck; here they are gathered in one glance.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Solved Self-Check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security level of an RSA-2048 + AES-256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~112 bits (RSA-2048 is the weakest link). For 128 bits, use RSA-3072 or ECC.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"Invalid padding" and "invalid MAC" as separate messages: what's the risk?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padding oracle; the attacker can decrypt the message by watching the responses. Use one and the same error; prefer AEAD.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`if (EVP_DigestVerify(...))` wrong?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negative error value also counts as true; the check should be </a:t>
            </a:r>
            <a:r>
              <a:rPr sz="2000" b="0">
                <a:solidFill>
                  <a:srgbClr val="A1123F"/>
                </a:solidFill>
                <a:latin typeface="Consolas"/>
              </a:rPr>
              <a:t>== 1</a:t>
            </a:r>
            <a:r>
              <a:rPr sz="2000" b="0">
                <a:solidFill>
                  <a:srgbClr val="1F2D3A"/>
                </a:solidFill>
              </a:rPr>
              <a:t>. Also, the signed content must cover the version.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`verify` fail without the intermediate certificate?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chain can't reach the root; the intermediate certificate is missing. In the field, this usually means the server isn't sending the intermediate certificate.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happens when `openssl verify` is given both a correct and an irrelevant intermediate certificate?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OpenSSL builds the chain along any valid path it can (e.g., directly to the root); the irrelevant certificate just remains an unused candidate, and validation can still succeed. This is an operational, not a cryptographic, situation.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reusing the same random value in two ECDSA signatures a disaster?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private key can be computed from the two signatures. Ed25519 or deterministic ECDSA (RFC 6979) removes this risk.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the root CA kept offline, and why does an intermediate CA exist?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Compromise of the root key collapses the entire chain, and removing the root from trust stores takes years. The intermediate CA does the day-to-day work; if it is compromised, only that one is revoked.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shouldn't the key be placed in software? Alternative?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whitebox attacker can extract a key embedded in software. Alternative: HSM/TEE (PKCS#11); otherwise whitebox + a layer (Week 11).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5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709249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Encryption + integrity together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Encrypt-then-MAC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correct order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OAEP/PSS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 encryption/signature padding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Ed25519/X25519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 / key agreement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Certificate name checking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CRL/OCSP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Revocation list / on-the-spot query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(Continued)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745621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number used 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KDF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 derivation function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Forward secrecy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Old sessions can't later be decrypted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Trust store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Trusted root CAs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Crypto-period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key's lifespan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 agility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Easily swapping the algorithm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11 — Whitebox Cryptography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2090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This week we saw the "entrust it to hardware" path for protecting a key (HSM, PKCS#11, </a:t>
            </a:r>
            <a:r>
              <a:rPr sz="2000" b="0">
                <a:solidFill>
                  <a:srgbClr val="A1123F"/>
                </a:solidFill>
                <a:latin typeface="Consolas"/>
              </a:rPr>
              <a:t>CKA_EXTRACTABLE=false</a:t>
            </a:r>
            <a:r>
              <a:rPr sz="2000" b="0">
                <a:solidFill>
                  <a:srgbClr val="1F2D3A"/>
                </a:solidFill>
              </a:rPr>
              <a:t>, Section 11). Week 11 asks the same question with no hardware available: how do you protect a key inside an application that is pure software, with no access to any HSM? Table-based whitebox AES and the attacks built against it (BGE, DCA, DFA) are the software-side counterpart of this week's "the key must never be exposed" principle.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10 — Certificates and Cryptographic Methods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