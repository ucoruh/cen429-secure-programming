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kriptografinin yapı taşlarını ve PKI'yi uçtan uca kuruyoruz: kipler, MAC, RSA ve eliptik eğriler, imza, sertifika zinciri, iptal ve anahtar saklama.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kriptonun doğru kullanımı ve PKI. Öğrenciler 3. haftada girişi gördü; burada sıfırdan hatırlatıp derinleştiriyoruz. Vurgu: doğru algoritma değil, doğru KULLANIM.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Kripto terimlerini sıfırdan tanımlıyoruz; 3. haftadan hatırlatma + yeni terimler.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MAC/HMAC ve asimetrik.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dijital imza tuzakları ve DH.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PKI, X.509, zincir, iptal.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HSM, PKCS#11, PQC, proje.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bir kök→ara→sunucu zinciri kurup doğruluyoruz. Değerler örnektir.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biri bir slayt: hata → doğrusu. Hızlı geçilebilir.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Sertifikalar ve Kriptografik Yöntemler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20.11.2026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0812"/>
                <a:gridCol w="1103413"/>
                <a:gridCol w="8827309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algoritma/anahtar seçimi · kipler/dolgu · MAC/HMAC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RSA/ECC · OAEP/PSS · dijital imza · Diffie–Hellman · PKI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8–13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X.509 · zincir · CRL/OCSP · HSM/PKCS#11 · kuantum sonrası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anahtarlar, sertifikalar, PKI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1976–77</a:t>
            </a:r>
            <a:r>
              <a:rPr sz="1800" b="0">
                <a:solidFill>
                  <a:srgbClr val="1F2D3A"/>
                </a:solidFill>
              </a:rPr>
              <a:t> — Diffie–Hellman ve </a:t>
            </a:r>
            <a:r>
              <a:rPr sz="1800" b="1">
                <a:solidFill>
                  <a:srgbClr val="1F2D3A"/>
                </a:solidFill>
              </a:rPr>
              <a:t>RSA</a:t>
            </a:r>
            <a:r>
              <a:rPr sz="1800" b="0">
                <a:solidFill>
                  <a:srgbClr val="1F2D3A"/>
                </a:solidFill>
              </a:rPr>
              <a:t>: tanımadığınla güvenli konuşma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1988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X.509</a:t>
            </a:r>
            <a:r>
              <a:rPr sz="1800" b="0">
                <a:solidFill>
                  <a:srgbClr val="1F2D3A"/>
                </a:solidFill>
              </a:rPr>
              <a:t> sertifika biçimi; kimliği bir </a:t>
            </a:r>
            <a:r>
              <a:rPr sz="1800" b="1">
                <a:solidFill>
                  <a:srgbClr val="1F2D3A"/>
                </a:solidFill>
              </a:rPr>
              <a:t>CA imzası</a:t>
            </a:r>
            <a:r>
              <a:rPr sz="1800" b="0">
                <a:solidFill>
                  <a:srgbClr val="1F2D3A"/>
                </a:solidFill>
              </a:rPr>
              <a:t> taşır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ticari CA'lar ve </a:t>
            </a:r>
            <a:r>
              <a:rPr sz="1800" b="1">
                <a:solidFill>
                  <a:srgbClr val="1F2D3A"/>
                </a:solidFill>
              </a:rPr>
              <a:t>PKI</a:t>
            </a:r>
            <a:r>
              <a:rPr sz="1800" b="0">
                <a:solidFill>
                  <a:srgbClr val="1F2D3A"/>
                </a:solidFill>
              </a:rPr>
              <a:t>; ardından </a:t>
            </a:r>
            <a:r>
              <a:rPr sz="1800" b="1">
                <a:solidFill>
                  <a:srgbClr val="1F2D3A"/>
                </a:solidFill>
              </a:rPr>
              <a:t>CRL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OCSP</a:t>
            </a:r>
            <a:r>
              <a:rPr sz="1800" b="0">
                <a:solidFill>
                  <a:srgbClr val="1F2D3A"/>
                </a:solidFill>
              </a:rPr>
              <a:t> (iptal)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2014</a:t>
            </a:r>
            <a:r>
              <a:rPr sz="1800" b="0">
                <a:solidFill>
                  <a:srgbClr val="1F2D3A"/>
                </a:solidFill>
              </a:rPr>
              <a:t> Heartbleed ·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Let's Encrypt · </a:t>
            </a:r>
            <a:r>
              <a:rPr sz="1800" b="1">
                <a:solidFill>
                  <a:srgbClr val="1F2D3A"/>
                </a:solidFill>
              </a:rPr>
              <a:t>2018</a:t>
            </a:r>
            <a:r>
              <a:rPr sz="1800" b="0">
                <a:solidFill>
                  <a:srgbClr val="1F2D3A"/>
                </a:solidFill>
              </a:rPr>
              <a:t> TLS 1.3 · </a:t>
            </a:r>
            <a:r>
              <a:rPr sz="1800" b="1">
                <a:solidFill>
                  <a:srgbClr val="1F2D3A"/>
                </a:solidFill>
              </a:rPr>
              <a:t>2022–24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PQC</a:t>
            </a:r>
            <a:r>
              <a:rPr sz="1800" b="0">
                <a:solidFill>
                  <a:srgbClr val="1F2D3A"/>
                </a:solidFill>
              </a:rPr>
              <a:t> (Kyber/Dilithium)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Bugünkü kurallar (doğru kip/dolgu, zincir doğrulama, iptal) bu acı derslerden çıktı.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3. hafta:</a:t>
            </a:r>
            <a:r>
              <a:rPr sz="2000" b="0">
                <a:solidFill>
                  <a:srgbClr val="1F2D3A"/>
                </a:solidFill>
              </a:rPr>
              <a:t> kriptoya giriş (gizlilik, bütünlük).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(10):</a:t>
            </a:r>
            <a:r>
              <a:rPr sz="2000" b="0">
                <a:solidFill>
                  <a:srgbClr val="1F2D3A"/>
                </a:solidFill>
              </a:rPr>
              <a:t> doğru </a:t>
            </a:r>
            <a:r>
              <a:rPr sz="2000" b="1">
                <a:solidFill>
                  <a:srgbClr val="1F2D3A"/>
                </a:solidFill>
              </a:rPr>
              <a:t>algoritma/kip/dolgu seçimi</a:t>
            </a:r>
            <a:r>
              <a:rPr sz="2000" b="0">
                <a:solidFill>
                  <a:srgbClr val="1F2D3A"/>
                </a:solidFill>
              </a:rPr>
              <a:t>, anahtar yaşam döngüsü, </a:t>
            </a:r>
            <a:r>
              <a:rPr sz="2000" b="1">
                <a:solidFill>
                  <a:srgbClr val="1F2D3A"/>
                </a:solidFill>
              </a:rPr>
              <a:t>PKI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11. hafta:</a:t>
            </a:r>
            <a:r>
              <a:rPr sz="2000" b="0">
                <a:solidFill>
                  <a:srgbClr val="1F2D3A"/>
                </a:solidFill>
              </a:rPr>
              <a:t> anahtar yazılımda korunuyorsa → whitebox.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ÖÇ.2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 algoritma, kip, dolgu ve anahtar uzunluğu seçmek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anahtar değişiminin </a:t>
            </a:r>
            <a:r>
              <a:rPr sz="2000" b="1">
                <a:solidFill>
                  <a:srgbClr val="1F2D3A"/>
                </a:solidFill>
              </a:rPr>
              <a:t>tuzaklarını</a:t>
            </a:r>
            <a:r>
              <a:rPr sz="2000" b="0">
                <a:solidFill>
                  <a:srgbClr val="1F2D3A"/>
                </a:solidFill>
              </a:rPr>
              <a:t> görmek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 </a:t>
            </a:r>
            <a:r>
              <a:rPr sz="2000" b="1">
                <a:solidFill>
                  <a:srgbClr val="1F2D3A"/>
                </a:solidFill>
              </a:rPr>
              <a:t>zincirini</a:t>
            </a:r>
            <a:r>
              <a:rPr sz="2000" b="0">
                <a:solidFill>
                  <a:srgbClr val="1F2D3A"/>
                </a:solidFill>
              </a:rPr>
              <a:t> doğru doğrulamak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hatalar genelde algoritmada değil,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yanlış kip, yanlış dolgu, doğrulanmayan imza, denetlenmeyen zincir.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doğru </a:t>
            </a:r>
            <a:r>
              <a:rPr sz="2000" b="1">
                <a:solidFill>
                  <a:srgbClr val="1F2D3A"/>
                </a:solidFill>
              </a:rPr>
              <a:t>kullanımı</a:t>
            </a:r>
            <a:r>
              <a:rPr sz="2000" b="0">
                <a:solidFill>
                  <a:srgbClr val="1F2D3A"/>
                </a:solidFill>
              </a:rPr>
              <a:t> öğreneceğiz.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vs asimetrik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Simetrik:</a:t>
            </a:r>
            <a:r>
              <a:rPr sz="2000" b="0">
                <a:solidFill>
                  <a:srgbClr val="1F2D3A"/>
                </a:solidFill>
              </a:rPr>
              <a:t> tek anahtar, şifrele ve çöz (AES).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Asimetrik:</a:t>
            </a:r>
            <a:r>
              <a:rPr sz="2000" b="0">
                <a:solidFill>
                  <a:srgbClr val="1F2D3A"/>
                </a:solidFill>
              </a:rPr>
              <a:t> açık + gizli anahtar çifti (RSA, ECC). Yavaş ama anahtar dağıtımı kolay.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Pratikte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: asimetrik ile anahtar taşı, simetrik ile veri şifrele.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şifre ve kip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Blok şifre:</a:t>
            </a:r>
            <a:r>
              <a:rPr sz="2000" b="0">
                <a:solidFill>
                  <a:srgbClr val="1F2D3A"/>
                </a:solidFill>
              </a:rPr>
              <a:t> sabit boyutlu bloğu şifreler (AES: 16 bayt).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Kip (mode):</a:t>
            </a:r>
            <a:r>
              <a:rPr sz="2000" b="0">
                <a:solidFill>
                  <a:srgbClr val="1F2D3A"/>
                </a:solidFill>
              </a:rPr>
              <a:t> blokları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zincirleyeceğimiz (CBC, GCM…).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Kip seçimi güvenliğin </a:t>
            </a:r>
            <a:r>
              <a:rPr sz="2000" b="1">
                <a:solidFill>
                  <a:srgbClr val="1F2D3A"/>
                </a:solidFill>
              </a:rPr>
              <a:t>kalbidir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Dolgu (padding)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Dolgu:</a:t>
            </a:r>
            <a:r>
              <a:rPr sz="2000" b="0">
                <a:solidFill>
                  <a:srgbClr val="1F2D3A"/>
                </a:solidFill>
              </a:rPr>
              <a:t> veri blok boyutunun katı değilse tamamlama.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Bazı kiplerde gerekir (CBC), bazılarında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 (GCM).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saldırısı.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(Authenticated Encryption with Associated Data):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bütünlüğü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 veren şifreleme.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AES-GCM, ChaCha20-Poly1305.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uğraşma, AEAD kullan.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MAC ve 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 (Message Authentication Code):</a:t>
            </a:r>
            <a:r>
              <a:rPr sz="2000" b="0">
                <a:solidFill>
                  <a:srgbClr val="1F2D3A"/>
                </a:solidFill>
              </a:rPr>
              <a:t> bir mesajın </a:t>
            </a:r>
            <a:r>
              <a:rPr sz="2000" b="1">
                <a:solidFill>
                  <a:srgbClr val="1F2D3A"/>
                </a:solidFill>
              </a:rPr>
              <a:t>değişmediğini</a:t>
            </a:r>
            <a:r>
              <a:rPr sz="2000" b="0">
                <a:solidFill>
                  <a:srgbClr val="1F2D3A"/>
                </a:solidFill>
              </a:rPr>
              <a:t> ve doğru taraftan geldiğini kanıtlayan etiket (simetrik).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HMAC:</a:t>
            </a:r>
            <a:r>
              <a:rPr sz="2000" b="0">
                <a:solidFill>
                  <a:srgbClr val="1F2D3A"/>
                </a:solidFill>
              </a:rPr>
              <a:t> özet fonksiyonuna dayalı yaygın bir MAC.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Bütünlük için.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Encrypt-then-MAC — şema</a:t>
            </a:r>
          </a:p>
        </p:txBody>
      </p:sp>
      <p:pic>
        <p:nvPicPr>
          <p:cNvPr id="7" name="Picture 6" descr="h10-01-encrypt-then-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 (hash)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Özet:</a:t>
            </a:r>
            <a:r>
              <a:rPr sz="2000" b="0">
                <a:solidFill>
                  <a:srgbClr val="1F2D3A"/>
                </a:solidFill>
              </a:rPr>
              <a:t> veriden hesaplanan sabit parmak izi (SHA-256).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yönlü: özetten veri geri gelmez.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ve MAC'in yapı taşı.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Dijital imza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asimetrik; </a:t>
            </a:r>
            <a:r>
              <a:rPr sz="2000" b="1">
                <a:solidFill>
                  <a:srgbClr val="1F2D3A"/>
                </a:solidFill>
              </a:rPr>
              <a:t>gizli</a:t>
            </a:r>
            <a:r>
              <a:rPr sz="2000" b="0">
                <a:solidFill>
                  <a:srgbClr val="1F2D3A"/>
                </a:solidFill>
              </a:rPr>
              <a:t> anahtarla imzala, </a:t>
            </a:r>
            <a:r>
              <a:rPr sz="2000" b="1">
                <a:solidFill>
                  <a:srgbClr val="1F2D3A"/>
                </a:solidFill>
              </a:rPr>
              <a:t>açık</a:t>
            </a:r>
            <a:r>
              <a:rPr sz="2000" b="0">
                <a:solidFill>
                  <a:srgbClr val="1F2D3A"/>
                </a:solidFill>
              </a:rPr>
              <a:t>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Sağlar: bütünlük + </a:t>
            </a:r>
            <a:r>
              <a:rPr sz="2000" b="1">
                <a:solidFill>
                  <a:srgbClr val="1F2D3A"/>
                </a:solidFill>
              </a:rPr>
              <a:t>inkâr edilemezlik</a:t>
            </a:r>
            <a:r>
              <a:rPr sz="2000" b="0">
                <a:solidFill>
                  <a:srgbClr val="1F2D3A"/>
                </a:solidFill>
              </a:rPr>
              <a:t> (kim imzaladı).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MAC'ten farkı: asimetrik, herkes doğrulayabilir.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ve eliptik eğri (ECC)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RSA:</a:t>
            </a:r>
            <a:r>
              <a:rPr sz="2000" b="0">
                <a:solidFill>
                  <a:srgbClr val="1F2D3A"/>
                </a:solidFill>
              </a:rPr>
              <a:t> klasik asimetrik; büyük anahtarlar (2048+ bit).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ECC:</a:t>
            </a:r>
            <a:r>
              <a:rPr sz="2000" b="0">
                <a:solidFill>
                  <a:srgbClr val="1F2D3A"/>
                </a:solidFill>
              </a:rPr>
              <a:t> eliptik eğri; aynı güvenlik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anahtarla (Ed25519, X25519).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 giderek ECC.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Diffie–Hellman (DH)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DH:</a:t>
            </a:r>
            <a:r>
              <a:rPr sz="2000" b="0">
                <a:solidFill>
                  <a:srgbClr val="1F2D3A"/>
                </a:solidFill>
              </a:rPr>
              <a:t> iki tarafın,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doğrulanmazsa </a:t>
            </a:r>
            <a:r>
              <a:rPr sz="2000" b="1">
                <a:solidFill>
                  <a:srgbClr val="1F2D3A"/>
                </a:solidFill>
              </a:rPr>
              <a:t>araya girme</a:t>
            </a:r>
            <a:r>
              <a:rPr sz="2000" b="0">
                <a:solidFill>
                  <a:srgbClr val="1F2D3A"/>
                </a:solidFill>
              </a:rPr>
              <a:t> (MITM) riski.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Kimliksiz DH ve MITM — şema</a:t>
            </a:r>
          </a:p>
        </p:txBody>
      </p:sp>
      <p:pic>
        <p:nvPicPr>
          <p:cNvPr id="7" name="Picture 6" descr="h10-02-dh-mit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36165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PKI ve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PKI (Public Key Infrastructure):</a:t>
            </a:r>
            <a:r>
              <a:rPr sz="2000" b="0">
                <a:solidFill>
                  <a:srgbClr val="1F2D3A"/>
                </a:solidFill>
              </a:rPr>
              <a:t> "hangi açık anahtar kime ait?" sorusunu çözen güven sistemi.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CA (Certificate Authority):</a:t>
            </a:r>
            <a:r>
              <a:rPr sz="2000" b="0">
                <a:solidFill>
                  <a:srgbClr val="1F2D3A"/>
                </a:solidFill>
              </a:rPr>
              <a:t> sertifikaları imzalayan güvenilir taraf.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ve X.509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Sertifika:</a:t>
            </a:r>
            <a:r>
              <a:rPr sz="2000" b="0">
                <a:solidFill>
                  <a:srgbClr val="1F2D3A"/>
                </a:solidFill>
              </a:rPr>
              <a:t> bir açık anahtarı bir kimliğe (alan adı) bağlayan, CA'nın imzaladığı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X.509:</a:t>
            </a:r>
            <a:r>
              <a:rPr sz="2000" b="0">
                <a:solidFill>
                  <a:srgbClr val="1F2D3A"/>
                </a:solidFill>
              </a:rPr>
              <a:t> sertifikaların standart biçimi.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konu, açık anahtar, geçerlilik, imza, SAN.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 ve 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 (Certificate Revocation List):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iptal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sertifika hâlâ geçerli mi?" sorusu.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HSM, PKCS#11, 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</a:t>
            </a:r>
            <a:r>
              <a:rPr sz="2000" b="1">
                <a:solidFill>
                  <a:srgbClr val="1F2D3A"/>
                </a:solidFill>
              </a:rPr>
              <a:t>donanım</a:t>
            </a:r>
            <a:r>
              <a:rPr sz="2000" b="0">
                <a:solidFill>
                  <a:srgbClr val="1F2D3A"/>
                </a:solidFill>
              </a:rPr>
              <a:t>; anahtar dışarı çıkmaz.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PKCS#11:</a:t>
            </a:r>
            <a:r>
              <a:rPr sz="2000" b="0">
                <a:solidFill>
                  <a:srgbClr val="1F2D3A"/>
                </a:solidFill>
              </a:rPr>
              <a:t> anahtar modülleriyle konuşmanın standart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SoftHSM:</a:t>
            </a:r>
            <a:r>
              <a:rPr sz="2000" b="0">
                <a:solidFill>
                  <a:srgbClr val="1F2D3A"/>
                </a:solidFill>
              </a:rPr>
              <a:t> HSM'in yazılım benzetimi (test için).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Kuantum sonrası (PQC)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PQC (Post-Quantum Cryptography):</a:t>
            </a:r>
            <a:r>
              <a:rPr sz="2000" b="0">
                <a:solidFill>
                  <a:srgbClr val="1F2D3A"/>
                </a:solidFill>
              </a:rPr>
              <a:t> kuantum bilgisayara dayanıklı algoritmalar.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Bugünkü RSA/ECC gelecekte tehdit altında.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 (ör. ML-KEM).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simetrik/asimetrik · blok şifre/kip · dolgu · AEAD · MAC/HMAC · özet · imza · RSA/ECC · DH · PKI/CA · sertifika/X.509 · CRL/OCSP · HSM/PKCS#11 · PQC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doğru algoritma ve anahtar seçimi.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Algoritma ve anahtar seçimi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Güncel, standart, iyi kullanılan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kural: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Güncel:</a:t>
            </a:r>
            <a:r>
              <a:rPr sz="2000" b="0">
                <a:solidFill>
                  <a:srgbClr val="1F2D3A"/>
                </a:solidFill>
              </a:rPr>
              <a:t> kırılmamış algoritma (AES, SHA-256, Ed25519).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Standart:</a:t>
            </a:r>
            <a:r>
              <a:rPr sz="2000" b="0">
                <a:solidFill>
                  <a:srgbClr val="1F2D3A"/>
                </a:solidFill>
              </a:rPr>
              <a:t> kendi kriptonu yazma; denenmiş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 kullanılan:</a:t>
            </a:r>
            <a:r>
              <a:rPr sz="2000" b="0">
                <a:solidFill>
                  <a:srgbClr val="1F2D3A"/>
                </a:solidFill>
              </a:rPr>
              <a:t> doğru kip, dolgu, anahtar yönetimi.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Kaçınılacaklar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MD5, SHA-1 (özet için), DES/3DES, RC4.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ECB kipi.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Sabit/öngörülebilir IV veya anahtar.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uzunluğu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274355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6"/>
                <a:gridCol w="5092049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Öneri (yaklaşık)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AES-128 (yeter), 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RSA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≥ 2048, tercih 3072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256-bit (≈ RSA-3072)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Özet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SHA-256+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 zayıf halka kuralı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RSA-2048 (~112 bit) + AES-256 (256 bit)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→ sistem ~112 bit (en zayıf halka)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Bileşenleri </a:t>
            </a:r>
            <a:r>
              <a:rPr sz="2000" b="1">
                <a:solidFill>
                  <a:srgbClr val="1F2D3A"/>
                </a:solidFill>
              </a:rPr>
              <a:t>dengeli</a:t>
            </a:r>
            <a:r>
              <a:rPr sz="2000" b="0">
                <a:solidFill>
                  <a:srgbClr val="1F2D3A"/>
                </a:solidFill>
              </a:rPr>
              <a:t>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128 bit hedefliyorsan RSA-3072 ya da ECC.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Blok şifre kipleri ve dolgu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 / PSS — şema</a:t>
            </a:r>
          </a:p>
        </p:txBody>
      </p:sp>
      <p:pic>
        <p:nvPicPr>
          <p:cNvPr id="7" name="Picture 6" descr="h10-09-oaep-p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· asla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ECB:</a:t>
            </a:r>
            <a:r>
              <a:rPr sz="2000" b="0">
                <a:solidFill>
                  <a:srgbClr val="1F2D3A"/>
                </a:solidFill>
              </a:rPr>
              <a:t> her bloğu bağımsız şifreler.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blok → aynı şifreli çıktı → </a:t>
            </a:r>
            <a:r>
              <a:rPr sz="2000" b="1">
                <a:solidFill>
                  <a:srgbClr val="1F2D3A"/>
                </a:solidFill>
              </a:rPr>
              <a:t>desen sızar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Ünlü "ECB penguen" örneği.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5480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ECB kullanma.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ECB neden kötü — şema</a:t>
            </a:r>
          </a:p>
        </p:txBody>
      </p:sp>
      <p:pic>
        <p:nvPicPr>
          <p:cNvPr id="7" name="Picture 6" descr="h10-06-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CBC:</a:t>
            </a:r>
            <a:r>
              <a:rPr sz="2000" b="0">
                <a:solidFill>
                  <a:srgbClr val="1F2D3A"/>
                </a:solidFill>
              </a:rPr>
              <a:t> her blok bir öncekiyle zincirlenir; </a:t>
            </a:r>
            <a:r>
              <a:rPr sz="2000" b="1">
                <a:solidFill>
                  <a:srgbClr val="1F2D3A"/>
                </a:solidFill>
              </a:rPr>
              <a:t>IV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 </a:t>
            </a:r>
            <a:r>
              <a:rPr sz="2000" b="1">
                <a:solidFill>
                  <a:srgbClr val="1F2D3A"/>
                </a:solidFill>
              </a:rPr>
              <a:t>rastgele</a:t>
            </a:r>
            <a:r>
              <a:rPr sz="2000" b="0">
                <a:solidFill>
                  <a:srgbClr val="1F2D3A"/>
                </a:solidFill>
              </a:rPr>
              <a:t> ve tekrarsız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başına </a:t>
            </a:r>
            <a:r>
              <a:rPr sz="2000" b="1">
                <a:solidFill>
                  <a:srgbClr val="1F2D3A"/>
                </a:solidFill>
              </a:rPr>
              <a:t>bütünlük vermez</a:t>
            </a:r>
            <a:r>
              <a:rPr sz="2000" b="0">
                <a:solidFill>
                  <a:srgbClr val="1F2D3A"/>
                </a:solidFill>
              </a:rPr>
              <a:t> → ayrı MAC şart.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CBC + dolgu =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dolgu gerektirir.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dolgu işleme → </a:t>
            </a:r>
            <a:r>
              <a:rPr sz="2000" b="1">
                <a:solidFill>
                  <a:srgbClr val="1F2D3A"/>
                </a:solidFill>
              </a:rPr>
              <a:t>dolgu kâhini</a:t>
            </a:r>
            <a:r>
              <a:rPr sz="2000" b="0">
                <a:solidFill>
                  <a:srgbClr val="1F2D3A"/>
                </a:solidFill>
              </a:rPr>
              <a:t> (birazdan).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modern tercih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GCM · modern tercih (AEAD)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AES-GCM:</a:t>
            </a:r>
            <a:r>
              <a:rPr sz="2000" b="0">
                <a:solidFill>
                  <a:srgbClr val="1F2D3A"/>
                </a:solidFill>
              </a:rPr>
              <a:t> gizlilik </a:t>
            </a:r>
            <a:r>
              <a:rPr sz="2000" b="1">
                <a:solidFill>
                  <a:srgbClr val="1F2D3A"/>
                </a:solidFill>
              </a:rPr>
              <a:t>+</a:t>
            </a:r>
            <a:r>
              <a:rPr sz="2000" b="0">
                <a:solidFill>
                  <a:srgbClr val="1F2D3A"/>
                </a:solidFill>
              </a:rPr>
              <a:t> bütünlük birlikte.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Dolgu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bir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 (tek kullanımlık sayı)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tekrar etmemeli (aynı anahtar altında).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Nonce/IV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IV/nonce </a:t>
            </a:r>
            <a:r>
              <a:rPr sz="2000" b="1">
                <a:solidFill>
                  <a:srgbClr val="1F2D3A"/>
                </a:solidFill>
              </a:rPr>
              <a:t>benzersiz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GCM'de nonce tekrarı </a:t>
            </a:r>
            <a:r>
              <a:rPr sz="2000" b="1">
                <a:solidFill>
                  <a:srgbClr val="1F2D3A"/>
                </a:solidFill>
              </a:rPr>
              <a:t>felakettir</a:t>
            </a:r>
            <a:r>
              <a:rPr sz="2000" b="0">
                <a:solidFill>
                  <a:srgbClr val="1F2D3A"/>
                </a:solidFill>
              </a:rPr>
              <a:t> (anahtar/veri sızabilir).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Sayaç ya da rastgele (yeterli uzunlukta) kullan.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Nonce tekrarı — şema</a:t>
            </a:r>
          </a:p>
        </p:txBody>
      </p:sp>
      <p:pic>
        <p:nvPicPr>
          <p:cNvPr id="7" name="Picture 6" descr="h10-07-nonce-tekr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ChaCha20-Poly1305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AES-GCM'e AEAD alternatifi.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 AES desteği yoksa hızlı.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nonce kuralı geçerli.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Dolgu kâhini (padding oracle)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adım adım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Sunucu, CBC çözerken </a:t>
            </a:r>
            <a:r>
              <a:rPr sz="2000" b="1">
                <a:solidFill>
                  <a:srgbClr val="1F2D3A"/>
                </a:solidFill>
              </a:rPr>
              <a:t>dolgu geçersiz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MAC geçersiz</a:t>
            </a:r>
            <a:r>
              <a:rPr sz="2000" b="0">
                <a:solidFill>
                  <a:srgbClr val="1F2D3A"/>
                </a:solidFill>
              </a:rPr>
              <a:t> için </a:t>
            </a:r>
            <a:r>
              <a:rPr sz="2000" b="1">
                <a:solidFill>
                  <a:srgbClr val="1F2D3A"/>
                </a:solidFill>
              </a:rPr>
              <a:t>farklı</a:t>
            </a:r>
            <a:r>
              <a:rPr sz="2000" b="0">
                <a:solidFill>
                  <a:srgbClr val="1F2D3A"/>
                </a:solidFill>
              </a:rPr>
              <a:t> yanıt/zaman verir.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Saldırgan şifreli metni değiştirip yanıtlara bakar.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Yanıt farkından </a:t>
            </a:r>
            <a:r>
              <a:rPr sz="2000" b="1">
                <a:solidFill>
                  <a:srgbClr val="1F2D3A"/>
                </a:solidFill>
              </a:rPr>
              <a:t>düz metni</a:t>
            </a:r>
            <a:r>
              <a:rPr sz="2000" b="0">
                <a:solidFill>
                  <a:srgbClr val="1F2D3A"/>
                </a:solidFill>
              </a:rPr>
              <a:t> bayt bayt çözer.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mesajı/zamanı, iç durumu </a:t>
            </a:r>
            <a:r>
              <a:rPr sz="2000" b="1">
                <a:solidFill>
                  <a:srgbClr val="1F2D3A"/>
                </a:solidFill>
              </a:rPr>
              <a:t>sızdırıyor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 bir </a:t>
            </a:r>
            <a:r>
              <a:rPr sz="2000" b="1">
                <a:solidFill>
                  <a:srgbClr val="1F2D3A"/>
                </a:solidFill>
              </a:rPr>
              <a:t>kâhin</a:t>
            </a:r>
            <a:r>
              <a:rPr sz="2000" b="0">
                <a:solidFill>
                  <a:srgbClr val="1F2D3A"/>
                </a:solidFill>
              </a:rPr>
              <a:t> (oracle) gibi kullanıyor.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AEAD kullan</a:t>
            </a:r>
            <a:r>
              <a:rPr sz="2000" b="0">
                <a:solidFill>
                  <a:srgbClr val="1F2D3A"/>
                </a:solidFill>
              </a:rPr>
              <a:t> (GCM): dolgu yok, tek doğrulama.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CBC zorundaysan: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1">
                <a:solidFill>
                  <a:srgbClr val="1F2D3A"/>
                </a:solidFill>
              </a:rPr>
              <a:t>tek ve aynı</a:t>
            </a:r>
            <a:r>
              <a:rPr sz="2000" b="0">
                <a:solidFill>
                  <a:srgbClr val="1F2D3A"/>
                </a:solidFill>
              </a:rPr>
              <a:t> hata.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Zamanlama farkı da sızıntıdır → sabit zamanlı.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Şifreleme tek başına yetmez; </a:t>
            </a:r>
            <a:r>
              <a:rPr sz="2000" b="1">
                <a:solidFill>
                  <a:srgbClr val="1F2D3A"/>
                </a:solidFill>
              </a:rPr>
              <a:t>bütünlük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tutarlı hata</a:t>
            </a:r>
            <a:r>
              <a:rPr sz="2000" b="0">
                <a:solidFill>
                  <a:srgbClr val="1F2D3A"/>
                </a:solidFill>
              </a:rPr>
              <a:t> şart.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Dolgu kâhini, "kullanım hatası"nın klasik örneğidir.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 zayıf halka kuralını bir örnekle açıklayın.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ECB neden kullanılmaz?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GCM'de nonce tekrarı neden felakettir?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Dolgu kâhinini AEAD nasıl kapatır?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Sistem </a:t>
            </a:r>
            <a:r>
              <a:rPr sz="2000" b="1">
                <a:solidFill>
                  <a:srgbClr val="1F2D3A"/>
                </a:solidFill>
              </a:rPr>
              <a:t>en zayıf bileşeni</a:t>
            </a:r>
            <a:r>
              <a:rPr sz="2000" b="0">
                <a:solidFill>
                  <a:srgbClr val="1F2D3A"/>
                </a:solidFill>
              </a:rPr>
              <a:t> kadar güvenli. Örn. AES-256 kullanıp anahtarı düz dosyada tutmak → anahtar en zayıf halka.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ECB</a:t>
            </a:r>
            <a:r>
              <a:rPr sz="2000" b="0">
                <a:solidFill>
                  <a:srgbClr val="1F2D3A"/>
                </a:solidFill>
              </a:rPr>
              <a:t> aynı açık bloğu aynı şifreli bloğa çevirir → desen sızar, anlamsal güvenlik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Aynı anahtar+nonce </a:t>
            </a:r>
            <a:r>
              <a:rPr sz="2000" b="1">
                <a:solidFill>
                  <a:srgbClr val="1F2D3A"/>
                </a:solidFill>
              </a:rPr>
              <a:t>anahtar akışını</a:t>
            </a:r>
            <a:r>
              <a:rPr sz="2000" b="0">
                <a:solidFill>
                  <a:srgbClr val="1F2D3A"/>
                </a:solidFill>
              </a:rPr>
              <a:t> tekrarlar (gizlilik çöker) ve GHASH </a:t>
            </a:r>
            <a:r>
              <a:rPr sz="2000" b="1">
                <a:solidFill>
                  <a:srgbClr val="1F2D3A"/>
                </a:solidFill>
              </a:rPr>
              <a:t>kimlik anahtarı</a:t>
            </a:r>
            <a:r>
              <a:rPr sz="2000" b="0">
                <a:solidFill>
                  <a:srgbClr val="1F2D3A"/>
                </a:solidFill>
              </a:rPr>
              <a:t> ele geçirilir → felaket.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AEAD</a:t>
            </a:r>
            <a:r>
              <a:rPr sz="2000" b="0">
                <a:solidFill>
                  <a:srgbClr val="1F2D3A"/>
                </a:solidFill>
              </a:rPr>
              <a:t> önce etiketi doğrular, yanlış etiketli metni </a:t>
            </a:r>
            <a:r>
              <a:rPr sz="2000" b="1">
                <a:solidFill>
                  <a:srgbClr val="1F2D3A"/>
                </a:solidFill>
              </a:rPr>
              <a:t>çözmeden reddeder</a:t>
            </a:r>
            <a:r>
              <a:rPr sz="2000" b="0">
                <a:solidFill>
                  <a:srgbClr val="1F2D3A"/>
                </a:solidFill>
              </a:rPr>
              <a:t> → dolgu hatası için </a:t>
            </a:r>
            <a:r>
              <a:rPr sz="2000" b="1">
                <a:solidFill>
                  <a:srgbClr val="1F2D3A"/>
                </a:solidFill>
              </a:rPr>
              <a:t>oracle</a:t>
            </a:r>
            <a:r>
              <a:rPr sz="2000" b="0">
                <a:solidFill>
                  <a:srgbClr val="1F2D3A"/>
                </a:solidFill>
              </a:rPr>
              <a:t> kalmaz.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MAC, HMAC ve bütünlük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 neden — şema</a:t>
            </a:r>
          </a:p>
        </p:txBody>
      </p:sp>
      <p:pic>
        <p:nvPicPr>
          <p:cNvPr id="7" name="Picture 6" descr="h10-08-hm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MAC?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Şifreleme gizliliği verir, </a:t>
            </a:r>
            <a:r>
              <a:rPr sz="2000" b="1">
                <a:solidFill>
                  <a:srgbClr val="1F2D3A"/>
                </a:solidFill>
              </a:rPr>
              <a:t>bütünlüğü vermez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şifreli metni değiştirebilir.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MAC: mesaj </a:t>
            </a:r>
            <a:r>
              <a:rPr sz="2000" b="1">
                <a:solidFill>
                  <a:srgbClr val="1F2D3A"/>
                </a:solidFill>
              </a:rPr>
              <a:t>değişmedi</a:t>
            </a:r>
            <a:r>
              <a:rPr sz="2000" b="0">
                <a:solidFill>
                  <a:srgbClr val="1F2D3A"/>
                </a:solidFill>
              </a:rPr>
              <a:t> ve doğru taraftan geldi.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HMAC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Özet fonksiyonuna dayalı MAC (</a:t>
            </a:r>
            <a:r>
              <a:rPr sz="2000" b="0">
                <a:solidFill>
                  <a:srgbClr val="A1123F"/>
                </a:solidFill>
                <a:latin typeface="Consolas"/>
              </a:rPr>
              <a:t>HMAC-SHA256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Simetrik anahtar; iki taraf aynı anahtarı 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</a:t>
            </a:r>
            <a:r>
              <a:rPr sz="2000" b="1">
                <a:solidFill>
                  <a:srgbClr val="1F2D3A"/>
                </a:solidFill>
              </a:rPr>
              <a:t>sabit zamanlı</a:t>
            </a:r>
            <a:r>
              <a:rPr sz="2000" b="0">
                <a:solidFill>
                  <a:srgbClr val="1F2D3A"/>
                </a:solidFill>
              </a:rPr>
              <a:t> karşılaştırmayla.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sıra · encrypt-then-MAC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şifrele:  c = ENC(k1, m)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MAC'le:   t = MAC(k2, c)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gönder:   c ||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 şifrele,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şifreli metni MAC'le.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geçmezse </a:t>
            </a:r>
            <a:r>
              <a:rPr sz="2000" b="1">
                <a:solidFill>
                  <a:srgbClr val="1F2D3A"/>
                </a:solidFill>
              </a:rPr>
              <a:t>çözmeye bile kalkma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Yanlış sıralar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MAC-then-encrypt:</a:t>
            </a:r>
            <a:r>
              <a:rPr sz="2000" b="0">
                <a:solidFill>
                  <a:srgbClr val="1F2D3A"/>
                </a:solidFill>
              </a:rPr>
              <a:t> dolgu kâhinine açık.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Encrypt-and-MAC:</a:t>
            </a:r>
            <a:r>
              <a:rPr sz="2000" b="0">
                <a:solidFill>
                  <a:srgbClr val="1F2D3A"/>
                </a:solidFill>
              </a:rPr>
              <a:t> MAC düz metni sızdırabilir.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</a:t>
            </a:r>
            <a:r>
              <a:rPr sz="2000" b="1">
                <a:solidFill>
                  <a:srgbClr val="1F2D3A"/>
                </a:solidFill>
              </a:rPr>
              <a:t>encrypt-then-MAC</a:t>
            </a:r>
            <a:r>
              <a:rPr sz="2000" b="0">
                <a:solidFill>
                  <a:srgbClr val="1F2D3A"/>
                </a:solidFill>
              </a:rPr>
              <a:t> (ya da AEAD, zaten böyle yapar).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Yeniden oynatma (replay)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geçerli bir mesajı </a:t>
            </a:r>
            <a:r>
              <a:rPr sz="2000" b="1">
                <a:solidFill>
                  <a:srgbClr val="1F2D3A"/>
                </a:solidFill>
              </a:rPr>
              <a:t>tekrar</a:t>
            </a:r>
            <a:r>
              <a:rPr sz="2000" b="0">
                <a:solidFill>
                  <a:srgbClr val="1F2D3A"/>
                </a:solidFill>
              </a:rPr>
              <a:t> gönderir.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MAC geçerli (mesaj değişmedi) ama işlem </a:t>
            </a:r>
            <a:r>
              <a:rPr sz="2000" b="1">
                <a:solidFill>
                  <a:srgbClr val="1F2D3A"/>
                </a:solidFill>
              </a:rPr>
              <a:t>tekrarlanır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</a:t>
            </a:r>
            <a:r>
              <a:rPr sz="2000" b="1">
                <a:solidFill>
                  <a:srgbClr val="1F2D3A"/>
                </a:solidFill>
              </a:rPr>
              <a:t>nonce</a:t>
            </a:r>
            <a:r>
              <a:rPr sz="2000" b="0">
                <a:solidFill>
                  <a:srgbClr val="1F2D3A"/>
                </a:solidFill>
              </a:rPr>
              <a:t>, zaman damgası, sayaç.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AEAD hepsini yapar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AES-GCM: şifreleme + bütünlük </a:t>
            </a:r>
            <a:r>
              <a:rPr sz="2000" b="1">
                <a:solidFill>
                  <a:srgbClr val="1F2D3A"/>
                </a:solidFill>
              </a:rPr>
              <a:t>birlikte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"İlişkili veri" (AAD) ile başlık/bağlamı da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tercih: ayrı MAC yerine AEAD.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Asimetrik: RSA ve ECC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↔ asimetrik — şema</a:t>
            </a:r>
          </a:p>
        </p:txBody>
      </p:sp>
      <p:pic>
        <p:nvPicPr>
          <p:cNvPr id="7" name="Picture 6" descr="h10-05-simetrik-asimetr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iki iş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Şifreleme:</a:t>
            </a:r>
            <a:r>
              <a:rPr sz="2000" b="0">
                <a:solidFill>
                  <a:srgbClr val="1F2D3A"/>
                </a:solidFill>
              </a:rPr>
              <a:t> açık anahtarla şifrele, gizli anahtarla çöz.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gizli anahtarla imzala, açık anahtarla doğrula.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anahtarlar (2048+).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RSA · dolgu şart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Ham RSA </a:t>
            </a:r>
            <a:r>
              <a:rPr sz="2000" b="1">
                <a:solidFill>
                  <a:srgbClr val="1F2D3A"/>
                </a:solidFill>
              </a:rPr>
              <a:t>güvensizdir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Şifreleme için:</a:t>
            </a:r>
            <a:r>
              <a:rPr sz="2000" b="0">
                <a:solidFill>
                  <a:srgbClr val="1F2D3A"/>
                </a:solidFill>
              </a:rPr>
              <a:t> OAEP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 için:</a:t>
            </a:r>
            <a:r>
              <a:rPr sz="2000" b="0">
                <a:solidFill>
                  <a:srgbClr val="1F2D3A"/>
                </a:solidFill>
              </a:rPr>
              <a:t> PSS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Eski PKCS#1 v1.5: mümkünse kaçın.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OAEP vs PSS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OAEP: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PSS:</a:t>
            </a:r>
            <a:r>
              <a:rPr sz="2000" b="0">
                <a:solidFill>
                  <a:srgbClr val="1F2D3A"/>
                </a:solidFill>
              </a:rPr>
              <a:t>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OAEP imza için değil, PSS şifreleme için değil.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ECC · neden?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güvenlik, </a:t>
            </a:r>
            <a:r>
              <a:rPr sz="2000" b="1">
                <a:solidFill>
                  <a:srgbClr val="1F2D3A"/>
                </a:solidFill>
              </a:rPr>
              <a:t>daha küçük</a:t>
            </a:r>
            <a:r>
              <a:rPr sz="2000" b="0">
                <a:solidFill>
                  <a:srgbClr val="1F2D3A"/>
                </a:solidFill>
              </a:rPr>
              <a:t> anahtar (256-bit ≈ RSA-3072).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hızlı, daha az yer.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Mobil/gömülü için ideal.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Ed25519 ve X25519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algoritması.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X25519:</a:t>
            </a:r>
            <a:r>
              <a:rPr sz="2000" b="0">
                <a:solidFill>
                  <a:srgbClr val="1F2D3A"/>
                </a:solidFill>
              </a:rPr>
              <a:t> modern </a:t>
            </a:r>
            <a:r>
              <a:rPr sz="2000" b="1">
                <a:solidFill>
                  <a:srgbClr val="1F2D3A"/>
                </a:solidFill>
              </a:rPr>
              <a:t>anahtar anlaşması</a:t>
            </a:r>
            <a:r>
              <a:rPr sz="2000" b="0">
                <a:solidFill>
                  <a:srgbClr val="1F2D3A"/>
                </a:solidFill>
              </a:rPr>
              <a:t> (DH).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Karıştırma: Ed25519 imza, X25519 anahtar.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Simetrik + asimetrik birlikte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1. X25519 ile ortak sır türet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2. Ondan bir AES anahtarı çıkar (KDF)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3. AES-GCM ile veriyi şifrele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Asimetrik: anahtar taşı. Simetrik: veri şifrele.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bunu yapar.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Encrypt-then-MAC neden doğru sıra?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Yeniden oynatma nasıl engellenir?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OAEP ve PSS hangisi ne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Ed25519 ve X25519 farkı?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55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Alıcı </a:t>
            </a:r>
            <a:r>
              <a:rPr sz="2000" b="1">
                <a:solidFill>
                  <a:srgbClr val="1F2D3A"/>
                </a:solidFill>
              </a:rPr>
              <a:t>önce MAC'i</a:t>
            </a:r>
            <a:r>
              <a:rPr sz="2000" b="0">
                <a:solidFill>
                  <a:srgbClr val="1F2D3A"/>
                </a:solidFill>
              </a:rPr>
              <a:t> doğrular, geçmezse çözmez → değiştirilmiş metin hiç işlenmez (dolgu kâhini kapanır).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Tazelik:</a:t>
            </a:r>
            <a:r>
              <a:rPr sz="2000" b="0">
                <a:solidFill>
                  <a:srgbClr val="1F2D3A"/>
                </a:solidFill>
              </a:rPr>
              <a:t> nonce/sayaç, zaman damgası + pencere, tek-kullanımlık challenge.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OAEP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şifreleme</a:t>
            </a:r>
            <a:r>
              <a:rPr sz="2000" b="0">
                <a:solidFill>
                  <a:srgbClr val="1F2D3A"/>
                </a:solidFill>
              </a:rPr>
              <a:t> dolgusu; </a:t>
            </a:r>
            <a:r>
              <a:rPr sz="2000" b="1">
                <a:solidFill>
                  <a:srgbClr val="1F2D3A"/>
                </a:solidFill>
              </a:rPr>
              <a:t>PSS</a:t>
            </a:r>
            <a:r>
              <a:rPr sz="2000" b="0">
                <a:solidFill>
                  <a:srgbClr val="1F2D3A"/>
                </a:solidFill>
              </a:rPr>
              <a:t> = RSA </a:t>
            </a:r>
            <a:r>
              <a:rPr sz="2000" b="1">
                <a:solidFill>
                  <a:srgbClr val="1F2D3A"/>
                </a:solidFill>
              </a:rPr>
              <a:t>imza</a:t>
            </a:r>
            <a:r>
              <a:rPr sz="2000" b="0">
                <a:solidFill>
                  <a:srgbClr val="1F2D3A"/>
                </a:solidFill>
              </a:rPr>
              <a:t> dolgusu.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= imza (EdDSA); </a:t>
            </a:r>
            <a:r>
              <a:rPr sz="2000" b="1">
                <a:solidFill>
                  <a:srgbClr val="1F2D3A"/>
                </a:solidFill>
              </a:rPr>
              <a:t>X25519</a:t>
            </a:r>
            <a:r>
              <a:rPr sz="2000" b="0">
                <a:solidFill>
                  <a:srgbClr val="1F2D3A"/>
                </a:solidFill>
              </a:rPr>
              <a:t> = anahtar değişimi (ECDH). Aynı eğri ailesi, farklı iş.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Dijital imza ve tuzakları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Dijital imza — şema</a:t>
            </a:r>
          </a:p>
        </p:txBody>
      </p:sp>
      <p:pic>
        <p:nvPicPr>
          <p:cNvPr id="7" name="Picture 6" descr="h10-10-imz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 sağlar?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Bütünlük:</a:t>
            </a:r>
            <a:r>
              <a:rPr sz="2000" b="0">
                <a:solidFill>
                  <a:srgbClr val="1F2D3A"/>
                </a:solidFill>
              </a:rPr>
              <a:t> mesaj değişmedi.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Kimlik/inkâr edilemezlik:</a:t>
            </a:r>
            <a:r>
              <a:rPr sz="2000" b="0">
                <a:solidFill>
                  <a:srgbClr val="1F2D3A"/>
                </a:solidFill>
              </a:rPr>
              <a:t> gizli anahtar sahibi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açık anahtarla, herkes yapabilir.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nerede kullanılır?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Yazılım/güncelleme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Sertifikalar (CA imzası).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Belge/işlem imzalama.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TLS'te sunucu kimliği (CertificateVerify).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1 · dönüş değerini denetlememek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int r = EVP_DigestVerify(ctx, imza, n, veri, m);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(r) guncellemeyi_kur();   /* HATALI */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Negatif hata değeri de "doğru" sayılır. Doğrusu: </a:t>
            </a:r>
            <a:r>
              <a:rPr sz="2000" b="0">
                <a:solidFill>
                  <a:srgbClr val="A1123F"/>
                </a:solidFill>
                <a:latin typeface="Consolas"/>
              </a:rPr>
              <a:t>r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2 · sürümü imzaya katmamak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yalnız içeriği kapsıyorsa, saldırgan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ama geçerli imzalı sürümü yükleyebilir (downgrade).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 numarasını</a:t>
            </a:r>
            <a:r>
              <a:rPr sz="2000" b="0">
                <a:solidFill>
                  <a:srgbClr val="1F2D3A"/>
                </a:solidFill>
              </a:rPr>
              <a:t> da kapsamalı; eski sürüm reddedilmeli.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Tuzak 3 · yanlış anahtarla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güvenilir mi? Nereden geldi?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Saldırganın anahtarıyla doğrularsanız, onun imzası "geçerli" 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</a:t>
            </a:r>
            <a:r>
              <a:rPr sz="2000" b="1">
                <a:solidFill>
                  <a:srgbClr val="1F2D3A"/>
                </a:solidFill>
              </a:rPr>
              <a:t>sabitlenmeli</a:t>
            </a:r>
            <a:r>
              <a:rPr sz="2000" b="0">
                <a:solidFill>
                  <a:srgbClr val="1F2D3A"/>
                </a:solidFill>
              </a:rPr>
              <a:t> ya da güvenilir zincirden gelmeli.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İmza · özet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 aslında </a:t>
            </a:r>
            <a:r>
              <a:rPr sz="2000" b="1">
                <a:solidFill>
                  <a:srgbClr val="1F2D3A"/>
                </a:solidFill>
              </a:rPr>
              <a:t>özetin</a:t>
            </a:r>
            <a:r>
              <a:rPr sz="2000" b="0">
                <a:solidFill>
                  <a:srgbClr val="1F2D3A"/>
                </a:solidFill>
              </a:rPr>
              <a:t> imzalanmasıdır.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Zayıf özet (MD5/SHA-1) → imza zayıf.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SHA-256+ kullan.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Diffie–Hellman ve MITM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 taraf, gizli anahtar </a:t>
            </a:r>
            <a:r>
              <a:rPr sz="2000" b="1">
                <a:solidFill>
                  <a:srgbClr val="1F2D3A"/>
                </a:solidFill>
              </a:rPr>
              <a:t>paylaşmadan</a:t>
            </a:r>
            <a:r>
              <a:rPr sz="2000" b="0">
                <a:solidFill>
                  <a:srgbClr val="1F2D3A"/>
                </a:solidFill>
              </a:rPr>
              <a:t> ortak bir sır türetir.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Ağ üzerinden anahtar anlaşması.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hali: X25519.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DH · adım adım (kavram)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Ali:  a gizli, A = g^a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Veli: b gizli, B = g^b açık gönderir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Ortak sır: A^b = B^a = g^(ab)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Dinleyen </a:t>
            </a:r>
            <a:r>
              <a:rPr sz="2000" b="0">
                <a:solidFill>
                  <a:srgbClr val="A1123F"/>
                </a:solidFill>
                <a:latin typeface="Consolas"/>
              </a:rPr>
              <a:t>g^a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g^b</a:t>
            </a:r>
            <a:r>
              <a:rPr sz="2000" b="0">
                <a:solidFill>
                  <a:srgbClr val="1F2D3A"/>
                </a:solidFill>
              </a:rPr>
              <a:t> görür ama </a:t>
            </a:r>
            <a:r>
              <a:rPr sz="2000" b="0">
                <a:solidFill>
                  <a:srgbClr val="A1123F"/>
                </a:solidFill>
                <a:latin typeface="Consolas"/>
              </a:rPr>
              <a:t>g^(ab)</a:t>
            </a:r>
            <a:r>
              <a:rPr sz="2000" b="0">
                <a:solidFill>
                  <a:srgbClr val="1F2D3A"/>
                </a:solidFill>
              </a:rPr>
              <a:t>'yi hesaplayamaz.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Kimliksiz DH · MITM riski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Ali ve Veli birbirinin kim olduğunu </a:t>
            </a:r>
            <a:r>
              <a:rPr sz="2000" b="1">
                <a:solidFill>
                  <a:srgbClr val="1F2D3A"/>
                </a:solidFill>
              </a:rPr>
              <a:t>doğrulamıyorsa</a:t>
            </a:r>
            <a:r>
              <a:rPr sz="2000" b="0">
                <a:solidFill>
                  <a:srgbClr val="1F2D3A"/>
                </a:solidFill>
              </a:rPr>
              <a:t>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</a:t>
            </a:r>
            <a:r>
              <a:rPr sz="2000" b="1">
                <a:solidFill>
                  <a:srgbClr val="1F2D3A"/>
                </a:solidFill>
              </a:rPr>
              <a:t>araya girer</a:t>
            </a:r>
            <a:r>
              <a:rPr sz="2000" b="0">
                <a:solidFill>
                  <a:srgbClr val="1F2D3A"/>
                </a:solidFill>
              </a:rPr>
              <a:t>: Ali ile ayrı, Veli ile ayrı DH yapar.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İkisini de dinler/değiştirir.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MITM · şema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Ali ↔ [Saldırgan] ↔ Veli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iki ayrı DH; saldırgan ortada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iki taraf "güvenli kanal kurdum" sanır.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 · kimlikli DH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DH değerleri, kimliği bilinen bir anahtarla </a:t>
            </a:r>
            <a:r>
              <a:rPr sz="2000" b="1">
                <a:solidFill>
                  <a:srgbClr val="1F2D3A"/>
                </a:solidFill>
              </a:rPr>
              <a:t>imzalanır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TLS 1.3'te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CertificateVerify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 taraf bu kimliği </a:t>
            </a:r>
            <a:r>
              <a:rPr sz="2000" b="1">
                <a:solidFill>
                  <a:srgbClr val="1F2D3A"/>
                </a:solidFill>
              </a:rPr>
              <a:t>doğrular</a:t>
            </a:r>
            <a:r>
              <a:rPr sz="2000" b="0">
                <a:solidFill>
                  <a:srgbClr val="1F2D3A"/>
                </a:solidFill>
              </a:rPr>
              <a:t> (sertifika zinciri).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İleri gizlilik (forward secrecy)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oturum için </a:t>
            </a:r>
            <a:r>
              <a:rPr sz="2000" b="1">
                <a:solidFill>
                  <a:srgbClr val="1F2D3A"/>
                </a:solidFill>
              </a:rPr>
              <a:t>yeni</a:t>
            </a:r>
            <a:r>
              <a:rPr sz="2000" b="0">
                <a:solidFill>
                  <a:srgbClr val="1F2D3A"/>
                </a:solidFill>
              </a:rPr>
              <a:t> DH anahtarı.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vadeli anahtar sızsa bile </a:t>
            </a:r>
            <a:r>
              <a:rPr sz="2000" b="1">
                <a:solidFill>
                  <a:srgbClr val="1F2D3A"/>
                </a:solidFill>
              </a:rPr>
              <a:t>eski</a:t>
            </a:r>
            <a:r>
              <a:rPr sz="2000" b="0">
                <a:solidFill>
                  <a:srgbClr val="1F2D3A"/>
                </a:solidFill>
              </a:rPr>
              <a:t> oturumlar çözülemez.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TLS bunu sağlar.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İmza doğrulamada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neden hatalı?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Sürüm imzaya neden katılmalı?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Kimliksiz DH'ye MITM nasıl olur? Çözüm?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İleri gizlilik ne sağlar?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Doğrulama 1=başarı, 0=başarısız, &lt;0=hata döndürür;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(r)</a:t>
            </a:r>
            <a:r>
              <a:rPr sz="2000" b="0">
                <a:solidFill>
                  <a:srgbClr val="1F2D3A"/>
                </a:solidFill>
              </a:rPr>
              <a:t> hatayı (−1) da "doğru" sayar. </a:t>
            </a:r>
            <a:r>
              <a:rPr sz="2000" b="1">
                <a:solidFill>
                  <a:srgbClr val="1F2D3A"/>
                </a:solidFill>
              </a:rPr>
              <a:t>`r == 1`</a:t>
            </a:r>
            <a:r>
              <a:rPr sz="2000" b="0">
                <a:solidFill>
                  <a:srgbClr val="1F2D3A"/>
                </a:solidFill>
              </a:rPr>
              <a:t> kontrol edin.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Aksi halde saldırgan </a:t>
            </a:r>
            <a:r>
              <a:rPr sz="2000" b="1">
                <a:solidFill>
                  <a:srgbClr val="1F2D3A"/>
                </a:solidFill>
              </a:rPr>
              <a:t>eski/güvensiz sürümü</a:t>
            </a:r>
            <a:r>
              <a:rPr sz="2000" b="0">
                <a:solidFill>
                  <a:srgbClr val="1F2D3A"/>
                </a:solidFill>
              </a:rPr>
              <a:t> aynı imzayla "geçerli" gösterir (downgrade). Sürüm imzalı veriye dahil olmalı.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Ortadaki her iki tarafla ayrı anahtar kurar. Çözüm: DH'yi </a:t>
            </a:r>
            <a:r>
              <a:rPr sz="2000" b="1">
                <a:solidFill>
                  <a:srgbClr val="1F2D3A"/>
                </a:solidFill>
              </a:rPr>
              <a:t>kimlik doğrulamayla</a:t>
            </a:r>
            <a:r>
              <a:rPr sz="2000" b="0">
                <a:solidFill>
                  <a:srgbClr val="1F2D3A"/>
                </a:solidFill>
              </a:rPr>
              <a:t> bağla (imzalı DH / sertifika).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Her oturum </a:t>
            </a:r>
            <a:r>
              <a:rPr sz="2000" b="1">
                <a:solidFill>
                  <a:srgbClr val="1F2D3A"/>
                </a:solidFill>
              </a:rPr>
              <a:t>geçici (ephemeral)</a:t>
            </a:r>
            <a:r>
              <a:rPr sz="2000" b="0">
                <a:solidFill>
                  <a:srgbClr val="1F2D3A"/>
                </a:solidFill>
              </a:rPr>
              <a:t> anahtar; uzun vadeli anahtar sızsa bile </a:t>
            </a:r>
            <a:r>
              <a:rPr sz="2000" b="1">
                <a:solidFill>
                  <a:srgbClr val="1F2D3A"/>
                </a:solidFill>
              </a:rPr>
              <a:t>geçmiş oturumlar</a:t>
            </a:r>
            <a:r>
              <a:rPr sz="2000" b="0">
                <a:solidFill>
                  <a:srgbClr val="1F2D3A"/>
                </a:solidFill>
              </a:rPr>
              <a:t> çözülemez.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Açık anahtar altyapısı (PKI)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kime güveneceğiz?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anahtar gördünüz. Gerçekten o kişiye/siteye mi ait?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biri kendi anahtarını "banka" diye sunabilir.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PKI bu güven sorununu çözer.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zinciri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Kök CA (kendini imzalar)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└─ Ara CA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└─ Sunucu sertifikası (example.com)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seviye bir alttakini </a:t>
            </a:r>
            <a:r>
              <a:rPr sz="2000" b="1">
                <a:solidFill>
                  <a:srgbClr val="1F2D3A"/>
                </a:solidFill>
              </a:rPr>
              <a:t>imzalar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 doğrulama — şema</a:t>
            </a:r>
          </a:p>
        </p:txBody>
      </p:sp>
      <p:pic>
        <p:nvPicPr>
          <p:cNvPr id="7" name="Picture 6" descr="h10-12-zincir-dogru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zinciri — kim kimi imzalar?</a:t>
            </a:r>
          </a:p>
        </p:txBody>
      </p:sp>
      <p:pic>
        <p:nvPicPr>
          <p:cNvPr id="7" name="Picture 6" descr="h10-03-p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518033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Kök ve ara 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 CA:</a:t>
            </a:r>
            <a:r>
              <a:rPr sz="2000" b="0">
                <a:solidFill>
                  <a:srgbClr val="1F2D3A"/>
                </a:solidFill>
              </a:rPr>
              <a:t> çevrimdışı, kendini imzalar, çok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Ara CA:</a:t>
            </a:r>
            <a:r>
              <a:rPr sz="2000" b="0">
                <a:solidFill>
                  <a:srgbClr val="1F2D3A"/>
                </a:solidFill>
              </a:rPr>
              <a:t> günlük sertifikaları çıkarır.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sızarsa </a:t>
            </a:r>
            <a:r>
              <a:rPr sz="2000" b="1">
                <a:solidFill>
                  <a:srgbClr val="1F2D3A"/>
                </a:solidFill>
              </a:rPr>
              <a:t>felaket</a:t>
            </a:r>
            <a:r>
              <a:rPr sz="2000" b="0">
                <a:solidFill>
                  <a:srgbClr val="1F2D3A"/>
                </a:solidFill>
              </a:rPr>
              <a:t>; bu yüzden ara CA kullanılır.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 deposu (trust store)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İşletim sistemi/tarayıcı, güvenilen </a:t>
            </a:r>
            <a:r>
              <a:rPr sz="2000" b="1">
                <a:solidFill>
                  <a:srgbClr val="1F2D3A"/>
                </a:solidFill>
              </a:rPr>
              <a:t>kök CA'ları</a:t>
            </a:r>
            <a:r>
              <a:rPr sz="2000" b="0">
                <a:solidFill>
                  <a:srgbClr val="1F2D3A"/>
                </a:solidFill>
              </a:rPr>
              <a:t>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zincir bu köklerden birine ulaşırsa güvenilir.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Ulaşamıyorsa → güvenilmez.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X.509 sertifikası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X.509 alanları — şema</a:t>
            </a:r>
          </a:p>
        </p:txBody>
      </p:sp>
      <p:pic>
        <p:nvPicPr>
          <p:cNvPr id="7" name="Picture 6" descr="h10-11-x5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78947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İçinde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Konu (subject):</a:t>
            </a:r>
            <a:r>
              <a:rPr sz="2000" b="0">
                <a:solidFill>
                  <a:srgbClr val="1F2D3A"/>
                </a:solidFill>
              </a:rPr>
              <a:t> kime ait (alan adı).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Açık anahtar.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Geçerlilik:</a:t>
            </a:r>
            <a:r>
              <a:rPr sz="2000" b="0">
                <a:solidFill>
                  <a:srgbClr val="1F2D3A"/>
                </a:solidFill>
              </a:rPr>
              <a:t> başlangıç/bitiş.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Veren (issuer):</a:t>
            </a:r>
            <a:r>
              <a:rPr sz="2000" b="0">
                <a:solidFill>
                  <a:srgbClr val="1F2D3A"/>
                </a:solidFill>
              </a:rPr>
              <a:t> hangi CA imzaladı.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SAN · ad denetimi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SAN (Subject Alternative Name):</a:t>
            </a:r>
            <a:r>
              <a:rPr sz="2000" b="0">
                <a:solidFill>
                  <a:srgbClr val="1F2D3A"/>
                </a:solidFill>
              </a:rPr>
              <a:t> sertifikanın geçerli olduğu </a:t>
            </a:r>
            <a:r>
              <a:rPr sz="2000" b="1">
                <a:solidFill>
                  <a:srgbClr val="1F2D3A"/>
                </a:solidFill>
              </a:rPr>
              <a:t>alan adları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denetimi </a:t>
            </a:r>
            <a:r>
              <a:rPr sz="2000" b="1">
                <a:solidFill>
                  <a:srgbClr val="1F2D3A"/>
                </a:solidFill>
              </a:rPr>
              <a:t>CN'e değil, SAN'a</a:t>
            </a:r>
            <a:r>
              <a:rPr sz="2000" b="0">
                <a:solidFill>
                  <a:srgbClr val="1F2D3A"/>
                </a:solidFill>
              </a:rPr>
              <a:t> yapılır.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example.com</a:t>
            </a:r>
            <a:r>
              <a:rPr sz="2000" b="0">
                <a:solidFill>
                  <a:srgbClr val="1F2D3A"/>
                </a:solidFill>
              </a:rPr>
              <a:t> için sertifika </a:t>
            </a:r>
            <a:r>
              <a:rPr sz="2000" b="0">
                <a:solidFill>
                  <a:srgbClr val="A1123F"/>
                </a:solidFill>
                <a:latin typeface="Consolas"/>
              </a:rPr>
              <a:t>baska.com</a:t>
            </a:r>
            <a:r>
              <a:rPr sz="2000" b="0">
                <a:solidFill>
                  <a:srgbClr val="1F2D3A"/>
                </a:solidFill>
              </a:rPr>
              <a:t>'da geçerli olmamalı.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Zincir doğrulama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Dört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sertifika zinciri doğrularken: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İmza</a:t>
            </a:r>
            <a:r>
              <a:rPr sz="2000" b="0">
                <a:solidFill>
                  <a:srgbClr val="1F2D3A"/>
                </a:solidFill>
              </a:rPr>
              <a:t> geçerli mi? (her seviye)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Zincir</a:t>
            </a:r>
            <a:r>
              <a:rPr sz="2000" b="0">
                <a:solidFill>
                  <a:srgbClr val="1F2D3A"/>
                </a:solidFill>
              </a:rPr>
              <a:t> güvenilir köke ulaşıyor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dolmamış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eşleşiyor mu (SAN)?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8038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Dördü de </a:t>
            </a:r>
            <a:r>
              <a:rPr sz="2000" b="1">
                <a:solidFill>
                  <a:srgbClr val="1F2D3A"/>
                </a:solidFill>
              </a:rPr>
              <a:t>evet</a:t>
            </a:r>
            <a:r>
              <a:rPr sz="2000" b="0">
                <a:solidFill>
                  <a:srgbClr val="1F2D3A"/>
                </a:solidFill>
              </a:rPr>
              <a:t> olmalı.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OpenSSL ile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-untrusted ara.crt sunucu.crt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</a:t>
            </a:r>
            <a:r>
              <a:rPr sz="2000" b="0">
                <a:solidFill>
                  <a:srgbClr val="1F2D3A"/>
                </a:solidFill>
              </a:rPr>
              <a:t>: güvenilen kök.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</a:t>
            </a:r>
            <a:r>
              <a:rPr sz="2000" b="0">
                <a:solidFill>
                  <a:srgbClr val="1F2D3A"/>
                </a:solidFill>
              </a:rPr>
              <a:t>: ara sertifika(lar).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hata · eksik ara sertifika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göndermezse zincir köke ulaşmaz.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başarısız olur; </a:t>
            </a:r>
            <a:r>
              <a:rPr sz="2000" b="0">
                <a:solidFill>
                  <a:srgbClr val="A1123F"/>
                </a:solidFill>
                <a:latin typeface="Consolas"/>
              </a:rPr>
              <a:t>-untrusted ara.crt</a:t>
            </a:r>
            <a:r>
              <a:rPr sz="2000" b="0">
                <a:solidFill>
                  <a:srgbClr val="1F2D3A"/>
                </a:solidFill>
              </a:rPr>
              <a:t> ile geçer.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 çok yaygın yapılandırma hatası.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SPKI sabitleme (pinning)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beklenen sunucu anahtarının </a:t>
            </a:r>
            <a:r>
              <a:rPr sz="2000" b="1">
                <a:solidFill>
                  <a:srgbClr val="1F2D3A"/>
                </a:solidFill>
              </a:rPr>
              <a:t>özetini</a:t>
            </a:r>
            <a:r>
              <a:rPr sz="2000" b="0">
                <a:solidFill>
                  <a:srgbClr val="1F2D3A"/>
                </a:solidFill>
              </a:rPr>
              <a:t> gömer.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Sahte ama "geçerli" sertifika bile kabul edilmez.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şart (anahtar değişince kilitlenmemek için).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Sertifika iptali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iptali — şema</a:t>
            </a:r>
          </a:p>
        </p:txBody>
      </p:sp>
      <p:pic>
        <p:nvPicPr>
          <p:cNvPr id="7" name="Picture 6" descr="h10-04-sertifika-ipta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342131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iptal?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sertifikanın gizli anahtarı sızarsa, süresi dolmadan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İptal edilmiş sertifika kabul edilmemeli.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CRL:</a:t>
            </a:r>
            <a:r>
              <a:rPr sz="2000" b="0">
                <a:solidFill>
                  <a:srgbClr val="1F2D3A"/>
                </a:solidFill>
              </a:rPr>
              <a:t> iptal edilmiş sertifikaların </a:t>
            </a:r>
            <a:r>
              <a:rPr sz="2000" b="1">
                <a:solidFill>
                  <a:srgbClr val="1F2D3A"/>
                </a:solidFill>
              </a:rPr>
              <a:t>periyodik listesi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Büyük olabilir, güncel olmayabilir.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OCSP:</a:t>
            </a:r>
            <a:r>
              <a:rPr sz="2000" b="0">
                <a:solidFill>
                  <a:srgbClr val="1F2D3A"/>
                </a:solidFill>
              </a:rPr>
              <a:t> bir sertifikanın durumunu </a:t>
            </a:r>
            <a:r>
              <a:rPr sz="2000" b="1">
                <a:solidFill>
                  <a:srgbClr val="1F2D3A"/>
                </a:solidFill>
              </a:rPr>
              <a:t>anlık</a:t>
            </a:r>
            <a:r>
              <a:rPr sz="2000" b="0">
                <a:solidFill>
                  <a:srgbClr val="1F2D3A"/>
                </a:solidFill>
              </a:rPr>
              <a:t> sorma.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güncel; ama gizlilik/hız sorunları.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OCSP zımbalama (stapling)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OCSP yanıtını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getirip sertifikayla sunar.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Gizlilik + hız kazanır.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Fail-open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OCSP'ye ulaşılamayınca sertifikayı </a:t>
            </a:r>
            <a:r>
              <a:rPr sz="2000" b="1">
                <a:solidFill>
                  <a:srgbClr val="1F2D3A"/>
                </a:solidFill>
              </a:rPr>
              <a:t>kabul etmek</a:t>
            </a:r>
            <a:r>
              <a:rPr sz="2000" b="0">
                <a:solidFill>
                  <a:srgbClr val="1F2D3A"/>
                </a:solidFill>
              </a:rPr>
              <a:t> = fail-open.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OCSP'yi engelleyip iptal edilmiş sertifikayı geçirebilir.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Azaltma: </a:t>
            </a:r>
            <a:r>
              <a:rPr sz="2000" b="1">
                <a:solidFill>
                  <a:srgbClr val="1F2D3A"/>
                </a:solidFill>
              </a:rPr>
              <a:t>Must-Staple</a:t>
            </a:r>
            <a:r>
              <a:rPr sz="2000" b="0">
                <a:solidFill>
                  <a:srgbClr val="1F2D3A"/>
                </a:solidFill>
              </a:rPr>
              <a:t>, kısa ömürlü sertifikalar.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Zincir doğrulamanın dört sorusu?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Ad denetimi neye yapılır (CN mi SAN mı)?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Eksik ara sertifika neden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'ı bozar?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Fail-open nedir, nasıl azaltılır?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7–10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85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(1) zincir kök'e </a:t>
            </a:r>
            <a:r>
              <a:rPr sz="2000" b="1">
                <a:solidFill>
                  <a:srgbClr val="1F2D3A"/>
                </a:solidFill>
              </a:rPr>
              <a:t>geçerli</a:t>
            </a:r>
            <a:r>
              <a:rPr sz="2000" b="0">
                <a:solidFill>
                  <a:srgbClr val="1F2D3A"/>
                </a:solidFill>
              </a:rPr>
              <a:t> mi, (2) </a:t>
            </a:r>
            <a:r>
              <a:rPr sz="2000" b="1">
                <a:solidFill>
                  <a:srgbClr val="1F2D3A"/>
                </a:solidFill>
              </a:rPr>
              <a:t>süre</a:t>
            </a:r>
            <a:r>
              <a:rPr sz="2000" b="0">
                <a:solidFill>
                  <a:srgbClr val="1F2D3A"/>
                </a:solidFill>
              </a:rPr>
              <a:t> içinde mi, (3) </a:t>
            </a:r>
            <a:r>
              <a:rPr sz="2000" b="1">
                <a:solidFill>
                  <a:srgbClr val="1F2D3A"/>
                </a:solidFill>
              </a:rPr>
              <a:t>amaç/kısıt</a:t>
            </a:r>
            <a:r>
              <a:rPr sz="2000" b="0">
                <a:solidFill>
                  <a:srgbClr val="1F2D3A"/>
                </a:solidFill>
              </a:rPr>
              <a:t> (CA:TRUE, KeyUsage/EKU), (4) </a:t>
            </a:r>
            <a:r>
              <a:rPr sz="2000" b="1">
                <a:solidFill>
                  <a:srgbClr val="1F2D3A"/>
                </a:solidFill>
              </a:rPr>
              <a:t>iptal</a:t>
            </a:r>
            <a:r>
              <a:rPr sz="2000" b="0">
                <a:solidFill>
                  <a:srgbClr val="1F2D3A"/>
                </a:solidFill>
              </a:rPr>
              <a:t> (CRL/OCSP).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SAN</a:t>
            </a:r>
            <a:r>
              <a:rPr sz="2000" b="0">
                <a:solidFill>
                  <a:srgbClr val="1F2D3A"/>
                </a:solidFill>
              </a:rPr>
              <a:t> (Subject Alternative Name); CN artık kullanılmaz.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Zincir kök'e </a:t>
            </a:r>
            <a:r>
              <a:rPr sz="2000" b="1">
                <a:solidFill>
                  <a:srgbClr val="1F2D3A"/>
                </a:solidFill>
              </a:rPr>
              <a:t>kurulamaz</a:t>
            </a:r>
            <a:r>
              <a:rPr sz="2000" b="0">
                <a:solidFill>
                  <a:srgbClr val="1F2D3A"/>
                </a:solidFill>
              </a:rPr>
              <a:t>; güven yolu tamamlanmaz → başarısız. Sunucu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Fail-open:</a:t>
            </a:r>
            <a:r>
              <a:rPr sz="2000" b="0">
                <a:solidFill>
                  <a:srgbClr val="1F2D3A"/>
                </a:solidFill>
              </a:rPr>
              <a:t> hata/erişilemezlikte "geçti" saymak. Azaltma: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, OCSP stapling / must-staple, hatayı reddet.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Anahtarı donanımda saklamak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HSM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HSM:</a:t>
            </a:r>
            <a:r>
              <a:rPr sz="2000" b="0">
                <a:solidFill>
                  <a:srgbClr val="1F2D3A"/>
                </a:solidFill>
              </a:rPr>
              <a:t> anahtarları saklayan/işleten özel donanım.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HSM'in </a:t>
            </a:r>
            <a:r>
              <a:rPr sz="2000" b="1">
                <a:solidFill>
                  <a:srgbClr val="1F2D3A"/>
                </a:solidFill>
              </a:rPr>
              <a:t>dışına çıkmaz</a:t>
            </a:r>
            <a:r>
              <a:rPr sz="2000" b="0">
                <a:solidFill>
                  <a:srgbClr val="1F2D3A"/>
                </a:solidFill>
              </a:rPr>
              <a:t>; "şunu imzala" dersiniz, sonuç döner.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Kurcalamaya dirençli.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PKCS#11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modülleriyle konuşmanın </a:t>
            </a:r>
            <a:r>
              <a:rPr sz="2000" b="1">
                <a:solidFill>
                  <a:srgbClr val="1F2D3A"/>
                </a:solidFill>
              </a:rPr>
              <a:t>standart arayüzü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anahtarın değerini </a:t>
            </a:r>
            <a:r>
              <a:rPr sz="2000" b="1">
                <a:solidFill>
                  <a:srgbClr val="1F2D3A"/>
                </a:solidFill>
              </a:rPr>
              <a:t>görmez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HSM'ler ve yazılım benzetimleri bu arayüzü sunar.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SoftHSM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HSM'in </a:t>
            </a:r>
            <a:r>
              <a:rPr sz="2000" b="1">
                <a:solidFill>
                  <a:srgbClr val="1F2D3A"/>
                </a:solidFill>
              </a:rPr>
              <a:t>yazılım benzetimi</a:t>
            </a:r>
            <a:r>
              <a:rPr sz="2000" b="0">
                <a:solidFill>
                  <a:srgbClr val="1F2D3A"/>
                </a:solidFill>
              </a:rPr>
              <a:t>; aynı PKCS#11 arayüzü.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Geliştirme/test için; </a:t>
            </a:r>
            <a:r>
              <a:rPr sz="2000" b="1">
                <a:solidFill>
                  <a:srgbClr val="1F2D3A"/>
                </a:solidFill>
              </a:rPr>
              <a:t>gerçek donanım koruması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Üretimde gerçek HSM.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donanım?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Yazılımda anahtar, beyaz kutu saldırgana açık (11.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Donanımda anahtar yalıtılmış → çok daha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anahtarı </a:t>
            </a:r>
            <a:r>
              <a:rPr sz="2000" b="1">
                <a:solidFill>
                  <a:srgbClr val="1F2D3A"/>
                </a:solidFill>
              </a:rPr>
              <a:t>yazılıma hiç koyma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yaşam döngüsü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2569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</a:tblGrid>
              <a:tr h="367066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Aşama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Ne yapılır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Üretim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Güçlü rastgelelik (CSPRNG)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HSM/TEE ya da korunmuş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az yetki, sabit zamanlı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Ömür sınırı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6706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Yenileme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Düzenli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706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İmha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Bellekten güvenli silme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Kuantum sonrası kripto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Tehdit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Yeterince güçlü kuantum bilgisayar, bugünkü </a:t>
            </a:r>
            <a:r>
              <a:rPr sz="2000" b="1">
                <a:solidFill>
                  <a:srgbClr val="1F2D3A"/>
                </a:solidFill>
              </a:rPr>
              <a:t>RSA/ECC</a:t>
            </a:r>
            <a:r>
              <a:rPr sz="2000" b="0">
                <a:solidFill>
                  <a:srgbClr val="1F2D3A"/>
                </a:solidFill>
              </a:rPr>
              <a:t>'yi kırabilir.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"Şimdi topla, sonra çöz" saldırısı: bugün şifreli veriyi sakla, gelecekte çöz.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PQC · yaklaşım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Kuantuma dayanıklı algoritmalar (ör. ML-KEM anahtar kapsülleme).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Standartlaşma sürüyor.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Kripto-çeviklik:</a:t>
            </a:r>
            <a:r>
              <a:rPr sz="2000" b="0">
                <a:solidFill>
                  <a:srgbClr val="1F2D3A"/>
                </a:solidFill>
              </a:rPr>
              <a:t> algoritmayı kolay değiştirebilecek tasarım.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 ne yapmalı?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Kripto-çevik ol (algoritmayı sabitleme).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Uzun ömürlü sırlar için PQC'yi izle.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Panik yok; ama hazırlık.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13. Proje: bu hafta (S8, S11)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S8/S11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Algoritma envanteri:</a:t>
            </a:r>
            <a:r>
              <a:rPr sz="2000" b="0">
                <a:solidFill>
                  <a:srgbClr val="1F2D3A"/>
                </a:solidFill>
              </a:rPr>
              <a:t> amaç, algoritma, kip, anahtar uzunluğu, kütüphane.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Anahtar yaşam döngüsü</a:t>
            </a:r>
            <a:r>
              <a:rPr sz="2000" b="0">
                <a:solidFill>
                  <a:srgbClr val="1F2D3A"/>
                </a:solidFill>
              </a:rPr>
              <a:t>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RSA-2048 + AES-256 sisteminin güvenlik düzeyi?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~112 bit (en zayıf halka RSA-2048). 128 bit için RSA-3072 ya da ECC.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"Dolgu geçersiz" ve "MAC geçersiz" ayrı iletiler: risk?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Dolgu kâhini; saldırgan yanıtlara bakıp mesajı çözebilir. Tek ve aynı hata; tercihen AEAD.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`if (EVP_DigestVerify(...))` neden hatalı?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Negatif hata değeri de doğru sayılır; denetim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olmalı. Ayrıca imzalı içerik sürümü kapsamalı.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`verify` ara sertifika olmadan neden başarısız?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Zincir köke ulaşamaz; ara sertifika eksik. Sahada sunucu ara sertifikayı göndermiyordur.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OCSP'ye ulaşılamayınca kabul: hangi örüntü, nasıl azaltılır?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Fail-open (yumuşak başarısızlık). Must-Staple ya da kısa ömürlü sertifikalar.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Kimliksiz DH'ye MITM nasıl engellenir?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DH değerleri kimliği bilinen anahtarla imzalanır (TLS 1.3 CertificateVerify) ve karşı taraf doğrular.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Zincir doğrulamanın dört sorusu?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İmza geçerli mi, güvenilir köke ulaşıyor mu, süre dolmamış mı, ad (SAN) eşleşiyor mu.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Anahtarı neden yazılıma koymamalı? Alternatif?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Beyaz kutu saldırgan yazılımdaki anahtarı çıkarabilir. Alternatif: HSM/TEE (PKCS#11); yoksa whitebox + katman (11. hafta).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6001343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 + bütünlük birlikte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Encrypt-then-MAC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Doğru sıra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OAEP/PSS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şifre/imza dolgusu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Ed25519/X25519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/ 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Sertifika ad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CRL/OCSP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İptal listesi / anlık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Kriptoda güvenlik doğru algoritmadan çok doğru </a:t>
            </a:r>
            <a:r>
              <a:rPr sz="2000" b="1">
                <a:solidFill>
                  <a:srgbClr val="1F2D3A"/>
                </a:solidFill>
              </a:rPr>
              <a:t>kullanımdadır</a:t>
            </a:r>
            <a:r>
              <a:rPr sz="2000" b="0">
                <a:solidFill>
                  <a:srgbClr val="1F2D3A"/>
                </a:solidFill>
              </a:rPr>
              <a:t>: AEAD, doğru dolgu, doğrulanan imza, denetlenen zincir ve iyi yönetilen anahtar.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11. hafta — Whitebox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Anahtar yazılımda korunuyorsa ne olur? Beyaz kutu saldırgan, tablo tabanlı WBC ve sınırları.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OpenSSL ile zincir (adım adım)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Amaç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Küçük bir zincir kuralım: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CA → Ara CA → Sunucu sertifikası.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Sonra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</a:t>
            </a:r>
            <a:r>
              <a:rPr sz="2000" b="0">
                <a:solidFill>
                  <a:srgbClr val="1F2D3A"/>
                </a:solidFill>
              </a:rPr>
              <a:t> ile doğrulayalım ve tipik hatayı görelim.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kök CA (kendini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-x509 -newkey ed25519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-keyout kok.key -out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-subj "/CN=Ders Kok CA" -days 3650 -nodes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kendini imzalar; çevrimdışı tutulur.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ara CA (kök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ara.csr -subj "/CN=Ders Ara CA"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ara.csr -CA kok.crt -CAkey kok.key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ara.crt -days 1825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sunucu sertifikası (ara imzalar)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req -newkey ed25519 -keyout sunucu.key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-out sunucu.csr -subj "/CN=ornek.test" -nodes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x509 -req -in sunucu.csr -CA ara.crt -CAkey ara.key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-CAcreateserial -out sunucu.crt -days 365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doğrula (eksik ara)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HATA: unable to get local issuer certificate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Zincir köke ulaşamıyor: </a:t>
            </a:r>
            <a:r>
              <a:rPr sz="2000" b="1">
                <a:solidFill>
                  <a:srgbClr val="1F2D3A"/>
                </a:solidFill>
              </a:rPr>
              <a:t>ara sertifika eksik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doğrula (ara ile)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openssl verify -CAfile kok.crt \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-untrusted ara.crt sunucu.crt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Ara sertifikayı verince zincir tamamlanır.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Sunucu, </a:t>
            </a:r>
            <a:r>
              <a:rPr sz="2000" b="1">
                <a:solidFill>
                  <a:srgbClr val="1F2D3A"/>
                </a:solidFill>
              </a:rPr>
              <a:t>ara</a:t>
            </a:r>
            <a:r>
              <a:rPr sz="2000" b="0">
                <a:solidFill>
                  <a:srgbClr val="1F2D3A"/>
                </a:solidFill>
              </a:rPr>
              <a:t> sertifikayı da göndermeli.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Eksikse istemci "issuer bulunamadı" 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Sahadaki en yaygın TLS yapılandırma hatası.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Zincirdeki dört soru · uygulaması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İmza:</a:t>
            </a:r>
            <a:r>
              <a:rPr sz="2000" b="0">
                <a:solidFill>
                  <a:srgbClr val="1F2D3A"/>
                </a:solidFill>
              </a:rPr>
              <a:t> her seviye üsttekince imzalı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Kök: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-CAfile kok.crt</a:t>
            </a:r>
            <a:r>
              <a:rPr sz="2000" b="0">
                <a:solidFill>
                  <a:srgbClr val="1F2D3A"/>
                </a:solidFill>
              </a:rPr>
              <a:t> güven deposu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-days</a:t>
            </a:r>
            <a:r>
              <a:rPr sz="2000" b="0">
                <a:solidFill>
                  <a:srgbClr val="1F2D3A"/>
                </a:solidFill>
              </a:rPr>
              <a:t> içinde ✓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Ad:</a:t>
            </a:r>
            <a:r>
              <a:rPr sz="2000" b="0">
                <a:solidFill>
                  <a:srgbClr val="1F2D3A"/>
                </a:solidFill>
              </a:rPr>
              <a:t> uygulamada SAN denetimi (verify ad denetlemez!)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Kripto tasarım vakası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mobil uygulama: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Yerel hassas veriyi şifreliyor.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Sunucuyla güvenli konuşuyor.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Güncellemeleri doğruluyor.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 tasarımını yapalım.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Yerel veri şifreleme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AES-256-GCM</a:t>
            </a:r>
            <a:r>
              <a:rPr sz="2000" b="0">
                <a:solidFill>
                  <a:srgbClr val="1F2D3A"/>
                </a:solidFill>
              </a:rPr>
              <a:t> (AEAD): gizlilik + bütünlük.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sayaç/rastgele, </a:t>
            </a:r>
            <a:r>
              <a:rPr sz="2000" b="1">
                <a:solidFill>
                  <a:srgbClr val="1F2D3A"/>
                </a:solidFill>
              </a:rPr>
              <a:t>tekrarsız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TEE/HSM'de; yoksa whitebox (11).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Sunucu iletişimi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TLS 1.3</a:t>
            </a:r>
            <a:r>
              <a:rPr sz="2000" b="0">
                <a:solidFill>
                  <a:srgbClr val="1F2D3A"/>
                </a:solidFill>
              </a:rPr>
              <a:t>: X25519 anahtar anlaşması + AEAD.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 zinciri doğrulama + (varsa) SPKI sabitleme + yedek pin.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Fail-open değil.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Güncelleme doğrulama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Ed25519</a:t>
            </a:r>
            <a:r>
              <a:rPr sz="2000" b="0">
                <a:solidFill>
                  <a:srgbClr val="1F2D3A"/>
                </a:solidFill>
              </a:rPr>
              <a:t> imza; </a:t>
            </a:r>
            <a:r>
              <a:rPr sz="2000" b="0">
                <a:solidFill>
                  <a:srgbClr val="A1123F"/>
                </a:solidFill>
                <a:latin typeface="Consolas"/>
              </a:rPr>
              <a:t>verify == 1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İmzalı içerik </a:t>
            </a:r>
            <a:r>
              <a:rPr sz="2000" b="1">
                <a:solidFill>
                  <a:srgbClr val="1F2D3A"/>
                </a:solidFill>
              </a:rPr>
              <a:t>sürümü</a:t>
            </a:r>
            <a:r>
              <a:rPr sz="2000" b="0">
                <a:solidFill>
                  <a:srgbClr val="1F2D3A"/>
                </a:solidFill>
              </a:rPr>
              <a:t> kapsar; downgrade reddi.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anahtarı sabit/gömülü (bütünlükle korunur).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Anahtar envanteri (S8)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7883"/>
                <a:gridCol w="2727883"/>
                <a:gridCol w="2440738"/>
                <a:gridCol w="3015029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Anahtar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Amaç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Alg/uzunluk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Saklama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anahtarı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Yerel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AES-256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TEE/whitebox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Oturum anahtarı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TLS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X25519 türevi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Bellek, kısa ömür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İmza doğrulama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Ed25519 açık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Gömülü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Karar tabloları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kip?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Gizlilik + bütünlük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AES-GCM / ChaCha20-Poly1305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hız (donanım AES yok)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ChaCha20-Poly1305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Asla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ECB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sistem CBC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encrypt-then-MAC, tek hata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Hangi asimetrik?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45621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6"/>
                <a:gridCol w="3637178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İhtiyaç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Seçim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(modern)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Ed25519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anlaşması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X25519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RSA-OAEP (≥3072)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 imza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RSA-PSS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Karar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Modern, standart, iyi kullanılan seç.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AEAD öncelikli; ECC öncelikli.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Kararı ve gerekçesini </a:t>
            </a:r>
            <a:r>
              <a:rPr sz="2000" b="1">
                <a:solidFill>
                  <a:srgbClr val="1F2D3A"/>
                </a:solidFill>
              </a:rPr>
              <a:t>S8</a:t>
            </a:r>
            <a:r>
              <a:rPr sz="2000" b="0">
                <a:solidFill>
                  <a:srgbClr val="1F2D3A"/>
                </a:solidFill>
              </a:rPr>
              <a:t>'e yaz.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On sık kripto hatası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 · kendi kriptonu yazmak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kendi "şifreleme" algoritman.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denenmiş kütüphane, standart algoritma.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2 · ECB kipi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ECB (desen sızar).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(GCM / ChaCha20-Poly1305).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3 · IV/nonce tekrarı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sabit ya da tekrar eden nonce.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benzersiz, tekrarsız nonce.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4 · şifreleme ama bütünlük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CBC, MAC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AEAD ya da encrypt-then-MAC.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5 · ham RSA / yanlış dolgu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ham RSA, PKCS#1 v1.5.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OAEP (şifre), PSS (imza).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6 · zayıf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MD5, SHA-1.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SHA-256+.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7 · imza dönüşünü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if (verify(...))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== 1</a:t>
            </a:r>
            <a:r>
              <a:rPr sz="2000" b="0">
                <a:solidFill>
                  <a:srgbClr val="1F2D3A"/>
                </a:solidFill>
              </a:rPr>
              <a:t> ve sürüm kapsanır.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8 · zincir/ad denetlememek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yalnız imzaya bakmak.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dört soru + SAN denetimi.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9 · fail-open iptal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OCSP'ye ulaşılamayınca kabul.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Must-Staple, kısa ömür.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10 · anahtarı düz gömmek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Yanlış: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static uint8_t k[16]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Doğru:</a:t>
            </a:r>
            <a:r>
              <a:rPr sz="2000" b="0">
                <a:solidFill>
                  <a:srgbClr val="1F2D3A"/>
                </a:solidFill>
              </a:rPr>
              <a:t> HSM/TEE; yoksa whitebox + katman (11).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TLS'i kodda kurmak (eleştirel)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Sertifika doğrulamayı kapatma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/* ASLA: */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SSL_CTX_set_verify(ctx, SSL_VERIFY_NONE, NULL);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Bu, MITM'e kapıyı açar. "Test için" diye bırakılan bu satır sahada felakettir.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denetimini atlamak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Zincir geçerli ama </a:t>
            </a:r>
            <a:r>
              <a:rPr sz="2000" b="1">
                <a:solidFill>
                  <a:srgbClr val="1F2D3A"/>
                </a:solidFill>
              </a:rPr>
              <a:t>ad</a:t>
            </a:r>
            <a:r>
              <a:rPr sz="2000" b="0">
                <a:solidFill>
                  <a:srgbClr val="1F2D3A"/>
                </a:solidFill>
              </a:rPr>
              <a:t> doğrulanmıyorsa, saldırganın geçerli sertifikası kabul edilir.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 bilgisayar adı (SAN) mutlaka denetlenir.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Sabitleme · dikkatli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SPKI sabitleme güçlüdür ama </a:t>
            </a:r>
            <a:r>
              <a:rPr sz="2000" b="1">
                <a:solidFill>
                  <a:srgbClr val="1F2D3A"/>
                </a:solidFill>
              </a:rPr>
              <a:t>yedek pin</a:t>
            </a:r>
            <a:r>
              <a:rPr sz="2000" b="0">
                <a:solidFill>
                  <a:srgbClr val="1F2D3A"/>
                </a:solidFill>
              </a:rPr>
              <a:t> olmadan anahtar değişince kilitlenirsiniz.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 yedek pin.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Eleştirel okuma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TLS kurulum kodunu okurken sorun: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denetleniyor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Hata durumunda </a:t>
            </a:r>
            <a:r>
              <a:rPr sz="2000" b="1">
                <a:solidFill>
                  <a:srgbClr val="1F2D3A"/>
                </a:solidFill>
              </a:rPr>
              <a:t>fail-closed</a:t>
            </a:r>
            <a:r>
              <a:rPr sz="2000" b="0">
                <a:solidFill>
                  <a:srgbClr val="1F2D3A"/>
                </a:solidFill>
              </a:rPr>
              <a:t> mı?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 (ek)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5319"/>
                <a:gridCol w="6183202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kullanımlık sayı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KDF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türetme fonksiyonu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İleri gizlilik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Eski oturumlar sonra çözülemez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Trust store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Güvenilen kök CA'lar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Kripto-periyot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Anahtar ömrü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Kripto-çeviklik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Algoritmayı kolay değiştirme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Kripto 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==1</a:t>
            </a:r>
            <a:r>
              <a:rPr sz="1800" b="0">
                <a:solidFill>
                  <a:srgbClr val="1F2D3A"/>
                </a:solidFill>
              </a:rPr>
              <a:t> + sürüm kapsar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(10.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Kriptoyu "açık/kapalı" değil, </a:t>
            </a:r>
            <a:r>
              <a:rPr sz="2000" b="1">
                <a:solidFill>
                  <a:srgbClr val="1F2D3A"/>
                </a:solidFill>
              </a:rPr>
              <a:t>doğru kullanılıp kullanılmadığıyla</a:t>
            </a:r>
            <a:r>
              <a:rPr sz="2000" b="0">
                <a:solidFill>
                  <a:srgbClr val="1F2D3A"/>
                </a:solidFill>
              </a:rPr>
              <a:t> değerlendirin.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Doğru kip, doğru dolgu, doğrulanan imza, denetlenen zincir, iyi yönetilen anahtar.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10 — Sertifikalar ve Kriptografik Yöntemler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