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whitebox kriptografiyi bir güvenlik katmanı olarak işliyoruz. Ana kural: yayımlanmış saf-yazılım WBC tasarımlarının tamamı kırıldı; WBC tek başına çözüm değil, anahtar çıkarmayı geciktiren bir katmandır ve anahtar yenileme, cihaz bağlama, sunucu risk denetimiyle birlikte anlam kazanır. Saldırıları savunmayı sınamak için öğreniyoruz.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whitebox kriptografi. Öğrenciler kriptoyu 3 ve 10. haftada gördü ama burada sıfırdan hatırlatacağız. Ana mesaj baştan verilecek: yayımlanmış saf-yazılım WBC'lerin hepsi kırıldı; WBC bir katmandır, sihir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çerçeveyi baştan kur; ders boyunca buraya döneceğiz.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Hiçbir ön bilgi varsaymıyoruz. Kriptonun gerektiğimiz kadarını burada hatırlatıyoruz.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Chow AES'in fikrini adım adım kuruyoruz. Matematiği değil, mantığı ve maliyeti öğreteceğiz. Yavaş gidin.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aç; ara sonrası saldırı geçmişi.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geçmişi saldırı öğretmek için değil, "bu korumaya ne kadar güvenebilirim?" sorusunu yanıtlamak için anlatıyoruz.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Bütün haftayı tek senaryoda toplayan sentetik, savunma amaçlı bir örnek.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Chow AES'i gerçek boyutta göstermek zor. Onun yerine 4 değerli oyuncak bir S-box'la "anahtarı tabloya pişirme" fikrini somutlaştırıyoruz. Tahtada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Soruları tek tek, cevabıyla birlikte işliyoruz. Önce öğrenciye sordurun,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Whitebox Kriptografi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27.11.2026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9914"/>
                <a:gridCol w="1091153"/>
                <a:gridCol w="8850467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kara/gri/beyaz kutu · WBC saldırgan · naif çözümler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Tablo tabanlı WBC (Chow AES) adım adım · maliyet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Saldırı geçmişi · karşı önlemler · katmanlı yer · donanım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whitebox kriptografi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1883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Kerckhoffs</a:t>
            </a:r>
            <a:r>
              <a:rPr sz="1800" b="0">
                <a:solidFill>
                  <a:srgbClr val="1F2D3A"/>
                </a:solidFill>
              </a:rPr>
              <a:t>: güvenlik </a:t>
            </a:r>
            <a:r>
              <a:rPr sz="1800" b="1">
                <a:solidFill>
                  <a:srgbClr val="1F2D3A"/>
                </a:solidFill>
              </a:rPr>
              <a:t>anahtarda</a:t>
            </a:r>
            <a:r>
              <a:rPr sz="1800" b="0">
                <a:solidFill>
                  <a:srgbClr val="1F2D3A"/>
                </a:solidFill>
              </a:rPr>
              <a:t> olmalı, sistemin gizliliğinde değil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2002</a:t>
            </a:r>
            <a:r>
              <a:rPr sz="1800" b="0">
                <a:solidFill>
                  <a:srgbClr val="1F2D3A"/>
                </a:solidFill>
              </a:rPr>
              <a:t> — Chow vd. ilk </a:t>
            </a:r>
            <a:r>
              <a:rPr sz="1800" b="1">
                <a:solidFill>
                  <a:srgbClr val="1F2D3A"/>
                </a:solidFill>
              </a:rPr>
              <a:t>whitebox AES/DES</a:t>
            </a:r>
            <a:r>
              <a:rPr sz="1800" b="0">
                <a:solidFill>
                  <a:srgbClr val="1F2D3A"/>
                </a:solidFill>
              </a:rPr>
              <a:t> (DRM için) — WBC'nin doğuşu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BGE saldırısı</a:t>
            </a:r>
            <a:r>
              <a:rPr sz="1800" b="0">
                <a:solidFill>
                  <a:srgbClr val="1F2D3A"/>
                </a:solidFill>
              </a:rPr>
              <a:t> ilk WB-AES'i kırar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2016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DCA</a:t>
            </a:r>
            <a:r>
              <a:rPr sz="1800" b="0">
                <a:solidFill>
                  <a:srgbClr val="1F2D3A"/>
                </a:solidFill>
              </a:rPr>
              <a:t> (Bos vd.): donanım DPA'sı yazılıma taşınır, otomatik kırar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2017–2024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WhibOx</a:t>
            </a:r>
            <a:r>
              <a:rPr sz="1800" b="0">
                <a:solidFill>
                  <a:srgbClr val="1F2D3A"/>
                </a:solidFill>
              </a:rPr>
              <a:t>: yayımlanan tüm saf-yazılım adaylar kırıldı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415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Bugünkü kural: WBC bir </a:t>
            </a:r>
            <a:r>
              <a:rPr sz="1800" b="1">
                <a:solidFill>
                  <a:srgbClr val="1F2D3A"/>
                </a:solidFill>
              </a:rPr>
              <a:t>geciktirme katmanı</a:t>
            </a:r>
            <a:r>
              <a:rPr sz="1800" b="0">
                <a:solidFill>
                  <a:srgbClr val="1F2D3A"/>
                </a:solidFill>
              </a:rPr>
              <a:t>; mümkünse </a:t>
            </a:r>
            <a:r>
              <a:rPr sz="1800" b="1">
                <a:solidFill>
                  <a:srgbClr val="1F2D3A"/>
                </a:solidFill>
              </a:rPr>
              <a:t>donanım</a:t>
            </a:r>
            <a:r>
              <a:rPr sz="1800" b="0">
                <a:solidFill>
                  <a:srgbClr val="1F2D3A"/>
                </a:solidFill>
              </a:rPr>
              <a:t> (TEE/SE/HSM).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9. hafta:</a:t>
            </a:r>
            <a:r>
              <a:rPr sz="2000" b="0">
                <a:solidFill>
                  <a:srgbClr val="1F2D3A"/>
                </a:solidFill>
              </a:rPr>
              <a:t> kod gizleme — "gizleme anahtarı korumaz" dedik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(11):</a:t>
            </a:r>
            <a:r>
              <a:rPr sz="2000" b="0">
                <a:solidFill>
                  <a:srgbClr val="1F2D3A"/>
                </a:solidFill>
              </a:rPr>
              <a:t> peki anahtarı yazılımda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koruruz? → whitebox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10. hafta:</a:t>
            </a:r>
            <a:r>
              <a:rPr sz="2000" b="0">
                <a:solidFill>
                  <a:srgbClr val="1F2D3A"/>
                </a:solidFill>
              </a:rPr>
              <a:t> kriptonun doğru kullanımı, anahtar yaşam döngüsü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"anahtar saldırganın elindeyken ne yaparız?" sorusunu işliyoruz.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ÖÇ.2 / ÖÇ.4</a:t>
            </a:r>
            <a:r>
              <a:rPr sz="2000" b="0">
                <a:solidFill>
                  <a:srgbClr val="1F2D3A"/>
                </a:solidFill>
              </a:rPr>
              <a:t> (kriptografi, güvenli iletişim)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Kara/gri/beyaz kutu modellerini ayırmak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Whitebox'ın </a:t>
            </a:r>
            <a:r>
              <a:rPr sz="2000" b="1">
                <a:solidFill>
                  <a:srgbClr val="1F2D3A"/>
                </a:solidFill>
              </a:rPr>
              <a:t>ne yaptığını ve neden yetmediğini</a:t>
            </a:r>
            <a:r>
              <a:rPr sz="2000" b="0">
                <a:solidFill>
                  <a:srgbClr val="1F2D3A"/>
                </a:solidFill>
              </a:rPr>
              <a:t> anlatmak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anahtar için doğru koruma kararı vermek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Baştan bir uyarı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Bugüne kadar yayımlanmış </a:t>
            </a:r>
            <a:r>
              <a:rPr sz="2000" b="1">
                <a:solidFill>
                  <a:srgbClr val="1F2D3A"/>
                </a:solidFill>
              </a:rPr>
              <a:t>saf yazılım</a:t>
            </a:r>
            <a:r>
              <a:rPr sz="2000" b="0">
                <a:solidFill>
                  <a:srgbClr val="1F2D3A"/>
                </a:solidFill>
              </a:rPr>
              <a:t> whitebox tasarımlarının </a:t>
            </a:r>
            <a:r>
              <a:rPr sz="2000" b="1">
                <a:solidFill>
                  <a:srgbClr val="1F2D3A"/>
                </a:solidFill>
              </a:rPr>
              <a:t>hepsi kırıldı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 yüzden bugün "whitebox = güvenli anahtar" demeyeceğiz.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Diyeceğiz ki: whitebox, anahtar çıkarmayı </a:t>
            </a:r>
            <a:r>
              <a:rPr sz="2000" b="1">
                <a:solidFill>
                  <a:srgbClr val="1F2D3A"/>
                </a:solidFill>
              </a:rPr>
              <a:t>geciktiren bir katmandır</a:t>
            </a:r>
            <a:r>
              <a:rPr sz="2000" b="0">
                <a:solidFill>
                  <a:srgbClr val="1F2D3A"/>
                </a:solidFill>
              </a:rPr>
              <a:t> — ve tek başına yeterli değildir.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Şifreleme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 (encryption):</a:t>
            </a:r>
            <a:r>
              <a:rPr sz="2000" b="0">
                <a:solidFill>
                  <a:srgbClr val="1F2D3A"/>
                </a:solidFill>
              </a:rPr>
              <a:t> okunur veriyi (</a:t>
            </a:r>
            <a:r>
              <a:rPr sz="2000" b="1">
                <a:solidFill>
                  <a:srgbClr val="1F2D3A"/>
                </a:solidFill>
              </a:rPr>
              <a:t>açık metin</a:t>
            </a:r>
            <a:r>
              <a:rPr sz="2000" b="0">
                <a:solidFill>
                  <a:srgbClr val="1F2D3A"/>
                </a:solidFill>
              </a:rPr>
              <a:t>), bir </a:t>
            </a:r>
            <a:r>
              <a:rPr sz="2000" b="1">
                <a:solidFill>
                  <a:srgbClr val="1F2D3A"/>
                </a:solidFill>
              </a:rPr>
              <a:t>anahtar</a:t>
            </a:r>
            <a:r>
              <a:rPr sz="2000" b="0">
                <a:solidFill>
                  <a:srgbClr val="1F2D3A"/>
                </a:solidFill>
              </a:rPr>
              <a:t> kullanarak okunamaz hale (</a:t>
            </a:r>
            <a:r>
              <a:rPr sz="2000" b="1">
                <a:solidFill>
                  <a:srgbClr val="1F2D3A"/>
                </a:solidFill>
              </a:rPr>
              <a:t>şifreli metin</a:t>
            </a:r>
            <a:r>
              <a:rPr sz="2000" b="0">
                <a:solidFill>
                  <a:srgbClr val="1F2D3A"/>
                </a:solidFill>
              </a:rPr>
              <a:t>) getirmek.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Çözme (decryption):</a:t>
            </a:r>
            <a:r>
              <a:rPr sz="2000" b="0">
                <a:solidFill>
                  <a:srgbClr val="1F2D3A"/>
                </a:solidFill>
              </a:rPr>
              <a:t> anahtarla geri açmak.</a:t>
            </a:r>
          </a:p>
        </p:txBody>
      </p:sp>
      <p:pic>
        <p:nvPicPr>
          <p:cNvPr id="8" name="Picture 7" descr="h11-10-sifreleme-tem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2609088"/>
            <a:ext cx="7672173" cy="329945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Anahtar (key):</a:t>
            </a:r>
            <a:r>
              <a:rPr sz="2000" b="0">
                <a:solidFill>
                  <a:srgbClr val="1F2D3A"/>
                </a:solidFill>
              </a:rPr>
              <a:t> şifrelemeyi yöneten gizli sayı (bir bayt dizisi).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algoritma + farklı anahtar = farklı sonuç.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 anahtarın gizliliğine bağlıdır</a:t>
            </a:r>
            <a:r>
              <a:rPr sz="2000" b="0">
                <a:solidFill>
                  <a:srgbClr val="1F2D3A"/>
                </a:solidFill>
              </a:rPr>
              <a:t>, algoritmanın gizliliğine değil (Kerckhoffs ilkesi).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ve asimetrik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Simetrik:</a:t>
            </a:r>
            <a:r>
              <a:rPr sz="2000" b="0">
                <a:solidFill>
                  <a:srgbClr val="1F2D3A"/>
                </a:solidFill>
              </a:rPr>
              <a:t> şifreleme ve çözme </a:t>
            </a:r>
            <a:r>
              <a:rPr sz="2000" b="1">
                <a:solidFill>
                  <a:srgbClr val="1F2D3A"/>
                </a:solidFill>
              </a:rPr>
              <a:t>aynı</a:t>
            </a:r>
            <a:r>
              <a:rPr sz="2000" b="0">
                <a:solidFill>
                  <a:srgbClr val="1F2D3A"/>
                </a:solidFill>
              </a:rPr>
              <a:t> anahtar (ör. </a:t>
            </a:r>
            <a:r>
              <a:rPr sz="2000" b="1">
                <a:solidFill>
                  <a:srgbClr val="1F2D3A"/>
                </a:solidFill>
              </a:rPr>
              <a:t>AES</a:t>
            </a:r>
            <a:r>
              <a:rPr sz="2000" b="0">
                <a:solidFill>
                  <a:srgbClr val="1F2D3A"/>
                </a:solidFill>
              </a:rPr>
              <a:t>).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Asimetrik:</a:t>
            </a:r>
            <a:r>
              <a:rPr sz="2000" b="0">
                <a:solidFill>
                  <a:srgbClr val="1F2D3A"/>
                </a:solidFill>
              </a:rPr>
              <a:t> açık ve gizli anahtar çifti (ör. RSA). Yavaş ama anahtar dağıtımı kolay.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ağırlıklı </a:t>
            </a:r>
            <a:r>
              <a:rPr sz="2000" b="1">
                <a:solidFill>
                  <a:srgbClr val="1F2D3A"/>
                </a:solidFill>
              </a:rPr>
              <a:t>AES</a:t>
            </a:r>
            <a:r>
              <a:rPr sz="2000" b="0">
                <a:solidFill>
                  <a:srgbClr val="1F2D3A"/>
                </a:solidFill>
              </a:rPr>
              <a:t> (simetrik) üstünden gideceğiz.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AES nedir? (yüksekten)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AES:</a:t>
            </a:r>
            <a:r>
              <a:rPr sz="2000" b="0">
                <a:solidFill>
                  <a:srgbClr val="1F2D3A"/>
                </a:solidFill>
              </a:rPr>
              <a:t> en yaygın simetrik şifreleme algoritması.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16 baytlık </a:t>
            </a:r>
            <a:r>
              <a:rPr sz="2000" b="1">
                <a:solidFill>
                  <a:srgbClr val="1F2D3A"/>
                </a:solidFill>
              </a:rPr>
              <a:t>bloklar</a:t>
            </a:r>
            <a:r>
              <a:rPr sz="2000" b="0">
                <a:solidFill>
                  <a:srgbClr val="1F2D3A"/>
                </a:solidFill>
              </a:rPr>
              <a:t> üzerinde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Veriyi </a:t>
            </a:r>
            <a:r>
              <a:rPr sz="2000" b="1">
                <a:solidFill>
                  <a:srgbClr val="1F2D3A"/>
                </a:solidFill>
              </a:rPr>
              <a:t>turlar</a:t>
            </a:r>
            <a:r>
              <a:rPr sz="2000" b="0">
                <a:solidFill>
                  <a:srgbClr val="1F2D3A"/>
                </a:solidFill>
              </a:rPr>
              <a:t> (rounds) halinde karıştırır; her turda: bayt değiştirme, satır/sütun karıştırma, anahtar ekleme.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Ayrıntı bu hafta sınavda sorulmayacak; </a:t>
            </a:r>
            <a:r>
              <a:rPr sz="2000" b="1">
                <a:solidFill>
                  <a:srgbClr val="1F2D3A"/>
                </a:solidFill>
              </a:rPr>
              <a:t>fikir</a:t>
            </a:r>
            <a:r>
              <a:rPr sz="2000" b="0">
                <a:solidFill>
                  <a:srgbClr val="1F2D3A"/>
                </a:solidFill>
              </a:rPr>
              <a:t> yeter.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S-box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S-box (substitution box):</a:t>
            </a:r>
            <a:r>
              <a:rPr sz="2000" b="0">
                <a:solidFill>
                  <a:srgbClr val="1F2D3A"/>
                </a:solidFill>
              </a:rPr>
              <a:t> bir baytı başka bir baytla değiştiren </a:t>
            </a:r>
            <a:r>
              <a:rPr sz="2000" b="1">
                <a:solidFill>
                  <a:srgbClr val="1F2D3A"/>
                </a:solidFill>
              </a:rPr>
              <a:t>sabit bir tablo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AES'in "bayt değiştirme" adımı budur.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S-box[0x53] = 0xED</a:t>
            </a:r>
            <a:r>
              <a:rPr sz="2000" b="0">
                <a:solidFill>
                  <a:srgbClr val="1F2D3A"/>
                </a:solidFill>
              </a:rPr>
              <a:t> gibi 256 girişli bir eşleme.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tabloyu aklınızda tutun; whitebox'ın kalbi budur.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Arama tablosu (lookup table)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Arama tablosu:</a:t>
            </a:r>
            <a:r>
              <a:rPr sz="2000" b="0">
                <a:solidFill>
                  <a:srgbClr val="1F2D3A"/>
                </a:solidFill>
              </a:rPr>
              <a:t> "girdiye karşılık çıktı" veren dizi.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T[x]</a:t>
            </a:r>
            <a:r>
              <a:rPr sz="2000" b="0">
                <a:solidFill>
                  <a:srgbClr val="1F2D3A"/>
                </a:solidFill>
              </a:rPr>
              <a:t> = x için önceden hesaplanmış sonuç.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Hesap yapmak yerine </a:t>
            </a:r>
            <a:r>
              <a:rPr sz="2000" b="1">
                <a:solidFill>
                  <a:srgbClr val="1F2D3A"/>
                </a:solidFill>
              </a:rPr>
              <a:t>tablodan okursunuz</a:t>
            </a:r>
            <a:r>
              <a:rPr sz="2000" b="0">
                <a:solidFill>
                  <a:srgbClr val="1F2D3A"/>
                </a:solidFill>
              </a:rPr>
              <a:t>; hızlıdır.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Whitebox, hesabı tablolara gömer.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XOR hatırlatma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XOR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^</a:t>
            </a:r>
            <a:r>
              <a:rPr sz="2000" b="0">
                <a:solidFill>
                  <a:srgbClr val="1F2D3A"/>
                </a:solidFill>
              </a:rPr>
              <a:t>): bitler farklıysa 1, aynıysa 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 ^ b ^ b == a</a:t>
            </a:r>
            <a:r>
              <a:rPr sz="2000" b="0">
                <a:solidFill>
                  <a:srgbClr val="1F2D3A"/>
                </a:solidFill>
              </a:rPr>
              <a:t> → geri alınabilir.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AES'te "anahtar ekleme" adımı bir XOR'dur: </a:t>
            </a:r>
            <a:r>
              <a:rPr sz="2000" b="0">
                <a:solidFill>
                  <a:srgbClr val="A1123F"/>
                </a:solidFill>
                <a:latin typeface="Consolas"/>
              </a:rPr>
              <a:t>durum ^ anahtar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Bit güvenlik düzeyi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</a:t>
            </a:r>
            <a:r>
              <a:rPr sz="2000" b="1">
                <a:solidFill>
                  <a:srgbClr val="1F2D3A"/>
                </a:solidFill>
              </a:rPr>
              <a:t>n-bit güvenlik</a:t>
            </a:r>
            <a:r>
              <a:rPr sz="2000" b="0">
                <a:solidFill>
                  <a:srgbClr val="1F2D3A"/>
                </a:solidFill>
              </a:rPr>
              <a:t>" = kırmak için kabaca 2ⁿ deneme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AES-128 → 128 bit; bugün kırılamaz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sayı = daha güçlü.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 kanal (side channel)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 kanal:</a:t>
            </a:r>
            <a:r>
              <a:rPr sz="2000" b="0">
                <a:solidFill>
                  <a:srgbClr val="1F2D3A"/>
                </a:solidFill>
              </a:rPr>
              <a:t> algoritmanın matematiğini değil, çalışırken </a:t>
            </a:r>
            <a:r>
              <a:rPr sz="2000" b="1">
                <a:solidFill>
                  <a:srgbClr val="1F2D3A"/>
                </a:solidFill>
              </a:rPr>
              <a:t>sızdırdığı fiziksel/dolaylı bilgiyi</a:t>
            </a:r>
            <a:r>
              <a:rPr sz="2000" b="0">
                <a:solidFill>
                  <a:srgbClr val="1F2D3A"/>
                </a:solidFill>
              </a:rPr>
              <a:t> kullanan saldırı.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harcanan </a:t>
            </a:r>
            <a:r>
              <a:rPr sz="2000" b="1">
                <a:solidFill>
                  <a:srgbClr val="1F2D3A"/>
                </a:solidFill>
              </a:rPr>
              <a:t>zaman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güç</a:t>
            </a:r>
            <a:r>
              <a:rPr sz="2000" b="0">
                <a:solidFill>
                  <a:srgbClr val="1F2D3A"/>
                </a:solidFill>
              </a:rPr>
              <a:t> tüketimi, elektromanyetik yayım.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Kartlarda klasiktir; birazdan whitebox'ta yazılım karşılığını göreceğiz.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DPA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DPA (Differential Power Analysis):</a:t>
            </a:r>
            <a:r>
              <a:rPr sz="2000" b="0">
                <a:solidFill>
                  <a:srgbClr val="1F2D3A"/>
                </a:solidFill>
              </a:rPr>
              <a:t> bir cihazın </a:t>
            </a:r>
            <a:r>
              <a:rPr sz="2000" b="1">
                <a:solidFill>
                  <a:srgbClr val="1F2D3A"/>
                </a:solidFill>
              </a:rPr>
              <a:t>güç tüketimi</a:t>
            </a:r>
            <a:r>
              <a:rPr sz="2000" b="0">
                <a:solidFill>
                  <a:srgbClr val="1F2D3A"/>
                </a:solidFill>
              </a:rPr>
              <a:t> ölçümlerine istatistik uygulayıp anahtarı çıkaran yan kanal saldırısı.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Cihazın içine bakmaz; dışarıdan ölçer.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fikri aklınızda tutun; whitebox'ın en güçlü saldırısı (DCA) bunun yazılım hâlidir.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Bijeksiyon (birebir-örten eşleme)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Bijeksiyon:</a:t>
            </a:r>
            <a:r>
              <a:rPr sz="2000" b="0">
                <a:solidFill>
                  <a:srgbClr val="1F2D3A"/>
                </a:solidFill>
              </a:rPr>
              <a:t> her girdiyi tam bir çıktıya eşleyen, </a:t>
            </a:r>
            <a:r>
              <a:rPr sz="2000" b="1">
                <a:solidFill>
                  <a:srgbClr val="1F2D3A"/>
                </a:solidFill>
              </a:rPr>
              <a:t>tersi alınabilen</a:t>
            </a:r>
            <a:r>
              <a:rPr sz="2000" b="0">
                <a:solidFill>
                  <a:srgbClr val="1F2D3A"/>
                </a:solidFill>
              </a:rPr>
              <a:t> dönüşüm.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f(x) = x ^ 0x5A</a:t>
            </a:r>
            <a:r>
              <a:rPr sz="2000" b="0">
                <a:solidFill>
                  <a:srgbClr val="1F2D3A"/>
                </a:solidFill>
              </a:rPr>
              <a:t> bir bijeksiyondur (tersi yine kendisi).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Whitebox, tabloları </a:t>
            </a:r>
            <a:r>
              <a:rPr sz="2000" b="1">
                <a:solidFill>
                  <a:srgbClr val="1F2D3A"/>
                </a:solidFill>
              </a:rPr>
              <a:t>gizli bijeksiyonlarla</a:t>
            </a:r>
            <a:r>
              <a:rPr sz="2000" b="0">
                <a:solidFill>
                  <a:srgbClr val="1F2D3A"/>
                </a:solidFill>
              </a:rPr>
              <a:t> sarar.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TEE ve güvenli öğe (SE)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TEE (Trusted Execution Environment):</a:t>
            </a:r>
            <a:r>
              <a:rPr sz="2000" b="0">
                <a:solidFill>
                  <a:srgbClr val="1F2D3A"/>
                </a:solidFill>
              </a:rPr>
              <a:t> telefon işlemcisinin, işletim sisteminden </a:t>
            </a:r>
            <a:r>
              <a:rPr sz="2000" b="1">
                <a:solidFill>
                  <a:srgbClr val="1F2D3A"/>
                </a:solidFill>
              </a:rPr>
              <a:t>yalıtılmış</a:t>
            </a:r>
            <a:r>
              <a:rPr sz="2000" b="0">
                <a:solidFill>
                  <a:srgbClr val="1F2D3A"/>
                </a:solidFill>
              </a:rPr>
              <a:t> güvenli bölgesi.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öğe (SE):</a:t>
            </a:r>
            <a:r>
              <a:rPr sz="2000" b="0">
                <a:solidFill>
                  <a:srgbClr val="1F2D3A"/>
                </a:solidFill>
              </a:rPr>
              <a:t> anahtarları saklayan ayrı, kurcalamaya dirençli </a:t>
            </a:r>
            <a:r>
              <a:rPr sz="2000" b="1">
                <a:solidFill>
                  <a:srgbClr val="1F2D3A"/>
                </a:solidFill>
              </a:rPr>
              <a:t>donanım</a:t>
            </a:r>
            <a:r>
              <a:rPr sz="2000" b="0">
                <a:solidFill>
                  <a:srgbClr val="1F2D3A"/>
                </a:solidFill>
              </a:rPr>
              <a:t> çip.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 için en güçlü koruma bunlardır; whitebox bunların </a:t>
            </a:r>
            <a:r>
              <a:rPr sz="2000" b="1">
                <a:solidFill>
                  <a:srgbClr val="1F2D3A"/>
                </a:solidFill>
              </a:rPr>
              <a:t>olmadığı</a:t>
            </a:r>
            <a:r>
              <a:rPr sz="2000" b="0">
                <a:solidFill>
                  <a:srgbClr val="1F2D3A"/>
                </a:solidFill>
              </a:rPr>
              <a:t> durum içindir.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HSM ve 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HSM (Hardware Security Module):</a:t>
            </a:r>
            <a:r>
              <a:rPr sz="2000" b="0">
                <a:solidFill>
                  <a:srgbClr val="1F2D3A"/>
                </a:solidFill>
              </a:rPr>
              <a:t> sunucuda anahtarları saklayan/işleten özel donanım; anahtar </a:t>
            </a:r>
            <a:r>
              <a:rPr sz="2000" b="1">
                <a:solidFill>
                  <a:srgbClr val="1F2D3A"/>
                </a:solidFill>
              </a:rPr>
              <a:t>dışarı çıkmaz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SoftHSM:</a:t>
            </a:r>
            <a:r>
              <a:rPr sz="2000" b="0">
                <a:solidFill>
                  <a:srgbClr val="1F2D3A"/>
                </a:solidFill>
              </a:rPr>
              <a:t> HSM'in </a:t>
            </a:r>
            <a:r>
              <a:rPr sz="2000" b="1">
                <a:solidFill>
                  <a:srgbClr val="1F2D3A"/>
                </a:solidFill>
              </a:rPr>
              <a:t>yazılım benzetimi</a:t>
            </a:r>
            <a:r>
              <a:rPr sz="2000" b="0">
                <a:solidFill>
                  <a:srgbClr val="1F2D3A"/>
                </a:solidFill>
              </a:rPr>
              <a:t>; aynı arayüz (PKCS#11), ama donanım koruması yok (geliştirme/test için).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Bildiğimiz 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şifreleme/çözme · anahtar · simetrik/asimetrik · AES · S-box · arama tablosu · XOR · bit güvenlik · yan kanal · DPA · bijeksiyon · TEE/SE · HSM/SoftHSM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 asıl soruya: </a:t>
            </a:r>
            <a:r>
              <a:rPr sz="2000" b="1">
                <a:solidFill>
                  <a:srgbClr val="1F2D3A"/>
                </a:solidFill>
              </a:rPr>
              <a:t>anahtar saldırganın elindeyken ne yaparız?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Üç saldırgan modeli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"model"?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savunmayı tasarlamadan önce </a:t>
            </a:r>
            <a:r>
              <a:rPr sz="2000" b="1">
                <a:solidFill>
                  <a:srgbClr val="1F2D3A"/>
                </a:solidFill>
              </a:rPr>
              <a:t>saldırganın neyi görebildiğini</a:t>
            </a:r>
            <a:r>
              <a:rPr sz="2000" b="0">
                <a:solidFill>
                  <a:srgbClr val="1F2D3A"/>
                </a:solidFill>
              </a:rPr>
              <a:t> belirlemeliyiz.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Buna </a:t>
            </a:r>
            <a:r>
              <a:rPr sz="2000" b="1">
                <a:solidFill>
                  <a:srgbClr val="1F2D3A"/>
                </a:solidFill>
              </a:rPr>
              <a:t>saldırgan modeli</a:t>
            </a:r>
            <a:r>
              <a:rPr sz="2000" b="0">
                <a:solidFill>
                  <a:srgbClr val="1F2D3A"/>
                </a:solidFill>
              </a:rPr>
              <a:t> denir.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model var: kara, gri, beyaz kutu.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 kutu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yalnız girdi ve çıktıyı</a:t>
            </a:r>
            <a:r>
              <a:rPr sz="2000" b="0">
                <a:solidFill>
                  <a:srgbClr val="1F2D3A"/>
                </a:solidFill>
              </a:rPr>
              <a:t> görür.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İçeriyi (anahtar, ara değerler) göremez.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ortam: </a:t>
            </a:r>
            <a:r>
              <a:rPr sz="2000" b="1">
                <a:solidFill>
                  <a:srgbClr val="1F2D3A"/>
                </a:solidFill>
              </a:rPr>
              <a:t>uzak sunucu</a:t>
            </a:r>
            <a:r>
              <a:rPr sz="2000" b="0">
                <a:solidFill>
                  <a:srgbClr val="1F2D3A"/>
                </a:solidFill>
              </a:rPr>
              <a:t> (kod sizde, saldırgan ağdan bağlanıyor).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AES/RSA'nın güvenlik kanıtları bunu varsayar.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Gri kutu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girdi/çıktıya ek olarak </a:t>
            </a:r>
            <a:r>
              <a:rPr sz="2000" b="1">
                <a:solidFill>
                  <a:srgbClr val="1F2D3A"/>
                </a:solidFill>
              </a:rPr>
              <a:t>yan kanalları</a:t>
            </a:r>
            <a:r>
              <a:rPr sz="2000" b="0">
                <a:solidFill>
                  <a:srgbClr val="1F2D3A"/>
                </a:solidFill>
              </a:rPr>
              <a:t> görür (zaman, güç, EM).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İçeriyi doğrudan okuyamaz ama </a:t>
            </a:r>
            <a:r>
              <a:rPr sz="2000" b="1">
                <a:solidFill>
                  <a:srgbClr val="1F2D3A"/>
                </a:solidFill>
              </a:rPr>
              <a:t>dolaylı</a:t>
            </a:r>
            <a:r>
              <a:rPr sz="2000" b="0">
                <a:solidFill>
                  <a:srgbClr val="1F2D3A"/>
                </a:solidFill>
              </a:rPr>
              <a:t> ölçer.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ortam: elinde tuttuğu bir </a:t>
            </a:r>
            <a:r>
              <a:rPr sz="2000" b="1">
                <a:solidFill>
                  <a:srgbClr val="1F2D3A"/>
                </a:solidFill>
              </a:rPr>
              <a:t>akıllı kart</a:t>
            </a:r>
            <a:r>
              <a:rPr sz="2000" b="0">
                <a:solidFill>
                  <a:srgbClr val="1F2D3A"/>
                </a:solidFill>
              </a:rPr>
              <a:t> ya da gömülü cihaz.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her şeyi</a:t>
            </a:r>
            <a:r>
              <a:rPr sz="2000" b="0">
                <a:solidFill>
                  <a:srgbClr val="1F2D3A"/>
                </a:solidFill>
              </a:rPr>
              <a:t> görür: kod, bellek, tüm ara değerler.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Üstelik </a:t>
            </a:r>
            <a:r>
              <a:rPr sz="2000" b="1">
                <a:solidFill>
                  <a:srgbClr val="1F2D3A"/>
                </a:solidFill>
              </a:rPr>
              <a:t>değiştirebilir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ortam: </a:t>
            </a:r>
            <a:r>
              <a:rPr sz="2000" b="1">
                <a:solidFill>
                  <a:srgbClr val="1F2D3A"/>
                </a:solidFill>
              </a:rPr>
              <a:t>yazılım</a:t>
            </a:r>
            <a:r>
              <a:rPr sz="2000" b="0">
                <a:solidFill>
                  <a:srgbClr val="1F2D3A"/>
                </a:solidFill>
              </a:rPr>
              <a:t>, saldırganın kendi cihazında çalışıyor.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mobil/masaüstü uygulamanın gerçek durumudur.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Üç model bir arada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5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4364613"/>
                <a:gridCol w="4546472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görür / yapar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Girdi/çıktı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Uzak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yan kanal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Akıllı kart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Beyaz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şey + değiştirir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Yazılım, kendi cihazı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Kripto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için tasarlandı; biz </a:t>
            </a:r>
            <a:r>
              <a:rPr sz="1800" b="1">
                <a:solidFill>
                  <a:srgbClr val="1F2D3A"/>
                </a:solidFill>
              </a:rPr>
              <a:t>beyaz kutudayız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saldırgan modeli — ne görüyor?</a:t>
            </a:r>
          </a:p>
        </p:txBody>
      </p:sp>
      <p:pic>
        <p:nvPicPr>
          <p:cNvPr id="7" name="Picture 6" descr="h11-01-saldirgan-model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37945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burada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 matematiksel olarak güçlü. 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kutuda </a:t>
            </a:r>
            <a:r>
              <a:rPr sz="2000" b="1">
                <a:solidFill>
                  <a:srgbClr val="1F2D3A"/>
                </a:solidFill>
              </a:rPr>
              <a:t>anahtar bellekte</a:t>
            </a:r>
            <a:r>
              <a:rPr sz="2000" b="0">
                <a:solidFill>
                  <a:srgbClr val="1F2D3A"/>
                </a:solidFill>
              </a:rPr>
              <a:t> bir yerdedir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belleği okuyabilir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zaman AES'in gücü ne işe yarar?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Güçlü kilit, anahtarı kapının yanına asarsanız işe yaramaz.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Whitebox kriptografi (WBC)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WBC:</a:t>
            </a:r>
            <a:r>
              <a:rPr sz="2000" b="0">
                <a:solidFill>
                  <a:srgbClr val="1F2D3A"/>
                </a:solidFill>
              </a:rPr>
              <a:t> şifrelemeyi, anahtar </a:t>
            </a:r>
            <a:r>
              <a:rPr sz="2000" b="1">
                <a:solidFill>
                  <a:srgbClr val="1F2D3A"/>
                </a:solidFill>
              </a:rPr>
              <a:t>hiçbir zaman açıkça bellekte olmayacak</a:t>
            </a:r>
            <a:r>
              <a:rPr sz="2000" b="0">
                <a:solidFill>
                  <a:srgbClr val="1F2D3A"/>
                </a:solidFill>
              </a:rPr>
              <a:t> biçimde gerçekleştirmek.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Anahtar, önceden hesaplanmış </a:t>
            </a:r>
            <a:r>
              <a:rPr sz="2000" b="1">
                <a:solidFill>
                  <a:srgbClr val="1F2D3A"/>
                </a:solidFill>
              </a:rPr>
              <a:t>arama tablolarının içine</a:t>
            </a:r>
            <a:r>
              <a:rPr sz="2000" b="0">
                <a:solidFill>
                  <a:srgbClr val="1F2D3A"/>
                </a:solidFill>
              </a:rPr>
              <a:t> gömülür.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 "işte anahtar bu" diyebileceğiniz bir bayt dizisi </a:t>
            </a:r>
            <a:r>
              <a:rPr sz="2000" b="1">
                <a:solidFill>
                  <a:srgbClr val="1F2D3A"/>
                </a:solidFill>
              </a:rPr>
              <a:t>yoktur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bir tanım değil, bir saldırgan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WBC, 2002'de Chow ve arkadaşları tarafından tanımlandı.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Aslında bir </a:t>
            </a:r>
            <a:r>
              <a:rPr sz="2000" b="1">
                <a:solidFill>
                  <a:srgbClr val="1F2D3A"/>
                </a:solidFill>
              </a:rPr>
              <a:t>saldırgan modelidir</a:t>
            </a:r>
            <a:r>
              <a:rPr sz="2000" b="0">
                <a:solidFill>
                  <a:srgbClr val="1F2D3A"/>
                </a:solidFill>
              </a:rPr>
              <a:t>: "saldırgan her şeyi görüp değiştirebiliyorsa şifreleme nasıl yapılır?"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saldırgan neler yapabilir?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Gözlemler: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an işlenen komutlara erişir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 akışını 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Kullanılan </a:t>
            </a:r>
            <a:r>
              <a:rPr sz="2000" b="1">
                <a:solidFill>
                  <a:srgbClr val="1F2D3A"/>
                </a:solidFill>
              </a:rPr>
              <a:t>belleği görür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Yani programın gördüğü her ara değeri o da görür.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saldırgan neler yapabilir?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Değiştirir: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belleğini kurcalar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Algoritmanın </a:t>
            </a:r>
            <a:r>
              <a:rPr sz="2000" b="1">
                <a:solidFill>
                  <a:srgbClr val="1F2D3A"/>
                </a:solidFill>
              </a:rPr>
              <a:t>yalnız bir turunu</a:t>
            </a:r>
            <a:r>
              <a:rPr sz="2000" b="0">
                <a:solidFill>
                  <a:srgbClr val="1F2D3A"/>
                </a:solidFill>
              </a:rPr>
              <a:t> çalıştırır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koşullarını değiştirir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Döngü sayaçlarını değiştirir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 enjekte eder</a:t>
            </a:r>
            <a:r>
              <a:rPr sz="2000" b="0">
                <a:solidFill>
                  <a:srgbClr val="1F2D3A"/>
                </a:solidFill>
              </a:rPr>
              <a:t> (bir değeri bozar)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Kaynağın uyum maddesi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Teknik kılavuz bu bölümü şu gereksinimle açar: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"Kriptografik anahtarlar, gizlilik ve bütünlüğü korumak için </a:t>
            </a:r>
            <a:r>
              <a:rPr sz="2000" b="1">
                <a:solidFill>
                  <a:srgbClr val="1F2D3A"/>
                </a:solidFill>
              </a:rPr>
              <a:t>güvence altına alınmalı ve/veya gizlenmelidir.</a:t>
            </a:r>
            <a:r>
              <a:rPr sz="2000" b="0">
                <a:solidFill>
                  <a:srgbClr val="1F2D3A"/>
                </a:solidFill>
              </a:rPr>
              <a:t>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 hemen ekliyor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Kılavuz, bu saldırgan yeteneklerine karşı koruyanın </a:t>
            </a:r>
            <a:r>
              <a:rPr sz="2000" b="1">
                <a:solidFill>
                  <a:srgbClr val="1F2D3A"/>
                </a:solidFill>
              </a:rPr>
              <a:t>yalnız WBC olmadığını</a:t>
            </a:r>
            <a:r>
              <a:rPr sz="2000" b="0">
                <a:solidFill>
                  <a:srgbClr val="1F2D3A"/>
                </a:solidFill>
              </a:rPr>
              <a:t> söyler: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Uygulamayı ve varlıkları koruyan şey, </a:t>
            </a:r>
            <a:r>
              <a:rPr sz="2000" b="1">
                <a:solidFill>
                  <a:srgbClr val="1F2D3A"/>
                </a:solidFill>
              </a:rPr>
              <a:t>kod sağlamlaştırma (9. hafta) ve RASP (6. hafta)</a:t>
            </a:r>
            <a:r>
              <a:rPr sz="2000" b="0">
                <a:solidFill>
                  <a:srgbClr val="1F2D3A"/>
                </a:solidFill>
              </a:rPr>
              <a:t> yöntemleridir.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ilk cümleden itibaren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sunulmaz.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Problem neden bu kadar zor?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Temel gerilim: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şifrelemek için anahtara </a:t>
            </a:r>
            <a:r>
              <a:rPr sz="2000" b="1">
                <a:solidFill>
                  <a:srgbClr val="1F2D3A"/>
                </a:solidFill>
              </a:rPr>
              <a:t>erişmek</a:t>
            </a:r>
            <a:r>
              <a:rPr sz="2000" b="0">
                <a:solidFill>
                  <a:srgbClr val="1F2D3A"/>
                </a:solidFill>
              </a:rPr>
              <a:t> zorunda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da programın gördüğü her şeyi görüyor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Yani anahtar bir noktada </a:t>
            </a:r>
            <a:r>
              <a:rPr sz="2000" b="1">
                <a:solidFill>
                  <a:srgbClr val="1F2D3A"/>
                </a:solidFill>
              </a:rPr>
              <a:t>saldırganın da görebildiği</a:t>
            </a:r>
            <a:r>
              <a:rPr sz="2000" b="0">
                <a:solidFill>
                  <a:srgbClr val="1F2D3A"/>
                </a:solidFill>
              </a:rPr>
              <a:t> yerde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bunu "anahtarı tablolara pişirerek" aşmaya çalışır.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gizlilik değil, maliyet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gizliliği kriptodan gizlemeye </a:t>
            </a:r>
            <a:r>
              <a:rPr sz="2000" b="1">
                <a:solidFill>
                  <a:srgbClr val="1F2D3A"/>
                </a:solidFill>
              </a:rPr>
              <a:t>taşımaz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Matematiksel bir dönüşümle anahtarı tablolara </a:t>
            </a:r>
            <a:r>
              <a:rPr sz="2000" b="1">
                <a:solidFill>
                  <a:srgbClr val="1F2D3A"/>
                </a:solidFill>
              </a:rPr>
              <a:t>dağıtır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 yine 9. haftadaki gibi: anahtarı geri çıkarmayı </a:t>
            </a:r>
            <a:r>
              <a:rPr sz="2000" b="1">
                <a:solidFill>
                  <a:srgbClr val="1F2D3A"/>
                </a:solidFill>
              </a:rPr>
              <a:t>çok daha pahalı</a:t>
            </a:r>
            <a:r>
              <a:rPr sz="2000" b="0">
                <a:solidFill>
                  <a:srgbClr val="1F2D3A"/>
                </a:solidFill>
              </a:rPr>
              <a:t> yapmak.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Naif çözümler neden çöker?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tablodan nasıl sızıyor — şema</a:t>
            </a:r>
          </a:p>
        </p:txBody>
      </p:sp>
      <p:pic>
        <p:nvPicPr>
          <p:cNvPr id="7" name="Picture 6" descr="h11-02-anahtar-sizma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çökenleri öğreniyoruz?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WBC'ye neden ihtiyaç olduğunu görmek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başarısız "kolay" çözüm, bir güvenli programlama </a:t>
            </a:r>
            <a:r>
              <a:rPr sz="2000" b="1">
                <a:solidFill>
                  <a:srgbClr val="1F2D3A"/>
                </a:solidFill>
              </a:rPr>
              <a:t>kuralına</a:t>
            </a:r>
            <a:r>
              <a:rPr sz="2000" b="0">
                <a:solidFill>
                  <a:srgbClr val="1F2D3A"/>
                </a:solidFill>
              </a:rPr>
              <a:t> dönüşür.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1 · Anahtarı diziye göm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k[16] = { 0x2B, 0x7E, ... };  /* KÖTÜ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kolay yol, en zayıf yol.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1 · Nasıl kırılır?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/ bayt taraması: 16 baytlık blok görünür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Entropi taraması:</a:t>
            </a:r>
            <a:r>
              <a:rPr sz="2000" b="0">
                <a:solidFill>
                  <a:srgbClr val="1F2D3A"/>
                </a:solidFill>
              </a:rPr>
              <a:t> yüksek entropili blok "anahtar burada" der (Shamir–van Someren gözlemi)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Hata ayıklayıcı: şifreleme çağrısında bu bloğun kullanıldığını doğrular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dakikalar.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1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Düz gömülü anahtar bir anahtar koruması </a:t>
            </a:r>
            <a:r>
              <a:rPr sz="2000" b="1">
                <a:solidFill>
                  <a:srgbClr val="1F2D3A"/>
                </a:solidFill>
              </a:rPr>
              <a:t>değildir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9. haftadaki "dize gizleme anahtar saklamaz" kuralının ta kendisi.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2 · XOR ile "karıştır"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k_gizli[16] = ...;   /* k ^ maske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çalışırken: k = k_gizli ^ maske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"Anahtarı bir maskeyle XOR'layıp saklayayım."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2 · Neden çöker?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Maske de</a:t>
            </a:r>
            <a:r>
              <a:rPr sz="2000" b="0">
                <a:solidFill>
                  <a:srgbClr val="1F2D3A"/>
                </a:solidFill>
              </a:rPr>
              <a:t> ikili dosyadadır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çözebiliyorsa, saldırgan da çözer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Sadece bir adım fazladan; gerçek bir engel değil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neyi yapabiliyorsa, beyaz kutu saldırgan da yapar.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3 tehdidi · Kod taşıma (code lifting)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Diyelim WBC anahtarı tablolara gömdü.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anahtarı </a:t>
            </a:r>
            <a:r>
              <a:rPr sz="2000" b="1">
                <a:solidFill>
                  <a:srgbClr val="1F2D3A"/>
                </a:solidFill>
              </a:rPr>
              <a:t>hiç çıkarmadan</a:t>
            </a:r>
            <a:r>
              <a:rPr sz="2000" b="0">
                <a:solidFill>
                  <a:srgbClr val="1F2D3A"/>
                </a:solidFill>
              </a:rPr>
              <a:t>, şifreleme yapan kod parçasını (tablolar + yorumlayıcı) </a:t>
            </a:r>
            <a:r>
              <a:rPr sz="2000" b="1">
                <a:solidFill>
                  <a:srgbClr val="1F2D3A"/>
                </a:solidFill>
              </a:rPr>
              <a:t>olduğu gibi kopyalar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programında kullanır: anahtarı bilmeden işlevini </a:t>
            </a:r>
            <a:r>
              <a:rPr sz="2000" b="1">
                <a:solidFill>
                  <a:srgbClr val="1F2D3A"/>
                </a:solidFill>
              </a:rPr>
              <a:t>çalar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Code lifting — şema</a:t>
            </a:r>
          </a:p>
        </p:txBody>
      </p:sp>
      <p:pic>
        <p:nvPicPr>
          <p:cNvPr id="7" name="Picture 6" descr="h11-06-code-lif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 taşıma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WBC'nin "anahtarı gizledim" demesi yetmez.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 taşımaya karşı </a:t>
            </a:r>
            <a:r>
              <a:rPr sz="2000" b="1">
                <a:solidFill>
                  <a:srgbClr val="1F2D3A"/>
                </a:solidFill>
              </a:rPr>
              <a:t>cihaz/sürüm bağlama</a:t>
            </a:r>
            <a:r>
              <a:rPr sz="2000" b="0">
                <a:solidFill>
                  <a:srgbClr val="1F2D3A"/>
                </a:solidFill>
              </a:rPr>
              <a:t> gerekir (birazdan 3. bölüm): tablolar yalnız belirli bir cihazda/sürümde anlamlı olsun.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çözümler: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9974"/>
                <a:gridCol w="658156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Naif çözüm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Kıran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Diziye gömülü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entropi + gdb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XOR/whitening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maske de içeride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(WBC bile)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kod taşıma → cihaz bağlama gerekir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Kara, gri, beyaz kutu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AES güçlüyken beyaz kutuda sorun 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Anahtarı diziye gömmek neden koruma değil?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Kara:</a:t>
            </a:r>
            <a:r>
              <a:rPr sz="1800" b="0">
                <a:solidFill>
                  <a:srgbClr val="1F2D3A"/>
                </a:solidFill>
              </a:rPr>
              <a:t> yalnız girdi/çıktı · </a:t>
            </a:r>
            <a:r>
              <a:rPr sz="1800" b="1">
                <a:solidFill>
                  <a:srgbClr val="1F2D3A"/>
                </a:solidFill>
              </a:rPr>
              <a:t>Gri:</a:t>
            </a:r>
            <a:r>
              <a:rPr sz="1800" b="0">
                <a:solidFill>
                  <a:srgbClr val="1F2D3A"/>
                </a:solidFill>
              </a:rPr>
              <a:t> + yan kanallar (zaman/güç) · </a:t>
            </a:r>
            <a:r>
              <a:rPr sz="1800" b="1">
                <a:solidFill>
                  <a:srgbClr val="1F2D3A"/>
                </a:solidFill>
              </a:rPr>
              <a:t>Beyaz:</a:t>
            </a:r>
            <a:r>
              <a:rPr sz="1800" b="0">
                <a:solidFill>
                  <a:srgbClr val="1F2D3A"/>
                </a:solidFill>
              </a:rPr>
              <a:t> her şey + değiştirir.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Anahtar bir noktada </a:t>
            </a:r>
            <a:r>
              <a:rPr sz="1800" b="1">
                <a:solidFill>
                  <a:srgbClr val="1F2D3A"/>
                </a:solidFill>
              </a:rPr>
              <a:t>bellekte</a:t>
            </a:r>
            <a:r>
              <a:rPr sz="1800" b="0">
                <a:solidFill>
                  <a:srgbClr val="1F2D3A"/>
                </a:solidFill>
              </a:rPr>
              <a:t>; beyaz kutu saldırgan onu görür. AES'in gücü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varsayımına dayanır.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1">
                <a:solidFill>
                  <a:srgbClr val="1F2D3A"/>
                </a:solidFill>
              </a:rPr>
              <a:t>entropi</a:t>
            </a:r>
            <a:r>
              <a:rPr sz="1800" b="0">
                <a:solidFill>
                  <a:srgbClr val="1F2D3A"/>
                </a:solidFill>
              </a:rPr>
              <a:t> taraması + gdb ile dakikalar içinde bulunur; program onu kullanmak zorundadır.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Tablo tabanlı WBC (adım adım)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öğreneceğiz?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Chow ve arkadaşlarının 2002 AES tasarımı, tablo tabanlı WBC'nin klasiğidir.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Fikri</a:t>
            </a:r>
            <a:r>
              <a:rPr sz="2000" b="0">
                <a:solidFill>
                  <a:srgbClr val="1F2D3A"/>
                </a:solidFill>
              </a:rPr>
              <a:t> (nasıl çalışır)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Maliyeti</a:t>
            </a:r>
            <a:r>
              <a:rPr sz="2000" b="0">
                <a:solidFill>
                  <a:srgbClr val="1F2D3A"/>
                </a:solidFill>
              </a:rPr>
              <a:t> (tablo boyutu, hız)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Sınırı</a:t>
            </a:r>
            <a:r>
              <a:rPr sz="2000" b="0">
                <a:solidFill>
                  <a:srgbClr val="1F2D3A"/>
                </a:solidFill>
              </a:rPr>
              <a:t> (neden yeterli değil)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Sınavda matematik yok; </a:t>
            </a:r>
            <a:r>
              <a:rPr sz="2000" b="1">
                <a:solidFill>
                  <a:srgbClr val="1F2D3A"/>
                </a:solidFill>
              </a:rPr>
              <a:t>fikir ve sınır</a:t>
            </a:r>
            <a:r>
              <a:rPr sz="2000" b="0">
                <a:solidFill>
                  <a:srgbClr val="1F2D3A"/>
                </a:solidFill>
              </a:rPr>
              <a:t> var.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Hatırlatma: bir AES turunun iki adımı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Durum baytını tur anahtarıyla </a:t>
            </a:r>
            <a:r>
              <a:rPr sz="2000" b="1">
                <a:solidFill>
                  <a:srgbClr val="1F2D3A"/>
                </a:solidFill>
              </a:rPr>
              <a:t>XOR</a:t>
            </a:r>
            <a:r>
              <a:rPr sz="2000" b="0">
                <a:solidFill>
                  <a:srgbClr val="1F2D3A"/>
                </a:solidFill>
              </a:rPr>
              <a:t>'la: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Sonucu </a:t>
            </a:r>
            <a:r>
              <a:rPr sz="2000" b="1">
                <a:solidFill>
                  <a:srgbClr val="1F2D3A"/>
                </a:solidFill>
              </a:rPr>
              <a:t>S-box</a:t>
            </a:r>
            <a:r>
              <a:rPr sz="2000" b="0">
                <a:solidFill>
                  <a:srgbClr val="1F2D3A"/>
                </a:solidFill>
              </a:rPr>
              <a:t>'tan geçir: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S-box[x ^ k]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iki adım, sabit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için birleştirilebilir mi? Evet.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Anahtarı tabloya "pişir"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Normal:  çıktı = S-box[ x ^ k 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WBC:     T[x]  = S-box[ x ^ k ]   (256 girişli tablo)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kodda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diye bir değişken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, tablonun </a:t>
            </a:r>
            <a:r>
              <a:rPr sz="2000" b="1">
                <a:solidFill>
                  <a:srgbClr val="1F2D3A"/>
                </a:solidFill>
              </a:rPr>
              <a:t>içine</a:t>
            </a:r>
            <a:r>
              <a:rPr sz="2000" b="0">
                <a:solidFill>
                  <a:srgbClr val="1F2D3A"/>
                </a:solidFill>
              </a:rPr>
              <a:t> gömülü.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Ne kazandık?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adında bir bayt dizisi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Sadece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 tablosu var (256 giriş)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Görünüşte anahtar kayboldu. Ama...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Neden tek başına güvensiz?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, S-box'ın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k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ötelenmiş</a:t>
            </a:r>
            <a:r>
              <a:rPr sz="2000" b="0">
                <a:solidFill>
                  <a:srgbClr val="1F2D3A"/>
                </a:solidFill>
              </a:rPr>
              <a:t> hali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'yi bilinen S-box ile karşılaştırır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Öteleme miktarından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</a:t>
            </a:r>
            <a:r>
              <a:rPr sz="2000" b="1">
                <a:solidFill>
                  <a:srgbClr val="1F2D3A"/>
                </a:solidFill>
              </a:rPr>
              <a:t>geri çıkarır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 yüzden tabloları </a:t>
            </a:r>
            <a:r>
              <a:rPr sz="2000" b="1">
                <a:solidFill>
                  <a:srgbClr val="1F2D3A"/>
                </a:solidFill>
              </a:rPr>
              <a:t>kodlamak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Tabloları büyüt (T-box)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eşlemesi yerine, S-box ile AES'in </a:t>
            </a:r>
            <a:r>
              <a:rPr sz="2000" b="1">
                <a:solidFill>
                  <a:srgbClr val="1F2D3A"/>
                </a:solidFill>
              </a:rPr>
              <a:t>karıştırma</a:t>
            </a:r>
            <a:r>
              <a:rPr sz="2000" b="0">
                <a:solidFill>
                  <a:srgbClr val="1F2D3A"/>
                </a:solidFill>
              </a:rPr>
              <a:t> adımını (MixColumns) birleştir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8 bit girip </a:t>
            </a:r>
            <a:r>
              <a:rPr sz="2000" b="1">
                <a:solidFill>
                  <a:srgbClr val="1F2D3A"/>
                </a:solidFill>
              </a:rPr>
              <a:t>32 bit</a:t>
            </a:r>
            <a:r>
              <a:rPr sz="2000" b="0">
                <a:solidFill>
                  <a:srgbClr val="1F2D3A"/>
                </a:solidFill>
              </a:rPr>
              <a:t> çıkaran daha büyük tablolar (</a:t>
            </a:r>
            <a:r>
              <a:rPr sz="2000" b="1">
                <a:solidFill>
                  <a:srgbClr val="1F2D3A"/>
                </a:solidFill>
              </a:rPr>
              <a:t>T-box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Baytlar arası XOR'lar da küçük </a:t>
            </a:r>
            <a:r>
              <a:rPr sz="2000" b="1">
                <a:solidFill>
                  <a:srgbClr val="1F2D3A"/>
                </a:solidFill>
              </a:rPr>
              <a:t>XOR tabloları</a:t>
            </a:r>
            <a:r>
              <a:rPr sz="2000" b="0">
                <a:solidFill>
                  <a:srgbClr val="1F2D3A"/>
                </a:solidFill>
              </a:rPr>
              <a:t> (4 bit) olur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Sonuç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tur, bir </a:t>
            </a:r>
            <a:r>
              <a:rPr sz="2000" b="1">
                <a:solidFill>
                  <a:srgbClr val="1F2D3A"/>
                </a:solidFill>
              </a:rPr>
              <a:t>arama tabloları ağına</a:t>
            </a:r>
            <a:r>
              <a:rPr sz="2000" b="0">
                <a:solidFill>
                  <a:srgbClr val="1F2D3A"/>
                </a:solidFill>
              </a:rPr>
              <a:t> dönüşür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 yerde açık bir aritmetik anahtar işlemi 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tablolar hâlâ tek başına incelenebilir → kodlama şart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İç kodlamalar (internal encodings)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tablonun </a:t>
            </a:r>
            <a:r>
              <a:rPr sz="2000" b="1">
                <a:solidFill>
                  <a:srgbClr val="1F2D3A"/>
                </a:solidFill>
              </a:rPr>
              <a:t>çıkışına</a:t>
            </a:r>
            <a:r>
              <a:rPr sz="2000" b="0">
                <a:solidFill>
                  <a:srgbClr val="1F2D3A"/>
                </a:solidFill>
              </a:rPr>
              <a:t> gizli bir bijeksiyon uygula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sonraki tablonun </a:t>
            </a:r>
            <a:r>
              <a:rPr sz="2000" b="1">
                <a:solidFill>
                  <a:srgbClr val="1F2D3A"/>
                </a:solidFill>
              </a:rPr>
              <a:t>girişinde</a:t>
            </a:r>
            <a:r>
              <a:rPr sz="2000" b="0">
                <a:solidFill>
                  <a:srgbClr val="1F2D3A"/>
                </a:solidFill>
              </a:rPr>
              <a:t> onun tersini uygula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Ardışık kodlamalar birbirini </a:t>
            </a:r>
            <a:r>
              <a:rPr sz="2000" b="1">
                <a:solidFill>
                  <a:srgbClr val="1F2D3A"/>
                </a:solidFill>
              </a:rPr>
              <a:t>götürür</a:t>
            </a:r>
            <a:r>
              <a:rPr sz="2000" b="0">
                <a:solidFill>
                  <a:srgbClr val="1F2D3A"/>
                </a:solidFill>
              </a:rPr>
              <a:t> → sonuç doğru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ara değerler karışık</a:t>
            </a:r>
            <a:r>
              <a:rPr sz="2000" b="0">
                <a:solidFill>
                  <a:srgbClr val="1F2D3A"/>
                </a:solidFill>
              </a:rPr>
              <a:t> görünür.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İç kodlama — şema</a:t>
            </a:r>
          </a:p>
        </p:txBody>
      </p:sp>
      <p:pic>
        <p:nvPicPr>
          <p:cNvPr id="7" name="Picture 6" descr="h11-03-ic-kod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Neyi engeller?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tabloyu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inceleyen saldırganı durdurmayı amaçlar.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Çünkü o tablonun girişi/çıkışı, gizli bir kodlamayla bozulmuştur.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Karıştırıcı bijeksiyonlar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kodlamalara ek olarak, GF(2) üzerinde doğrusal </a:t>
            </a:r>
            <a:r>
              <a:rPr sz="2000" b="1">
                <a:solidFill>
                  <a:srgbClr val="1F2D3A"/>
                </a:solidFill>
              </a:rPr>
              <a:t>karıştırıcı matrisler</a:t>
            </a:r>
            <a:r>
              <a:rPr sz="2000" b="0">
                <a:solidFill>
                  <a:srgbClr val="1F2D3A"/>
                </a:solidFill>
              </a:rPr>
              <a:t> (8×8, 32×32)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Bunlar bilgiyi tablolar arasında </a:t>
            </a:r>
            <a:r>
              <a:rPr sz="2000" b="1">
                <a:solidFill>
                  <a:srgbClr val="1F2D3A"/>
                </a:solidFill>
              </a:rPr>
              <a:t>yayar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tablodan sızan bilgi tek başına anlamlı olmaz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(GF(2) = bitlerle, XOR aritmetiğiyle çalışan matematik; ayrıntı gerekmez.)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Tablo tipleri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Chow'un tasarımında bu kodlanmış/karıştırılmış tabloların </a:t>
            </a:r>
            <a:r>
              <a:rPr sz="2000" b="1">
                <a:solidFill>
                  <a:srgbClr val="1F2D3A"/>
                </a:solidFill>
              </a:rPr>
              <a:t>tipleri</a:t>
            </a:r>
            <a:r>
              <a:rPr sz="2000" b="0">
                <a:solidFill>
                  <a:srgbClr val="1F2D3A"/>
                </a:solidFill>
              </a:rPr>
              <a:t> vardır (literatürde I–IV).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tip farklı bir rol üstlenir.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için: "tablolar tek tip değil, çeşitli" bilmek yeter.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Dış kodlamalar F ve 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dışta, tüm şifre iki gizli bijeksiyonla sarılır: </a:t>
            </a:r>
            <a:r>
              <a:rPr sz="2000" b="1">
                <a:solidFill>
                  <a:srgbClr val="1F2D3A"/>
                </a:solidFill>
              </a:rPr>
              <a:t>F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kılavuz: "whitebox AES işlemi F ve G adlı iki rastgele tekil-olmayan matrisle kapsüllenir"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Yani ağ artık saf AES değil:</a:t>
            </a:r>
          </a:p>
        </p:txBody>
      </p:sp>
      <p:pic>
        <p:nvPicPr>
          <p:cNvPr id="8" name="Picture 7" descr="h11-04-dis-kod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2985008"/>
            <a:ext cx="7672173" cy="3041511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Dış kodlama neden güçlü?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Saldırganın gördüğü giriş/çıkış </a:t>
            </a:r>
            <a:r>
              <a:rPr sz="2000" b="1">
                <a:solidFill>
                  <a:srgbClr val="1F2D3A"/>
                </a:solidFill>
              </a:rPr>
              <a:t>standart AES'in giriş/çıkışı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tablolara bakan pek çok saldırıyı (istatistiksel/cebirsel) çok zorlaştırır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Ama en büyük sınır da bu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G ∘ AES ∘ F⁻¹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standart AES değildir.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 taraf (sunucu/başka uç) </a:t>
            </a:r>
            <a:r>
              <a:rPr sz="2000" b="0">
                <a:solidFill>
                  <a:srgbClr val="A1123F"/>
                </a:solidFill>
                <a:latin typeface="Consolas"/>
              </a:rPr>
              <a:t>F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G</a:t>
            </a:r>
            <a:r>
              <a:rPr sz="2000" b="0">
                <a:solidFill>
                  <a:srgbClr val="1F2D3A"/>
                </a:solidFill>
              </a:rPr>
              <a:t>'yi bilip geri almadan sonuç </a:t>
            </a:r>
            <a:r>
              <a:rPr sz="2000" b="1">
                <a:solidFill>
                  <a:srgbClr val="1F2D3A"/>
                </a:solidFill>
              </a:rPr>
              <a:t>anlamsız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Yani dış kodlamalı WBC yalnız </a:t>
            </a:r>
            <a:r>
              <a:rPr sz="2000" b="1">
                <a:solidFill>
                  <a:srgbClr val="1F2D3A"/>
                </a:solidFill>
              </a:rPr>
              <a:t>iki ucu da sizde</a:t>
            </a:r>
            <a:r>
              <a:rPr sz="2000" b="0">
                <a:solidFill>
                  <a:srgbClr val="1F2D3A"/>
                </a:solidFill>
              </a:rPr>
              <a:t> olan protokolde kullanılır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EMV gibi </a:t>
            </a:r>
            <a:r>
              <a:rPr sz="2000" b="1">
                <a:solidFill>
                  <a:srgbClr val="1F2D3A"/>
                </a:solidFill>
              </a:rPr>
              <a:t>standart AES bekleyen</a:t>
            </a:r>
            <a:r>
              <a:rPr sz="2000" b="0">
                <a:solidFill>
                  <a:srgbClr val="1F2D3A"/>
                </a:solidFill>
              </a:rPr>
              <a:t> bir protokolde kullanılamayabilir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Beş adım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Anahtarı tabloya pişir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Tabloları büyüt (T-box + XOR tabloları)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İç kodlamalar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Karıştırıcı bijeksiyonlar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Dış kodlamalar (F, 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Sonuç: anahtar açıkça yok; her şey kodlanmış tablolarda.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WBC'nin maliyeti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bedava değil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Anahtarı tablolara gömmenin bedeli: </a:t>
            </a:r>
            <a:r>
              <a:rPr sz="2000" b="1">
                <a:solidFill>
                  <a:srgbClr val="1F2D3A"/>
                </a:solidFill>
              </a:rPr>
              <a:t>kocaman tablolar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9638521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654692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Yaklaşık (mertebe)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Tablo boyutu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Yüzlerce KB (~770 KB)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Karşılaştırma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Std AES anahtarı: 16–32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bedava değil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8573"/>
                <a:gridCol w="5902961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Yaklaşık (mertebe)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Tur başına tablo okuması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Binlerce (~3000)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Std AES'e göre ~50×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yavaş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 hissi: tablo boyutu hesabı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Örnek: 288 tablo × 1 KB ≈ </a:t>
            </a:r>
            <a:r>
              <a:rPr sz="2000" b="1">
                <a:solidFill>
                  <a:srgbClr val="1F2D3A"/>
                </a:solidFill>
              </a:rPr>
              <a:t>294.912 bayt</a:t>
            </a:r>
            <a:r>
              <a:rPr sz="2000" b="0">
                <a:solidFill>
                  <a:srgbClr val="1F2D3A"/>
                </a:solidFill>
              </a:rPr>
              <a:t> (~288 KB).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 kesin sayı değil, </a:t>
            </a:r>
            <a:r>
              <a:rPr sz="2000" b="1">
                <a:solidFill>
                  <a:srgbClr val="1F2D3A"/>
                </a:solidFill>
              </a:rPr>
              <a:t>mertebe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WBC yalnız </a:t>
            </a:r>
            <a:r>
              <a:rPr sz="2000" b="1">
                <a:solidFill>
                  <a:srgbClr val="1F2D3A"/>
                </a:solidFill>
              </a:rPr>
              <a:t>seçili, kritik</a:t>
            </a:r>
            <a:r>
              <a:rPr sz="2000" b="0">
                <a:solidFill>
                  <a:srgbClr val="1F2D3A"/>
                </a:solidFill>
              </a:rPr>
              <a:t> işlemlere uygulanır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mantık 9. haftadaki sanallaştırma (K-10) ile birebir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T[x] = S-box[x ^ k]</a:t>
            </a:r>
            <a:r>
              <a:rPr sz="2000" b="0">
                <a:solidFill>
                  <a:srgbClr val="1F2D3A"/>
                </a:solidFill>
              </a:rPr>
              <a:t> tek başına neden güvensiz?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İç kodlama ile dış kodlama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Dış kodlamanın (F, G) en büyük sınırı 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WBC neden yalnız seçili işlemlere uygulanır?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760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A1123F"/>
                </a:solidFill>
                <a:latin typeface="Consolas"/>
              </a:rPr>
              <a:t>T</a:t>
            </a:r>
            <a:r>
              <a:rPr sz="1800" b="0">
                <a:solidFill>
                  <a:srgbClr val="1F2D3A"/>
                </a:solidFill>
              </a:rPr>
              <a:t>, bilinen S-box'ın </a:t>
            </a:r>
            <a:r>
              <a:rPr sz="1800" b="0">
                <a:solidFill>
                  <a:srgbClr val="A1123F"/>
                </a:solidFill>
                <a:latin typeface="Consolas"/>
              </a:rPr>
              <a:t>x^k</a:t>
            </a:r>
            <a:r>
              <a:rPr sz="1800" b="0">
                <a:solidFill>
                  <a:srgbClr val="1F2D3A"/>
                </a:solidFill>
              </a:rPr>
              <a:t> ile ötelenmişidir; iki tablo karşılaştırılıp </a:t>
            </a:r>
            <a:r>
              <a:rPr sz="1800" b="1">
                <a:solidFill>
                  <a:srgbClr val="1F2D3A"/>
                </a:solidFill>
              </a:rPr>
              <a:t>k geri çıkar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İç:</a:t>
            </a:r>
            <a:r>
              <a:rPr sz="1800" b="0">
                <a:solidFill>
                  <a:srgbClr val="1F2D3A"/>
                </a:solidFill>
              </a:rPr>
              <a:t> tablolar arası ara değerleri karıştırır · </a:t>
            </a:r>
            <a:r>
              <a:rPr sz="1800" b="1">
                <a:solidFill>
                  <a:srgbClr val="1F2D3A"/>
                </a:solidFill>
              </a:rPr>
              <a:t>Dış (F,G):</a:t>
            </a:r>
            <a:r>
              <a:rPr sz="1800" b="0">
                <a:solidFill>
                  <a:srgbClr val="1F2D3A"/>
                </a:solidFill>
              </a:rPr>
              <a:t> tüm şifreyi sarar (</a:t>
            </a:r>
            <a:r>
              <a:rPr sz="1800" b="0">
                <a:solidFill>
                  <a:srgbClr val="A1123F"/>
                </a:solidFill>
                <a:latin typeface="Consolas"/>
              </a:rPr>
              <a:t>G∘AES∘F⁻¹</a:t>
            </a:r>
            <a:r>
              <a:rPr sz="18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Artık </a:t>
            </a:r>
            <a:r>
              <a:rPr sz="1800" b="1">
                <a:solidFill>
                  <a:srgbClr val="1F2D3A"/>
                </a:solidFill>
              </a:rPr>
              <a:t>standart AES değildir</a:t>
            </a:r>
            <a:r>
              <a:rPr sz="1800" b="0">
                <a:solidFill>
                  <a:srgbClr val="1F2D3A"/>
                </a:solidFill>
              </a:rPr>
              <a:t>; karşı taraf F/G'yi bilmeli — EMV gibi standartlarda kullanılamayabilir.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Tablolar yüzlerce KB + ~50× yavaş; maliyet yüzünden yalnız </a:t>
            </a:r>
            <a:r>
              <a:rPr sz="1800" b="1">
                <a:solidFill>
                  <a:srgbClr val="1F2D3A"/>
                </a:solidFill>
              </a:rPr>
              <a:t>küçük/kritik</a:t>
            </a:r>
            <a:r>
              <a:rPr sz="1800" b="0">
                <a:solidFill>
                  <a:srgbClr val="1F2D3A"/>
                </a:solidFill>
              </a:rPr>
              <a:t> işlemler.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Saldırı geçmişi ve karşı önlemler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kırılma tarihi — şema</a:t>
            </a:r>
          </a:p>
        </p:txBody>
      </p:sp>
      <p:pic>
        <p:nvPicPr>
          <p:cNvPr id="7" name="Picture 6" descr="h11-08-tarih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342131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geçmişe bakıyoruz?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korumaya ne kadar güveneceğinizi, onun </a:t>
            </a:r>
            <a:r>
              <a:rPr sz="2000" b="1">
                <a:solidFill>
                  <a:srgbClr val="1F2D3A"/>
                </a:solidFill>
              </a:rPr>
              <a:t>kırılma geçmişi</a:t>
            </a:r>
            <a:r>
              <a:rPr sz="2000" b="0">
                <a:solidFill>
                  <a:srgbClr val="1F2D3A"/>
                </a:solidFill>
              </a:rPr>
              <a:t> söyler.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satır, savunmacı için bir </a:t>
            </a:r>
            <a:r>
              <a:rPr sz="2000" b="1">
                <a:solidFill>
                  <a:srgbClr val="1F2D3A"/>
                </a:solidFill>
              </a:rPr>
              <a:t>çıkarım</a:t>
            </a:r>
            <a:r>
              <a:rPr sz="2000" b="0">
                <a:solidFill>
                  <a:srgbClr val="1F2D3A"/>
                </a:solidFill>
              </a:rPr>
              <a:t>dır.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2002 · Doğuş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Chow ve arkadaşları WB-AES ve WB-DES tasarımlarını yayımlar.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 tabanlı yaklaşım doğar.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fikir umut verici; ama sınanmadı.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2004 · BGE saldırısı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BGE</a:t>
            </a:r>
            <a:r>
              <a:rPr sz="2000" b="0">
                <a:solidFill>
                  <a:srgbClr val="1F2D3A"/>
                </a:solidFill>
              </a:rPr>
              <a:t> (Billet–Gilbert–Ech-Chatbi): Chow AES'i pratik sürede kırar (~2³⁰ işlem).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kodlamaları çözer.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iç kodlamalar tek başına </a:t>
            </a:r>
            <a:r>
              <a:rPr sz="2000" b="1">
                <a:solidFill>
                  <a:srgbClr val="1F2D3A"/>
                </a:solidFill>
              </a:rPr>
              <a:t>yetmez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2007 · WB-DES düşer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Goubin, Wyseur ve diğerleri WB-DES ve harici kodlamalı türevlerini kırar.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DES tabanlı WBC bırakılır.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2010'lar · "Daha çok tablo" denemesi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Karroumi'nin "çift AES" güçlendirmesi de kırılır (~2²²).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daha çok tablo = daha çok güç </a:t>
            </a:r>
            <a:r>
              <a:rPr sz="2000" b="1">
                <a:solidFill>
                  <a:srgbClr val="1F2D3A"/>
                </a:solidFill>
              </a:rPr>
              <a:t>değildir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2015 · DFA (hata enjeksiyonu)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DFA (Differential Fault Analysis):</a:t>
            </a:r>
            <a:r>
              <a:rPr sz="2000" b="0">
                <a:solidFill>
                  <a:srgbClr val="1F2D3A"/>
                </a:solidFill>
              </a:rPr>
              <a:t> çalışırken bir değere </a:t>
            </a:r>
            <a:r>
              <a:rPr sz="2000" b="1">
                <a:solidFill>
                  <a:srgbClr val="1F2D3A"/>
                </a:solidFill>
              </a:rPr>
              <a:t>hata enjekte edip</a:t>
            </a:r>
            <a:r>
              <a:rPr sz="2000" b="0">
                <a:solidFill>
                  <a:srgbClr val="1F2D3A"/>
                </a:solidFill>
              </a:rPr>
              <a:t> bozulan çıktıdan anahtarı geri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"Unboxing the White-Box" (Black Hat EU).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tasarımın iç matematiğini </a:t>
            </a:r>
            <a:r>
              <a:rPr sz="2000" b="1">
                <a:solidFill>
                  <a:srgbClr val="1F2D3A"/>
                </a:solidFill>
              </a:rPr>
              <a:t>bilmeden</a:t>
            </a:r>
            <a:r>
              <a:rPr sz="2000" b="0">
                <a:solidFill>
                  <a:srgbClr val="1F2D3A"/>
                </a:solidFill>
              </a:rPr>
              <a:t> de kırılır.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2016 · DCA (en önemlisi)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DCA (Differential Computation Analysis):</a:t>
            </a:r>
            <a:r>
              <a:rPr sz="2000" b="0">
                <a:solidFill>
                  <a:srgbClr val="1F2D3A"/>
                </a:solidFill>
              </a:rPr>
              <a:t> çalışırken üretilen ara değerlerin </a:t>
            </a:r>
            <a:r>
              <a:rPr sz="2000" b="1">
                <a:solidFill>
                  <a:srgbClr val="1F2D3A"/>
                </a:solidFill>
              </a:rPr>
              <a:t>izini</a:t>
            </a:r>
            <a:r>
              <a:rPr sz="2000" b="0">
                <a:solidFill>
                  <a:srgbClr val="1F2D3A"/>
                </a:solidFill>
              </a:rPr>
              <a:t> toplar, DPA benzeri istatistikle anahtarı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kodlamaları çoğu zaman </a:t>
            </a:r>
            <a:r>
              <a:rPr sz="2000" b="1">
                <a:solidFill>
                  <a:srgbClr val="1F2D3A"/>
                </a:solidFill>
              </a:rPr>
              <a:t>görmezden gelir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klasik yan kanal savunmaları WBC için de gerekli.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DCA saldırısı — şema</a:t>
            </a:r>
          </a:p>
        </p:txBody>
      </p:sp>
      <p:pic>
        <p:nvPicPr>
          <p:cNvPr id="7" name="Picture 6" descr="h11-05-d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2017–2024 · WhibOx yarışmaları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Akademi ve endüstri tasarımlarını yarışmaya gönderir.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Gönderilen tasarımların </a:t>
            </a:r>
            <a:r>
              <a:rPr sz="2000" b="1">
                <a:solidFill>
                  <a:srgbClr val="1F2D3A"/>
                </a:solidFill>
              </a:rPr>
              <a:t>tamamı kırıldı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 (bugün):</a:t>
            </a:r>
            <a:r>
              <a:rPr sz="2000" b="0">
                <a:solidFill>
                  <a:srgbClr val="1F2D3A"/>
                </a:solidFill>
              </a:rPr>
              <a:t> kırılmadan kalan yayımlanmış saf-yazılım WBC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Kronoloji ·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531"/>
                <a:gridCol w="3577552"/>
                <a:gridCol w="5187451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Çıkarım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Chow WB-AES/DES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Doğuş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İç kodlama yetmez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WB-DES kırıldı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DES bırakılır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2010'lar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Karroumi kırıldı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tablo ≠ güç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Matematiği bilmeden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DCA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 kanal savunması gerek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2017–24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WhibOx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 kırıldı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DCA ve DFA neden yeni tasarımları da vurur?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Çünkü ikisi de tasarımın </a:t>
            </a:r>
            <a:r>
              <a:rPr sz="2000" b="1">
                <a:solidFill>
                  <a:srgbClr val="1F2D3A"/>
                </a:solidFill>
              </a:rPr>
              <a:t>gizli matematiğini çözmeye çalışmaz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DCA:</a:t>
            </a:r>
            <a:r>
              <a:rPr sz="2000" b="0">
                <a:solidFill>
                  <a:srgbClr val="1F2D3A"/>
                </a:solidFill>
              </a:rPr>
              <a:t> kutuyu açmaz; çalışırken </a:t>
            </a:r>
            <a:r>
              <a:rPr sz="2000" b="1">
                <a:solidFill>
                  <a:srgbClr val="1F2D3A"/>
                </a:solidFill>
              </a:rPr>
              <a:t>iz</a:t>
            </a:r>
            <a:r>
              <a:rPr sz="2000" b="0">
                <a:solidFill>
                  <a:srgbClr val="1F2D3A"/>
                </a:solidFill>
              </a:rPr>
              <a:t> toplar, istatistikle anahtarı bulur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DFA:</a:t>
            </a:r>
            <a:r>
              <a:rPr sz="2000" b="0">
                <a:solidFill>
                  <a:srgbClr val="1F2D3A"/>
                </a:solidFill>
              </a:rPr>
              <a:t> çalışırken </a:t>
            </a:r>
            <a:r>
              <a:rPr sz="2000" b="1">
                <a:solidFill>
                  <a:srgbClr val="1F2D3A"/>
                </a:solidFill>
              </a:rPr>
              <a:t>hata enjekte eder</a:t>
            </a:r>
            <a:r>
              <a:rPr sz="2000" b="0">
                <a:solidFill>
                  <a:srgbClr val="1F2D3A"/>
                </a:solidFill>
              </a:rPr>
              <a:t>, bozuk çıktıdan hesaplar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Genel ve </a:t>
            </a:r>
            <a:r>
              <a:rPr sz="2000" b="1">
                <a:solidFill>
                  <a:srgbClr val="1F2D3A"/>
                </a:solidFill>
              </a:rPr>
              <a:t>taşınabilir</a:t>
            </a:r>
            <a:r>
              <a:rPr sz="2000" b="0">
                <a:solidFill>
                  <a:srgbClr val="1F2D3A"/>
                </a:solidFill>
              </a:rPr>
              <a:t> oldukları için her tasarımı tehdit ederler.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Peki ne yapacağız? (karşı önlemler)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Araştırma durmadı; ama hiçbir önlem "artık güvenli" demez.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 </a:t>
            </a:r>
            <a:r>
              <a:rPr sz="2000" b="1">
                <a:solidFill>
                  <a:srgbClr val="1F2D3A"/>
                </a:solidFill>
              </a:rPr>
              <a:t>maliyeti artırır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kullanılır. Sırayla: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1 · Doğrusal olmayan maskeleme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DCA'nın dayandığı </a:t>
            </a:r>
            <a:r>
              <a:rPr sz="2000" b="1">
                <a:solidFill>
                  <a:srgbClr val="1F2D3A"/>
                </a:solidFill>
              </a:rPr>
              <a:t>doğrusal korelasyonu</a:t>
            </a:r>
            <a:r>
              <a:rPr sz="2000" b="0">
                <a:solidFill>
                  <a:srgbClr val="1F2D3A"/>
                </a:solidFill>
              </a:rPr>
              <a:t> bozmaya çalışır (ör. Biryukov–Udovenko 2018).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İstatistiksel saldırıyı zorlaştırır.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2 · Dış kodlama (F,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DCA/DFA/BGE'yi zorlaştırır.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</a:t>
            </a:r>
            <a:r>
              <a:rPr sz="2000" b="0">
                <a:solidFill>
                  <a:srgbClr val="1F2D3A"/>
                </a:solidFill>
              </a:rPr>
              <a:t> gördüğümüz sınır: standart AES uyumluluğunu kırar.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3 · 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WBC'nin çevresine 9. haftanın </a:t>
            </a:r>
            <a:r>
              <a:rPr sz="2000" b="1">
                <a:solidFill>
                  <a:srgbClr val="1F2D3A"/>
                </a:solidFill>
              </a:rPr>
              <a:t>gizleme</a:t>
            </a:r>
            <a:r>
              <a:rPr sz="2000" b="0">
                <a:solidFill>
                  <a:srgbClr val="1F2D3A"/>
                </a:solidFill>
              </a:rPr>
              <a:t> kuralları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6. haftanın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'ı (anti-debug, kurcalama/bütünlük denetimi)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DCA'nın iz toplamasını, DFA'nın hata enjekte etmesini </a:t>
            </a:r>
            <a:r>
              <a:rPr sz="2000" b="1">
                <a:solidFill>
                  <a:srgbClr val="1F2D3A"/>
                </a:solidFill>
              </a:rPr>
              <a:t>zorlaştırmak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Katmanlı WBC — şema</a:t>
            </a:r>
          </a:p>
        </p:txBody>
      </p:sp>
      <p:pic>
        <p:nvPicPr>
          <p:cNvPr id="7" name="Picture 6" descr="h11-09-katmanli-w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4 · Anahtar yenileme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sık yenilenirse, bir anahtarı çıkarmanın </a:t>
            </a:r>
            <a:r>
              <a:rPr sz="2000" b="1">
                <a:solidFill>
                  <a:srgbClr val="1F2D3A"/>
                </a:solidFill>
              </a:rPr>
              <a:t>değeri düşer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10. hafta: </a:t>
            </a:r>
            <a:r>
              <a:rPr sz="2000" b="1">
                <a:solidFill>
                  <a:srgbClr val="1F2D3A"/>
                </a:solidFill>
              </a:rPr>
              <a:t>kripto-periyot</a:t>
            </a:r>
            <a:r>
              <a:rPr sz="2000" b="0">
                <a:solidFill>
                  <a:srgbClr val="1F2D3A"/>
                </a:solidFill>
              </a:rPr>
              <a:t> (bir anahtarın ömrü)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5 · Cihaz/sürüm bağlama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Tablolar yalnız </a:t>
            </a:r>
            <a:r>
              <a:rPr sz="2000" b="1">
                <a:solidFill>
                  <a:srgbClr val="1F2D3A"/>
                </a:solidFill>
              </a:rPr>
              <a:t>belirli bir cihazda/sürümde</a:t>
            </a:r>
            <a:r>
              <a:rPr sz="2000" b="0">
                <a:solidFill>
                  <a:srgbClr val="1F2D3A"/>
                </a:solidFill>
              </a:rPr>
              <a:t> anlamlı olur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Kod taşımayı</a:t>
            </a:r>
            <a:r>
              <a:rPr sz="2000" b="0">
                <a:solidFill>
                  <a:srgbClr val="1F2D3A"/>
                </a:solidFill>
              </a:rPr>
              <a:t> (code lifting) engeller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6 · Sunucu tarafı risk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Uçtaki koruma ne olursa olsun, işlem </a:t>
            </a:r>
            <a:r>
              <a:rPr sz="2000" b="1">
                <a:solidFill>
                  <a:srgbClr val="1F2D3A"/>
                </a:solidFill>
              </a:rPr>
              <a:t>sunucuda</a:t>
            </a:r>
            <a:r>
              <a:rPr sz="2000" b="0">
                <a:solidFill>
                  <a:srgbClr val="1F2D3A"/>
                </a:solidFill>
              </a:rPr>
              <a:t> ayrıca değerlendirilir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 sınırı, anomali tespiti, sayaç/ATC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 ve en güvenilir</a:t>
            </a:r>
            <a:r>
              <a:rPr sz="2000" b="0">
                <a:solidFill>
                  <a:srgbClr val="1F2D3A"/>
                </a:solidFill>
              </a:rPr>
              <a:t> savunma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7 · Donanıma taşı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anahtarı </a:t>
            </a:r>
            <a:r>
              <a:rPr sz="2000" b="1">
                <a:solidFill>
                  <a:srgbClr val="1F2D3A"/>
                </a:solidFill>
              </a:rPr>
              <a:t>hiç yazılıma koyma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TEE, güvenli öğe (SE), HSM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bir sonraki bölümün konusu.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kural (tekrar)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WBC bir </a:t>
            </a:r>
            <a:r>
              <a:rPr sz="2000" b="1">
                <a:solidFill>
                  <a:srgbClr val="1F2D3A"/>
                </a:solidFill>
              </a:rPr>
              <a:t>katmandır</a:t>
            </a:r>
            <a:r>
              <a:rPr sz="2000" b="0">
                <a:solidFill>
                  <a:srgbClr val="1F2D3A"/>
                </a:solidFill>
              </a:rPr>
              <a:t>, çözüm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 ifade: "anahtar çıkarmayı şu kadar geciktiriyorum; asıl güvencem anahtar yenileme, cihaz bağlama ve sunucu risk denetiminde."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"Hepsi kırıldı" ifadesi kararınızı nasıl etkiler?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DCA hangi klasik saldırıya benzer?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İç kodlamalar DCA'yı neden her zaman durdurmaz?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En güvenilir son savunma hangisi?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WBC </a:t>
            </a:r>
            <a:r>
              <a:rPr sz="1800" b="1">
                <a:solidFill>
                  <a:srgbClr val="1F2D3A"/>
                </a:solidFill>
              </a:rPr>
              <a:t>tek başına</a:t>
            </a:r>
            <a:r>
              <a:rPr sz="1800" b="0">
                <a:solidFill>
                  <a:srgbClr val="1F2D3A"/>
                </a:solidFill>
              </a:rPr>
              <a:t> güvence değil; anahtar yenileme + cihaz bağlama + sunucu denetimi + gizleme ile; mümkünse </a:t>
            </a:r>
            <a:r>
              <a:rPr sz="1800" b="1">
                <a:solidFill>
                  <a:srgbClr val="1F2D3A"/>
                </a:solidFill>
              </a:rPr>
              <a:t>donanıma</a:t>
            </a:r>
            <a:r>
              <a:rPr sz="1800" b="0">
                <a:solidFill>
                  <a:srgbClr val="1F2D3A"/>
                </a:solidFill>
              </a:rPr>
              <a:t> taşı.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DPA</a:t>
            </a:r>
            <a:r>
              <a:rPr sz="1800" b="0">
                <a:solidFill>
                  <a:srgbClr val="1F2D3A"/>
                </a:solidFill>
              </a:rPr>
              <a:t>'ya (güç analizi) — DCA onun yazılım hâlidir.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İç kodlama birebir eşlemedir (bijeksiyon); istatistiksel </a:t>
            </a:r>
            <a:r>
              <a:rPr sz="1800" b="1">
                <a:solidFill>
                  <a:srgbClr val="1F2D3A"/>
                </a:solidFill>
              </a:rPr>
              <a:t>korelasyon</a:t>
            </a:r>
            <a:r>
              <a:rPr sz="1800" b="0">
                <a:solidFill>
                  <a:srgbClr val="1F2D3A"/>
                </a:solidFill>
              </a:rPr>
              <a:t> çoğu zaman hayatta kalır.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Sunucu tarafı</a:t>
            </a:r>
            <a:r>
              <a:rPr sz="1800" b="0">
                <a:solidFill>
                  <a:srgbClr val="1F2D3A"/>
                </a:solidFill>
              </a:rPr>
              <a:t> risk denetimi (son ve en güvenilir).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Katmanlı yer, donanım, proje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korumak: seçenekler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tek seçenek değil. Bir anahtarı korumanın yolları var; güç ve maliyet farklı.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Sırayla, en zayıftan en güçlüye.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1 · Sabit dizide düz anahtar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yazılımda, </a:t>
            </a:r>
            <a:r>
              <a:rPr sz="2000" b="1">
                <a:solidFill>
                  <a:srgbClr val="1F2D3A"/>
                </a:solidFill>
              </a:rPr>
              <a:t>açık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</a:t>
            </a:r>
            <a:r>
              <a:rPr sz="2000" b="1">
                <a:solidFill>
                  <a:srgbClr val="1F2D3A"/>
                </a:solidFill>
              </a:rPr>
              <a:t>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</a:t>
            </a:r>
            <a:r>
              <a:rPr sz="2000" b="1">
                <a:solidFill>
                  <a:srgbClr val="1F2D3A"/>
                </a:solidFill>
              </a:rPr>
              <a:t>asla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2 · Gizlenmiş/parçalanmış anahtar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yazılımda, gizlenmiş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çok düşük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yalnız düşük değerli, kısa ömürlü sırlar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3 · WBC + 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yazılımda, </a:t>
            </a:r>
            <a:r>
              <a:rPr sz="2000" b="1">
                <a:solidFill>
                  <a:srgbClr val="1F2D3A"/>
                </a:solidFill>
              </a:rPr>
              <a:t>tablolara gömülü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orta (geciktirir)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donanım kökü yoksa; </a:t>
            </a:r>
            <a:r>
              <a:rPr sz="2000" b="1">
                <a:solidFill>
                  <a:srgbClr val="1F2D3A"/>
                </a:solidFill>
              </a:rPr>
              <a:t>anahtar yenileme + sunucu denetimiyle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4 · TEE / Güvenli Öğe (SE)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</a:t>
            </a:r>
            <a:r>
              <a:rPr sz="2000" b="1">
                <a:solidFill>
                  <a:srgbClr val="1F2D3A"/>
                </a:solidFill>
              </a:rPr>
              <a:t>donanımla yalıtılmış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yüksek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cihaz destekliyorsa </a:t>
            </a:r>
            <a:r>
              <a:rPr sz="2000" b="1">
                <a:solidFill>
                  <a:srgbClr val="1F2D3A"/>
                </a:solidFill>
              </a:rPr>
              <a:t>tercih edilir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5 · HSM / 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donanım (ya da yazılım benzetimi) modülünde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yüksek (HSM); SoftHSM yalnız test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</a:t>
            </a:r>
            <a:r>
              <a:rPr sz="2000" b="1">
                <a:solidFill>
                  <a:srgbClr val="1F2D3A"/>
                </a:solidFill>
              </a:rPr>
              <a:t>sunucu tarafı</a:t>
            </a:r>
            <a:r>
              <a:rPr sz="2000" b="0">
                <a:solidFill>
                  <a:srgbClr val="1F2D3A"/>
                </a:solidFill>
              </a:rPr>
              <a:t>; anahtar hiç dışarı çıkmaz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Seçenekler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09294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3637178"/>
                <a:gridCol w="2364165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Seçenek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Anahtar 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Güç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 dizi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Yazılımda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Gizli/parçalı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Yazılımda gizli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WBC + katman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Tablolara gömülü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TEE / 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yalıtık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HSM / SoftHSM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modülü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Anahtarı yazılıma koymak </a:t>
            </a:r>
            <a:r>
              <a:rPr sz="2000" b="1">
                <a:solidFill>
                  <a:srgbClr val="1F2D3A"/>
                </a:solidFill>
              </a:rPr>
              <a:t>zorunda değilsen, koyma.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kökü (TEE/SE/HSM) varsa </a:t>
            </a:r>
            <a:r>
              <a:rPr sz="2000" b="1">
                <a:solidFill>
                  <a:srgbClr val="1F2D3A"/>
                </a:solidFill>
              </a:rPr>
              <a:t>onu</a:t>
            </a:r>
            <a:r>
              <a:rPr sz="2000" b="0">
                <a:solidFill>
                  <a:srgbClr val="1F2D3A"/>
                </a:solidFill>
              </a:rPr>
              <a:t>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WBC, donanım kökünün </a:t>
            </a:r>
            <a:r>
              <a:rPr sz="2000" b="1">
                <a:solidFill>
                  <a:srgbClr val="1F2D3A"/>
                </a:solidFill>
              </a:rPr>
              <a:t>olmadığı</a:t>
            </a:r>
            <a:r>
              <a:rPr sz="2000" b="0">
                <a:solidFill>
                  <a:srgbClr val="1F2D3A"/>
                </a:solidFill>
              </a:rPr>
              <a:t> durumda bir </a:t>
            </a:r>
            <a:r>
              <a:rPr sz="2000" b="1">
                <a:solidFill>
                  <a:srgbClr val="1F2D3A"/>
                </a:solidFill>
              </a:rPr>
              <a:t>ödünleşim</a:t>
            </a:r>
            <a:r>
              <a:rPr sz="2000" b="0">
                <a:solidFill>
                  <a:srgbClr val="1F2D3A"/>
                </a:solidFill>
              </a:rPr>
              <a:t> çözümüdür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zaman: anahtar yenileme + cihaz bağlama + sunucu denetimiyle birlikte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SoftHSM ve PKCS#11 (sunucu köprüsü)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PKCS#11:</a:t>
            </a:r>
            <a:r>
              <a:rPr sz="2000" b="0">
                <a:solidFill>
                  <a:srgbClr val="1F2D3A"/>
                </a:solidFill>
              </a:rPr>
              <a:t> anahtar modülleriyle konuşmanın standart arayüzü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anahtarın </a:t>
            </a:r>
            <a:r>
              <a:rPr sz="2000" b="1">
                <a:solidFill>
                  <a:srgbClr val="1F2D3A"/>
                </a:solidFill>
              </a:rPr>
              <a:t>değerini görmez</a:t>
            </a:r>
            <a:r>
              <a:rPr sz="2000" b="0">
                <a:solidFill>
                  <a:srgbClr val="1F2D3A"/>
                </a:solidFill>
              </a:rPr>
              <a:t>; "şunu imzala/şifrele" 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SoftHSM:</a:t>
            </a:r>
            <a:r>
              <a:rPr sz="2000" b="0">
                <a:solidFill>
                  <a:srgbClr val="1F2D3A"/>
                </a:solidFill>
              </a:rPr>
              <a:t> aynı arayüzü sunan yazılım benzetimi; gerçek donanım koruması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 → geliştirme/test için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uçtaki (istemci) problem; bu sunucudaki anahtar problemine yanıt.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Hatalı → saldırı → koruma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 · Hatalı tasarım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İstemci uygulaması: veri şifreleme anahtarı gömülü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k[16] = { ... };   /* KÖTÜ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istemci, bir veri şifreleme anahtarını sabit diziye gömer.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 · Saldırı (kavramsal)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entropi taraması</a:t>
            </a:r>
            <a:r>
              <a:rPr sz="2000" b="0">
                <a:solidFill>
                  <a:srgbClr val="1F2D3A"/>
                </a:solidFill>
              </a:rPr>
              <a:t> → yüksek entropili 16 baytlık blok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Hata ayıklayıcı → bu bloğun şifreleme çağrısında kullanıldığını doğrular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1">
                <a:solidFill>
                  <a:srgbClr val="1F2D3A"/>
                </a:solidFill>
              </a:rPr>
              <a:t>dakikalar</a:t>
            </a:r>
            <a:r>
              <a:rPr sz="2000" b="0">
                <a:solidFill>
                  <a:srgbClr val="1F2D3A"/>
                </a:solidFill>
              </a:rPr>
              <a:t> içinde çıkar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 · Koruma (katmanlı) —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mümkünse </a:t>
            </a:r>
            <a:r>
              <a:rPr sz="2000" b="1">
                <a:solidFill>
                  <a:srgbClr val="1F2D3A"/>
                </a:solidFill>
              </a:rPr>
              <a:t>TEE/SE</a:t>
            </a:r>
            <a:r>
              <a:rPr sz="2000" b="0">
                <a:solidFill>
                  <a:srgbClr val="1F2D3A"/>
                </a:solidFill>
              </a:rPr>
              <a:t>'ye taşı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Değilse </a:t>
            </a:r>
            <a:r>
              <a:rPr sz="2000" b="1">
                <a:solidFill>
                  <a:srgbClr val="1F2D3A"/>
                </a:solidFill>
              </a:rPr>
              <a:t>WBC tablolarına</a:t>
            </a:r>
            <a:r>
              <a:rPr sz="2000" b="0">
                <a:solidFill>
                  <a:srgbClr val="1F2D3A"/>
                </a:solidFill>
              </a:rPr>
              <a:t> göm (düz bayt dizisi kalmasın)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 · Koruma (katmanlı) —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WBC'yi 9. haftanın </a:t>
            </a:r>
            <a:r>
              <a:rPr sz="2000" b="1">
                <a:solidFill>
                  <a:srgbClr val="1F2D3A"/>
                </a:solidFill>
              </a:rPr>
              <a:t>gizlemesiyle</a:t>
            </a:r>
            <a:r>
              <a:rPr sz="2000" b="0">
                <a:solidFill>
                  <a:srgbClr val="1F2D3A"/>
                </a:solidFill>
              </a:rPr>
              <a:t> ve 6. haftanın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'ıyla sar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DCA için iz toplamak, DFA için hata enjekte etmek zorlaşır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Cihaz/sürüm bağla</a:t>
            </a:r>
            <a:r>
              <a:rPr sz="2000" b="0">
                <a:solidFill>
                  <a:srgbClr val="1F2D3A"/>
                </a:solidFill>
              </a:rPr>
              <a:t> → kod taşıma işe yaramaz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 · Koruma (katmanlı) —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sık yenile</a:t>
            </a:r>
            <a:r>
              <a:rPr sz="2000" b="0">
                <a:solidFill>
                  <a:srgbClr val="1F2D3A"/>
                </a:solidFill>
              </a:rPr>
              <a:t> (kısa kripto-periyot)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Sunucuda risk denetimi</a:t>
            </a:r>
            <a:r>
              <a:rPr sz="2000" b="0">
                <a:solidFill>
                  <a:srgbClr val="1F2D3A"/>
                </a:solidFill>
              </a:rPr>
              <a:t> uygula (hız sınırı, anomali)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 · Dürüst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Yeterince kararlı bir saldırgan </a:t>
            </a:r>
            <a:r>
              <a:rPr sz="2000" b="1">
                <a:solidFill>
                  <a:srgbClr val="1F2D3A"/>
                </a:solidFill>
              </a:rPr>
              <a:t>tek bir cihazda</a:t>
            </a:r>
            <a:r>
              <a:rPr sz="2000" b="0">
                <a:solidFill>
                  <a:srgbClr val="1F2D3A"/>
                </a:solidFill>
              </a:rPr>
              <a:t> anahtarı yine çıkarabilir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artık: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kopyayı kırmak </a:t>
            </a:r>
            <a:r>
              <a:rPr sz="2000" b="1">
                <a:solidFill>
                  <a:srgbClr val="1F2D3A"/>
                </a:solidFill>
              </a:rPr>
              <a:t>bütün sistemi açmaz</a:t>
            </a:r>
            <a:r>
              <a:rPr sz="2000" b="0">
                <a:solidFill>
                  <a:srgbClr val="1F2D3A"/>
                </a:solidFill>
              </a:rPr>
              <a:t> (cihaz bağlama)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Çıkarılan anahtarın </a:t>
            </a:r>
            <a:r>
              <a:rPr sz="2000" b="1">
                <a:solidFill>
                  <a:srgbClr val="1F2D3A"/>
                </a:solidFill>
              </a:rPr>
              <a:t>ömrü kısa</a:t>
            </a:r>
            <a:r>
              <a:rPr sz="2000" b="0">
                <a:solidFill>
                  <a:srgbClr val="1F2D3A"/>
                </a:solidFill>
              </a:rPr>
              <a:t> (yenileme)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Sunucu, anormal kullanımı yakalar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Senaryodan çıkan kurallar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düz gömme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kökü varsa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WBC'yi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tek başına bırakma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 bağlama + yenileme + sunucu denetimi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Proje ve kapanış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 (anahtar koruma gerekçesi)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az bir hassas anahtar için bir koruma kararı ve </a:t>
            </a:r>
            <a:r>
              <a:rPr sz="2000" b="1">
                <a:solidFill>
                  <a:srgbClr val="1F2D3A"/>
                </a:solidFill>
              </a:rPr>
              <a:t>gerekçesi</a:t>
            </a:r>
            <a:r>
              <a:rPr sz="2000" b="0">
                <a:solidFill>
                  <a:srgbClr val="1F2D3A"/>
                </a:solidFill>
              </a:rPr>
              <a:t> yazın: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</a:t>
            </a:r>
            <a:r>
              <a:rPr sz="2000" b="0">
                <a:solidFill>
                  <a:srgbClr val="1F2D3A"/>
                </a:solidFill>
              </a:rPr>
              <a:t> Anahtar nerede durur, nasıl korunur? (düz değilse: TEE/SE, WBC, gizleme — hangisi,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</a:t>
            </a:r>
            <a:r>
              <a:rPr sz="2000" b="0">
                <a:solidFill>
                  <a:srgbClr val="1F2D3A"/>
                </a:solidFill>
              </a:rPr>
              <a:t> Koruma yeterli değilse (ör. saf yazılımdaysanız) bunu </a:t>
            </a:r>
            <a:r>
              <a:rPr sz="2000" b="1">
                <a:solidFill>
                  <a:srgbClr val="1F2D3A"/>
                </a:solidFill>
              </a:rPr>
              <a:t>açıkça</a:t>
            </a:r>
            <a:r>
              <a:rPr sz="2000" b="0">
                <a:solidFill>
                  <a:srgbClr val="1F2D3A"/>
                </a:solidFill>
              </a:rPr>
              <a:t> yazın ve telafi katmanlarını belirtin: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yenileme periyodu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cihaz/sürüm bağlama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risk denetimi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</a:t>
            </a:r>
            <a:r>
              <a:rPr sz="2000" b="0">
                <a:solidFill>
                  <a:srgbClr val="1F2D3A"/>
                </a:solidFill>
              </a:rPr>
              <a:t> WBC kullanmadıysanız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kullanmadığınızın gerekçesi: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kökü var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değeri düşük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Gerekçeli bir "kullanmadık" </a:t>
            </a:r>
            <a:r>
              <a:rPr sz="2000" b="1">
                <a:solidFill>
                  <a:srgbClr val="1F2D3A"/>
                </a:solidFill>
              </a:rPr>
              <a:t>tam</a:t>
            </a:r>
            <a:r>
              <a:rPr sz="2000" b="0">
                <a:solidFill>
                  <a:srgbClr val="1F2D3A"/>
                </a:solidFill>
              </a:rPr>
              <a:t> bir yanıttır.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Depoda gerçek anahtar olmasın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anahtar dosyaları, tablolar ve örnekler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 olmalı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Sertifikasyonda depoda gerçek anahtar = en ağır bulgulardan biri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Projede de öyle sayılır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5218"/>
                <a:gridCol w="7326316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Kara/gri/beyaz kutu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Saldırganın gördüğü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Beyaz kutuda çalışan kripto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S-box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Baytı değiştiren sabit tablo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Bijeksiyon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Tersi alınabilen birebir eşleme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İç/dış kodlama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Tablo içi / tüm şifreyi saran gizli dönüşüm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9797"/>
                <a:gridCol w="7691737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 çıkarmadan kodu kopyalama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DCA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izlerine DPA benzeri istatistik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enjekte edip anahtarı hesaplama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Kripto-periyot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anahtarın ömrü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TEE/SE/HSM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tabanlı anahtar koruması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Üç saldırgan modeli; AES kanıtı hangisini varsayar?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"Tek turu çalıştır" ve "hata enjekte et" hangi saldırılara zemin?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Diziye gömülü anahtar neden koruma değil? (entropi)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Kod taşıma nedir, hangi önlem kapatır?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A1123F"/>
                </a:solidFill>
                <a:latin typeface="Consolas"/>
              </a:rPr>
              <a:t>T[x]=S-box[x^k]</a:t>
            </a:r>
            <a:r>
              <a:rPr sz="1800" b="0">
                <a:solidFill>
                  <a:srgbClr val="1F2D3A"/>
                </a:solidFill>
              </a:rPr>
              <a:t> tek başına neden güvensiz?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İç ve dış kodlama farkı; dış kodlamanın sınırı?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(yalnız G/Ç), </a:t>
            </a:r>
            <a:r>
              <a:rPr sz="1800" b="1">
                <a:solidFill>
                  <a:srgbClr val="1F2D3A"/>
                </a:solidFill>
              </a:rPr>
              <a:t>gri kutu</a:t>
            </a:r>
            <a:r>
              <a:rPr sz="1800" b="0">
                <a:solidFill>
                  <a:srgbClr val="1F2D3A"/>
                </a:solidFill>
              </a:rPr>
              <a:t> (+yan kanal: güç/zaman), </a:t>
            </a:r>
            <a:r>
              <a:rPr sz="1800" b="1">
                <a:solidFill>
                  <a:srgbClr val="1F2D3A"/>
                </a:solidFill>
              </a:rPr>
              <a:t>beyaz kutu</a:t>
            </a:r>
            <a:r>
              <a:rPr sz="1800" b="0">
                <a:solidFill>
                  <a:srgbClr val="1F2D3A"/>
                </a:solidFill>
              </a:rPr>
              <a:t> (tam erişim). Klasik AES kanıtı </a:t>
            </a:r>
            <a:r>
              <a:rPr sz="1800" b="1">
                <a:solidFill>
                  <a:srgbClr val="1F2D3A"/>
                </a:solidFill>
              </a:rPr>
              <a:t>kara kutuyu</a:t>
            </a:r>
            <a:r>
              <a:rPr sz="1800" b="0">
                <a:solidFill>
                  <a:srgbClr val="1F2D3A"/>
                </a:solidFill>
              </a:rPr>
              <a:t> varsayar.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"Tek turu çalıştır/ara değeri gözle" → </a:t>
            </a:r>
            <a:r>
              <a:rPr sz="1800" b="1">
                <a:solidFill>
                  <a:srgbClr val="1F2D3A"/>
                </a:solidFill>
              </a:rPr>
              <a:t>DCA</a:t>
            </a:r>
            <a:r>
              <a:rPr sz="1800" b="0">
                <a:solidFill>
                  <a:srgbClr val="1F2D3A"/>
                </a:solidFill>
              </a:rPr>
              <a:t>; "hata enjekte et" → </a:t>
            </a:r>
            <a:r>
              <a:rPr sz="1800" b="1">
                <a:solidFill>
                  <a:srgbClr val="1F2D3A"/>
                </a:solidFill>
              </a:rPr>
              <a:t>DFA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Anahtar </a:t>
            </a:r>
            <a:r>
              <a:rPr sz="1800" b="1">
                <a:solidFill>
                  <a:srgbClr val="1F2D3A"/>
                </a:solidFill>
              </a:rPr>
              <a:t>yüksek entropili</a:t>
            </a:r>
            <a:r>
              <a:rPr sz="1800" b="0">
                <a:solidFill>
                  <a:srgbClr val="1F2D3A"/>
                </a:solidFill>
              </a:rPr>
              <a:t> bir blok olarak durur → entropi taraması/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/desenle bulunur (demo </a:t>
            </a:r>
            <a:r>
              <a:rPr sz="1800" b="0">
                <a:solidFill>
                  <a:srgbClr val="A1123F"/>
                </a:solidFill>
                <a:latin typeface="Consolas"/>
              </a:rPr>
              <a:t>--tara</a:t>
            </a:r>
            <a:r>
              <a:rPr sz="1800" b="0">
                <a:solidFill>
                  <a:srgbClr val="1F2D3A"/>
                </a:solidFill>
              </a:rPr>
              <a:t>). Konum değiştirmek gizleme değil.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Code lifting:</a:t>
            </a:r>
            <a:r>
              <a:rPr sz="1800" b="0">
                <a:solidFill>
                  <a:srgbClr val="1F2D3A"/>
                </a:solidFill>
              </a:rPr>
              <a:t> tabloyu/rutini olduğu gibi kopyalayıp başka yerde kullanmak. Kapatan: </a:t>
            </a:r>
            <a:r>
              <a:rPr sz="1800" b="1">
                <a:solidFill>
                  <a:srgbClr val="1F2D3A"/>
                </a:solidFill>
              </a:rPr>
              <a:t>dış kodlama</a:t>
            </a:r>
            <a:r>
              <a:rPr sz="1800" b="0">
                <a:solidFill>
                  <a:srgbClr val="1F2D3A"/>
                </a:solidFill>
              </a:rPr>
              <a:t> (+ cihaz bağlama/sunucu denetimi).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A1123F"/>
                </a:solidFill>
                <a:latin typeface="Consolas"/>
              </a:rPr>
              <a:t>T[x]=S-box[x^k]</a:t>
            </a:r>
            <a:r>
              <a:rPr sz="1800" b="0">
                <a:solidFill>
                  <a:srgbClr val="1F2D3A"/>
                </a:solidFill>
              </a:rPr>
              <a:t> doğrudan k'ye bağlı; tablo S-box ile karşılaştırılıp </a:t>
            </a:r>
            <a:r>
              <a:rPr sz="1800" b="1">
                <a:solidFill>
                  <a:srgbClr val="1F2D3A"/>
                </a:solidFill>
              </a:rPr>
              <a:t>k geri hesaplanır</a:t>
            </a:r>
            <a:r>
              <a:rPr sz="1800" b="0">
                <a:solidFill>
                  <a:srgbClr val="1F2D3A"/>
                </a:solidFill>
              </a:rPr>
              <a:t>. </a:t>
            </a:r>
            <a:r>
              <a:rPr sz="1800" b="1">
                <a:solidFill>
                  <a:srgbClr val="1F2D3A"/>
                </a:solidFill>
              </a:rPr>
              <a:t>İç kodlamayla</a:t>
            </a:r>
            <a:r>
              <a:rPr sz="1800" b="0">
                <a:solidFill>
                  <a:srgbClr val="1F2D3A"/>
                </a:solidFill>
              </a:rPr>
              <a:t> maskele.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1">
                <a:solidFill>
                  <a:srgbClr val="1F2D3A"/>
                </a:solidFill>
              </a:rPr>
              <a:t>İç kodlama</a:t>
            </a:r>
            <a:r>
              <a:rPr sz="1800" b="0">
                <a:solidFill>
                  <a:srgbClr val="1F2D3A"/>
                </a:solidFill>
              </a:rPr>
              <a:t> ara değerleri gizli bijeksiyonlarla maskeler; </a:t>
            </a:r>
            <a:r>
              <a:rPr sz="1800" b="1">
                <a:solidFill>
                  <a:srgbClr val="1F2D3A"/>
                </a:solidFill>
              </a:rPr>
              <a:t>dış kodlama</a:t>
            </a:r>
            <a:r>
              <a:rPr sz="1800" b="0">
                <a:solidFill>
                  <a:srgbClr val="1F2D3A"/>
                </a:solidFill>
              </a:rPr>
              <a:t> giriş/çıkışı dönüştürür (code lifting'i zorlaştırır). Sınır: </a:t>
            </a:r>
            <a:r>
              <a:rPr sz="1800" b="1">
                <a:solidFill>
                  <a:srgbClr val="1F2D3A"/>
                </a:solidFill>
              </a:rPr>
              <a:t>çağıranın da eşleşmesi</a:t>
            </a:r>
            <a:r>
              <a:rPr sz="1800" b="0">
                <a:solidFill>
                  <a:srgbClr val="1F2D3A"/>
                </a:solidFill>
              </a:rPr>
              <a:t> gerekir → standart AES uyumu bozulur.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Tablo boyutu/hız mertebesi? Neden seçili işlemlere?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"Hepsi kırıldı" kararınızı nasıl etkiler?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DCA hangi donanım saldırısına benzer?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Anahtar koruma seçeneklerini güç/maliyetle sırala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WBC kullanıyorsan eklemen gereken 3 katman?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Bir anahtar için S8 gerekçesini üç cümleyle yaz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2291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Tablolar </a:t>
            </a:r>
            <a:r>
              <a:rPr sz="1800" b="1">
                <a:solidFill>
                  <a:srgbClr val="1F2D3A"/>
                </a:solidFill>
              </a:rPr>
              <a:t>MB mertebesinde</a:t>
            </a:r>
            <a:r>
              <a:rPr sz="1800" b="0">
                <a:solidFill>
                  <a:srgbClr val="1F2D3A"/>
                </a:solidFill>
              </a:rPr>
              <a:t> ve kara kutuya göre onlarca-yüzlerce kat </a:t>
            </a:r>
            <a:r>
              <a:rPr sz="1800" b="1">
                <a:solidFill>
                  <a:srgbClr val="1F2D3A"/>
                </a:solidFill>
              </a:rPr>
              <a:t>yavaş</a:t>
            </a:r>
            <a:r>
              <a:rPr sz="1800" b="0">
                <a:solidFill>
                  <a:srgbClr val="1F2D3A"/>
                </a:solidFill>
              </a:rPr>
              <a:t> → yalnız </a:t>
            </a:r>
            <a:r>
              <a:rPr sz="1800" b="1">
                <a:solidFill>
                  <a:srgbClr val="1F2D3A"/>
                </a:solidFill>
              </a:rPr>
              <a:t>seçili/kritik</a:t>
            </a:r>
            <a:r>
              <a:rPr sz="1800" b="0">
                <a:solidFill>
                  <a:srgbClr val="1F2D3A"/>
                </a:solidFill>
              </a:rPr>
              <a:t> işlemlere uygulanır.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WBC'yi tek başına anahtar koruması saymayız; </a:t>
            </a:r>
            <a:r>
              <a:rPr sz="1800" b="1">
                <a:solidFill>
                  <a:srgbClr val="1F2D3A"/>
                </a:solidFill>
              </a:rPr>
              <a:t>geciktirici katman</a:t>
            </a:r>
            <a:r>
              <a:rPr sz="1800" b="0">
                <a:solidFill>
                  <a:srgbClr val="1F2D3A"/>
                </a:solidFill>
              </a:rPr>
              <a:t> olarak yenileme + bağlama + sunucu denetimiyle kullanırız (mümkünse donanım).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DPA'ya</a:t>
            </a:r>
            <a:r>
              <a:rPr sz="1800" b="0">
                <a:solidFill>
                  <a:srgbClr val="1F2D3A"/>
                </a:solidFill>
              </a:rPr>
              <a:t> (Differential Power Analysis); DCA güç izinin yerine </a:t>
            </a:r>
            <a:r>
              <a:rPr sz="1800" b="1">
                <a:solidFill>
                  <a:srgbClr val="1F2D3A"/>
                </a:solidFill>
              </a:rPr>
              <a:t>yazılım izini</a:t>
            </a:r>
            <a:r>
              <a:rPr sz="1800" b="0">
                <a:solidFill>
                  <a:srgbClr val="1F2D3A"/>
                </a:solidFill>
              </a:rPr>
              <a:t> (bellek erişimi/ara değer) koyar.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(zayıf→güçlü) düz gömülü anahtar &lt; kodlanmış tablo (saf-yazılım WBC) &lt; WBC+bağlama/yenileme &lt; </a:t>
            </a:r>
            <a:r>
              <a:rPr sz="1800" b="1">
                <a:solidFill>
                  <a:srgbClr val="1F2D3A"/>
                </a:solidFill>
              </a:rPr>
              <a:t>TEE/SE</a:t>
            </a:r>
            <a:r>
              <a:rPr sz="1800" b="0">
                <a:solidFill>
                  <a:srgbClr val="1F2D3A"/>
                </a:solidFill>
              </a:rPr>
              <a:t> &lt; </a:t>
            </a:r>
            <a:r>
              <a:rPr sz="1800" b="1">
                <a:solidFill>
                  <a:srgbClr val="1F2D3A"/>
                </a:solidFill>
              </a:rPr>
              <a:t>HSM/donanım</a:t>
            </a:r>
            <a:r>
              <a:rPr sz="1800" b="0">
                <a:solidFill>
                  <a:srgbClr val="1F2D3A"/>
                </a:solidFill>
              </a:rPr>
              <a:t>. Maliyet aynı yönde artar.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Anahtar yenileme · cihaz/uygulama bağlama · sunucu tarafı denetim/iptal</a:t>
            </a:r>
            <a:r>
              <a:rPr sz="1800" b="0">
                <a:solidFill>
                  <a:srgbClr val="1F2D3A"/>
                </a:solidFill>
              </a:rPr>
              <a:t> (+ RASP/bütünlük).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Örnek: "DEK, beklemedeki veriyi AES-256-GCM ile korur. HSM'de üretilir/saklanır, düz bellekte tutulmaz. Saf-yazılım whitebox'lar kırıldığı ve varlık değeri yüksek olduğu için </a:t>
            </a:r>
            <a:r>
              <a:rPr sz="1800" b="1">
                <a:solidFill>
                  <a:srgbClr val="1F2D3A"/>
                </a:solidFill>
              </a:rPr>
              <a:t>donanım</a:t>
            </a:r>
            <a:r>
              <a:rPr sz="1800" b="0">
                <a:solidFill>
                  <a:srgbClr val="1F2D3A"/>
                </a:solidFill>
              </a:rPr>
              <a:t> seçildi."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Yayımlanmış saf-yazılım whitebox'ların hepsi kırıldı; WBC anahtar çıkarmayı </a:t>
            </a:r>
            <a:r>
              <a:rPr sz="2000" b="1">
                <a:solidFill>
                  <a:srgbClr val="1F2D3A"/>
                </a:solidFill>
              </a:rPr>
              <a:t>geciktiren bir katmandır</a:t>
            </a:r>
            <a:r>
              <a:rPr sz="2000" b="0">
                <a:solidFill>
                  <a:srgbClr val="1F2D3A"/>
                </a:solidFill>
              </a:rPr>
              <a:t> ve yenileme, cihaz bağlama, sunucu denetimiyle birlikte anlam kazanır.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programlama teknik kılavuzu</a:t>
            </a:r>
            <a:r>
              <a:rPr sz="2000" b="0">
                <a:solidFill>
                  <a:srgbClr val="1F2D3A"/>
                </a:solidFill>
              </a:rPr>
              <a:t> — WBC saldırgan modeli, whitebox AES'in konumu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Chow, Eisen, Johnson, van Oorschot — WB-AES (SAC 2002), WB-DES (DRM 2002)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Wyseur — "Hiding Keys in Software" (kısa giriş)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BGE (SAC 2004); Bos vd. DCA (CHES 2016); "Unboxing the White-Box" (BH EU 2015)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WhibOx yarışması sonuçları (2017–2024)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12. hafta — Sertifikasyon ve sızma testi planlaması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Bir korumanın "ne kadar dayandığını" ölçmek → bağımsız değerlendirme süreci ve raporlama.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Minik sayısal örnek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oyuncak örnek?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Gerçek AES 256 girişli tablolarla çalışır; tahtaya sığmaz.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Fikri </a:t>
            </a:r>
            <a:r>
              <a:rPr sz="2000" b="1">
                <a:solidFill>
                  <a:srgbClr val="1F2D3A"/>
                </a:solidFill>
              </a:rPr>
              <a:t>4 değerli</a:t>
            </a:r>
            <a:r>
              <a:rPr sz="2000" b="0">
                <a:solidFill>
                  <a:srgbClr val="1F2D3A"/>
                </a:solidFill>
              </a:rPr>
              <a:t> minik bir örnekle göreceğiz.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"anahtarı tabloya pişirmek" ne demek, </a:t>
            </a:r>
            <a:r>
              <a:rPr sz="2000" b="1">
                <a:solidFill>
                  <a:srgbClr val="1F2D3A"/>
                </a:solidFill>
              </a:rPr>
              <a:t>elle</a:t>
            </a:r>
            <a:r>
              <a:rPr sz="2000" b="0">
                <a:solidFill>
                  <a:srgbClr val="1F2D3A"/>
                </a:solidFill>
              </a:rPr>
              <a:t> görmek.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Minik S-box tanımı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Diyelim 2 bitlik değerlerimiz var (0,1,2,3) ve şu sabit S-box: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x:        0  1  2  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S-box[x]: 3  2  0 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 </a:t>
            </a:r>
            <a:r>
              <a:rPr sz="2000" b="1">
                <a:solidFill>
                  <a:srgbClr val="1F2D3A"/>
                </a:solidFill>
              </a:rPr>
              <a:t>herkese açık</a:t>
            </a:r>
            <a:r>
              <a:rPr sz="2000" b="0">
                <a:solidFill>
                  <a:srgbClr val="1F2D3A"/>
                </a:solidFill>
              </a:rPr>
              <a:t> (algoritmanın parçası, sır değil).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ve işlem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0">
                <a:solidFill>
                  <a:srgbClr val="A1123F"/>
                </a:solidFill>
                <a:latin typeface="Consolas"/>
              </a:rPr>
              <a:t>k = 1</a:t>
            </a:r>
            <a:r>
              <a:rPr sz="2000" b="0">
                <a:solidFill>
                  <a:srgbClr val="1F2D3A"/>
                </a:solidFill>
              </a:rPr>
              <a:t> (gizli).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İşlem (bir AES turunun mini hâli): </a:t>
            </a:r>
            <a:r>
              <a:rPr sz="2000" b="0">
                <a:solidFill>
                  <a:srgbClr val="A1123F"/>
                </a:solidFill>
                <a:latin typeface="Consolas"/>
              </a:rPr>
              <a:t>çıktı = S-box[x ^ k]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^</a:t>
            </a:r>
            <a:r>
              <a:rPr sz="2000" b="0">
                <a:solidFill>
                  <a:srgbClr val="1F2D3A"/>
                </a:solidFill>
              </a:rPr>
              <a:t> = XOR.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1</a:t>
            </a:r>
            <a:r>
              <a:rPr sz="2000" b="0">
                <a:solidFill>
                  <a:srgbClr val="1F2D3A"/>
                </a:solidFill>
              </a:rPr>
              <a:t>: 0↔1, 2↔3 (son biti çevirir).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adım: normal işlem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x=0 → x^1=1 → S-box[1]=2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x=1 → x^1=0 → S-box[0]=3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x=2 → x^1=3 → S-box[3]=1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x=3 → x^1=2 → S-box[2]=0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Burada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k=1</a:t>
            </a:r>
            <a:r>
              <a:rPr sz="2000" b="0">
                <a:solidFill>
                  <a:srgbClr val="1F2D3A"/>
                </a:solidFill>
              </a:rPr>
              <a:t> kodda </a:t>
            </a:r>
            <a:r>
              <a:rPr sz="2000" b="1">
                <a:solidFill>
                  <a:srgbClr val="1F2D3A"/>
                </a:solidFill>
              </a:rPr>
              <a:t>açıkça</a:t>
            </a:r>
            <a:r>
              <a:rPr sz="2000" b="0">
                <a:solidFill>
                  <a:srgbClr val="1F2D3A"/>
                </a:solidFill>
              </a:rPr>
              <a:t> kullanılıyor. Saldırgan görür.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Anahtarı tabloya "pişir"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T[x] = S-box[x ^ 1]</a:t>
            </a:r>
            <a:r>
              <a:rPr sz="2000" b="0">
                <a:solidFill>
                  <a:srgbClr val="1F2D3A"/>
                </a:solidFill>
              </a:rPr>
              <a:t> diye </a:t>
            </a:r>
            <a:r>
              <a:rPr sz="2000" b="1">
                <a:solidFill>
                  <a:srgbClr val="1F2D3A"/>
                </a:solidFill>
              </a:rPr>
              <a:t>önceden</a:t>
            </a:r>
            <a:r>
              <a:rPr sz="2000" b="0">
                <a:solidFill>
                  <a:srgbClr val="1F2D3A"/>
                </a:solidFill>
              </a:rPr>
              <a:t> hesaplayıp tablo yapalım: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x:    0  1  2  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T[x]: 2  3  1 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kodda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sadece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 var. Görünüşte anahtar kayboldu.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 anahtar sızıyor! (kodlama yoksa)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'yi bilinen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</a:t>
            </a:r>
            <a:r>
              <a:rPr sz="2000" b="0">
                <a:solidFill>
                  <a:srgbClr val="1F2D3A"/>
                </a:solidFill>
              </a:rPr>
              <a:t> ile karşılaştırır: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S-box: 3 2 0 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T:     2 3 1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T[x] = S-box[x ^ k]</a:t>
            </a:r>
            <a:r>
              <a:rPr sz="2000" b="0">
                <a:solidFill>
                  <a:srgbClr val="1F2D3A"/>
                </a:solidFill>
              </a:rPr>
              <a:t> olduğunu bilerek hangi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uyuyor diye dener: </a:t>
            </a:r>
            <a:r>
              <a:rPr sz="2000" b="0">
                <a:solidFill>
                  <a:srgbClr val="A1123F"/>
                </a:solidFill>
                <a:latin typeface="Consolas"/>
              </a:rPr>
              <a:t>k=1</a:t>
            </a:r>
            <a:r>
              <a:rPr sz="2000" b="0">
                <a:solidFill>
                  <a:srgbClr val="1F2D3A"/>
                </a:solidFill>
              </a:rPr>
              <a:t> uyar.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87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Sonuç:</a:t>
            </a:r>
            <a:r>
              <a:rPr sz="2000" b="0">
                <a:solidFill>
                  <a:srgbClr val="1F2D3A"/>
                </a:solidFill>
              </a:rPr>
              <a:t> kodlanmamış tablo anahtarı ele verir. İşte bu yüzden iç/dış kodlama var.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Kodlama fikri (minik)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Çıkışa gizli bir eşleme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  <a:r>
              <a:rPr sz="2000" b="0">
                <a:solidFill>
                  <a:srgbClr val="1F2D3A"/>
                </a:solidFill>
              </a:rPr>
              <a:t> uygula: </a:t>
            </a:r>
            <a:r>
              <a:rPr sz="2000" b="0">
                <a:solidFill>
                  <a:srgbClr val="A1123F"/>
                </a:solidFill>
                <a:latin typeface="Consolas"/>
              </a:rPr>
              <a:t>T'[x] = E(T[x])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E: 0→1, 1→3, 2→0, 3→2   (gizli bijeksiyon)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T':  E(2) E(3) E(1) E(0) = 0 2 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</a:t>
            </a:r>
            <a:r>
              <a:rPr sz="2000" b="0">
                <a:solidFill>
                  <a:srgbClr val="A1123F"/>
                </a:solidFill>
                <a:latin typeface="Consolas"/>
              </a:rPr>
              <a:t>T'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</a:t>
            </a:r>
            <a:r>
              <a:rPr sz="2000" b="0">
                <a:solidFill>
                  <a:srgbClr val="1F2D3A"/>
                </a:solidFill>
              </a:rPr>
              <a:t>'a benzemez; basit karşılaştırma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vermez.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Kodlamanın bedeli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sonraki adım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  <a:r>
              <a:rPr sz="2000" b="0">
                <a:solidFill>
                  <a:srgbClr val="1F2D3A"/>
                </a:solidFill>
              </a:rPr>
              <a:t>'nin </a:t>
            </a:r>
            <a:r>
              <a:rPr sz="2000" b="1">
                <a:solidFill>
                  <a:srgbClr val="1F2D3A"/>
                </a:solidFill>
              </a:rPr>
              <a:t>tersini</a:t>
            </a:r>
            <a:r>
              <a:rPr sz="2000" b="0">
                <a:solidFill>
                  <a:srgbClr val="1F2D3A"/>
                </a:solidFill>
              </a:rPr>
              <a:t> uygulamalı ki sonuç doğru çıksın.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AES'te bu, tabloları </a:t>
            </a:r>
            <a:r>
              <a:rPr sz="2000" b="1">
                <a:solidFill>
                  <a:srgbClr val="1F2D3A"/>
                </a:solidFill>
              </a:rPr>
              <a:t>zincirleyerek</a:t>
            </a:r>
            <a:r>
              <a:rPr sz="2000" b="0">
                <a:solidFill>
                  <a:srgbClr val="1F2D3A"/>
                </a:solidFill>
              </a:rPr>
              <a:t> yapılır (iç kodlamalar).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kodlama fazladan tablo ve boyut demektir →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Minik örnek bile fikri gösteriyor: gizlilik ucuz değil.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Minik örnekten çıkan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Anahtarı tabloya gömmek onu </a:t>
            </a:r>
            <a:r>
              <a:rPr sz="2000" b="1">
                <a:solidFill>
                  <a:srgbClr val="1F2D3A"/>
                </a:solidFill>
              </a:rPr>
              <a:t>görünmez</a:t>
            </a:r>
            <a:r>
              <a:rPr sz="2000" b="0">
                <a:solidFill>
                  <a:srgbClr val="1F2D3A"/>
                </a:solidFill>
              </a:rPr>
              <a:t> yapmaz (kodlama şart)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Kodlama işi çözer ama </a:t>
            </a:r>
            <a:r>
              <a:rPr sz="2000" b="1">
                <a:solidFill>
                  <a:srgbClr val="1F2D3A"/>
                </a:solidFill>
              </a:rPr>
              <a:t>boyut/karmaşıklık</a:t>
            </a:r>
            <a:r>
              <a:rPr sz="2000" b="0">
                <a:solidFill>
                  <a:srgbClr val="1F2D3A"/>
                </a:solidFill>
              </a:rPr>
              <a:t> ekler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Gerçekte tablolar yüzlerce KB olur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bölüm 2'deki beş adımın </a:t>
            </a:r>
            <a:r>
              <a:rPr sz="2000" b="1">
                <a:solidFill>
                  <a:srgbClr val="1F2D3A"/>
                </a:solidFill>
              </a:rPr>
              <a:t>sezgisidir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DCA neden çalışır? (sezgi)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Sezgi: neyi izliyor?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 çalışırken tablolardan </a:t>
            </a:r>
            <a:r>
              <a:rPr sz="2000" b="1">
                <a:solidFill>
                  <a:srgbClr val="1F2D3A"/>
                </a:solidFill>
              </a:rPr>
              <a:t>ara değerler</a:t>
            </a:r>
            <a:r>
              <a:rPr sz="2000" b="0">
                <a:solidFill>
                  <a:srgbClr val="1F2D3A"/>
                </a:solidFill>
              </a:rPr>
              <a:t> okur.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ara değerler, gizli anahtara </a:t>
            </a:r>
            <a:r>
              <a:rPr sz="2000" b="1">
                <a:solidFill>
                  <a:srgbClr val="1F2D3A"/>
                </a:solidFill>
              </a:rPr>
              <a:t>bağlı</a:t>
            </a:r>
            <a:r>
              <a:rPr sz="2000" b="0">
                <a:solidFill>
                  <a:srgbClr val="1F2D3A"/>
                </a:solidFill>
              </a:rPr>
              <a:t>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 bu değerlerin izini toplar.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İstatistik nasıl anahtarı verir?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bir anahtar baytı için </a:t>
            </a:r>
            <a:r>
              <a:rPr sz="2000" b="1">
                <a:solidFill>
                  <a:srgbClr val="1F2D3A"/>
                </a:solidFill>
              </a:rPr>
              <a:t>tahmin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Tahmine göre ara değerin nasıl davranması gerektiğini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Toplanan izlerle </a:t>
            </a:r>
            <a:r>
              <a:rPr sz="2000" b="1">
                <a:solidFill>
                  <a:srgbClr val="1F2D3A"/>
                </a:solidFill>
              </a:rPr>
              <a:t>en iyi uyan</a:t>
            </a:r>
            <a:r>
              <a:rPr sz="2000" b="0">
                <a:solidFill>
                  <a:srgbClr val="1F2D3A"/>
                </a:solidFill>
              </a:rPr>
              <a:t> tahmin, doğru bayttır.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DPA'nın (güç analizi) </a:t>
            </a:r>
            <a:r>
              <a:rPr sz="2000" b="1">
                <a:solidFill>
                  <a:srgbClr val="1F2D3A"/>
                </a:solidFill>
              </a:rPr>
              <a:t>yazılım</a:t>
            </a:r>
            <a:r>
              <a:rPr sz="2000" b="0">
                <a:solidFill>
                  <a:srgbClr val="1F2D3A"/>
                </a:solidFill>
              </a:rPr>
              <a:t> hâlidir.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İç kodlama neden DCA'yı durdurmaz?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 ara değeri </a:t>
            </a:r>
            <a:r>
              <a:rPr sz="2000" b="1">
                <a:solidFill>
                  <a:srgbClr val="1F2D3A"/>
                </a:solidFill>
              </a:rPr>
              <a:t>karıştırır</a:t>
            </a:r>
            <a:r>
              <a:rPr sz="2000" b="0">
                <a:solidFill>
                  <a:srgbClr val="1F2D3A"/>
                </a:solidFill>
              </a:rPr>
              <a:t> ama </a:t>
            </a:r>
            <a:r>
              <a:rPr sz="2000" b="1">
                <a:solidFill>
                  <a:srgbClr val="1F2D3A"/>
                </a:solidFill>
              </a:rPr>
              <a:t>birebir</a:t>
            </a:r>
            <a:r>
              <a:rPr sz="2000" b="0">
                <a:solidFill>
                  <a:srgbClr val="1F2D3A"/>
                </a:solidFill>
              </a:rPr>
              <a:t> eşlemedir (bijeksiyon)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İstatistiksel korelasyon çoğu zaman </a:t>
            </a:r>
            <a:r>
              <a:rPr sz="2000" b="1">
                <a:solidFill>
                  <a:srgbClr val="1F2D3A"/>
                </a:solidFill>
              </a:rPr>
              <a:t>hayatta kalır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2016'dan sonra WBC'ler DCA'ya karşı savunmasız kaldı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sezgisi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Doğrusal olmayan maskeleme:</a:t>
            </a:r>
            <a:r>
              <a:rPr sz="2000" b="0">
                <a:solidFill>
                  <a:srgbClr val="1F2D3A"/>
                </a:solidFill>
              </a:rPr>
              <a:t> korelasyonu bozacak biçimde ara değerleri gizler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Dış kodlama:</a:t>
            </a:r>
            <a:r>
              <a:rPr sz="2000" b="0">
                <a:solidFill>
                  <a:srgbClr val="1F2D3A"/>
                </a:solidFill>
              </a:rPr>
              <a:t> saldırganın gördüğü giriş/çıkışı standart olmaktan çıkarır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RASP:</a:t>
            </a:r>
            <a:r>
              <a:rPr sz="2000" b="0">
                <a:solidFill>
                  <a:srgbClr val="1F2D3A"/>
                </a:solidFill>
              </a:rPr>
              <a:t> iz toplamayı (araç bağlamayı) zorlaştırır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kesin çözüm değil; hepsi </a:t>
            </a:r>
            <a:r>
              <a:rPr sz="2000" b="1">
                <a:solidFill>
                  <a:srgbClr val="1F2D3A"/>
                </a:solidFill>
              </a:rPr>
              <a:t>maliyet + gecikme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Karar akışı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1:</a:t>
            </a:r>
            <a:r>
              <a:rPr sz="2000" b="0">
                <a:solidFill>
                  <a:srgbClr val="1F2D3A"/>
                </a:solidFill>
              </a:rPr>
              <a:t> Cihazda TEE/güvenli öğe var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→ anahtarı oraya koy. </a:t>
            </a:r>
            <a:r>
              <a:rPr sz="2000" b="1">
                <a:solidFill>
                  <a:srgbClr val="1F2D3A"/>
                </a:solidFill>
              </a:rPr>
              <a:t>Bitti</a:t>
            </a:r>
            <a:r>
              <a:rPr sz="2000" b="0">
                <a:solidFill>
                  <a:srgbClr val="1F2D3A"/>
                </a:solidFill>
              </a:rPr>
              <a:t> (en güçlü).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Hayır</a:t>
            </a:r>
            <a:r>
              <a:rPr sz="2000" b="0">
                <a:solidFill>
                  <a:srgbClr val="1F2D3A"/>
                </a:solidFill>
              </a:rPr>
              <a:t> → devam.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2:</a:t>
            </a:r>
            <a:r>
              <a:rPr sz="2000" b="0">
                <a:solidFill>
                  <a:srgbClr val="1F2D3A"/>
                </a:solidFill>
              </a:rPr>
              <a:t> Bu sunucu tarafı bir anahtar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→ HSM/PKCS#11 (üretimde HSM, testte SoftHSM).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Hayır (istemci, donanım yok)</a:t>
            </a:r>
            <a:r>
              <a:rPr sz="2000" b="0">
                <a:solidFill>
                  <a:srgbClr val="1F2D3A"/>
                </a:solidFill>
              </a:rPr>
              <a:t> → devam.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3:</a:t>
            </a:r>
            <a:r>
              <a:rPr sz="2000" b="0">
                <a:solidFill>
                  <a:srgbClr val="1F2D3A"/>
                </a:solidFill>
              </a:rPr>
              <a:t> Varlık değeri koruma maliyetini haklı çıkarıyor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</a:t>
            </a:r>
            <a:r>
              <a:rPr sz="2000" b="0">
                <a:solidFill>
                  <a:srgbClr val="1F2D3A"/>
                </a:solidFill>
              </a:rPr>
              <a:t> → hafif gizleme + kısa ömür yeter.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→ WBC + katmanlı savunma + yenileme + cihaz bağlama + sunucu denetimi.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Her durumda: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düz gömme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Kararı ve gerekçesini </a:t>
            </a:r>
            <a:r>
              <a:rPr sz="2000" b="1">
                <a:solidFill>
                  <a:srgbClr val="1F2D3A"/>
                </a:solidFill>
              </a:rPr>
              <a:t>S8'e yaz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Kalan riski açıkça belirt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Karar akışı · tek bakış</a:t>
            </a:r>
          </a:p>
        </p:txBody>
      </p:sp>
      <p:pic>
        <p:nvPicPr>
          <p:cNvPr id="7" name="Picture 6" descr="h11-07-anahtar-koru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711353"/>
          </a:xfrm>
          <a:prstGeom prst="rect">
            <a:avLst/>
          </a:prstGeom>
        </p:spPr>
      </p:pic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Mini vaka (sentetik)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uygulama, sunucudan indirdiği </a:t>
            </a:r>
            <a:r>
              <a:rPr sz="2000" b="1">
                <a:solidFill>
                  <a:srgbClr val="1F2D3A"/>
                </a:solidFill>
              </a:rPr>
              <a:t>oturum anahtarıyla</a:t>
            </a:r>
            <a:r>
              <a:rPr sz="2000" b="0">
                <a:solidFill>
                  <a:srgbClr val="1F2D3A"/>
                </a:solidFill>
              </a:rPr>
              <a:t> yerel veriyi şifreliyor.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Cihazların bir kısmında TEE var, bir kısmında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günde bir yenileniyor.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87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Nasıl koruruz?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TEE olan cihazlar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TEE'ye</a:t>
            </a:r>
            <a:r>
              <a:rPr sz="2000" b="0">
                <a:solidFill>
                  <a:srgbClr val="1F2D3A"/>
                </a:solidFill>
              </a:rPr>
              <a:t> koy.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anahtarı hiç görmez; TEE içinde şifreleme yapılır.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güçlü çözüm; ek WBC gereksiz.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TEE olmayan cihazlar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WBC tablolarına</a:t>
            </a:r>
            <a:r>
              <a:rPr sz="2000" b="0">
                <a:solidFill>
                  <a:srgbClr val="1F2D3A"/>
                </a:solidFill>
              </a:rPr>
              <a:t> göm (düz dizi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 gizleme + 6. hafta RASP ile sar.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Cihaz bağla:</a:t>
            </a:r>
            <a:r>
              <a:rPr sz="2000" b="0">
                <a:solidFill>
                  <a:srgbClr val="1F2D3A"/>
                </a:solidFill>
              </a:rPr>
              <a:t> tablolar başka cihazda çalışmasın.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ortak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1">
                <a:solidFill>
                  <a:srgbClr val="1F2D3A"/>
                </a:solidFill>
              </a:rPr>
              <a:t>günde bir yenileniyor</a:t>
            </a:r>
            <a:r>
              <a:rPr sz="2000" b="0">
                <a:solidFill>
                  <a:srgbClr val="1F2D3A"/>
                </a:solidFill>
              </a:rPr>
              <a:t> → çıkarılanın ömrü kısa.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</a:t>
            </a:r>
            <a:r>
              <a:rPr sz="2000" b="0">
                <a:solidFill>
                  <a:srgbClr val="1F2D3A"/>
                </a:solidFill>
              </a:rPr>
              <a:t>, anormal kullanımı (çok istek, tuhaf konum) yakalıyor.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Böylece bir cihaz kırılsa bile hasar sınırlı.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kalan risk (dürüst)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TEE'siz cihazda kararlı saldırgan anahtarı çıkarabilir.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Ama: tek cihazla sınırlı + 24 saat ömür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ödünleşim </a:t>
            </a:r>
            <a:r>
              <a:rPr sz="2000" b="1">
                <a:solidFill>
                  <a:srgbClr val="1F2D3A"/>
                </a:solidFill>
              </a:rPr>
              <a:t>S8'de açıkça yazılır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"sihirli" koruma yok.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Güç, </a:t>
            </a:r>
            <a:r>
              <a:rPr sz="2000" b="1">
                <a:solidFill>
                  <a:srgbClr val="1F2D3A"/>
                </a:solidFill>
              </a:rPr>
              <a:t>katmanların birleşiminden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dürüst kalan risk analizinden</a:t>
            </a:r>
            <a:r>
              <a:rPr sz="2000" b="0">
                <a:solidFill>
                  <a:srgbClr val="1F2D3A"/>
                </a:solidFill>
              </a:rPr>
              <a:t> geliyor.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(12. hafta) tam da bunu arıyor.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— kapanış notu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ekler sınavda ayrıca sorulmaz; 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Minik örnek "pişirme + kodlama" sezgisini verdi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 sezgisi "neden hepsi kırıldı"yı açıkladı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 akışı + vaka, S8'i yazmanıza yardım eder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WBC'yi </a:t>
            </a:r>
            <a:r>
              <a:rPr sz="2000" b="1">
                <a:solidFill>
                  <a:srgbClr val="1F2D3A"/>
                </a:solidFill>
              </a:rPr>
              <a:t>anlamak</a:t>
            </a:r>
            <a:r>
              <a:rPr sz="2000" b="0">
                <a:solidFill>
                  <a:srgbClr val="1F2D3A"/>
                </a:solidFill>
              </a:rPr>
              <a:t>, onu </a:t>
            </a:r>
            <a:r>
              <a:rPr sz="2000" b="1">
                <a:solidFill>
                  <a:srgbClr val="1F2D3A"/>
                </a:solidFill>
              </a:rPr>
              <a:t>doğru yere koymak</a:t>
            </a:r>
            <a:r>
              <a:rPr sz="2000" b="0">
                <a:solidFill>
                  <a:srgbClr val="1F2D3A"/>
                </a:solidFill>
              </a:rPr>
              <a:t> demektir.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Çözümlü kendini sınama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Kara, gri ve beyaz kutu modellerini bir cümleyle ayırın. AES kanıtı hangisini varsayar?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Kara:</a:t>
            </a:r>
            <a:r>
              <a:rPr sz="2000" b="0">
                <a:solidFill>
                  <a:srgbClr val="1F2D3A"/>
                </a:solidFill>
              </a:rPr>
              <a:t> yalnız girdi/çıktı.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Gri:</a:t>
            </a:r>
            <a:r>
              <a:rPr sz="2000" b="0">
                <a:solidFill>
                  <a:srgbClr val="1F2D3A"/>
                </a:solidFill>
              </a:rPr>
              <a:t> + yan kanallar (zaman, güç).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Beyaz:</a:t>
            </a:r>
            <a:r>
              <a:rPr sz="2000" b="0">
                <a:solidFill>
                  <a:srgbClr val="1F2D3A"/>
                </a:solidFill>
              </a:rPr>
              <a:t> her şey + değiştirebilir.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AES'in güvenlik kanıtı </a:t>
            </a:r>
            <a:r>
              <a:rPr sz="2000" b="1">
                <a:solidFill>
                  <a:srgbClr val="1F2D3A"/>
                </a:solidFill>
              </a:rPr>
              <a:t>kara kutu</a:t>
            </a:r>
            <a:r>
              <a:rPr sz="2000" b="0">
                <a:solidFill>
                  <a:srgbClr val="1F2D3A"/>
                </a:solidFill>
              </a:rPr>
              <a:t> varsayar; teslimde biz beyaz kutudayız.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WBC saldırganın "tek turu çalıştırma" ve "hata enjekte etme" yetenekleri hangi saldırılara zemin hazırlar?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turu çalıştırma + iz toplama → </a:t>
            </a:r>
            <a:r>
              <a:rPr sz="2000" b="1">
                <a:solidFill>
                  <a:srgbClr val="1F2D3A"/>
                </a:solidFill>
              </a:rPr>
              <a:t>DCA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enjekte etme → </a:t>
            </a:r>
            <a:r>
              <a:rPr sz="2000" b="1">
                <a:solidFill>
                  <a:srgbClr val="1F2D3A"/>
                </a:solidFill>
              </a:rPr>
              <a:t>DFA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 de tasarımın iç matematiğini bilmeden çalışır.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Anahtarı sabit diziye gömmek neden koruma değildir? Entropi taraması burada ne işe yarar?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çalışırken anahtarı kullanır; blok bellekte/ikili dosyada 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Entropi taraması</a:t>
            </a:r>
            <a:r>
              <a:rPr sz="2000" b="0">
                <a:solidFill>
                  <a:srgbClr val="1F2D3A"/>
                </a:solidFill>
              </a:rPr>
              <a:t> yüksek entropili (rastgele görünen) bloğu bulur → "anahtar burada".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+ gdb ile dakikalar içinde doğrulanır.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Kod taşıma (code lifting) nedir? Hangi önlem kapatır?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anahtarı </a:t>
            </a:r>
            <a:r>
              <a:rPr sz="2000" b="1">
                <a:solidFill>
                  <a:srgbClr val="1F2D3A"/>
                </a:solidFill>
              </a:rPr>
              <a:t>çıkarmadan</a:t>
            </a:r>
            <a:r>
              <a:rPr sz="2000" b="0">
                <a:solidFill>
                  <a:srgbClr val="1F2D3A"/>
                </a:solidFill>
              </a:rPr>
              <a:t>, şifreleme yapan kodu (tablolar + yorumlayıcı) kopyalar.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İşlevi anahtarı bilmeden çalar.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Önlem: </a:t>
            </a:r>
            <a:r>
              <a:rPr sz="2000" b="1">
                <a:solidFill>
                  <a:srgbClr val="1F2D3A"/>
                </a:solidFill>
              </a:rPr>
              <a:t>cihaz/sürüm bağlama</a:t>
            </a:r>
            <a:r>
              <a:rPr sz="2000" b="0">
                <a:solidFill>
                  <a:srgbClr val="1F2D3A"/>
                </a:solidFill>
              </a:rPr>
              <a:t> — tablolar yalnız o cihazda anlamlı.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`T[x] = S-box[x ^ k]` tek başına neden güvensiz?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, bilinen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</a:t>
            </a:r>
            <a:r>
              <a:rPr sz="2000" b="0">
                <a:solidFill>
                  <a:srgbClr val="1F2D3A"/>
                </a:solidFill>
              </a:rPr>
              <a:t>'ın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k</a:t>
            </a:r>
            <a:r>
              <a:rPr sz="2000" b="0">
                <a:solidFill>
                  <a:srgbClr val="1F2D3A"/>
                </a:solidFill>
              </a:rPr>
              <a:t> ile ötelenmişidir.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iki tabloyu karşılaştırıp öteleme miktarından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iç/dış </a:t>
            </a:r>
            <a:r>
              <a:rPr sz="2000" b="1">
                <a:solidFill>
                  <a:srgbClr val="1F2D3A"/>
                </a:solidFill>
              </a:rPr>
              <a:t>kodlama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İç kodlama ile dış kodlama (F, G) farkı? Dış kodlamanın en büyük sınırı?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İç:</a:t>
            </a:r>
            <a:r>
              <a:rPr sz="2000" b="0">
                <a:solidFill>
                  <a:srgbClr val="1F2D3A"/>
                </a:solidFill>
              </a:rPr>
              <a:t> tablolar arası, ara değerleri karıştırır.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Dış (F, G):</a:t>
            </a:r>
            <a:r>
              <a:rPr sz="2000" b="0">
                <a:solidFill>
                  <a:srgbClr val="1F2D3A"/>
                </a:solidFill>
              </a:rPr>
              <a:t> tüm şifreyi sarar (</a:t>
            </a:r>
            <a:r>
              <a:rPr sz="2000" b="0">
                <a:solidFill>
                  <a:srgbClr val="A1123F"/>
                </a:solidFill>
                <a:latin typeface="Consolas"/>
              </a:rPr>
              <a:t>G ∘ AES ∘ F⁻¹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Sınır:</a:t>
            </a:r>
            <a:r>
              <a:rPr sz="2000" b="0">
                <a:solidFill>
                  <a:srgbClr val="1F2D3A"/>
                </a:solidFill>
              </a:rPr>
              <a:t> artık </a:t>
            </a:r>
            <a:r>
              <a:rPr sz="2000" b="1">
                <a:solidFill>
                  <a:srgbClr val="1F2D3A"/>
                </a:solidFill>
              </a:rPr>
              <a:t>standart AES değil</a:t>
            </a:r>
            <a:r>
              <a:rPr sz="2000" b="0">
                <a:solidFill>
                  <a:srgbClr val="1F2D3A"/>
                </a:solidFill>
              </a:rPr>
              <a:t>; karşı taraf F/G'yi bilmeli → EMV gibi standartlarda kullanılamayabilir.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Yaklaşık tablo boyutu ve hız maliyeti? Neden yalnız seçili işlemlerde?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Tablo: </a:t>
            </a:r>
            <a:r>
              <a:rPr sz="2000" b="1">
                <a:solidFill>
                  <a:srgbClr val="1F2D3A"/>
                </a:solidFill>
              </a:rPr>
              <a:t>yüzlerce KB</a:t>
            </a:r>
            <a:r>
              <a:rPr sz="2000" b="0">
                <a:solidFill>
                  <a:srgbClr val="1F2D3A"/>
                </a:solidFill>
              </a:rPr>
              <a:t> (std AES anahtarı 16–32 bayt).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Hız: </a:t>
            </a:r>
            <a:r>
              <a:rPr sz="2000" b="1">
                <a:solidFill>
                  <a:srgbClr val="1F2D3A"/>
                </a:solidFill>
              </a:rPr>
              <a:t>~50× yavaş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maliyet, WBC'yi yalnız </a:t>
            </a:r>
            <a:r>
              <a:rPr sz="2000" b="1">
                <a:solidFill>
                  <a:srgbClr val="1F2D3A"/>
                </a:solidFill>
              </a:rPr>
              <a:t>küçük ve kritik</a:t>
            </a:r>
            <a:r>
              <a:rPr sz="2000" b="0">
                <a:solidFill>
                  <a:srgbClr val="1F2D3A"/>
                </a:solidFill>
              </a:rPr>
              <a:t> işlemlere sınırlar.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"Yayımlanmış bütün saf-yazılım WBC kırıldı" ifadesi projedeki kararınızı nasıl etkiler?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WBC'yi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anahtar güvencesi sayamazsınız.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Kullanırsanız: yenileme + cihaz bağlama + sunucu denetimi + gizleme/RASP ile.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donanıma (TEE/SE) taşıyın.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DCA klasik hangi donanım saldırısına benzer? İç kodlamalar onu neden her zaman durdurmaz?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DPA</a:t>
            </a:r>
            <a:r>
              <a:rPr sz="2000" b="0">
                <a:solidFill>
                  <a:srgbClr val="1F2D3A"/>
                </a:solidFill>
              </a:rPr>
              <a:t>'ya (güç analizi) benzer — yazılım hâli.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 ara değeri karıştırır ama birebir eşlemedir; istatistiksel korelasyon çoğu zaman hayatta kalır.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 koruma seçeneklerini güç/maliyet ekseninde sıralayın.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Düz dizi (yok) → gizli/parçalı (çok düşük) → </a:t>
            </a:r>
            <a:r>
              <a:rPr sz="2000" b="1">
                <a:solidFill>
                  <a:srgbClr val="1F2D3A"/>
                </a:solidFill>
              </a:rPr>
              <a:t>WBC + katman</a:t>
            </a:r>
            <a:r>
              <a:rPr sz="2000" b="0">
                <a:solidFill>
                  <a:srgbClr val="1F2D3A"/>
                </a:solidFill>
              </a:rPr>
              <a:t> (orta) → </a:t>
            </a:r>
            <a:r>
              <a:rPr sz="2000" b="1">
                <a:solidFill>
                  <a:srgbClr val="1F2D3A"/>
                </a:solidFill>
              </a:rPr>
              <a:t>TEE/SE</a:t>
            </a:r>
            <a:r>
              <a:rPr sz="2000" b="0">
                <a:solidFill>
                  <a:srgbClr val="1F2D3A"/>
                </a:solidFill>
              </a:rPr>
              <a:t> (yüksek) → </a:t>
            </a:r>
            <a:r>
              <a:rPr sz="2000" b="1">
                <a:solidFill>
                  <a:srgbClr val="1F2D3A"/>
                </a:solidFill>
              </a:rPr>
              <a:t>HSM</a:t>
            </a:r>
            <a:r>
              <a:rPr sz="2000" b="0">
                <a:solidFill>
                  <a:srgbClr val="1F2D3A"/>
                </a:solidFill>
              </a:rPr>
              <a:t> (yüksek, sunucu).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Kural: yazılıma koymak zorunda değilsen koyma.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WBC kullanıyorsanız, tek başına bırakmamak için en az üç katman?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Gizleme (9. hafta) + RASP (6.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Anahtar yenileme (kısa kripto-periyot)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Cihaz/sürüm bağlama + sunucu risk denetimi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Projenizdeki bir anahtar için S8 gerekçesini üç cümleyle yazın (örnek).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12 (örnek)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"Oturum anahtarı TEE'siz cihazlarda WBC tablolarında tutulur ve gizleme+RASP ile sarılır. Kod taşımaya karşı cihaza bağlanır; anahtar 24 saatte bir yenilenir. Kalan risk: tek cihazda çıkarılabilir, ama sunucu risk denetimi ve kısa ömür hasarı sınırlar."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Kapanış · üç hafta bir arada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9. hafta:</a:t>
            </a:r>
            <a:r>
              <a:rPr sz="2000" b="0">
                <a:solidFill>
                  <a:srgbClr val="1F2D3A"/>
                </a:solidFill>
              </a:rPr>
              <a:t> gizleme kuralları (kod)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11. hafta:</a:t>
            </a:r>
            <a:r>
              <a:rPr sz="2000" b="0">
                <a:solidFill>
                  <a:srgbClr val="1F2D3A"/>
                </a:solidFill>
              </a:rPr>
              <a:t> whitebox (anahtar) — bugün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14. hafta:</a:t>
            </a:r>
            <a:r>
              <a:rPr sz="2000" b="0">
                <a:solidFill>
                  <a:srgbClr val="1F2D3A"/>
                </a:solidFill>
              </a:rPr>
              <a:t> otomasyon (Tigress)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Ortak kural: koruma </a:t>
            </a:r>
            <a:r>
              <a:rPr sz="2000" b="1">
                <a:solidFill>
                  <a:srgbClr val="1F2D3A"/>
                </a:solidFill>
              </a:rPr>
              <a:t>kırılamazlık değil, gecikme</a:t>
            </a:r>
            <a:r>
              <a:rPr sz="2000" b="0">
                <a:solidFill>
                  <a:srgbClr val="1F2D3A"/>
                </a:solidFill>
              </a:rPr>
              <a:t>; güç katmanlardan ve ölçümden gelir.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11 — Whitebox Kriptografi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