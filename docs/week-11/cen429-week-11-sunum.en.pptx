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2" r:id="rId114"/>
    <p:sldId id="363" r:id="rId115"/>
    <p:sldId id="364" r:id="rId116"/>
    <p:sldId id="365" r:id="rId117"/>
    <p:sldId id="366" r:id="rId118"/>
    <p:sldId id="367" r:id="rId119"/>
    <p:sldId id="368" r:id="rId120"/>
    <p:sldId id="369" r:id="rId121"/>
    <p:sldId id="370" r:id="rId122"/>
    <p:sldId id="371" r:id="rId123"/>
    <p:sldId id="372" r:id="rId124"/>
    <p:sldId id="373" r:id="rId125"/>
    <p:sldId id="374" r:id="rId126"/>
    <p:sldId id="375" r:id="rId127"/>
    <p:sldId id="376" r:id="rId128"/>
    <p:sldId id="377" r:id="rId129"/>
    <p:sldId id="378" r:id="rId130"/>
    <p:sldId id="379" r:id="rId131"/>
    <p:sldId id="380" r:id="rId132"/>
    <p:sldId id="381" r:id="rId133"/>
    <p:sldId id="382" r:id="rId134"/>
    <p:sldId id="383" r:id="rId135"/>
    <p:sldId id="384" r:id="rId136"/>
    <p:sldId id="385" r:id="rId137"/>
    <p:sldId id="386" r:id="rId138"/>
    <p:sldId id="387" r:id="rId139"/>
    <p:sldId id="388" r:id="rId140"/>
    <p:sldId id="389" r:id="rId141"/>
    <p:sldId id="390" r:id="rId142"/>
    <p:sldId id="391" r:id="rId143"/>
    <p:sldId id="392" r:id="rId144"/>
    <p:sldId id="393" r:id="rId145"/>
    <p:sldId id="394" r:id="rId146"/>
    <p:sldId id="395" r:id="rId147"/>
    <p:sldId id="396" r:id="rId148"/>
    <p:sldId id="397" r:id="rId149"/>
    <p:sldId id="398" r:id="rId150"/>
    <p:sldId id="399" r:id="rId151"/>
    <p:sldId id="400" r:id="rId152"/>
    <p:sldId id="401" r:id="rId153"/>
    <p:sldId id="402" r:id="rId154"/>
    <p:sldId id="403" r:id="rId155"/>
    <p:sldId id="404" r:id="rId156"/>
    <p:sldId id="405" r:id="rId157"/>
    <p:sldId id="406" r:id="rId158"/>
    <p:sldId id="407" r:id="rId159"/>
    <p:sldId id="408" r:id="rId160"/>
    <p:sldId id="409" r:id="rId161"/>
    <p:sldId id="410" r:id="rId162"/>
    <p:sldId id="411" r:id="rId163"/>
    <p:sldId id="412" r:id="rId164"/>
    <p:sldId id="413" r:id="rId165"/>
    <p:sldId id="414" r:id="rId166"/>
    <p:sldId id="415" r:id="rId167"/>
    <p:sldId id="416" r:id="rId168"/>
    <p:sldId id="417" r:id="rId169"/>
    <p:sldId id="418" r:id="rId17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Relationship Id="rId112" Type="http://schemas.openxmlformats.org/officeDocument/2006/relationships/slide" Target="slides/slide105.xml"/><Relationship Id="rId113" Type="http://schemas.openxmlformats.org/officeDocument/2006/relationships/slide" Target="slides/slide106.xml"/><Relationship Id="rId114" Type="http://schemas.openxmlformats.org/officeDocument/2006/relationships/slide" Target="slides/slide107.xml"/><Relationship Id="rId115" Type="http://schemas.openxmlformats.org/officeDocument/2006/relationships/slide" Target="slides/slide108.xml"/><Relationship Id="rId116" Type="http://schemas.openxmlformats.org/officeDocument/2006/relationships/slide" Target="slides/slide109.xml"/><Relationship Id="rId117" Type="http://schemas.openxmlformats.org/officeDocument/2006/relationships/slide" Target="slides/slide110.xml"/><Relationship Id="rId118" Type="http://schemas.openxmlformats.org/officeDocument/2006/relationships/slide" Target="slides/slide111.xml"/><Relationship Id="rId119" Type="http://schemas.openxmlformats.org/officeDocument/2006/relationships/slide" Target="slides/slide112.xml"/><Relationship Id="rId120" Type="http://schemas.openxmlformats.org/officeDocument/2006/relationships/slide" Target="slides/slide113.xml"/><Relationship Id="rId121" Type="http://schemas.openxmlformats.org/officeDocument/2006/relationships/slide" Target="slides/slide114.xml"/><Relationship Id="rId122" Type="http://schemas.openxmlformats.org/officeDocument/2006/relationships/slide" Target="slides/slide115.xml"/><Relationship Id="rId123" Type="http://schemas.openxmlformats.org/officeDocument/2006/relationships/slide" Target="slides/slide116.xml"/><Relationship Id="rId124" Type="http://schemas.openxmlformats.org/officeDocument/2006/relationships/slide" Target="slides/slide117.xml"/><Relationship Id="rId125" Type="http://schemas.openxmlformats.org/officeDocument/2006/relationships/slide" Target="slides/slide118.xml"/><Relationship Id="rId126" Type="http://schemas.openxmlformats.org/officeDocument/2006/relationships/slide" Target="slides/slide119.xml"/><Relationship Id="rId127" Type="http://schemas.openxmlformats.org/officeDocument/2006/relationships/slide" Target="slides/slide120.xml"/><Relationship Id="rId128" Type="http://schemas.openxmlformats.org/officeDocument/2006/relationships/slide" Target="slides/slide121.xml"/><Relationship Id="rId129" Type="http://schemas.openxmlformats.org/officeDocument/2006/relationships/slide" Target="slides/slide122.xml"/><Relationship Id="rId130" Type="http://schemas.openxmlformats.org/officeDocument/2006/relationships/slide" Target="slides/slide123.xml"/><Relationship Id="rId131" Type="http://schemas.openxmlformats.org/officeDocument/2006/relationships/slide" Target="slides/slide124.xml"/><Relationship Id="rId132" Type="http://schemas.openxmlformats.org/officeDocument/2006/relationships/slide" Target="slides/slide125.xml"/><Relationship Id="rId133" Type="http://schemas.openxmlformats.org/officeDocument/2006/relationships/slide" Target="slides/slide126.xml"/><Relationship Id="rId134" Type="http://schemas.openxmlformats.org/officeDocument/2006/relationships/slide" Target="slides/slide127.xml"/><Relationship Id="rId135" Type="http://schemas.openxmlformats.org/officeDocument/2006/relationships/slide" Target="slides/slide128.xml"/><Relationship Id="rId136" Type="http://schemas.openxmlformats.org/officeDocument/2006/relationships/slide" Target="slides/slide129.xml"/><Relationship Id="rId137" Type="http://schemas.openxmlformats.org/officeDocument/2006/relationships/slide" Target="slides/slide130.xml"/><Relationship Id="rId138" Type="http://schemas.openxmlformats.org/officeDocument/2006/relationships/slide" Target="slides/slide131.xml"/><Relationship Id="rId139" Type="http://schemas.openxmlformats.org/officeDocument/2006/relationships/slide" Target="slides/slide132.xml"/><Relationship Id="rId140" Type="http://schemas.openxmlformats.org/officeDocument/2006/relationships/slide" Target="slides/slide133.xml"/><Relationship Id="rId141" Type="http://schemas.openxmlformats.org/officeDocument/2006/relationships/slide" Target="slides/slide134.xml"/><Relationship Id="rId142" Type="http://schemas.openxmlformats.org/officeDocument/2006/relationships/slide" Target="slides/slide135.xml"/><Relationship Id="rId143" Type="http://schemas.openxmlformats.org/officeDocument/2006/relationships/slide" Target="slides/slide136.xml"/><Relationship Id="rId144" Type="http://schemas.openxmlformats.org/officeDocument/2006/relationships/slide" Target="slides/slide137.xml"/><Relationship Id="rId145" Type="http://schemas.openxmlformats.org/officeDocument/2006/relationships/slide" Target="slides/slide138.xml"/><Relationship Id="rId146" Type="http://schemas.openxmlformats.org/officeDocument/2006/relationships/slide" Target="slides/slide139.xml"/><Relationship Id="rId147" Type="http://schemas.openxmlformats.org/officeDocument/2006/relationships/slide" Target="slides/slide140.xml"/><Relationship Id="rId148" Type="http://schemas.openxmlformats.org/officeDocument/2006/relationships/slide" Target="slides/slide141.xml"/><Relationship Id="rId149" Type="http://schemas.openxmlformats.org/officeDocument/2006/relationships/slide" Target="slides/slide142.xml"/><Relationship Id="rId150" Type="http://schemas.openxmlformats.org/officeDocument/2006/relationships/slide" Target="slides/slide143.xml"/><Relationship Id="rId151" Type="http://schemas.openxmlformats.org/officeDocument/2006/relationships/slide" Target="slides/slide144.xml"/><Relationship Id="rId152" Type="http://schemas.openxmlformats.org/officeDocument/2006/relationships/slide" Target="slides/slide145.xml"/><Relationship Id="rId153" Type="http://schemas.openxmlformats.org/officeDocument/2006/relationships/slide" Target="slides/slide146.xml"/><Relationship Id="rId154" Type="http://schemas.openxmlformats.org/officeDocument/2006/relationships/slide" Target="slides/slide147.xml"/><Relationship Id="rId155" Type="http://schemas.openxmlformats.org/officeDocument/2006/relationships/slide" Target="slides/slide148.xml"/><Relationship Id="rId156" Type="http://schemas.openxmlformats.org/officeDocument/2006/relationships/slide" Target="slides/slide149.xml"/><Relationship Id="rId157" Type="http://schemas.openxmlformats.org/officeDocument/2006/relationships/slide" Target="slides/slide150.xml"/><Relationship Id="rId158" Type="http://schemas.openxmlformats.org/officeDocument/2006/relationships/slide" Target="slides/slide151.xml"/><Relationship Id="rId159" Type="http://schemas.openxmlformats.org/officeDocument/2006/relationships/slide" Target="slides/slide152.xml"/><Relationship Id="rId160" Type="http://schemas.openxmlformats.org/officeDocument/2006/relationships/slide" Target="slides/slide153.xml"/><Relationship Id="rId161" Type="http://schemas.openxmlformats.org/officeDocument/2006/relationships/slide" Target="slides/slide154.xml"/><Relationship Id="rId162" Type="http://schemas.openxmlformats.org/officeDocument/2006/relationships/slide" Target="slides/slide155.xml"/><Relationship Id="rId163" Type="http://schemas.openxmlformats.org/officeDocument/2006/relationships/slide" Target="slides/slide156.xml"/><Relationship Id="rId164" Type="http://schemas.openxmlformats.org/officeDocument/2006/relationships/slide" Target="slides/slide157.xml"/><Relationship Id="rId165" Type="http://schemas.openxmlformats.org/officeDocument/2006/relationships/slide" Target="slides/slide158.xml"/><Relationship Id="rId166" Type="http://schemas.openxmlformats.org/officeDocument/2006/relationships/slide" Target="slides/slide159.xml"/><Relationship Id="rId167" Type="http://schemas.openxmlformats.org/officeDocument/2006/relationships/slide" Target="slides/slide160.xml"/><Relationship Id="rId168" Type="http://schemas.openxmlformats.org/officeDocument/2006/relationships/slide" Target="slides/slide161.xml"/><Relationship Id="rId169" Type="http://schemas.openxmlformats.org/officeDocument/2006/relationships/slide" Target="slides/slide162.xml"/><Relationship Id="rId170" Type="http://schemas.openxmlformats.org/officeDocument/2006/relationships/slide" Target="slides/slide16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5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6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7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8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9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This week we treat whitebox cryptography as a security layer. Core rule: every published pure-software WBC design has been broken; WBC alone is not a solution — it is a layer that delays key extraction, and it only makes sense together with key rotation, device binding, and server-side risk checking. We study the attacks to test the defence.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This week is whitebox cryptography. Students saw crypto in Weeks 3 and 10, but here we recap it from scratch. The main message is given up front: every published pure-software WBC has been broken; WBC is a layer, not magic.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Set this frame up front; we'll come back to it throughout the lecture.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walk through the 12 scenarios one at a time; stress how each model starts from IO alone and gains more capabilities.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show that in white box, MOD and COD are ALWAYS present — this is exactly what WBC targets.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show the 16-byte window sliding across the binary step by step, and stopping the moment it matches.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show the scan trying every window and returning -1 — this never happens in the real demo, since the key sits inside its own binary.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ask first, then open the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We build up Chow AES's idea step by step. We'll teach the logic and the cost, not the math. Go slowly.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stress that the 4x4 state fills column by column, and the order of the four steps (SubBytes, ShiftRows, MixColumns, AddRoundKey).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show that even with an all-zero input, the output isn't zero, because of the S-box's own constant term (0x0D).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follow toy_table.c's real code; stress that the naive and encoded tables produce different bytes for the same 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show k0 staying constant all the way to x=255 on the naive table, and breaking immediately at x=1 on the encoded 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stress that even with k=0 the naive table still leaks, and the encoded table still blocks recovery.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ask first, then open the answer; after the break, attack history.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We tell this history not to teach attacks, but to answer "how much can I trust this protection?"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stress that the difference between the correct and faulted output is NOT zero for most inputs, but no single one gives up the key alone.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show that with no fault (mask=0x00) the difference is ALWAYS zero, i.e. carries no information at 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ask first, then open the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stress that the wbc decision ALWAYS activates four layers (WBC, ROTATE, BIND, AUDIT) together.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show that even with no hardware root at all, the same four layers always arrive together.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A synthetic, defence-oriented example that ties the whole week together in one scenario.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4.gif"/><Relationship Id="rId4" Type="http://schemas.openxmlformats.org/officeDocument/2006/relationships/notesSlide" Target="../notesSlides/notesSlide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5.gif"/><Relationship Id="rId4" Type="http://schemas.openxmlformats.org/officeDocument/2006/relationships/notesSlide" Target="../notesSlides/notesSlide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6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7.gif"/><Relationship Id="rId4" Type="http://schemas.openxmlformats.org/officeDocument/2006/relationships/notesSlide" Target="../notesSlides/notesSlide6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8.gif"/><Relationship Id="rId4" Type="http://schemas.openxmlformats.org/officeDocument/2006/relationships/notesSlide" Target="../notesSlides/notesSlide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9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8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0.gif"/><Relationship Id="rId4" Type="http://schemas.openxmlformats.org/officeDocument/2006/relationships/notesSlide" Target="../notesSlides/notesSlide10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1.gif"/><Relationship Id="rId4" Type="http://schemas.openxmlformats.org/officeDocument/2006/relationships/notesSlide" Target="../notesSlides/notesSlide11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2.gif"/><Relationship Id="rId4" Type="http://schemas.openxmlformats.org/officeDocument/2006/relationships/notesSlide" Target="../notesSlides/notesSlide12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3.gif"/><Relationship Id="rId4" Type="http://schemas.openxmlformats.org/officeDocument/2006/relationships/notesSlide" Target="../notesSlides/notesSlide13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4.gif"/><Relationship Id="rId4" Type="http://schemas.openxmlformats.org/officeDocument/2006/relationships/notesSlide" Target="../notesSlides/notesSlide14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5.pn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6.pn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5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7.pn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8.png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9.gif"/><Relationship Id="rId4" Type="http://schemas.openxmlformats.org/officeDocument/2006/relationships/notesSlide" Target="../notesSlides/notesSlide1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0.gif"/><Relationship Id="rId4" Type="http://schemas.openxmlformats.org/officeDocument/2006/relationships/notesSlide" Target="../notesSlides/notesSlide18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1.png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9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2.gif"/><Relationship Id="rId4" Type="http://schemas.openxmlformats.org/officeDocument/2006/relationships/notesSlide" Target="../notesSlides/notesSlide20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3.gif"/><Relationship Id="rId4" Type="http://schemas.openxmlformats.org/officeDocument/2006/relationships/notesSlide" Target="../notesSlides/notesSlide21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4.png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4000" b="1">
                <a:solidFill>
                  <a:srgbClr val="006D77"/>
                </a:solidFill>
              </a:rPr>
              <a:t>Whitebox Cryptography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56616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1">
                <a:solidFill>
                  <a:srgbClr val="1F2D3A"/>
                </a:solidFill>
              </a:rPr>
              <a:t>CEN429 Secure Programming — Week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05180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0">
                <a:solidFill>
                  <a:srgbClr val="1F2D3A"/>
                </a:solidFill>
              </a:rPr>
              <a:t>Asst. Prof. Dr. Uğur CORUH · 27.11.2026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Today's Plan (3 Hours)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5" cy="3995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4455"/>
                <a:gridCol w="1188385"/>
                <a:gridCol w="8318695"/>
              </a:tblGrid>
              <a:tr h="570846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Time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Section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Topic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570846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0:00–0:25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Black/grey/white box models; WBC attacker capabilities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70846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0:25–0:50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2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Why the problem is hard; naive solutions: embedded key, XOR, code lifting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570846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0:55–1:40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Table-based WBC (Chow AES): encoding, bijections, table size/speed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70846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1:45–2:20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4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Attack history: BGE, DFA, DCA, WhibOx; "all broken" and countermeasures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570846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2:20–2:45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Its place in layered defence; hardware alternatives (TEE/SE, HSM/SoftHSM)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7085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2:45–3:00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6–7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Flawed→attack→protection; project S8; self-check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Where Does This Week Fit?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Week 9:</a:t>
            </a:r>
            <a:r>
              <a:rPr sz="2000" b="0">
                <a:solidFill>
                  <a:srgbClr val="1F2D3A"/>
                </a:solidFill>
              </a:rPr>
              <a:t> code obfuscation — we said "hiding doesn't protect the key"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This week (11):</a:t>
            </a:r>
            <a:r>
              <a:rPr sz="2000" b="0">
                <a:solidFill>
                  <a:srgbClr val="1F2D3A"/>
                </a:solidFill>
              </a:rPr>
              <a:t> so </a:t>
            </a:r>
            <a:r>
              <a:rPr sz="2000" b="1">
                <a:solidFill>
                  <a:srgbClr val="1F2D3A"/>
                </a:solidFill>
              </a:rPr>
              <a:t>how</a:t>
            </a:r>
            <a:r>
              <a:rPr sz="2000" b="0">
                <a:solidFill>
                  <a:srgbClr val="1F2D3A"/>
                </a:solidFill>
              </a:rPr>
              <a:t> do we protect the key in software? → whitebox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Week 10:</a:t>
            </a:r>
            <a:r>
              <a:rPr sz="2000" b="0">
                <a:solidFill>
                  <a:srgbClr val="1F2D3A"/>
                </a:solidFill>
              </a:rPr>
              <a:t> correct use of cryptography, the key lifecycle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54808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Today we tackle the question: "what do we do while the key is in the attacker's hands?"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Learning Outcome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This week is about </a:t>
            </a:r>
            <a:r>
              <a:rPr sz="2000" b="1">
                <a:solidFill>
                  <a:srgbClr val="1F2D3A"/>
                </a:solidFill>
              </a:rPr>
              <a:t>LO.2 / LO.4</a:t>
            </a:r>
            <a:r>
              <a:rPr sz="2000" b="0">
                <a:solidFill>
                  <a:srgbClr val="1F2D3A"/>
                </a:solidFill>
              </a:rPr>
              <a:t> (cryptography, secure communication).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By the end, you will be able to: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25192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Distinguish the black/grey/white box models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Explain </a:t>
            </a:r>
            <a:r>
              <a:rPr sz="2000" b="1">
                <a:solidFill>
                  <a:srgbClr val="1F2D3A"/>
                </a:solidFill>
              </a:rPr>
              <a:t>what whitebox does and why it isn't enough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Make the right protection decision for a key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 Warning, Up Front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604520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2000" b="0">
                <a:solidFill>
                  <a:srgbClr val="1F2D3A"/>
                </a:solidFill>
              </a:rPr>
              <a:t>Every </a:t>
            </a:r>
            <a:r>
              <a:rPr sz="2000" b="1">
                <a:solidFill>
                  <a:srgbClr val="1F2D3A"/>
                </a:solidFill>
              </a:rPr>
              <a:t>pure-software</a:t>
            </a:r>
            <a:r>
              <a:rPr sz="2000" b="0">
                <a:solidFill>
                  <a:srgbClr val="1F2D3A"/>
                </a:solidFill>
              </a:rPr>
              <a:t> whitebox design published to date has </a:t>
            </a:r>
            <a:r>
              <a:rPr sz="2000" b="1">
                <a:solidFill>
                  <a:srgbClr val="1F2D3A"/>
                </a:solidFill>
              </a:rPr>
              <a:t>been broken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4012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So today we won't say "whitebox = secure key."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589784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We'll say: whitebox is a layer that </a:t>
            </a:r>
            <a:r>
              <a:rPr sz="2000" b="1">
                <a:solidFill>
                  <a:srgbClr val="1F2D3A"/>
                </a:solidFill>
              </a:rPr>
              <a:t>delays</a:t>
            </a:r>
            <a:r>
              <a:rPr sz="2000" b="0">
                <a:solidFill>
                  <a:srgbClr val="1F2D3A"/>
                </a:solidFill>
              </a:rPr>
              <a:t> key extraction — and it is not sufficient on its own.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What We Bring from Earlier Weeks (1)</a:t>
            </a:r>
          </a:p>
        </p:txBody>
      </p:sp>
      <p:pic>
        <p:nvPicPr>
          <p:cNvPr id="7" name="Picture 6" descr="h11-10-sifreleme-tem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0055" y="1325880"/>
            <a:ext cx="3131585" cy="154990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2985516"/>
            <a:ext cx="10911535" cy="2651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Encryption, key, symmetric/asymmetric</a:t>
            </a:r>
            <a:r>
              <a:rPr sz="1800" b="0">
                <a:solidFill>
                  <a:srgbClr val="1F2D3A"/>
                </a:solidFill>
              </a:rPr>
              <a:t> — turning plaintext into unreadable ciphertext with a key; security rests on the key's secrecy, not the algorithm's </a:t>
            </a:r>
            <a:r>
              <a:rPr sz="1800" b="1">
                <a:solidFill>
                  <a:srgbClr val="1F2D3A"/>
                </a:solidFill>
              </a:rPr>
              <a:t>(Week 3)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AES and bit security level</a:t>
            </a:r>
            <a:r>
              <a:rPr sz="1800" b="0">
                <a:solidFill>
                  <a:srgbClr val="1F2D3A"/>
                </a:solidFill>
              </a:rPr>
              <a:t> — the most widely used symmetric algorithm, 16-byte blocks, rounds; "n-bit security" ≈ 2ⁿ attempts </a:t>
            </a:r>
            <a:r>
              <a:rPr sz="1800" b="1">
                <a:solidFill>
                  <a:srgbClr val="1F2D3A"/>
                </a:solidFill>
              </a:rPr>
              <a:t>(Week 10)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XOR</a:t>
            </a:r>
            <a:r>
              <a:rPr sz="1800" b="0">
                <a:solidFill>
                  <a:srgbClr val="1F2D3A"/>
                </a:solidFill>
              </a:rPr>
              <a:t> — 1 if the bits differ, 0 if they match; reversible via </a:t>
            </a:r>
            <a:r>
              <a:rPr sz="1800" b="0">
                <a:solidFill>
                  <a:srgbClr val="A1123F"/>
                </a:solidFill>
                <a:latin typeface="Consolas"/>
              </a:rPr>
              <a:t>a^b^b=a</a:t>
            </a:r>
            <a:r>
              <a:rPr sz="1800" b="0">
                <a:solidFill>
                  <a:srgbClr val="1F2D3A"/>
                </a:solidFill>
              </a:rPr>
              <a:t>; AES's key-addition step is a XOR </a:t>
            </a:r>
            <a:r>
              <a:rPr sz="1800" b="1">
                <a:solidFill>
                  <a:srgbClr val="1F2D3A"/>
                </a:solidFill>
              </a:rPr>
              <a:t>(Week 5)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Entropy</a:t>
            </a:r>
            <a:r>
              <a:rPr sz="1800" b="0">
                <a:solidFill>
                  <a:srgbClr val="1F2D3A"/>
                </a:solidFill>
              </a:rPr>
              <a:t> — a measure of how random a data's bytes look; encrypted/random blocks look high-entropy </a:t>
            </a:r>
            <a:r>
              <a:rPr sz="1800" b="1">
                <a:solidFill>
                  <a:srgbClr val="1F2D3A"/>
                </a:solidFill>
              </a:rPr>
              <a:t>(Week 2)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747004"/>
            <a:ext cx="10911535" cy="4069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1F2D3A"/>
                </a:solidFill>
              </a:rPr>
              <a:t>This week we reuse these tools in the </a:t>
            </a:r>
            <a:r>
              <a:rPr sz="1800" b="1">
                <a:solidFill>
                  <a:srgbClr val="1F2D3A"/>
                </a:solidFill>
              </a:rPr>
              <a:t>whitebox</a:t>
            </a:r>
            <a:r>
              <a:rPr sz="1800" b="0">
                <a:solidFill>
                  <a:srgbClr val="1F2D3A"/>
                </a:solidFill>
              </a:rPr>
              <a:t> context.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What We Bring from Earlier Weeks (2)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2651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Debugger</a:t>
            </a:r>
            <a:r>
              <a:rPr sz="1800" b="0">
                <a:solidFill>
                  <a:srgbClr val="1F2D3A"/>
                </a:solidFill>
              </a:rPr>
              <a:t> — a tool that runs a program step by step and reads memory/registers (gdb, x64dbg) </a:t>
            </a:r>
            <a:r>
              <a:rPr sz="1800" b="1">
                <a:solidFill>
                  <a:srgbClr val="1F2D3A"/>
                </a:solidFill>
              </a:rPr>
              <a:t>(Week 6)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Static and dynamic analysis</a:t>
            </a:r>
            <a:r>
              <a:rPr sz="1800" b="0">
                <a:solidFill>
                  <a:srgbClr val="1F2D3A"/>
                </a:solidFill>
              </a:rPr>
              <a:t> — inspection without running / by running; we'll use this to classify attacks </a:t>
            </a:r>
            <a:r>
              <a:rPr sz="1800" b="1">
                <a:solidFill>
                  <a:srgbClr val="1F2D3A"/>
                </a:solidFill>
              </a:rPr>
              <a:t>(Week 4)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Instrumentation and emulator</a:t>
            </a:r>
            <a:r>
              <a:rPr sz="1800" b="0">
                <a:solidFill>
                  <a:srgbClr val="1F2D3A"/>
                </a:solidFill>
              </a:rPr>
              <a:t> — tools that automatically trace a program and that emulate a real processor in software </a:t>
            </a:r>
            <a:r>
              <a:rPr sz="1800" b="1">
                <a:solidFill>
                  <a:srgbClr val="1F2D3A"/>
                </a:solidFill>
              </a:rPr>
              <a:t>(Week 6)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HSM and SoftHSM</a:t>
            </a:r>
            <a:r>
              <a:rPr sz="1800" b="0">
                <a:solidFill>
                  <a:srgbClr val="1F2D3A"/>
                </a:solidFill>
              </a:rPr>
              <a:t> — dedicated hardware that never lets the key out, and its software emulation </a:t>
            </a:r>
            <a:r>
              <a:rPr sz="1800" b="1">
                <a:solidFill>
                  <a:srgbClr val="1F2D3A"/>
                </a:solidFill>
              </a:rPr>
              <a:t>(Week 10)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087368"/>
            <a:ext cx="10911535" cy="4069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1F2D3A"/>
                </a:solidFill>
              </a:rPr>
              <a:t>This week we meet these again as the whitebox attacker's toolbox and our defence options.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This Week's Concepts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069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1F2D3A"/>
                </a:solidFill>
              </a:rPr>
              <a:t>Each term is defined once, where it first appears in the body; here we only mark </a:t>
            </a:r>
            <a:r>
              <a:rPr sz="1800" b="1">
                <a:solidFill>
                  <a:srgbClr val="1F2D3A"/>
                </a:solidFill>
              </a:rPr>
              <a:t>where</a:t>
            </a:r>
            <a:r>
              <a:rPr sz="1800" b="0">
                <a:solidFill>
                  <a:srgbClr val="1F2D3A"/>
                </a:solidFill>
              </a:rPr>
              <a:t>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842515"/>
          <a:ext cx="10911534" cy="3154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52744"/>
                <a:gridCol w="1558790"/>
              </a:tblGrid>
              <a:tr h="394335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Concept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Where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94335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Black/grey/white box, the WBC attacker model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Section 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94335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Why the problem is hard; naive solutions (embedded key, XOR, code lifting)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Section 2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94335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Table-based WBC: partial evaluation, internal/external encoding, bijection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Section 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94335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Attack history: BGE, DFA, DCA, WhibOx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Section 4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94335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Its place in layered defence; TEE/SE, HSM/SoftHSM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Section 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94335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The flawed → attack → protection scenario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Section 6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94335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Project S8, self-check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Section 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Background · What Is an S-box?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S-box (substitution box):</a:t>
            </a:r>
            <a:r>
              <a:rPr sz="2000" b="0">
                <a:solidFill>
                  <a:srgbClr val="1F2D3A"/>
                </a:solidFill>
              </a:rPr>
              <a:t> a </a:t>
            </a:r>
            <a:r>
              <a:rPr sz="2000" b="1">
                <a:solidFill>
                  <a:srgbClr val="1F2D3A"/>
                </a:solidFill>
              </a:rPr>
              <a:t>fixed table</a:t>
            </a:r>
            <a:r>
              <a:rPr sz="2000" b="0">
                <a:solidFill>
                  <a:srgbClr val="1F2D3A"/>
                </a:solidFill>
              </a:rPr>
              <a:t> that replaces one byte with another.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This is AES's "byte substitution" step.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Example: a 256-entry mapping such as </a:t>
            </a:r>
            <a:r>
              <a:rPr sz="2000" b="0">
                <a:solidFill>
                  <a:srgbClr val="A1123F"/>
                </a:solidFill>
                <a:latin typeface="Consolas"/>
              </a:rPr>
              <a:t>S-box[0x53] = 0xED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5480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Keep this table in mind; it's the heart of whitebox.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Lookup 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Lookup table:</a:t>
            </a:r>
            <a:r>
              <a:rPr sz="2000" b="0">
                <a:solidFill>
                  <a:srgbClr val="1F2D3A"/>
                </a:solidFill>
              </a:rPr>
              <a:t> an array that gives "output for a given input".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T[x]</a:t>
            </a:r>
            <a:r>
              <a:rPr sz="2000" b="0">
                <a:solidFill>
                  <a:srgbClr val="1F2D3A"/>
                </a:solidFill>
              </a:rPr>
              <a:t> = the precomputed result for x.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Instead of computing, </a:t>
            </a:r>
            <a:r>
              <a:rPr sz="2000" b="1">
                <a:solidFill>
                  <a:srgbClr val="1F2D3A"/>
                </a:solidFill>
              </a:rPr>
              <a:t>you read from the table</a:t>
            </a:r>
            <a:r>
              <a:rPr sz="2000" b="0">
                <a:solidFill>
                  <a:srgbClr val="1F2D3A"/>
                </a:solidFill>
              </a:rPr>
              <a:t>; it's fast.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5480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Whitebox buries computation inside tables.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Background · What Is a Side Channel?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173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Side channel:</a:t>
            </a:r>
            <a:r>
              <a:rPr sz="2000" b="0">
                <a:solidFill>
                  <a:srgbClr val="1F2D3A"/>
                </a:solidFill>
              </a:rPr>
              <a:t> an attack that uses not the algorithm's math but the </a:t>
            </a:r>
            <a:r>
              <a:rPr sz="2000" b="1">
                <a:solidFill>
                  <a:srgbClr val="1F2D3A"/>
                </a:solidFill>
              </a:rPr>
              <a:t>physical/indirect information it leaks</a:t>
            </a:r>
            <a:r>
              <a:rPr sz="2000" b="0">
                <a:solidFill>
                  <a:srgbClr val="1F2D3A"/>
                </a:solidFill>
              </a:rPr>
              <a:t> while running.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Examples: elapsed </a:t>
            </a:r>
            <a:r>
              <a:rPr sz="2000" b="1">
                <a:solidFill>
                  <a:srgbClr val="1F2D3A"/>
                </a:solidFill>
              </a:rPr>
              <a:t>time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1">
                <a:solidFill>
                  <a:srgbClr val="1F2D3A"/>
                </a:solidFill>
              </a:rPr>
              <a:t>power</a:t>
            </a:r>
            <a:r>
              <a:rPr sz="2000" b="0">
                <a:solidFill>
                  <a:srgbClr val="1F2D3A"/>
                </a:solidFill>
              </a:rPr>
              <a:t> consumption, electromagnetic emission.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0908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Classic on smart cards; shortly we'll see whitebox's software equivalent.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What Is DPA?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173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DPA (Differential Power Analysis):</a:t>
            </a:r>
            <a:r>
              <a:rPr sz="2000" b="0">
                <a:solidFill>
                  <a:srgbClr val="1F2D3A"/>
                </a:solidFill>
              </a:rPr>
              <a:t> a side-channel attack that applies statistics to a device's </a:t>
            </a:r>
            <a:r>
              <a:rPr sz="2000" b="1">
                <a:solidFill>
                  <a:srgbClr val="1F2D3A"/>
                </a:solidFill>
              </a:rPr>
              <a:t>power consumption</a:t>
            </a:r>
            <a:r>
              <a:rPr sz="2000" b="0">
                <a:solidFill>
                  <a:srgbClr val="1F2D3A"/>
                </a:solidFill>
              </a:rPr>
              <a:t> measurements to extract the key.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It doesn't look inside the device; it measures from the outside.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09088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Keep this idea in mind; whitebox's strongest attack (DCA) is the software form of exactly this.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Background · Bijection (a One-to-One, Onto Mapping)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173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Bijection:</a:t>
            </a:r>
            <a:r>
              <a:rPr sz="2000" b="0">
                <a:solidFill>
                  <a:srgbClr val="1F2D3A"/>
                </a:solidFill>
              </a:rPr>
              <a:t> a transformation that maps every input to exactly one output and is </a:t>
            </a:r>
            <a:r>
              <a:rPr sz="2000" b="1">
                <a:solidFill>
                  <a:srgbClr val="1F2D3A"/>
                </a:solidFill>
              </a:rPr>
              <a:t>invertible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Example: </a:t>
            </a:r>
            <a:r>
              <a:rPr sz="2000" b="0">
                <a:solidFill>
                  <a:srgbClr val="A1123F"/>
                </a:solidFill>
                <a:latin typeface="Consolas"/>
              </a:rPr>
              <a:t>f(x) = x ^ 0x5A</a:t>
            </a:r>
            <a:r>
              <a:rPr sz="2000" b="0">
                <a:solidFill>
                  <a:srgbClr val="1F2D3A"/>
                </a:solidFill>
              </a:rPr>
              <a:t> is a bijection (its own inverse).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0908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Whitebox wraps tables in </a:t>
            </a:r>
            <a:r>
              <a:rPr sz="2000" b="1">
                <a:solidFill>
                  <a:srgbClr val="1F2D3A"/>
                </a:solidFill>
              </a:rPr>
              <a:t>secret bijections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Background · TEE and Secure Element (SE)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03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TEE (Trusted Execution Environment):</a:t>
            </a:r>
            <a:r>
              <a:rPr sz="2000" b="0">
                <a:solidFill>
                  <a:srgbClr val="1F2D3A"/>
                </a:solidFill>
              </a:rPr>
              <a:t> a phone processor's secure region, </a:t>
            </a:r>
            <a:r>
              <a:rPr sz="2000" b="1">
                <a:solidFill>
                  <a:srgbClr val="1F2D3A"/>
                </a:solidFill>
              </a:rPr>
              <a:t>isolated</a:t>
            </a:r>
            <a:r>
              <a:rPr sz="2000" b="0">
                <a:solidFill>
                  <a:srgbClr val="1F2D3A"/>
                </a:solidFill>
              </a:rPr>
              <a:t> from the operating system.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Secure element (SE):</a:t>
            </a:r>
            <a:r>
              <a:rPr sz="2000" b="0">
                <a:solidFill>
                  <a:srgbClr val="1F2D3A"/>
                </a:solidFill>
              </a:rPr>
              <a:t> a separate, tamper-resistant </a:t>
            </a:r>
            <a:r>
              <a:rPr sz="2000" b="1">
                <a:solidFill>
                  <a:srgbClr val="1F2D3A"/>
                </a:solidFill>
              </a:rPr>
              <a:t>hardware</a:t>
            </a:r>
            <a:r>
              <a:rPr sz="2000" b="0">
                <a:solidFill>
                  <a:srgbClr val="1F2D3A"/>
                </a:solidFill>
              </a:rPr>
              <a:t> chip that stores keys.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939288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These are the strongest protection for a key; whitebox is for the case </a:t>
            </a:r>
            <a:r>
              <a:rPr sz="2000" b="1">
                <a:solidFill>
                  <a:srgbClr val="1F2D3A"/>
                </a:solidFill>
              </a:rPr>
              <a:t>when they aren't available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Now We're Ready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Terms we know: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encryption/decryption · key · symmetric/asymmetric · AES · S-box · lookup table · XOR · bit security · side channel · DPA · bijection · TEE/SE · HSM/SoftHSM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55392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Now to the real question: </a:t>
            </a:r>
            <a:r>
              <a:rPr sz="2000" b="1">
                <a:solidFill>
                  <a:srgbClr val="1F2D3A"/>
                </a:solidFill>
              </a:rPr>
              <a:t>what do we do while the key is in the attacker's hands?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Secure Programming · Week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2026-2027 Fall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1. Three Attacker Models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A Brief History — Whitebox Cryptography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8059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1883</a:t>
            </a:r>
            <a:r>
              <a:rPr sz="1800" b="0">
                <a:solidFill>
                  <a:srgbClr val="1F2D3A"/>
                </a:solidFill>
              </a:rPr>
              <a:t> — </a:t>
            </a:r>
            <a:r>
              <a:rPr sz="1800" b="1">
                <a:solidFill>
                  <a:srgbClr val="1F2D3A"/>
                </a:solidFill>
              </a:rPr>
              <a:t>Kerckhoffs</a:t>
            </a:r>
            <a:r>
              <a:rPr sz="1800" b="0">
                <a:solidFill>
                  <a:srgbClr val="1F2D3A"/>
                </a:solidFill>
              </a:rPr>
              <a:t>: security must lie in the </a:t>
            </a:r>
            <a:r>
              <a:rPr sz="1800" b="1">
                <a:solidFill>
                  <a:srgbClr val="1F2D3A"/>
                </a:solidFill>
              </a:rPr>
              <a:t>key</a:t>
            </a:r>
            <a:r>
              <a:rPr sz="1800" b="0">
                <a:solidFill>
                  <a:srgbClr val="1F2D3A"/>
                </a:solidFill>
              </a:rPr>
              <a:t>, not in the secrecy of the system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2002</a:t>
            </a:r>
            <a:r>
              <a:rPr sz="1800" b="0">
                <a:solidFill>
                  <a:srgbClr val="1F2D3A"/>
                </a:solidFill>
              </a:rPr>
              <a:t> — Chow et al. publish the first </a:t>
            </a:r>
            <a:r>
              <a:rPr sz="1800" b="1">
                <a:solidFill>
                  <a:srgbClr val="1F2D3A"/>
                </a:solidFill>
              </a:rPr>
              <a:t>whitebox AES/DES</a:t>
            </a:r>
            <a:r>
              <a:rPr sz="1800" b="0">
                <a:solidFill>
                  <a:srgbClr val="1F2D3A"/>
                </a:solidFill>
              </a:rPr>
              <a:t> (for DRM) — the birth of WBC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2004</a:t>
            </a:r>
            <a:r>
              <a:rPr sz="1800" b="0">
                <a:solidFill>
                  <a:srgbClr val="1F2D3A"/>
                </a:solidFill>
              </a:rPr>
              <a:t> — the </a:t>
            </a:r>
            <a:r>
              <a:rPr sz="1800" b="1">
                <a:solidFill>
                  <a:srgbClr val="1F2D3A"/>
                </a:solidFill>
              </a:rPr>
              <a:t>BGE attack</a:t>
            </a:r>
            <a:r>
              <a:rPr sz="1800" b="0">
                <a:solidFill>
                  <a:srgbClr val="1F2D3A"/>
                </a:solidFill>
              </a:rPr>
              <a:t> breaks the first WB-AES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2016</a:t>
            </a:r>
            <a:r>
              <a:rPr sz="1800" b="0">
                <a:solidFill>
                  <a:srgbClr val="1F2D3A"/>
                </a:solidFill>
              </a:rPr>
              <a:t> — </a:t>
            </a:r>
            <a:r>
              <a:rPr sz="1800" b="1">
                <a:solidFill>
                  <a:srgbClr val="1F2D3A"/>
                </a:solidFill>
              </a:rPr>
              <a:t>DCA</a:t>
            </a:r>
            <a:r>
              <a:rPr sz="1800" b="0">
                <a:solidFill>
                  <a:srgbClr val="1F2D3A"/>
                </a:solidFill>
              </a:rPr>
              <a:t> (Bos et al.): hardware DPA moves into software, breaks it automatically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2017–2024</a:t>
            </a:r>
            <a:r>
              <a:rPr sz="1800" b="0">
                <a:solidFill>
                  <a:srgbClr val="1F2D3A"/>
                </a:solidFill>
              </a:rPr>
              <a:t> — </a:t>
            </a:r>
            <a:r>
              <a:rPr sz="1800" b="1">
                <a:solidFill>
                  <a:srgbClr val="1F2D3A"/>
                </a:solidFill>
              </a:rPr>
              <a:t>WhibOx</a:t>
            </a:r>
            <a:r>
              <a:rPr sz="1800" b="0">
                <a:solidFill>
                  <a:srgbClr val="1F2D3A"/>
                </a:solidFill>
              </a:rPr>
              <a:t>: every published pure-software candidate is broken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241548"/>
            <a:ext cx="10911535" cy="571500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1800" b="0">
                <a:solidFill>
                  <a:srgbClr val="1F2D3A"/>
                </a:solidFill>
              </a:rPr>
              <a:t>Today's rule: WBC is a </a:t>
            </a:r>
            <a:r>
              <a:rPr sz="1800" b="1">
                <a:solidFill>
                  <a:srgbClr val="1F2D3A"/>
                </a:solidFill>
              </a:rPr>
              <a:t>delaying layer</a:t>
            </a:r>
            <a:r>
              <a:rPr sz="1800" b="0">
                <a:solidFill>
                  <a:srgbClr val="1F2D3A"/>
                </a:solidFill>
              </a:rPr>
              <a:t>; prefer </a:t>
            </a:r>
            <a:r>
              <a:rPr sz="1800" b="1">
                <a:solidFill>
                  <a:srgbClr val="1F2D3A"/>
                </a:solidFill>
              </a:rPr>
              <a:t>hardware</a:t>
            </a:r>
            <a:r>
              <a:rPr sz="1800" b="0">
                <a:solidFill>
                  <a:srgbClr val="1F2D3A"/>
                </a:solidFill>
              </a:rPr>
              <a:t> (TEE/SE/HSM) where possible.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Why a "Model"?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Before designing a defence, we must determine </a:t>
            </a:r>
            <a:r>
              <a:rPr sz="2000" b="1">
                <a:solidFill>
                  <a:srgbClr val="1F2D3A"/>
                </a:solidFill>
              </a:rPr>
              <a:t>what the attacker can see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This is called the </a:t>
            </a:r>
            <a:r>
              <a:rPr sz="2000" b="1">
                <a:solidFill>
                  <a:srgbClr val="1F2D3A"/>
                </a:solidFill>
              </a:rPr>
              <a:t>attacker model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25192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There are three models: black, grey, white box.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Black Box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49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attacker sees </a:t>
            </a:r>
            <a:r>
              <a:rPr sz="2000" b="1">
                <a:solidFill>
                  <a:srgbClr val="1F2D3A"/>
                </a:solidFill>
              </a:rPr>
              <a:t>only input and output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They cannot see the inside (key, intermediate values).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Typical setting: a </a:t>
            </a:r>
            <a:r>
              <a:rPr sz="2000" b="1">
                <a:solidFill>
                  <a:srgbClr val="1F2D3A"/>
                </a:solidFill>
              </a:rPr>
              <a:t>remote server</a:t>
            </a:r>
            <a:r>
              <a:rPr sz="2000" b="0">
                <a:solidFill>
                  <a:srgbClr val="1F2D3A"/>
                </a:solidFill>
              </a:rPr>
              <a:t> (the code is yours, the attacker connects over the network).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98500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AES/RSA's security proofs assume this.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Grey Box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In addition to input/output, the attacker sees </a:t>
            </a:r>
            <a:r>
              <a:rPr sz="2000" b="1">
                <a:solidFill>
                  <a:srgbClr val="1F2D3A"/>
                </a:solidFill>
              </a:rPr>
              <a:t>side channels</a:t>
            </a:r>
            <a:r>
              <a:rPr sz="2000" b="0">
                <a:solidFill>
                  <a:srgbClr val="1F2D3A"/>
                </a:solidFill>
              </a:rPr>
              <a:t> (time, power, EM).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They can't read the inside directly, but they measure it </a:t>
            </a:r>
            <a:r>
              <a:rPr sz="2000" b="1">
                <a:solidFill>
                  <a:srgbClr val="1F2D3A"/>
                </a:solidFill>
              </a:rPr>
              <a:t>indirectly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Typical setting: a </a:t>
            </a:r>
            <a:r>
              <a:rPr sz="2000" b="1">
                <a:solidFill>
                  <a:srgbClr val="1F2D3A"/>
                </a:solidFill>
              </a:rPr>
              <a:t>smart card</a:t>
            </a:r>
            <a:r>
              <a:rPr sz="2000" b="0">
                <a:solidFill>
                  <a:srgbClr val="1F2D3A"/>
                </a:solidFill>
              </a:rPr>
              <a:t> or an embedded device in the attacker's hands.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White Box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attacker sees </a:t>
            </a:r>
            <a:r>
              <a:rPr sz="2000" b="1">
                <a:solidFill>
                  <a:srgbClr val="1F2D3A"/>
                </a:solidFill>
              </a:rPr>
              <a:t>everything</a:t>
            </a:r>
            <a:r>
              <a:rPr sz="2000" b="0">
                <a:solidFill>
                  <a:srgbClr val="1F2D3A"/>
                </a:solidFill>
              </a:rPr>
              <a:t>: code, memory, every intermediate value.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And they can </a:t>
            </a:r>
            <a:r>
              <a:rPr sz="2000" b="1">
                <a:solidFill>
                  <a:srgbClr val="1F2D3A"/>
                </a:solidFill>
              </a:rPr>
              <a:t>modify it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Typical setting: </a:t>
            </a:r>
            <a:r>
              <a:rPr sz="2000" b="1">
                <a:solidFill>
                  <a:srgbClr val="1F2D3A"/>
                </a:solidFill>
              </a:rPr>
              <a:t>software</a:t>
            </a:r>
            <a:r>
              <a:rPr sz="2000" b="0">
                <a:solidFill>
                  <a:srgbClr val="1F2D3A"/>
                </a:solidFill>
              </a:rPr>
              <a:t> running on the attacker's own device.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5480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This is the real situation for a mobile/desktop application.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Three Models Side by Side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547815" cy="14319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6730"/>
                <a:gridCol w="4546472"/>
                <a:gridCol w="4364613"/>
              </a:tblGrid>
              <a:tr h="357987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Sees / does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Environment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5798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Black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Input/output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Remote server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5798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Grey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+ side channel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Smart card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5798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White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Everything + modifies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Software, own device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2867558"/>
            <a:ext cx="10911535" cy="4069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1F2D3A"/>
                </a:solidFill>
              </a:rPr>
              <a:t>Crypto was designed for </a:t>
            </a:r>
            <a:r>
              <a:rPr sz="1800" b="1">
                <a:solidFill>
                  <a:srgbClr val="1F2D3A"/>
                </a:solidFill>
              </a:rPr>
              <a:t>black box</a:t>
            </a:r>
            <a:r>
              <a:rPr sz="1800" b="0">
                <a:solidFill>
                  <a:srgbClr val="1F2D3A"/>
                </a:solidFill>
              </a:rPr>
              <a:t>; we're in </a:t>
            </a:r>
            <a:r>
              <a:rPr sz="1800" b="1">
                <a:solidFill>
                  <a:srgbClr val="1F2D3A"/>
                </a:solidFill>
              </a:rPr>
              <a:t>white box</a:t>
            </a:r>
            <a:r>
              <a:rPr sz="18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The Three Attacker Models — What Do They See?</a:t>
            </a:r>
          </a:p>
        </p:txBody>
      </p:sp>
      <p:pic>
        <p:nvPicPr>
          <p:cNvPr id="7" name="Picture 6" descr="h11-01-saldirgan-modeller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3439725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Attacker Models (Animation)</a:t>
            </a:r>
          </a:p>
        </p:txBody>
      </p:sp>
      <p:pic>
        <p:nvPicPr>
          <p:cNvPr id="7" name="Picture 6" descr="attacker-models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2589" y="1325880"/>
            <a:ext cx="6486516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Attacker Models — Edge Case: All White Box</a:t>
            </a:r>
          </a:p>
        </p:txBody>
      </p:sp>
      <p:pic>
        <p:nvPicPr>
          <p:cNvPr id="7" name="Picture 6" descr="attacker-models--edge-all-white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1529" y="1325880"/>
            <a:ext cx="7128637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Here's the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AES is mathematically strong. But: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In white box, the </a:t>
            </a:r>
            <a:r>
              <a:rPr sz="2000" b="1">
                <a:solidFill>
                  <a:srgbClr val="1F2D3A"/>
                </a:solidFill>
              </a:rPr>
              <a:t>key sits in memory</a:t>
            </a:r>
            <a:r>
              <a:rPr sz="2000" b="0">
                <a:solidFill>
                  <a:srgbClr val="1F2D3A"/>
                </a:solidFill>
              </a:rPr>
              <a:t> somewhere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attacker can read memory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So what good is AES's strength?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204464"/>
            <a:ext cx="10911535" cy="604520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2000" b="0">
                <a:solidFill>
                  <a:srgbClr val="1F2D3A"/>
                </a:solidFill>
              </a:rPr>
              <a:t>A strong lock is useless if you hang the key next to the door.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The Idea of Whitebox Cryptography (WBC)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49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WBC:</a:t>
            </a:r>
            <a:r>
              <a:rPr sz="2000" b="0">
                <a:solidFill>
                  <a:srgbClr val="1F2D3A"/>
                </a:solidFill>
              </a:rPr>
              <a:t> performing encryption so that the key </a:t>
            </a:r>
            <a:r>
              <a:rPr sz="2000" b="1">
                <a:solidFill>
                  <a:srgbClr val="1F2D3A"/>
                </a:solidFill>
              </a:rPr>
              <a:t>is never explicitly in memory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key is embedded inside precomputed </a:t>
            </a:r>
            <a:r>
              <a:rPr sz="2000" b="1">
                <a:solidFill>
                  <a:srgbClr val="1F2D3A"/>
                </a:solidFill>
              </a:rPr>
              <a:t>lookup tables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There is </a:t>
            </a:r>
            <a:r>
              <a:rPr sz="2000" b="1">
                <a:solidFill>
                  <a:srgbClr val="1F2D3A"/>
                </a:solidFill>
              </a:rPr>
              <a:t>no</a:t>
            </a:r>
            <a:r>
              <a:rPr sz="2000" b="0">
                <a:solidFill>
                  <a:srgbClr val="1F2D3A"/>
                </a:solidFill>
              </a:rPr>
              <a:t> byte sequence in memory you could point to and say "that's the key."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WBC Is Not a Definition, It's an Attacker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173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WBC was defined in 2002 by Chow and colleagues.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It's really an </a:t>
            </a:r>
            <a:r>
              <a:rPr sz="2000" b="1">
                <a:solidFill>
                  <a:srgbClr val="1F2D3A"/>
                </a:solidFill>
              </a:rPr>
              <a:t>attacker model</a:t>
            </a:r>
            <a:r>
              <a:rPr sz="2000" b="0">
                <a:solidFill>
                  <a:srgbClr val="1F2D3A"/>
                </a:solidFill>
              </a:rPr>
              <a:t>: "how do you encrypt if the attacker can see and modify everything?"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What Can the WBC Attacker Do? (1)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Observes: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Accesses the instructions being executed at that moment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Watches the algorithm's flow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Sees the memory</a:t>
            </a:r>
            <a:r>
              <a:rPr sz="2000" b="0">
                <a:solidFill>
                  <a:srgbClr val="1F2D3A"/>
                </a:solidFill>
              </a:rPr>
              <a:t> being used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04464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So they see every intermediate value the program sees.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What Can the WBC Attacker Do? (2)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Modifies: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1971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Tampers with the program's memory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Runs </a:t>
            </a:r>
            <a:r>
              <a:rPr sz="2000" b="1">
                <a:solidFill>
                  <a:srgbClr val="1F2D3A"/>
                </a:solidFill>
              </a:rPr>
              <a:t>only a single round</a:t>
            </a:r>
            <a:r>
              <a:rPr sz="2000" b="0">
                <a:solidFill>
                  <a:srgbClr val="1F2D3A"/>
                </a:solidFill>
              </a:rPr>
              <a:t> of the algorithm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Alters </a:t>
            </a:r>
            <a:r>
              <a:rPr sz="2000" b="0">
                <a:solidFill>
                  <a:srgbClr val="A1123F"/>
                </a:solidFill>
                <a:latin typeface="Consolas"/>
              </a:rPr>
              <a:t>if</a:t>
            </a:r>
            <a:r>
              <a:rPr sz="2000" b="0">
                <a:solidFill>
                  <a:srgbClr val="1F2D3A"/>
                </a:solidFill>
              </a:rPr>
              <a:t> conditions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Alters loop counters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Injects a fault</a:t>
            </a:r>
            <a:r>
              <a:rPr sz="2000" b="0">
                <a:solidFill>
                  <a:srgbClr val="1F2D3A"/>
                </a:solidFill>
              </a:rPr>
              <a:t> (corrupts a value)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The Source's Compliance Clause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The technical guide opens this section with the following requirement: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875536"/>
            <a:ext cx="10911535" cy="934719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2000" b="0">
                <a:solidFill>
                  <a:srgbClr val="1F2D3A"/>
                </a:solidFill>
              </a:rPr>
              <a:t>"Cryptographic keys shall be </a:t>
            </a:r>
            <a:r>
              <a:rPr sz="2000" b="1">
                <a:solidFill>
                  <a:srgbClr val="1F2D3A"/>
                </a:solidFill>
              </a:rPr>
              <a:t>secured and/or hidden</a:t>
            </a:r>
            <a:r>
              <a:rPr sz="2000" b="0">
                <a:solidFill>
                  <a:srgbClr val="1F2D3A"/>
                </a:solidFill>
              </a:rPr>
              <a:t> to protect confidentiality and integrity."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But It Immediately Adds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The guide says that WBC is </a:t>
            </a:r>
            <a:r>
              <a:rPr sz="2000" b="1">
                <a:solidFill>
                  <a:srgbClr val="1F2D3A"/>
                </a:solidFill>
              </a:rPr>
              <a:t>not the only</a:t>
            </a:r>
            <a:r>
              <a:rPr sz="2000" b="0">
                <a:solidFill>
                  <a:srgbClr val="1F2D3A"/>
                </a:solidFill>
              </a:rPr>
              <a:t> thing protecting against these attacker capabilities: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205736"/>
            <a:ext cx="10911535" cy="934719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2000" b="0">
                <a:solidFill>
                  <a:srgbClr val="1F2D3A"/>
                </a:solidFill>
              </a:rPr>
              <a:t>What protects the application and its assets is </a:t>
            </a:r>
            <a:r>
              <a:rPr sz="2000" b="1">
                <a:solidFill>
                  <a:srgbClr val="1F2D3A"/>
                </a:solidFill>
              </a:rPr>
              <a:t>code hardening (Week 9) and RASP (Week 6)</a:t>
            </a:r>
            <a:r>
              <a:rPr sz="2000" b="0">
                <a:solidFill>
                  <a:srgbClr val="1F2D3A"/>
                </a:solidFill>
              </a:rPr>
              <a:t> methods.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50184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WBC is never presented </a:t>
            </a:r>
            <a:r>
              <a:rPr sz="2000" b="1">
                <a:solidFill>
                  <a:srgbClr val="1F2D3A"/>
                </a:solidFill>
              </a:rPr>
              <a:t>alone</a:t>
            </a:r>
            <a:r>
              <a:rPr sz="2000" b="0">
                <a:solidFill>
                  <a:srgbClr val="1F2D3A"/>
                </a:solidFill>
              </a:rPr>
              <a:t>, from the very first sentence.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Secure Programming · Week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2026-2027 Fall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33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2. The Problem and Naive Solutions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Why Is the Problem So Hard?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The core tension: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program </a:t>
            </a:r>
            <a:r>
              <a:rPr sz="2000" b="1">
                <a:solidFill>
                  <a:srgbClr val="1F2D3A"/>
                </a:solidFill>
              </a:rPr>
              <a:t>must access</a:t>
            </a:r>
            <a:r>
              <a:rPr sz="2000" b="0">
                <a:solidFill>
                  <a:srgbClr val="1F2D3A"/>
                </a:solidFill>
              </a:rPr>
              <a:t> the key to encrypt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attacker sees everything the program sees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So at some point the key is </a:t>
            </a:r>
            <a:r>
              <a:rPr sz="2000" b="1">
                <a:solidFill>
                  <a:srgbClr val="1F2D3A"/>
                </a:solidFill>
              </a:rPr>
              <a:t>somewhere the attacker can also see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04464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WBC tries to get past this by "baking the key into tables."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This Isn't Secrecy, It's Cost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WBC doesn't </a:t>
            </a:r>
            <a:r>
              <a:rPr sz="2000" b="1">
                <a:solidFill>
                  <a:srgbClr val="1F2D3A"/>
                </a:solidFill>
              </a:rPr>
              <a:t>move</a:t>
            </a:r>
            <a:r>
              <a:rPr sz="2000" b="0">
                <a:solidFill>
                  <a:srgbClr val="1F2D3A"/>
                </a:solidFill>
              </a:rPr>
              <a:t> secrecy away from the crypto.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It </a:t>
            </a:r>
            <a:r>
              <a:rPr sz="2000" b="1">
                <a:solidFill>
                  <a:srgbClr val="1F2D3A"/>
                </a:solidFill>
              </a:rPr>
              <a:t>spreads</a:t>
            </a:r>
            <a:r>
              <a:rPr sz="2000" b="0">
                <a:solidFill>
                  <a:srgbClr val="1F2D3A"/>
                </a:solidFill>
              </a:rPr>
              <a:t> the key across tables with a mathematical transformation.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25192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The goal is the same as in Week 9: make extracting the key back out </a:t>
            </a:r>
            <a:r>
              <a:rPr sz="2000" b="1">
                <a:solidFill>
                  <a:srgbClr val="1F2D3A"/>
                </a:solidFill>
              </a:rPr>
              <a:t>much more expensive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Secure Programming · Week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2026-2027 Fall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36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Why Do Naive Solutions Collapse?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How the Key Leaks From a Table — Diagram</a:t>
            </a:r>
          </a:p>
        </p:txBody>
      </p:sp>
      <p:pic>
        <p:nvPicPr>
          <p:cNvPr id="7" name="Picture 6" descr="h11-02-anahtar-sizmas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3091492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Why Do We Study What Collapses?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To see why WBC is needed.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Every failed "easy" solution turns into a secure-programming </a:t>
            </a:r>
            <a:r>
              <a:rPr sz="2000" b="1">
                <a:solidFill>
                  <a:srgbClr val="1F2D3A"/>
                </a:solidFill>
              </a:rPr>
              <a:t>rule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Naive 1 · Embed the Key in an Array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463295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static const uint8_t k[16] = { 0x2B, 0x7E, ... };  /* KÖTÜ */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98903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The easiest way is the weakest way.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Naive 1 · How Is It Broken?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49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0">
                <a:solidFill>
                  <a:srgbClr val="A1123F"/>
                </a:solidFill>
                <a:latin typeface="Consolas"/>
              </a:rPr>
              <a:t>strings</a:t>
            </a:r>
            <a:r>
              <a:rPr sz="2000" b="0">
                <a:solidFill>
                  <a:srgbClr val="1F2D3A"/>
                </a:solidFill>
              </a:rPr>
              <a:t> / byte scan: the 16-byte block is visible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1">
                <a:solidFill>
                  <a:srgbClr val="1F2D3A"/>
                </a:solidFill>
              </a:rPr>
              <a:t>Entropy scan:</a:t>
            </a:r>
            <a:r>
              <a:rPr sz="2000" b="0">
                <a:solidFill>
                  <a:srgbClr val="1F2D3A"/>
                </a:solidFill>
              </a:rPr>
              <a:t> a high-entropy block says "the key is here" (the Shamir–van Someren observation)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0">
                <a:solidFill>
                  <a:srgbClr val="1F2D3A"/>
                </a:solidFill>
              </a:rPr>
              <a:t>Debugger: confirms this block is used in the encryption call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98500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Time:</a:t>
            </a:r>
            <a:r>
              <a:rPr sz="2000" b="0">
                <a:solidFill>
                  <a:srgbClr val="1F2D3A"/>
                </a:solidFill>
              </a:rPr>
              <a:t> minutes.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Naive 1 · Rule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604520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2000" b="0">
                <a:solidFill>
                  <a:srgbClr val="1F2D3A"/>
                </a:solidFill>
              </a:rPr>
              <a:t>A plainly embedded key is </a:t>
            </a:r>
            <a:r>
              <a:rPr sz="2000" b="1">
                <a:solidFill>
                  <a:srgbClr val="1F2D3A"/>
                </a:solidFill>
              </a:rPr>
              <a:t>not</a:t>
            </a:r>
            <a:r>
              <a:rPr sz="2000" b="0">
                <a:solidFill>
                  <a:srgbClr val="1F2D3A"/>
                </a:solidFill>
              </a:rPr>
              <a:t> key protection.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4012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This is exactly Week 9's rule: "string hiding doesn't store the key."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Finding an Embedded Key by Scanning (Animation)</a:t>
            </a:r>
          </a:p>
        </p:txBody>
      </p:sp>
      <p:pic>
        <p:nvPicPr>
          <p:cNvPr id="7" name="Picture 6" descr="embedded-key-scan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3236262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Embedded-Key Scan — Edge Case: Key Absent</a:t>
            </a:r>
          </a:p>
        </p:txBody>
      </p:sp>
      <p:pic>
        <p:nvPicPr>
          <p:cNvPr id="7" name="Picture 6" descr="embedded-key-scan--edge-not-found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3571047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Naive 2 · "Scramble" With XOR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65227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static const uint8_t k_gizli[16] = ...;   /* k ^ maske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/* çalışırken: k = k_gizli ^ maske */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87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"I'll XOR the key with a mask and store that."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Naive 2 · Why Does It Collapse?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</a:t>
            </a:r>
            <a:r>
              <a:rPr sz="2000" b="1">
                <a:solidFill>
                  <a:srgbClr val="1F2D3A"/>
                </a:solidFill>
              </a:rPr>
              <a:t>mask is also</a:t>
            </a:r>
            <a:r>
              <a:rPr sz="2000" b="0">
                <a:solidFill>
                  <a:srgbClr val="1F2D3A"/>
                </a:solidFill>
              </a:rPr>
              <a:t> in the binary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If the program can compute </a:t>
            </a:r>
            <a:r>
              <a:rPr sz="2000" b="0">
                <a:solidFill>
                  <a:srgbClr val="A1123F"/>
                </a:solidFill>
                <a:latin typeface="Consolas"/>
              </a:rPr>
              <a:t>k</a:t>
            </a:r>
            <a:r>
              <a:rPr sz="2000" b="0">
                <a:solidFill>
                  <a:srgbClr val="1F2D3A"/>
                </a:solidFill>
              </a:rPr>
              <a:t>, the attacker can too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Just one extra step; not a real barrier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654808"/>
            <a:ext cx="10911535" cy="604520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2000" b="0">
                <a:solidFill>
                  <a:srgbClr val="1F2D3A"/>
                </a:solidFill>
              </a:rPr>
              <a:t>Whatever the program can do, the white-box attacker can do too.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Naive Threat 3 · Code Lifting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879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Say WBC baked the key into tables.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attacker copies the encrypting code fragment (tables + interpreter) </a:t>
            </a:r>
            <a:r>
              <a:rPr sz="2000" b="1">
                <a:solidFill>
                  <a:srgbClr val="1F2D3A"/>
                </a:solidFill>
              </a:rPr>
              <a:t>as is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1">
                <a:solidFill>
                  <a:srgbClr val="1F2D3A"/>
                </a:solidFill>
              </a:rPr>
              <a:t>without ever extracting</a:t>
            </a:r>
            <a:r>
              <a:rPr sz="2000" b="0">
                <a:solidFill>
                  <a:srgbClr val="1F2D3A"/>
                </a:solidFill>
              </a:rPr>
              <a:t> the key.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They use it in their own program: they </a:t>
            </a:r>
            <a:r>
              <a:rPr sz="2000" b="1">
                <a:solidFill>
                  <a:srgbClr val="1F2D3A"/>
                </a:solidFill>
              </a:rPr>
              <a:t>steal the function</a:t>
            </a:r>
            <a:r>
              <a:rPr sz="2000" b="0">
                <a:solidFill>
                  <a:srgbClr val="1F2D3A"/>
                </a:solidFill>
              </a:rPr>
              <a:t> without knowing the key.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Code Lifting — Diagram</a:t>
            </a:r>
          </a:p>
        </p:txBody>
      </p:sp>
      <p:pic>
        <p:nvPicPr>
          <p:cNvPr id="7" name="Picture 6" descr="h11-06-code-lift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3799107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Code Lifting · Rule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604520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2000" b="0">
                <a:solidFill>
                  <a:srgbClr val="1F2D3A"/>
                </a:solidFill>
              </a:rPr>
              <a:t>WBC saying "I hid the key" isn't enough.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40128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Countering code lifting needs </a:t>
            </a:r>
            <a:r>
              <a:rPr sz="2000" b="1">
                <a:solidFill>
                  <a:srgbClr val="1F2D3A"/>
                </a:solidFill>
              </a:rPr>
              <a:t>device/version binding</a:t>
            </a:r>
            <a:r>
              <a:rPr sz="2000" b="0">
                <a:solidFill>
                  <a:srgbClr val="1F2D3A"/>
                </a:solidFill>
              </a:rPr>
              <a:t> (Section 3, shortly): the tables should only be meaningful on one specific device/version.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Naive Solutions: Summary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1527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60044"/>
                <a:gridCol w="6351490"/>
              </a:tblGrid>
              <a:tr h="381762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Naive solution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Broken by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Key embedded in an array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strings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 + entropy + gdb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XOR/whitening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the mask is inside too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(even WBC)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code lifting → needs device binding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Section 1–2 — Quick Check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0">
                <a:solidFill>
                  <a:srgbClr val="1F2D3A"/>
                </a:solidFill>
              </a:rPr>
              <a:t>The difference between black, grey, white box?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0">
                <a:solidFill>
                  <a:srgbClr val="1F2D3A"/>
                </a:solidFill>
              </a:rPr>
              <a:t>AES is strong, so what's the problem in white box?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0">
                <a:solidFill>
                  <a:srgbClr val="1F2D3A"/>
                </a:solidFill>
              </a:rPr>
              <a:t>Why isn't embedding the key in an array protection?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Section 1–2 — Answers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7145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1. </a:t>
            </a:r>
            <a:r>
              <a:rPr sz="1800" b="1">
                <a:solidFill>
                  <a:srgbClr val="1F2D3A"/>
                </a:solidFill>
              </a:rPr>
              <a:t>Black:</a:t>
            </a:r>
            <a:r>
              <a:rPr sz="1800" b="0">
                <a:solidFill>
                  <a:srgbClr val="1F2D3A"/>
                </a:solidFill>
              </a:rPr>
              <a:t> input/output only · </a:t>
            </a:r>
            <a:r>
              <a:rPr sz="1800" b="1">
                <a:solidFill>
                  <a:srgbClr val="1F2D3A"/>
                </a:solidFill>
              </a:rPr>
              <a:t>Grey:</a:t>
            </a:r>
            <a:r>
              <a:rPr sz="1800" b="0">
                <a:solidFill>
                  <a:srgbClr val="1F2D3A"/>
                </a:solidFill>
              </a:rPr>
              <a:t> + side channels (time/power) · </a:t>
            </a:r>
            <a:r>
              <a:rPr sz="1800" b="1">
                <a:solidFill>
                  <a:srgbClr val="1F2D3A"/>
                </a:solidFill>
              </a:rPr>
              <a:t>White:</a:t>
            </a:r>
            <a:r>
              <a:rPr sz="1800" b="0">
                <a:solidFill>
                  <a:srgbClr val="1F2D3A"/>
                </a:solidFill>
              </a:rPr>
              <a:t> everything + modifies.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2. </a:t>
            </a:r>
            <a:r>
              <a:rPr sz="1800" b="0">
                <a:solidFill>
                  <a:srgbClr val="1F2D3A"/>
                </a:solidFill>
              </a:rPr>
              <a:t>The key sits </a:t>
            </a:r>
            <a:r>
              <a:rPr sz="1800" b="1">
                <a:solidFill>
                  <a:srgbClr val="1F2D3A"/>
                </a:solidFill>
              </a:rPr>
              <a:t>in memory</a:t>
            </a:r>
            <a:r>
              <a:rPr sz="1800" b="0">
                <a:solidFill>
                  <a:srgbClr val="1F2D3A"/>
                </a:solidFill>
              </a:rPr>
              <a:t> at some point; the white-box attacker sees it. AES's strength rests on the </a:t>
            </a:r>
            <a:r>
              <a:rPr sz="1800" b="1">
                <a:solidFill>
                  <a:srgbClr val="1F2D3A"/>
                </a:solidFill>
              </a:rPr>
              <a:t>black box</a:t>
            </a:r>
            <a:r>
              <a:rPr sz="1800" b="0">
                <a:solidFill>
                  <a:srgbClr val="1F2D3A"/>
                </a:solidFill>
              </a:rPr>
              <a:t> assumption.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3. </a:t>
            </a:r>
            <a:r>
              <a:rPr sz="1800" b="0">
                <a:solidFill>
                  <a:srgbClr val="A1123F"/>
                </a:solidFill>
                <a:latin typeface="Consolas"/>
              </a:rPr>
              <a:t>strings</a:t>
            </a:r>
            <a:r>
              <a:rPr sz="1800" b="0">
                <a:solidFill>
                  <a:srgbClr val="1F2D3A"/>
                </a:solidFill>
              </a:rPr>
              <a:t> + </a:t>
            </a:r>
            <a:r>
              <a:rPr sz="1800" b="1">
                <a:solidFill>
                  <a:srgbClr val="1F2D3A"/>
                </a:solidFill>
              </a:rPr>
              <a:t>entropy</a:t>
            </a:r>
            <a:r>
              <a:rPr sz="1800" b="0">
                <a:solidFill>
                  <a:srgbClr val="1F2D3A"/>
                </a:solidFill>
              </a:rPr>
              <a:t> scan + gdb finds it in minutes; the program has to use it.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Secure Programming · Week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2026-2027 Fall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52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3. Table-Based WBC (Step by Step)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What Will We Learn?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Chow and colleagues' 2002 AES design is the classic of table-based WBC.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Its </a:t>
            </a:r>
            <a:r>
              <a:rPr sz="2000" b="1">
                <a:solidFill>
                  <a:srgbClr val="1F2D3A"/>
                </a:solidFill>
              </a:rPr>
              <a:t>idea</a:t>
            </a:r>
            <a:r>
              <a:rPr sz="2000" b="0">
                <a:solidFill>
                  <a:srgbClr val="1F2D3A"/>
                </a:solidFill>
              </a:rPr>
              <a:t> (how it works)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Its </a:t>
            </a:r>
            <a:r>
              <a:rPr sz="2000" b="1">
                <a:solidFill>
                  <a:srgbClr val="1F2D3A"/>
                </a:solidFill>
              </a:rPr>
              <a:t>cost</a:t>
            </a:r>
            <a:r>
              <a:rPr sz="2000" b="0">
                <a:solidFill>
                  <a:srgbClr val="1F2D3A"/>
                </a:solidFill>
              </a:rPr>
              <a:t> (table size, speed)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Its </a:t>
            </a:r>
            <a:r>
              <a:rPr sz="2000" b="1">
                <a:solidFill>
                  <a:srgbClr val="1F2D3A"/>
                </a:solidFill>
              </a:rPr>
              <a:t>limit</a:t>
            </a:r>
            <a:r>
              <a:rPr sz="2000" b="0">
                <a:solidFill>
                  <a:srgbClr val="1F2D3A"/>
                </a:solidFill>
              </a:rPr>
              <a:t> (why it isn't enough)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04464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No math on the exam; </a:t>
            </a:r>
            <a:r>
              <a:rPr sz="2000" b="1">
                <a:solidFill>
                  <a:srgbClr val="1F2D3A"/>
                </a:solidFill>
              </a:rPr>
              <a:t>the idea and the limit</a:t>
            </a:r>
            <a:r>
              <a:rPr sz="2000" b="0">
                <a:solidFill>
                  <a:srgbClr val="1F2D3A"/>
                </a:solidFill>
              </a:rPr>
              <a:t> are.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Reminder: Two Steps of an AES Round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1">
                <a:solidFill>
                  <a:srgbClr val="1F2D3A"/>
                </a:solidFill>
              </a:rPr>
              <a:t>XOR</a:t>
            </a:r>
            <a:r>
              <a:rPr sz="2000" b="0">
                <a:solidFill>
                  <a:srgbClr val="1F2D3A"/>
                </a:solidFill>
              </a:rPr>
              <a:t> the state byte with the round key: </a:t>
            </a:r>
            <a:r>
              <a:rPr sz="2000" b="0">
                <a:solidFill>
                  <a:srgbClr val="A1123F"/>
                </a:solidFill>
                <a:latin typeface="Consolas"/>
              </a:rPr>
              <a:t>x ^ k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0">
                <a:solidFill>
                  <a:srgbClr val="1F2D3A"/>
                </a:solidFill>
              </a:rPr>
              <a:t>Pass the result through the </a:t>
            </a:r>
            <a:r>
              <a:rPr sz="2000" b="1">
                <a:solidFill>
                  <a:srgbClr val="1F2D3A"/>
                </a:solidFill>
              </a:rPr>
              <a:t>S-box</a:t>
            </a:r>
            <a:r>
              <a:rPr sz="2000" b="0">
                <a:solidFill>
                  <a:srgbClr val="1F2D3A"/>
                </a:solidFill>
              </a:rPr>
              <a:t>: </a:t>
            </a:r>
            <a:r>
              <a:rPr sz="2000" b="0">
                <a:solidFill>
                  <a:srgbClr val="A1123F"/>
                </a:solidFill>
                <a:latin typeface="Consolas"/>
              </a:rPr>
              <a:t>S-box[x ^ k]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7888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Can these two steps be combined for a fixed </a:t>
            </a:r>
            <a:r>
              <a:rPr sz="2000" b="0">
                <a:solidFill>
                  <a:srgbClr val="A1123F"/>
                </a:solidFill>
                <a:latin typeface="Consolas"/>
              </a:rPr>
              <a:t>k</a:t>
            </a:r>
            <a:r>
              <a:rPr sz="2000" b="0">
                <a:solidFill>
                  <a:srgbClr val="1F2D3A"/>
                </a:solidFill>
              </a:rPr>
              <a:t>? Yes.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The AES Round From Scratch (Animation)</a:t>
            </a:r>
          </a:p>
        </p:txBody>
      </p:sp>
      <p:pic>
        <p:nvPicPr>
          <p:cNvPr id="7" name="Picture 6" descr="aes-round-structure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8436" y="1325880"/>
            <a:ext cx="4034822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AES Round — Edge Case: All Zero</a:t>
            </a:r>
          </a:p>
        </p:txBody>
      </p:sp>
      <p:pic>
        <p:nvPicPr>
          <p:cNvPr id="7" name="Picture 6" descr="aes-round-structure--edge-all-zero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8436" y="1325880"/>
            <a:ext cx="4034822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Step 1 · "Bake" the Key Into a Table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65227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Normal:  çıktı = S-box[ x ^ k ]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WBC:     T[x]  = S-box[ x ^ k ]   (256 girişli tablo)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87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There's no longer a </a:t>
            </a:r>
            <a:r>
              <a:rPr sz="2000" b="0">
                <a:solidFill>
                  <a:srgbClr val="A1123F"/>
                </a:solidFill>
                <a:latin typeface="Consolas"/>
              </a:rPr>
              <a:t>k</a:t>
            </a:r>
            <a:r>
              <a:rPr sz="2000" b="0">
                <a:solidFill>
                  <a:srgbClr val="1F2D3A"/>
                </a:solidFill>
              </a:rPr>
              <a:t> variable in the code. </a:t>
            </a:r>
            <a:r>
              <a:rPr sz="2000" b="0">
                <a:solidFill>
                  <a:srgbClr val="A1123F"/>
                </a:solidFill>
                <a:latin typeface="Consolas"/>
              </a:rPr>
              <a:t>k</a:t>
            </a:r>
            <a:r>
              <a:rPr sz="2000" b="0">
                <a:solidFill>
                  <a:srgbClr val="1F2D3A"/>
                </a:solidFill>
              </a:rPr>
              <a:t> is baked </a:t>
            </a:r>
            <a:r>
              <a:rPr sz="2000" b="1">
                <a:solidFill>
                  <a:srgbClr val="1F2D3A"/>
                </a:solidFill>
              </a:rPr>
              <a:t>into</a:t>
            </a:r>
            <a:r>
              <a:rPr sz="2000" b="0">
                <a:solidFill>
                  <a:srgbClr val="1F2D3A"/>
                </a:solidFill>
              </a:rPr>
              <a:t> the table.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Step 1 · What Did We Gain?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There's no byte sequence named </a:t>
            </a:r>
            <a:r>
              <a:rPr sz="2000" b="0">
                <a:solidFill>
                  <a:srgbClr val="A1123F"/>
                </a:solidFill>
                <a:latin typeface="Consolas"/>
              </a:rPr>
              <a:t>k</a:t>
            </a:r>
            <a:r>
              <a:rPr sz="2000" b="0">
                <a:solidFill>
                  <a:srgbClr val="1F2D3A"/>
                </a:solidFill>
              </a:rPr>
              <a:t> in memory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There's only the </a:t>
            </a:r>
            <a:r>
              <a:rPr sz="2000" b="0">
                <a:solidFill>
                  <a:srgbClr val="A1123F"/>
                </a:solidFill>
                <a:latin typeface="Consolas"/>
              </a:rPr>
              <a:t>T</a:t>
            </a:r>
            <a:r>
              <a:rPr sz="2000" b="0">
                <a:solidFill>
                  <a:srgbClr val="1F2D3A"/>
                </a:solidFill>
              </a:rPr>
              <a:t> table (256 entries)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7888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The key seems to have disappeared. But...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Step 1 · Why Is This Insecure on Its Own?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T</a:t>
            </a:r>
            <a:r>
              <a:rPr sz="2000" b="0">
                <a:solidFill>
                  <a:srgbClr val="1F2D3A"/>
                </a:solidFill>
              </a:rPr>
              <a:t> is the S-box </a:t>
            </a:r>
            <a:r>
              <a:rPr sz="2000" b="1">
                <a:solidFill>
                  <a:srgbClr val="1F2D3A"/>
                </a:solidFill>
              </a:rPr>
              <a:t>shifted</a:t>
            </a:r>
            <a:r>
              <a:rPr sz="2000" b="0">
                <a:solidFill>
                  <a:srgbClr val="1F2D3A"/>
                </a:solidFill>
              </a:rPr>
              <a:t> by </a:t>
            </a:r>
            <a:r>
              <a:rPr sz="2000" b="0">
                <a:solidFill>
                  <a:srgbClr val="A1123F"/>
                </a:solidFill>
                <a:latin typeface="Consolas"/>
              </a:rPr>
              <a:t>x ^ k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attacker compares </a:t>
            </a:r>
            <a:r>
              <a:rPr sz="2000" b="0">
                <a:solidFill>
                  <a:srgbClr val="A1123F"/>
                </a:solidFill>
                <a:latin typeface="Consolas"/>
              </a:rPr>
              <a:t>T</a:t>
            </a:r>
            <a:r>
              <a:rPr sz="2000" b="0">
                <a:solidFill>
                  <a:srgbClr val="1F2D3A"/>
                </a:solidFill>
              </a:rPr>
              <a:t> with the known S-box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They </a:t>
            </a:r>
            <a:r>
              <a:rPr sz="2000" b="1">
                <a:solidFill>
                  <a:srgbClr val="1F2D3A"/>
                </a:solidFill>
              </a:rPr>
              <a:t>recover</a:t>
            </a:r>
            <a:r>
              <a:rPr sz="2000" b="0">
                <a:solidFill>
                  <a:srgbClr val="1F2D3A"/>
                </a:solidFill>
              </a:rPr>
              <a:t> </a:t>
            </a:r>
            <a:r>
              <a:rPr sz="2000" b="0">
                <a:solidFill>
                  <a:srgbClr val="A1123F"/>
                </a:solidFill>
                <a:latin typeface="Consolas"/>
              </a:rPr>
              <a:t>k</a:t>
            </a:r>
            <a:r>
              <a:rPr sz="2000" b="0">
                <a:solidFill>
                  <a:srgbClr val="1F2D3A"/>
                </a:solidFill>
              </a:rPr>
              <a:t> from the shift amount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654808"/>
            <a:ext cx="10911535" cy="604520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2000" b="0">
                <a:solidFill>
                  <a:srgbClr val="1F2D3A"/>
                </a:solidFill>
              </a:rPr>
              <a:t>This is why the tables need to be </a:t>
            </a:r>
            <a:r>
              <a:rPr sz="2000" b="1">
                <a:solidFill>
                  <a:srgbClr val="1F2D3A"/>
                </a:solidFill>
              </a:rPr>
              <a:t>encoded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Why a Toy Example?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Real AES works with 256-entry tables; that won't fit on a board.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We'll see the idea with a tiny </a:t>
            </a:r>
            <a:r>
              <a:rPr sz="2000" b="1">
                <a:solidFill>
                  <a:srgbClr val="1F2D3A"/>
                </a:solidFill>
              </a:rPr>
              <a:t>4-value</a:t>
            </a:r>
            <a:r>
              <a:rPr sz="2000" b="0">
                <a:solidFill>
                  <a:srgbClr val="1F2D3A"/>
                </a:solidFill>
              </a:rPr>
              <a:t> example instead.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25192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Goal: see by hand what "baking the key into a table" means.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Defining the Tiny S-box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Say we have 2-bit values (0,1,2,3) and this fixed S-box: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875536"/>
            <a:ext cx="10911535" cy="65227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x:        0  1  2  3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S-box[x]: 3  2  0 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375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This table is </a:t>
            </a:r>
            <a:r>
              <a:rPr sz="2000" b="1">
                <a:solidFill>
                  <a:srgbClr val="1F2D3A"/>
                </a:solidFill>
              </a:rPr>
              <a:t>public</a:t>
            </a:r>
            <a:r>
              <a:rPr sz="2000" b="0">
                <a:solidFill>
                  <a:srgbClr val="1F2D3A"/>
                </a:solidFill>
              </a:rPr>
              <a:t> (part of the algorithm, not a secret).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Key and Operation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Key </a:t>
            </a:r>
            <a:r>
              <a:rPr sz="2000" b="0">
                <a:solidFill>
                  <a:srgbClr val="A1123F"/>
                </a:solidFill>
                <a:latin typeface="Consolas"/>
              </a:rPr>
              <a:t>k = 1</a:t>
            </a:r>
            <a:r>
              <a:rPr sz="2000" b="0">
                <a:solidFill>
                  <a:srgbClr val="1F2D3A"/>
                </a:solidFill>
              </a:rPr>
              <a:t> (secret).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Operation (a mini version of one AES round): </a:t>
            </a:r>
            <a:r>
              <a:rPr sz="2000" b="0">
                <a:solidFill>
                  <a:srgbClr val="A1123F"/>
                </a:solidFill>
                <a:latin typeface="Consolas"/>
              </a:rPr>
              <a:t>output = S-box[x ^ k]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7888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A1123F"/>
                </a:solidFill>
                <a:latin typeface="Consolas"/>
              </a:rPr>
              <a:t>^</a:t>
            </a:r>
            <a:r>
              <a:rPr sz="2000" b="0">
                <a:solidFill>
                  <a:srgbClr val="1F2D3A"/>
                </a:solidFill>
              </a:rPr>
              <a:t> = XOR. </a:t>
            </a:r>
            <a:r>
              <a:rPr sz="2000" b="0">
                <a:solidFill>
                  <a:srgbClr val="A1123F"/>
                </a:solidFill>
                <a:latin typeface="Consolas"/>
              </a:rPr>
              <a:t>x ^ 1</a:t>
            </a:r>
            <a:r>
              <a:rPr sz="2000" b="0">
                <a:solidFill>
                  <a:srgbClr val="1F2D3A"/>
                </a:solidFill>
              </a:rPr>
              <a:t>: 0↔1, 2↔3 (flips the last bit).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Step by Step: Normal Operation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030224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x=0 → x^1=1 → S-box[1]=2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x=1 → x^1=0 → S-box[0]=3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x=2 → x^1=3 → S-box[3]=1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x=3 → x^1=2 → S-box[2]=0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65832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Here </a:t>
            </a:r>
            <a:r>
              <a:rPr sz="2000" b="0">
                <a:solidFill>
                  <a:srgbClr val="A1123F"/>
                </a:solidFill>
                <a:latin typeface="Consolas"/>
              </a:rPr>
              <a:t>k=1</a:t>
            </a:r>
            <a:r>
              <a:rPr sz="2000" b="0">
                <a:solidFill>
                  <a:srgbClr val="1F2D3A"/>
                </a:solidFill>
              </a:rPr>
              <a:t> is used </a:t>
            </a:r>
            <a:r>
              <a:rPr sz="2000" b="1">
                <a:solidFill>
                  <a:srgbClr val="1F2D3A"/>
                </a:solidFill>
              </a:rPr>
              <a:t>explicitly</a:t>
            </a:r>
            <a:r>
              <a:rPr sz="2000" b="0">
                <a:solidFill>
                  <a:srgbClr val="1F2D3A"/>
                </a:solidFill>
              </a:rPr>
              <a:t> in the code. The attacker sees it.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"Bake" the Key Into a 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Let's precompute </a:t>
            </a:r>
            <a:r>
              <a:rPr sz="2000" b="0">
                <a:solidFill>
                  <a:srgbClr val="A1123F"/>
                </a:solidFill>
                <a:latin typeface="Consolas"/>
              </a:rPr>
              <a:t>T[x] = S-box[x ^ 1]</a:t>
            </a:r>
            <a:r>
              <a:rPr sz="2000" b="0">
                <a:solidFill>
                  <a:srgbClr val="1F2D3A"/>
                </a:solidFill>
              </a:rPr>
              <a:t> as a table: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875536"/>
            <a:ext cx="10911535" cy="65227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x:    0  1  2  3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T[x]: 2  3  1  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375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There's no </a:t>
            </a:r>
            <a:r>
              <a:rPr sz="2000" b="0">
                <a:solidFill>
                  <a:srgbClr val="A1123F"/>
                </a:solidFill>
                <a:latin typeface="Consolas"/>
              </a:rPr>
              <a:t>k</a:t>
            </a:r>
            <a:r>
              <a:rPr sz="2000" b="0">
                <a:solidFill>
                  <a:srgbClr val="1F2D3A"/>
                </a:solidFill>
              </a:rPr>
              <a:t> in the code anymore; only </a:t>
            </a:r>
            <a:r>
              <a:rPr sz="2000" b="0">
                <a:solidFill>
                  <a:srgbClr val="A1123F"/>
                </a:solidFill>
                <a:latin typeface="Consolas"/>
              </a:rPr>
              <a:t>T</a:t>
            </a:r>
            <a:r>
              <a:rPr sz="2000" b="0">
                <a:solidFill>
                  <a:srgbClr val="1F2D3A"/>
                </a:solidFill>
              </a:rPr>
              <a:t>. The key seems to have disappeared.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But the Key Leaks! (Without Encoding)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The attacker compares </a:t>
            </a:r>
            <a:r>
              <a:rPr sz="2000" b="0">
                <a:solidFill>
                  <a:srgbClr val="A1123F"/>
                </a:solidFill>
                <a:latin typeface="Consolas"/>
              </a:rPr>
              <a:t>T</a:t>
            </a:r>
            <a:r>
              <a:rPr sz="2000" b="0">
                <a:solidFill>
                  <a:srgbClr val="1F2D3A"/>
                </a:solidFill>
              </a:rPr>
              <a:t> with the known </a:t>
            </a:r>
            <a:r>
              <a:rPr sz="2000" b="0">
                <a:solidFill>
                  <a:srgbClr val="A1123F"/>
                </a:solidFill>
                <a:latin typeface="Consolas"/>
              </a:rPr>
              <a:t>S-box</a:t>
            </a:r>
            <a:r>
              <a:rPr sz="2000" b="0">
                <a:solidFill>
                  <a:srgbClr val="1F2D3A"/>
                </a:solidFill>
              </a:rPr>
              <a:t>: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875536"/>
            <a:ext cx="10911535" cy="65227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S-box: 3 2 0 1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T:     2 3 1 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375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Knowing that </a:t>
            </a:r>
            <a:r>
              <a:rPr sz="2000" b="0">
                <a:solidFill>
                  <a:srgbClr val="A1123F"/>
                </a:solidFill>
                <a:latin typeface="Consolas"/>
              </a:rPr>
              <a:t>T[x] = S-box[x ^ k]</a:t>
            </a:r>
            <a:r>
              <a:rPr sz="2000" b="0">
                <a:solidFill>
                  <a:srgbClr val="1F2D3A"/>
                </a:solidFill>
              </a:rPr>
              <a:t>, they try which </a:t>
            </a:r>
            <a:r>
              <a:rPr sz="2000" b="0">
                <a:solidFill>
                  <a:srgbClr val="A1123F"/>
                </a:solidFill>
                <a:latin typeface="Consolas"/>
              </a:rPr>
              <a:t>k</a:t>
            </a:r>
            <a:r>
              <a:rPr sz="2000" b="0">
                <a:solidFill>
                  <a:srgbClr val="1F2D3A"/>
                </a:solidFill>
              </a:rPr>
              <a:t> fits: </a:t>
            </a:r>
            <a:r>
              <a:rPr sz="2000" b="0">
                <a:solidFill>
                  <a:srgbClr val="A1123F"/>
                </a:solidFill>
                <a:latin typeface="Consolas"/>
              </a:rPr>
              <a:t>k=1</a:t>
            </a:r>
            <a:r>
              <a:rPr sz="2000" b="0">
                <a:solidFill>
                  <a:srgbClr val="1F2D3A"/>
                </a:solidFill>
              </a:rPr>
              <a:t> fits.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187192"/>
            <a:ext cx="10911535" cy="934719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2000" b="1">
                <a:solidFill>
                  <a:srgbClr val="1F2D3A"/>
                </a:solidFill>
              </a:rPr>
              <a:t>Result:</a:t>
            </a:r>
            <a:r>
              <a:rPr sz="2000" b="0">
                <a:solidFill>
                  <a:srgbClr val="1F2D3A"/>
                </a:solidFill>
              </a:rPr>
              <a:t> an unencoded table gives the key away. This is exactly why internal/external encoding exists.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Folding the Key Into a Table (Animation)</a:t>
            </a:r>
          </a:p>
        </p:txBody>
      </p:sp>
      <p:pic>
        <p:nvPicPr>
          <p:cNvPr id="7" name="Picture 6" descr="toy-table-wbc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7179" y="1325880"/>
            <a:ext cx="8497336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Why a Table Leaks the Key (Animation)</a:t>
            </a:r>
          </a:p>
        </p:txBody>
      </p:sp>
      <p:pic>
        <p:nvPicPr>
          <p:cNvPr id="7" name="Picture 6" descr="table-key-leak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5700" y="1325880"/>
            <a:ext cx="6680295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Table Leak — Edge Case: Zero Key</a:t>
            </a:r>
          </a:p>
        </p:txBody>
      </p:sp>
      <p:pic>
        <p:nvPicPr>
          <p:cNvPr id="7" name="Picture 6" descr="table-key-leak--edge-zero-key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5700" y="1325880"/>
            <a:ext cx="6680295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Step 2 · Grow the Tables (T-box)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49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Instead of a single-byte mapping, combine the S-box with AES's </a:t>
            </a:r>
            <a:r>
              <a:rPr sz="2000" b="1">
                <a:solidFill>
                  <a:srgbClr val="1F2D3A"/>
                </a:solidFill>
              </a:rPr>
              <a:t>mixing</a:t>
            </a:r>
            <a:r>
              <a:rPr sz="2000" b="0">
                <a:solidFill>
                  <a:srgbClr val="1F2D3A"/>
                </a:solidFill>
              </a:rPr>
              <a:t> step (MixColumns)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Result: larger tables (</a:t>
            </a:r>
            <a:r>
              <a:rPr sz="2000" b="1">
                <a:solidFill>
                  <a:srgbClr val="1F2D3A"/>
                </a:solidFill>
              </a:rPr>
              <a:t>T-box</a:t>
            </a:r>
            <a:r>
              <a:rPr sz="2000" b="0">
                <a:solidFill>
                  <a:srgbClr val="1F2D3A"/>
                </a:solidFill>
              </a:rPr>
              <a:t>) that take 8 bits in and give </a:t>
            </a:r>
            <a:r>
              <a:rPr sz="2000" b="1">
                <a:solidFill>
                  <a:srgbClr val="1F2D3A"/>
                </a:solidFill>
              </a:rPr>
              <a:t>32 bits</a:t>
            </a:r>
            <a:r>
              <a:rPr sz="2000" b="0">
                <a:solidFill>
                  <a:srgbClr val="1F2D3A"/>
                </a:solidFill>
              </a:rPr>
              <a:t> out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XORs between bytes also become small </a:t>
            </a:r>
            <a:r>
              <a:rPr sz="2000" b="1">
                <a:solidFill>
                  <a:srgbClr val="1F2D3A"/>
                </a:solidFill>
              </a:rPr>
              <a:t>XOR tables</a:t>
            </a:r>
            <a:r>
              <a:rPr sz="2000" b="0">
                <a:solidFill>
                  <a:srgbClr val="1F2D3A"/>
                </a:solidFill>
              </a:rPr>
              <a:t> (4 bits)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Step 2 · Result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whole round turns into a </a:t>
            </a:r>
            <a:r>
              <a:rPr sz="2000" b="1">
                <a:solidFill>
                  <a:srgbClr val="1F2D3A"/>
                </a:solidFill>
              </a:rPr>
              <a:t>network of lookup tables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No explicit arithmetic key operation is visible anywhere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But the tables can still be examined on their own → encoding is required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Step 3 · Internal Encodings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Apply a secret bijection to each table's </a:t>
            </a:r>
            <a:r>
              <a:rPr sz="2000" b="1">
                <a:solidFill>
                  <a:srgbClr val="1F2D3A"/>
                </a:solidFill>
              </a:rPr>
              <a:t>output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Apply its inverse at the </a:t>
            </a:r>
            <a:r>
              <a:rPr sz="2000" b="1">
                <a:solidFill>
                  <a:srgbClr val="1F2D3A"/>
                </a:solidFill>
              </a:rPr>
              <a:t>input</a:t>
            </a:r>
            <a:r>
              <a:rPr sz="2000" b="0">
                <a:solidFill>
                  <a:srgbClr val="1F2D3A"/>
                </a:solidFill>
              </a:rPr>
              <a:t> of the next table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Consecutive encodings </a:t>
            </a:r>
            <a:r>
              <a:rPr sz="2000" b="1">
                <a:solidFill>
                  <a:srgbClr val="1F2D3A"/>
                </a:solidFill>
              </a:rPr>
              <a:t>cancel out</a:t>
            </a:r>
            <a:r>
              <a:rPr sz="2000" b="0">
                <a:solidFill>
                  <a:srgbClr val="1F2D3A"/>
                </a:solidFill>
              </a:rPr>
              <a:t> → the result is still correct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5480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But </a:t>
            </a:r>
            <a:r>
              <a:rPr sz="2000" b="1">
                <a:solidFill>
                  <a:srgbClr val="1F2D3A"/>
                </a:solidFill>
              </a:rPr>
              <a:t>intermediate values look scrambled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Internal Encoding — Diagram</a:t>
            </a:r>
          </a:p>
        </p:txBody>
      </p:sp>
      <p:pic>
        <p:nvPicPr>
          <p:cNvPr id="7" name="Picture 6" descr="h11-03-ic-kodlam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3722308"/>
          </a:xfrm>
          <a:prstGeom prst="rect">
            <a:avLst/>
          </a:prstGeom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Step 3 · What Does It Prevent?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It aims to stop an attacker examining a table </a:t>
            </a:r>
            <a:r>
              <a:rPr sz="2000" b="1">
                <a:solidFill>
                  <a:srgbClr val="1F2D3A"/>
                </a:solidFill>
              </a:rPr>
              <a:t>on its own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Because that table's input/output has been scrambled by a secret encoding.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The Idea of Encoding (Tiny)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Apply a secret mapping </a:t>
            </a:r>
            <a:r>
              <a:rPr sz="2000" b="0">
                <a:solidFill>
                  <a:srgbClr val="A1123F"/>
                </a:solidFill>
                <a:latin typeface="Consolas"/>
              </a:rPr>
              <a:t>E</a:t>
            </a:r>
            <a:r>
              <a:rPr sz="2000" b="0">
                <a:solidFill>
                  <a:srgbClr val="1F2D3A"/>
                </a:solidFill>
              </a:rPr>
              <a:t> to the output: </a:t>
            </a:r>
            <a:r>
              <a:rPr sz="2000" b="0">
                <a:solidFill>
                  <a:srgbClr val="A1123F"/>
                </a:solidFill>
                <a:latin typeface="Consolas"/>
              </a:rPr>
              <a:t>T'[x] = E(T[x])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875536"/>
            <a:ext cx="10911535" cy="65227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E: 0→1, 1→3, 2→0, 3→2   (gizli bijeksiyon)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T':  E(2) E(3) E(1) E(0) = 0 2 3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375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Now </a:t>
            </a:r>
            <a:r>
              <a:rPr sz="2000" b="0">
                <a:solidFill>
                  <a:srgbClr val="A1123F"/>
                </a:solidFill>
                <a:latin typeface="Consolas"/>
              </a:rPr>
              <a:t>T'</a:t>
            </a:r>
            <a:r>
              <a:rPr sz="2000" b="0">
                <a:solidFill>
                  <a:srgbClr val="1F2D3A"/>
                </a:solidFill>
              </a:rPr>
              <a:t> doesn't resemble </a:t>
            </a:r>
            <a:r>
              <a:rPr sz="2000" b="0">
                <a:solidFill>
                  <a:srgbClr val="A1123F"/>
                </a:solidFill>
                <a:latin typeface="Consolas"/>
              </a:rPr>
              <a:t>S-box</a:t>
            </a:r>
            <a:r>
              <a:rPr sz="2000" b="0">
                <a:solidFill>
                  <a:srgbClr val="1F2D3A"/>
                </a:solidFill>
              </a:rPr>
              <a:t>; a simple comparison doesn't give up </a:t>
            </a:r>
            <a:r>
              <a:rPr sz="2000" b="0">
                <a:solidFill>
                  <a:srgbClr val="A1123F"/>
                </a:solidFill>
                <a:latin typeface="Consolas"/>
              </a:rPr>
              <a:t>k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The Price of Encoding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next step must apply </a:t>
            </a:r>
            <a:r>
              <a:rPr sz="2000" b="0">
                <a:solidFill>
                  <a:srgbClr val="A1123F"/>
                </a:solidFill>
                <a:latin typeface="Consolas"/>
              </a:rPr>
              <a:t>E</a:t>
            </a:r>
            <a:r>
              <a:rPr sz="2000" b="0">
                <a:solidFill>
                  <a:srgbClr val="1F2D3A"/>
                </a:solidFill>
              </a:rPr>
              <a:t>'s </a:t>
            </a:r>
            <a:r>
              <a:rPr sz="2000" b="1">
                <a:solidFill>
                  <a:srgbClr val="1F2D3A"/>
                </a:solidFill>
              </a:rPr>
              <a:t>inverse</a:t>
            </a:r>
            <a:r>
              <a:rPr sz="2000" b="0">
                <a:solidFill>
                  <a:srgbClr val="1F2D3A"/>
                </a:solidFill>
              </a:rPr>
              <a:t> for the result to come out right.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In real AES this is done by </a:t>
            </a:r>
            <a:r>
              <a:rPr sz="2000" b="1">
                <a:solidFill>
                  <a:srgbClr val="1F2D3A"/>
                </a:solidFill>
              </a:rPr>
              <a:t>chaining</a:t>
            </a:r>
            <a:r>
              <a:rPr sz="2000" b="0">
                <a:solidFill>
                  <a:srgbClr val="1F2D3A"/>
                </a:solidFill>
              </a:rPr>
              <a:t> tables (internal encodings).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Every encoding means an extra table and more size → </a:t>
            </a:r>
            <a:r>
              <a:rPr sz="2000" b="1">
                <a:solidFill>
                  <a:srgbClr val="1F2D3A"/>
                </a:solidFill>
              </a:rPr>
              <a:t>cost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5480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Even the tiny example shows the idea: secrecy isn't cheap.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Step 4 · Mixing Bijections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49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On top of the internal encodings, linear </a:t>
            </a:r>
            <a:r>
              <a:rPr sz="2000" b="1">
                <a:solidFill>
                  <a:srgbClr val="1F2D3A"/>
                </a:solidFill>
              </a:rPr>
              <a:t>mixing matrices</a:t>
            </a:r>
            <a:r>
              <a:rPr sz="2000" b="0">
                <a:solidFill>
                  <a:srgbClr val="1F2D3A"/>
                </a:solidFill>
              </a:rPr>
              <a:t> over GF(2) (8×8, 32×32)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These </a:t>
            </a:r>
            <a:r>
              <a:rPr sz="2000" b="1">
                <a:solidFill>
                  <a:srgbClr val="1F2D3A"/>
                </a:solidFill>
              </a:rPr>
              <a:t>spread</a:t>
            </a:r>
            <a:r>
              <a:rPr sz="2000" b="0">
                <a:solidFill>
                  <a:srgbClr val="1F2D3A"/>
                </a:solidFill>
              </a:rPr>
              <a:t> information across tables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Information leaking from a single table alone doesn't mean much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98500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 i="1">
                <a:solidFill>
                  <a:srgbClr val="1F2D3A"/>
                </a:solidFill>
              </a:rPr>
              <a:t>(GF(2) = the math of working with bits and XOR arithmetic; no detail needed.)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Step 4 · Table Types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879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In Chow's design these encoded/mixed tables have </a:t>
            </a:r>
            <a:r>
              <a:rPr sz="2000" b="1">
                <a:solidFill>
                  <a:srgbClr val="1F2D3A"/>
                </a:solidFill>
              </a:rPr>
              <a:t>types</a:t>
            </a:r>
            <a:r>
              <a:rPr sz="2000" b="0">
                <a:solidFill>
                  <a:srgbClr val="1F2D3A"/>
                </a:solidFill>
              </a:rPr>
              <a:t> (types I–IV in the literature).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Each type plays a different role.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For this course, it's enough to know: "the tables aren't all one type, they're varied."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Step 5 · External Encodings F and 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879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On the outermost layer, the whole cipher is wrapped with two secret bijections: </a:t>
            </a:r>
            <a:r>
              <a:rPr sz="2000" b="1">
                <a:solidFill>
                  <a:srgbClr val="1F2D3A"/>
                </a:solidFill>
              </a:rPr>
              <a:t>F</a:t>
            </a:r>
            <a:r>
              <a:rPr sz="2000" b="0">
                <a:solidFill>
                  <a:srgbClr val="1F2D3A"/>
                </a:solidFill>
              </a:rPr>
              <a:t> and </a:t>
            </a:r>
            <a:r>
              <a:rPr sz="2000" b="1">
                <a:solidFill>
                  <a:srgbClr val="1F2D3A"/>
                </a:solidFill>
              </a:rPr>
              <a:t>G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Source guide: "the whitebox AES operation is encapsulated with two randomly chosen non-singular matrices called F and G"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So the network is no longer plain AES:</a:t>
            </a:r>
          </a:p>
        </p:txBody>
      </p:sp>
      <p:pic>
        <p:nvPicPr>
          <p:cNvPr id="8" name="Picture 7" descr="h11-04-dis-kodlam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315208"/>
            <a:ext cx="10911535" cy="2157754"/>
          </a:xfrm>
          <a:prstGeom prst="rect">
            <a:avLst/>
          </a:prstGeom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Step 5 · Why Is External Encoding Strong?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173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What the attacker sees at input/output is </a:t>
            </a:r>
            <a:r>
              <a:rPr sz="2000" b="1">
                <a:solidFill>
                  <a:srgbClr val="1F2D3A"/>
                </a:solidFill>
              </a:rPr>
              <a:t>not standard AES's input/output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It makes many attacks (statistical/algebraic) that look only at the tables much harder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Step 5 · But This Is Also the Biggest Limit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A1123F"/>
                </a:solidFill>
                <a:latin typeface="Consolas"/>
              </a:rPr>
              <a:t>G ∘ AES ∘ F⁻¹</a:t>
            </a:r>
            <a:r>
              <a:rPr sz="2000" b="0">
                <a:solidFill>
                  <a:srgbClr val="1F2D3A"/>
                </a:solidFill>
              </a:rPr>
              <a:t> </a:t>
            </a:r>
            <a:r>
              <a:rPr sz="2000" b="1">
                <a:solidFill>
                  <a:srgbClr val="1F2D3A"/>
                </a:solidFill>
              </a:rPr>
              <a:t>is not standard AES.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1879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other side (server/other endpoint) gets a </a:t>
            </a:r>
            <a:r>
              <a:rPr sz="2000" b="1">
                <a:solidFill>
                  <a:srgbClr val="1F2D3A"/>
                </a:solidFill>
              </a:rPr>
              <a:t>meaningless</a:t>
            </a:r>
            <a:r>
              <a:rPr sz="2000" b="0">
                <a:solidFill>
                  <a:srgbClr val="1F2D3A"/>
                </a:solidFill>
              </a:rPr>
              <a:t> result unless it knows and undoes </a:t>
            </a:r>
            <a:r>
              <a:rPr sz="2000" b="0">
                <a:solidFill>
                  <a:srgbClr val="A1123F"/>
                </a:solidFill>
                <a:latin typeface="Consolas"/>
              </a:rPr>
              <a:t>F</a:t>
            </a:r>
            <a:r>
              <a:rPr sz="2000" b="0">
                <a:solidFill>
                  <a:srgbClr val="1F2D3A"/>
                </a:solidFill>
              </a:rPr>
              <a:t> and </a:t>
            </a:r>
            <a:r>
              <a:rPr sz="2000" b="0">
                <a:solidFill>
                  <a:srgbClr val="A1123F"/>
                </a:solidFill>
                <a:latin typeface="Consolas"/>
              </a:rPr>
              <a:t>G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So externally-encoded WBC is only usable in a protocol where </a:t>
            </a:r>
            <a:r>
              <a:rPr sz="2000" b="1">
                <a:solidFill>
                  <a:srgbClr val="1F2D3A"/>
                </a:solidFill>
              </a:rPr>
              <a:t>you control both ends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It may not be usable in a protocol like EMV that </a:t>
            </a:r>
            <a:r>
              <a:rPr sz="2000" b="1">
                <a:solidFill>
                  <a:srgbClr val="1F2D3A"/>
                </a:solidFill>
              </a:rPr>
              <a:t>expects standard AES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Five Steps · 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971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0">
                <a:solidFill>
                  <a:srgbClr val="1F2D3A"/>
                </a:solidFill>
              </a:rPr>
              <a:t>Bake the key into a table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0">
                <a:solidFill>
                  <a:srgbClr val="1F2D3A"/>
                </a:solidFill>
              </a:rPr>
              <a:t>Grow the tables (T-box + XOR tables)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0">
                <a:solidFill>
                  <a:srgbClr val="1F2D3A"/>
                </a:solidFill>
              </a:rPr>
              <a:t>Internal encodings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4. </a:t>
            </a:r>
            <a:r>
              <a:rPr sz="2000" b="0">
                <a:solidFill>
                  <a:srgbClr val="1F2D3A"/>
                </a:solidFill>
              </a:rPr>
              <a:t>Mixing bijections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5. </a:t>
            </a:r>
            <a:r>
              <a:rPr sz="2000" b="0">
                <a:solidFill>
                  <a:srgbClr val="1F2D3A"/>
                </a:solidFill>
              </a:rPr>
              <a:t>External encodings (F, G)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40664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Result: no explicit key; everything lives in encoded tables.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The Lesson From the Tiny Example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0">
                <a:solidFill>
                  <a:srgbClr val="1F2D3A"/>
                </a:solidFill>
              </a:rPr>
              <a:t>Baking the key into a table doesn't make it </a:t>
            </a:r>
            <a:r>
              <a:rPr sz="2000" b="1">
                <a:solidFill>
                  <a:srgbClr val="1F2D3A"/>
                </a:solidFill>
              </a:rPr>
              <a:t>invisible</a:t>
            </a:r>
            <a:r>
              <a:rPr sz="2000" b="0">
                <a:solidFill>
                  <a:srgbClr val="1F2D3A"/>
                </a:solidFill>
              </a:rPr>
              <a:t> (encoding is required)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0">
                <a:solidFill>
                  <a:srgbClr val="1F2D3A"/>
                </a:solidFill>
              </a:rPr>
              <a:t>Encoding solves the problem but adds </a:t>
            </a:r>
            <a:r>
              <a:rPr sz="2000" b="1">
                <a:solidFill>
                  <a:srgbClr val="1F2D3A"/>
                </a:solidFill>
              </a:rPr>
              <a:t>size/complexity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0">
                <a:solidFill>
                  <a:srgbClr val="1F2D3A"/>
                </a:solidFill>
              </a:rPr>
              <a:t>In reality the tables run to hundreds of KB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5480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This is the </a:t>
            </a:r>
            <a:r>
              <a:rPr sz="2000" b="1">
                <a:solidFill>
                  <a:srgbClr val="1F2D3A"/>
                </a:solidFill>
              </a:rPr>
              <a:t>intuition</a:t>
            </a:r>
            <a:r>
              <a:rPr sz="2000" b="0">
                <a:solidFill>
                  <a:srgbClr val="1F2D3A"/>
                </a:solidFill>
              </a:rPr>
              <a:t> behind the five steps in Section 2.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Secure Programming · Week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2026-2027 Fall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83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The Cost of WBC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WBC Isn't Free (1)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The price of baking the key into tables: </a:t>
            </a:r>
            <a:r>
              <a:rPr sz="2000" b="1">
                <a:solidFill>
                  <a:srgbClr val="1F2D3A"/>
                </a:solidFill>
              </a:rPr>
              <a:t>huge tables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875536"/>
          <a:ext cx="9274803" cy="11795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6024"/>
                <a:gridCol w="6728779"/>
              </a:tblGrid>
              <a:tr h="393192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Metric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Approximate (order of magnitude)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Table size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Hundreds of KB (~770 KB)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Comparison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Standard AES key: 16–32 </a:t>
                      </a:r>
                      <a:r>
                        <a:rPr sz="1439" b="1">
                          <a:solidFill>
                            <a:srgbClr val="1F2D3A"/>
                          </a:solidFill>
                        </a:rPr>
                        <a:t>bytes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WBC Isn't Free (2)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11795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03303"/>
                <a:gridCol w="6308231"/>
              </a:tblGrid>
              <a:tr h="393192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Metric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Approximate (order of magnitude)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Table lookups per round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Thousands (~3,000)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Speed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~50× </a:t>
                      </a:r>
                      <a:r>
                        <a:rPr sz="1439" b="1">
                          <a:solidFill>
                            <a:srgbClr val="1F2D3A"/>
                          </a:solidFill>
                        </a:rPr>
                        <a:t>slower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 than standard AES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 Sense of Scale: a Table-Size Calculation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Example: 288 tables × 1 KB ≈ </a:t>
            </a:r>
            <a:r>
              <a:rPr sz="2000" b="1">
                <a:solidFill>
                  <a:srgbClr val="1F2D3A"/>
                </a:solidFill>
              </a:rPr>
              <a:t>294,912 bytes</a:t>
            </a:r>
            <a:r>
              <a:rPr sz="2000" b="0">
                <a:solidFill>
                  <a:srgbClr val="1F2D3A"/>
                </a:solidFill>
              </a:rPr>
              <a:t> (~288 KB).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point isn't the exact number, it's the </a:t>
            </a:r>
            <a:r>
              <a:rPr sz="2000" b="1">
                <a:solidFill>
                  <a:srgbClr val="1F2D3A"/>
                </a:solidFill>
              </a:rPr>
              <a:t>order of magnitude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This is why WBC is applied only to </a:t>
            </a:r>
            <a:r>
              <a:rPr sz="2000" b="1">
                <a:solidFill>
                  <a:srgbClr val="1F2D3A"/>
                </a:solidFill>
              </a:rPr>
              <a:t>selected, critical</a:t>
            </a:r>
            <a:r>
              <a:rPr sz="2000" b="0">
                <a:solidFill>
                  <a:srgbClr val="1F2D3A"/>
                </a:solidFill>
              </a:rPr>
              <a:t> operations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same logic as Week 9's virtualization (K-10)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Section 3 — Quick Check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0">
                <a:solidFill>
                  <a:srgbClr val="1F2D3A"/>
                </a:solidFill>
              </a:rPr>
              <a:t>Why is </a:t>
            </a:r>
            <a:r>
              <a:rPr sz="2000" b="0">
                <a:solidFill>
                  <a:srgbClr val="A1123F"/>
                </a:solidFill>
                <a:latin typeface="Consolas"/>
              </a:rPr>
              <a:t>T[x] = S-box[x ^ k]</a:t>
            </a:r>
            <a:r>
              <a:rPr sz="2000" b="0">
                <a:solidFill>
                  <a:srgbClr val="1F2D3A"/>
                </a:solidFill>
              </a:rPr>
              <a:t> insecure on its own?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0">
                <a:solidFill>
                  <a:srgbClr val="1F2D3A"/>
                </a:solidFill>
              </a:rPr>
              <a:t>The difference between internal and external encoding?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0">
                <a:solidFill>
                  <a:srgbClr val="1F2D3A"/>
                </a:solidFill>
              </a:rPr>
              <a:t>What's the biggest limit of external encoding (F, G)?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4. </a:t>
            </a:r>
            <a:r>
              <a:rPr sz="2000" b="0">
                <a:solidFill>
                  <a:srgbClr val="1F2D3A"/>
                </a:solidFill>
              </a:rPr>
              <a:t>Why is WBC applied only to selected operations?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Section 3 — Answers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23545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1. </a:t>
            </a:r>
            <a:r>
              <a:rPr sz="1800" b="0">
                <a:solidFill>
                  <a:srgbClr val="A1123F"/>
                </a:solidFill>
                <a:latin typeface="Consolas"/>
              </a:rPr>
              <a:t>T</a:t>
            </a:r>
            <a:r>
              <a:rPr sz="1800" b="0">
                <a:solidFill>
                  <a:srgbClr val="1F2D3A"/>
                </a:solidFill>
              </a:rPr>
              <a:t> is the known S-box shifted by </a:t>
            </a:r>
            <a:r>
              <a:rPr sz="1800" b="0">
                <a:solidFill>
                  <a:srgbClr val="A1123F"/>
                </a:solidFill>
                <a:latin typeface="Consolas"/>
              </a:rPr>
              <a:t>x^k</a:t>
            </a:r>
            <a:r>
              <a:rPr sz="1800" b="0">
                <a:solidFill>
                  <a:srgbClr val="1F2D3A"/>
                </a:solidFill>
              </a:rPr>
              <a:t>; comparing the two tables </a:t>
            </a:r>
            <a:r>
              <a:rPr sz="1800" b="1">
                <a:solidFill>
                  <a:srgbClr val="1F2D3A"/>
                </a:solidFill>
              </a:rPr>
              <a:t>recovers k</a:t>
            </a:r>
            <a:r>
              <a:rPr sz="18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2. </a:t>
            </a:r>
            <a:r>
              <a:rPr sz="1800" b="1">
                <a:solidFill>
                  <a:srgbClr val="1F2D3A"/>
                </a:solidFill>
              </a:rPr>
              <a:t>Internal:</a:t>
            </a:r>
            <a:r>
              <a:rPr sz="1800" b="0">
                <a:solidFill>
                  <a:srgbClr val="1F2D3A"/>
                </a:solidFill>
              </a:rPr>
              <a:t> scrambles the intermediate values between tables · </a:t>
            </a:r>
            <a:r>
              <a:rPr sz="1800" b="1">
                <a:solidFill>
                  <a:srgbClr val="1F2D3A"/>
                </a:solidFill>
              </a:rPr>
              <a:t>External (F,G):</a:t>
            </a:r>
            <a:r>
              <a:rPr sz="1800" b="0">
                <a:solidFill>
                  <a:srgbClr val="1F2D3A"/>
                </a:solidFill>
              </a:rPr>
              <a:t> wraps the whole cipher (</a:t>
            </a:r>
            <a:r>
              <a:rPr sz="1800" b="0">
                <a:solidFill>
                  <a:srgbClr val="A1123F"/>
                </a:solidFill>
                <a:latin typeface="Consolas"/>
              </a:rPr>
              <a:t>G∘AES∘F⁻¹</a:t>
            </a:r>
            <a:r>
              <a:rPr sz="1800" b="0">
                <a:solidFill>
                  <a:srgbClr val="1F2D3A"/>
                </a:solidFill>
              </a:rPr>
              <a:t>).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3. </a:t>
            </a:r>
            <a:r>
              <a:rPr sz="1800" b="0">
                <a:solidFill>
                  <a:srgbClr val="1F2D3A"/>
                </a:solidFill>
              </a:rPr>
              <a:t>It's no longer </a:t>
            </a:r>
            <a:r>
              <a:rPr sz="1800" b="1">
                <a:solidFill>
                  <a:srgbClr val="1F2D3A"/>
                </a:solidFill>
              </a:rPr>
              <a:t>standard AES</a:t>
            </a:r>
            <a:r>
              <a:rPr sz="1800" b="0">
                <a:solidFill>
                  <a:srgbClr val="1F2D3A"/>
                </a:solidFill>
              </a:rPr>
              <a:t>; the other side has to know F/G — it may not be usable in standards like EMV.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4. </a:t>
            </a:r>
            <a:r>
              <a:rPr sz="1800" b="0">
                <a:solidFill>
                  <a:srgbClr val="1F2D3A"/>
                </a:solidFill>
              </a:rPr>
              <a:t>Tables run to hundreds of KB + ~50× slower; the cost limits it to </a:t>
            </a:r>
            <a:r>
              <a:rPr sz="1800" b="1">
                <a:solidFill>
                  <a:srgbClr val="1F2D3A"/>
                </a:solidFill>
              </a:rPr>
              <a:t>small/critical</a:t>
            </a:r>
            <a:r>
              <a:rPr sz="1800" b="0">
                <a:solidFill>
                  <a:srgbClr val="1F2D3A"/>
                </a:solidFill>
              </a:rPr>
              <a:t> operations only.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Secure Programming · Week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2026-2027 Fall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89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4. Attack History and Countermeasures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WBC's Breaking History — Diagram</a:t>
            </a:r>
          </a:p>
        </p:txBody>
      </p:sp>
      <p:pic>
        <p:nvPicPr>
          <p:cNvPr id="7" name="Picture 6" descr="h11-08-tarih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4213434"/>
          </a:xfrm>
          <a:prstGeom prst="rect">
            <a:avLst/>
          </a:prstGeom>
        </p:spPr>
      </p:pic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Why Do We Look at History?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How much you should trust a protection is told by its </a:t>
            </a:r>
            <a:r>
              <a:rPr sz="2000" b="1">
                <a:solidFill>
                  <a:srgbClr val="1F2D3A"/>
                </a:solidFill>
              </a:rPr>
              <a:t>history of being broken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Every row is an </a:t>
            </a:r>
            <a:r>
              <a:rPr sz="2000" b="1">
                <a:solidFill>
                  <a:srgbClr val="1F2D3A"/>
                </a:solidFill>
              </a:rPr>
              <a:t>inference</a:t>
            </a:r>
            <a:r>
              <a:rPr sz="2000" b="0">
                <a:solidFill>
                  <a:srgbClr val="1F2D3A"/>
                </a:solidFill>
              </a:rPr>
              <a:t> for the defender.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2002 · Birth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Chow and colleagues publish the WB-AES and WB-DES designs.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table-based approach is born.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7888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Inference:</a:t>
            </a:r>
            <a:r>
              <a:rPr sz="2000" b="0">
                <a:solidFill>
                  <a:srgbClr val="1F2D3A"/>
                </a:solidFill>
              </a:rPr>
              <a:t> the idea is promising; but untested.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2004 · The BGE Attack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173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BGE</a:t>
            </a:r>
            <a:r>
              <a:rPr sz="2000" b="0">
                <a:solidFill>
                  <a:srgbClr val="1F2D3A"/>
                </a:solidFill>
              </a:rPr>
              <a:t> (Billet–Gilbert–Ech-Chatbi): breaks Chow AES in practical time (~2³⁰ operations).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Solves the internal encodings.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0908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Inference:</a:t>
            </a:r>
            <a:r>
              <a:rPr sz="2000" b="0">
                <a:solidFill>
                  <a:srgbClr val="1F2D3A"/>
                </a:solidFill>
              </a:rPr>
              <a:t> internal encodings alone are </a:t>
            </a:r>
            <a:r>
              <a:rPr sz="2000" b="1">
                <a:solidFill>
                  <a:srgbClr val="1F2D3A"/>
                </a:solidFill>
              </a:rPr>
              <a:t>not enough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2007 · WB-DES Falls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6735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Goubin, Wyseur, and others break WB-DES and its externally-encoded variants.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0296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Inference:</a:t>
            </a:r>
            <a:r>
              <a:rPr sz="2000" b="0">
                <a:solidFill>
                  <a:srgbClr val="1F2D3A"/>
                </a:solidFill>
              </a:rPr>
              <a:t> DES-based WBC is abandoned.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2010s · The "More Tables" Attempt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6735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Karroumi's "dual AES" hardening is also broken (~2²²).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0296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Inference:</a:t>
            </a:r>
            <a:r>
              <a:rPr sz="2000" b="0">
                <a:solidFill>
                  <a:srgbClr val="1F2D3A"/>
                </a:solidFill>
              </a:rPr>
              <a:t> more tables </a:t>
            </a:r>
            <a:r>
              <a:rPr sz="2000" b="1">
                <a:solidFill>
                  <a:srgbClr val="1F2D3A"/>
                </a:solidFill>
              </a:rPr>
              <a:t>is not</a:t>
            </a:r>
            <a:r>
              <a:rPr sz="2000" b="0">
                <a:solidFill>
                  <a:srgbClr val="1F2D3A"/>
                </a:solidFill>
              </a:rPr>
              <a:t> more strength.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2015 · DFA (Fault Injection)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173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DFA (Differential Fault Analysis):</a:t>
            </a:r>
            <a:r>
              <a:rPr sz="2000" b="0">
                <a:solidFill>
                  <a:srgbClr val="1F2D3A"/>
                </a:solidFill>
              </a:rPr>
              <a:t> injects a fault into a value while running and computes the key back from the corrupted output.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"Unboxing the White-Box" (Black Hat EU).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0908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Inference:</a:t>
            </a:r>
            <a:r>
              <a:rPr sz="2000" b="0">
                <a:solidFill>
                  <a:srgbClr val="1F2D3A"/>
                </a:solidFill>
              </a:rPr>
              <a:t> it can be broken </a:t>
            </a:r>
            <a:r>
              <a:rPr sz="2000" b="1">
                <a:solidFill>
                  <a:srgbClr val="1F2D3A"/>
                </a:solidFill>
              </a:rPr>
              <a:t>without knowing</a:t>
            </a:r>
            <a:r>
              <a:rPr sz="2000" b="0">
                <a:solidFill>
                  <a:srgbClr val="1F2D3A"/>
                </a:solidFill>
              </a:rPr>
              <a:t> the design's internal math.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2016 · DCA (the Most Important One)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173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DCA (Differential Computation Analysis):</a:t>
            </a:r>
            <a:r>
              <a:rPr sz="2000" b="0">
                <a:solidFill>
                  <a:srgbClr val="1F2D3A"/>
                </a:solidFill>
              </a:rPr>
              <a:t> collects a </a:t>
            </a:r>
            <a:r>
              <a:rPr sz="2000" b="1">
                <a:solidFill>
                  <a:srgbClr val="1F2D3A"/>
                </a:solidFill>
              </a:rPr>
              <a:t>trace</a:t>
            </a:r>
            <a:r>
              <a:rPr sz="2000" b="0">
                <a:solidFill>
                  <a:srgbClr val="1F2D3A"/>
                </a:solidFill>
              </a:rPr>
              <a:t> of the intermediate values produced while running, and extracts the key with DPA-like statistics.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It </a:t>
            </a:r>
            <a:r>
              <a:rPr sz="2000" b="1">
                <a:solidFill>
                  <a:srgbClr val="1F2D3A"/>
                </a:solidFill>
              </a:rPr>
              <a:t>ignores</a:t>
            </a:r>
            <a:r>
              <a:rPr sz="2000" b="0">
                <a:solidFill>
                  <a:srgbClr val="1F2D3A"/>
                </a:solidFill>
              </a:rPr>
              <a:t> internal encodings most of the time.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0908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Inference:</a:t>
            </a:r>
            <a:r>
              <a:rPr sz="2000" b="0">
                <a:solidFill>
                  <a:srgbClr val="1F2D3A"/>
                </a:solidFill>
              </a:rPr>
              <a:t> classic side-channel defences are also needed for WBC.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The DCA Attack — Diagram</a:t>
            </a:r>
          </a:p>
        </p:txBody>
      </p:sp>
      <p:pic>
        <p:nvPicPr>
          <p:cNvPr id="7" name="Picture 6" descr="h11-05-dc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2482769"/>
          </a:xfrm>
          <a:prstGeom prst="rect">
            <a:avLst/>
          </a:prstGeom>
        </p:spPr>
      </p:pic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Intuition: What Is It Tracking?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While WBC runs, it reads </a:t>
            </a:r>
            <a:r>
              <a:rPr sz="2000" b="1">
                <a:solidFill>
                  <a:srgbClr val="1F2D3A"/>
                </a:solidFill>
              </a:rPr>
              <a:t>intermediate values</a:t>
            </a:r>
            <a:r>
              <a:rPr sz="2000" b="0">
                <a:solidFill>
                  <a:srgbClr val="1F2D3A"/>
                </a:solidFill>
              </a:rPr>
              <a:t> from the tables.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These intermediate values change </a:t>
            </a:r>
            <a:r>
              <a:rPr sz="2000" b="1">
                <a:solidFill>
                  <a:srgbClr val="1F2D3A"/>
                </a:solidFill>
              </a:rPr>
              <a:t>depending on</a:t>
            </a:r>
            <a:r>
              <a:rPr sz="2000" b="0">
                <a:solidFill>
                  <a:srgbClr val="1F2D3A"/>
                </a:solidFill>
              </a:rPr>
              <a:t> the secret key.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DCA collects a trace of these values.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How Does Statistics Give Up the Key?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attacker makes a </a:t>
            </a:r>
            <a:r>
              <a:rPr sz="2000" b="1">
                <a:solidFill>
                  <a:srgbClr val="1F2D3A"/>
                </a:solidFill>
              </a:rPr>
              <a:t>guess</a:t>
            </a:r>
            <a:r>
              <a:rPr sz="2000" b="0">
                <a:solidFill>
                  <a:srgbClr val="1F2D3A"/>
                </a:solidFill>
              </a:rPr>
              <a:t> for one key byte.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From the guess, they compute how the intermediate value </a:t>
            </a:r>
            <a:r>
              <a:rPr sz="2000" b="1">
                <a:solidFill>
                  <a:srgbClr val="1F2D3A"/>
                </a:solidFill>
              </a:rPr>
              <a:t>should</a:t>
            </a:r>
            <a:r>
              <a:rPr sz="2000" b="0">
                <a:solidFill>
                  <a:srgbClr val="1F2D3A"/>
                </a:solidFill>
              </a:rPr>
              <a:t> behave.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Among the collected traces, the guess that </a:t>
            </a:r>
            <a:r>
              <a:rPr sz="2000" b="1">
                <a:solidFill>
                  <a:srgbClr val="1F2D3A"/>
                </a:solidFill>
              </a:rPr>
              <a:t>fits best</a:t>
            </a:r>
            <a:r>
              <a:rPr sz="2000" b="0">
                <a:solidFill>
                  <a:srgbClr val="1F2D3A"/>
                </a:solidFill>
              </a:rPr>
              <a:t> is the correct byte.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5480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This is the </a:t>
            </a:r>
            <a:r>
              <a:rPr sz="2000" b="1">
                <a:solidFill>
                  <a:srgbClr val="1F2D3A"/>
                </a:solidFill>
              </a:rPr>
              <a:t>software</a:t>
            </a:r>
            <a:r>
              <a:rPr sz="2000" b="0">
                <a:solidFill>
                  <a:srgbClr val="1F2D3A"/>
                </a:solidFill>
              </a:rPr>
              <a:t> form of DPA (power analysis).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Why Doesn't Internal Encoding Stop DCA?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49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Internal encoding </a:t>
            </a:r>
            <a:r>
              <a:rPr sz="2000" b="1">
                <a:solidFill>
                  <a:srgbClr val="1F2D3A"/>
                </a:solidFill>
              </a:rPr>
              <a:t>scrambles</a:t>
            </a:r>
            <a:r>
              <a:rPr sz="2000" b="0">
                <a:solidFill>
                  <a:srgbClr val="1F2D3A"/>
                </a:solidFill>
              </a:rPr>
              <a:t> the intermediate value but is a </a:t>
            </a:r>
            <a:r>
              <a:rPr sz="2000" b="1">
                <a:solidFill>
                  <a:srgbClr val="1F2D3A"/>
                </a:solidFill>
              </a:rPr>
              <a:t>one-to-one</a:t>
            </a:r>
            <a:r>
              <a:rPr sz="2000" b="0">
                <a:solidFill>
                  <a:srgbClr val="1F2D3A"/>
                </a:solidFill>
              </a:rPr>
              <a:t> mapping (bijection)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Statistical correlation often </a:t>
            </a:r>
            <a:r>
              <a:rPr sz="2000" b="1">
                <a:solidFill>
                  <a:srgbClr val="1F2D3A"/>
                </a:solidFill>
              </a:rPr>
              <a:t>survives</a:t>
            </a:r>
            <a:r>
              <a:rPr sz="2000" b="0">
                <a:solidFill>
                  <a:srgbClr val="1F2D3A"/>
                </a:solidFill>
              </a:rPr>
              <a:t> it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This is why WBC designs remained vulnerable to DCA after 2016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2017–2024 · WhibOx Competitions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Academia and industry submit their designs to a competition.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Every</a:t>
            </a:r>
            <a:r>
              <a:rPr sz="2000" b="0">
                <a:solidFill>
                  <a:srgbClr val="1F2D3A"/>
                </a:solidFill>
              </a:rPr>
              <a:t> submitted design gets </a:t>
            </a:r>
            <a:r>
              <a:rPr sz="2000" b="1">
                <a:solidFill>
                  <a:srgbClr val="1F2D3A"/>
                </a:solidFill>
              </a:rPr>
              <a:t>broken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7888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Inference (today):</a:t>
            </a:r>
            <a:r>
              <a:rPr sz="2000" b="0">
                <a:solidFill>
                  <a:srgbClr val="1F2D3A"/>
                </a:solidFill>
              </a:rPr>
              <a:t> there is </a:t>
            </a:r>
            <a:r>
              <a:rPr sz="2000" b="1">
                <a:solidFill>
                  <a:srgbClr val="1F2D3A"/>
                </a:solidFill>
              </a:rPr>
              <a:t>no</a:t>
            </a:r>
            <a:r>
              <a:rPr sz="2000" b="0">
                <a:solidFill>
                  <a:srgbClr val="1F2D3A"/>
                </a:solidFill>
              </a:rPr>
              <a:t> published pure-software WBC left standing.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Chronology · Summary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3" cy="27267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5420"/>
                <a:gridCol w="3239361"/>
                <a:gridCol w="5796752"/>
              </a:tblGrid>
              <a:tr h="340842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Year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Event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Inference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40842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2002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Chow WB-AES/DES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Birth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0842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2004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BGE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Internal encoding isn't enough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0842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2007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WB-DES broken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DES abandoned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0842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2010s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Karroumi broken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More tables ≠ strength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0842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2015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DFA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Without knowing the math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0842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2016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DCA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Side-channel defence needed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0846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2017–24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WhibOx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All broken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Why Do DCA and DFA Also Hit New Designs?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Because neither one </a:t>
            </a:r>
            <a:r>
              <a:rPr sz="2000" b="1">
                <a:solidFill>
                  <a:srgbClr val="1F2D3A"/>
                </a:solidFill>
              </a:rPr>
              <a:t>tries to solve</a:t>
            </a:r>
            <a:r>
              <a:rPr sz="2000" b="0">
                <a:solidFill>
                  <a:srgbClr val="1F2D3A"/>
                </a:solidFill>
              </a:rPr>
              <a:t> the design's secret math: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1173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DCA:</a:t>
            </a:r>
            <a:r>
              <a:rPr sz="2000" b="0">
                <a:solidFill>
                  <a:srgbClr val="1F2D3A"/>
                </a:solidFill>
              </a:rPr>
              <a:t> doesn't open the box; collects a </a:t>
            </a:r>
            <a:r>
              <a:rPr sz="2000" b="1">
                <a:solidFill>
                  <a:srgbClr val="1F2D3A"/>
                </a:solidFill>
              </a:rPr>
              <a:t>trace</a:t>
            </a:r>
            <a:r>
              <a:rPr sz="2000" b="0">
                <a:solidFill>
                  <a:srgbClr val="1F2D3A"/>
                </a:solidFill>
              </a:rPr>
              <a:t> while running, finds the key with statistics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DFA:</a:t>
            </a:r>
            <a:r>
              <a:rPr sz="2000" b="0">
                <a:solidFill>
                  <a:srgbClr val="1F2D3A"/>
                </a:solidFill>
              </a:rPr>
              <a:t> </a:t>
            </a:r>
            <a:r>
              <a:rPr sz="2000" b="1">
                <a:solidFill>
                  <a:srgbClr val="1F2D3A"/>
                </a:solidFill>
              </a:rPr>
              <a:t>injects a fault</a:t>
            </a:r>
            <a:r>
              <a:rPr sz="2000" b="0">
                <a:solidFill>
                  <a:srgbClr val="1F2D3A"/>
                </a:solidFill>
              </a:rPr>
              <a:t> while running, computes it from the corrupted output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158744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Because they're general and </a:t>
            </a:r>
            <a:r>
              <a:rPr sz="2000" b="1">
                <a:solidFill>
                  <a:srgbClr val="1F2D3A"/>
                </a:solidFill>
              </a:rPr>
              <a:t>portable</a:t>
            </a:r>
            <a:r>
              <a:rPr sz="2000" b="0">
                <a:solidFill>
                  <a:srgbClr val="1F2D3A"/>
                </a:solidFill>
              </a:rPr>
              <a:t>, they threaten every design.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 Differential/Fault Comparison at Toy Scale (Animation)</a:t>
            </a:r>
          </a:p>
        </p:txBody>
      </p:sp>
      <p:pic>
        <p:nvPicPr>
          <p:cNvPr id="7" name="Picture 6" descr="dca-differential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8946" y="1325880"/>
            <a:ext cx="7453803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Differential Comparison — Edge Case: Zero Fault Mask</a:t>
            </a:r>
          </a:p>
        </p:txBody>
      </p:sp>
      <p:pic>
        <p:nvPicPr>
          <p:cNvPr id="7" name="Picture 6" descr="dca-differential--edge-zero-fault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8946" y="1325880"/>
            <a:ext cx="7453803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So What Do We Do? (Countermeasures)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Research hasn't stopped; but no countermeasure says "now it's secure."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They all </a:t>
            </a:r>
            <a:r>
              <a:rPr sz="2000" b="1">
                <a:solidFill>
                  <a:srgbClr val="1F2D3A"/>
                </a:solidFill>
              </a:rPr>
              <a:t>raise the cost</a:t>
            </a:r>
            <a:r>
              <a:rPr sz="2000" b="0">
                <a:solidFill>
                  <a:srgbClr val="1F2D3A"/>
                </a:solidFill>
              </a:rPr>
              <a:t> and are used </a:t>
            </a:r>
            <a:r>
              <a:rPr sz="2000" b="1">
                <a:solidFill>
                  <a:srgbClr val="1F2D3A"/>
                </a:solidFill>
              </a:rPr>
              <a:t>together</a:t>
            </a:r>
            <a:r>
              <a:rPr sz="2000" b="0">
                <a:solidFill>
                  <a:srgbClr val="1F2D3A"/>
                </a:solidFill>
              </a:rPr>
              <a:t>. In order: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Countermeasure 1 · Non-Linear Masking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173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Tries to break the </a:t>
            </a:r>
            <a:r>
              <a:rPr sz="2000" b="1">
                <a:solidFill>
                  <a:srgbClr val="1F2D3A"/>
                </a:solidFill>
              </a:rPr>
              <a:t>linear correlation</a:t>
            </a:r>
            <a:r>
              <a:rPr sz="2000" b="0">
                <a:solidFill>
                  <a:srgbClr val="1F2D3A"/>
                </a:solidFill>
              </a:rPr>
              <a:t> DCA relies on (e.g. Biryukov–Udovenko 2018).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Makes the statistical attack harder.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Countermeasure 2 · External Encoding (F, 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Makes DCA/DFA/BGE harder.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But</a:t>
            </a:r>
            <a:r>
              <a:rPr sz="2000" b="0">
                <a:solidFill>
                  <a:srgbClr val="1F2D3A"/>
                </a:solidFill>
              </a:rPr>
              <a:t> we already saw the limit: it breaks standard-AES compatibility.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Countermeasure 3 · Layered Defence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Week 9's </a:t>
            </a:r>
            <a:r>
              <a:rPr sz="2000" b="1">
                <a:solidFill>
                  <a:srgbClr val="1F2D3A"/>
                </a:solidFill>
              </a:rPr>
              <a:t>obfuscation</a:t>
            </a:r>
            <a:r>
              <a:rPr sz="2000" b="0">
                <a:solidFill>
                  <a:srgbClr val="1F2D3A"/>
                </a:solidFill>
              </a:rPr>
              <a:t> rules around WBC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Week 6's </a:t>
            </a:r>
            <a:r>
              <a:rPr sz="2000" b="1">
                <a:solidFill>
                  <a:srgbClr val="1F2D3A"/>
                </a:solidFill>
              </a:rPr>
              <a:t>RASP</a:t>
            </a:r>
            <a:r>
              <a:rPr sz="2000" b="0">
                <a:solidFill>
                  <a:srgbClr val="1F2D3A"/>
                </a:solidFill>
              </a:rPr>
              <a:t> (anti-debug, tamper/integrity checking)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Goal: make DCA's trace collection and DFA's fault injection </a:t>
            </a:r>
            <a:r>
              <a:rPr sz="2000" b="1">
                <a:solidFill>
                  <a:srgbClr val="1F2D3A"/>
                </a:solidFill>
              </a:rPr>
              <a:t>harder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Layered WBC — Diagram</a:t>
            </a:r>
          </a:p>
        </p:txBody>
      </p:sp>
      <p:pic>
        <p:nvPicPr>
          <p:cNvPr id="7" name="Picture 6" descr="h11-09-katmanli-wb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2451141"/>
          </a:xfrm>
          <a:prstGeom prst="rect">
            <a:avLst/>
          </a:prstGeom>
        </p:spPr>
      </p:pic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Countermeasure 4 · Key Rotation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If the key rotates often, extracting one key </a:t>
            </a:r>
            <a:r>
              <a:rPr sz="2000" b="1">
                <a:solidFill>
                  <a:srgbClr val="1F2D3A"/>
                </a:solidFill>
              </a:rPr>
              <a:t>is worth less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Week 10: </a:t>
            </a:r>
            <a:r>
              <a:rPr sz="2000" b="1">
                <a:solidFill>
                  <a:srgbClr val="1F2D3A"/>
                </a:solidFill>
              </a:rPr>
              <a:t>crypto-period</a:t>
            </a:r>
            <a:r>
              <a:rPr sz="2000" b="0">
                <a:solidFill>
                  <a:srgbClr val="1F2D3A"/>
                </a:solidFill>
              </a:rPr>
              <a:t> (a key's lifetime)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Countermeasure 5 · Device/Version Binding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Tables are only meaningful on </a:t>
            </a:r>
            <a:r>
              <a:rPr sz="2000" b="1">
                <a:solidFill>
                  <a:srgbClr val="1F2D3A"/>
                </a:solidFill>
              </a:rPr>
              <a:t>one specific device/version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Blocks </a:t>
            </a:r>
            <a:r>
              <a:rPr sz="2000" b="1">
                <a:solidFill>
                  <a:srgbClr val="1F2D3A"/>
                </a:solidFill>
              </a:rPr>
              <a:t>code lifting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Countermeasure 6 · Server-Side Risk Checking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49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Whatever protection exists on the edge, the transaction is </a:t>
            </a:r>
            <a:r>
              <a:rPr sz="2000" b="1">
                <a:solidFill>
                  <a:srgbClr val="1F2D3A"/>
                </a:solidFill>
              </a:rPr>
              <a:t>also</a:t>
            </a:r>
            <a:r>
              <a:rPr sz="2000" b="0">
                <a:solidFill>
                  <a:srgbClr val="1F2D3A"/>
                </a:solidFill>
              </a:rPr>
              <a:t> evaluated on the </a:t>
            </a:r>
            <a:r>
              <a:rPr sz="2000" b="1">
                <a:solidFill>
                  <a:srgbClr val="1F2D3A"/>
                </a:solidFill>
              </a:rPr>
              <a:t>server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Rate limiting, anomaly detection, counter/ATC checking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</a:t>
            </a:r>
            <a:r>
              <a:rPr sz="2000" b="1">
                <a:solidFill>
                  <a:srgbClr val="1F2D3A"/>
                </a:solidFill>
              </a:rPr>
              <a:t>last and most reliable</a:t>
            </a:r>
            <a:r>
              <a:rPr sz="2000" b="0">
                <a:solidFill>
                  <a:srgbClr val="1F2D3A"/>
                </a:solidFill>
              </a:rPr>
              <a:t> defence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Countermeasure 7 · Move to Hardware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If possible, </a:t>
            </a:r>
            <a:r>
              <a:rPr sz="2000" b="1">
                <a:solidFill>
                  <a:srgbClr val="1F2D3A"/>
                </a:solidFill>
              </a:rPr>
              <a:t>never put the key in software</a:t>
            </a:r>
            <a:r>
              <a:rPr sz="2000" b="0">
                <a:solidFill>
                  <a:srgbClr val="1F2D3A"/>
                </a:solidFill>
              </a:rPr>
              <a:t> at all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TEE, secure element (SE), HSM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7888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This is the subject of the next section.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The Core Rule (Again)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604520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2000" b="0">
                <a:solidFill>
                  <a:srgbClr val="1F2D3A"/>
                </a:solidFill>
              </a:rPr>
              <a:t>WBC is a </a:t>
            </a:r>
            <a:r>
              <a:rPr sz="2000" b="1">
                <a:solidFill>
                  <a:srgbClr val="1F2D3A"/>
                </a:solidFill>
              </a:rPr>
              <a:t>layer</a:t>
            </a:r>
            <a:r>
              <a:rPr sz="2000" b="0">
                <a:solidFill>
                  <a:srgbClr val="1F2D3A"/>
                </a:solidFill>
              </a:rPr>
              <a:t>, not a solution.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40128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The right statement: "I'm delaying key extraction by this much; my real assurance comes from key rotation, device binding, and server-side risk checking."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Section 4 — Quick Check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0">
                <a:solidFill>
                  <a:srgbClr val="1F2D3A"/>
                </a:solidFill>
              </a:rPr>
              <a:t>How does "all of them were broken" affect your decision?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0">
                <a:solidFill>
                  <a:srgbClr val="1F2D3A"/>
                </a:solidFill>
              </a:rPr>
              <a:t>Which classic attack does DCA resemble?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0">
                <a:solidFill>
                  <a:srgbClr val="1F2D3A"/>
                </a:solidFill>
              </a:rPr>
              <a:t>Why don't internal encodings always stop DCA?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4. </a:t>
            </a:r>
            <a:r>
              <a:rPr sz="2000" b="0">
                <a:solidFill>
                  <a:srgbClr val="1F2D3A"/>
                </a:solidFill>
              </a:rPr>
              <a:t>Which is the most reliable last line of defence?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Section 4 — Answers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2057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1. </a:t>
            </a:r>
            <a:r>
              <a:rPr sz="1800" b="0">
                <a:solidFill>
                  <a:srgbClr val="1F2D3A"/>
                </a:solidFill>
              </a:rPr>
              <a:t>WBC is </a:t>
            </a:r>
            <a:r>
              <a:rPr sz="1800" b="1">
                <a:solidFill>
                  <a:srgbClr val="1F2D3A"/>
                </a:solidFill>
              </a:rPr>
              <a:t>not</a:t>
            </a:r>
            <a:r>
              <a:rPr sz="1800" b="0">
                <a:solidFill>
                  <a:srgbClr val="1F2D3A"/>
                </a:solidFill>
              </a:rPr>
              <a:t> assurance on its own; combine with key rotation + device binding + server checking + obfuscation; move to </a:t>
            </a:r>
            <a:r>
              <a:rPr sz="1800" b="1">
                <a:solidFill>
                  <a:srgbClr val="1F2D3A"/>
                </a:solidFill>
              </a:rPr>
              <a:t>hardware</a:t>
            </a:r>
            <a:r>
              <a:rPr sz="1800" b="0">
                <a:solidFill>
                  <a:srgbClr val="1F2D3A"/>
                </a:solidFill>
              </a:rPr>
              <a:t> where possible.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2. </a:t>
            </a:r>
            <a:r>
              <a:rPr sz="1800" b="1">
                <a:solidFill>
                  <a:srgbClr val="1F2D3A"/>
                </a:solidFill>
              </a:rPr>
              <a:t>DPA</a:t>
            </a:r>
            <a:r>
              <a:rPr sz="1800" b="0">
                <a:solidFill>
                  <a:srgbClr val="1F2D3A"/>
                </a:solidFill>
              </a:rPr>
              <a:t> (power analysis) — DCA is its software form.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3. </a:t>
            </a:r>
            <a:r>
              <a:rPr sz="1800" b="0">
                <a:solidFill>
                  <a:srgbClr val="1F2D3A"/>
                </a:solidFill>
              </a:rPr>
              <a:t>Internal encoding is a one-to-one mapping (bijection); statistical </a:t>
            </a:r>
            <a:r>
              <a:rPr sz="1800" b="1">
                <a:solidFill>
                  <a:srgbClr val="1F2D3A"/>
                </a:solidFill>
              </a:rPr>
              <a:t>correlation</a:t>
            </a:r>
            <a:r>
              <a:rPr sz="1800" b="0">
                <a:solidFill>
                  <a:srgbClr val="1F2D3A"/>
                </a:solidFill>
              </a:rPr>
              <a:t> often survives it.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4. </a:t>
            </a:r>
            <a:r>
              <a:rPr sz="1800" b="1">
                <a:solidFill>
                  <a:srgbClr val="1F2D3A"/>
                </a:solidFill>
              </a:rPr>
              <a:t>Server-side</a:t>
            </a:r>
            <a:r>
              <a:rPr sz="1800" b="0">
                <a:solidFill>
                  <a:srgbClr val="1F2D3A"/>
                </a:solidFill>
              </a:rPr>
              <a:t> risk checking (the last and most reliable).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Secure Programming · Week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2026-2027 Fall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5. WBC's Place in Layered Defence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Protecting a Key: the Options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WBC isn't the only option. There are several ways to protect a key; strength and cost differ.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057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In order, from weakest to strongest.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Option 1 · Plain Key in a Fixed Array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Key: in the software, </a:t>
            </a:r>
            <a:r>
              <a:rPr sz="2000" b="1">
                <a:solidFill>
                  <a:srgbClr val="1F2D3A"/>
                </a:solidFill>
              </a:rPr>
              <a:t>in the clear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Strength: </a:t>
            </a:r>
            <a:r>
              <a:rPr sz="2000" b="1">
                <a:solidFill>
                  <a:srgbClr val="1F2D3A"/>
                </a:solidFill>
              </a:rPr>
              <a:t>none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When: </a:t>
            </a:r>
            <a:r>
              <a:rPr sz="2000" b="1">
                <a:solidFill>
                  <a:srgbClr val="1F2D3A"/>
                </a:solidFill>
              </a:rPr>
              <a:t>never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Option 2 · Hidden/Split Key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Key: in the software, hidden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Strength: very low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When: only for low-value, short-lived secrets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Option 3 · WBC + Layered Defence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Key: in the software, </a:t>
            </a:r>
            <a:r>
              <a:rPr sz="2000" b="1">
                <a:solidFill>
                  <a:srgbClr val="1F2D3A"/>
                </a:solidFill>
              </a:rPr>
              <a:t>embedded in tables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Strength: medium (delays)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When: no hardware root available; </a:t>
            </a:r>
            <a:r>
              <a:rPr sz="2000" b="1">
                <a:solidFill>
                  <a:srgbClr val="1F2D3A"/>
                </a:solidFill>
              </a:rPr>
              <a:t>with key rotation + server checking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Option 4 · TEE / Secure Element (SE)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Key: </a:t>
            </a:r>
            <a:r>
              <a:rPr sz="2000" b="1">
                <a:solidFill>
                  <a:srgbClr val="1F2D3A"/>
                </a:solidFill>
              </a:rPr>
              <a:t>isolated by hardware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Strength: high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When: </a:t>
            </a:r>
            <a:r>
              <a:rPr sz="2000" b="1">
                <a:solidFill>
                  <a:srgbClr val="1F2D3A"/>
                </a:solidFill>
              </a:rPr>
              <a:t>preferred</a:t>
            </a:r>
            <a:r>
              <a:rPr sz="2000" b="0">
                <a:solidFill>
                  <a:srgbClr val="1F2D3A"/>
                </a:solidFill>
              </a:rPr>
              <a:t> if the device supports it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Option 5 · HSM / SoftHSM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Key: in a hardware module (or its software emulation)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Strength: high (HSM); SoftHSM for testing only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When: </a:t>
            </a:r>
            <a:r>
              <a:rPr sz="2000" b="1">
                <a:solidFill>
                  <a:srgbClr val="1F2D3A"/>
                </a:solidFill>
              </a:rPr>
              <a:t>server-side</a:t>
            </a:r>
            <a:r>
              <a:rPr sz="2000" b="0">
                <a:solidFill>
                  <a:srgbClr val="1F2D3A"/>
                </a:solidFill>
              </a:rPr>
              <a:t>; the key never leaves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Options · One Table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547815" cy="20793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91601"/>
                <a:gridCol w="5273908"/>
                <a:gridCol w="2182306"/>
              </a:tblGrid>
              <a:tr h="346557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Option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Where's the key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Strength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Plain array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In the clear, in software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None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Hidden/split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Hidden, in software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Very low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WBC + layers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Embedded in tables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Medium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TEE / SE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Isolated by hardware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High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6560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HSM / SoftHSM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Hardware module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High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The Decision Rule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604520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2000" b="0">
                <a:solidFill>
                  <a:srgbClr val="1F2D3A"/>
                </a:solidFill>
              </a:rPr>
              <a:t>If you </a:t>
            </a:r>
            <a:r>
              <a:rPr sz="2000" b="1">
                <a:solidFill>
                  <a:srgbClr val="1F2D3A"/>
                </a:solidFill>
              </a:rPr>
              <a:t>don't have to</a:t>
            </a:r>
            <a:r>
              <a:rPr sz="2000" b="0">
                <a:solidFill>
                  <a:srgbClr val="1F2D3A"/>
                </a:solidFill>
              </a:rPr>
              <a:t> put the key in software, </a:t>
            </a:r>
            <a:r>
              <a:rPr sz="2000" b="1">
                <a:solidFill>
                  <a:srgbClr val="1F2D3A"/>
                </a:solidFill>
              </a:rPr>
              <a:t>don't.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40128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If a hardware root (TEE/SE/HSM) exists, </a:t>
            </a:r>
            <a:r>
              <a:rPr sz="2000" b="1">
                <a:solidFill>
                  <a:srgbClr val="1F2D3A"/>
                </a:solidFill>
              </a:rPr>
              <a:t>use it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WBC is a </a:t>
            </a:r>
            <a:r>
              <a:rPr sz="2000" b="1">
                <a:solidFill>
                  <a:srgbClr val="1F2D3A"/>
                </a:solidFill>
              </a:rPr>
              <a:t>trade-off</a:t>
            </a:r>
            <a:r>
              <a:rPr sz="2000" b="0">
                <a:solidFill>
                  <a:srgbClr val="1F2D3A"/>
                </a:solidFill>
              </a:rPr>
              <a:t> solution for when there's </a:t>
            </a:r>
            <a:r>
              <a:rPr sz="2000" b="1">
                <a:solidFill>
                  <a:srgbClr val="1F2D3A"/>
                </a:solidFill>
              </a:rPr>
              <a:t>no</a:t>
            </a:r>
            <a:r>
              <a:rPr sz="2000" b="0">
                <a:solidFill>
                  <a:srgbClr val="1F2D3A"/>
                </a:solidFill>
              </a:rPr>
              <a:t> hardware root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Always: together with key rotation + device binding + server checking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Where Does WBC Sit in Layered Defence? (Animation)</a:t>
            </a:r>
          </a:p>
        </p:txBody>
      </p:sp>
      <p:pic>
        <p:nvPicPr>
          <p:cNvPr id="7" name="Picture 6" descr="layered-defence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5608" y="1325880"/>
            <a:ext cx="7600479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Layered Defence — Edge Case: All WBC</a:t>
            </a:r>
          </a:p>
        </p:txBody>
      </p:sp>
      <p:pic>
        <p:nvPicPr>
          <p:cNvPr id="7" name="Picture 6" descr="layered-defence--edge-all-wbc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0487" y="1325880"/>
            <a:ext cx="8330721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"How Do I Protect This Key?" —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Question 1:</a:t>
            </a:r>
            <a:r>
              <a:rPr sz="2000" b="0">
                <a:solidFill>
                  <a:srgbClr val="1F2D3A"/>
                </a:solidFill>
              </a:rPr>
              <a:t> Does the device have a TEE/secure element?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Yes</a:t>
            </a:r>
            <a:r>
              <a:rPr sz="2000" b="0">
                <a:solidFill>
                  <a:srgbClr val="1F2D3A"/>
                </a:solidFill>
              </a:rPr>
              <a:t> → put the key there. </a:t>
            </a:r>
            <a:r>
              <a:rPr sz="2000" b="1">
                <a:solidFill>
                  <a:srgbClr val="1F2D3A"/>
                </a:solidFill>
              </a:rPr>
              <a:t>Done</a:t>
            </a:r>
            <a:r>
              <a:rPr sz="2000" b="0">
                <a:solidFill>
                  <a:srgbClr val="1F2D3A"/>
                </a:solidFill>
              </a:rPr>
              <a:t> (strongest).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No</a:t>
            </a:r>
            <a:r>
              <a:rPr sz="2000" b="0">
                <a:solidFill>
                  <a:srgbClr val="1F2D3A"/>
                </a:solidFill>
              </a:rPr>
              <a:t> → continue.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"How Do I Protect This Key?" —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Question 2:</a:t>
            </a:r>
            <a:r>
              <a:rPr sz="2000" b="0">
                <a:solidFill>
                  <a:srgbClr val="1F2D3A"/>
                </a:solidFill>
              </a:rPr>
              <a:t> Is this a server-side key?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Yes</a:t>
            </a:r>
            <a:r>
              <a:rPr sz="2000" b="0">
                <a:solidFill>
                  <a:srgbClr val="1F2D3A"/>
                </a:solidFill>
              </a:rPr>
              <a:t> → HSM/PKCS#11 (HSM in production, SoftHSM in testing).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No (client, no hardware)</a:t>
            </a:r>
            <a:r>
              <a:rPr sz="2000" b="0">
                <a:solidFill>
                  <a:srgbClr val="1F2D3A"/>
                </a:solidFill>
              </a:rPr>
              <a:t> → continue.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"How Do I Protect This Key?" —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Question 3:</a:t>
            </a:r>
            <a:r>
              <a:rPr sz="2000" b="0">
                <a:solidFill>
                  <a:srgbClr val="1F2D3A"/>
                </a:solidFill>
              </a:rPr>
              <a:t> Does the asset's value justify the cost of protection?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Low</a:t>
            </a:r>
            <a:r>
              <a:rPr sz="2000" b="0">
                <a:solidFill>
                  <a:srgbClr val="1F2D3A"/>
                </a:solidFill>
              </a:rPr>
              <a:t> → light hiding + a short lifetime is enough.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High</a:t>
            </a:r>
            <a:r>
              <a:rPr sz="2000" b="0">
                <a:solidFill>
                  <a:srgbClr val="1F2D3A"/>
                </a:solidFill>
              </a:rPr>
              <a:t> → WBC + layered defence + rotation + device binding + server checking.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"How Do I Protect This Key?" —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In every case: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Don't embed the key </a:t>
            </a:r>
            <a:r>
              <a:rPr sz="2000" b="1">
                <a:solidFill>
                  <a:srgbClr val="1F2D3A"/>
                </a:solidFill>
              </a:rPr>
              <a:t>plainly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Write the decision and its rationale </a:t>
            </a:r>
            <a:r>
              <a:rPr sz="2000" b="1">
                <a:solidFill>
                  <a:srgbClr val="1F2D3A"/>
                </a:solidFill>
              </a:rPr>
              <a:t>into S8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State the remaining risk explicitly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Decision Flow · at a Glance</a:t>
            </a:r>
          </a:p>
        </p:txBody>
      </p:sp>
      <p:pic>
        <p:nvPicPr>
          <p:cNvPr id="7" name="Picture 6" descr="h11-07-anahtar-korum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6112" y="1325880"/>
            <a:ext cx="7419470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SoftHSM and PKCS#11 (Server-Side Bridge)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49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PKCS#11:</a:t>
            </a:r>
            <a:r>
              <a:rPr sz="2000" b="0">
                <a:solidFill>
                  <a:srgbClr val="1F2D3A"/>
                </a:solidFill>
              </a:rPr>
              <a:t> the standard interface for talking to key modules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application never sees the key's </a:t>
            </a:r>
            <a:r>
              <a:rPr sz="2000" b="1">
                <a:solidFill>
                  <a:srgbClr val="1F2D3A"/>
                </a:solidFill>
              </a:rPr>
              <a:t>value</a:t>
            </a:r>
            <a:r>
              <a:rPr sz="2000" b="0">
                <a:solidFill>
                  <a:srgbClr val="1F2D3A"/>
                </a:solidFill>
              </a:rPr>
              <a:t>; it just says "sign/encrypt this"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SoftHSM:</a:t>
            </a:r>
            <a:r>
              <a:rPr sz="2000" b="0">
                <a:solidFill>
                  <a:srgbClr val="1F2D3A"/>
                </a:solidFill>
              </a:rPr>
              <a:t> a software emulation offering the same interface; </a:t>
            </a:r>
            <a:r>
              <a:rPr sz="2000" b="1">
                <a:solidFill>
                  <a:srgbClr val="1F2D3A"/>
                </a:solidFill>
              </a:rPr>
              <a:t>no</a:t>
            </a:r>
            <a:r>
              <a:rPr sz="2000" b="0">
                <a:solidFill>
                  <a:srgbClr val="1F2D3A"/>
                </a:solidFill>
              </a:rPr>
              <a:t> real hardware protection → for development/testing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985008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WBC is a client-side (edge) problem; this is the answer to the server's key problem.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Secure Programming · Week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2026-2027 Fall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136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6. Flawed → Attack → Protection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1 · Flawed Design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65227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/* İstemci uygulaması: veri şifreleme anahtarı gömülü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static const uint8_t k[16] = { ... };   /* KÖTÜ */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87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A client embeds a data-encryption key in a fixed array.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2 · Attack (Conceptual)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0">
                <a:solidFill>
                  <a:srgbClr val="A1123F"/>
                </a:solidFill>
                <a:latin typeface="Consolas"/>
              </a:rPr>
              <a:t>strings</a:t>
            </a:r>
            <a:r>
              <a:rPr sz="2000" b="0">
                <a:solidFill>
                  <a:srgbClr val="1F2D3A"/>
                </a:solidFill>
              </a:rPr>
              <a:t> + </a:t>
            </a:r>
            <a:r>
              <a:rPr sz="2000" b="1">
                <a:solidFill>
                  <a:srgbClr val="1F2D3A"/>
                </a:solidFill>
              </a:rPr>
              <a:t>entropy scan</a:t>
            </a:r>
            <a:r>
              <a:rPr sz="2000" b="0">
                <a:solidFill>
                  <a:srgbClr val="1F2D3A"/>
                </a:solidFill>
              </a:rPr>
              <a:t> → a high-entropy 16-byte block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0">
                <a:solidFill>
                  <a:srgbClr val="1F2D3A"/>
                </a:solidFill>
              </a:rPr>
              <a:t>Debugger → confirms this block is used in the encryption call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0">
                <a:solidFill>
                  <a:srgbClr val="1F2D3A"/>
                </a:solidFill>
              </a:rPr>
              <a:t>The key comes out in </a:t>
            </a:r>
            <a:r>
              <a:rPr sz="2000" b="1">
                <a:solidFill>
                  <a:srgbClr val="1F2D3A"/>
                </a:solidFill>
              </a:rPr>
              <a:t>minutes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3 · Protection (Layered) — 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Move the key to </a:t>
            </a:r>
            <a:r>
              <a:rPr sz="2000" b="1">
                <a:solidFill>
                  <a:srgbClr val="1F2D3A"/>
                </a:solidFill>
              </a:rPr>
              <a:t>TEE/SE</a:t>
            </a:r>
            <a:r>
              <a:rPr sz="2000" b="0">
                <a:solidFill>
                  <a:srgbClr val="1F2D3A"/>
                </a:solidFill>
              </a:rPr>
              <a:t> if possible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Otherwise, bake it into </a:t>
            </a:r>
            <a:r>
              <a:rPr sz="2000" b="1">
                <a:solidFill>
                  <a:srgbClr val="1F2D3A"/>
                </a:solidFill>
              </a:rPr>
              <a:t>WBC tables</a:t>
            </a:r>
            <a:r>
              <a:rPr sz="2000" b="0">
                <a:solidFill>
                  <a:srgbClr val="1F2D3A"/>
                </a:solidFill>
              </a:rPr>
              <a:t> (no plain byte array left)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3 · Protection (Layered) — 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Wrap WBC with Week 9's </a:t>
            </a:r>
            <a:r>
              <a:rPr sz="2000" b="1">
                <a:solidFill>
                  <a:srgbClr val="1F2D3A"/>
                </a:solidFill>
              </a:rPr>
              <a:t>obfuscation</a:t>
            </a:r>
            <a:r>
              <a:rPr sz="2000" b="0">
                <a:solidFill>
                  <a:srgbClr val="1F2D3A"/>
                </a:solidFill>
              </a:rPr>
              <a:t> and Week 6's </a:t>
            </a:r>
            <a:r>
              <a:rPr sz="2000" b="1">
                <a:solidFill>
                  <a:srgbClr val="1F2D3A"/>
                </a:solidFill>
              </a:rPr>
              <a:t>RASP</a:t>
            </a:r>
          </a:p>
          <a:p>
            <a:pPr lvl="1"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    – </a:t>
            </a:r>
            <a:r>
              <a:rPr sz="2000" b="0">
                <a:solidFill>
                  <a:srgbClr val="1F2D3A"/>
                </a:solidFill>
              </a:rPr>
              <a:t>Collecting a trace for DCA and injecting a fault for DFA both get harder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Bind to device/version</a:t>
            </a:r>
            <a:r>
              <a:rPr sz="2000" b="0">
                <a:solidFill>
                  <a:srgbClr val="1F2D3A"/>
                </a:solidFill>
              </a:rPr>
              <a:t> → code lifting doesn't work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3 · Protection (Layered) — 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Rotate the key often</a:t>
            </a:r>
            <a:r>
              <a:rPr sz="2000" b="0">
                <a:solidFill>
                  <a:srgbClr val="1F2D3A"/>
                </a:solidFill>
              </a:rPr>
              <a:t> (short crypto-period)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Apply </a:t>
            </a:r>
            <a:r>
              <a:rPr sz="2000" b="1">
                <a:solidFill>
                  <a:srgbClr val="1F2D3A"/>
                </a:solidFill>
              </a:rPr>
              <a:t>risk checking on the server</a:t>
            </a:r>
            <a:r>
              <a:rPr sz="2000" b="0">
                <a:solidFill>
                  <a:srgbClr val="1F2D3A"/>
                </a:solidFill>
              </a:rPr>
              <a:t> (rate limiting, anomalies)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4 · The Risk That Honestly Remains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971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 sufficiently determined attacker can still extract the key </a:t>
            </a:r>
            <a:r>
              <a:rPr sz="2000" b="1">
                <a:solidFill>
                  <a:srgbClr val="1F2D3A"/>
                </a:solidFill>
              </a:rPr>
              <a:t>on a single device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But now:</a:t>
            </a:r>
          </a:p>
          <a:p>
            <a:pPr lvl="1"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    – </a:t>
            </a:r>
            <a:r>
              <a:rPr sz="2000" b="0">
                <a:solidFill>
                  <a:srgbClr val="1F2D3A"/>
                </a:solidFill>
              </a:rPr>
              <a:t>Breaking one copy </a:t>
            </a:r>
            <a:r>
              <a:rPr sz="2000" b="1">
                <a:solidFill>
                  <a:srgbClr val="1F2D3A"/>
                </a:solidFill>
              </a:rPr>
              <a:t>doesn't open the whole system</a:t>
            </a:r>
            <a:r>
              <a:rPr sz="2000" b="0">
                <a:solidFill>
                  <a:srgbClr val="1F2D3A"/>
                </a:solidFill>
              </a:rPr>
              <a:t> (device binding)</a:t>
            </a:r>
          </a:p>
          <a:p>
            <a:pPr lvl="1"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    – </a:t>
            </a:r>
            <a:r>
              <a:rPr sz="2000" b="0">
                <a:solidFill>
                  <a:srgbClr val="1F2D3A"/>
                </a:solidFill>
              </a:rPr>
              <a:t>The extracted key has a </a:t>
            </a:r>
            <a:r>
              <a:rPr sz="2000" b="1">
                <a:solidFill>
                  <a:srgbClr val="1F2D3A"/>
                </a:solidFill>
              </a:rPr>
              <a:t>short lifetime</a:t>
            </a:r>
            <a:r>
              <a:rPr sz="2000" b="0">
                <a:solidFill>
                  <a:srgbClr val="1F2D3A"/>
                </a:solidFill>
              </a:rPr>
              <a:t> (rotation)</a:t>
            </a:r>
          </a:p>
          <a:p>
            <a:pPr lvl="1"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    – </a:t>
            </a:r>
            <a:r>
              <a:rPr sz="2000" b="0">
                <a:solidFill>
                  <a:srgbClr val="1F2D3A"/>
                </a:solidFill>
              </a:rPr>
              <a:t>The server catches abnormal use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Rules That Come Out of the Scenario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Don't embed the key in plain form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Use a hardware root if one exists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Never</a:t>
            </a:r>
            <a:r>
              <a:rPr sz="2000" b="0">
                <a:solidFill>
                  <a:srgbClr val="1F2D3A"/>
                </a:solidFill>
              </a:rPr>
              <a:t> leave WBC alone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Device binding + rotation + server checking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Case · Setup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A mobile app encrypts local data with a </a:t>
            </a:r>
            <a:r>
              <a:rPr sz="2000" b="1">
                <a:solidFill>
                  <a:srgbClr val="1F2D3A"/>
                </a:solidFill>
              </a:rPr>
              <a:t>session key</a:t>
            </a:r>
            <a:r>
              <a:rPr sz="2000" b="0">
                <a:solidFill>
                  <a:srgbClr val="1F2D3A"/>
                </a:solidFill>
              </a:rPr>
              <a:t> it downloads from the server.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Some devices have a TEE, some don't.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key rotates once a day.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828544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How do we protect it?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Case · Devices With a TEE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Put the key </a:t>
            </a:r>
            <a:r>
              <a:rPr sz="2000" b="1">
                <a:solidFill>
                  <a:srgbClr val="1F2D3A"/>
                </a:solidFill>
              </a:rPr>
              <a:t>in the TEE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app never sees the key; encryption happens inside the TEE.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strongest solution; extra WBC is unnecessary.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Case · Devices Without a TEE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Bake the key into </a:t>
            </a:r>
            <a:r>
              <a:rPr sz="2000" b="1">
                <a:solidFill>
                  <a:srgbClr val="1F2D3A"/>
                </a:solidFill>
              </a:rPr>
              <a:t>WBC tables</a:t>
            </a:r>
            <a:r>
              <a:rPr sz="2000" b="0">
                <a:solidFill>
                  <a:srgbClr val="1F2D3A"/>
                </a:solidFill>
              </a:rPr>
              <a:t> (no plain array).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Wrap it with Week 9 obfuscation + Week 6 RASP.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Bind to the device:</a:t>
            </a:r>
            <a:r>
              <a:rPr sz="2000" b="0">
                <a:solidFill>
                  <a:srgbClr val="1F2D3A"/>
                </a:solidFill>
              </a:rPr>
              <a:t> the tables shouldn't work on another device.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Case · Shared Layers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key </a:t>
            </a:r>
            <a:r>
              <a:rPr sz="2000" b="1">
                <a:solidFill>
                  <a:srgbClr val="1F2D3A"/>
                </a:solidFill>
              </a:rPr>
              <a:t>rotates once a day</a:t>
            </a:r>
            <a:r>
              <a:rPr sz="2000" b="0">
                <a:solidFill>
                  <a:srgbClr val="1F2D3A"/>
                </a:solidFill>
              </a:rPr>
              <a:t> → a short lifetime for anything extracted.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</a:t>
            </a:r>
            <a:r>
              <a:rPr sz="2000" b="1">
                <a:solidFill>
                  <a:srgbClr val="1F2D3A"/>
                </a:solidFill>
              </a:rPr>
              <a:t>server</a:t>
            </a:r>
            <a:r>
              <a:rPr sz="2000" b="0">
                <a:solidFill>
                  <a:srgbClr val="1F2D3A"/>
                </a:solidFill>
              </a:rPr>
              <a:t> catches abnormal use (too many requests, an odd location).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So even if one device gets broken, the damage is limited.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Case · Remaining Risk (Honest)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On a device without a TEE, a determined attacker can extract the key.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But: limited to one device + 24-hour lifetime + server checking.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This trade-off is </a:t>
            </a:r>
            <a:r>
              <a:rPr sz="2000" b="1">
                <a:solidFill>
                  <a:srgbClr val="1F2D3A"/>
                </a:solidFill>
              </a:rPr>
              <a:t>written explicitly into S8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Case · Takeaway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There is no single "magic" protection.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Strength comes from the </a:t>
            </a:r>
            <a:r>
              <a:rPr sz="2000" b="1">
                <a:solidFill>
                  <a:srgbClr val="1F2D3A"/>
                </a:solidFill>
              </a:rPr>
              <a:t>combination of layers</a:t>
            </a:r>
            <a:r>
              <a:rPr sz="2000" b="0">
                <a:solidFill>
                  <a:srgbClr val="1F2D3A"/>
                </a:solidFill>
              </a:rPr>
              <a:t> and an </a:t>
            </a:r>
            <a:r>
              <a:rPr sz="2000" b="1">
                <a:solidFill>
                  <a:srgbClr val="1F2D3A"/>
                </a:solidFill>
              </a:rPr>
              <a:t>honest analysis of the remaining risk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55392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This is exactly what the evaluator (Week 12) looks for.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305048"/>
            <a:ext cx="10911535" cy="604520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2000" b="0">
                <a:solidFill>
                  <a:srgbClr val="1F2D3A"/>
                </a:solidFill>
              </a:rPr>
              <a:t>To </a:t>
            </a:r>
            <a:r>
              <a:rPr sz="2000" b="1">
                <a:solidFill>
                  <a:srgbClr val="1F2D3A"/>
                </a:solidFill>
              </a:rPr>
              <a:t>understand</a:t>
            </a:r>
            <a:r>
              <a:rPr sz="2000" b="0">
                <a:solidFill>
                  <a:srgbClr val="1F2D3A"/>
                </a:solidFill>
              </a:rPr>
              <a:t> WBC is to </a:t>
            </a:r>
            <a:r>
              <a:rPr sz="2000" b="1">
                <a:solidFill>
                  <a:srgbClr val="1F2D3A"/>
                </a:solidFill>
              </a:rPr>
              <a:t>put it in its right place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Secure Programming · Week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2026-2027 Fall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150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7. Project and Closing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Project · S8 (Key Protection Rationale) —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Write a protection decision and its </a:t>
            </a:r>
            <a:r>
              <a:rPr sz="2000" b="1">
                <a:solidFill>
                  <a:srgbClr val="1F2D3A"/>
                </a:solidFill>
              </a:rPr>
              <a:t>rationale</a:t>
            </a:r>
            <a:r>
              <a:rPr sz="2000" b="0">
                <a:solidFill>
                  <a:srgbClr val="1F2D3A"/>
                </a:solidFill>
              </a:rPr>
              <a:t> for at least one sensitive key: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1.</a:t>
            </a:r>
            <a:r>
              <a:rPr sz="2000" b="0">
                <a:solidFill>
                  <a:srgbClr val="1F2D3A"/>
                </a:solidFill>
              </a:rPr>
              <a:t> Where does the key live, how is it protected? (if not plain: TEE/SE, WBC, hiding — which one, </a:t>
            </a:r>
            <a:r>
              <a:rPr sz="2000" b="1">
                <a:solidFill>
                  <a:srgbClr val="1F2D3A"/>
                </a:solidFill>
              </a:rPr>
              <a:t>why</a:t>
            </a:r>
            <a:r>
              <a:rPr sz="2000" b="0">
                <a:solidFill>
                  <a:srgbClr val="1F2D3A"/>
                </a:solidFill>
              </a:rPr>
              <a:t>)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Project · S8 —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2.</a:t>
            </a:r>
            <a:r>
              <a:rPr sz="2000" b="0">
                <a:solidFill>
                  <a:srgbClr val="1F2D3A"/>
                </a:solidFill>
              </a:rPr>
              <a:t> If the protection isn't sufficient (e.g. you're pure software), state this </a:t>
            </a:r>
            <a:r>
              <a:rPr sz="2000" b="1">
                <a:solidFill>
                  <a:srgbClr val="1F2D3A"/>
                </a:solidFill>
              </a:rPr>
              <a:t>explicitly</a:t>
            </a:r>
            <a:r>
              <a:rPr sz="2000" b="0">
                <a:solidFill>
                  <a:srgbClr val="1F2D3A"/>
                </a:solidFill>
              </a:rPr>
              <a:t> and list your compensating layers: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05736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key rotation period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device/version binding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server-side risk checking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Project · S8 —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3.</a:t>
            </a:r>
            <a:r>
              <a:rPr sz="2000" b="0">
                <a:solidFill>
                  <a:srgbClr val="1F2D3A"/>
                </a:solidFill>
              </a:rPr>
              <a:t> If you didn't use WBC, give the </a:t>
            </a:r>
            <a:r>
              <a:rPr sz="2000" b="1">
                <a:solidFill>
                  <a:srgbClr val="1F2D3A"/>
                </a:solidFill>
              </a:rPr>
              <a:t>reason why not</a:t>
            </a:r>
            <a:r>
              <a:rPr sz="2000" b="0">
                <a:solidFill>
                  <a:srgbClr val="1F2D3A"/>
                </a:solidFill>
              </a:rPr>
              <a:t>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cost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you have a hardware root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asset's value is low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204464"/>
            <a:ext cx="10911535" cy="604520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2000" b="0">
                <a:solidFill>
                  <a:srgbClr val="1F2D3A"/>
                </a:solidFill>
              </a:rPr>
              <a:t>A justified "we didn't use it" is a </a:t>
            </a:r>
            <a:r>
              <a:rPr sz="2000" b="1">
                <a:solidFill>
                  <a:srgbClr val="1F2D3A"/>
                </a:solidFill>
              </a:rPr>
              <a:t>complete</a:t>
            </a:r>
            <a:r>
              <a:rPr sz="2000" b="0">
                <a:solidFill>
                  <a:srgbClr val="1F2D3A"/>
                </a:solidFill>
              </a:rPr>
              <a:t> answer.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⚠️ No Real Keys in the Repository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Every key file, table, and example must be </a:t>
            </a:r>
            <a:r>
              <a:rPr sz="2000" b="1">
                <a:solidFill>
                  <a:srgbClr val="1F2D3A"/>
                </a:solidFill>
              </a:rPr>
              <a:t>synthetic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 real key in the repo at certification time = one of the most severe findings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It counts the same way in the project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Glossary (1)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5" cy="20793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19850"/>
                <a:gridCol w="7391685"/>
              </a:tblGrid>
              <a:tr h="346557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Term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Meaning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Black/grey/white box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What the attacker sees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WBC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Crypto that runs in the white box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S-box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Fixed table that substitutes a byte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Bijection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Invertible one-to-one mapping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6560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Internal/external encoding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Inside a table / secret transform wrapping the whole cipher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Glossary (2)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20793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7883"/>
                <a:gridCol w="8183651"/>
              </a:tblGrid>
              <a:tr h="346557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Term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Meaning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Code lifting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Copying the code without extracting the key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DCA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DPA-like statistics applied to execution traces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DFA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Injecting a fault and computing the key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Crypto-period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 key's lifetime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6560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TEE/SE/HSM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Hardware-based key protection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Self-Check (1–6)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21488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1. </a:t>
            </a:r>
            <a:r>
              <a:rPr sz="1800" b="0">
                <a:solidFill>
                  <a:srgbClr val="1F2D3A"/>
                </a:solidFill>
              </a:rPr>
              <a:t>Three attacker models; which one does the AES proof assume?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2. </a:t>
            </a:r>
            <a:r>
              <a:rPr sz="1800" b="0">
                <a:solidFill>
                  <a:srgbClr val="1F2D3A"/>
                </a:solidFill>
              </a:rPr>
              <a:t>"Run only one round" and "inject a fault" set up which attacks?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3. </a:t>
            </a:r>
            <a:r>
              <a:rPr sz="1800" b="0">
                <a:solidFill>
                  <a:srgbClr val="1F2D3A"/>
                </a:solidFill>
              </a:rPr>
              <a:t>Why isn't a key embedded in an array protection? (entropy)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4. </a:t>
            </a:r>
            <a:r>
              <a:rPr sz="1800" b="0">
                <a:solidFill>
                  <a:srgbClr val="1F2D3A"/>
                </a:solidFill>
              </a:rPr>
              <a:t>What is code lifting, which countermeasure closes it?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5. </a:t>
            </a:r>
            <a:r>
              <a:rPr sz="1800" b="0">
                <a:solidFill>
                  <a:srgbClr val="1F2D3A"/>
                </a:solidFill>
              </a:rPr>
              <a:t>Why is </a:t>
            </a:r>
            <a:r>
              <a:rPr sz="1800" b="0">
                <a:solidFill>
                  <a:srgbClr val="A1123F"/>
                </a:solidFill>
                <a:latin typeface="Consolas"/>
              </a:rPr>
              <a:t>T[x]=S-box[x^k]</a:t>
            </a:r>
            <a:r>
              <a:rPr sz="1800" b="0">
                <a:solidFill>
                  <a:srgbClr val="1F2D3A"/>
                </a:solidFill>
              </a:rPr>
              <a:t> insecure on its own?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6. </a:t>
            </a:r>
            <a:r>
              <a:rPr sz="1800" b="0">
                <a:solidFill>
                  <a:srgbClr val="1F2D3A"/>
                </a:solidFill>
              </a:rPr>
              <a:t>Internal vs. external encoding; the limit of external encoding?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Self-Check — Answers (1–6)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3931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1. </a:t>
            </a:r>
            <a:r>
              <a:rPr sz="1800" b="1">
                <a:solidFill>
                  <a:srgbClr val="1F2D3A"/>
                </a:solidFill>
              </a:rPr>
              <a:t>Black box</a:t>
            </a:r>
            <a:r>
              <a:rPr sz="1800" b="0">
                <a:solidFill>
                  <a:srgbClr val="1F2D3A"/>
                </a:solidFill>
              </a:rPr>
              <a:t> (I/O only), </a:t>
            </a:r>
            <a:r>
              <a:rPr sz="1800" b="1">
                <a:solidFill>
                  <a:srgbClr val="1F2D3A"/>
                </a:solidFill>
              </a:rPr>
              <a:t>grey box</a:t>
            </a:r>
            <a:r>
              <a:rPr sz="1800" b="0">
                <a:solidFill>
                  <a:srgbClr val="1F2D3A"/>
                </a:solidFill>
              </a:rPr>
              <a:t> (+ side channel: power/time), </a:t>
            </a:r>
            <a:r>
              <a:rPr sz="1800" b="1">
                <a:solidFill>
                  <a:srgbClr val="1F2D3A"/>
                </a:solidFill>
              </a:rPr>
              <a:t>white box</a:t>
            </a:r>
            <a:r>
              <a:rPr sz="1800" b="0">
                <a:solidFill>
                  <a:srgbClr val="1F2D3A"/>
                </a:solidFill>
              </a:rPr>
              <a:t> (full access + modifies). The classic AES proof assumes </a:t>
            </a:r>
            <a:r>
              <a:rPr sz="1800" b="1">
                <a:solidFill>
                  <a:srgbClr val="1F2D3A"/>
                </a:solidFill>
              </a:rPr>
              <a:t>black box</a:t>
            </a:r>
            <a:r>
              <a:rPr sz="18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2. </a:t>
            </a:r>
            <a:r>
              <a:rPr sz="1800" b="0">
                <a:solidFill>
                  <a:srgbClr val="1F2D3A"/>
                </a:solidFill>
              </a:rPr>
              <a:t>"Run one round/observe an intermediate value" → </a:t>
            </a:r>
            <a:r>
              <a:rPr sz="1800" b="1">
                <a:solidFill>
                  <a:srgbClr val="1F2D3A"/>
                </a:solidFill>
              </a:rPr>
              <a:t>DCA</a:t>
            </a:r>
            <a:r>
              <a:rPr sz="1800" b="0">
                <a:solidFill>
                  <a:srgbClr val="1F2D3A"/>
                </a:solidFill>
              </a:rPr>
              <a:t>; "inject a fault" → </a:t>
            </a:r>
            <a:r>
              <a:rPr sz="1800" b="1">
                <a:solidFill>
                  <a:srgbClr val="1F2D3A"/>
                </a:solidFill>
              </a:rPr>
              <a:t>DFA</a:t>
            </a:r>
            <a:r>
              <a:rPr sz="18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3. </a:t>
            </a:r>
            <a:r>
              <a:rPr sz="1800" b="0">
                <a:solidFill>
                  <a:srgbClr val="1F2D3A"/>
                </a:solidFill>
              </a:rPr>
              <a:t>The key sits as a </a:t>
            </a:r>
            <a:r>
              <a:rPr sz="1800" b="1">
                <a:solidFill>
                  <a:srgbClr val="1F2D3A"/>
                </a:solidFill>
              </a:rPr>
              <a:t>high-entropy</a:t>
            </a:r>
            <a:r>
              <a:rPr sz="1800" b="0">
                <a:solidFill>
                  <a:srgbClr val="1F2D3A"/>
                </a:solidFill>
              </a:rPr>
              <a:t> block → found by an entropy scan/</a:t>
            </a:r>
            <a:r>
              <a:rPr sz="1800" b="0">
                <a:solidFill>
                  <a:srgbClr val="A1123F"/>
                </a:solidFill>
                <a:latin typeface="Consolas"/>
              </a:rPr>
              <a:t>strings</a:t>
            </a:r>
            <a:r>
              <a:rPr sz="1800" b="0">
                <a:solidFill>
                  <a:srgbClr val="1F2D3A"/>
                </a:solidFill>
              </a:rPr>
              <a:t>/pattern (demo </a:t>
            </a:r>
            <a:r>
              <a:rPr sz="1800" b="0">
                <a:solidFill>
                  <a:srgbClr val="A1123F"/>
                </a:solidFill>
                <a:latin typeface="Consolas"/>
              </a:rPr>
              <a:t>--scan</a:t>
            </a:r>
            <a:r>
              <a:rPr sz="1800" b="0">
                <a:solidFill>
                  <a:srgbClr val="1F2D3A"/>
                </a:solidFill>
              </a:rPr>
              <a:t>). Moving its location isn't hiding.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4. </a:t>
            </a:r>
            <a:r>
              <a:rPr sz="1800" b="1">
                <a:solidFill>
                  <a:srgbClr val="1F2D3A"/>
                </a:solidFill>
              </a:rPr>
              <a:t>Code lifting:</a:t>
            </a:r>
            <a:r>
              <a:rPr sz="1800" b="0">
                <a:solidFill>
                  <a:srgbClr val="1F2D3A"/>
                </a:solidFill>
              </a:rPr>
              <a:t> copying a table/routine as-is and using it elsewhere. Closed by: </a:t>
            </a:r>
            <a:r>
              <a:rPr sz="1800" b="1">
                <a:solidFill>
                  <a:srgbClr val="1F2D3A"/>
                </a:solidFill>
              </a:rPr>
              <a:t>external encoding</a:t>
            </a:r>
            <a:r>
              <a:rPr sz="1800" b="0">
                <a:solidFill>
                  <a:srgbClr val="1F2D3A"/>
                </a:solidFill>
              </a:rPr>
              <a:t> (+ device binding/server checking).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5. </a:t>
            </a:r>
            <a:r>
              <a:rPr sz="1800" b="0">
                <a:solidFill>
                  <a:srgbClr val="A1123F"/>
                </a:solidFill>
                <a:latin typeface="Consolas"/>
              </a:rPr>
              <a:t>T[x]=S-box[x^k]</a:t>
            </a:r>
            <a:r>
              <a:rPr sz="1800" b="0">
                <a:solidFill>
                  <a:srgbClr val="1F2D3A"/>
                </a:solidFill>
              </a:rPr>
              <a:t> depends directly on k; comparing the table with S-box </a:t>
            </a:r>
            <a:r>
              <a:rPr sz="1800" b="1">
                <a:solidFill>
                  <a:srgbClr val="1F2D3A"/>
                </a:solidFill>
              </a:rPr>
              <a:t>recovers k</a:t>
            </a:r>
            <a:r>
              <a:rPr sz="1800" b="0">
                <a:solidFill>
                  <a:srgbClr val="1F2D3A"/>
                </a:solidFill>
              </a:rPr>
              <a:t>. </a:t>
            </a:r>
            <a:r>
              <a:rPr sz="1800" b="1">
                <a:solidFill>
                  <a:srgbClr val="1F2D3A"/>
                </a:solidFill>
              </a:rPr>
              <a:t>Mask it with internal encoding.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6. </a:t>
            </a:r>
            <a:r>
              <a:rPr sz="1800" b="1">
                <a:solidFill>
                  <a:srgbClr val="1F2D3A"/>
                </a:solidFill>
              </a:rPr>
              <a:t>Internal encoding</a:t>
            </a:r>
            <a:r>
              <a:rPr sz="1800" b="0">
                <a:solidFill>
                  <a:srgbClr val="1F2D3A"/>
                </a:solidFill>
              </a:rPr>
              <a:t> masks intermediate values with secret bijections; </a:t>
            </a:r>
            <a:r>
              <a:rPr sz="1800" b="1">
                <a:solidFill>
                  <a:srgbClr val="1F2D3A"/>
                </a:solidFill>
              </a:rPr>
              <a:t>external encoding</a:t>
            </a:r>
            <a:r>
              <a:rPr sz="1800" b="0">
                <a:solidFill>
                  <a:srgbClr val="1F2D3A"/>
                </a:solidFill>
              </a:rPr>
              <a:t> transforms the input/output (makes code lifting harder). Limit: </a:t>
            </a:r>
            <a:r>
              <a:rPr sz="1800" b="1">
                <a:solidFill>
                  <a:srgbClr val="1F2D3A"/>
                </a:solidFill>
              </a:rPr>
              <a:t>the caller must match too</a:t>
            </a:r>
            <a:r>
              <a:rPr sz="1800" b="0">
                <a:solidFill>
                  <a:srgbClr val="1F2D3A"/>
                </a:solidFill>
              </a:rPr>
              <a:t> → breaks standard AES compatibility.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Self-Check (7–12)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21488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1. </a:t>
            </a:r>
            <a:r>
              <a:rPr sz="1800" b="0">
                <a:solidFill>
                  <a:srgbClr val="1F2D3A"/>
                </a:solidFill>
              </a:rPr>
              <a:t>Table size/speed order of magnitude? Why only selected operations?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2. </a:t>
            </a:r>
            <a:r>
              <a:rPr sz="1800" b="0">
                <a:solidFill>
                  <a:srgbClr val="1F2D3A"/>
                </a:solidFill>
              </a:rPr>
              <a:t>How does "all of them were broken" affect your decision?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3. </a:t>
            </a:r>
            <a:r>
              <a:rPr sz="1800" b="0">
                <a:solidFill>
                  <a:srgbClr val="1F2D3A"/>
                </a:solidFill>
              </a:rPr>
              <a:t>Which hardware attack does DCA resemble?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4. </a:t>
            </a:r>
            <a:r>
              <a:rPr sz="1800" b="0">
                <a:solidFill>
                  <a:srgbClr val="1F2D3A"/>
                </a:solidFill>
              </a:rPr>
              <a:t>Rank the key-protection options by strength/cost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5. </a:t>
            </a:r>
            <a:r>
              <a:rPr sz="1800" b="0">
                <a:solidFill>
                  <a:srgbClr val="1F2D3A"/>
                </a:solidFill>
              </a:rPr>
              <a:t>What 3 layers should you add if you use WBC?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6. </a:t>
            </a:r>
            <a:r>
              <a:rPr sz="1800" b="0">
                <a:solidFill>
                  <a:srgbClr val="1F2D3A"/>
                </a:solidFill>
              </a:rPr>
              <a:t>Write the S8 rationale for a key, in three sentences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Self-Check — Answers (7–12)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2291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1. </a:t>
            </a:r>
            <a:r>
              <a:rPr sz="1800" b="0">
                <a:solidFill>
                  <a:srgbClr val="1F2D3A"/>
                </a:solidFill>
              </a:rPr>
              <a:t>Tables run to </a:t>
            </a:r>
            <a:r>
              <a:rPr sz="1800" b="1">
                <a:solidFill>
                  <a:srgbClr val="1F2D3A"/>
                </a:solidFill>
              </a:rPr>
              <a:t>hundreds of KB</a:t>
            </a:r>
            <a:r>
              <a:rPr sz="1800" b="0">
                <a:solidFill>
                  <a:srgbClr val="1F2D3A"/>
                </a:solidFill>
              </a:rPr>
              <a:t> (standard AES key: 16–32 bytes) and are </a:t>
            </a:r>
            <a:r>
              <a:rPr sz="1800" b="1">
                <a:solidFill>
                  <a:srgbClr val="1F2D3A"/>
                </a:solidFill>
              </a:rPr>
              <a:t>~50× slower</a:t>
            </a:r>
            <a:r>
              <a:rPr sz="1800" b="0">
                <a:solidFill>
                  <a:srgbClr val="1F2D3A"/>
                </a:solidFill>
              </a:rPr>
              <a:t> → applied only to </a:t>
            </a:r>
            <a:r>
              <a:rPr sz="1800" b="1">
                <a:solidFill>
                  <a:srgbClr val="1F2D3A"/>
                </a:solidFill>
              </a:rPr>
              <a:t>selected/critical</a:t>
            </a:r>
            <a:r>
              <a:rPr sz="1800" b="0">
                <a:solidFill>
                  <a:srgbClr val="1F2D3A"/>
                </a:solidFill>
              </a:rPr>
              <a:t> operations.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2. </a:t>
            </a:r>
            <a:r>
              <a:rPr sz="1800" b="0">
                <a:solidFill>
                  <a:srgbClr val="1F2D3A"/>
                </a:solidFill>
              </a:rPr>
              <a:t>We don't count WBC alone as key protection; we use it as a </a:t>
            </a:r>
            <a:r>
              <a:rPr sz="1800" b="1">
                <a:solidFill>
                  <a:srgbClr val="1F2D3A"/>
                </a:solidFill>
              </a:rPr>
              <a:t>delaying layer</a:t>
            </a:r>
            <a:r>
              <a:rPr sz="1800" b="0">
                <a:solidFill>
                  <a:srgbClr val="1F2D3A"/>
                </a:solidFill>
              </a:rPr>
              <a:t>, together with rotation + binding + server checking (hardware where possible).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3. </a:t>
            </a:r>
            <a:r>
              <a:rPr sz="1800" b="1">
                <a:solidFill>
                  <a:srgbClr val="1F2D3A"/>
                </a:solidFill>
              </a:rPr>
              <a:t>DPA</a:t>
            </a:r>
            <a:r>
              <a:rPr sz="1800" b="0">
                <a:solidFill>
                  <a:srgbClr val="1F2D3A"/>
                </a:solidFill>
              </a:rPr>
              <a:t> (Differential Power Analysis); DCA replaces the power trace with a </a:t>
            </a:r>
            <a:r>
              <a:rPr sz="1800" b="1">
                <a:solidFill>
                  <a:srgbClr val="1F2D3A"/>
                </a:solidFill>
              </a:rPr>
              <a:t>software trace</a:t>
            </a:r>
            <a:r>
              <a:rPr sz="1800" b="0">
                <a:solidFill>
                  <a:srgbClr val="1F2D3A"/>
                </a:solidFill>
              </a:rPr>
              <a:t> (memory access/intermediate value).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4. </a:t>
            </a:r>
            <a:r>
              <a:rPr sz="1800" b="0">
                <a:solidFill>
                  <a:srgbClr val="1F2D3A"/>
                </a:solidFill>
              </a:rPr>
              <a:t>(weak→strong) plain embedded key &lt; encoded table (pure-software WBC) &lt; WBC+binding/rotation &lt; </a:t>
            </a:r>
            <a:r>
              <a:rPr sz="1800" b="1">
                <a:solidFill>
                  <a:srgbClr val="1F2D3A"/>
                </a:solidFill>
              </a:rPr>
              <a:t>TEE/SE</a:t>
            </a:r>
            <a:r>
              <a:rPr sz="1800" b="0">
                <a:solidFill>
                  <a:srgbClr val="1F2D3A"/>
                </a:solidFill>
              </a:rPr>
              <a:t> &lt; </a:t>
            </a:r>
            <a:r>
              <a:rPr sz="1800" b="1">
                <a:solidFill>
                  <a:srgbClr val="1F2D3A"/>
                </a:solidFill>
              </a:rPr>
              <a:t>HSM/hardware</a:t>
            </a:r>
            <a:r>
              <a:rPr sz="1800" b="0">
                <a:solidFill>
                  <a:srgbClr val="1F2D3A"/>
                </a:solidFill>
              </a:rPr>
              <a:t>. Cost rises in the same direction.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5. </a:t>
            </a:r>
            <a:r>
              <a:rPr sz="1800" b="1">
                <a:solidFill>
                  <a:srgbClr val="1F2D3A"/>
                </a:solidFill>
              </a:rPr>
              <a:t>Key rotation · device/application binding · server-side checking/revocation</a:t>
            </a:r>
            <a:r>
              <a:rPr sz="1800" b="0">
                <a:solidFill>
                  <a:srgbClr val="1F2D3A"/>
                </a:solidFill>
              </a:rPr>
              <a:t> (+ RASP/integrity).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6. </a:t>
            </a:r>
            <a:r>
              <a:rPr sz="1800" b="0">
                <a:solidFill>
                  <a:srgbClr val="1F2D3A"/>
                </a:solidFill>
              </a:rPr>
              <a:t>Example: "The DEK protects data at rest with AES-256-GCM. It is generated/stored in an HSM, never kept in plain memory. Hardware was chosen because pure-software whitebox has been broken and the asset's value is high."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Summary: This Week in One Sentence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264920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2000" b="0">
                <a:solidFill>
                  <a:srgbClr val="1F2D3A"/>
                </a:solidFill>
              </a:rPr>
              <a:t>Every published pure-software whitebox has been broken; WBC is a layer that </a:t>
            </a:r>
            <a:r>
              <a:rPr sz="2000" b="1">
                <a:solidFill>
                  <a:srgbClr val="1F2D3A"/>
                </a:solidFill>
              </a:rPr>
              <a:t>delays</a:t>
            </a:r>
            <a:r>
              <a:rPr sz="2000" b="0">
                <a:solidFill>
                  <a:srgbClr val="1F2D3A"/>
                </a:solidFill>
              </a:rPr>
              <a:t> key extraction, and it only gains meaning together with rotation, device binding, and server checking.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Sources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26314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The secure programming technical guide</a:t>
            </a:r>
            <a:r>
              <a:rPr sz="2000" b="0">
                <a:solidFill>
                  <a:srgbClr val="1F2D3A"/>
                </a:solidFill>
              </a:rPr>
              <a:t> — the WBC attacker model, where whitebox AES sits in a product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Chow, Eisen, Johnson, van Oorschot — WB-AES (SAC 2002), WB-DES (DRM 2002)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Wyseur — "Hiding Keys in Software" (short introduction)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BGE (SAC 2004); Bos et al. DCA (CHES 2016); "Unboxing the White-Box" (BH EU 2015)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WhibOx competition results (2017–2024)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9456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4000" b="1">
                <a:solidFill>
                  <a:srgbClr val="006D77"/>
                </a:solidFill>
              </a:rPr>
              <a:t>Next Week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56616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1">
                <a:solidFill>
                  <a:srgbClr val="1F2D3A"/>
                </a:solidFill>
              </a:rPr>
              <a:t>Week 12 — Certification and Penetration-Test Planning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051808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0">
                <a:solidFill>
                  <a:srgbClr val="1F2D3A"/>
                </a:solidFill>
              </a:rPr>
              <a:t>Measuring how much a protection "actually withstands" → the independent-evaluation process and reporting.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CEN429 Week 11 — Whitebox Cryptography</dc:title>
  <dc:subject/>
  <dc:creator>Asst. Prof. Dr. Uğur CORUH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