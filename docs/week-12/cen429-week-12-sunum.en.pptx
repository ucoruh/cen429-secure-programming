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bir sızma testinin nasıl planlandığını adım adım görüyoruz.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kendi ürünümüzün sızma testini nasıl planladığımızı öğreniyoruz. Etik çerçeveyi baştan koyacağız.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slaytı atlama. Tüm hafta bu çerçevede.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Bu bölümdeki terimleri tüm hafta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13 adımlık süreç.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ürünün üçüncü taraf laboratuvarda değerlendirilmesinin genelleştirilmiş hâli. Adım adım gidiyoruz; her adımı projeye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yöntemler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 savunmacı gözüyle, "kendi ürünümü teslim etmeden nasıl sınarım?" diye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saldırı potansiyeli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sızma testi planı.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"Planlı" ve "izinli" vurgusu isteğe bağlı değil. Kapsamı/kuralı yazılı olmayan test meşru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önce öğrenciye sordurup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"oyuncak ürün"ü baştan sona değerlendiriyoruz; 13 adımı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Sertifikasyonları ve Sızma Testi Planlaması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920"/>
                <a:gridCol w="1012410"/>
                <a:gridCol w="899920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neden bağımsız değerlendirme · standartlar · 13 adım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 değerlendirmesi yöntemleri · standart testleri ·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Sızma testi planı · test kartı · raporlama · proje S16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değerlendirme ve sertifikasyon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("Orange Book"): ilk resmi değerlendirme ölçütleri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1991–93</a:t>
            </a:r>
            <a:r>
              <a:rPr sz="1800" b="0">
                <a:solidFill>
                  <a:srgbClr val="1F2D3A"/>
                </a:solidFill>
              </a:rPr>
              <a:t> — Avrupa </a:t>
            </a:r>
            <a:r>
              <a:rPr sz="1800" b="1">
                <a:solidFill>
                  <a:srgbClr val="1F2D3A"/>
                </a:solidFill>
              </a:rPr>
              <a:t>ITSEC</a:t>
            </a:r>
            <a:r>
              <a:rPr sz="1800" b="0">
                <a:solidFill>
                  <a:srgbClr val="1F2D3A"/>
                </a:solidFill>
              </a:rPr>
              <a:t>, Kanada </a:t>
            </a:r>
            <a:r>
              <a:rPr sz="1800" b="1">
                <a:solidFill>
                  <a:srgbClr val="1F2D3A"/>
                </a:solidFill>
              </a:rPr>
              <a:t>CTCPEC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 (ISO/IEC 15408)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EAL</a:t>
            </a:r>
            <a:r>
              <a:rPr sz="1800" b="0">
                <a:solidFill>
                  <a:srgbClr val="1F2D3A"/>
                </a:solidFill>
              </a:rPr>
              <a:t> ölçeği buradan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PTES/NIST SP 800-115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2005→2023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(v2→v4.0)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MASVS/MASTG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Tek cümle: </a:t>
            </a:r>
            <a:r>
              <a:rPr sz="1800" b="1">
                <a:solidFill>
                  <a:srgbClr val="1F2D3A"/>
                </a:solidFill>
              </a:rPr>
              <a:t>üretici kendi ürününü onaylayamaz</a:t>
            </a:r>
            <a:r>
              <a:rPr sz="1800" b="0">
                <a:solidFill>
                  <a:srgbClr val="1F2D3A"/>
                </a:solidFill>
              </a:rPr>
              <a:t> — bağımsız, </a:t>
            </a:r>
            <a:r>
              <a:rPr sz="1800" b="1">
                <a:solidFill>
                  <a:srgbClr val="1F2D3A"/>
                </a:solidFill>
              </a:rPr>
              <a:t>kanıta dayalı</a:t>
            </a:r>
            <a:r>
              <a:rPr sz="1800" b="0">
                <a:solidFill>
                  <a:srgbClr val="1F2D3A"/>
                </a:solidFill>
              </a:rPr>
              <a:t> değerlendirme.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4–11. haftalar:</a:t>
            </a:r>
            <a:r>
              <a:rPr sz="2000" b="0">
                <a:solidFill>
                  <a:srgbClr val="1F2D3A"/>
                </a:solidFill>
              </a:rPr>
              <a:t> korumaları öğrendik (bellek, kripto, gizleme,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(12):</a:t>
            </a:r>
            <a:r>
              <a:rPr sz="2000" b="0">
                <a:solidFill>
                  <a:srgbClr val="1F2D3A"/>
                </a:solidFill>
              </a:rPr>
              <a:t> peki bu korumalar </a:t>
            </a:r>
            <a:r>
              <a:rPr sz="2000" b="1">
                <a:solidFill>
                  <a:srgbClr val="1F2D3A"/>
                </a:solidFill>
              </a:rPr>
              <a:t>gerçekten çalışıyor mu</a:t>
            </a:r>
            <a:r>
              <a:rPr sz="2000" b="0">
                <a:solidFill>
                  <a:srgbClr val="1F2D3A"/>
                </a:solidFill>
              </a:rPr>
              <a:t>? Nasıl </a:t>
            </a:r>
            <a:r>
              <a:rPr sz="2000" b="1">
                <a:solidFill>
                  <a:srgbClr val="1F2D3A"/>
                </a:solidFill>
              </a:rPr>
              <a:t>sınanır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13. hafta:</a:t>
            </a:r>
            <a:r>
              <a:rPr sz="2000" b="0">
                <a:solidFill>
                  <a:srgbClr val="1F2D3A"/>
                </a:solidFill>
              </a:rPr>
              <a:t> güvenlik gereksinimleri ve uyum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Bugün: bağımsız değerlendirme + sızma testi planlama.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ÖÇ.6 / ÖÇ.7</a:t>
            </a:r>
            <a:r>
              <a:rPr sz="2000" b="0">
                <a:solidFill>
                  <a:srgbClr val="1F2D3A"/>
                </a:solidFill>
              </a:rPr>
              <a:t> (test/doğrulama, standartlar)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değerlendirmenin adımlarını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</a:t>
            </a:r>
            <a:r>
              <a:rPr sz="2000" b="1">
                <a:solidFill>
                  <a:srgbClr val="1F2D3A"/>
                </a:solidFill>
              </a:rPr>
              <a:t>derecelendirmek</a:t>
            </a:r>
            <a:r>
              <a:rPr sz="2000" b="0">
                <a:solidFill>
                  <a:srgbClr val="1F2D3A"/>
                </a:solidFill>
              </a:rPr>
              <a:t> (saldırı potansiyeli, CVSS)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hukuki çerçeve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kapsamı açıkça tanımlı bir sözleşme olmadan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test, amacı ne olursa olsun </a:t>
            </a:r>
            <a:r>
              <a:rPr sz="2000" b="1">
                <a:solidFill>
                  <a:srgbClr val="1F2D3A"/>
                </a:solidFill>
              </a:rPr>
              <a:t>suçtur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gerçek kişisel veri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"değerlendirme", "sertifikasyon", "sızma testi"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 ki konu havada kalmasın.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değerlendirmesi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değerlendirmesi:</a:t>
            </a:r>
            <a:r>
              <a:rPr sz="2000" b="0">
                <a:solidFill>
                  <a:srgbClr val="1F2D3A"/>
                </a:solidFill>
              </a:rPr>
              <a:t> bir ürünün güvenlik iddialarının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biri tarafından </a:t>
            </a:r>
            <a:r>
              <a:rPr sz="2000" b="1">
                <a:solidFill>
                  <a:srgbClr val="1F2D3A"/>
                </a:solidFill>
              </a:rPr>
              <a:t>sınanması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"Ben güvenliyim" demek yetmez;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Sertifikasyon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Sertifikasyon:</a:t>
            </a:r>
            <a:r>
              <a:rPr sz="2000" b="0">
                <a:solidFill>
                  <a:srgbClr val="1F2D3A"/>
                </a:solidFill>
              </a:rPr>
              <a:t> bir ürünün/kurumun belirli bir </a:t>
            </a:r>
            <a:r>
              <a:rPr sz="2000" b="1">
                <a:solidFill>
                  <a:srgbClr val="1F2D3A"/>
                </a:solidFill>
              </a:rPr>
              <a:t>standarda</a:t>
            </a:r>
            <a:r>
              <a:rPr sz="2000" b="0">
                <a:solidFill>
                  <a:srgbClr val="1F2D3A"/>
                </a:solidFill>
              </a:rPr>
              <a:t> uyduğunun, yetkili bir tarafça </a:t>
            </a:r>
            <a:r>
              <a:rPr sz="2000" b="1">
                <a:solidFill>
                  <a:srgbClr val="1F2D3A"/>
                </a:solidFill>
              </a:rPr>
              <a:t>belgelenmesi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başarılıysa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Laboratuvar (değerlendirici) kim?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 laboratuvarı:</a:t>
            </a:r>
            <a:r>
              <a:rPr sz="2000" b="0">
                <a:solidFill>
                  <a:srgbClr val="1F2D3A"/>
                </a:solidFill>
              </a:rPr>
              <a:t> ürünü sınayan bağımsız, akredite kuruluş.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geliştiren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 (tarafsızlık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 koda ve belgeye erişir.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neyin nasıl yapılacağını belirleyen ortak kurallar bütünü.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ISO/IEC 27001, Ortak Kriterler,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farklı şeyi ölçer (birazdan).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(vulnerability)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bir sistemde kötüye kullanılabilecek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(ör. sınır denetimsiz tampon).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Zafiyet + kötüye kullanım = güvenlik olayı.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(finding)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değerlendirmede tespit edilen bir sorun ya da iyileştirme noktası.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için: kanıt, ciddiyet,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vs kara kutu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test:</a:t>
            </a:r>
            <a:r>
              <a:rPr sz="2000" b="0">
                <a:solidFill>
                  <a:srgbClr val="1F2D3A"/>
                </a:solidFill>
              </a:rPr>
              <a:t> test eden </a:t>
            </a:r>
            <a:r>
              <a:rPr sz="2000" b="1">
                <a:solidFill>
                  <a:srgbClr val="1F2D3A"/>
                </a:solidFill>
              </a:rPr>
              <a:t>kaynak koda + belgeye</a:t>
            </a:r>
            <a:r>
              <a:rPr sz="2000" b="0">
                <a:solidFill>
                  <a:srgbClr val="1F2D3A"/>
                </a:solidFill>
              </a:rPr>
              <a:t> sahip.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kutu test:</a:t>
            </a:r>
            <a:r>
              <a:rPr sz="2000" b="0">
                <a:solidFill>
                  <a:srgbClr val="1F2D3A"/>
                </a:solidFill>
              </a:rPr>
              <a:t> test eden yalnız dışarıdan (kullanıcı gibi)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genelde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çalışır (her şeyi görür).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 (Static Application Security Testing):</a:t>
            </a:r>
            <a:r>
              <a:rPr sz="2000" b="0">
                <a:solidFill>
                  <a:srgbClr val="1F2D3A"/>
                </a:solidFill>
              </a:rPr>
              <a:t> 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analiz eden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kalıpları, olası bellek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ve geniş; ama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"statik analiz" olarak gördük.)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DAST (Dynamic Application Security Testing):</a:t>
            </a:r>
            <a:r>
              <a:rPr sz="2000" b="0">
                <a:solidFill>
                  <a:srgbClr val="1F2D3A"/>
                </a:solidFill>
              </a:rPr>
              <a:t> 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erişim hataları, tanımsız davranışları yakalar (ör. sanitizer'lar).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ASan/UBSan.)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beklenmeyen/rastgele girdiler</a:t>
            </a:r>
            <a:r>
              <a:rPr sz="2000" b="0">
                <a:solidFill>
                  <a:srgbClr val="1F2D3A"/>
                </a:solidFill>
              </a:rPr>
              <a:t> verip çökme/bozulma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aklına gelmeyen girdileri bulur.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libFuzzer/AFL kavramı.)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(pentest)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 (penetration test):</a:t>
            </a:r>
            <a:r>
              <a:rPr sz="2000" b="0">
                <a:solidFill>
                  <a:srgbClr val="1F2D3A"/>
                </a:solidFill>
              </a:rPr>
              <a:t> bir saldırganın bakışıyla,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olarak sistemi aşmayı denemek.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yöntemleri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; en son ve en pahalı adımdır.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</a:t>
            </a:r>
            <a:r>
              <a:rPr sz="2000" b="1">
                <a:solidFill>
                  <a:srgbClr val="1F2D3A"/>
                </a:solidFill>
              </a:rPr>
              <a:t>tam olarak ne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Kriterler terimidir.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tanımlanır: sürüm + ikili + kaynak + özet değeri.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bir zafiyetin </a:t>
            </a:r>
            <a:r>
              <a:rPr sz="2000" b="1">
                <a:solidFill>
                  <a:srgbClr val="1F2D3A"/>
                </a:solidFill>
              </a:rPr>
              <a:t>etkisini</a:t>
            </a:r>
            <a:r>
              <a:rPr sz="2000" b="0">
                <a:solidFill>
                  <a:srgbClr val="1F2D3A"/>
                </a:solidFill>
              </a:rPr>
              <a:t> standart bir puanla (0–10) ifade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puan = daha ciddi 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Önceliklendirmede kullanılır.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potansiyeli:</a:t>
            </a:r>
            <a:r>
              <a:rPr sz="2000" b="0">
                <a:solidFill>
                  <a:srgbClr val="1F2D3A"/>
                </a:solidFill>
              </a:rPr>
              <a:t> bir saldırıyı gerçekleştirmenin </a:t>
            </a:r>
            <a:r>
              <a:rPr sz="2000" b="1">
                <a:solidFill>
                  <a:srgbClr val="1F2D3A"/>
                </a:solidFill>
              </a:rPr>
              <a:t>ne kadar zor</a:t>
            </a:r>
            <a:r>
              <a:rPr sz="2000" b="0">
                <a:solidFill>
                  <a:srgbClr val="1F2D3A"/>
                </a:solidFill>
              </a:rPr>
              <a:t> olduğu.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Süre, uzmanlık, ekipman gibi faktörlerle puanlanır.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potansiyel (kolay saldırı) = ciddi bulgu.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— beş faktör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325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&lt;svg viewBox="0 0 940 300" style="width:95%;height:auto;display:block;margin:2px auto" font-family="sans-serif"&gt; &lt;text x="470" y="24" text-anchor="middle" font-size="16" fill="#005f66" font-weight="bold"&gt;Beş faktörün toplamı → puan → derece&lt;/text&gt; &lt;g font-size="15" fill="#333"&gt; &lt;text x="30" y="66"&gt;Geçen zaman&lt;/text&gt;&lt;rect x="200" y="52" width="150" height="18" rx="4" fill="#0a9396"/&gt; &lt;text x="30" y="98"&gt;Uzmanlık&lt;/text&gt;&lt;rect x="200" y="84" width="200" height="18" rx="4" fill="#0a9396"/&gt; &lt;text x="30" y="130"&gt;Hedef bilgisi&lt;/text&gt;&lt;rect x="200" y="116" width="110" height="18" rx="4" fill="#0a9396"/&gt; &lt;text x="30" y="162"&gt;Fırsat (erişim)&lt;/text&gt;&lt;rect x="200" y="148" width="170" height="18" rx="4" fill="#0a9396"/&gt; &lt;text x="30" y="194"&gt;Ekipman&lt;/text&gt;&lt;rect x="200" y="180" width="130" height="18" rx="4" fill="#0a9396"/&gt; &lt;/g&gt; &lt;line x1="470" y1="45" x2="470" y2="205" stroke="#bbb" stroke-dasharray="4,4"/&gt; &lt;rect x="560" y="100" width="120" height="60" rx="8" fill="#006d77"/&gt;&lt;text x="620" y="128" text-anchor="middle" font-size="15" fill="#fff"&gt;TOPLAM&lt;/text&gt;&lt;text x="620" y="150" text-anchor="middle" font-size="14" fill="#cdeff1"&gt;puan&lt;/text&gt; &lt;line x1="680" y1="130" x2="720" y2="130" stroke="#333" stroke-width="3" marker-end="url(#a12)"/&gt; &lt;g font-size="13"&gt; &lt;rect x="720" y="70" width="200" height="26" fill="#2e7d32"/&gt;&lt;text x="820" y="88" text-anchor="middle" fill="#fff"&gt;DÜŞÜK pot. = ciddi bulgu&lt;/text&gt; &lt;rect x="720" y="100" width="200" height="26" fill="#8bc34a"/&gt;&lt;text x="820" y="118" text-anchor="middle" fill="#123"&gt;Temel / Gelişmiş&lt;/text&gt; &lt;rect x="720" y="130" width="200" height="26" fill="#ffb300"/&gt;&lt;text x="820" y="148" text-anchor="middle" fill="#123"&gt;Orta / Yüksek&lt;/text&gt; &lt;rect x="720" y="160" width="200" height="26" fill="#c0392b"/&gt;&lt;text x="820" y="178" text-anchor="middle" fill="#fff"&gt;YÜKSEK pot. = zor saldırı&lt;/text&gt; &lt;/g&gt; &lt;text x="470" y="250" text-anchor="middle" font-size="14.5" fill="#555"&gt;Düşük potansiyel = az zaman/beceri/araç → çok saldırgan yapabilir → yüksek risk.&lt;/text&gt; &lt;text x="470" y="276" text-anchor="middle" font-size="14" fill="#777"&gt;Saldırı potansiyeli = saldırının ZORLUĞU · CVSS = açığın ETKİSİ (ayrı eksenler).&lt;/text&gt; &lt;defs&gt;&lt;marker id="a12"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ve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bir değişikliğin güvenlik etkisini </a:t>
            </a:r>
            <a:r>
              <a:rPr sz="2000" b="1">
                <a:solidFill>
                  <a:srgbClr val="1F2D3A"/>
                </a:solidFill>
              </a:rPr>
              <a:t>belgeleyen</a:t>
            </a:r>
            <a:r>
              <a:rPr sz="2000" b="0">
                <a:solidFill>
                  <a:srgbClr val="1F2D3A"/>
                </a:solidFill>
              </a:rPr>
              <a:t> rapor.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değişen kısmın</a:t>
            </a:r>
            <a:r>
              <a:rPr sz="2000" b="0">
                <a:solidFill>
                  <a:srgbClr val="1F2D3A"/>
                </a:solidFill>
              </a:rPr>
              <a:t> yeniden değerlendirilmesi.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5. bölümde ayrıntılı göreceğiz.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değerlendirme · sertifikasyon · laboratuvar · standart · zafiyet · bulgu · beyaz/kara kutu · SAST · DAST · fuzzing · sızma testi · TOE · CVSS · saldırı potansiyeli · etki analizi/delta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</a:t>
            </a:r>
            <a:r>
              <a:rPr sz="2000" b="1">
                <a:solidFill>
                  <a:srgbClr val="1F2D3A"/>
                </a:solidFill>
              </a:rPr>
              <a:t>neden bağımsız değerlendirme?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bağımsız değerlendirme?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"Benim kodum güvenli"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 kendi koduna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Menfaat çatışması: "ürünüm güvenli" demek istersiniz.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üçüncü taraf</a:t>
            </a:r>
            <a:r>
              <a:rPr sz="2000" b="0">
                <a:solidFill>
                  <a:srgbClr val="1F2D3A"/>
                </a:solidFill>
              </a:rPr>
              <a:t> doğrulaması gerekir.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neye dayanır?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Söze değil,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laboratuvar: tarafsız, akredite, uzman.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ya da bir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Değerlendiricinin iki varsayımı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kutu:</a:t>
            </a:r>
            <a:r>
              <a:rPr sz="2000" b="0">
                <a:solidFill>
                  <a:srgbClr val="1F2D3A"/>
                </a:solidFill>
              </a:rPr>
              <a:t> tüm kaynak koda ve belgelere erişimi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güvenilmez:</a:t>
            </a:r>
            <a:r>
              <a:rPr sz="2000" b="0">
                <a:solidFill>
                  <a:srgbClr val="1F2D3A"/>
                </a:solidFill>
              </a:rPr>
              <a:t> ürünün çalıştığı ortam saldırgana açık.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varsayımların sonucu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</a:t>
            </a:r>
            <a:r>
              <a:rPr sz="2000" b="1">
                <a:solidFill>
                  <a:srgbClr val="1F2D3A"/>
                </a:solidFill>
              </a:rPr>
              <a:t>var olması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sorar: </a:t>
            </a:r>
            <a:r>
              <a:rPr sz="2000" b="1">
                <a:solidFill>
                  <a:srgbClr val="1F2D3A"/>
                </a:solidFill>
              </a:rPr>
              <a:t>ne kadar kolay aşılıyor?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korumayı değil,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Korumaların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aşılmasının süresini ölçer.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tasarımda saldırgan zorlanır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koruma → tek adımda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koruma → saldırgan katmanları </a:t>
            </a:r>
            <a:r>
              <a:rPr sz="2000" b="1">
                <a:solidFill>
                  <a:srgbClr val="1F2D3A"/>
                </a:solidFill>
              </a:rPr>
              <a:t>zincirlemek</a:t>
            </a:r>
            <a:r>
              <a:rPr sz="2000" b="0">
                <a:solidFill>
                  <a:srgbClr val="1F2D3A"/>
                </a:solidFill>
              </a:rPr>
              <a:t> zorunda.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 ve 11. haftadaki "katmanlı savunma" fikrinin değerlendirmedeki karşılığı.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 manzarası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birçok standart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standart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bir şeyi güvence altına alır: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kurumu mu, ürünü mü, kripto modülünü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alan (IoT, ödeme, mobil)?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hangisine yakınsa, hangi testleri önceliklendireceğinizi bilirsiniz.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(süreçleri)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değil, kurumun bilgi güvenliği yönetimini.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yerine </a:t>
            </a:r>
            <a:r>
              <a:rPr sz="2000" b="1">
                <a:solidFill>
                  <a:srgbClr val="1F2D3A"/>
                </a:solidFill>
              </a:rPr>
              <a:t>kontrol kanıtı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 +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ile artar (13. hafta).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kriptografik modülü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kapsar; uygulamanın tamamını değil (13. hafta).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temel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Hafif, geniş kapsamlı bir taban.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"hassas parametreleri güvenle sakla".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ödeme</a:t>
            </a:r>
            <a:r>
              <a:rPr sz="2000" b="0">
                <a:solidFill>
                  <a:srgbClr val="1F2D3A"/>
                </a:solidFill>
              </a:rPr>
              <a:t> ürünleri.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sızma testi + saldırı potansiyeli.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 ve ayrıntılı.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bunları sınamak için </a:t>
            </a:r>
            <a:r>
              <a:rPr sz="2000" b="1">
                <a:solidFill>
                  <a:srgbClr val="1F2D3A"/>
                </a:solidFill>
              </a:rPr>
              <a:t>test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 için 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381903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sertifikalar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Kurumu (süreç)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Ürünü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uygulama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Kurum mu, ürün mü? (sık karışır)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kurum.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kurum 27001'li olabilir ama ürünü değerlendirilmemiş olabilir; tersi de doğru.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Neden geliştiricinin "güvenli" demesi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Değerlendiricinin iki varsayımı?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Geliştirici </a:t>
            </a:r>
            <a:r>
              <a:rPr sz="2000" b="1">
                <a:solidFill>
                  <a:srgbClr val="1F2D3A"/>
                </a:solidFill>
              </a:rPr>
              <a:t>taraf</a:t>
            </a:r>
            <a:r>
              <a:rPr sz="2000" b="0">
                <a:solidFill>
                  <a:srgbClr val="1F2D3A"/>
                </a:solidFill>
              </a:rPr>
              <a:t>tır (çıkar çatışması), kendi hatalarına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dür, elinde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yoktur. Bağımsız değerlendirici kanıta dayalı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Saldırgan sistemi </a:t>
            </a:r>
            <a:r>
              <a:rPr sz="2000" b="1">
                <a:solidFill>
                  <a:srgbClr val="1F2D3A"/>
                </a:solidFill>
              </a:rPr>
              <a:t>tam bilir</a:t>
            </a:r>
            <a:r>
              <a:rPr sz="2000" b="0">
                <a:solidFill>
                  <a:srgbClr val="1F2D3A"/>
                </a:solidFill>
              </a:rPr>
              <a:t> (Kerckhoffs), (2) saldırgan </a:t>
            </a:r>
            <a:r>
              <a:rPr sz="2000" b="1">
                <a:solidFill>
                  <a:srgbClr val="1F2D3A"/>
                </a:solidFill>
              </a:rPr>
              <a:t>yetenekli ve kaynaklı</a:t>
            </a:r>
            <a:r>
              <a:rPr sz="2000" b="0">
                <a:solidFill>
                  <a:srgbClr val="1F2D3A"/>
                </a:solidFill>
              </a:rPr>
              <a:t>dır. En kötü durumu varsay.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kurumu/süreci</a:t>
            </a:r>
            <a:r>
              <a:rPr sz="2000" b="0">
                <a:solidFill>
                  <a:srgbClr val="1F2D3A"/>
                </a:solidFill>
              </a:rPr>
              <a:t> (bilgi güvenliği yönetimi), </a:t>
            </a:r>
            <a:r>
              <a:rPr sz="2000" b="1">
                <a:solidFill>
                  <a:srgbClr val="1F2D3A"/>
                </a:solidFill>
              </a:rPr>
              <a:t>Ortak Kriterler ürünü</a:t>
            </a:r>
            <a:r>
              <a:rPr sz="2000" b="0">
                <a:solidFill>
                  <a:srgbClr val="1F2D3A"/>
                </a:solidFill>
              </a:rPr>
              <a:t> (TOE) belli güvence düzeyinde sertifikalar.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süreci: 13 adım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 üç aşamaya ayrılır: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Sonuç ve süreklilik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tek tek.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Hazırlık (adım 1–4)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Değerlendirme hedefi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Değerlendirilecek şey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tanımlanır.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numarası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: ikili + kaynak + özet değeri/etiket.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S0, S1 (sürüm kimliği, 1. hafta).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benzersiz?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 yalnız </a:t>
            </a:r>
            <a:r>
              <a:rPr sz="2000" b="1">
                <a:solidFill>
                  <a:srgbClr val="1F2D3A"/>
                </a:solidFill>
              </a:rPr>
              <a:t>incelenen</a:t>
            </a:r>
            <a:r>
              <a:rPr sz="2000" b="0">
                <a:solidFill>
                  <a:srgbClr val="1F2D3A"/>
                </a:solidFill>
              </a:rPr>
              <a:t> ikili için geçerlidir.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iki farklı derlemeyi işaret edebilir.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değeri (hash), tam olarak hangi dosya olduğunu sabitler.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Belgelerin teslimi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kod, API belgesi,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ayıklama ve sürüm derlemeleri.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bir kanalla teslim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deponuz + kılavuzunuz.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Standardın </a:t>
            </a:r>
            <a:r>
              <a:rPr sz="2000" b="1">
                <a:solidFill>
                  <a:srgbClr val="1F2D3A"/>
                </a:solidFill>
              </a:rPr>
              <a:t>numaralı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için: metin, </a:t>
            </a:r>
            <a:r>
              <a:rPr sz="2000" b="1">
                <a:solidFill>
                  <a:srgbClr val="1F2D3A"/>
                </a:solidFill>
              </a:rPr>
              <a:t>test kapsamı</a:t>
            </a:r>
            <a:r>
              <a:rPr sz="2000" b="0">
                <a:solidFill>
                  <a:srgbClr val="1F2D3A"/>
                </a:solidFill>
              </a:rPr>
              <a:t>, geliştiricinin </a:t>
            </a:r>
            <a:r>
              <a:rPr sz="2000" b="1">
                <a:solidFill>
                  <a:srgbClr val="1F2D3A"/>
                </a:solidFill>
              </a:rPr>
              <a:t>uyum gerekçesi + belge referansı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Durum: karşılandı / devredildi / karşılanmadı.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S17 uyum matrisi (13. hafta).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Atölye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önlem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Eksikler nasıl kapatılacak?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güncelleme planı çıkar.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Değerlendirme (adım 5–8)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kaynak,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bağlamında incelenir.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kalıplar, yanlış kripto, sızıntı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4. hafta CERT, statik analiz.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Değerlendirici neye bakar?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kullanımı doğru mu? Anahtar nereden/nereye?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doğrulama, bellek (sınır, taşma,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Günlükte/hatalarda sır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atlama yolları.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 ve </a:t>
            </a:r>
            <a:r>
              <a:rPr sz="2000" b="1">
                <a:solidFill>
                  <a:srgbClr val="1F2D3A"/>
                </a:solidFill>
              </a:rPr>
              <a:t>anahtar hiyerarşisi</a:t>
            </a:r>
            <a:r>
              <a:rPr sz="2000" b="0">
                <a:solidFill>
                  <a:srgbClr val="1F2D3A"/>
                </a:solidFill>
              </a:rPr>
              <a:t> çıkarılır.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için: "nerede, hangi halde açığa çıkıyor?"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bulgu listesi +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Plandaki her test,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şablonla yürütülür.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</a:t>
            </a:r>
            <a:r>
              <a:rPr sz="2000" b="1">
                <a:solidFill>
                  <a:srgbClr val="1F2D3A"/>
                </a:solidFill>
              </a:rPr>
              <a:t>saldırı potansiyeliyle</a:t>
            </a:r>
            <a:r>
              <a:rPr sz="2000" b="0">
                <a:solidFill>
                  <a:srgbClr val="1F2D3A"/>
                </a:solidFill>
              </a:rPr>
              <a:t> derecelendirilir.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test sonuç tabloları.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8 · İşlevsel uygunluk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Ürünün standart işlevleri (ör. ödeme akışları) şemanın </a:t>
            </a:r>
            <a:r>
              <a:rPr sz="2000" b="1">
                <a:solidFill>
                  <a:srgbClr val="1F2D3A"/>
                </a:solidFill>
              </a:rPr>
              <a:t>test paketiyle</a:t>
            </a:r>
            <a:r>
              <a:rPr sz="2000" b="0">
                <a:solidFill>
                  <a:srgbClr val="1F2D3A"/>
                </a:solidFill>
              </a:rPr>
              <a:t> sınanır.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yürütme raporu.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birim testleri.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Sonuç ve süreklilik (adım 9–13)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Bulgular ve düzeltmeler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 laboratuvar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, geliştirici </a:t>
            </a:r>
            <a:r>
              <a:rPr sz="2000" b="1">
                <a:solidFill>
                  <a:srgbClr val="1F2D3A"/>
                </a:solidFill>
              </a:rPr>
              <a:t>aksiyon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bulgular "güvenlik sorunu değil, iyi uygulama önerisi" olarak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7. hafta bulgu–aksiyon listesi.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 · 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yeni sürüm doğurunca: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değişiklik dizini (yeni özellik / iyileştirme / hata düzeltme)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etkilenen dosyalar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güvenlik etkisi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S13, değişiklik yönetimi.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11 ·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değişen kısım</a:t>
            </a:r>
            <a:r>
              <a:rPr sz="2000" b="0">
                <a:solidFill>
                  <a:srgbClr val="1F2D3A"/>
                </a:solidFill>
              </a:rPr>
              <a:t> yeniden değerlendirilir.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Laboratuvar ister: işaretli belgeler, etki analizi,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Ödünleşim ve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korumanın maliyeti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Kararlar gerekçelendirilir.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 açıkça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1. hafta ödünleşim kaydı.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13 · Değişiklik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çizgi → talep → sınıflandırma → onay → geliştirme ve test → yayın → doğrulama.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adım · tek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Hazırlık:</a:t>
            </a:r>
            <a:r>
              <a:rPr sz="1800" b="0">
                <a:solidFill>
                  <a:srgbClr val="1F2D3A"/>
                </a:solidFill>
              </a:rPr>
              <a:t> 1 TOE · 2 belge · 3 gereksinim şablonu · 4 atölye </a:t>
            </a:r>
            <a:r>
              <a:rPr sz="1800" b="1">
                <a:solidFill>
                  <a:srgbClr val="1F2D3A"/>
                </a:solidFill>
              </a:rPr>
              <a:t>Değerlendirme:</a:t>
            </a:r>
            <a:r>
              <a:rPr sz="1800" b="0">
                <a:solidFill>
                  <a:srgbClr val="1F2D3A"/>
                </a:solidFill>
              </a:rPr>
              <a:t> 5 kod inceleme · 6 zafiyet · 7 sızma · 8 işlevsel </a:t>
            </a:r>
            <a:r>
              <a:rPr sz="1800" b="1">
                <a:solidFill>
                  <a:srgbClr val="1F2D3A"/>
                </a:solidFill>
              </a:rPr>
              <a:t>Sonuç:</a:t>
            </a:r>
            <a:r>
              <a:rPr sz="1800" b="0">
                <a:solidFill>
                  <a:srgbClr val="1F2D3A"/>
                </a:solidFill>
              </a:rPr>
              <a:t> 9 bulgu · 10 etki · 11 delta · 12 kalan risk · 13 değişiklik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"Sahada nasıl?" notlarının kaynağı olan güvenlik kılavuzu = </a:t>
            </a:r>
            <a:r>
              <a:rPr sz="2000" b="1">
                <a:solidFill>
                  <a:srgbClr val="1F2D3A"/>
                </a:solidFill>
              </a:rPr>
              <a:t>2. adımda teslim edilen belge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Birincil okuru: </a:t>
            </a:r>
            <a:r>
              <a:rPr sz="2000" b="1">
                <a:solidFill>
                  <a:srgbClr val="1F2D3A"/>
                </a:solidFill>
              </a:rPr>
              <a:t>laboratuvar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 bir gereksinim bloğuyla açar ("gereksinim — durum").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Projenizdeki kılavuz, bunun küçültülmüş hâli.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aşama ve kabaca hangi adımlar?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Etki analizi ile delta değerlendirme ilişkisi?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(TOE, kapsam, gereksinim, plan · 1–4), </a:t>
            </a:r>
            <a:r>
              <a:rPr sz="2000" b="1">
                <a:solidFill>
                  <a:srgbClr val="1F2D3A"/>
                </a:solidFill>
              </a:rPr>
              <a:t>Yürütme</a:t>
            </a:r>
            <a:r>
              <a:rPr sz="2000" b="0">
                <a:solidFill>
                  <a:srgbClr val="1F2D3A"/>
                </a:solidFill>
              </a:rPr>
              <a:t> (yöntem uygula, test, derecelendir),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(rapor, uyum, karar, delta bakımı).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Neyin sertifikalı olduğunu </a:t>
            </a:r>
            <a:r>
              <a:rPr sz="2000" b="1">
                <a:solidFill>
                  <a:srgbClr val="1F2D3A"/>
                </a:solidFill>
              </a:rPr>
              <a:t>kesin sabitlemek</a:t>
            </a:r>
            <a:r>
              <a:rPr sz="2000" b="0">
                <a:solidFill>
                  <a:srgbClr val="1F2D3A"/>
                </a:solidFill>
              </a:rPr>
              <a:t>: sürüm, yapı, özet, yapılandırma. Aksi halde başka sürüm "sertifikalı"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Değişiklikte önce </a:t>
            </a:r>
            <a:r>
              <a:rPr sz="2000" b="1">
                <a:solidFill>
                  <a:srgbClr val="1F2D3A"/>
                </a:solidFill>
              </a:rPr>
              <a:t>etki analizi</a:t>
            </a:r>
            <a:r>
              <a:rPr sz="2000" b="0">
                <a:solidFill>
                  <a:srgbClr val="1F2D3A"/>
                </a:solidFill>
              </a:rPr>
              <a:t> (güvenliği etkiler mi?); etkiliyorse tam değil yalnız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(değişen kısım) yeniden değerlendirilir.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Zafiyet değerlendirmesi yöntemleri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Süreçteki 5–6. adımlar bir dizi yöntemi </a:t>
            </a:r>
            <a:r>
              <a:rPr sz="2000" b="1">
                <a:solidFill>
                  <a:srgbClr val="1F2D3A"/>
                </a:solidFill>
              </a:rPr>
              <a:t>doğru sırada</a:t>
            </a:r>
            <a:r>
              <a:rPr sz="2000" b="0">
                <a:solidFill>
                  <a:srgbClr val="1F2D3A"/>
                </a:solidFill>
              </a:rPr>
              <a:t> kullanmayı gerektirir.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Soru: "Kendi ürünümü teslim etmeden önce nasıl sınarım?"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sıra: ucuzdan pahalıya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 incelemesi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Statik analiz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Dinamik analiz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Sızma testi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 + geniş → pahalı + derin.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ucuz, geniş tarar; ama yanlış pozitif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El ile inceleme</a:t>
            </a:r>
            <a:r>
              <a:rPr sz="2000" b="0">
                <a:solidFill>
                  <a:srgbClr val="1F2D3A"/>
                </a:solidFill>
              </a:rPr>
              <a:t> pahalı; ama bağlamı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çalıştırma ister; akla gelmeyeni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 en pahalı; en 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ucuz yöntemlerle "kolay" bulguları temizle → pentest gerçek sorunlara odaklansın.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1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araçların kaçırdığı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 gözü, bağlamı ve niyeti görür.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Kripto:</a:t>
            </a:r>
            <a:r>
              <a:rPr sz="2000" b="0">
                <a:solidFill>
                  <a:srgbClr val="1F2D3A"/>
                </a:solidFill>
              </a:rPr>
              <a:t> doğru algoritma/kip/dolgu mu? Anahtar nereden/nereye/ne zaman silinir? (3, 10, 11)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Girdi/bellek:</a:t>
            </a:r>
            <a:r>
              <a:rPr sz="2000" b="0">
                <a:solidFill>
                  <a:srgbClr val="1F2D3A"/>
                </a:solidFill>
              </a:rPr>
              <a:t> sınır denetimi, tamsayı taşması, biçim dizisi, UAF (4. hafta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Sızıntı:</a:t>
            </a:r>
            <a:r>
              <a:rPr sz="2000" b="0">
                <a:solidFill>
                  <a:srgbClr val="1F2D3A"/>
                </a:solidFill>
              </a:rPr>
              <a:t> günlükte hassas veri, hatada iç durum.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Atlama:</a:t>
            </a:r>
            <a:r>
              <a:rPr sz="2000" b="0">
                <a:solidFill>
                  <a:srgbClr val="1F2D3A"/>
                </a:solidFill>
              </a:rPr>
              <a:t> bir denetimin tek dalla/tek dönüşle atlanabilmesi (9. hafta).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2 · Statik analiz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hataları, tehlikeli çağrılar, kalıplar.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Hızlı; ama </a:t>
            </a:r>
            <a:r>
              <a:rPr sz="2000" b="1">
                <a:solidFill>
                  <a:srgbClr val="1F2D3A"/>
                </a:solidFill>
              </a:rPr>
              <a:t>yanlış pozitifleri</a:t>
            </a:r>
            <a:r>
              <a:rPr sz="2000" b="0">
                <a:solidFill>
                  <a:srgbClr val="1F2D3A"/>
                </a:solidFill>
              </a:rPr>
              <a:t> ele almak gerekir.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3 · Dinamik analiz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Sanitizer'lar (ASan/UBSan) bellek erişim hatalarını, tanımsız davranışı yakalar.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beklenmeyen girdilerle</a:t>
            </a:r>
            <a:r>
              <a:rPr sz="2000" b="0">
                <a:solidFill>
                  <a:srgbClr val="1F2D3A"/>
                </a:solidFill>
              </a:rPr>
              <a:t> beslenir.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Çökme/bozulma yolları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durumları ortaya çıkarır.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5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, saldırgan bakışıyla aşılabilirliği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pahalı; en son.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bölümde ayrıntılı planlayacağız.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Kritik nokta: geliştirici önce kendi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araçları </a:t>
            </a:r>
            <a:r>
              <a:rPr sz="2000" b="1">
                <a:solidFill>
                  <a:srgbClr val="1F2D3A"/>
                </a:solidFill>
              </a:rPr>
              <a:t>geliştirici de</a:t>
            </a:r>
            <a:r>
              <a:rPr sz="2000" b="0">
                <a:solidFill>
                  <a:srgbClr val="1F2D3A"/>
                </a:solidFill>
              </a:rPr>
              <a:t> çalıştırmalı ve sonuçlarını (S16) sunmalı.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büyük fark: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"kimse sınamamış"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"şu araçlar çalıştırılmış, şu bulgular kapatılmış".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4. haftadaki </a:t>
            </a:r>
            <a:r>
              <a:rPr sz="2000" b="1">
                <a:solidFill>
                  <a:srgbClr val="1F2D3A"/>
                </a:solidFill>
              </a:rPr>
              <a:t>güvenli derleme hattının</a:t>
            </a:r>
            <a:r>
              <a:rPr sz="2000" b="0">
                <a:solidFill>
                  <a:srgbClr val="1F2D3A"/>
                </a:solidFill>
              </a:rPr>
              <a:t> (CI'da SAST + sanitizer + fuzz) karşılığı.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Standartların istediği testler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standart farklı test vurgular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 aileye yakınsa, önce onun beklediği testleri yapın.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derecelendirme.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EAL ile artar.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</a:t>
            </a:r>
            <a:r>
              <a:rPr sz="2000" b="1">
                <a:solidFill>
                  <a:srgbClr val="1F2D3A"/>
                </a:solidFill>
              </a:rPr>
              <a:t>modül</a:t>
            </a:r>
            <a:r>
              <a:rPr sz="2000" b="0">
                <a:solidFill>
                  <a:srgbClr val="1F2D3A"/>
                </a:solidFill>
              </a:rPr>
              <a:t> testleri.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Ödeme alanı; sıkı.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/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uygulama: statik + dinamik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test beklentisi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988"/>
                <a:gridCol w="799154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Ağırlıklı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Süreç/yönetim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İnceleme + zafiyet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statik + dinamik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yöntemi rehberleri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testinin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yapılacağı için olgun açık rehberler var: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(genel süreç)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 "saldırı tarifi" değil, </a:t>
            </a:r>
            <a:r>
              <a:rPr sz="2000" b="1">
                <a:solidFill>
                  <a:srgbClr val="1F2D3A"/>
                </a:solidFill>
              </a:rPr>
              <a:t>metodoloji</a:t>
            </a:r>
            <a:r>
              <a:rPr sz="2000" b="0">
                <a:solidFill>
                  <a:srgbClr val="1F2D3A"/>
                </a:solidFill>
              </a:rPr>
              <a:t> — sonucu tekrarlanabilir/karşılaştırılabilir yapar.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Yöntemleri neden ucuzdan pahalıya sıralarız?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SAST'ın zayıf yanı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Geliştiricinin önce kendi test etmesi neden önemli?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Ucuz/otomatik yöntemler (SAST/DAST) kolay bulguları </a:t>
            </a:r>
            <a:r>
              <a:rPr sz="2000" b="1">
                <a:solidFill>
                  <a:srgbClr val="1F2D3A"/>
                </a:solidFill>
              </a:rPr>
              <a:t>erken eler</a:t>
            </a:r>
            <a:r>
              <a:rPr sz="2000" b="0">
                <a:solidFill>
                  <a:srgbClr val="1F2D3A"/>
                </a:solidFill>
              </a:rPr>
              <a:t>; pahalı el emeği yalnız kalanlar için harcanır → verimli.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kodu çalıştırmaz → yüksek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, çalışma-anı/yapılandırma/iş-mantığı açığını göremez, bağlamı bilmez.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Kolay bulguları </a:t>
            </a:r>
            <a:r>
              <a:rPr sz="2000" b="1">
                <a:solidFill>
                  <a:srgbClr val="1F2D3A"/>
                </a:solidFill>
              </a:rPr>
              <a:t>ucuza</a:t>
            </a:r>
            <a:r>
              <a:rPr sz="2000" b="0">
                <a:solidFill>
                  <a:srgbClr val="1F2D3A"/>
                </a:solidFill>
              </a:rPr>
              <a:t> kapatır (değerlendiriciye temiz gider), maliyeti/gecikmeyi düşürür → değerlendirme derin sorunlara odaklanır.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Saldırı potansiyeli ve derecelendirme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"Var/yok" değil, "ne kadar zor?"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var olması yetmez;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Kriterler ve ödeme şemaları bunu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ile yapar.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"gizlemeyi ölçme" (güç/dayanıklılık) çerçevesinin resmî hâli.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Soru: "kırmak için ne gerekti?"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bulgunun ciddiyeti, bu soruya verilen yanıtla belirlenir.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Beş–altı faktörle puanlarız; puanlar toplanır; toplam bir </a:t>
            </a:r>
            <a:r>
              <a:rPr sz="2000" b="1">
                <a:solidFill>
                  <a:srgbClr val="1F2D3A"/>
                </a:solidFill>
              </a:rPr>
              <a:t>dirençlik düzeyine</a:t>
            </a:r>
            <a:r>
              <a:rPr sz="2000" b="0">
                <a:solidFill>
                  <a:srgbClr val="1F2D3A"/>
                </a:solidFill>
              </a:rPr>
              <a:t> eşlenir.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1 · Geçen süre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ne kadar sürdü?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 puan:</a:t>
            </a:r>
            <a:r>
              <a:rPr sz="2000" b="0">
                <a:solidFill>
                  <a:srgbClr val="1F2D3A"/>
                </a:solidFill>
              </a:rPr>
              <a:t> bir gün. </a:t>
            </a:r>
            <a:r>
              <a:rPr sz="2000" b="1">
                <a:solidFill>
                  <a:srgbClr val="1F2D3A"/>
                </a:solidFill>
              </a:rPr>
              <a:t>Yüksek puan:</a:t>
            </a:r>
            <a:r>
              <a:rPr sz="2000" b="0">
                <a:solidFill>
                  <a:srgbClr val="1F2D3A"/>
                </a:solidFill>
              </a:rPr>
              <a:t> aylar.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2 · Uzmanlık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düzeyde beceri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sıradan kullanıcı.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konu uzmanı.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3 · Hedef bilgisi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 hakkında ne bilmek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kamuya açık bilgi.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iç/gizli belgeler.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4 · Fırsat penceresi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kadar erişim/deneme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sınırsız/uzaktan.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kısıtlı fiziksel erişim.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5 · Ekipman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araçlar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standart, ücretsiz.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özel, pahalı.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Faktörler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091601"/>
                <a:gridCol w="363717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Faktör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Geçen süre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gün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Sıradan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 bilgisi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Kamuya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belge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Fırsat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Sınırsız/uzak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Kısıtlı fiziksel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Ekipman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Ücretsiz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Özel/pahalı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Yorum: düşük toplam = ciddi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toplam → saldırı zor → koruma iyi.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toplam (sıradan kullanıcı, bir saat, ücretsiz araç) →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9. haftadaki dört ölçütle aynı.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"Sürüm derlemesinde bir lisans denetimi, ücretsiz bir tersine derleyiciyle, orta düzey kullanıcının bir saatte bulup tek bayt yamasıyla atladığı bir dala bağlıydı."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puanlama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düşük saldırı potansiyeli → ciddi bulgu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opak boolean + rastgele çıkış (9. hafta) + sunucu denetimi.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 ekler?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potansiyeli: "kırmak ne kadar </a:t>
            </a:r>
            <a:r>
              <a:rPr sz="2000" b="1">
                <a:solidFill>
                  <a:srgbClr val="1F2D3A"/>
                </a:solidFill>
              </a:rPr>
              <a:t>zor</a:t>
            </a:r>
            <a:r>
              <a:rPr sz="2000" b="0">
                <a:solidFill>
                  <a:srgbClr val="1F2D3A"/>
                </a:solidFill>
              </a:rPr>
              <a:t>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"bu zafiyetin </a:t>
            </a:r>
            <a:r>
              <a:rPr sz="2000" b="1">
                <a:solidFill>
                  <a:srgbClr val="1F2D3A"/>
                </a:solidFill>
              </a:rPr>
              <a:t>etkisi</a:t>
            </a:r>
            <a:r>
              <a:rPr sz="2000" b="0">
                <a:solidFill>
                  <a:srgbClr val="1F2D3A"/>
                </a:solidFill>
              </a:rPr>
              <a:t> ne kadar büyük?"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olabilirlik vs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(saldırının zorluğu), öteki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(gizlilik/bütünlük/erişilebilirlik kaybı) tartar.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Raporda çoğunlukla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 buna göre.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Bulgu → öneri → aksiyon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bir döngüdür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"Geçti/kaldı" damgası değil, bir </a:t>
            </a:r>
            <a:r>
              <a:rPr sz="2000" b="1">
                <a:solidFill>
                  <a:srgbClr val="1F2D3A"/>
                </a:solidFill>
              </a:rPr>
              <a:t>iyileştirme döngüsü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 için dört adım: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laboratuvar ne buldu (kanıtla, tekrarlanabilir).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önerilen düzeltme yönü.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Aksiyon:</a:t>
            </a:r>
            <a:r>
              <a:rPr sz="2000" b="0">
                <a:solidFill>
                  <a:srgbClr val="1F2D3A"/>
                </a:solidFill>
              </a:rPr>
              <a:t> geliştiricinin ne yaptığı (ya da neden yapmadığı).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Kapanış:</a:t>
            </a:r>
            <a:r>
              <a:rPr sz="2000" b="0">
                <a:solidFill>
                  <a:srgbClr val="1F2D3A"/>
                </a:solidFill>
              </a:rPr>
              <a:t> kimi bulgu "açık değil, iyi uygulama önerisi" olarak kapanır.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döngü → vize sonrası </a:t>
            </a:r>
            <a:r>
              <a:rPr sz="2000" b="1">
                <a:solidFill>
                  <a:srgbClr val="1F2D3A"/>
                </a:solidFill>
              </a:rPr>
              <a:t>bulgu–aksiyon listesinin</a:t>
            </a:r>
            <a:r>
              <a:rPr sz="2000" b="0">
                <a:solidFill>
                  <a:srgbClr val="1F2D3A"/>
                </a:solidFill>
              </a:rPr>
              <a:t> kaynağı (7.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Etki analizi ve delta değerlendirme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bunlara ihtiyaç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Düzeltmeler yeni sürüm doğurur.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şeyi baştan değerlendirmek </a:t>
            </a:r>
            <a:r>
              <a:rPr sz="2000" b="1">
                <a:solidFill>
                  <a:srgbClr val="1F2D3A"/>
                </a:solidFill>
              </a:rPr>
              <a:t>pahalıdır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belge devreye girer (adım 10–11).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Değişiklikleri sınıflandırır: yeni özellik / iyileştirme / hata düzeltme.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Etkilenen dosyaları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değişikliğin </a:t>
            </a:r>
            <a:r>
              <a:rPr sz="2000" b="1">
                <a:solidFill>
                  <a:srgbClr val="1F2D3A"/>
                </a:solidFill>
              </a:rPr>
              <a:t>güvenlik etkisini</a:t>
            </a:r>
            <a:r>
              <a:rPr sz="2000" b="0">
                <a:solidFill>
                  <a:srgbClr val="1F2D3A"/>
                </a:solidFill>
              </a:rPr>
              <a:t>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Geliştiricinin</a:t>
            </a:r>
            <a:r>
              <a:rPr sz="2000" b="0">
                <a:solidFill>
                  <a:srgbClr val="1F2D3A"/>
                </a:solidFill>
              </a:rPr>
              <a:t> çıktısı.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belgeye dayanarak </a:t>
            </a:r>
            <a:r>
              <a:rPr sz="2000" b="1">
                <a:solidFill>
                  <a:srgbClr val="1F2D3A"/>
                </a:solidFill>
              </a:rPr>
              <a:t>yalnız değişen kısmı</a:t>
            </a:r>
            <a:r>
              <a:rPr sz="2000" b="0">
                <a:solidFill>
                  <a:srgbClr val="1F2D3A"/>
                </a:solidFill>
              </a:rPr>
              <a:t> yeniden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İster: işaretli belgeler, değişiklik dizini,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Laboratuvarın</a:t>
            </a:r>
            <a:r>
              <a:rPr sz="2000" b="0">
                <a:solidFill>
                  <a:srgbClr val="1F2D3A"/>
                </a:solidFill>
              </a:rPr>
              <a:t> işi.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İkisini karıştırma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değişikliğin etkisini </a:t>
            </a:r>
            <a:r>
              <a:rPr sz="2000" b="0" i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değişeni </a:t>
            </a:r>
            <a:r>
              <a:rPr sz="2000" b="0" i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kimliği/özet tutarsızsa delta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 (değerlendirilen ürün belirsizleşir).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Saldırı potansiyelinin beş faktörü?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saldırı potansiyeli neden ciddi bulgu?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Saldırı potansiyeli ile CVSS neyi ölçer?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Etki analizi kimin, delta kimin işi?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Geçen zaman · uzmanlık · hedef bilgisi · fırsat (erişim) · ekipman.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</a:t>
            </a:r>
            <a:r>
              <a:rPr sz="2000" b="0">
                <a:solidFill>
                  <a:srgbClr val="1F2D3A"/>
                </a:solidFill>
              </a:rPr>
              <a:t> zaman/beceri/araçla sömürülebilir demektir → çok saldırgan yapabilir → geniş, olası tehdit → yüksek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saldırının </a:t>
            </a:r>
            <a:r>
              <a:rPr sz="2000" b="1">
                <a:solidFill>
                  <a:srgbClr val="1F2D3A"/>
                </a:solidFill>
              </a:rPr>
              <a:t>zorluğu/maliyetini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ciddiyet/etkisini</a:t>
            </a:r>
            <a:r>
              <a:rPr sz="2000" b="0">
                <a:solidFill>
                  <a:srgbClr val="1F2D3A"/>
                </a:solidFill>
              </a:rPr>
              <a:t> ölçer. Farklı eksenler, birlikte kullanılır.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Etki analizi geliştiricinin</a:t>
            </a:r>
            <a:r>
              <a:rPr sz="2000" b="0">
                <a:solidFill>
                  <a:srgbClr val="1F2D3A"/>
                </a:solidFill>
              </a:rPr>
              <a:t> (değişikliğin etkisini o başlatır), </a:t>
            </a:r>
            <a:r>
              <a:rPr sz="2000" b="1">
                <a:solidFill>
                  <a:srgbClr val="1F2D3A"/>
                </a:solidFill>
              </a:rPr>
              <a:t>delta değerlendirme değerlendiricinin</a:t>
            </a:r>
            <a:r>
              <a:rPr sz="2000" b="0">
                <a:solidFill>
                  <a:srgbClr val="1F2D3A"/>
                </a:solidFill>
              </a:rPr>
              <a:t> (bağımsız yeniden inceler) işi.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Sızma testi planı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neydi?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Yöntemleri saldırgan bakışıyla </a:t>
            </a:r>
            <a:r>
              <a:rPr sz="2000" b="1">
                <a:solidFill>
                  <a:srgbClr val="1F2D3A"/>
                </a:solidFill>
              </a:rPr>
              <a:t>birleştiren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etkinlik.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"Planlı" ve "izinli" isteğe bağlı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plan en az dört başlık içerir.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1 · Kapsam (scope)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Neyin test edileceği </a:t>
            </a:r>
            <a:r>
              <a:rPr sz="2000" b="1">
                <a:solidFill>
                  <a:srgbClr val="1F2D3A"/>
                </a:solidFill>
              </a:rPr>
              <a:t>ve edilmeyeceği</a:t>
            </a:r>
            <a:r>
              <a:rPr sz="2000" b="0">
                <a:solidFill>
                  <a:srgbClr val="1F2D3A"/>
                </a:solidFill>
              </a:rPr>
              <a:t> açık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ikili/sürüm, hangi bileşenler, hangi ortam (test mi üretim mi), hangi veriler (yalnız sentetik).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da yazılır (üçüncü taraf sunucular, gerçek kullanıcı verisi).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yetkili imzası.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penceresi (tarih/saat).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 verilen ve </a:t>
            </a:r>
            <a:r>
              <a:rPr sz="2000" b="1">
                <a:solidFill>
                  <a:srgbClr val="1F2D3A"/>
                </a:solidFill>
              </a:rPr>
              <a:t>yasak</a:t>
            </a:r>
            <a:r>
              <a:rPr sz="2000" b="0">
                <a:solidFill>
                  <a:srgbClr val="1F2D3A"/>
                </a:solidFill>
              </a:rPr>
              <a:t> yöntemler (ör. hizmet kesintisi yapanlar hariç).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kuralı: gerçek kişisel veri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bulgular gizli.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Durdurma koşulu (kill switch):</a:t>
            </a:r>
            <a:r>
              <a:rPr sz="2000" b="0">
                <a:solidFill>
                  <a:srgbClr val="1F2D3A"/>
                </a:solidFill>
              </a:rPr>
              <a:t> kritik etki görülürse test durur, derhal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İletişim ve yükseltme (escalation) noktaları.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3 · Yöntem (methodology)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Tanınmış bir metodoloji seç ve ona uy: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sonuç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4 · Test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test aynı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kartla yazılır.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kart, projenizin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iskeletidir. Şimdi alanları görelim.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kimliği:</a:t>
            </a:r>
            <a:r>
              <a:rPr sz="2000" b="0">
                <a:solidFill>
                  <a:srgbClr val="1F2D3A"/>
                </a:solidFill>
              </a:rPr>
              <a:t> benzersiz numara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İlgili gereksinim:</a:t>
            </a:r>
            <a:r>
              <a:rPr sz="2000" b="0">
                <a:solidFill>
                  <a:srgbClr val="1F2D3A"/>
                </a:solidFill>
              </a:rPr>
              <a:t> hangi varlığı/gereksinimi sınıyor (S17 bağı)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ne doğrulanıyor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Ön koşullar:</a:t>
            </a:r>
            <a:r>
              <a:rPr sz="2000" b="0">
                <a:solidFill>
                  <a:srgbClr val="1F2D3A"/>
                </a:solidFill>
              </a:rPr>
              <a:t> ortam, sürüm, veriler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Yöntem/adımlar:</a:t>
            </a:r>
            <a:r>
              <a:rPr sz="2000" b="0">
                <a:solidFill>
                  <a:srgbClr val="1F2D3A"/>
                </a:solidFill>
              </a:rPr>
              <a:t> tekrarlanabilir biçimde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Beklenen sonuç:</a:t>
            </a:r>
            <a:r>
              <a:rPr sz="2000" b="0">
                <a:solidFill>
                  <a:srgbClr val="1F2D3A"/>
                </a:solidFill>
              </a:rPr>
              <a:t> güvenli davranış ne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Gözlenen sonuç:</a:t>
            </a:r>
            <a:r>
              <a:rPr sz="2000" b="0">
                <a:solidFill>
                  <a:srgbClr val="1F2D3A"/>
                </a:solidFill>
              </a:rPr>
              <a:t> ne oldu (kanıtla)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saldırı potansiyeli + geçti/kaldı + öneri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kartı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69106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 numara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ile bağ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doğrulanıyor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Ortam, sürüm,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Adımlar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Tekrarlanabilir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Gözlenen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oldu (kanıt)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pot. + geçti/kaldı +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yerel veritabanındaki hassas kayıt AEAD ile korunmalı (S17)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kayıt diskte düz metin olarak bulunmuyor mu?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 koşul:</a:t>
            </a:r>
            <a:r>
              <a:rPr sz="2000" b="0">
                <a:solidFill>
                  <a:srgbClr val="1F2D3A"/>
                </a:solidFill>
              </a:rPr>
              <a:t> sürüm derlemesi, sentetik kayıt eklenmiş </a:t>
            </a:r>
            <a:r>
              <a:rPr sz="2000" b="1">
                <a:solidFill>
                  <a:srgbClr val="1F2D3A"/>
                </a:solidFill>
              </a:rPr>
              <a:t>Adımlar:</a:t>
            </a:r>
            <a:r>
              <a:rPr sz="2000" b="0">
                <a:solidFill>
                  <a:srgbClr val="1F2D3A"/>
                </a:solidFill>
              </a:rPr>
              <a:t> uygulamayı çalıştır → kayıt ekle → veritabanı dosyasını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tara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düz metin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Gözlenen:</a:t>
            </a:r>
            <a:r>
              <a:rPr sz="2000" b="0">
                <a:solidFill>
                  <a:srgbClr val="1F2D3A"/>
                </a:solidFill>
              </a:rPr>
              <a:t> düz metin görünmedi (yalnız şifreli blob) — kanıt: çıktı ekran görüntüsü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geçti · saldırı potansiyeli yüksek (kolay saldırı başarısız)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bir açık bulmak değil, </a:t>
            </a:r>
            <a:r>
              <a:rPr sz="2000" b="1">
                <a:solidFill>
                  <a:srgbClr val="1F2D3A"/>
                </a:solidFill>
              </a:rPr>
              <a:t>doğru kartı yazmayı</a:t>
            </a:r>
            <a:r>
              <a:rPr sz="2000" b="0">
                <a:solidFill>
                  <a:srgbClr val="1F2D3A"/>
                </a:solidFill>
              </a:rPr>
              <a:t> öğrenmek.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Takım etkinliği (sınıf içi)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kendi projesinden </a:t>
            </a:r>
            <a:r>
              <a:rPr sz="2000" b="1">
                <a:solidFill>
                  <a:srgbClr val="1F2D3A"/>
                </a:solidFill>
              </a:rPr>
              <a:t>bir varlık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için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test kartı doldurur.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dakika; sonra birkaç kart paylaşılır.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Raporlama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rapor = karar verilebilir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"kaldınız" listesi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Okuyan kişi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verebilmeli.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Yönetici özeti:</a:t>
            </a:r>
            <a:r>
              <a:rPr sz="2000" b="0">
                <a:solidFill>
                  <a:srgbClr val="1F2D3A"/>
                </a:solidFill>
              </a:rPr>
              <a:t> teknik olmayan okur için genel durum + en kritik üç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Yöntem ve kapsam:</a:t>
            </a:r>
            <a:r>
              <a:rPr sz="2000" b="0">
                <a:solidFill>
                  <a:srgbClr val="1F2D3A"/>
                </a:solidFill>
              </a:rPr>
              <a:t> ne test edildi, ne edilmedi, hangi metodolojiyle.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Bulgular:</a:t>
            </a:r>
            <a:r>
              <a:rPr sz="2000" b="0">
                <a:solidFill>
                  <a:srgbClr val="1F2D3A"/>
                </a:solidFill>
              </a:rPr>
              <a:t> her biri kanıt + saldırı potansiyeli + CVSS + öneri.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Bulgu–aksiyon tablosu:</a:t>
            </a:r>
            <a:r>
              <a:rPr sz="2000" b="0">
                <a:solidFill>
                  <a:srgbClr val="1F2D3A"/>
                </a:solidFill>
              </a:rPr>
              <a:t> geliştirici yanıtı,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kapatılmayan/devredilen, gerekçesiyle.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alıştırması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Kısa bir bulgu metnini birlikte okuyun: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doğru mu derecelendirilmiş?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Öneri uygulanabilir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"Karşılandı" satırının </a:t>
            </a:r>
            <a:r>
              <a:rPr sz="2000" b="1">
                <a:solidFill>
                  <a:srgbClr val="1F2D3A"/>
                </a:solidFill>
              </a:rPr>
              <a:t>kanıtı</a:t>
            </a:r>
            <a:r>
              <a:rPr sz="2000" b="0">
                <a:solidFill>
                  <a:srgbClr val="1F2D3A"/>
                </a:solidFill>
              </a:rPr>
              <a:t>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13. haftadaki uyum matrisi okumasının provası.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Planın dört başlığı?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"Durdurma koşulu" neden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hangi alanı S17'ye bağlanır?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 · kurallar (RoE) · yöntem/metodoloji · test kartları</a:t>
            </a:r>
            <a:r>
              <a:rPr sz="2000" b="0">
                <a:solidFill>
                  <a:srgbClr val="1F2D3A"/>
                </a:solidFill>
              </a:rPr>
              <a:t> (+ durdurma koşulu, raporlama).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Gerçek </a:t>
            </a:r>
            <a:r>
              <a:rPr sz="2000" b="1">
                <a:solidFill>
                  <a:srgbClr val="1F2D3A"/>
                </a:solidFill>
              </a:rPr>
              <a:t>zarar/veri kaybı/kesinti</a:t>
            </a:r>
            <a:r>
              <a:rPr sz="2000" b="0">
                <a:solidFill>
                  <a:srgbClr val="1F2D3A"/>
                </a:solidFill>
              </a:rPr>
              <a:t> riskini sınırlamak; belirli bir eşikte test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→ güvenli ve etik yürütme.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</a:t>
            </a:r>
            <a:r>
              <a:rPr sz="2000" b="1">
                <a:solidFill>
                  <a:srgbClr val="1F2D3A"/>
                </a:solidFill>
              </a:rPr>
              <a:t>sonuç/karşılanan gereksinim</a:t>
            </a:r>
            <a:r>
              <a:rPr sz="2000" b="0">
                <a:solidFill>
                  <a:srgbClr val="1F2D3A"/>
                </a:solidFill>
              </a:rPr>
              <a:t> alanı → </a:t>
            </a:r>
            <a:r>
              <a:rPr sz="2000" b="1">
                <a:solidFill>
                  <a:srgbClr val="1F2D3A"/>
                </a:solidFill>
              </a:rPr>
              <a:t>S17 uyum matrisine</a:t>
            </a:r>
            <a:r>
              <a:rPr sz="2000" b="0">
                <a:solidFill>
                  <a:srgbClr val="1F2D3A"/>
                </a:solidFill>
              </a:rPr>
              <a:t> kanıt olarak bağlanır.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Proje ve kapanış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(test planı + sonuçları)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En kritik iki–üç varlık/gereksinim için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test kartları yazın (S17 ile bağlı).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Yöntem:</a:t>
            </a:r>
            <a:r>
              <a:rPr sz="2000" b="0">
                <a:solidFill>
                  <a:srgbClr val="1F2D3A"/>
                </a:solidFill>
              </a:rPr>
              <a:t> hangi metodolojiyi (MASTG / WSTG / PTES / NIST SP 800-115) temel aldığınızı belirtin.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Sonuçlar:</a:t>
            </a:r>
            <a:r>
              <a:rPr sz="2000" b="0">
                <a:solidFill>
                  <a:srgbClr val="1F2D3A"/>
                </a:solidFill>
              </a:rPr>
              <a:t> testleri çalıştırıp </a:t>
            </a:r>
            <a:r>
              <a:rPr sz="2000" b="1">
                <a:solidFill>
                  <a:srgbClr val="1F2D3A"/>
                </a:solidFill>
              </a:rPr>
              <a:t>gözlenen sonuçları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plan değil,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Bulgu–aksiyon:</a:t>
            </a:r>
            <a:r>
              <a:rPr sz="2000" b="0">
                <a:solidFill>
                  <a:srgbClr val="1F2D3A"/>
                </a:solidFill>
              </a:rPr>
              <a:t> vize geri bildirimlerini bir tabloya dökün.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Kalan risk:</a:t>
            </a:r>
            <a:r>
              <a:rPr sz="2000" b="0">
                <a:solidFill>
                  <a:srgbClr val="1F2D3A"/>
                </a:solidFill>
              </a:rPr>
              <a:t> kapatmadığınız riskleri ve gerekçesini yazın.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(tekrar)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ve yetkili olduğunuz sistemlerde.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 suçtur.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depoda gerçek sır/kişisel veri yok.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13 adımı üç aşamada özetleyin.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Hazırlık (TOE, belge, gereksinim şablonu, atölye) → Değerlendirme (kod inceleme, zafiyet, sızma, işlevsel) → Sonuç (bulgu, etki analizi, delta, kalan risk, değişiklik yönetimi).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Değerlendiricinin iki varsayımı? Sonucu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beyaz kutu — tüm kaynak/belge erişimi; (2) platform güvenilmez. Sonuç: korumanın var olması yetmez,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Yöntemleri neden ucuzdan pahalıya sıralarız?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Ucuz/geniş yöntemler (SAST) kolay bulguları temizler; pahalı/derin yöntem (pentest) böylece gerçek, birleşik sorunlara odaklanır. Zaman ve maliyet verimliliği.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ISO 27001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(süreç), Ortak Kriterler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. Biri diğerini gerektirmez.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potansiyelinin beş faktörü? Düşük puan neden ciddi?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süre, uzmanlık, hedef bilgisi, fırsat penceresi, ekipman. Düşük toplam = kolay saldırı =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 ile CVSS neyi ölçer? Neden birlikte?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Saldırı potansiyeli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(zorluk), CVSS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(C/I/A kaybı). Önceliklendirme için ikisi birden verilir.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Bulgu–öneri–aksiyon döngüsü. Bir bulgu "açık değil" diye nasıl kapanır?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Laboratuvar öneri, geliştirici aksiyon üretir. Bazı bulgular güvenlik açığı değil </a:t>
            </a:r>
            <a:r>
              <a:rPr sz="2000" b="1">
                <a:solidFill>
                  <a:srgbClr val="1F2D3A"/>
                </a:solidFill>
              </a:rPr>
              <a:t>iyi uygulama önerisi</a:t>
            </a:r>
            <a:r>
              <a:rPr sz="2000" b="0">
                <a:solidFill>
                  <a:srgbClr val="1F2D3A"/>
                </a:solidFill>
              </a:rPr>
              <a:t> olarak, gerekçeyle kapanır.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Etki analizi ile delta değerlendirme farkı? Kimin işi?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Etki analizi değişikliğin etkisini </a:t>
            </a:r>
            <a:r>
              <a:rPr sz="2000" b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(geliştirici); delta yalnız değişeni </a:t>
            </a:r>
            <a:r>
              <a:rPr sz="2000" b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Sızma testi planının dört başlığı?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kapsam, angajman kuralları, yöntem, test şablonu. Her biri sonucu meşru, tekrarlanabilir ve güvenli kılar.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Angajman kurallarında "durdurma koşulu"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Kritik/öngörülmeyen bir etki görülürse test hemen durur ve bildirilir; hasarı ve hukuki riski sınırlar.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Test kartının hangi alanı S17'ye bağlanır?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"İlgili gereksinim" alanı — her test bir gereksinime/varlığa bağlanır, uyum matrisiyle (S17) izlenir.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Finalde S16'dan "plan" değil "sonuç" beklenmesi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Test planı yazmak yetmez; testleri </a:t>
            </a:r>
            <a:r>
              <a:rPr sz="2000" b="1">
                <a:solidFill>
                  <a:srgbClr val="1F2D3A"/>
                </a:solidFill>
              </a:rPr>
              <a:t>çalıştırıp gözlenen sonuçları</a:t>
            </a:r>
            <a:r>
              <a:rPr sz="2000" b="0">
                <a:solidFill>
                  <a:srgbClr val="1F2D3A"/>
                </a:solidFill>
              </a:rPr>
              <a:t> ve bulgu–aksiyonu sunmak gerekir.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1332"/>
                <a:gridCol w="699020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tam nesne (benzersiz)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/ dinamik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İzinli, planlı saldırgan-bakışı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Kırmanın zorluğu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etki puanı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Laboratuvar önerisi → geliştirici yanıtı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Değişikliğin güvenlik etkisi (geliştirici)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değişeni yeniden değerlendirme (lab)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Angajman kuralları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 izin/kapsam/sınır sözleşmesi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iddia değil, </a:t>
            </a:r>
            <a:r>
              <a:rPr sz="2000" b="1">
                <a:solidFill>
                  <a:srgbClr val="1F2D3A"/>
                </a:solidFill>
              </a:rPr>
              <a:t>bağımsız olarak sınanan ve ölçülen</a:t>
            </a:r>
            <a:r>
              <a:rPr sz="2000" b="0">
                <a:solidFill>
                  <a:srgbClr val="1F2D3A"/>
                </a:solidFill>
              </a:rPr>
              <a:t> bir niteliktir; korumanın var olması yetmez, </a:t>
            </a:r>
            <a:r>
              <a:rPr sz="2000" b="1">
                <a:solidFill>
                  <a:srgbClr val="1F2D3A"/>
                </a:solidFill>
              </a:rPr>
              <a:t>ne kadar dayandığı</a:t>
            </a:r>
            <a:r>
              <a:rPr sz="2000" b="0">
                <a:solidFill>
                  <a:srgbClr val="1F2D3A"/>
                </a:solidFill>
              </a:rPr>
              <a:t> planlı, izinli ve tekrarlanabilir biçimde ölçülür.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teslim edilen belge, etki/delta yapısı, gereksinim bloğu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 gereksinim +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sızma testi metodolojisi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</a:t>
            </a:r>
            <a:r>
              <a:rPr sz="2000" b="0">
                <a:solidFill>
                  <a:srgbClr val="1F2D3A"/>
                </a:solidFill>
              </a:rPr>
              <a:t> + saldırı potansiyeli kılavuzları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13. hafta — Güvenlik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İyi gereksinim · izlenebilirlik/uyum matrisi · devredilen gereksinimler · CC, FIPS 140-3, ETSI, EMVCo, PCI, MASVS.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mini vaka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mobil uygulama: </a:t>
            </a:r>
            <a:r>
              <a:rPr sz="2000" b="1">
                <a:solidFill>
                  <a:srgbClr val="1F2D3A"/>
                </a:solidFill>
              </a:rPr>
              <a:t>"NotKasa"</a:t>
            </a:r>
            <a:r>
              <a:rPr sz="2000" b="0">
                <a:solidFill>
                  <a:srgbClr val="1F2D3A"/>
                </a:solidFill>
              </a:rPr>
              <a:t> (yerel şifreli not tutar).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Notları AES ile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sunucudan indiriyor.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günlük kapalı.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ürünü baştan sona değerlendireceğiz.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uygulaması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(sentetik)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deposu,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dışı: sunucu altyapısı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2–3 · Belge ve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Teslim: kaynak, güvenlik kılavuzu, hem hata ayıklama hem sürüm APK.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şablonu: MASVS maddeleri numaralı; her biri için durum + kanıt referansı.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Kod incelemesi bulguları (sentetik)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anahtar bir ara değişkende siliniyor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tampon </a:t>
            </a:r>
            <a:r>
              <a:rPr sz="2000" b="1">
                <a:solidFill>
                  <a:srgbClr val="1F2D3A"/>
                </a:solidFill>
              </a:rPr>
              <a:t>silinmemiş</a:t>
            </a:r>
            <a:r>
              <a:rPr sz="2000" b="0">
                <a:solidFill>
                  <a:srgbClr val="1F2D3A"/>
                </a:solidFill>
              </a:rPr>
              <a:t> (bellekte kalıyor).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hata iletisi çözme hatasında iç ayrıntı sızdırıyor.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Varlıklar: not içeriği (C/I), veri anahtarı (C/I), sunucu jetonu.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Soru: her varlık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açığa çıkıyor?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bir sızma testi planı (aşağıda).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 kartı (özet)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düz metin diskte? → geçti (şifreli)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anahtar bellekte kalıyor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(B-01 doğrulandı)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hata iletisi sızdırıyor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T-02 derecelendirme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 (bellek dökümü)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orta-düşük saldırı potansiyeli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orta (gizlilik etkisi)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Bulgu–aksiyon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2468"/>
                <a:gridCol w="3637178"/>
                <a:gridCol w="3771888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anahtar kalıntısı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'yi kullanınca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Eklendi (memset benzeri)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hata sızıntısı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genel hata dön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Düzeltildi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10–11 · Etki analizi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v1.0.1 doğurdu.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2 dosya değişti, ikisi de bellek/hata yolu; kripto akışı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yalnız bu iki dosya + yeni TOE kimliği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yeniden değerlendirildi.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köklü ise bellek dökümü hâlâ mümkün.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anahtar kısa ömürlü + sunucu risk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yazıldı.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soyut değil; küçük bir üründe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bir </a:t>
            </a:r>
            <a:r>
              <a:rPr sz="2000" b="1">
                <a:solidFill>
                  <a:srgbClr val="1F2D3A"/>
                </a:solidFill>
              </a:rPr>
              <a:t>döngü</a:t>
            </a:r>
            <a:r>
              <a:rPr sz="2000" b="0">
                <a:solidFill>
                  <a:srgbClr val="1F2D3A"/>
                </a:solidFill>
              </a:rPr>
              <a:t>: bul → düzelt → yeniden değerlendir.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bunun küçültülmüş hâli.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Daha çok test kartı örneği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kripto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notlar gerçekten AEAD ile mi şifreli?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şifreli blobun başlığını/etiketini incele; bozuk etiketli veri reddediliyor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bozuk etiket → çözme reddi.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anahtar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anahtar iş bitince siliniyor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işlem sonrası bellek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anahtar baytları bulunmuyor.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sürüm/hata ayıklama ayrımı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sürüm derlemesinde günlük gerçekten kapalı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sürüm APK'da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günlük dizgesi ara.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günlük dizgesi yok.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yükseltme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eski imzalı sürüm geri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düşük sürümü yüklemeyi dene.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sürüm düşürme reddi.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Kartları yazarken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olmalı (başkası aynı adımı izleyebilmeli).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bir </a:t>
            </a:r>
            <a:r>
              <a:rPr sz="2000" b="1">
                <a:solidFill>
                  <a:srgbClr val="1F2D3A"/>
                </a:solidFill>
              </a:rPr>
              <a:t>gereksinime</a:t>
            </a:r>
            <a:r>
              <a:rPr sz="2000" b="0">
                <a:solidFill>
                  <a:srgbClr val="1F2D3A"/>
                </a:solidFill>
              </a:rPr>
              <a:t> bağlı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"Gözlenen" alanı </a:t>
            </a:r>
            <a:r>
              <a:rPr sz="2000" b="1">
                <a:solidFill>
                  <a:srgbClr val="1F2D3A"/>
                </a:solidFill>
              </a:rPr>
              <a:t>kanıtla</a:t>
            </a:r>
            <a:r>
              <a:rPr sz="2000" b="0">
                <a:solidFill>
                  <a:srgbClr val="1F2D3A"/>
                </a:solidFill>
              </a:rPr>
              <a:t> dolu.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Sık yapılan hatalar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plan var, sonuç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Finalde (S16)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"Şunu test edeceğiz" yetmez; "şunu test ettik, şu çıktı".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kanıtsız "karşılandı" = değerlendiricide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satıra kanıt referansı.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sürüm tutarsızlığı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v1.0, kod v1.1 → değerlendirilen ürün belirsiz.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+ özet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 boş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vize geri bildirimini yok saymak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döngüsü sürecin parçası.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bulguları finalde kapatılmış olmalı.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depoda gerçek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sır/kişisel veri = ağır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şey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S16'nızı</a:t>
            </a:r>
            <a:r>
              <a:rPr sz="2000" b="0">
                <a:solidFill>
                  <a:srgbClr val="1F2D3A"/>
                </a:solidFill>
              </a:rPr>
              <a:t> yazmanın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uçtan uca vaka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örnekleri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bir test planı, güveni </a:t>
            </a:r>
            <a:r>
              <a:rPr sz="2000" b="1">
                <a:solidFill>
                  <a:srgbClr val="1F2D3A"/>
                </a:solidFill>
              </a:rPr>
              <a:t>iddiadan kanıta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12 — Güvenlik Sertifikasyonları ve Sızma Testi Planlaması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