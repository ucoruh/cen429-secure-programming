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güvenlik gereksinimlerini okuyup kendi projemize eşlemeyi öğreniyoruz: gereksinim, durum, kanıt.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güvenlik gereksinimlerini okuyup kendi projemize eşlemeyi öğreniyoruz: gereksinim → önlem → doğrulama → kanıt. Sıfır ön bilgi; her terimi tanımlayacağız.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Gereksinim/standart terimlerini sıfırdan tanımlıyoruz.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gereksinim bloğu ve devredilenler.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Ortak Kriterler ve FIPS.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sektör standartları.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gereksinimleri projeye aktarma.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Sentetik "NotKasa" ürünü için birkaç gereksinim bloğunu ve matris satırını dolduruyoruz.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aile için bir örnek gereksinim; öğrenci kendi projesine benzerini yazar.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Güvenlik Gereksinimleri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11.12.2026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55"/>
                <a:gridCol w="935274"/>
                <a:gridCol w="9144905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iyi gereksinim · izlenebilirlik · gereksinim bloğu ·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Ortak Kriterler (TOE, ST, PP, SFR/SAR, EAL) · FIPS 140-3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6–9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ETSI, GSMA, EMVCo, PCI, MASVS · dersin gereksinim aileleri · uyum matrisi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güvenlik gereksinimleri nasıl standartlaştı?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gereksinim düzeylerini resmîleştirir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FIPS 140</a:t>
            </a:r>
            <a:r>
              <a:rPr sz="1800" b="0">
                <a:solidFill>
                  <a:srgbClr val="1F2D3A"/>
                </a:solidFill>
              </a:rPr>
              <a:t> kriptografik modül gereksinimleri (bugün </a:t>
            </a:r>
            <a:r>
              <a:rPr sz="1800" b="1">
                <a:solidFill>
                  <a:srgbClr val="1F2D3A"/>
                </a:solidFill>
              </a:rPr>
              <a:t>140-3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Ortak Kriterler</a:t>
            </a:r>
            <a:r>
              <a:rPr sz="1800" b="0">
                <a:solidFill>
                  <a:srgbClr val="1F2D3A"/>
                </a:solidFill>
              </a:rPr>
              <a:t>: </a:t>
            </a:r>
            <a:r>
              <a:rPr sz="1800" b="1">
                <a:solidFill>
                  <a:srgbClr val="1F2D3A"/>
                </a:solidFill>
              </a:rPr>
              <a:t>PP/ST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1">
                <a:solidFill>
                  <a:srgbClr val="1F2D3A"/>
                </a:solidFill>
              </a:rPr>
              <a:t>SFR/SAR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1">
                <a:solidFill>
                  <a:srgbClr val="1F2D3A"/>
                </a:solidFill>
              </a:rPr>
              <a:t>EAL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OWASP MASVS</a:t>
            </a:r>
            <a:r>
              <a:rPr sz="1800" b="0">
                <a:solidFill>
                  <a:srgbClr val="1F2D3A"/>
                </a:solidFill>
              </a:rPr>
              <a:t> (mobil), </a:t>
            </a:r>
            <a:r>
              <a:rPr sz="1800" b="1">
                <a:solidFill>
                  <a:srgbClr val="1F2D3A"/>
                </a:solidFill>
              </a:rPr>
              <a:t>ETSI EN 303 645</a:t>
            </a:r>
            <a:r>
              <a:rPr sz="1800" b="0">
                <a:solidFill>
                  <a:srgbClr val="1F2D3A"/>
                </a:solidFill>
              </a:rPr>
              <a:t> (IoT), </a:t>
            </a:r>
            <a:r>
              <a:rPr sz="1800" b="1">
                <a:solidFill>
                  <a:srgbClr val="1F2D3A"/>
                </a:solidFill>
              </a:rPr>
              <a:t>EMVCo/PCI</a:t>
            </a:r>
            <a:r>
              <a:rPr sz="1800" b="0">
                <a:solidFill>
                  <a:srgbClr val="1F2D3A"/>
                </a:solidFill>
              </a:rPr>
              <a:t> (ödeme)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Değişmeyen ilke: gereksinim </a:t>
            </a:r>
            <a:r>
              <a:rPr sz="1800" b="1">
                <a:solidFill>
                  <a:srgbClr val="1F2D3A"/>
                </a:solidFill>
              </a:rPr>
              <a:t>ölçülebilir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izlenebilir</a:t>
            </a:r>
            <a:r>
              <a:rPr sz="1800" b="0">
                <a:solidFill>
                  <a:srgbClr val="1F2D3A"/>
                </a:solidFill>
              </a:rPr>
              <a:t> olmalı; kanıtsız "karşılandı" geçersizdir.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12. hafta:</a:t>
            </a:r>
            <a:r>
              <a:rPr sz="2000" b="0">
                <a:solidFill>
                  <a:srgbClr val="1F2D3A"/>
                </a:solidFill>
              </a:rPr>
              <a:t> bir ürün nasıl </a:t>
            </a:r>
            <a:r>
              <a:rPr sz="2000" b="1">
                <a:solidFill>
                  <a:srgbClr val="1F2D3A"/>
                </a:solidFill>
              </a:rPr>
              <a:t>değerlendirilir/test 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(13):</a:t>
            </a:r>
            <a:r>
              <a:rPr sz="2000" b="0">
                <a:solidFill>
                  <a:srgbClr val="1F2D3A"/>
                </a:solidFill>
              </a:rPr>
              <a:t> değerlendirmenin ölçtüğü </a:t>
            </a:r>
            <a:r>
              <a:rPr sz="2000" b="1">
                <a:solidFill>
                  <a:srgbClr val="1F2D3A"/>
                </a:solidFill>
              </a:rPr>
              <a:t>gereksinimler</a:t>
            </a:r>
            <a:r>
              <a:rPr sz="2000" b="0">
                <a:solidFill>
                  <a:srgbClr val="1F2D3A"/>
                </a:solidFill>
              </a:rPr>
              <a:t> nereden gelir, nasıl yazılır, nasıl izlenir.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projenizin </a:t>
            </a:r>
            <a:r>
              <a:rPr sz="2000" b="1">
                <a:solidFill>
                  <a:srgbClr val="1F2D3A"/>
                </a:solidFill>
              </a:rPr>
              <a:t>uyum matrisi</a:t>
            </a:r>
            <a:r>
              <a:rPr sz="2000" b="0">
                <a:solidFill>
                  <a:srgbClr val="1F2D3A"/>
                </a:solidFill>
              </a:rPr>
              <a:t> (S17) ve </a:t>
            </a:r>
            <a:r>
              <a:rPr sz="2000" b="1">
                <a:solidFill>
                  <a:srgbClr val="1F2D3A"/>
                </a:solidFill>
              </a:rPr>
              <a:t>devredilenler</a:t>
            </a:r>
            <a:r>
              <a:rPr sz="2000" b="0">
                <a:solidFill>
                  <a:srgbClr val="1F2D3A"/>
                </a:solidFill>
              </a:rPr>
              <a:t> (S14).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ÖÇ.7</a:t>
            </a:r>
            <a:r>
              <a:rPr sz="2000" b="0">
                <a:solidFill>
                  <a:srgbClr val="1F2D3A"/>
                </a:solidFill>
              </a:rPr>
              <a:t>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bir güvenlik gereksinimini kötüsünden ayırmak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izlenebilirlik/uyum matrisi</a:t>
            </a:r>
            <a:r>
              <a:rPr sz="2000" b="0">
                <a:solidFill>
                  <a:srgbClr val="1F2D3A"/>
                </a:solidFill>
              </a:rPr>
              <a:t> kurmak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CC, FIPS, ETSI, EMVCo, PCI, MASVS'in ne istediğini karşılaştırmak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fikir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bir "his" değil, </a:t>
            </a:r>
            <a:r>
              <a:rPr sz="2000" b="1">
                <a:solidFill>
                  <a:srgbClr val="1F2D3A"/>
                </a:solidFill>
              </a:rPr>
              <a:t>yazılı, ölçülebilir, izlenebilir</a:t>
            </a:r>
            <a:r>
              <a:rPr sz="2000" b="0">
                <a:solidFill>
                  <a:srgbClr val="1F2D3A"/>
                </a:solidFill>
              </a:rPr>
              <a:t> gereksinimlerle yönetilir: gereksinim → önlem → doğrulama → kanıt.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bu zinciri kurmayı öğreneceğiz.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(requirement)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Gereksinim:</a:t>
            </a:r>
            <a:r>
              <a:rPr sz="2000" b="0">
                <a:solidFill>
                  <a:srgbClr val="1F2D3A"/>
                </a:solidFill>
              </a:rPr>
              <a:t> sistemin </a:t>
            </a:r>
            <a:r>
              <a:rPr sz="2000" b="1">
                <a:solidFill>
                  <a:srgbClr val="1F2D3A"/>
                </a:solidFill>
              </a:rPr>
              <a:t>karşılaması gereken</a:t>
            </a:r>
            <a:r>
              <a:rPr sz="2000" b="0">
                <a:solidFill>
                  <a:srgbClr val="1F2D3A"/>
                </a:solidFill>
              </a:rPr>
              <a:t> bir koşul.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gereksinimi: bir güvenlik koşulu.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gereksinim </a:t>
            </a:r>
            <a:r>
              <a:rPr sz="2000" b="1">
                <a:solidFill>
                  <a:srgbClr val="1F2D3A"/>
                </a:solidFill>
              </a:rPr>
              <a:t>doğrulanabilir</a:t>
            </a:r>
            <a:r>
              <a:rPr sz="2000" b="0">
                <a:solidFill>
                  <a:srgbClr val="1F2D3A"/>
                </a:solidFill>
              </a:rPr>
              <a:t> (test edilebilir).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tür gereksinim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İşlevsel:</a:t>
            </a:r>
            <a:r>
              <a:rPr sz="2000" b="0">
                <a:solidFill>
                  <a:srgbClr val="1F2D3A"/>
                </a:solidFill>
              </a:rPr>
              <a:t> hangi güvenlik işlevi olacak? (ör. veri AEAD ile korunur)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Güvence:</a:t>
            </a:r>
            <a:r>
              <a:rPr sz="2000" b="0">
                <a:solidFill>
                  <a:srgbClr val="1F2D3A"/>
                </a:solidFill>
              </a:rPr>
              <a:t> doğru yapıldığına nasıl güveneceğiz? (ör. test raporu)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Süreç:</a:t>
            </a:r>
            <a:r>
              <a:rPr sz="2000" b="0">
                <a:solidFill>
                  <a:srgbClr val="1F2D3A"/>
                </a:solidFill>
              </a:rPr>
              <a:t> kurum nasıl çalışmalı? (ör. her değişiklik incelenir)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vs kötü gereksinim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"Uygulama güvenli olmalıdır." (doğrulanamaz)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"Sürüm derlemesi yığın koruyucu, PIE ve tam RELRO ile üretilmelidir." (ölçülebilir)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(traceability)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İzlenebilirlik:</a:t>
            </a:r>
            <a:r>
              <a:rPr sz="2000" b="0">
                <a:solidFill>
                  <a:srgbClr val="1F2D3A"/>
                </a:solidFill>
              </a:rPr>
              <a:t> her gereksinimi bir </a:t>
            </a:r>
            <a:r>
              <a:rPr sz="2000" b="1">
                <a:solidFill>
                  <a:srgbClr val="1F2D3A"/>
                </a:solidFill>
              </a:rPr>
              <a:t>önleme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teste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bağlamak.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"Bu gereksinim nerede karşılandı, nasıl doğrulandı?"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Uyum matrisi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Uyum matrisi:</a:t>
            </a:r>
            <a:r>
              <a:rPr sz="2000" b="0">
                <a:solidFill>
                  <a:srgbClr val="1F2D3A"/>
                </a:solidFill>
              </a:rPr>
              <a:t> gereksinim → durum → bölüm → doğrulama → kanıt tablosu.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Projenin </a:t>
            </a:r>
            <a:r>
              <a:rPr sz="2000" b="1">
                <a:solidFill>
                  <a:srgbClr val="1F2D3A"/>
                </a:solidFill>
              </a:rPr>
              <a:t>S17</a:t>
            </a:r>
            <a:r>
              <a:rPr sz="2000" b="0">
                <a:solidFill>
                  <a:srgbClr val="1F2D3A"/>
                </a:solidFill>
              </a:rPr>
              <a:t> bölümü.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Değerlendiricinin ilk baktığı 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durumları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Karşılandı:</a:t>
            </a:r>
            <a:r>
              <a:rPr sz="2000" b="0">
                <a:solidFill>
                  <a:srgbClr val="1F2D3A"/>
                </a:solidFill>
              </a:rPr>
              <a:t> ürün bu gereksinimi sağlar (kanıtla).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Devredildi:</a:t>
            </a:r>
            <a:r>
              <a:rPr sz="2000" b="0">
                <a:solidFill>
                  <a:srgbClr val="1F2D3A"/>
                </a:solidFill>
              </a:rPr>
              <a:t> başka bir taraf sağlar (kime, neden, nasıl).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Karşılanmadı:</a:t>
            </a:r>
            <a:r>
              <a:rPr sz="2000" b="0">
                <a:solidFill>
                  <a:srgbClr val="1F2D3A"/>
                </a:solidFill>
              </a:rPr>
              <a:t> henüz sağlanmıyor.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Devredilen gereksinim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bileşen bir gereksinimi </a:t>
            </a:r>
            <a:r>
              <a:rPr sz="2000" b="1">
                <a:solidFill>
                  <a:srgbClr val="1F2D3A"/>
                </a:solidFill>
              </a:rPr>
              <a:t>karşılayamıyorsa</a:t>
            </a:r>
            <a:r>
              <a:rPr sz="2000" b="0">
                <a:solidFill>
                  <a:srgbClr val="1F2D3A"/>
                </a:solidFill>
              </a:rPr>
              <a:t>, üst uygulamaya/OS'a </a:t>
            </a:r>
            <a:r>
              <a:rPr sz="2000" b="1">
                <a:solidFill>
                  <a:srgbClr val="1F2D3A"/>
                </a:solidFill>
              </a:rPr>
              <a:t>devreder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Kılavuza: </a:t>
            </a:r>
            <a:r>
              <a:rPr sz="2000" b="1">
                <a:solidFill>
                  <a:srgbClr val="1F2D3A"/>
                </a:solidFill>
              </a:rPr>
              <a:t>kime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karşılanacağı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Projenin </a:t>
            </a:r>
            <a:r>
              <a:rPr sz="2000" b="1">
                <a:solidFill>
                  <a:srgbClr val="1F2D3A"/>
                </a:solidFill>
              </a:rPr>
              <a:t>S14</a:t>
            </a:r>
            <a:r>
              <a:rPr sz="2000" b="0">
                <a:solidFill>
                  <a:srgbClr val="1F2D3A"/>
                </a:solidFill>
              </a:rPr>
              <a:t> bölümü.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(CC)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 (ISO/IEC 15408):</a:t>
            </a:r>
            <a:r>
              <a:rPr sz="2000" b="0">
                <a:solidFill>
                  <a:srgbClr val="1F2D3A"/>
                </a:solidFill>
              </a:rPr>
              <a:t> ürün güvenliği değerlendirme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Kavramlar: TOE, ST, PP, SFR, SAR, EAL (birazdan).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· temel terimler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TOE:</a:t>
            </a:r>
            <a:r>
              <a:rPr sz="2000" b="0">
                <a:solidFill>
                  <a:srgbClr val="1F2D3A"/>
                </a:solidFill>
              </a:rPr>
              <a:t> değerlendirilen ürün.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 (Security Target):</a:t>
            </a:r>
            <a:r>
              <a:rPr sz="2000" b="0">
                <a:solidFill>
                  <a:srgbClr val="1F2D3A"/>
                </a:solidFill>
              </a:rPr>
              <a:t> bu ürünün güvenlik hedefi belgesi.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PP (Protection Profile):</a:t>
            </a:r>
            <a:r>
              <a:rPr sz="2000" b="0">
                <a:solidFill>
                  <a:srgbClr val="1F2D3A"/>
                </a:solidFill>
              </a:rPr>
              <a:t> bir ürün </a:t>
            </a:r>
            <a:r>
              <a:rPr sz="2000" b="1">
                <a:solidFill>
                  <a:srgbClr val="1F2D3A"/>
                </a:solidFill>
              </a:rPr>
              <a:t>sınıfı</a:t>
            </a:r>
            <a:r>
              <a:rPr sz="2000" b="0">
                <a:solidFill>
                  <a:srgbClr val="1F2D3A"/>
                </a:solidFill>
              </a:rPr>
              <a:t> için ortak gereksinim seti.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· SFR, SAR, 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SFR:</a:t>
            </a:r>
            <a:r>
              <a:rPr sz="2000" b="0">
                <a:solidFill>
                  <a:srgbClr val="1F2D3A"/>
                </a:solidFill>
              </a:rPr>
              <a:t> güvenlik </a:t>
            </a:r>
            <a:r>
              <a:rPr sz="2000" b="1">
                <a:solidFill>
                  <a:srgbClr val="1F2D3A"/>
                </a:solidFill>
              </a:rPr>
              <a:t>işlevsel</a:t>
            </a:r>
            <a:r>
              <a:rPr sz="2000" b="0">
                <a:solidFill>
                  <a:srgbClr val="1F2D3A"/>
                </a:solidFill>
              </a:rPr>
              <a:t>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SAR:</a:t>
            </a:r>
            <a:r>
              <a:rPr sz="2000" b="0">
                <a:solidFill>
                  <a:srgbClr val="1F2D3A"/>
                </a:solidFill>
              </a:rPr>
              <a:t> güvenlik </a:t>
            </a:r>
            <a:r>
              <a:rPr sz="2000" b="1">
                <a:solidFill>
                  <a:srgbClr val="1F2D3A"/>
                </a:solidFill>
              </a:rPr>
              <a:t>güvence</a:t>
            </a:r>
            <a:r>
              <a:rPr sz="2000" b="0">
                <a:solidFill>
                  <a:srgbClr val="1F2D3A"/>
                </a:solidFill>
              </a:rPr>
              <a:t>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EAL:</a:t>
            </a:r>
            <a:r>
              <a:rPr sz="2000" b="0">
                <a:solidFill>
                  <a:srgbClr val="1F2D3A"/>
                </a:solidFill>
              </a:rPr>
              <a:t> değerlendirmenin </a:t>
            </a:r>
            <a:r>
              <a:rPr sz="2000" b="1">
                <a:solidFill>
                  <a:srgbClr val="1F2D3A"/>
                </a:solidFill>
              </a:rPr>
              <a:t>derinlik</a:t>
            </a:r>
            <a:r>
              <a:rPr sz="2000" b="0">
                <a:solidFill>
                  <a:srgbClr val="1F2D3A"/>
                </a:solidFill>
              </a:rPr>
              <a:t> düzeyi (EAL1–EAL7).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FIPS 140-3:</a:t>
            </a:r>
            <a:r>
              <a:rPr sz="2000" b="0">
                <a:solidFill>
                  <a:srgbClr val="1F2D3A"/>
                </a:solidFill>
              </a:rPr>
              <a:t> kriptografik </a:t>
            </a:r>
            <a:r>
              <a:rPr sz="2000" b="1">
                <a:solidFill>
                  <a:srgbClr val="1F2D3A"/>
                </a:solidFill>
              </a:rPr>
              <a:t>modüllerin</a:t>
            </a:r>
            <a:r>
              <a:rPr sz="2000" b="0">
                <a:solidFill>
                  <a:srgbClr val="1F2D3A"/>
                </a:solidFill>
              </a:rPr>
              <a:t> doğrulanması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düzeyleri (1–4).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modülü kapsar, uygulamanın tamamını değil.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Sektör standartları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ETSI EN 303 645:</a:t>
            </a:r>
            <a:r>
              <a:rPr sz="2000" b="0">
                <a:solidFill>
                  <a:srgbClr val="1F2D3A"/>
                </a:solidFill>
              </a:rPr>
              <a:t> IoT temel güvenlik.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GSMA, EMVCo, PCI:</a:t>
            </a:r>
            <a:r>
              <a:rPr sz="2000" b="0">
                <a:solidFill>
                  <a:srgbClr val="1F2D3A"/>
                </a:solidFill>
              </a:rPr>
              <a:t> mobil/ödeme.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MASVS:</a:t>
            </a:r>
            <a:r>
              <a:rPr sz="2000" b="0">
                <a:solidFill>
                  <a:srgbClr val="1F2D3A"/>
                </a:solidFill>
              </a:rPr>
              <a:t> mobil uygulama gereksinimleri.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 (işlevsel/güvence/süreç) · izlenebilirlik · uyum matrisi · durum (karşılandı/devredildi/karşılanmadı) · devredilen · CC (TOE/ST/PP/SFR/SAR/EAL) · FIPS 140-3 · ETSI/GSMA/EMVCo/PCI/MASVS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iyi gereksinim nasıl yazılır?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İyi gereksinim nasıl yazılır?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gereksinim ölçütleri — şema</a:t>
            </a:r>
          </a:p>
        </p:txBody>
      </p:sp>
      <p:pic>
        <p:nvPicPr>
          <p:cNvPr id="7" name="Picture 6" descr="h13-03-iyi-gereksin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tür (hatırlatma)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548"/>
                <a:gridCol w="4052855"/>
                <a:gridCol w="498813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İşlevsel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Hangi güvenlik işlevi?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Hassas veri AEAD ile korunur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 mu yapıldı?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Statik analiz + test raporu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Kurum nasıl çalışır?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değişiklik incelenir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gereksinim ölçütleri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Doğrulanabilir:</a:t>
            </a:r>
            <a:r>
              <a:rPr sz="2000" b="0">
                <a:solidFill>
                  <a:srgbClr val="1F2D3A"/>
                </a:solidFill>
              </a:rPr>
              <a:t> test edilebilir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Tekil:</a:t>
            </a:r>
            <a:r>
              <a:rPr sz="2000" b="0">
                <a:solidFill>
                  <a:srgbClr val="1F2D3A"/>
                </a:solidFill>
              </a:rPr>
              <a:t> tek bir şey mi söylüyor?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Ölçülebilir:</a:t>
            </a:r>
            <a:r>
              <a:rPr sz="2000" b="0">
                <a:solidFill>
                  <a:srgbClr val="1F2D3A"/>
                </a:solidFill>
              </a:rPr>
              <a:t> somut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Gerçekçi:</a:t>
            </a:r>
            <a:r>
              <a:rPr sz="2000" b="0">
                <a:solidFill>
                  <a:srgbClr val="1F2D3A"/>
                </a:solidFill>
              </a:rPr>
              <a:t> uygulanabilir mi?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"Uygulama güvenli olmalıdır."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"Sürüm derlemesi yığın koruyucu, PIE ve tam RELRO ile üretilmelidir."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Neden iyi? </a:t>
            </a:r>
            <a:r>
              <a:rPr sz="2000" b="1">
                <a:solidFill>
                  <a:srgbClr val="1F2D3A"/>
                </a:solidFill>
              </a:rPr>
              <a:t>Test edilebilir</a:t>
            </a:r>
            <a:r>
              <a:rPr sz="2000" b="0">
                <a:solidFill>
                  <a:srgbClr val="1F2D3A"/>
                </a:solidFill>
              </a:rPr>
              <a:t> (checksec).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gereksinim — şema</a:t>
            </a:r>
          </a:p>
        </p:txBody>
      </p:sp>
      <p:pic>
        <p:nvPicPr>
          <p:cNvPr id="7" name="Picture 6" descr="h13-04-kotu-i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"Veriler şifrelenmelidir."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"C sınıfı her varlık beklemede ≥128 bit düzeyinde AEAD ile şifrelenmelidir."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Neden iyi? Hangi veri, hangi düzey, hangi yöntem belli.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Kötü → iyi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Kötü:</a:t>
            </a:r>
            <a:r>
              <a:rPr sz="2000" b="0">
                <a:solidFill>
                  <a:srgbClr val="1F2D3A"/>
                </a:solidFill>
              </a:rPr>
              <a:t> "Anahtarlar iyi yönetilmelidir."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İyi:</a:t>
            </a:r>
            <a:r>
              <a:rPr sz="2000" b="0">
                <a:solidFill>
                  <a:srgbClr val="1F2D3A"/>
                </a:solidFill>
              </a:rPr>
              <a:t> "(1) Her anahtarın amacı, kripto-periyodu ve imhası belgelenir. (2) İş bitince bellekten silinir."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Tekil, doğrulanabilir maddeler.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Gereksinimden kanıta: izlenebilirlik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Zincir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gereksinim → önlem → doğrulama → kanıt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bu zincirle bir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bağlanmalı.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neden önemli?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"bu gereksinim nerede?" diye sorar.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İzlenebilirlik yoksa: her şeyi baştan aramak.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Varsa: matristen doğrudan bulunur.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örneği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525"/>
                <a:gridCol w="2149241"/>
                <a:gridCol w="2479894"/>
                <a:gridCol w="2975873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AEAD 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Birim testi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Test çıktısı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Sürüm korumaları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Bayraklar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checksec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Koruma tablosu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İzlenebilirlik zinciri — iki yön</a:t>
            </a:r>
          </a:p>
        </p:txBody>
      </p:sp>
      <p:pic>
        <p:nvPicPr>
          <p:cNvPr id="7" name="Picture 6" descr="h13-01-izlenebilir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51803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yön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İleri:</a:t>
            </a:r>
            <a:r>
              <a:rPr sz="2000" b="0">
                <a:solidFill>
                  <a:srgbClr val="1F2D3A"/>
                </a:solidFill>
              </a:rPr>
              <a:t> gereksinim → nerede karşılandı?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Geri:</a:t>
            </a:r>
            <a:r>
              <a:rPr sz="2000" b="0">
                <a:solidFill>
                  <a:srgbClr val="1F2D3A"/>
                </a:solidFill>
              </a:rPr>
              <a:t> bu kod/test → hangi gereksinimi karşılıyor?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matris </a:t>
            </a:r>
            <a:r>
              <a:rPr sz="2000" b="1">
                <a:solidFill>
                  <a:srgbClr val="1F2D3A"/>
                </a:solidFill>
              </a:rPr>
              <a:t>iki yönde</a:t>
            </a:r>
            <a:r>
              <a:rPr sz="2000" b="0">
                <a:solidFill>
                  <a:srgbClr val="1F2D3A"/>
                </a:solidFill>
              </a:rPr>
              <a:t> de izlenebilir.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Kanıtsız "karşılandı"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Matriste "karşılandı" ama kanıt yoksa...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gözünde </a:t>
            </a:r>
            <a:r>
              <a:rPr sz="2000" b="1">
                <a:solidFill>
                  <a:srgbClr val="1F2D3A"/>
                </a:solidFill>
              </a:rPr>
              <a:t>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bulgulardan biri olur.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İyi gereksinimin dört ölçütü?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"Uygulama güvenli olmalı" neden kötü?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İzlenebilirlik zinciri nedir?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Belirli · ölçülebilir/doğrulanabilir · tekil · izlenebilir</a:t>
            </a:r>
            <a:r>
              <a:rPr sz="2000" b="0">
                <a:solidFill>
                  <a:srgbClr val="1F2D3A"/>
                </a:solidFill>
              </a:rPr>
              <a:t> (gerçekçi, atomik).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Belirsiz ve ölçülemez</a:t>
            </a:r>
            <a:r>
              <a:rPr sz="2000" b="0">
                <a:solidFill>
                  <a:srgbClr val="1F2D3A"/>
                </a:solidFill>
              </a:rPr>
              <a:t>; "güvenli"nin tanımı yok → test edilemez, herkes farklı anlar.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Tehdit/standart → gereksinim → tasarım/kod → test/kanıt.</a:t>
            </a:r>
            <a:r>
              <a:rPr sz="2000" b="0">
                <a:solidFill>
                  <a:srgbClr val="1F2D3A"/>
                </a:solidFill>
              </a:rPr>
              <a:t> Her gereksinim bir kaynağa ve bir kanıta </a:t>
            </a:r>
            <a:r>
              <a:rPr sz="2000" b="1">
                <a:solidFill>
                  <a:srgbClr val="1F2D3A"/>
                </a:solidFill>
              </a:rPr>
              <a:t>iki yönlü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Gereksinim bloğu ve devredilenler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Devretme üç soru — şema</a:t>
            </a:r>
          </a:p>
        </p:txBody>
      </p:sp>
      <p:pic>
        <p:nvPicPr>
          <p:cNvPr id="7" name="Picture 6" descr="h13-06-devret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bloğu kalıbı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bir </a:t>
            </a:r>
            <a:r>
              <a:rPr sz="2000" b="1">
                <a:solidFill>
                  <a:srgbClr val="1F2D3A"/>
                </a:solidFill>
              </a:rPr>
              <a:t>blok</a:t>
            </a:r>
            <a:r>
              <a:rPr sz="2000" b="0">
                <a:solidFill>
                  <a:srgbClr val="1F2D3A"/>
                </a:solidFill>
              </a:rPr>
              <a:t> olarak yazılır: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benzersiz numara (ör. CEN429-DU-01)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Metin:</a:t>
            </a:r>
            <a:r>
              <a:rPr sz="2000" b="0">
                <a:solidFill>
                  <a:srgbClr val="1F2D3A"/>
                </a:solidFill>
              </a:rPr>
              <a:t> ne isteniyor (tekil, ölçülebilir)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Durum:</a:t>
            </a:r>
            <a:r>
              <a:rPr sz="2000" b="0">
                <a:solidFill>
                  <a:srgbClr val="1F2D3A"/>
                </a:solidFill>
              </a:rPr>
              <a:t> karşılandı / devredildi / karşılanmadı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Karşılama:</a:t>
            </a:r>
            <a:r>
              <a:rPr sz="2000" b="0">
                <a:solidFill>
                  <a:srgbClr val="1F2D3A"/>
                </a:solidFill>
              </a:rPr>
              <a:t> nasıl karşılandı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Doğrulama + kanıt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blok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CEN429-DU-01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Yerel DB'deki C sınıfı veri AEAD ile şifrelenir.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Karşılama: AES-256-GCM, anahtar TEE'de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Doğrulama: T-05 birim testi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Kanıt: test çıktısı, S16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bloğu — şema</a:t>
            </a:r>
          </a:p>
        </p:txBody>
      </p:sp>
      <p:pic>
        <p:nvPicPr>
          <p:cNvPr id="7" name="Picture 6" descr="h13-05-gereksinim-blog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406075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blok?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aynı yapıda → </a:t>
            </a:r>
            <a:r>
              <a:rPr sz="2000" b="1">
                <a:solidFill>
                  <a:srgbClr val="1F2D3A"/>
                </a:solidFill>
              </a:rPr>
              <a:t>karşılaştırılabilir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hızlı okur.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 bu bloklardan üretilir.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Devredilen gereksinim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bileşen bir gereksinimi </a:t>
            </a:r>
            <a:r>
              <a:rPr sz="2000" b="1">
                <a:solidFill>
                  <a:srgbClr val="1F2D3A"/>
                </a:solidFill>
              </a:rPr>
              <a:t>kendisi</a:t>
            </a:r>
            <a:r>
              <a:rPr sz="2000" b="0">
                <a:solidFill>
                  <a:srgbClr val="1F2D3A"/>
                </a:solidFill>
              </a:rPr>
              <a:t> karşılayamıyor.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Sorumluluğu üst uygulamaya/OS'a/donanıma </a:t>
            </a:r>
            <a:r>
              <a:rPr sz="2000" b="1">
                <a:solidFill>
                  <a:srgbClr val="1F2D3A"/>
                </a:solidFill>
              </a:rPr>
              <a:t>devreder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bir kaçış değil, </a:t>
            </a:r>
            <a:r>
              <a:rPr sz="2000" b="1">
                <a:solidFill>
                  <a:srgbClr val="1F2D3A"/>
                </a:solidFill>
              </a:rPr>
              <a:t>açık bir sözleşmedir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Devrederken üç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Devredilen her gereksinimde yaz: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Kime?</a:t>
            </a:r>
            <a:r>
              <a:rPr sz="2000" b="0">
                <a:solidFill>
                  <a:srgbClr val="1F2D3A"/>
                </a:solidFill>
              </a:rPr>
              <a:t> (üst uygulama / OS / donanım)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Neden?</a:t>
            </a:r>
            <a:r>
              <a:rPr sz="2000" b="0">
                <a:solidFill>
                  <a:srgbClr val="1F2D3A"/>
                </a:solidFill>
              </a:rPr>
              <a:t> (neden bu bileşen karşılayamıyor)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Nasıl?</a:t>
            </a:r>
            <a:r>
              <a:rPr sz="2000" b="0">
                <a:solidFill>
                  <a:srgbClr val="1F2D3A"/>
                </a:solidFill>
              </a:rPr>
              <a:t> (karşı taraf nasıl karşılayacak)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Devredilen · örnek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CEN429-AP-03: Güvenli kurulum ve güncelleme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Devredildi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Kime: Üst mobil uygulama (MPA)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Neden: SDK dağıtım kanalına sahip değil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Nasıl: MPA imzalı güncelleme + sürüm denetimi sağlar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Sessiz devretme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gereksinimi karşılamıyor ve </a:t>
            </a:r>
            <a:r>
              <a:rPr sz="2000" b="1">
                <a:solidFill>
                  <a:srgbClr val="1F2D3A"/>
                </a:solidFill>
              </a:rPr>
              <a:t>yazmıyorsanız</a:t>
            </a:r>
            <a:r>
              <a:rPr sz="2000" b="0">
                <a:solidFill>
                  <a:srgbClr val="1F2D3A"/>
                </a:solidFill>
              </a:rPr>
              <a:t> → eksik.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Devretme </a:t>
            </a:r>
            <a:r>
              <a:rPr sz="2000" b="1">
                <a:solidFill>
                  <a:srgbClr val="1F2D3A"/>
                </a:solidFill>
              </a:rPr>
              <a:t>belgelenmeli</a:t>
            </a:r>
            <a:r>
              <a:rPr sz="2000" b="0">
                <a:solidFill>
                  <a:srgbClr val="1F2D3A"/>
                </a:solidFill>
              </a:rPr>
              <a:t>; aksi halde "karşılanmadı"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S14 bölümü tam bunun için.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Karşılandı mı, devredildi mi?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745621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Ürün sağlar (kanıtla)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Başka taraf sağlar (kime/neden/nasıl)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Henüz yok (kalan risk)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Gereksinim bloğunun alanları?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Devrederken hangi üç soru yanıtlanır?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Sessiz devretme neden sorun?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ID · ölçülebilir ifade · kaynak/gerekçe · ilgili varlık/tehdit · doğrulama yöntemi (kanıt) · durum/öncelik.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şimdi karşılanmıyor? (2) </a:t>
            </a:r>
            <a:r>
              <a:rPr sz="2000" b="1">
                <a:solidFill>
                  <a:srgbClr val="1F2D3A"/>
                </a:solidFill>
              </a:rPr>
              <a:t>Riski ne, kim kabul ediyor</a:t>
            </a:r>
            <a:r>
              <a:rPr sz="2000" b="0">
                <a:solidFill>
                  <a:srgbClr val="1F2D3A"/>
                </a:solidFill>
              </a:rPr>
              <a:t> (onay)? (3) </a:t>
            </a:r>
            <a:r>
              <a:rPr sz="2000" b="1">
                <a:solidFill>
                  <a:srgbClr val="1F2D3A"/>
                </a:solidFill>
              </a:rPr>
              <a:t>Ne zaman/nasıl</a:t>
            </a:r>
            <a:r>
              <a:rPr sz="2000" b="0">
                <a:solidFill>
                  <a:srgbClr val="1F2D3A"/>
                </a:solidFill>
              </a:rPr>
              <a:t> karşılanacak (plan/telafi)?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Kayıt/onay olmadan gereksinim atlanır → </a:t>
            </a:r>
            <a:r>
              <a:rPr sz="2000" b="1">
                <a:solidFill>
                  <a:srgbClr val="1F2D3A"/>
                </a:solidFill>
              </a:rPr>
              <a:t>gizli açık</a:t>
            </a:r>
            <a:r>
              <a:rPr sz="2000" b="0">
                <a:solidFill>
                  <a:srgbClr val="1F2D3A"/>
                </a:solidFill>
              </a:rPr>
              <a:t>, sorumlusu yok, denetimde patlar. Açık, gerekçeli, onaylı devret.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Ortak Kriterler (ISO/IEC 15408)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— şema</a:t>
            </a:r>
          </a:p>
        </p:txBody>
      </p:sp>
      <p:pic>
        <p:nvPicPr>
          <p:cNvPr id="7" name="Picture 6" descr="h13-07-ortak-kriter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91753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Kriterler:</a:t>
            </a:r>
            <a:r>
              <a:rPr sz="2000" b="0">
                <a:solidFill>
                  <a:srgbClr val="1F2D3A"/>
                </a:solidFill>
              </a:rPr>
              <a:t> ürün güvenliğini değerlendirmenin uluslararası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Ortak bir </a:t>
            </a:r>
            <a:r>
              <a:rPr sz="2000" b="1">
                <a:solidFill>
                  <a:srgbClr val="1F2D3A"/>
                </a:solidFill>
              </a:rPr>
              <a:t>dil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yöntem</a:t>
            </a:r>
            <a:r>
              <a:rPr sz="2000" b="0">
                <a:solidFill>
                  <a:srgbClr val="1F2D3A"/>
                </a:solidFill>
              </a:rPr>
              <a:t> sağlar.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Ülkeler birbirinin değerlendirmesini tanır.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· değerlendirme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 (Target of Evaluation):</a:t>
            </a:r>
            <a:r>
              <a:rPr sz="2000" b="0">
                <a:solidFill>
                  <a:srgbClr val="1F2D3A"/>
                </a:solidFill>
              </a:rPr>
              <a:t> değerlendirilen tam ürün.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tanımlanır (12. hafta): sürüm + ikili + özet.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bileşenler yazılır.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 · güvenlik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 (Security Target):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bu</a:t>
            </a:r>
            <a:r>
              <a:rPr sz="2000" b="0">
                <a:solidFill>
                  <a:srgbClr val="1F2D3A"/>
                </a:solidFill>
              </a:rPr>
              <a:t> ürünün güvenlik hedefi belgesi.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İçinde: tehditler, amaçlar, gereksinimler (SFR/SAR).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Ürüne özgüdür.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PP · koruma profili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PP (Protection Profile):</a:t>
            </a:r>
            <a:r>
              <a:rPr sz="2000" b="0">
                <a:solidFill>
                  <a:srgbClr val="1F2D3A"/>
                </a:solidFill>
              </a:rPr>
              <a:t> bir ürün </a:t>
            </a:r>
            <a:r>
              <a:rPr sz="2000" b="1">
                <a:solidFill>
                  <a:srgbClr val="1F2D3A"/>
                </a:solidFill>
              </a:rPr>
              <a:t>sınıfı</a:t>
            </a:r>
            <a:r>
              <a:rPr sz="2000" b="0">
                <a:solidFill>
                  <a:srgbClr val="1F2D3A"/>
                </a:solidFill>
              </a:rPr>
              <a:t> için ortak gereksinim seti.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"mobil cihaz PP", "akıllı kart PP".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ST'ler genelde bir PP'yi temel alır.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 vs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3637178"/>
                <a:gridCol w="3637178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ürün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Ürün sınıfı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 yazar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Geliştirici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Topluluk/otorite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 ürünün hedefi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Ortak taban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SFR · işlevsel gereksinimler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SFR (Security Functional Requirements):</a:t>
            </a:r>
            <a:r>
              <a:rPr sz="2000" b="0">
                <a:solidFill>
                  <a:srgbClr val="1F2D3A"/>
                </a:solidFill>
              </a:rPr>
              <a:t> ürünün </a:t>
            </a:r>
            <a:r>
              <a:rPr sz="2000" b="1">
                <a:solidFill>
                  <a:srgbClr val="1F2D3A"/>
                </a:solidFill>
              </a:rPr>
              <a:t>ne yapacağı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şifreleme, erişim denetimi, günlükleme.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 bir katalogdan seçilir.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SAR · güvence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SAR (Security Assurance Requirements):</a:t>
            </a:r>
            <a:r>
              <a:rPr sz="2000" b="0">
                <a:solidFill>
                  <a:srgbClr val="1F2D3A"/>
                </a:solidFill>
              </a:rPr>
              <a:t> doğru yapıldığına </a:t>
            </a:r>
            <a:r>
              <a:rPr sz="2000" b="1">
                <a:solidFill>
                  <a:srgbClr val="1F2D3A"/>
                </a:solidFill>
              </a:rPr>
              <a:t>nasıl güveneceğiz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kaynak inceleme, test derinliği, zafiyet analizi.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EAL bunları belirler.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EAL · değerlendirme derinliği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EAL (Evaluation Assurance Level):</a:t>
            </a:r>
            <a:r>
              <a:rPr sz="2000" b="0">
                <a:solidFill>
                  <a:srgbClr val="1F2D3A"/>
                </a:solidFill>
              </a:rPr>
              <a:t> 1'den 7'ye derinlik.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EAL = daha derin inceleme.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"+" ek güvence bileşenlerini gösterir (EAL4+).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EAL yanlış anlaşılması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EAL güvenliğin </a:t>
            </a:r>
            <a:r>
              <a:rPr sz="2000" b="1">
                <a:solidFill>
                  <a:srgbClr val="1F2D3A"/>
                </a:solidFill>
              </a:rPr>
              <a:t>derinliği</a:t>
            </a:r>
            <a:r>
              <a:rPr sz="2000" b="0">
                <a:solidFill>
                  <a:srgbClr val="1F2D3A"/>
                </a:solidFill>
              </a:rPr>
              <a:t>, güvenliğin </a:t>
            </a:r>
            <a:r>
              <a:rPr sz="2000" b="1">
                <a:solidFill>
                  <a:srgbClr val="1F2D3A"/>
                </a:solidFill>
              </a:rPr>
              <a:t>miktarı</a:t>
            </a:r>
            <a:r>
              <a:rPr sz="2000" b="0">
                <a:solidFill>
                  <a:srgbClr val="1F2D3A"/>
                </a:solidFill>
              </a:rPr>
              <a:t>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"EAL4+ &gt; EAL2 daha güvenli" demek </a:t>
            </a:r>
            <a:r>
              <a:rPr sz="2000" b="1">
                <a:solidFill>
                  <a:srgbClr val="1F2D3A"/>
                </a:solidFill>
              </a:rPr>
              <a:t>yanlış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Güvenlik, </a:t>
            </a:r>
            <a:r>
              <a:rPr sz="2000" b="1">
                <a:solidFill>
                  <a:srgbClr val="1F2D3A"/>
                </a:solidFill>
              </a:rPr>
              <a:t>ST'deki tehdit ve amaçlara</a:t>
            </a:r>
            <a:r>
              <a:rPr sz="2000" b="0">
                <a:solidFill>
                  <a:srgbClr val="1F2D3A"/>
                </a:solidFill>
              </a:rPr>
              <a:t> bağlıdır.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FIPS 140-3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düzeyleri — şema</a:t>
            </a:r>
          </a:p>
        </p:txBody>
      </p:sp>
      <p:pic>
        <p:nvPicPr>
          <p:cNvPr id="7" name="Picture 6" descr="h13-08-f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63573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Kriptografik modüllerin</a:t>
            </a:r>
            <a:r>
              <a:rPr sz="2000" b="0">
                <a:solidFill>
                  <a:srgbClr val="1F2D3A"/>
                </a:solidFill>
              </a:rPr>
              <a:t> doğrulanması standardı.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Modülün algoritmaları, kendini testi, anahtar yönetimi.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modülü</a:t>
            </a:r>
            <a:r>
              <a:rPr sz="2000" b="0">
                <a:solidFill>
                  <a:srgbClr val="1F2D3A"/>
                </a:solidFill>
              </a:rPr>
              <a:t> kapsar.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düzeyleri (1–4)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001791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63650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Kabaca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Temel; onaylı algoritmalar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Kurcalamaya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direnç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ve yanıt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yüksek fiziksel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FIPS uyumluluğu tuzağı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FIPS </a:t>
            </a:r>
            <a:r>
              <a:rPr sz="2000" b="1">
                <a:solidFill>
                  <a:srgbClr val="1F2D3A"/>
                </a:solidFill>
              </a:rPr>
              <a:t>doğrulanmış</a:t>
            </a:r>
            <a:r>
              <a:rPr sz="2000" b="0">
                <a:solidFill>
                  <a:srgbClr val="1F2D3A"/>
                </a:solidFill>
              </a:rPr>
              <a:t> kütüphane kullanmak, uygulamayı otomatik FIPS uyumlu </a:t>
            </a:r>
            <a:r>
              <a:rPr sz="2000" b="1">
                <a:solidFill>
                  <a:srgbClr val="1F2D3A"/>
                </a:solidFill>
              </a:rPr>
              <a:t>yapmaz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modülü </a:t>
            </a:r>
            <a:r>
              <a:rPr sz="2000" b="1">
                <a:solidFill>
                  <a:srgbClr val="1F2D3A"/>
                </a:solidFill>
              </a:rPr>
              <a:t>onaylı kipte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doğru</a:t>
            </a:r>
            <a:r>
              <a:rPr sz="2000" b="0">
                <a:solidFill>
                  <a:srgbClr val="1F2D3A"/>
                </a:solidFill>
              </a:rPr>
              <a:t> kullanmalı.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Anahtarları da doğru yönetmeli.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CC ve FIPS birlikte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CC:</a:t>
            </a:r>
            <a:r>
              <a:rPr sz="2000" b="0">
                <a:solidFill>
                  <a:srgbClr val="1F2D3A"/>
                </a:solidFill>
              </a:rPr>
              <a:t> ürünün bütününü değerlendirir.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FIPS:</a:t>
            </a:r>
            <a:r>
              <a:rPr sz="2000" b="0">
                <a:solidFill>
                  <a:srgbClr val="1F2D3A"/>
                </a:solidFill>
              </a:rPr>
              <a:t> kripto modülünü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ürün CC değerlendirmesinde FIPS'li modül kullanabilir.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4–5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 ile PP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SFR ve SAR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"EAL4+ her zaman daha güvenli" neden yanlış?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FIPS'li kütüphane uygulamayı FIPS uyumlu yapar mı?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4–5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PP</a:t>
            </a:r>
            <a:r>
              <a:rPr sz="2000" b="0">
                <a:solidFill>
                  <a:srgbClr val="1F2D3A"/>
                </a:solidFill>
              </a:rPr>
              <a:t> bir ürün </a:t>
            </a:r>
            <a:r>
              <a:rPr sz="2000" b="1">
                <a:solidFill>
                  <a:srgbClr val="1F2D3A"/>
                </a:solidFill>
              </a:rPr>
              <a:t>sınıfı</a:t>
            </a:r>
            <a:r>
              <a:rPr sz="2000" b="0">
                <a:solidFill>
                  <a:srgbClr val="1F2D3A"/>
                </a:solidFill>
              </a:rPr>
              <a:t> için standart gereksinim kümesi; </a:t>
            </a:r>
            <a:r>
              <a:rPr sz="2000" b="1">
                <a:solidFill>
                  <a:srgbClr val="1F2D3A"/>
                </a:solidFill>
              </a:rPr>
              <a:t>ST</a:t>
            </a:r>
            <a:r>
              <a:rPr sz="2000" b="0">
                <a:solidFill>
                  <a:srgbClr val="1F2D3A"/>
                </a:solidFill>
              </a:rPr>
              <a:t> belirli bir </a:t>
            </a:r>
            <a:r>
              <a:rPr sz="2000" b="1">
                <a:solidFill>
                  <a:srgbClr val="1F2D3A"/>
                </a:solidFill>
              </a:rPr>
              <a:t>ürünün (TOE)</a:t>
            </a:r>
            <a:r>
              <a:rPr sz="2000" b="0">
                <a:solidFill>
                  <a:srgbClr val="1F2D3A"/>
                </a:solidFill>
              </a:rPr>
              <a:t> neyi karşıladığını söyleyen belge.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SFR</a:t>
            </a:r>
            <a:r>
              <a:rPr sz="2000" b="0">
                <a:solidFill>
                  <a:srgbClr val="1F2D3A"/>
                </a:solidFill>
              </a:rPr>
              <a:t> ürünün </a:t>
            </a:r>
            <a:r>
              <a:rPr sz="2000" b="1">
                <a:solidFill>
                  <a:srgbClr val="1F2D3A"/>
                </a:solidFill>
              </a:rPr>
              <a:t>ne yapacağı</a:t>
            </a:r>
            <a:r>
              <a:rPr sz="2000" b="0">
                <a:solidFill>
                  <a:srgbClr val="1F2D3A"/>
                </a:solidFill>
              </a:rPr>
              <a:t> (fonksiyonel); </a:t>
            </a:r>
            <a:r>
              <a:rPr sz="2000" b="1">
                <a:solidFill>
                  <a:srgbClr val="1F2D3A"/>
                </a:solidFill>
              </a:rPr>
              <a:t>SAR</a:t>
            </a:r>
            <a:r>
              <a:rPr sz="2000" b="0">
                <a:solidFill>
                  <a:srgbClr val="1F2D3A"/>
                </a:solidFill>
              </a:rPr>
              <a:t> buna </a:t>
            </a:r>
            <a:r>
              <a:rPr sz="2000" b="1">
                <a:solidFill>
                  <a:srgbClr val="1F2D3A"/>
                </a:solidFill>
              </a:rPr>
              <a:t>ne kadar güvenileceği</a:t>
            </a:r>
            <a:r>
              <a:rPr sz="2000" b="0">
                <a:solidFill>
                  <a:srgbClr val="1F2D3A"/>
                </a:solidFill>
              </a:rPr>
              <a:t> (güvence; EAL buradan gelir).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EAL </a:t>
            </a:r>
            <a:r>
              <a:rPr sz="2000" b="1">
                <a:solidFill>
                  <a:srgbClr val="1F2D3A"/>
                </a:solidFill>
              </a:rPr>
              <a:t>güvence derinliğini</a:t>
            </a:r>
            <a:r>
              <a:rPr sz="2000" b="0">
                <a:solidFill>
                  <a:srgbClr val="1F2D3A"/>
                </a:solidFill>
              </a:rPr>
              <a:t> ölçer, güvenlik miktarını değil; </a:t>
            </a:r>
            <a:r>
              <a:rPr sz="2000" b="1">
                <a:solidFill>
                  <a:srgbClr val="1F2D3A"/>
                </a:solidFill>
              </a:rPr>
              <a:t>kapsam (ST/TOE)</a:t>
            </a:r>
            <a:r>
              <a:rPr sz="2000" b="0">
                <a:solidFill>
                  <a:srgbClr val="1F2D3A"/>
                </a:solidFill>
              </a:rPr>
              <a:t> darsa yüksek EAL az şey kapsar.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Modülü </a:t>
            </a:r>
            <a:r>
              <a:rPr sz="2000" b="1">
                <a:solidFill>
                  <a:srgbClr val="1F2D3A"/>
                </a:solidFill>
              </a:rPr>
              <a:t>doğru kip/yapılandırmada, onaylı algoritmalarla</a:t>
            </a:r>
            <a:r>
              <a:rPr sz="2000" b="0">
                <a:solidFill>
                  <a:srgbClr val="1F2D3A"/>
                </a:solidFill>
              </a:rPr>
              <a:t> kullanmak gerekir. Modül sertifikası ≠ uygulama uyumu.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Sektöre özgü gereksinim setleri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Sektör standartları — şema</a:t>
            </a:r>
          </a:p>
        </p:txBody>
      </p:sp>
      <p:pic>
        <p:nvPicPr>
          <p:cNvPr id="7" name="Picture 6" descr="h13-09-sek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9252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sektör standartları?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CC/FIPS geneldir; sektörler kendi risklerine göre </a:t>
            </a:r>
            <a:r>
              <a:rPr sz="2000" b="1">
                <a:solidFill>
                  <a:srgbClr val="1F2D3A"/>
                </a:solidFill>
              </a:rPr>
              <a:t>ek</a:t>
            </a:r>
            <a:r>
              <a:rPr sz="2000" b="0">
                <a:solidFill>
                  <a:srgbClr val="1F2D3A"/>
                </a:solidFill>
              </a:rPr>
              <a:t> gereksinim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IoT, mobil, ödeme farklı tehdit ortamları.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hangisine yakınsa onu izleyin.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 (IoT)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Tüketici IoT için </a:t>
            </a:r>
            <a:r>
              <a:rPr sz="2000" b="1">
                <a:solidFill>
                  <a:srgbClr val="1F2D3A"/>
                </a:solidFill>
              </a:rPr>
              <a:t>temel</a:t>
            </a:r>
            <a:r>
              <a:rPr sz="2000" b="0">
                <a:solidFill>
                  <a:srgbClr val="1F2D3A"/>
                </a:solidFill>
              </a:rPr>
              <a:t> güvenlik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varsayılan parola yok, güvenli güncelleme, hassas parametreleri güvenle sakla.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Geniş, uygulanabilir taban.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· örnek maddeler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parolalar (ortak varsayılan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güncellemelerini yönet.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Hassas güvenlik parametrelerini güvenle sakla</a:t>
            </a:r>
            <a:r>
              <a:rPr sz="2000" b="0">
                <a:solidFill>
                  <a:srgbClr val="1F2D3A"/>
                </a:solidFill>
              </a:rPr>
              <a:t> (→ projede S5/S7/S8).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operatör ekosistemi için güvenlik yönergeleri.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Cihaz, ağ, servis güvenliği.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SIM/eSIM, kimlik.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Kart ödeme ekosistemi standartları (kartlar, terminaller, mobil ödeme).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güvenlik değerlendirmesi.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puanlaması (12. hafta).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PCI DSS:</a:t>
            </a:r>
            <a:r>
              <a:rPr sz="2000" b="0">
                <a:solidFill>
                  <a:srgbClr val="1F2D3A"/>
                </a:solidFill>
              </a:rPr>
              <a:t> kart verisi işleyen sistemler için güvenlik.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PCI MPoC/CPoC:</a:t>
            </a:r>
            <a:r>
              <a:rPr sz="2000" b="0">
                <a:solidFill>
                  <a:srgbClr val="1F2D3A"/>
                </a:solidFill>
              </a:rPr>
              <a:t> yazılım tabanlı ödeme kabulü.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Sıkı; laboratuvar değerlendirmesi.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Mobile Application Security Verification Standard.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uygulama güvenlik </a:t>
            </a:r>
            <a:r>
              <a:rPr sz="2000" b="1">
                <a:solidFill>
                  <a:srgbClr val="1F2D3A"/>
                </a:solidFill>
              </a:rPr>
              <a:t>gereksinimleri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Düzeyler: temel (L1), derinlemesine (L2), direnç (R).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MASVS · projeniz için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uygulanabilir</a:t>
            </a:r>
            <a:r>
              <a:rPr sz="2000" b="0">
                <a:solidFill>
                  <a:srgbClr val="1F2D3A"/>
                </a:solidFill>
              </a:rPr>
              <a:t> gereksinim seti.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MASTG ile test edilir (12.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Kripto, depolama, iletişim, kod kalitesi, direnç.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karşılaştırma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3091601"/>
                <a:gridCol w="491019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Odak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Genel ürün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Değerlendirme derinliği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Modül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303 645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EMVCo/PCI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 + güvenlik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gereksinimi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Karşılaştırma · 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Hepsi aynı kökü paylaşır: </a:t>
            </a:r>
            <a:r>
              <a:rPr sz="2000" b="1">
                <a:solidFill>
                  <a:srgbClr val="1F2D3A"/>
                </a:solidFill>
              </a:rPr>
              <a:t>yazılı, doğrulanabilir</a:t>
            </a:r>
            <a:r>
              <a:rPr sz="2000" b="0">
                <a:solidFill>
                  <a:srgbClr val="1F2D3A"/>
                </a:solidFill>
              </a:rPr>
              <a:t> gereksinim.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Fark: kapsam ve sıkılık.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için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en pratik başlangıç.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ETSI EN 303 645 kimin için?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MASVS neden projeniz için en uygun?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CC ile MASVS farkı?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Tüketici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cihazları için temel güvenlik (varsayılan parola yok, güncelleme, güvenli iletişim…).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Proje uygulama odaklı;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somut, kontrol edilebilir maddeler + </a:t>
            </a:r>
            <a:r>
              <a:rPr sz="2000" b="1">
                <a:solidFill>
                  <a:srgbClr val="1F2D3A"/>
                </a:solidFill>
              </a:rPr>
              <a:t>MASTG</a:t>
            </a:r>
            <a:r>
              <a:rPr sz="2000" b="0">
                <a:solidFill>
                  <a:srgbClr val="1F2D3A"/>
                </a:solidFill>
              </a:rPr>
              <a:t> test rehberi → doğrudan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CC</a:t>
            </a:r>
            <a:r>
              <a:rPr sz="2000" b="0">
                <a:solidFill>
                  <a:srgbClr val="1F2D3A"/>
                </a:solidFill>
              </a:rPr>
              <a:t> ağır, akredite laboratuvar/sertifika (EAL); </a:t>
            </a:r>
            <a:r>
              <a:rPr sz="2000" b="1">
                <a:solidFill>
                  <a:srgbClr val="1F2D3A"/>
                </a:solidFill>
              </a:rPr>
              <a:t>MASVS</a:t>
            </a:r>
            <a:r>
              <a:rPr sz="2000" b="0">
                <a:solidFill>
                  <a:srgbClr val="1F2D3A"/>
                </a:solidFill>
              </a:rPr>
              <a:t> hafif, açık, geliştirici-dostu </a:t>
            </a:r>
            <a:r>
              <a:rPr sz="2000" b="1">
                <a:solidFill>
                  <a:srgbClr val="1F2D3A"/>
                </a:solidFill>
              </a:rPr>
              <a:t>öz-değerlendirme</a:t>
            </a:r>
            <a:r>
              <a:rPr sz="2000" b="0">
                <a:solidFill>
                  <a:srgbClr val="1F2D3A"/>
                </a:solidFill>
              </a:rPr>
              <a:t> standardı.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Gereksinimleri projeye aktarmak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aktarma kararı — şema</a:t>
            </a:r>
          </a:p>
        </p:txBody>
      </p:sp>
      <p:pic>
        <p:nvPicPr>
          <p:cNvPr id="7" name="Picture 6" descr="h13-02-gereksinim-kar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60117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 → varlık → önlem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gereksinim → hangi varlığı korur → hangi önlemle → nasıl doğrulanır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bir </a:t>
            </a:r>
            <a:r>
              <a:rPr sz="2000" b="1">
                <a:solidFill>
                  <a:srgbClr val="1F2D3A"/>
                </a:solidFill>
              </a:rPr>
              <a:t>varlığa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önleme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Varlık yönetimiyle bağ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S5 </a:t>
            </a:r>
            <a:r>
              <a:rPr sz="2000" b="1">
                <a:solidFill>
                  <a:srgbClr val="1F2D3A"/>
                </a:solidFill>
              </a:rPr>
              <a:t>varlık listesine</a:t>
            </a:r>
            <a:r>
              <a:rPr sz="2000" b="0">
                <a:solidFill>
                  <a:srgbClr val="1F2D3A"/>
                </a:solidFill>
              </a:rPr>
              <a:t> bağlanır.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varlık: C/I/I+ etiketi, koruma önlemi.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Gereksinim, o korumayı </a:t>
            </a:r>
            <a:r>
              <a:rPr sz="2000" b="1">
                <a:solidFill>
                  <a:srgbClr val="1F2D3A"/>
                </a:solidFill>
              </a:rPr>
              <a:t>zorunlu</a:t>
            </a:r>
            <a:r>
              <a:rPr sz="2000" b="0">
                <a:solidFill>
                  <a:srgbClr val="1F2D3A"/>
                </a:solidFill>
              </a:rPr>
              <a:t> kılar.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Plana aktarmak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gereksinim → tasarım/kod (S6–S11).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Güvence gereksinimi → test (S16).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Süreç gereksinimi → geliştirme süreci (S13).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Dersin gereksinim aileleri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Dersin kendi kimlikleri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ders, açık standartlardan uyarlanmış kendi gereksinim ailelerini kullanır: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CEN429-</a:t>
            </a:r>
            <a:r>
              <a:rPr sz="2000" b="1">
                <a:solidFill>
                  <a:srgbClr val="1F2D3A"/>
                </a:solidFill>
              </a:rPr>
              <a:t>AP</a:t>
            </a:r>
            <a:r>
              <a:rPr sz="2000" b="0">
                <a:solidFill>
                  <a:srgbClr val="1F2D3A"/>
                </a:solidFill>
              </a:rPr>
              <a:t> (uygulama koruma), </a:t>
            </a:r>
            <a:r>
              <a:rPr sz="2000" b="1">
                <a:solidFill>
                  <a:srgbClr val="1F2D3A"/>
                </a:solidFill>
              </a:rPr>
              <a:t>ID</a:t>
            </a:r>
            <a:r>
              <a:rPr sz="2000" b="0">
                <a:solidFill>
                  <a:srgbClr val="1F2D3A"/>
                </a:solidFill>
              </a:rPr>
              <a:t> (kimlik), </a:t>
            </a:r>
            <a:r>
              <a:rPr sz="2000" b="1">
                <a:solidFill>
                  <a:srgbClr val="1F2D3A"/>
                </a:solidFill>
              </a:rPr>
              <a:t>AS</a:t>
            </a:r>
            <a:r>
              <a:rPr sz="2000" b="0">
                <a:solidFill>
                  <a:srgbClr val="1F2D3A"/>
                </a:solidFill>
              </a:rPr>
              <a:t> (varlık), </a:t>
            </a:r>
            <a:r>
              <a:rPr sz="2000" b="1">
                <a:solidFill>
                  <a:srgbClr val="1F2D3A"/>
                </a:solidFill>
              </a:rPr>
              <a:t>DR/DU/DT</a:t>
            </a:r>
            <a:r>
              <a:rPr sz="2000" b="0">
                <a:solidFill>
                  <a:srgbClr val="1F2D3A"/>
                </a:solidFill>
              </a:rPr>
              <a:t> (veri: beklemede/kullanımda/aktarımda)…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63650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Uygulama koruma (gizleme, RASP)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Kimlik ve bağlama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Varlık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Beklemedeki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001343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543"/>
                <a:gridCol w="4345800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Kullanımdaki veri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Aktarımdaki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Raporlama/günlük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Geliştirme/süreç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 aile → haftalara bağ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 → 4, 5, 6, 9, 11, 14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CR/DR/DU/DT → 3, 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 → 1,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DV/RP → 12,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bu ailelerden bir </a:t>
            </a:r>
            <a:r>
              <a:rPr sz="2000" b="1">
                <a:solidFill>
                  <a:srgbClr val="1F2D3A"/>
                </a:solidFill>
              </a:rPr>
              <a:t>alt küme</a:t>
            </a:r>
            <a:r>
              <a:rPr sz="2000" b="0">
                <a:solidFill>
                  <a:srgbClr val="1F2D3A"/>
                </a:solidFill>
              </a:rPr>
              <a:t> seçer.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Uyum matrisi etkinliği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Uyum matrisi — şema</a:t>
            </a:r>
          </a:p>
        </p:txBody>
      </p:sp>
      <p:pic>
        <p:nvPicPr>
          <p:cNvPr id="7" name="Picture 6" descr="h13-10-uyum-matr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0838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adım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projenizden </a:t>
            </a:r>
            <a:r>
              <a:rPr sz="2000" b="1">
                <a:solidFill>
                  <a:srgbClr val="1F2D3A"/>
                </a:solidFill>
              </a:rPr>
              <a:t>beş gereksinim</a:t>
            </a:r>
            <a:r>
              <a:rPr sz="2000" b="0">
                <a:solidFill>
                  <a:srgbClr val="1F2D3A"/>
                </a:solidFill>
              </a:rPr>
              <a:t> seçin (farklı ailelerden).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 bir </a:t>
            </a:r>
            <a:r>
              <a:rPr sz="2000" b="1">
                <a:solidFill>
                  <a:srgbClr val="1F2D3A"/>
                </a:solidFill>
              </a:rPr>
              <a:t>gereksinim bloğu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adım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gereksinim için matris satırı doldurun: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820379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1636730"/>
                <a:gridCol w="1636730"/>
                <a:gridCol w="2364165"/>
                <a:gridCol w="1636730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adım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birini </a:t>
            </a:r>
            <a:r>
              <a:rPr sz="2000" b="1">
                <a:solidFill>
                  <a:srgbClr val="1F2D3A"/>
                </a:solidFill>
              </a:rPr>
              <a:t>devredilen</a:t>
            </a:r>
            <a:r>
              <a:rPr sz="2000" b="0">
                <a:solidFill>
                  <a:srgbClr val="1F2D3A"/>
                </a:solidFill>
              </a:rPr>
              <a:t> olarak yazın (kime/neden/nasıl).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birinin </a:t>
            </a:r>
            <a:r>
              <a:rPr sz="2000" b="1">
                <a:solidFill>
                  <a:srgbClr val="1F2D3A"/>
                </a:solidFill>
              </a:rPr>
              <a:t>kanıtını</a:t>
            </a:r>
            <a:r>
              <a:rPr sz="2000" b="0">
                <a:solidFill>
                  <a:srgbClr val="1F2D3A"/>
                </a:solidFill>
              </a:rPr>
              <a:t> somut gösterin.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"karşılanmadı" varsa </a:t>
            </a:r>
            <a:r>
              <a:rPr sz="2000" b="1">
                <a:solidFill>
                  <a:srgbClr val="1F2D3A"/>
                </a:solidFill>
              </a:rPr>
              <a:t>kalan riske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Etkinlik ·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gözüyle kontrol: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satırın kanıtı var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Devredilenler açık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</a:t>
            </a:r>
            <a:r>
              <a:rPr sz="2000" b="1">
                <a:solidFill>
                  <a:srgbClr val="1F2D3A"/>
                </a:solidFill>
              </a:rPr>
              <a:t>doğrulanabilir</a:t>
            </a:r>
            <a:r>
              <a:rPr sz="2000" b="0">
                <a:solidFill>
                  <a:srgbClr val="1F2D3A"/>
                </a:solidFill>
              </a:rPr>
              <a:t> mi?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7–8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Gereksinim hangi iki şeye bağlanır?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Dersin gereksinim ailelerinden üçünü sayın.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Uyum matrisinde her satırda ne olmalı?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7–8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Yukarıda </a:t>
            </a:r>
            <a:r>
              <a:rPr sz="2000" b="1">
                <a:solidFill>
                  <a:srgbClr val="1F2D3A"/>
                </a:solidFill>
              </a:rPr>
              <a:t>kaynağa</a:t>
            </a:r>
            <a:r>
              <a:rPr sz="2000" b="0">
                <a:solidFill>
                  <a:srgbClr val="1F2D3A"/>
                </a:solidFill>
              </a:rPr>
              <a:t> (tehdit/standart/varlık) ve aşağıda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(test/kod) — iki yön.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(15 aileden herhangi üçü) ör. </a:t>
            </a:r>
            <a:r>
              <a:rPr sz="2000" b="1">
                <a:solidFill>
                  <a:srgbClr val="1F2D3A"/>
                </a:solidFill>
              </a:rPr>
              <a:t>veri güvenliği · kod sağlamlaştırma · RASP · kriptografi/sertifika · bellek koruması · arayüz koruması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Gereksinim </a:t>
            </a:r>
            <a:r>
              <a:rPr sz="2000" b="1">
                <a:solidFill>
                  <a:srgbClr val="1F2D3A"/>
                </a:solidFill>
              </a:rPr>
              <a:t>ID+ifade · durum</a:t>
            </a:r>
            <a:r>
              <a:rPr sz="2000" b="0">
                <a:solidFill>
                  <a:srgbClr val="1F2D3A"/>
                </a:solidFill>
              </a:rPr>
              <a:t> (karşılandı/devredildi) </a:t>
            </a:r>
            <a:r>
              <a:rPr sz="2000" b="1">
                <a:solidFill>
                  <a:srgbClr val="1F2D3A"/>
                </a:solidFill>
              </a:rPr>
              <a:t>· kanıt</a:t>
            </a:r>
            <a:r>
              <a:rPr sz="2000" b="0">
                <a:solidFill>
                  <a:srgbClr val="1F2D3A"/>
                </a:solidFill>
              </a:rPr>
              <a:t> (test/dosya/S-bölümü). </a:t>
            </a:r>
            <a:r>
              <a:rPr sz="2000" b="1">
                <a:solidFill>
                  <a:srgbClr val="1F2D3A"/>
                </a:solidFill>
              </a:rPr>
              <a:t>Kanıtsız satır 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Proje ve kapanış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S14 ve S17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S17 uyum matrisi:</a:t>
            </a:r>
            <a:r>
              <a:rPr sz="2000" b="0">
                <a:solidFill>
                  <a:srgbClr val="1F2D3A"/>
                </a:solidFill>
              </a:rPr>
              <a:t> uygulanan her gereksinim için durum, bölüm, doğrulama, kanıt.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S14 devredilenler:</a:t>
            </a:r>
            <a:r>
              <a:rPr sz="2000" b="0">
                <a:solidFill>
                  <a:srgbClr val="1F2D3A"/>
                </a:solidFill>
              </a:rPr>
              <a:t> kime, neden, nasıl.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kalan riske</a:t>
            </a:r>
            <a:r>
              <a:rPr sz="2000" b="0">
                <a:solidFill>
                  <a:srgbClr val="1F2D3A"/>
                </a:solidFill>
              </a:rPr>
              <a:t> yaz.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Kanıtsız "karşılandı" = karşılanmamış.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Devredilenler açık ve gerekçeli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 doğrulanabilir mi?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İyi bir güvenlik gereksiniminin dört ölçütü?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Doğrulanabilir, tekil, ölçülebilir, gerçekçi.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"Uygulama güvenli olmalıdır" neden kötü? Nasıl düzeltilir?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Doğrulanamaz. Ölçülebilir yazılır: ör. "sürüm derlemesi yığın koruyucu, PIE ve tam RELRO ile üretilir".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İzlenebilirlik zinciri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Gereksinim → önlem → doğrulama → kanıt. Her gereksinim bir kanıta bağlanır.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Uyum matrisinde kanıtsız "karşılandı"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Değerlendirici için karşılanmamış sayılır; ilk bulgulardan biridir.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gereksinimi devrederken hangi üç soru yanıtlanır?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Kime, neden, nasıl. Sessiz devretme "karşılanmadı" sayılır.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 ile PP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ST tek ürünün güvenlik hedefi; PP bir ürün sınıfı için ortak gereksinim seti. ST genelde bir PP'yi temel alır.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"EAL4+ her zaman EAL2'den güvenli" doğru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Hayır. EAL değerlendirmenin derinliğidir; güvenlik ST'deki tehdit ve amaçlara bağlıdır. "+" ek güvence bileşenidir.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FIPS doğrulanmış kütüphane kullanan uygulama FIPS uyumlu mudur?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Tek başına değil. Doğrulama modülü kapsar; uygulama onaylı kipte, doğru kullanmalı, anahtarları doğru yönetmeli.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ETSI EN 303 645'in "hassas parametreleri güvenle sakla" maddesi projede nereye karşılık gelir?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S5 varlık listesi, S7 veri güvenliği/kabuk matrisi, S8 anahtar yaşam döngüsü.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kütüphane "güvenli güncelleme" gereksinimini karşılayamıyorsa?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Üst uygulamaya devreder ve kılavuzda kime/neden/nasıl karşılanacağını yazar.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173"/>
                <a:gridCol w="640836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İşlevsel/güvence/süreç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Üç gereksinim türü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İzlenebilirlik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Gereksinim→kanıt zinciri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tarafa aktarılan 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TOE/ST/PP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CC temel kavramları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SFR/SAR/EAL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İşlevsel/güvence/derinlik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Güvenlik, </a:t>
            </a:r>
            <a:r>
              <a:rPr sz="2000" b="1">
                <a:solidFill>
                  <a:srgbClr val="1F2D3A"/>
                </a:solidFill>
              </a:rPr>
              <a:t>yazılı, doğrulanabilir, izlenebilir</a:t>
            </a:r>
            <a:r>
              <a:rPr sz="2000" b="0">
                <a:solidFill>
                  <a:srgbClr val="1F2D3A"/>
                </a:solidFill>
              </a:rPr>
              <a:t> gereksinimlerle yönetilir; her gereksinim bir önleme, teste ve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bağlanır, karşılanamayan açıkça </a:t>
            </a:r>
            <a:r>
              <a:rPr sz="2000" b="1">
                <a:solidFill>
                  <a:srgbClr val="1F2D3A"/>
                </a:solidFill>
              </a:rPr>
              <a:t>devredilir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Gelecek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14. hafta — Tigress ve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Gizleme kurallarının otomatik, çeşitlendirilmiş uygulaması; ölçme ve derleme hattı.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İşlenmiş uyum matrisi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Bağlam · NotKasa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uygulama: yerel şifreli not tutar, sunucuyla konuşur, güncellenir.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Birkaç gereksinim seçip matris satırı yazalım.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Gereksinimin doğuşu · tehditten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Tehdit: cihaz çalınırsa yerel notlar okunur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↓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Amaç: beklemede gizlilik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↓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Gereksinim: C sınıfı veri AEAD ile şifrelenir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 havadan gelmez; </a:t>
            </a:r>
            <a:r>
              <a:rPr sz="2000" b="1">
                <a:solidFill>
                  <a:srgbClr val="1F2D3A"/>
                </a:solidFill>
              </a:rPr>
              <a:t>tehditten</a:t>
            </a:r>
            <a:r>
              <a:rPr sz="2000" b="0">
                <a:solidFill>
                  <a:srgbClr val="1F2D3A"/>
                </a:solidFill>
              </a:rPr>
              <a:t> türer.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· DR-01 (beklemede veri)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CEN429-DR-01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Yerel DB'deki C sınıfı veri AES-256-GCM ile şifrelenir.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Karşılama: AES-256-GCM, anahtar TEE'de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Doğrulama: T-05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Kanıt: test çıktısı (S16)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· CR-02 (kripto)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CEN429-CR-02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Anahtarların amacı, kripto-periyodu, imhası belgelenir.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Karşılama: S8 anahtar tablosu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Doğrulama: belge incelemesi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Kanıt: S8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· DT-03 (aktarımda veri)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CEN429-DT-03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Sunucu iletişimi TLS 1.3 ve sertifika zinciri doğrulaması kullanır.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Karşılama: TLS 1.3 + SAN denetimi + SPKI pin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Doğrulama: T-11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Kanıt: test + S11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· AP-04 (uygulama koruma) — devredilen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CEN429-AP-04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Güvenli kurulum ve güncelleme sağlanır.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Devredildi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Kime: Üst uygulama (MPA)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Neden: SDK dağıtım kanalına sahip değil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Nasıl: MPA imzalı güncelleme + sürüm denetimi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· AS-05 — karşılanmadı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CEN429-AS-05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Metin: Tüm hassas varlıklar için bellek izleme tespiti.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Durum: Karşılanmadı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Kalan risk: köklü cihazda canlı bellek analizi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Azaltma: kısa ömürlü anahtar + sunucu denetimi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Matris · toplu görünüm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6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2909742"/>
                <a:gridCol w="1636730"/>
                <a:gridCol w="254602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Kanıt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CR-02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DT-03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kalan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Matristen okunanlar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karşılandı (kanıtlı), bir devredildi, bir kalan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 izlenebilir.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bu tablodan başlar.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Standart eşleme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gereksinim, çok standart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gereksinim birden çok standarda bağlanabilir: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"Hassas veri şifreli saklanır"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ETSI 303 645 → hassas parametreleri güvenle sakla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MASVS → MSTG-STORAGE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CC → SFR (kripto)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Eşleme neden yararlı?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kez karşılarsınız, birçok standardı </a:t>
            </a:r>
            <a:r>
              <a:rPr sz="2000" b="1">
                <a:solidFill>
                  <a:srgbClr val="1F2D3A"/>
                </a:solidFill>
              </a:rPr>
              <a:t>aynı anda</a:t>
            </a:r>
            <a:r>
              <a:rPr sz="2000" b="0">
                <a:solidFill>
                  <a:srgbClr val="1F2D3A"/>
                </a:solidFill>
              </a:rPr>
              <a:t> sağlarsınız.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matrisinde standart sütunu ekleyin.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Sertifikasyon değişse bile iş tekrarlanmaz.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Eşleme örneği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7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6"/>
                <a:gridCol w="1454871"/>
                <a:gridCol w="2000448"/>
                <a:gridCol w="1273012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ETSI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MASVS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Şifreli saklama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SFR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iletişim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NETWORK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SFR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güncelleme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A–B ·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 tehditten türer, blok olarak yazılır, matrise girer.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gereksinim çok standardı karşılayabilir.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 olmadan hiçbir satır "karşılandı" değildir.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Gereksinim aileleri detay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AP · uygulama koruma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"Hassas fonksiyonlar gizlenir ve bütünlük denetimiyle korunur."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4, 6, 9, 11, 14.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gizleme ölçümü + RASP testi.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ID · kimlik ve bağlama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"Cihaz ve sürüm, anahtar kullanımına bağlanır."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6, 11.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cihaz bağlama testi.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 · varlık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"Her varlık C/I/I+ ile etiketlenir ve yaşam döngüsü belgelenir."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1, 3.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S5 varlık listesi.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DR/DU/DT ·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DR (beklemede):</a:t>
            </a:r>
            <a:r>
              <a:rPr sz="2000" b="0">
                <a:solidFill>
                  <a:srgbClr val="1F2D3A"/>
                </a:solidFill>
              </a:rPr>
              <a:t> "Yerel veri AEAD ile şifreli."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 (kullanımda):</a:t>
            </a:r>
            <a:r>
              <a:rPr sz="2000" b="0">
                <a:solidFill>
                  <a:srgbClr val="1F2D3A"/>
                </a:solidFill>
              </a:rPr>
              <a:t> "Anahtar kullanımdan sonra silinir."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DT (aktarımda):</a:t>
            </a:r>
            <a:r>
              <a:rPr sz="2000" b="0">
                <a:solidFill>
                  <a:srgbClr val="1F2D3A"/>
                </a:solidFill>
              </a:rPr>
              <a:t> "TLS 1.3 + zincir doğrulama."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 · kriptografi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"Onaylı algoritma, kip ve anahtar uzunluğu; anahtar hiyerarşisi belgeli."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3, 10.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algoritma envanteri.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RP · raporlama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"Sürümde hassas veri düz loglanmaz."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4, 6.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günlük denetimi.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DV · geliştirme/süreç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"Her değişiklik birleştirilmeden önce incelenir; SBOM güncellenir."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Bağ: 5, 12, 13. haftalar.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süreç kayıtları, SBOM.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Aileden gereksinime ·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her aileden </a:t>
            </a:r>
            <a:r>
              <a:rPr sz="2000" b="1">
                <a:solidFill>
                  <a:srgbClr val="1F2D3A"/>
                </a:solidFill>
              </a:rPr>
              <a:t>en az bir</a:t>
            </a:r>
            <a:r>
              <a:rPr sz="2000" b="0">
                <a:solidFill>
                  <a:srgbClr val="1F2D3A"/>
                </a:solidFill>
              </a:rPr>
              <a:t> gereksinim seçer.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tehditten türer, blok olarak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Matrise girer, kanıtla bağlanır.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Sık yapılan hatalar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doğrulanamaz gereksinim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"Güvenli olmalı" gibi ölçülemez ifade.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Doğrusu: somut, test edilebilir madde.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kanıtsız "karşılandı"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Matriste kanıt sütunu boş.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karşılanmamış sayar.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sessiz devretme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Karşılanamayan gereksinimi yazmamak.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Doğrusu: kime/neden/nasıl (S14).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EAL'i güvenlik miktarı sanmak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"EAL4 &gt; EAL2 daha güvenli" yanlış.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EAL derinliktir; güvenlik ST'ye bağlı.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FIPS'li kütüphane = FIPS uyumlu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Modül doğrulanmış olsa da uygulama doğru kullanmalı.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Onaylı kip + doğru anahtar yönetimi.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kalan riski boş bırakmak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ürünün kalan riski sıfır değildir.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"kalan risk" = eksik analiz.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(13.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gereksinim, tehditten doğar; bir önleme, bir teste ve bir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bağlanır; karşılanamıyorsa açıkça </a:t>
            </a:r>
            <a:r>
              <a:rPr sz="2000" b="1">
                <a:solidFill>
                  <a:srgbClr val="1F2D3A"/>
                </a:solidFill>
              </a:rPr>
              <a:t>devredilir</a:t>
            </a:r>
            <a:r>
              <a:rPr sz="2000" b="0">
                <a:solidFill>
                  <a:srgbClr val="1F2D3A"/>
                </a:solidFill>
              </a:rPr>
              <a:t>. Uyum matrisi bu zincirin haritasıdır.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13 — Güvenlik Gereksinimleri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