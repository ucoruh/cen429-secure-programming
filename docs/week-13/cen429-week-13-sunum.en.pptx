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güvenlik gereksinimleri nasıl standartlaştı?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1985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TCSEC</a:t>
            </a:r>
            <a:r>
              <a:rPr sz="1800" b="0">
                <a:solidFill>
                  <a:srgbClr val="1F2D3A"/>
                </a:solidFill>
              </a:rPr>
              <a:t> gereksinim düzeylerini resmîleştirir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1994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FIPS 140</a:t>
            </a:r>
            <a:r>
              <a:rPr sz="1800" b="0">
                <a:solidFill>
                  <a:srgbClr val="1F2D3A"/>
                </a:solidFill>
              </a:rPr>
              <a:t> kriptografik modül gereksinimleri (bugün </a:t>
            </a:r>
            <a:r>
              <a:rPr sz="1800" b="1">
                <a:solidFill>
                  <a:srgbClr val="1F2D3A"/>
                </a:solidFill>
              </a:rPr>
              <a:t>140-3</a:t>
            </a:r>
            <a:r>
              <a:rPr sz="1800" b="0">
                <a:solidFill>
                  <a:srgbClr val="1F2D3A"/>
                </a:solidFill>
              </a:rPr>
              <a:t>)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1999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Ortak Kriterler</a:t>
            </a:r>
            <a:r>
              <a:rPr sz="1800" b="0">
                <a:solidFill>
                  <a:srgbClr val="1F2D3A"/>
                </a:solidFill>
              </a:rPr>
              <a:t>: </a:t>
            </a:r>
            <a:r>
              <a:rPr sz="1800" b="1">
                <a:solidFill>
                  <a:srgbClr val="1F2D3A"/>
                </a:solidFill>
              </a:rPr>
              <a:t>PP/ST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SFR/SAR</a:t>
            </a:r>
            <a:r>
              <a:rPr sz="1800" b="0">
                <a:solidFill>
                  <a:srgbClr val="1F2D3A"/>
                </a:solidFill>
              </a:rPr>
              <a:t>, </a:t>
            </a:r>
            <a:r>
              <a:rPr sz="1800" b="1">
                <a:solidFill>
                  <a:srgbClr val="1F2D3A"/>
                </a:solidFill>
              </a:rPr>
              <a:t>EAL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2010'lar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OWASP MASVS</a:t>
            </a:r>
            <a:r>
              <a:rPr sz="1800" b="0">
                <a:solidFill>
                  <a:srgbClr val="1F2D3A"/>
                </a:solidFill>
              </a:rPr>
              <a:t> (mobil), </a:t>
            </a:r>
            <a:r>
              <a:rPr sz="1800" b="1">
                <a:solidFill>
                  <a:srgbClr val="1F2D3A"/>
                </a:solidFill>
              </a:rPr>
              <a:t>ETSI EN 303 645</a:t>
            </a:r>
            <a:r>
              <a:rPr sz="1800" b="0">
                <a:solidFill>
                  <a:srgbClr val="1F2D3A"/>
                </a:solidFill>
              </a:rPr>
              <a:t> (IoT), </a:t>
            </a:r>
            <a:r>
              <a:rPr sz="1800" b="1">
                <a:solidFill>
                  <a:srgbClr val="1F2D3A"/>
                </a:solidFill>
              </a:rPr>
              <a:t>EMVCo/PCI</a:t>
            </a:r>
            <a:r>
              <a:rPr sz="1800" b="0">
                <a:solidFill>
                  <a:srgbClr val="1F2D3A"/>
                </a:solidFill>
              </a:rPr>
              <a:t> (ödeme)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86868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Değişmeyen ilke: gereksinim </a:t>
            </a:r>
            <a:r>
              <a:rPr sz="1800" b="1">
                <a:solidFill>
                  <a:srgbClr val="1F2D3A"/>
                </a:solidFill>
              </a:rPr>
              <a:t>ölçülebilir</a:t>
            </a:r>
            <a:r>
              <a:rPr sz="1800" b="0">
                <a:solidFill>
                  <a:srgbClr val="1F2D3A"/>
                </a:solidFill>
              </a:rPr>
              <a:t> ve </a:t>
            </a:r>
            <a:r>
              <a:rPr sz="1800" b="1">
                <a:solidFill>
                  <a:srgbClr val="1F2D3A"/>
                </a:solidFill>
              </a:rPr>
              <a:t>izlenebilir</a:t>
            </a:r>
            <a:r>
              <a:rPr sz="1800" b="0">
                <a:solidFill>
                  <a:srgbClr val="1F2D3A"/>
                </a:solidFill>
              </a:rPr>
              <a:t> olmalı; kanıtsız "karşılandı" geçersizdir.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 — şema</a:t>
            </a:r>
          </a:p>
        </p:txBody>
      </p:sp>
      <p:pic>
        <p:nvPicPr>
          <p:cNvPr id="7" name="Picture 6" descr="h13-03-iyi-gereksini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77894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gereksinim — şema</a:t>
            </a:r>
          </a:p>
        </p:txBody>
      </p:sp>
      <p:pic>
        <p:nvPicPr>
          <p:cNvPr id="7" name="Picture 6" descr="h13-04-kotu-iy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önlem → doğrulama → kanıt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zinciri — iki yön</a:t>
            </a:r>
          </a:p>
        </p:txBody>
      </p:sp>
      <p:pic>
        <p:nvPicPr>
          <p:cNvPr id="7" name="Picture 6" descr="h13-01-izlenebilirli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51803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Devretme üç soru — şema</a:t>
            </a:r>
          </a:p>
        </p:txBody>
      </p:sp>
      <p:pic>
        <p:nvPicPr>
          <p:cNvPr id="7" name="Picture 6" descr="h13-06-devret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8644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— şema</a:t>
            </a:r>
          </a:p>
        </p:txBody>
      </p:sp>
      <p:pic>
        <p:nvPicPr>
          <p:cNvPr id="7" name="Picture 6" descr="h13-05-gereksinim-blog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406075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— şema</a:t>
            </a:r>
          </a:p>
        </p:txBody>
      </p:sp>
      <p:pic>
        <p:nvPicPr>
          <p:cNvPr id="7" name="Picture 6" descr="h13-07-ortak-kriter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917539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düzeyleri — şema</a:t>
            </a:r>
          </a:p>
        </p:txBody>
      </p:sp>
      <p:pic>
        <p:nvPicPr>
          <p:cNvPr id="7" name="Picture 6" descr="h13-08-f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3573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 — şema</a:t>
            </a:r>
          </a:p>
        </p:txBody>
      </p:sp>
      <p:pic>
        <p:nvPicPr>
          <p:cNvPr id="7" name="Picture 6" descr="h13-09-sek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92523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aktarma kararı — şema</a:t>
            </a:r>
          </a:p>
        </p:txBody>
      </p:sp>
      <p:pic>
        <p:nvPicPr>
          <p:cNvPr id="7" name="Picture 6" descr="h13-02-gereksinim-kara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601178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hangi varlığı korur → hangi önlemle → nasıl doğrulanır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 — şema</a:t>
            </a:r>
          </a:p>
        </p:txBody>
      </p:sp>
      <p:pic>
        <p:nvPicPr>
          <p:cNvPr id="7" name="Picture 6" descr="h13-10-uyum-matr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08384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"Hassas veri şifreli saklanır"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ETSI 303 645 → hassas parametreleri güvenle sakla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MASVS → MSTG-STORAGE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CC → SFR (kripto)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