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gereksinim, durum, kanıt.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 → önlem → doğrulama → kanıt. Sıfır ön bilgi;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Gereksinim/standart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 bloğu ve devredilenler.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Ortak Kriterler ve FIPS.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sektör standartları.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gereksinimleri projeye aktarma.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"NotKasa" ürünü için birkaç gereksinim bloğunu ve matris satırını dolduruyoruz.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aile için bir örnek gereksinim; öğrenci kendi projesine benzerini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Gereksinimleri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11.12.2026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935274"/>
                <a:gridCol w="914490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iyi gereksinim · izlenebilirlik · gereksinim bloğu ·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Kriterler (TOE, ST, PP, SFR/SAR, EAL) · 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ETSI, GSMA, EMVCo, PCI, MASVS · dersin gereksinim aileleri · uyum matrisi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güvenlik gereksinimleri nasıl standartlaştı?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gereksinim düzeylerini resmîleştirir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FIPS 140</a:t>
            </a:r>
            <a:r>
              <a:rPr sz="1800" b="0">
                <a:solidFill>
                  <a:srgbClr val="1F2D3A"/>
                </a:solidFill>
              </a:rPr>
              <a:t> kriptografik modül gereksinimleri (bugün </a:t>
            </a:r>
            <a:r>
              <a:rPr sz="1800" b="1">
                <a:solidFill>
                  <a:srgbClr val="1F2D3A"/>
                </a:solidFill>
              </a:rPr>
              <a:t>140-3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</a:t>
            </a:r>
            <a:r>
              <a:rPr sz="1800" b="0">
                <a:solidFill>
                  <a:srgbClr val="1F2D3A"/>
                </a:solidFill>
              </a:rPr>
              <a:t>: </a:t>
            </a:r>
            <a:r>
              <a:rPr sz="1800" b="1">
                <a:solidFill>
                  <a:srgbClr val="1F2D3A"/>
                </a:solidFill>
              </a:rPr>
              <a:t>PP/ST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SFR/SAR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EAL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(IoT), </a:t>
            </a:r>
            <a:r>
              <a:rPr sz="1800" b="1">
                <a:solidFill>
                  <a:srgbClr val="1F2D3A"/>
                </a:solidFill>
              </a:rPr>
              <a:t>EMVCo/PCI</a:t>
            </a:r>
            <a:r>
              <a:rPr sz="1800" b="0">
                <a:solidFill>
                  <a:srgbClr val="1F2D3A"/>
                </a:solidFill>
              </a:rPr>
              <a:t> (ödeme)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Değişmeyen ilke: gereksinim </a:t>
            </a:r>
            <a:r>
              <a:rPr sz="1800" b="1">
                <a:solidFill>
                  <a:srgbClr val="1F2D3A"/>
                </a:solidFill>
              </a:rPr>
              <a:t>ölçülebilir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izlenebilir</a:t>
            </a:r>
            <a:r>
              <a:rPr sz="1800" b="0">
                <a:solidFill>
                  <a:srgbClr val="1F2D3A"/>
                </a:solidFill>
              </a:rPr>
              <a:t> olmalı; kanıtsız "karşılandı" geçersizdir.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12. hafta:</a:t>
            </a:r>
            <a:r>
              <a:rPr sz="2000" b="0">
                <a:solidFill>
                  <a:srgbClr val="1F2D3A"/>
                </a:solidFill>
              </a:rPr>
              <a:t> bir ürün nasıl </a:t>
            </a:r>
            <a:r>
              <a:rPr sz="2000" b="1">
                <a:solidFill>
                  <a:srgbClr val="1F2D3A"/>
                </a:solidFill>
              </a:rPr>
              <a:t>değerlendirilir/test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(13):</a:t>
            </a:r>
            <a:r>
              <a:rPr sz="2000" b="0">
                <a:solidFill>
                  <a:srgbClr val="1F2D3A"/>
                </a:solidFill>
              </a:rPr>
              <a:t> değerlendirmenin ölçtüğü </a:t>
            </a:r>
            <a:r>
              <a:rPr sz="2000" b="1">
                <a:solidFill>
                  <a:srgbClr val="1F2D3A"/>
                </a:solidFill>
              </a:rPr>
              <a:t>gereksinimler</a:t>
            </a:r>
            <a:r>
              <a:rPr sz="2000" b="0">
                <a:solidFill>
                  <a:srgbClr val="1F2D3A"/>
                </a:solidFill>
              </a:rPr>
              <a:t> nereden gelir, nasıl yazılır, nasıl izlenir.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projenizin </a:t>
            </a:r>
            <a:r>
              <a:rPr sz="2000" b="1">
                <a:solidFill>
                  <a:srgbClr val="1F2D3A"/>
                </a:solidFill>
              </a:rPr>
              <a:t>uyum matrisi</a:t>
            </a:r>
            <a:r>
              <a:rPr sz="2000" b="0">
                <a:solidFill>
                  <a:srgbClr val="1F2D3A"/>
                </a:solidFill>
              </a:rPr>
              <a:t> (S17) ve </a:t>
            </a:r>
            <a:r>
              <a:rPr sz="2000" b="1">
                <a:solidFill>
                  <a:srgbClr val="1F2D3A"/>
                </a:solidFill>
              </a:rPr>
              <a:t>devredilenler</a:t>
            </a:r>
            <a:r>
              <a:rPr sz="2000" b="0">
                <a:solidFill>
                  <a:srgbClr val="1F2D3A"/>
                </a:solidFill>
              </a:rPr>
              <a:t> (S14).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ÖÇ.7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güvenlik gereksinimini kötüsünden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izlenebilirlik/uyum matrisi</a:t>
            </a:r>
            <a:r>
              <a:rPr sz="2000" b="0">
                <a:solidFill>
                  <a:srgbClr val="1F2D3A"/>
                </a:solidFill>
              </a:rPr>
              <a:t> kurmak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CC, FIPS, ETSI, EMVCo, PCI, MASVS'in ne istediğini karşılaştırmak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"his" değil, </a:t>
            </a:r>
            <a:r>
              <a:rPr sz="2000" b="1">
                <a:solidFill>
                  <a:srgbClr val="1F2D3A"/>
                </a:solidFill>
              </a:rPr>
              <a:t>yazılı, ölçülebilir, izlenebilir</a:t>
            </a:r>
            <a:r>
              <a:rPr sz="2000" b="0">
                <a:solidFill>
                  <a:srgbClr val="1F2D3A"/>
                </a:solidFill>
              </a:rPr>
              <a:t> gereksinimlerle yönetilir: gereksinim → önlem → doğrulama → kanıt.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zinciri kurmayı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(requirement)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sistemin </a:t>
            </a:r>
            <a:r>
              <a:rPr sz="2000" b="1">
                <a:solidFill>
                  <a:srgbClr val="1F2D3A"/>
                </a:solidFill>
              </a:rPr>
              <a:t>karşılaması gereken</a:t>
            </a:r>
            <a:r>
              <a:rPr sz="2000" b="0">
                <a:solidFill>
                  <a:srgbClr val="1F2D3A"/>
                </a:solidFill>
              </a:rPr>
              <a:t> bir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gereksinimi: bir güvenlik koşulu.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(test edilebilir).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İşlevsel:</a:t>
            </a:r>
            <a:r>
              <a:rPr sz="2000" b="0">
                <a:solidFill>
                  <a:srgbClr val="1F2D3A"/>
                </a:solidFill>
              </a:rPr>
              <a:t> hangi güvenlik işlevi olacak? (ör. veri AEAD ile korunur)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Güvence:</a:t>
            </a:r>
            <a:r>
              <a:rPr sz="2000" b="0">
                <a:solidFill>
                  <a:srgbClr val="1F2D3A"/>
                </a:solidFill>
              </a:rPr>
              <a:t> doğru yapıldığına nasıl güveneceğiz? (ör. test raporu)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Süreç:</a:t>
            </a:r>
            <a:r>
              <a:rPr sz="2000" b="0">
                <a:solidFill>
                  <a:srgbClr val="1F2D3A"/>
                </a:solidFill>
              </a:rPr>
              <a:t> kurum nasıl çalışmalı? (ör. her değişiklik incelenir)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vs kötü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 (doğrulanamaz)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 (ölçülebilir)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(traceability)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İzlenebilirlik:</a:t>
            </a:r>
            <a:r>
              <a:rPr sz="2000" b="0">
                <a:solidFill>
                  <a:srgbClr val="1F2D3A"/>
                </a:solidFill>
              </a:rPr>
              <a:t> her gereksinimi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gereksinim nerede karşılandı, nasıl doğrulandı?"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Uyum matrisi:</a:t>
            </a:r>
            <a:r>
              <a:rPr sz="2000" b="0">
                <a:solidFill>
                  <a:srgbClr val="1F2D3A"/>
                </a:solidFill>
              </a:rPr>
              <a:t> gereksinim → durum → bölüm → doğrulama → kanıt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S17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ilk baktığı 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durumları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Karşılandı:</a:t>
            </a:r>
            <a:r>
              <a:rPr sz="2000" b="0">
                <a:solidFill>
                  <a:srgbClr val="1F2D3A"/>
                </a:solidFill>
              </a:rPr>
              <a:t> ürün bu gereksinimi sağlar (kanıtla).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Devredildi:</a:t>
            </a:r>
            <a:r>
              <a:rPr sz="2000" b="0">
                <a:solidFill>
                  <a:srgbClr val="1F2D3A"/>
                </a:solidFill>
              </a:rPr>
              <a:t> başka bir taraf sağlar (kime, neden, 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Karşılanmadı:</a:t>
            </a:r>
            <a:r>
              <a:rPr sz="2000" b="0">
                <a:solidFill>
                  <a:srgbClr val="1F2D3A"/>
                </a:solidFill>
              </a:rPr>
              <a:t> henüz sağlanmıyor.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karşılayamıyorsa</a:t>
            </a:r>
            <a:r>
              <a:rPr sz="2000" b="0">
                <a:solidFill>
                  <a:srgbClr val="1F2D3A"/>
                </a:solidFill>
              </a:rPr>
              <a:t>, üst uygulamaya/OS'a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Kılavuza: </a:t>
            </a:r>
            <a:r>
              <a:rPr sz="2000" b="1">
                <a:solidFill>
                  <a:srgbClr val="1F2D3A"/>
                </a:solidFill>
              </a:rPr>
              <a:t>kime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karşılanacağı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S14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15408):</a:t>
            </a:r>
            <a:r>
              <a:rPr sz="2000" b="0">
                <a:solidFill>
                  <a:srgbClr val="1F2D3A"/>
                </a:solidFill>
              </a:rPr>
              <a:t> ürün güvenliği değerlendirme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Kavramlar: TOE, ST, PP, SFR, SAR, EAL (birazdan).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temel terimler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değerlendirilen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bu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SFR, SAR, 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işlevsel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güvence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EAL:</a:t>
            </a:r>
            <a:r>
              <a:rPr sz="2000" b="0">
                <a:solidFill>
                  <a:srgbClr val="1F2D3A"/>
                </a:solidFill>
              </a:rPr>
              <a:t> değerlendirmenin </a:t>
            </a:r>
            <a:r>
              <a:rPr sz="2000" b="1">
                <a:solidFill>
                  <a:srgbClr val="1F2D3A"/>
                </a:solidFill>
              </a:rPr>
              <a:t>derinlik</a:t>
            </a:r>
            <a:r>
              <a:rPr sz="2000" b="0">
                <a:solidFill>
                  <a:srgbClr val="1F2D3A"/>
                </a:solidFill>
              </a:rPr>
              <a:t> düzeyi (EAL1–EAL7).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 140-3:</a:t>
            </a:r>
            <a:r>
              <a:rPr sz="2000" b="0">
                <a:solidFill>
                  <a:srgbClr val="1F2D3A"/>
                </a:solidFill>
              </a:rPr>
              <a:t> kriptografik </a:t>
            </a:r>
            <a:r>
              <a:rPr sz="2000" b="1">
                <a:solidFill>
                  <a:srgbClr val="1F2D3A"/>
                </a:solidFill>
              </a:rPr>
              <a:t>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düzeyleri (1–4).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kapsar, uygulamanın tamamını değil.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ETSI EN 303 645:</a:t>
            </a:r>
            <a:r>
              <a:rPr sz="2000" b="0">
                <a:solidFill>
                  <a:srgbClr val="1F2D3A"/>
                </a:solidFill>
              </a:rPr>
              <a:t> IoT temel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GSMA, EMVCo, PCI:</a:t>
            </a:r>
            <a:r>
              <a:rPr sz="2000" b="0">
                <a:solidFill>
                  <a:srgbClr val="1F2D3A"/>
                </a:solidFill>
              </a:rPr>
              <a:t> mobil/ödeme.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MASVS:</a:t>
            </a:r>
            <a:r>
              <a:rPr sz="2000" b="0">
                <a:solidFill>
                  <a:srgbClr val="1F2D3A"/>
                </a:solidFill>
              </a:rPr>
              <a:t> mobil uygulama gereksinimleri.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(işlevsel/güvence/süreç) · izlenebilirlik · uyum matrisi · durum (karşılandı/devredildi/karşılanmadı) · devredilen · CC (TOE/ST/PP/SFR/SAR/EAL) · FIPS 140-3 · ETSI/GSMA/EMVCo/PCI/MASVS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iyi gereksinim nasıl yazılır?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İyi gereksinim nasıl yazılır?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 — şema</a:t>
            </a:r>
          </a:p>
        </p:txBody>
      </p:sp>
      <p:pic>
        <p:nvPicPr>
          <p:cNvPr id="7" name="Picture 6" descr="h13-03-iyi-gereksin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(hatırlatma)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4052855"/>
                <a:gridCol w="498813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İşlevsel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Hangi güvenlik işlevi?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veri AEAD ile korunur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 mu yapıldı?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Statik analiz + 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Kurum nasıl çalışır?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değişiklik incelenir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Doğrulanabilir:</a:t>
            </a:r>
            <a:r>
              <a:rPr sz="2000" b="0">
                <a:solidFill>
                  <a:srgbClr val="1F2D3A"/>
                </a:solidFill>
              </a:rPr>
              <a:t> test edilebilir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Tekil:</a:t>
            </a:r>
            <a:r>
              <a:rPr sz="2000" b="0">
                <a:solidFill>
                  <a:srgbClr val="1F2D3A"/>
                </a:solidFill>
              </a:rPr>
              <a:t> tek bir şey mi söylüyor?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Ölçülebilir:</a:t>
            </a:r>
            <a:r>
              <a:rPr sz="2000" b="0">
                <a:solidFill>
                  <a:srgbClr val="1F2D3A"/>
                </a:solidFill>
              </a:rPr>
              <a:t> somut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Gerçekçi:</a:t>
            </a:r>
            <a:r>
              <a:rPr sz="2000" b="0">
                <a:solidFill>
                  <a:srgbClr val="1F2D3A"/>
                </a:solidFill>
              </a:rPr>
              <a:t> uygulanabilir mi?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</a:t>
            </a:r>
            <a:r>
              <a:rPr sz="2000" b="1">
                <a:solidFill>
                  <a:srgbClr val="1F2D3A"/>
                </a:solidFill>
              </a:rPr>
              <a:t>Test edilebilir</a:t>
            </a:r>
            <a:r>
              <a:rPr sz="2000" b="0">
                <a:solidFill>
                  <a:srgbClr val="1F2D3A"/>
                </a:solidFill>
              </a:rPr>
              <a:t> (checksec).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gereksinim — şema</a:t>
            </a:r>
          </a:p>
        </p:txBody>
      </p:sp>
      <p:pic>
        <p:nvPicPr>
          <p:cNvPr id="7" name="Picture 6" descr="h13-04-kotu-i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"Veriler şifrelenmelidir."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"C sınıfı her varlık beklemede ≥128 bit düzeyinde AEAD ile şifrelenmelidir."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Hangi veri, hangi düzey, hangi yöntem belli.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"Anahtarlar iyi yönetilmelidir."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"(1) Her anahtarın amacı, kripto-periyodu ve imhası belgelenir. (2) İş bitince bellekten silinir."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Tekil, doğrulanabilir maddeler.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Gereksinimden kanıta: izlenebilirlik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</a:t>
            </a:r>
          </a:p>
        </p:txBody>
      </p:sp>
      <p:pic>
        <p:nvPicPr>
          <p:cNvPr id="7" name="Picture 6" descr="h13-01-izlenebili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bu zincirle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bağlanmalı.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neden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"bu gereksinim nerede?" diye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İzlenebilirlik yoksa: her şeyi baştan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Varsa: matristen doğrudan bulunur.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6525"/>
                <a:gridCol w="2149241"/>
                <a:gridCol w="2479894"/>
                <a:gridCol w="2975873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AEAD 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Birim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çıktısı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checksec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İleri:</a:t>
            </a:r>
            <a:r>
              <a:rPr sz="2000" b="0">
                <a:solidFill>
                  <a:srgbClr val="1F2D3A"/>
                </a:solidFill>
              </a:rPr>
              <a:t> gereksinim → nerede karşılandı?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Geri:</a:t>
            </a:r>
            <a:r>
              <a:rPr sz="2000" b="0">
                <a:solidFill>
                  <a:srgbClr val="1F2D3A"/>
                </a:solidFill>
              </a:rPr>
              <a:t> bu kod/test →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matris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de izlenebilir.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"karşılandı" ama kanıt yoksa...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gözünde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bulgulardan biri olur.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İyi gereksinimin dört ölçütü?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"Uygulama güvenli olmalı" neden kötü?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İzlenebilirlik zinciri nedir?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Belirli · ölçülebilir/doğrulanabilir · tekil · izlenebilir</a:t>
            </a:r>
            <a:r>
              <a:rPr sz="2000" b="0">
                <a:solidFill>
                  <a:srgbClr val="1F2D3A"/>
                </a:solidFill>
              </a:rPr>
              <a:t> (gerçekçi, atomik).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Belirsiz ve ölçülemez</a:t>
            </a:r>
            <a:r>
              <a:rPr sz="2000" b="0">
                <a:solidFill>
                  <a:srgbClr val="1F2D3A"/>
                </a:solidFill>
              </a:rPr>
              <a:t>; "güvenli"nin tanımı yok → test edilemez, herkes farklı anlar.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Tehdit/standart → gereksinim → tasarım/kod → test/kanıt.</a:t>
            </a:r>
            <a:r>
              <a:rPr sz="2000" b="0">
                <a:solidFill>
                  <a:srgbClr val="1F2D3A"/>
                </a:solidFill>
              </a:rPr>
              <a:t> Her gereksinim bir kaynağa ve bir kanıta </a:t>
            </a:r>
            <a:r>
              <a:rPr sz="2000" b="1">
                <a:solidFill>
                  <a:srgbClr val="1F2D3A"/>
                </a:solidFill>
              </a:rPr>
              <a:t>iki yönlü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Gereksinim bloğu ve devredilenler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Devretme üç soru — şema</a:t>
            </a:r>
          </a:p>
        </p:txBody>
      </p:sp>
      <p:pic>
        <p:nvPicPr>
          <p:cNvPr id="7" name="Picture 6" descr="h13-06-devret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kalıbı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olarak yazılır: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benzersiz numara (ör. CEN429-DU-01)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Metin:</a:t>
            </a:r>
            <a:r>
              <a:rPr sz="2000" b="0">
                <a:solidFill>
                  <a:srgbClr val="1F2D3A"/>
                </a:solidFill>
              </a:rPr>
              <a:t> ne isteniyor (tekil, ölçülebilir)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Durum:</a:t>
            </a:r>
            <a:r>
              <a:rPr sz="2000" b="0">
                <a:solidFill>
                  <a:srgbClr val="1F2D3A"/>
                </a:solidFill>
              </a:rPr>
              <a:t> karşılandı / devredildi / karşılanmadı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nasıl karşılandı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blok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CEN429-DU-01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AEAD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 birim testi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çıktısı, S16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blok?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aynı yapıda →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hızlı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bu bloklardan üretilir.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karşılayamıyor.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Sorumluluğu üst uygulamaya/OS'a/donanıma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kaçış değil, </a:t>
            </a:r>
            <a:r>
              <a:rPr sz="2000" b="1">
                <a:solidFill>
                  <a:srgbClr val="1F2D3A"/>
                </a:solidFill>
              </a:rPr>
              <a:t>açık bir sözleşmedir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Devrederken üç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her gereksinimde yaz: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Kime?</a:t>
            </a:r>
            <a:r>
              <a:rPr sz="2000" b="0">
                <a:solidFill>
                  <a:srgbClr val="1F2D3A"/>
                </a:solidFill>
              </a:rPr>
              <a:t> (üst uygulama / OS / donanım)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Neden?</a:t>
            </a:r>
            <a:r>
              <a:rPr sz="2000" b="0">
                <a:solidFill>
                  <a:srgbClr val="1F2D3A"/>
                </a:solidFill>
              </a:rPr>
              <a:t> (neden bu bileşen karşılayamıyor)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(karşı taraf nasıl karşılayacak)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CEN429-AP-03: Güvenli kurulum ve güncelleme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mobil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 sağlar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Sessiz devretme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gereksinimi karşılamıyor ve </a:t>
            </a:r>
            <a:r>
              <a:rPr sz="2000" b="1">
                <a:solidFill>
                  <a:srgbClr val="1F2D3A"/>
                </a:solidFill>
              </a:rPr>
              <a:t>yazmıyorsanız</a:t>
            </a:r>
            <a:r>
              <a:rPr sz="2000" b="0">
                <a:solidFill>
                  <a:srgbClr val="1F2D3A"/>
                </a:solidFill>
              </a:rPr>
              <a:t> → eksik.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Devretme </a:t>
            </a:r>
            <a:r>
              <a:rPr sz="2000" b="1">
                <a:solidFill>
                  <a:srgbClr val="1F2D3A"/>
                </a:solidFill>
              </a:rPr>
              <a:t>belgelenmeli</a:t>
            </a:r>
            <a:r>
              <a:rPr sz="2000" b="0">
                <a:solidFill>
                  <a:srgbClr val="1F2D3A"/>
                </a:solidFill>
              </a:rPr>
              <a:t>; aksi halde "karşılanmadı"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bölümü tam bunun için.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Karşılandı mı, devredildi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745621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sağlar (kanıtla)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Başka taraf sağlar (kime/neden/nasıl)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Henüz yok (kalan risk)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bloğunun alanları?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Devrederken hangi üç soru yanıtlanır?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Sessiz devretme neden sorun?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ID · ölçülebilir ifade · kaynak/gerekçe · ilgili varlık/tehdit · doğrulama yöntemi (kanıt) · durum/öncelik.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şimdi karşılanmıyor? (2) </a:t>
            </a:r>
            <a:r>
              <a:rPr sz="2000" b="1">
                <a:solidFill>
                  <a:srgbClr val="1F2D3A"/>
                </a:solidFill>
              </a:rPr>
              <a:t>Riski ne, kim kabul ediyor</a:t>
            </a:r>
            <a:r>
              <a:rPr sz="2000" b="0">
                <a:solidFill>
                  <a:srgbClr val="1F2D3A"/>
                </a:solidFill>
              </a:rPr>
              <a:t> (onay)? (3) </a:t>
            </a:r>
            <a:r>
              <a:rPr sz="2000" b="1">
                <a:solidFill>
                  <a:srgbClr val="1F2D3A"/>
                </a:solidFill>
              </a:rPr>
              <a:t>Ne zaman/nasıl</a:t>
            </a:r>
            <a:r>
              <a:rPr sz="2000" b="0">
                <a:solidFill>
                  <a:srgbClr val="1F2D3A"/>
                </a:solidFill>
              </a:rPr>
              <a:t> karşılanacak (plan/telafi)?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Kayıt/onay olmadan gereksinim atlanır → </a:t>
            </a:r>
            <a:r>
              <a:rPr sz="2000" b="1">
                <a:solidFill>
                  <a:srgbClr val="1F2D3A"/>
                </a:solidFill>
              </a:rPr>
              <a:t>gizli açık</a:t>
            </a:r>
            <a:r>
              <a:rPr sz="2000" b="0">
                <a:solidFill>
                  <a:srgbClr val="1F2D3A"/>
                </a:solidFill>
              </a:rPr>
              <a:t>, sorumlusu yok, denetimde patlar. Açık, gerekçeli, onaylı devret.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Ortak Kriterler (ISO/IEC 15408)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— şema</a:t>
            </a:r>
          </a:p>
        </p:txBody>
      </p:sp>
      <p:pic>
        <p:nvPicPr>
          <p:cNvPr id="7" name="Picture 6" descr="h13-07-ortak-kriter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 güvenliğini değerlendirmenin uluslararası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bir </a:t>
            </a:r>
            <a:r>
              <a:rPr sz="2000" b="1">
                <a:solidFill>
                  <a:srgbClr val="1F2D3A"/>
                </a:solidFill>
              </a:rPr>
              <a:t>dil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yöntem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Ülkeler birbirinin değerlendirmesini tanır.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· değerlendirme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tam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 (12. hafta): sürüm + ikili + özet.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· güvenlik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bu</a:t>
            </a:r>
            <a:r>
              <a:rPr sz="2000" b="0">
                <a:solidFill>
                  <a:srgbClr val="1F2D3A"/>
                </a:solidFill>
              </a:rPr>
              <a:t>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tehditler, amaçlar, gereksinimler (SFR/SAR).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Ürüne özgüdür.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PP · koruma profili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"mobil cihaz PP", "akıllı kart PP".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ST'ler genelde bir PP'yi temel alır.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vs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3637178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 yazar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Topluluk/otorite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 ürünün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taban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SFR · işlevsel gereksinimler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 (Security Functional Requirements):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şifreleme, erişim denetimi, günlükleme.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bir katalogdan seçilir.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SAR · güvence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 (Security Assurance Requirements):</a:t>
            </a:r>
            <a:r>
              <a:rPr sz="2000" b="0">
                <a:solidFill>
                  <a:srgbClr val="1F2D3A"/>
                </a:solidFill>
              </a:rPr>
              <a:t> doğru yapıldığına </a:t>
            </a:r>
            <a:r>
              <a:rPr sz="2000" b="1">
                <a:solidFill>
                  <a:srgbClr val="1F2D3A"/>
                </a:solidFill>
              </a:rPr>
              <a:t>nasıl güveneceğiz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kaynak inceleme, test derinliği, zafiyet analizi.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bunları belirler.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EAL · değerlendirme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 (Evaluation Assurance Level):</a:t>
            </a:r>
            <a:r>
              <a:rPr sz="2000" b="0">
                <a:solidFill>
                  <a:srgbClr val="1F2D3A"/>
                </a:solidFill>
              </a:rPr>
              <a:t> 1'den 7'ye derinlik.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EAL = daha derin inceleme.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"+" ek güvence bileşenlerini gösterir (EAL4+).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EAL yanlış anlaşılması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güvenliğin </a:t>
            </a:r>
            <a:r>
              <a:rPr sz="2000" b="1">
                <a:solidFill>
                  <a:srgbClr val="1F2D3A"/>
                </a:solidFill>
              </a:rPr>
              <a:t>derinliği</a:t>
            </a:r>
            <a:r>
              <a:rPr sz="2000" b="0">
                <a:solidFill>
                  <a:srgbClr val="1F2D3A"/>
                </a:solidFill>
              </a:rPr>
              <a:t>, güvenliğin </a:t>
            </a:r>
            <a:r>
              <a:rPr sz="2000" b="1">
                <a:solidFill>
                  <a:srgbClr val="1F2D3A"/>
                </a:solidFill>
              </a:rPr>
              <a:t>miktarı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"EAL4+ &gt; EAL2 daha güvenli" demek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ST'deki tehdit ve amaçlara</a:t>
            </a:r>
            <a:r>
              <a:rPr sz="2000" b="0">
                <a:solidFill>
                  <a:srgbClr val="1F2D3A"/>
                </a:solidFill>
              </a:rPr>
              <a:t> bağlıdır.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FIPS 140-3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düzeyleri — şema</a:t>
            </a:r>
          </a:p>
        </p:txBody>
      </p:sp>
      <p:pic>
        <p:nvPicPr>
          <p:cNvPr id="7" name="Picture 6" descr="h13-08-f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Kriptografik 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Modülün algoritmaları, kendini testi, anahtar yönetimi.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düzeyleri (1–4)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Temel; onaylı algoritmalar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Kurcalamaya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direnç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yanıt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 fiziksel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FIPS uyumluluğu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FIPS </a:t>
            </a:r>
            <a:r>
              <a:rPr sz="2000" b="1">
                <a:solidFill>
                  <a:srgbClr val="1F2D3A"/>
                </a:solidFill>
              </a:rPr>
              <a:t>doğrulanmış</a:t>
            </a:r>
            <a:r>
              <a:rPr sz="2000" b="0">
                <a:solidFill>
                  <a:srgbClr val="1F2D3A"/>
                </a:solidFill>
              </a:rPr>
              <a:t> kütüphane kullanmak, uygulamayı otomatik FIPS uyumlu </a:t>
            </a:r>
            <a:r>
              <a:rPr sz="2000" b="1">
                <a:solidFill>
                  <a:srgbClr val="1F2D3A"/>
                </a:solidFill>
              </a:rPr>
              <a:t>yapmaz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modülü </a:t>
            </a:r>
            <a:r>
              <a:rPr sz="2000" b="1">
                <a:solidFill>
                  <a:srgbClr val="1F2D3A"/>
                </a:solidFill>
              </a:rPr>
              <a:t>onaylı kipte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da doğru yönetmeli.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ve FIPS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CC:</a:t>
            </a:r>
            <a:r>
              <a:rPr sz="2000" b="0">
                <a:solidFill>
                  <a:srgbClr val="1F2D3A"/>
                </a:solidFill>
              </a:rPr>
              <a:t> ürünün bütününü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FIPS:</a:t>
            </a:r>
            <a:r>
              <a:rPr sz="2000" b="0">
                <a:solidFill>
                  <a:srgbClr val="1F2D3A"/>
                </a:solidFill>
              </a:rPr>
              <a:t> kripto modülünü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ürün CC değerlendirmesinde FIPS'li modül kullanabilir.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 ile PP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SFR ve SAR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"EAL4+ her zaman daha güvenli" neden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FIPS'li kütüphane uygulamayı FIPS uyumlu yapar mı?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PP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standart gereksinim kümesi; </a:t>
            </a:r>
            <a:r>
              <a:rPr sz="2000" b="1">
                <a:solidFill>
                  <a:srgbClr val="1F2D3A"/>
                </a:solidFill>
              </a:rPr>
              <a:t>ST</a:t>
            </a:r>
            <a:r>
              <a:rPr sz="2000" b="0">
                <a:solidFill>
                  <a:srgbClr val="1F2D3A"/>
                </a:solidFill>
              </a:rPr>
              <a:t> belirli bir </a:t>
            </a:r>
            <a:r>
              <a:rPr sz="2000" b="1">
                <a:solidFill>
                  <a:srgbClr val="1F2D3A"/>
                </a:solidFill>
              </a:rPr>
              <a:t>ürünün (TOE)</a:t>
            </a:r>
            <a:r>
              <a:rPr sz="2000" b="0">
                <a:solidFill>
                  <a:srgbClr val="1F2D3A"/>
                </a:solidFill>
              </a:rPr>
              <a:t> neyi karşıladığını söyleyen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SFR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 (fonksiyonel); </a:t>
            </a:r>
            <a:r>
              <a:rPr sz="2000" b="1">
                <a:solidFill>
                  <a:srgbClr val="1F2D3A"/>
                </a:solidFill>
              </a:rPr>
              <a:t>SAR</a:t>
            </a:r>
            <a:r>
              <a:rPr sz="2000" b="0">
                <a:solidFill>
                  <a:srgbClr val="1F2D3A"/>
                </a:solidFill>
              </a:rPr>
              <a:t> buna </a:t>
            </a:r>
            <a:r>
              <a:rPr sz="2000" b="1">
                <a:solidFill>
                  <a:srgbClr val="1F2D3A"/>
                </a:solidFill>
              </a:rPr>
              <a:t>ne kadar güvenileceği</a:t>
            </a:r>
            <a:r>
              <a:rPr sz="2000" b="0">
                <a:solidFill>
                  <a:srgbClr val="1F2D3A"/>
                </a:solidFill>
              </a:rPr>
              <a:t> (güvence; EAL buradan gelir).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EAL </a:t>
            </a:r>
            <a:r>
              <a:rPr sz="2000" b="1">
                <a:solidFill>
                  <a:srgbClr val="1F2D3A"/>
                </a:solidFill>
              </a:rPr>
              <a:t>güvence derinliğini</a:t>
            </a:r>
            <a:r>
              <a:rPr sz="2000" b="0">
                <a:solidFill>
                  <a:srgbClr val="1F2D3A"/>
                </a:solidFill>
              </a:rPr>
              <a:t> ölçer, güvenlik miktarını değil; </a:t>
            </a:r>
            <a:r>
              <a:rPr sz="2000" b="1">
                <a:solidFill>
                  <a:srgbClr val="1F2D3A"/>
                </a:solidFill>
              </a:rPr>
              <a:t>kapsam (ST/TOE)</a:t>
            </a:r>
            <a:r>
              <a:rPr sz="2000" b="0">
                <a:solidFill>
                  <a:srgbClr val="1F2D3A"/>
                </a:solidFill>
              </a:rPr>
              <a:t> darsa yüksek EAL az şey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Modülü </a:t>
            </a:r>
            <a:r>
              <a:rPr sz="2000" b="1">
                <a:solidFill>
                  <a:srgbClr val="1F2D3A"/>
                </a:solidFill>
              </a:rPr>
              <a:t>doğru kip/yapılandırmada, onaylı algoritmalarla</a:t>
            </a:r>
            <a:r>
              <a:rPr sz="2000" b="0">
                <a:solidFill>
                  <a:srgbClr val="1F2D3A"/>
                </a:solidFill>
              </a:rPr>
              <a:t> kullanmak gerekir. Modül sertifikası ≠ uygulama uyumu.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Sektöre özgü gereksinim setleri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 — şema</a:t>
            </a:r>
          </a:p>
        </p:txBody>
      </p:sp>
      <p:pic>
        <p:nvPicPr>
          <p:cNvPr id="7" name="Picture 6" descr="h13-09-sek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92523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sektör standartları?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CC/FIPS geneldir; sektörler kendi risklerine göre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gereksinim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IoT, mobil, ödeme farklı tehdit ortamları.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hangisine yakınsa onu izleyin.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 (IoT)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Tüketici IoT için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varsayılan parola yok, güvenli güncelleme, hassas parametreleri güvenle sakla.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Geniş, uygulanabilir taban.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· örnek maddeler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parolalar (ortak varsayılan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güncellemelerini yönet.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Hassas güvenlik parametrelerini güvenle sakla</a:t>
            </a:r>
            <a:r>
              <a:rPr sz="2000" b="0">
                <a:solidFill>
                  <a:srgbClr val="1F2D3A"/>
                </a:solidFill>
              </a:rPr>
              <a:t> (→ projede S5/S7/S8).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operatör ekosistemi için güvenlik yönergeleri.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Cihaz, ağ, servis güvenliği.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SIM/eSIM, kimlik.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ödeme ekosistemi standartları (kartlar, terminaller, mobil ödeme).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güvenlik değerlendirmesi.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 (12. hafta).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DSS:</a:t>
            </a:r>
            <a:r>
              <a:rPr sz="2000" b="0">
                <a:solidFill>
                  <a:srgbClr val="1F2D3A"/>
                </a:solidFill>
              </a:rPr>
              <a:t> kart verisi işleyen sistemler için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MPoC/CPoC:</a:t>
            </a:r>
            <a:r>
              <a:rPr sz="2000" b="0">
                <a:solidFill>
                  <a:srgbClr val="1F2D3A"/>
                </a:solidFill>
              </a:rPr>
              <a:t> yazılım tabanlı ödeme kabulü.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Sıkı; laboratuvar değerlendirmesi.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Mobile Application Security Verification Standard.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Düzeyler: temel (L1), derinlemesine (L2), direnç (R).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MASVS · projeniz için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MASTG ile test edilir (12.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depolama, iletişim, kod kalitesi, direnç.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091601"/>
                <a:gridCol w="491019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 derinliği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Modül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EMVCo/PCI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güvenlik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Karşılaştırma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aynı kökü paylaşır: </a:t>
            </a:r>
            <a:r>
              <a:rPr sz="2000" b="1">
                <a:solidFill>
                  <a:srgbClr val="1F2D3A"/>
                </a:solidFill>
              </a:rPr>
              <a:t>yazılı, doğrulanabilir</a:t>
            </a:r>
            <a:r>
              <a:rPr sz="2000" b="0">
                <a:solidFill>
                  <a:srgbClr val="1F2D3A"/>
                </a:solidFill>
              </a:rPr>
              <a:t> gereksinim.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Fark: kapsam ve sıkılık.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en pratik başlangıç.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ETSI EN 303 645 kimin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MASVS neden projeniz için en uygun?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CC ile MASVS farkı?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Tüketici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cihazları için temel güvenlik (varsayılan parola yok, güncelleme, güvenli iletişim…).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Proje uygulama odaklı;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somut, kontrol edilebilir maddeler + </a:t>
            </a:r>
            <a:r>
              <a:rPr sz="2000" b="1">
                <a:solidFill>
                  <a:srgbClr val="1F2D3A"/>
                </a:solidFill>
              </a:rPr>
              <a:t>MASTG</a:t>
            </a:r>
            <a:r>
              <a:rPr sz="2000" b="0">
                <a:solidFill>
                  <a:srgbClr val="1F2D3A"/>
                </a:solidFill>
              </a:rPr>
              <a:t> test rehberi → doğrudan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CC</a:t>
            </a:r>
            <a:r>
              <a:rPr sz="2000" b="0">
                <a:solidFill>
                  <a:srgbClr val="1F2D3A"/>
                </a:solidFill>
              </a:rPr>
              <a:t> ağır, akredite laboratuvar/sertifika (EAL);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hafif, açık, geliştirici-dostu </a:t>
            </a:r>
            <a:r>
              <a:rPr sz="2000" b="1">
                <a:solidFill>
                  <a:srgbClr val="1F2D3A"/>
                </a:solidFill>
              </a:rPr>
              <a:t>öz-değerlendirme</a:t>
            </a:r>
            <a:r>
              <a:rPr sz="2000" b="0">
                <a:solidFill>
                  <a:srgbClr val="1F2D3A"/>
                </a:solidFill>
              </a:rPr>
              <a:t> standardı.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Gereksinimleri projeye aktarmak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aktarma kararı — şema</a:t>
            </a:r>
          </a:p>
        </p:txBody>
      </p:sp>
      <p:pic>
        <p:nvPicPr>
          <p:cNvPr id="7" name="Picture 6" descr="h13-02-gereksinim-ka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→ varlık → önlem</a:t>
            </a:r>
          </a:p>
        </p:txBody>
      </p:sp>
      <p:pic>
        <p:nvPicPr>
          <p:cNvPr id="7" name="Picture 6" descr="h13-05-gereksinim-blog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8470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2826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varlığa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yönetimiyle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S5 </a:t>
            </a:r>
            <a:r>
              <a:rPr sz="2000" b="1">
                <a:solidFill>
                  <a:srgbClr val="1F2D3A"/>
                </a:solidFill>
              </a:rPr>
              <a:t>varlık listesine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varlık: C/I/I+ etiketi, koruma önlemi.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Gereksinim, o korumayı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Plana aktarmak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gereksinim → tasarım/kod (S6–S11).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Güvence gereksinimi → test (S16).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 gereksinimi → geliştirme süreci (S13).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Dersin gereksinim aileleri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kendi kimlikleri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ders, açık standartlardan uyarlanmış kendi gereksinim ailelerini kullanır: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</a:t>
            </a:r>
            <a:r>
              <a:rPr sz="2000" b="1">
                <a:solidFill>
                  <a:srgbClr val="1F2D3A"/>
                </a:solidFill>
              </a:rPr>
              <a:t>AP</a:t>
            </a:r>
            <a:r>
              <a:rPr sz="2000" b="0">
                <a:solidFill>
                  <a:srgbClr val="1F2D3A"/>
                </a:solidFill>
              </a:rPr>
              <a:t> (uygulama koruma), </a:t>
            </a:r>
            <a:r>
              <a:rPr sz="2000" b="1">
                <a:solidFill>
                  <a:srgbClr val="1F2D3A"/>
                </a:solidFill>
              </a:rPr>
              <a:t>ID</a:t>
            </a:r>
            <a:r>
              <a:rPr sz="2000" b="0">
                <a:solidFill>
                  <a:srgbClr val="1F2D3A"/>
                </a:solidFill>
              </a:rPr>
              <a:t> (kimlik), </a:t>
            </a:r>
            <a:r>
              <a:rPr sz="2000" b="1">
                <a:solidFill>
                  <a:srgbClr val="1F2D3A"/>
                </a:solidFill>
              </a:rPr>
              <a:t>AS</a:t>
            </a:r>
            <a:r>
              <a:rPr sz="2000" b="0">
                <a:solidFill>
                  <a:srgbClr val="1F2D3A"/>
                </a:solidFill>
              </a:rPr>
              <a:t> (varlık), </a:t>
            </a:r>
            <a:r>
              <a:rPr sz="2000" b="1">
                <a:solidFill>
                  <a:srgbClr val="1F2D3A"/>
                </a:solidFill>
              </a:rPr>
              <a:t>DR/DU/DT</a:t>
            </a:r>
            <a:r>
              <a:rPr sz="2000" b="0">
                <a:solidFill>
                  <a:srgbClr val="1F2D3A"/>
                </a:solidFill>
              </a:rPr>
              <a:t> (veri: beklemede/kullanımda/aktarımda)…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 koruma (gizleme, 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ve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543"/>
                <a:gridCol w="4345800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Kullanımdaki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Raporlama/günlük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Geliştirme/süreç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aile → haftalara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 → 4, 5, 6, 9, 11, 14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CR/DR/DU/DT → 3,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 → 1,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DV/RP → 12,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bu ailelerden bir </a:t>
            </a:r>
            <a:r>
              <a:rPr sz="2000" b="1">
                <a:solidFill>
                  <a:srgbClr val="1F2D3A"/>
                </a:solidFill>
              </a:rPr>
              <a:t>alt küme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Uyum matrisi etkinliği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projenizden </a:t>
            </a:r>
            <a:r>
              <a:rPr sz="2000" b="1">
                <a:solidFill>
                  <a:srgbClr val="1F2D3A"/>
                </a:solidFill>
              </a:rPr>
              <a:t>beş gereksinim</a:t>
            </a:r>
            <a:r>
              <a:rPr sz="2000" b="0">
                <a:solidFill>
                  <a:srgbClr val="1F2D3A"/>
                </a:solidFill>
              </a:rPr>
              <a:t> seçin (farklı ailelerden).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bir </a:t>
            </a:r>
            <a:r>
              <a:rPr sz="2000" b="1">
                <a:solidFill>
                  <a:srgbClr val="1F2D3A"/>
                </a:solidFill>
              </a:rPr>
              <a:t>gereksinim bloğu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için matris satırı doldurun: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820379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636730"/>
                <a:gridCol w="1636730"/>
                <a:gridCol w="2364165"/>
                <a:gridCol w="163673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 </a:t>
            </a:r>
            <a:r>
              <a:rPr sz="2000" b="1">
                <a:solidFill>
                  <a:srgbClr val="1F2D3A"/>
                </a:solidFill>
              </a:rPr>
              <a:t>devredilen</a:t>
            </a:r>
            <a:r>
              <a:rPr sz="2000" b="0">
                <a:solidFill>
                  <a:srgbClr val="1F2D3A"/>
                </a:solidFill>
              </a:rPr>
              <a:t> olarak yazın (kime/neden/nasıl).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birinin </a:t>
            </a:r>
            <a:r>
              <a:rPr sz="2000" b="1">
                <a:solidFill>
                  <a:srgbClr val="1F2D3A"/>
                </a:solidFill>
              </a:rPr>
              <a:t>kanıtını</a:t>
            </a:r>
            <a:r>
              <a:rPr sz="2000" b="0">
                <a:solidFill>
                  <a:srgbClr val="1F2D3A"/>
                </a:solidFill>
              </a:rPr>
              <a:t> somut gösterin.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"karşılanmadı" varsa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gözüyle kontrol: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hangi iki şeye bağlanır?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Dersin gereksinim ailelerinden üçünü sayın.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Uyum matrisinde her satırda ne olmalı?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Yukarıda </a:t>
            </a:r>
            <a:r>
              <a:rPr sz="2000" b="1">
                <a:solidFill>
                  <a:srgbClr val="1F2D3A"/>
                </a:solidFill>
              </a:rPr>
              <a:t>kaynağa</a:t>
            </a:r>
            <a:r>
              <a:rPr sz="2000" b="0">
                <a:solidFill>
                  <a:srgbClr val="1F2D3A"/>
                </a:solidFill>
              </a:rPr>
              <a:t> (tehdit/standart/varlık) ve aşağıda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(test/kod) — iki yön.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(15 aileden herhangi üçü) ör. </a:t>
            </a:r>
            <a:r>
              <a:rPr sz="2000" b="1">
                <a:solidFill>
                  <a:srgbClr val="1F2D3A"/>
                </a:solidFill>
              </a:rPr>
              <a:t>veri güvenliği · kod sağlamlaştırma · RASP · kriptografi/sertifika · bellek koruması · arayüz koruması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Gereksinim </a:t>
            </a:r>
            <a:r>
              <a:rPr sz="2000" b="1">
                <a:solidFill>
                  <a:srgbClr val="1F2D3A"/>
                </a:solidFill>
              </a:rPr>
              <a:t>ID+ifade · durum</a:t>
            </a:r>
            <a:r>
              <a:rPr sz="2000" b="0">
                <a:solidFill>
                  <a:srgbClr val="1F2D3A"/>
                </a:solidFill>
              </a:rPr>
              <a:t> (karşılandı/devredildi) </a:t>
            </a:r>
            <a:r>
              <a:rPr sz="2000" b="1">
                <a:solidFill>
                  <a:srgbClr val="1F2D3A"/>
                </a:solidFill>
              </a:rPr>
              <a:t>· kanıt</a:t>
            </a:r>
            <a:r>
              <a:rPr sz="2000" b="0">
                <a:solidFill>
                  <a:srgbClr val="1F2D3A"/>
                </a:solidFill>
              </a:rPr>
              <a:t> (test/dosya/S-bölümü). </a:t>
            </a:r>
            <a:r>
              <a:rPr sz="2000" b="1">
                <a:solidFill>
                  <a:srgbClr val="1F2D3A"/>
                </a:solidFill>
              </a:rPr>
              <a:t>Kanıtsız satır 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Proje ve kapanış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S14 ve S17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S17 uyum matrisi:</a:t>
            </a:r>
            <a:r>
              <a:rPr sz="2000" b="0">
                <a:solidFill>
                  <a:srgbClr val="1F2D3A"/>
                </a:solidFill>
              </a:rPr>
              <a:t> uygulanan her gereksinim için durum, bölüm, doğrulama, kanıt.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S14 devredilenler:</a:t>
            </a:r>
            <a:r>
              <a:rPr sz="2000" b="0">
                <a:solidFill>
                  <a:srgbClr val="1F2D3A"/>
                </a:solidFill>
              </a:rPr>
              <a:t> kime, neden, nasıl.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 = karşılanmamış.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ve gerekçeli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doğrulanabilir mi?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güvenlik gereksiniminin dört ölçütü?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Doğrulanabilir, tekil, ölçülebilir, gerçekçi.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"Uygulama güvenli olmalıdır" neden kötü? Nasıl düzeltilir?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Doğrulanamaz. Ölçülebilir yazılır: ör. "sürüm derlemesi yığın koruyucu, PIE ve tam RELRO ile üretilir".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İzlenebilirlik zinciri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Gereksinim → önlem → doğrulama → kanıt. Her gereksinim bir kanıta bağlanır.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kanıtsız "karşılandı"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Değerlendirici için karşılanmamış sayılır; ilk bulgulardan biridir.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devrederken hangi üç soru yanıtlanır?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Kime, neden, nasıl. Sessiz devretme "karşılanmadı" sayılır.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 ile PP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ST tek ürünün güvenlik hedefi; PP bir ürün sınıfı için ortak gereksinim seti. ST genelde bir PP'yi temel alır.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EAL2'den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EAL değerlendirmenin derinliğidir; güvenlik ST'deki tehdit ve amaçlara bağlıdır. "+" ek güvence bileşenidir.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FIPS doğrulanmış kütüphane kullanan uygulama FIPS uyumlu mudur?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başına değil. Doğrulama modülü kapsar; uygulama onaylı kipte, doğru kullanmalı, anahtarları doğru yönetmeli.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ETSI EN 303 645'in "hassas parametreleri güvenle sakla" maddesi projede nereye karşılık gelir?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S5 varlık listesi, S7 veri güvenliği/kabuk matrisi, S8 anahtar yaşam döngüsü.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kütüphane "güvenli güncelleme" gereksinimini karşılayamıyorsa?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Üst uygulamaya devreder ve kılavuzda kime/neden/nasıl karşılanacağını yazar.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3173"/>
                <a:gridCol w="640836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gereksinim türü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İzlenebilirlik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Gereksinim→kanıt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tarafa aktarılan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TOE/ST/PP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 temel kavramları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SFR/SAR/EAL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İşlevsel/güvence/derinlik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yazılı, doğrulanabilir, izlenebilir</a:t>
            </a:r>
            <a:r>
              <a:rPr sz="2000" b="0">
                <a:solidFill>
                  <a:srgbClr val="1F2D3A"/>
                </a:solidFill>
              </a:rPr>
              <a:t> gereksinimlerle yönetilir; her gereksinim bir önleme, teste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bağlanır, karşılanamayan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14. hafta — Tigress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Gizleme kurallarının otomatik, çeşitlendirilmiş uygulaması; ölçme ve derleme hattı.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uyum matrisi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NotKasa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uygulama: yerel şifreli not tutar, sunucuyla konuşur, güncellenir.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Birkaç gereksinim seçip matris satırı yazalım.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Gereksinimin doğuşu · tehditten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Tehdit: cihaz çalınırsa yerel notlar okunur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Amaç: beklemede gizlilik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Gereksinim: C sınıfı veri AEAD ile şifrelenir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havadan gelmez; </a:t>
            </a:r>
            <a:r>
              <a:rPr sz="2000" b="1">
                <a:solidFill>
                  <a:srgbClr val="1F2D3A"/>
                </a:solidFill>
              </a:rPr>
              <a:t>tehditten</a:t>
            </a:r>
            <a:r>
              <a:rPr sz="2000" b="0">
                <a:solidFill>
                  <a:srgbClr val="1F2D3A"/>
                </a:solidFill>
              </a:rPr>
              <a:t> türer.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DR-01 (beklemede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CEN429-DR-01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AES-256-GCM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 (S16)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CR-02 (kripto)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CEN429-CR-02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Anahtarların amacı, kripto-periyodu, imhası belgelenir.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S8 anahtar tablosu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belge incelemesi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S8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DT-03 (aktarımda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CEN429-DT-03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Sunucu iletişimi TLS 1.3 ve sertifika zinciri doğrulaması kullanır.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TLS 1.3 + SAN denetimi + SPKI pin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T-11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+ S11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AP-04 (uygulama koruma) — devredilen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CEN429-AP-04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Güvenli kurulum ve güncelleme sağlanır.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AS-05 —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CEN429-AS-05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Tüm hassas varlıklar için bellek izleme tespiti.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Karşılanmadı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Kalan risk: köklü cihazda canlı bellek analizi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Azaltma: kısa ömürlü anahtar + sunucu denetimi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Matris · toplu görünüm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6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909742"/>
                <a:gridCol w="1636730"/>
                <a:gridCol w="254602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CR-02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DT-03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Matristen okunanlar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karşılandı (kanıtlı), bir devredildi, bir kalan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 izlenebilir.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tablodan başlar.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Standart eşleme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gereksinim, çok standart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 birden çok standarda bağlanabilir:</a:t>
            </a:r>
          </a:p>
        </p:txBody>
      </p:sp>
      <p:pic>
        <p:nvPicPr>
          <p:cNvPr id="8" name="Picture 7" descr="h13-10-uyum-matr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875536"/>
            <a:ext cx="7672173" cy="3039522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neden yararlı?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kez karşılarsınız, birçok standardı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sağlarsınız.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standart sütunu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 değişse bile iş tekrarlanmaz.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Eşleme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1454871"/>
                <a:gridCol w="2000448"/>
                <a:gridCol w="127301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A–B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tehditten türer, blok olarak yazılır, matrise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çok standardı karşılayabilir.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 olmadan hiçbir satır "karşılandı" değildir.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Gereksinim aileleri detay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 · uygulama koruma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"Hassas fonksiyonlar gizlenir ve bütünlük denetimiyle korunur."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6, 9, 11, 14.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gizleme ölçümü + RASP testi.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ID · kimlik ve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"Cihaz ve sürüm, anahtar kullanımına bağlanır."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6, 11.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cihaz bağlama testi.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varlık C/I/I+ ile etiketlenir ve yaşam döngüsü belgelenir."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1, 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S5 varlık listesi.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DR/DU/DT ·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 (beklemede):</a:t>
            </a:r>
            <a:r>
              <a:rPr sz="2000" b="0">
                <a:solidFill>
                  <a:srgbClr val="1F2D3A"/>
                </a:solidFill>
              </a:rPr>
              <a:t> "Yerel veri AEAD ile şifreli."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 (kullanımda):</a:t>
            </a:r>
            <a:r>
              <a:rPr sz="2000" b="0">
                <a:solidFill>
                  <a:srgbClr val="1F2D3A"/>
                </a:solidFill>
              </a:rPr>
              <a:t> "Anahtar kullanımdan sonra silinir."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DT (aktarımda):</a:t>
            </a:r>
            <a:r>
              <a:rPr sz="2000" b="0">
                <a:solidFill>
                  <a:srgbClr val="1F2D3A"/>
                </a:solidFill>
              </a:rPr>
              <a:t> "TLS 1.3 + zincir doğrulama."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"Onaylı algoritma, kip ve anahtar uzunluğu; anahtar hiyerarşisi belgeli."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3, 10.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algoritma envanteri.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RP · raporlama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"Sürümde hassas veri düz loglanmaz."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günlük denetimi.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DV · geliştirme/süreç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değişiklik birleştirilmeden önce incelenir; SBOM güncellenir."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5, 12, 13.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süreç kayıtları, SBOM.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Aileden gereksinime ·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her aileden </a:t>
            </a:r>
            <a:r>
              <a:rPr sz="2000" b="1">
                <a:solidFill>
                  <a:srgbClr val="1F2D3A"/>
                </a:solidFill>
              </a:rPr>
              <a:t>en az bir</a:t>
            </a:r>
            <a:r>
              <a:rPr sz="2000" b="0">
                <a:solidFill>
                  <a:srgbClr val="1F2D3A"/>
                </a:solidFill>
              </a:rPr>
              <a:t> gereksinim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tehditten türer, blok olarak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Matrise girer, kanıtla bağlanır.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Sık yapılan hatalar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doğrulanamaz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 olmalı" gibi ölçülemez ifade.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somut, test edilebilir madde.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kanıt sütunu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karşılanmamış sayar.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sessiz devretme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Karşılanamayan gereksinimi yazmamak.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kime/neden/nasıl (S14).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EAL'i güvenlik miktarı sanmak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 &gt; EAL2 daha güvenli" yanlış.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derinliktir; güvenlik ST'ye bağlı.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FIPS'li kütüphane = FIPS uyumlu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 doğrulanmış olsa da uygulama doğru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Onaylı kip + doğru anahtar yönetimi.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riski boş bırakmak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gereksinim, tehditten doğar; bir önleme, bir teste ve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bağlanır; karşılanamıyorsa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 Uyum matrisi bu zincirin haritasıdır.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13 — Güvenlik Gereksinimleri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