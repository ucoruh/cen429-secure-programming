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güvenlik gereksinimlerini okuyup kendi projemize eşlemeyi öğreniyoruz: gereksinim, durum, kanıt.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güvenlik gereksinimlerini okuyup kendi projemize eşlemeyi öğreniyoruz: gereksinim → önlem → doğrulama → kanıt. Sıfır ön bilgi; her terimi tanımlayacağız.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"Uygulama kullanıcı verisini korumalıdır." cümlesi üzerinde altı adımı canlı çalıştırın — her adımda hangi kelimenin eklendiğini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çok kısa bir cümle bile altı adımın tamamını gerektirir — tek bir belirsiz kelime onu test edilemez kılmaya yeter.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`02-requirement-quality` demo aracı — örnek cümlelerde hangi kuralın (belirsiz ifade, ölçülebilir dayanak yok) ateşlendiğini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belirsiz değil ama sayı ya da somut teknik terim yok — yalnız "ölçülebilir dayanak yok" kuralı bile yetiyor.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gerçek compliance_matrix.c kuralı — kanıt sütunu boş bir "karşılandı" ya da "devredildi" satırı boşluktur, satır satır taranır.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bilerek gerçekçi olmayan bir matris — bulgu mesajının her satırda tekrarlanma desenini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gereksinim bloğu ve devredilenler.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aynı [Aile] Kimlik — Durum bloğunu bir karşılandı ve bir devredildi gereksinim için doldurun; üç devir sorusunun bir bir cevaplandığını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"kime" ve "nasıl" cevaplanmış ama "neden" boş — yine de eksik bir blok, yine de bir bulgu.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Ortak Kriterler ve FIPS.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hedef EAL seçin ve SAR merdiveninin EAL1'den yukarı nasıl dolduğunu izleyin — her düzey bir öncekinin gereksinimlerini korur.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biçimsel doğrulanmış tasarım — çok yüksek risk, küçük sistemler; dönem projesi için hemen hiçbir zaman doğru hedef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dört düzey kümülatif — her düzeyin bir alttakinin üstüne ne eklediğini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kurcalamaya düşman bir saha cihazı — çoğu öğrenci projesinde Düzey 4 için tek gerçekçi durum "buna ihtiyacımız yok"tur.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sektör standartları.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EMVCo'nun kendi aile listesi bizimkine neredeyse birebir denk — GSMA sütununun neden çoğunlukla boş kaldığını izleyin (ürünü değil tesisi denetler).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matristeki her "boşluk" bir hata değildir — bazen standart yalnızca farklı bir soru soruyordur.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gereksinimleri projeye aktarma.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CEN429-CR-03'ü "uygulanır mı?" sorusundan sürüm planındaki bir göreve kadar, altı adımın tamamında canlı çalıştırın.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adım tek başına süreci bitirebilir — ama yalnız gerekçe yazılıysa, hiçbir zaman sessizce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2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Güvenlik Gereksinimleri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11.12.2026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Bugün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706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612"/>
                <a:gridCol w="761269"/>
                <a:gridCol w="9050653"/>
              </a:tblGrid>
              <a:tr h="370697">
                <a:tc>
                  <a:txBody>
                    <a:bodyPr wrap="square"/>
                    <a:lstStyle/>
                    <a:p>
                      <a:r>
                        <a:rPr sz="1152" b="1">
                          <a:solidFill>
                            <a:srgbClr val="FFFFFF"/>
                          </a:solidFill>
                        </a:rPr>
                        <a:t>Zaman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1">
                          <a:solidFill>
                            <a:srgbClr val="FFFFFF"/>
                          </a:solidFill>
                        </a:rPr>
                        <a:t>Ne yapılıyor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0:00–0:20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Gereksinim nedir, iyi gereksinim nasıl yazılır?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0:20–0:50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Gereksinimden kanıta izlenebilirlik; gereksinim bloğu kalıbı ve devredilen gereksinimler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0:50–1:00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Ara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1:00–1:30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Ortak Kriterler: TOE, ST, PP, SFR/SAR, EAL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1:30–1:50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FIPS 140-3 ve kriptografik modül doğrulaması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1:50–2:00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Ara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2:00–2:25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ETSI, GSMA, EMVCo, PCI MPoC, OWASP MASVS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697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2:25–2:50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7–8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Gereksinimleri plana ve varlık yönetimine aktarmak; dersin gereksinim aileleri — uyum matrisi etkinliği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704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2:50–3:00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9+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Proje adımı (S14, S17), kendini sınama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42585"/>
            <a:ext cx="10911535" cy="638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2D3A"/>
                </a:solidFill>
              </a:rPr>
              <a:t>Öğrenme çıktıları (ÖÇ.5, 7):</a:t>
            </a:r>
            <a:r>
              <a:rPr sz="1600" b="0">
                <a:solidFill>
                  <a:srgbClr val="1F2D3A"/>
                </a:solidFill>
              </a:rPr>
              <a:t> iyi bir güvenlik gereksinimini kötüsünden ayırmak · izlenebilirlik/uyum matrisi kurmak · CC, FIPS, ETSI, EMVCo, PCI, MASVS'in ne istediğini karşılaştırmak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Önceki haftalardan gelenler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4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Varlık, tehdit ve uygulama koruma planı</a:t>
            </a:r>
            <a:r>
              <a:rPr sz="2000" b="0">
                <a:solidFill>
                  <a:srgbClr val="1F2D3A"/>
                </a:solidFill>
              </a:rPr>
              <a:t> — bir yazılımın güvenliğini yöneten yazılı plan: kapsam, mimari, varlıklar, tehditler, karşı önlemler, doğrulama, kalan risk; her varlığın nerede durduğu, ne zaman oluşup silindiği ve hangi korumayı (C/I) gerektirdiği bir </a:t>
            </a:r>
            <a:r>
              <a:rPr sz="2000" b="1">
                <a:solidFill>
                  <a:srgbClr val="1F2D3A"/>
                </a:solidFill>
              </a:rPr>
              <a:t>varlık tablosunda</a:t>
            </a:r>
            <a:r>
              <a:rPr sz="2000" b="0">
                <a:solidFill>
                  <a:srgbClr val="1F2D3A"/>
                </a:solidFill>
              </a:rPr>
              <a:t> listelenir </a:t>
            </a:r>
            <a:r>
              <a:rPr sz="2000" b="1">
                <a:solidFill>
                  <a:srgbClr val="1F2D3A"/>
                </a:solidFill>
              </a:rPr>
              <a:t>(Hafta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Bağımsız değerlendirme, bulgu ve kanıt</a:t>
            </a:r>
            <a:r>
              <a:rPr sz="2000" b="0">
                <a:solidFill>
                  <a:srgbClr val="1F2D3A"/>
                </a:solidFill>
              </a:rPr>
              <a:t> — bir ürünün geliştiricisi değil bağımsız bir laboratuvarın kanıta dayalı yürüttüğü değerlendirme süreci; değerlendiricinin belgelediği her eksiklik bir </a:t>
            </a:r>
            <a:r>
              <a:rPr sz="2000" b="1">
                <a:solidFill>
                  <a:srgbClr val="1F2D3A"/>
                </a:solidFill>
              </a:rPr>
              <a:t>bulgudur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(Hafta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2988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hafta: varlık tablosunu her gereksinime bağlıyoruz, bağımsız değerlendirme disiplinini "gereksinimden kanıta izlenebilirlik zinciri" olarak kullanıyoruz — çıktı, projenizin </a:t>
            </a:r>
            <a:r>
              <a:rPr sz="2000" b="1">
                <a:solidFill>
                  <a:srgbClr val="1F2D3A"/>
                </a:solidFill>
              </a:rPr>
              <a:t>uyum matrisi (S17)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devredilenler (S14)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Bu haftanın kavramları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03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F2D3A"/>
                </a:solidFill>
              </a:rPr>
              <a:t>Her terim, gövdede ilk geçtiği yerde tanımlanır; burada yalnız </a:t>
            </a:r>
            <a:r>
              <a:rPr sz="1700" b="1">
                <a:solidFill>
                  <a:srgbClr val="1F2D3A"/>
                </a:solidFill>
              </a:rPr>
              <a:t>nerede</a:t>
            </a:r>
            <a:r>
              <a:rPr sz="1700" b="0">
                <a:solidFill>
                  <a:srgbClr val="1F2D3A"/>
                </a:solidFill>
              </a:rPr>
              <a:t> olduğunu işaretliyoruz.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6006"/>
          <a:ext cx="6728778" cy="4190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2000447"/>
              </a:tblGrid>
              <a:tr h="322361"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Üç tür gereksinim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İyi ve kötü 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İzlenebilirlik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Uyum matrisi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Gereksinim durumları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Devredilen 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Ortak Kriterler (CC)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TOE, ST, 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SFR, SAR, EAL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Sektör standartları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Bölüm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İyi gereksinim nasıl yazılır?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(1) — temel standartlar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145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1983/1985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TCSEC</a:t>
            </a:r>
            <a:r>
              <a:rPr sz="1800" b="0">
                <a:solidFill>
                  <a:srgbClr val="1F2D3A"/>
                </a:solidFill>
              </a:rPr>
              <a:t> (Orange Book), ABD Savunma Bakanlığı'nın gereksinim düzeylerine ilk girişimi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1984/1998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IEEE 830</a:t>
            </a:r>
            <a:r>
              <a:rPr sz="1800" b="0">
                <a:solidFill>
                  <a:srgbClr val="1F2D3A"/>
                </a:solidFill>
              </a:rPr>
              <a:t>, herhangi bir yazılım gereksinim belirtimini nasıl yazacağını anlatır → yerini </a:t>
            </a:r>
            <a:r>
              <a:rPr sz="1800" b="1">
                <a:solidFill>
                  <a:srgbClr val="1F2D3A"/>
                </a:solidFill>
              </a:rPr>
              <a:t>ISO/IEC/IEEE 29148</a:t>
            </a:r>
            <a:r>
              <a:rPr sz="1800" b="0">
                <a:solidFill>
                  <a:srgbClr val="1F2D3A"/>
                </a:solidFill>
              </a:rPr>
              <a:t>'e bırakır (</a:t>
            </a:r>
            <a:r>
              <a:rPr sz="1800" b="1">
                <a:solidFill>
                  <a:srgbClr val="1F2D3A"/>
                </a:solidFill>
              </a:rPr>
              <a:t>2011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1991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ITSEC</a:t>
            </a:r>
            <a:r>
              <a:rPr sz="1800" b="0">
                <a:solidFill>
                  <a:srgbClr val="1F2D3A"/>
                </a:solidFill>
              </a:rPr>
              <a:t>, Avrupa'nın kendi değerlendirme ölçütü (TCSEC'e paralel)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010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Gereksinim mühendisliği güvenlik sertifikasyonundan daha eskidir — güvenlik yalnız "ve bunu bağımsız kanıtla" ekler.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(2) — sertifikasyon ve sektör standartları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1994 → 1998 → 1999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Ortak Kriterler</a:t>
            </a:r>
            <a:r>
              <a:rPr sz="1800" b="0">
                <a:solidFill>
                  <a:srgbClr val="1F2D3A"/>
                </a:solidFill>
              </a:rPr>
              <a:t> v1.0 → v2.0 → </a:t>
            </a:r>
            <a:r>
              <a:rPr sz="1800" b="1">
                <a:solidFill>
                  <a:srgbClr val="1F2D3A"/>
                </a:solidFill>
              </a:rPr>
              <a:t>ISO/IEC 15408</a:t>
            </a:r>
            <a:r>
              <a:rPr sz="1800" b="0">
                <a:solidFill>
                  <a:srgbClr val="1F2D3A"/>
                </a:solidFill>
              </a:rPr>
              <a:t> (bugün de gözden geçiriliyor: </a:t>
            </a:r>
            <a:r>
              <a:rPr sz="1800" b="1">
                <a:solidFill>
                  <a:srgbClr val="1F2D3A"/>
                </a:solidFill>
              </a:rPr>
              <a:t>CC:2022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1994 → 2001 → 2019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FIPS 140-1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1">
                <a:solidFill>
                  <a:srgbClr val="1F2D3A"/>
                </a:solidFill>
              </a:rPr>
              <a:t>140-2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1">
                <a:solidFill>
                  <a:srgbClr val="1F2D3A"/>
                </a:solidFill>
              </a:rPr>
              <a:t>140-3</a:t>
            </a:r>
            <a:r>
              <a:rPr sz="1800" b="0">
                <a:solidFill>
                  <a:srgbClr val="1F2D3A"/>
                </a:solidFill>
              </a:rPr>
              <a:t>, kriptografik modül gereksinimleri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PCI DSS</a:t>
            </a:r>
            <a:r>
              <a:rPr sz="1800" b="0">
                <a:solidFill>
                  <a:srgbClr val="1F2D3A"/>
                </a:solidFill>
              </a:rPr>
              <a:t> (ödeme) · </a:t>
            </a:r>
            <a:r>
              <a:rPr sz="1800" b="1">
                <a:solidFill>
                  <a:srgbClr val="1F2D3A"/>
                </a:solidFill>
              </a:rPr>
              <a:t>2009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OWASP ASVS</a:t>
            </a:r>
            <a:r>
              <a:rPr sz="1800" b="0">
                <a:solidFill>
                  <a:srgbClr val="1F2D3A"/>
                </a:solidFill>
              </a:rPr>
              <a:t> (web) · </a:t>
            </a:r>
            <a:r>
              <a:rPr sz="1800" b="1">
                <a:solidFill>
                  <a:srgbClr val="1F2D3A"/>
                </a:solidFill>
              </a:rPr>
              <a:t>2016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OWASP MASVS</a:t>
            </a:r>
            <a:r>
              <a:rPr sz="1800" b="0">
                <a:solidFill>
                  <a:srgbClr val="1F2D3A"/>
                </a:solidFill>
              </a:rPr>
              <a:t> (mobil)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5292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Değişmeyen ilke: gereksinim </a:t>
            </a:r>
            <a:r>
              <a:rPr sz="1800" b="1">
                <a:solidFill>
                  <a:srgbClr val="1F2D3A"/>
                </a:solidFill>
              </a:rPr>
              <a:t>ölçülebilir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izlenebilir</a:t>
            </a:r>
            <a:r>
              <a:rPr sz="1800" b="0">
                <a:solidFill>
                  <a:srgbClr val="1F2D3A"/>
                </a:solidFill>
              </a:rPr>
              <a:t> olmalı; kanıtsız "karşılandı" geçersizdir.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(requirement)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Gereksinim:</a:t>
            </a:r>
            <a:r>
              <a:rPr sz="2000" b="0">
                <a:solidFill>
                  <a:srgbClr val="1F2D3A"/>
                </a:solidFill>
              </a:rPr>
              <a:t> sistemin </a:t>
            </a:r>
            <a:r>
              <a:rPr sz="2000" b="1">
                <a:solidFill>
                  <a:srgbClr val="1F2D3A"/>
                </a:solidFill>
              </a:rPr>
              <a:t>karşılaması gereken</a:t>
            </a:r>
            <a:r>
              <a:rPr sz="2000" b="0">
                <a:solidFill>
                  <a:srgbClr val="1F2D3A"/>
                </a:solidFill>
              </a:rPr>
              <a:t> bir koşul.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gereksinimi: bir güvenlik koşulu.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gereksinim </a:t>
            </a:r>
            <a:r>
              <a:rPr sz="2000" b="1">
                <a:solidFill>
                  <a:srgbClr val="1F2D3A"/>
                </a:solidFill>
              </a:rPr>
              <a:t>doğrulanabilir</a:t>
            </a:r>
            <a:r>
              <a:rPr sz="2000" b="0">
                <a:solidFill>
                  <a:srgbClr val="1F2D3A"/>
                </a:solidFill>
              </a:rPr>
              <a:t> (test edilebilir).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gereksinim ölçütleri — şema</a:t>
            </a:r>
          </a:p>
        </p:txBody>
      </p:sp>
      <p:pic>
        <p:nvPicPr>
          <p:cNvPr id="7" name="Picture 6" descr="h13-03-iyi-gereksin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679" y="1325880"/>
            <a:ext cx="68903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tür (hatırlatma)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548"/>
                <a:gridCol w="4052855"/>
                <a:gridCol w="498813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İşlevsel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Hangi güvenlik işlevi?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Hassas veri AEAD ile korunur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 mu yapıldı?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Statik analiz + test raporu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Kurum nasıl çalışır?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değişiklik incelenir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gereksinim ölçütleri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Doğrulanabilir:</a:t>
            </a:r>
            <a:r>
              <a:rPr sz="2000" b="0">
                <a:solidFill>
                  <a:srgbClr val="1F2D3A"/>
                </a:solidFill>
              </a:rPr>
              <a:t> test edilebilir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Tekil:</a:t>
            </a:r>
            <a:r>
              <a:rPr sz="2000" b="0">
                <a:solidFill>
                  <a:srgbClr val="1F2D3A"/>
                </a:solidFill>
              </a:rPr>
              <a:t> tek bir şey mi söylüyor?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Ölçülebilir:</a:t>
            </a:r>
            <a:r>
              <a:rPr sz="2000" b="0">
                <a:solidFill>
                  <a:srgbClr val="1F2D3A"/>
                </a:solidFill>
              </a:rPr>
              <a:t> somut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Gerçekçi:</a:t>
            </a:r>
            <a:r>
              <a:rPr sz="2000" b="0">
                <a:solidFill>
                  <a:srgbClr val="1F2D3A"/>
                </a:solidFill>
              </a:rPr>
              <a:t> uygulanabilir mi?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"Uygulama güvenli olmalıdır."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"Sürüm derlemesi yığın koruyucu, PIE ve tam RELRO ile üretilmelidir."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Neden iyi? </a:t>
            </a:r>
            <a:r>
              <a:rPr sz="2000" b="1">
                <a:solidFill>
                  <a:srgbClr val="1F2D3A"/>
                </a:solidFill>
              </a:rPr>
              <a:t>Test edilebilir</a:t>
            </a:r>
            <a:r>
              <a:rPr sz="2000" b="0">
                <a:solidFill>
                  <a:srgbClr val="1F2D3A"/>
                </a:solidFill>
              </a:rPr>
              <a:t> (checksec).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gereksinim — şema</a:t>
            </a:r>
          </a:p>
        </p:txBody>
      </p:sp>
      <p:pic>
        <p:nvPicPr>
          <p:cNvPr id="7" name="Picture 6" descr="h13-04-kotu-i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884" y="1325880"/>
            <a:ext cx="84659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"Veriler şifrelenmelidir."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"C sınıfı her varlık beklemede ≥128 bit düzeyinde AEAD ile şifrelenmelidir."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Neden iyi? Hangi veri, hangi düzey, hangi yöntem belli.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"Anahtarlar iyi yönetilmelidir."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"(1) Her anahtarın amacı, kripto-periyodu ve imhası belgelenir. (2) İş bitince bellekten silinir."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Tekil, doğrulanabilir maddeler.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kötü gereksinimi iyileştirmek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Başlangıç cümlesi (gerçek bir taslaktan):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"Uygulama, kullanıcı verilerini korumalıdır."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cümleyi altı adımda iyi bir gereksinime dönüştüreceğiz; her adımda </a:t>
            </a:r>
            <a:r>
              <a:rPr sz="2000" b="1">
                <a:solidFill>
                  <a:srgbClr val="1F2D3A"/>
                </a:solidFill>
              </a:rPr>
              <a:t>önce/sonra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neden değişti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— Belirsiz kelimeleri işaretleyin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Önce:</a:t>
            </a:r>
            <a:r>
              <a:rPr sz="2000" b="0">
                <a:solidFill>
                  <a:srgbClr val="1F2D3A"/>
                </a:solidFill>
              </a:rPr>
              <a:t> "Uygulama, kullanıcı verilerini korumalıdır."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Belirsiz kelimeler: "kullanıcı verileri" (hangi veri?), "korumalıdır" (neye karşı, hangi düzeyde?).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 değişti:</a:t>
            </a:r>
            <a:r>
              <a:rPr sz="2000" b="0">
                <a:solidFill>
                  <a:srgbClr val="1F2D3A"/>
                </a:solidFill>
              </a:rPr>
              <a:t> değerlendirici bu cümleyi okuyunca test edecek hiçbir şey bulamaz.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— Varlık tablosuna bağlayın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5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Sonra:</a:t>
            </a:r>
            <a:r>
              <a:rPr sz="2000" b="0">
                <a:solidFill>
                  <a:srgbClr val="1F2D3A"/>
                </a:solidFill>
              </a:rPr>
              <a:t> "Yerel veritabanındaki </a:t>
            </a:r>
            <a:r>
              <a:rPr sz="2000" b="1">
                <a:solidFill>
                  <a:srgbClr val="1F2D3A"/>
                </a:solidFill>
              </a:rPr>
              <a:t>C sınıfı</a:t>
            </a:r>
            <a:r>
              <a:rPr sz="2000" b="0">
                <a:solidFill>
                  <a:srgbClr val="1F2D3A"/>
                </a:solidFill>
              </a:rPr>
              <a:t> alanlar korunmalıdır."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 değişti:</a:t>
            </a:r>
            <a:r>
              <a:rPr sz="2000" b="0">
                <a:solidFill>
                  <a:srgbClr val="1F2D3A"/>
                </a:solidFill>
              </a:rPr>
              <a:t> "kullanıcı verileri" tek şey değil; varlık tablosunda (1. hafta) ayrı satırlardır — oturum belirteci, profil, ödeme jetonu... her biri farklı sınıfta.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Hâlâ "korunmalı" ölçülemez → sıradaki adım.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— Koruma hedefini netleştirin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Sonra:</a:t>
            </a:r>
            <a:r>
              <a:rPr sz="2000" b="0">
                <a:solidFill>
                  <a:srgbClr val="1F2D3A"/>
                </a:solidFill>
              </a:rPr>
              <a:t> "...C sınıfı alanların </a:t>
            </a:r>
            <a:r>
              <a:rPr sz="2000" b="1">
                <a:solidFill>
                  <a:srgbClr val="1F2D3A"/>
                </a:solidFill>
              </a:rPr>
              <a:t>gizliliği ve bütünlüğü</a:t>
            </a:r>
            <a:r>
              <a:rPr sz="2000" b="0">
                <a:solidFill>
                  <a:srgbClr val="1F2D3A"/>
                </a:solidFill>
              </a:rPr>
              <a:t> korunmalıdır."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 değişti:</a:t>
            </a:r>
            <a:r>
              <a:rPr sz="2000" b="0">
                <a:solidFill>
                  <a:srgbClr val="1F2D3A"/>
                </a:solidFill>
              </a:rPr>
              <a:t> tehdit modeli hem "dosyayı okuma" (gizlilik) hem "dosyayı değiştirme" (bütünlük) riskini gösteriyor; ikisi de aynı anda gerekli.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— Ölçülebilir teknik kriter ekleyin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Sonra:</a:t>
            </a:r>
            <a:r>
              <a:rPr sz="2000" b="0">
                <a:solidFill>
                  <a:srgbClr val="1F2D3A"/>
                </a:solidFill>
              </a:rPr>
              <a:t> "...kimlik doğrulamalı şifrelemeyle (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) korunmalıdır."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 değişti:</a:t>
            </a:r>
            <a:r>
              <a:rPr sz="2000" b="0">
                <a:solidFill>
                  <a:srgbClr val="1F2D3A"/>
                </a:solidFill>
              </a:rPr>
              <a:t> 9. hafta kuralı — gizlilik ve bütünlük </a:t>
            </a:r>
            <a:r>
              <a:rPr sz="2000" b="1">
                <a:solidFill>
                  <a:srgbClr val="1F2D3A"/>
                </a:solidFill>
              </a:rPr>
              <a:t>aynı anda</a:t>
            </a:r>
            <a:r>
              <a:rPr sz="2000" b="0">
                <a:solidFill>
                  <a:srgbClr val="1F2D3A"/>
                </a:solidFill>
              </a:rPr>
              <a:t> isteniyorsa doğru araç sınıfı AEAD'dir; hâlâ belirli bir kütüphane adı verilmiyor.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— Durum ve zorunluluk sözcüğünü ekleyin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Sonra:</a:t>
            </a:r>
            <a:r>
              <a:rPr sz="2000" b="0">
                <a:solidFill>
                  <a:srgbClr val="1F2D3A"/>
                </a:solidFill>
              </a:rPr>
              <a:t> "</a:t>
            </a:r>
            <a:r>
              <a:rPr sz="2000" b="1">
                <a:solidFill>
                  <a:srgbClr val="1F2D3A"/>
                </a:solidFill>
              </a:rPr>
              <a:t>Beklemedeki</a:t>
            </a:r>
            <a:r>
              <a:rPr sz="2000" b="0">
                <a:solidFill>
                  <a:srgbClr val="1F2D3A"/>
                </a:solidFill>
              </a:rPr>
              <a:t> C sınıfı hassas veri, kimlik doğrulamalı şifrelemeyle (AEAD) korunmalıdır." (</a:t>
            </a:r>
            <a:r>
              <a:rPr sz="2000" b="1">
                <a:solidFill>
                  <a:srgbClr val="1F2D3A"/>
                </a:solidFill>
              </a:rPr>
              <a:t>MUST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 değişti:</a:t>
            </a:r>
            <a:r>
              <a:rPr sz="2000" b="0">
                <a:solidFill>
                  <a:srgbClr val="1F2D3A"/>
                </a:solidFill>
              </a:rPr>
              <a:t> veri burada beklemede (disk üzerinde); "-malıdır" seçildi çünkü tehdide karşı vazgeçilmez bir koşul — "-abilir" olsaydı isteğe bağlı sayılırdı.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— Kimlik verin ve tehdide bağlayın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Sonra (son hâl):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CEN429-DR-01</a:t>
            </a:r>
            <a:r>
              <a:rPr sz="2000" b="0">
                <a:solidFill>
                  <a:srgbClr val="1F2D3A"/>
                </a:solidFill>
              </a:rPr>
              <a:t> — "Beklemedeki C sınıfı hassas veri, kimlik doğrulamalı şifrelemeyle (AEAD) korunmalıdır." </a:t>
            </a:r>
            <a:r>
              <a:rPr sz="2000" b="0" i="1">
                <a:solidFill>
                  <a:srgbClr val="1F2D3A"/>
                </a:solidFill>
              </a:rPr>
              <a:t>(Tehdit: T-03, "cihazı ele geçiren saldırgan veritabanı dosyasını okur/değiştirir".)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 değişti:</a:t>
            </a:r>
            <a:r>
              <a:rPr sz="2000" b="0">
                <a:solidFill>
                  <a:srgbClr val="1F2D3A"/>
                </a:solidFill>
              </a:rPr>
              <a:t> kimliksiz bir gereksinim izlenebilirlik zincirine hiç girmez.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Altı adım · hangi belirsizliği giderdi?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819932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6365061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Giderdiği belirsizlik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Belirsiz kelimeyi işaretlemek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Hangi veri (varlık tablosu)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Hangi hedef (gizlilik/bütünlük)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Hangi araç sınıfı (AEAD)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Hangi durum, hangi zorunluluk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ve tehdit bağı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Biri eksik kalırsa gereksinim yine tartışmaya açık kalır; değerlendirici geri gönderir.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gereksinimin yaşamı (animasyon)</a:t>
            </a:r>
          </a:p>
        </p:txBody>
      </p:sp>
      <p:pic>
        <p:nvPicPr>
          <p:cNvPr id="7" name="Picture 6" descr="requirement-lifecyc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38" y="1325880"/>
            <a:ext cx="101400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gereksinimin yaşamı — uç durum: tek kelimelik belirsizlik</a:t>
            </a:r>
          </a:p>
        </p:txBody>
      </p:sp>
      <p:pic>
        <p:nvPicPr>
          <p:cNvPr id="7" name="Picture 6" descr="requirement-lifecycle--edge-minima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722" y="1325880"/>
            <a:ext cx="919625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İkinci ve üçüncü örnekler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63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İkinci örnek (hız testi):</a:t>
            </a:r>
            <a:r>
              <a:rPr sz="1800" b="0">
                <a:solidFill>
                  <a:srgbClr val="1F2D3A"/>
                </a:solidFill>
              </a:rPr>
              <a:t> "Hızlı ve güvenli olmalıdır" → iki ayrı gereksinim tek cümlede. Aynı altı adımdan geçirilince: </a:t>
            </a:r>
            <a:r>
              <a:rPr sz="1800" b="0">
                <a:solidFill>
                  <a:srgbClr val="A1123F"/>
                </a:solidFill>
                <a:latin typeface="Consolas"/>
              </a:rPr>
              <a:t>CEN429-ID-04</a:t>
            </a:r>
            <a:r>
              <a:rPr sz="1800" b="0">
                <a:solidFill>
                  <a:srgbClr val="1F2D3A"/>
                </a:solidFill>
              </a:rPr>
              <a:t> — "Her oturum açma denemesi sunucu tarafında doğrulanmalıdır; istemci tarafı kontrolü tek başına yeterli kabul edilmemelidir."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Üçüncü örnek (süreç):</a:t>
            </a:r>
            <a:r>
              <a:rPr sz="1800" b="0">
                <a:solidFill>
                  <a:srgbClr val="1F2D3A"/>
                </a:solidFill>
              </a:rPr>
              <a:t> "Kod incelemesi yapılmalıdır." → Hangi değişiklik? Kim inceleyecek? Ne zaman? İyi hâli: "Her değişiklik, ana dala birleştirilmeden önce, yazan geliştirici dışında en az bir kişi tarafından incelenmeli ve onay sürüm kontrol sisteminde kayıt altına alınmalıdır."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1'in kuralı ve zorunluluk sözcükleri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Gereksinim sütununa </a:t>
            </a:r>
            <a:r>
              <a:rPr sz="1800" b="1">
                <a:solidFill>
                  <a:srgbClr val="1F2D3A"/>
                </a:solidFill>
              </a:rPr>
              <a:t>ne</a:t>
            </a:r>
            <a:r>
              <a:rPr sz="1800" b="0">
                <a:solidFill>
                  <a:srgbClr val="1F2D3A"/>
                </a:solidFill>
              </a:rPr>
              <a:t> istendiğini yazın; </a:t>
            </a:r>
            <a:r>
              <a:rPr sz="1800" b="1">
                <a:solidFill>
                  <a:srgbClr val="1F2D3A"/>
                </a:solidFill>
              </a:rPr>
              <a:t>nasıl</a:t>
            </a:r>
            <a:r>
              <a:rPr sz="1800" b="0">
                <a:solidFill>
                  <a:srgbClr val="1F2D3A"/>
                </a:solidFill>
              </a:rPr>
              <a:t> karşıladığınızı ayrı bir önlem cümlesine yazın.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Sık hata:</a:t>
            </a:r>
            <a:r>
              <a:rPr sz="1800" b="0">
                <a:solidFill>
                  <a:srgbClr val="1F2D3A"/>
                </a:solidFill>
              </a:rPr>
              <a:t> "Gereksinim: AES-256-GCM kullanılmalıdır." → bu bir </a:t>
            </a:r>
            <a:r>
              <a:rPr sz="1800" b="1">
                <a:solidFill>
                  <a:srgbClr val="1F2D3A"/>
                </a:solidFill>
              </a:rPr>
              <a:t>önlem</a:t>
            </a:r>
            <a:r>
              <a:rPr sz="1800" b="0">
                <a:solidFill>
                  <a:srgbClr val="1F2D3A"/>
                </a:solidFill>
              </a:rPr>
              <a:t>, gereksinim değil; doğrusu "...AEAD ile korunmalıdır" (gereksinim) + "AES-256-GCM, S7.2" (önlem).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Gereksinim metninde </a:t>
            </a:r>
            <a:r>
              <a:rPr sz="1800" b="1">
                <a:solidFill>
                  <a:srgbClr val="1F2D3A"/>
                </a:solidFill>
              </a:rPr>
              <a:t>araç sınıfını</a:t>
            </a:r>
            <a:r>
              <a:rPr sz="1800" b="0">
                <a:solidFill>
                  <a:srgbClr val="1F2D3A"/>
                </a:solidFill>
              </a:rPr>
              <a:t> (AEAD, CSPRNG, TLS 1.2+) yazın; belirli kütüphane/sürüm adını önleme koyun.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-malıdır (MUST):</a:t>
            </a:r>
            <a:r>
              <a:rPr sz="1800" b="0">
                <a:solidFill>
                  <a:srgbClr val="1F2D3A"/>
                </a:solidFill>
              </a:rPr>
              <a:t> zorunlu, karşılanmazsa doğrudan bulgu. </a:t>
            </a:r>
            <a:r>
              <a:rPr sz="1800" b="1">
                <a:solidFill>
                  <a:srgbClr val="1F2D3A"/>
                </a:solidFill>
              </a:rPr>
              <a:t>-malı (SHOULD):</a:t>
            </a:r>
            <a:r>
              <a:rPr sz="1800" b="0">
                <a:solidFill>
                  <a:srgbClr val="1F2D3A"/>
                </a:solidFill>
              </a:rPr>
              <a:t> güçlü öneri, gerekçe gerekir. </a:t>
            </a:r>
            <a:r>
              <a:rPr sz="1800" b="1">
                <a:solidFill>
                  <a:srgbClr val="1F2D3A"/>
                </a:solidFill>
              </a:rPr>
              <a:t>-abilir (MAY):</a:t>
            </a:r>
            <a:r>
              <a:rPr sz="1800" b="0">
                <a:solidFill>
                  <a:srgbClr val="1F2D3A"/>
                </a:solidFill>
              </a:rPr>
              <a:t> isteğe bağlı, bulgu değil.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kalitesi denetleyicisi (animasyon)</a:t>
            </a:r>
          </a:p>
        </p:txBody>
      </p:sp>
      <p:pic>
        <p:nvPicPr>
          <p:cNvPr id="7" name="Picture 6" descr="requirement-quality-check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634" y="1325880"/>
            <a:ext cx="61664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kalitesi denetleyicisi — uç durum: tek cümle, tek kural</a:t>
            </a:r>
          </a:p>
        </p:txBody>
      </p:sp>
      <p:pic>
        <p:nvPicPr>
          <p:cNvPr id="7" name="Picture 6" descr="requirement-quality-checker--edge-single-weak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302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Gereksinimden kanıta: izlenebilirlik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Zincir</a:t>
            </a:r>
          </a:p>
        </p:txBody>
      </p:sp>
      <p:pic>
        <p:nvPicPr>
          <p:cNvPr id="7" name="Picture 6" descr="h13-01-izlenebilir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153" y="1325880"/>
            <a:ext cx="6049389" cy="4278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bu zincirle bir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bağlanmalı.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Durum ve karar kelimeleri —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8232"/>
                <a:gridCol w="4436558"/>
                <a:gridCol w="4196744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Kelime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zaman kullanılır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Yanında ne yazılmalı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 gereksinimi kendisi sağlıyor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Önlem + doğrulama + kanıt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Başka bir taraf sağlıyor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Kime + neden + nasıl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Uygulanır ama henüz sağlanmıyor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Kalan risk + planlanan düzeltme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Ürüne hiç uygulanmıyor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Gerekçe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-malıdır (MUST)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Zorunlu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Karşılanmazsa doğrudan bulgu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-malı (SHOULD)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Güçlü öneri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Karşılanmazsa yazılı gerekçe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neden önemli?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"bu gereksinim nerede?" diye sorar.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İzlenebilirlik yoksa: her şeyi baştan aramak.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Varsa: matristen doğrudan bulunur.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örneği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525"/>
                <a:gridCol w="2149241"/>
                <a:gridCol w="2479894"/>
                <a:gridCol w="2975873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AEAD 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Birim testi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Test çıktısı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Sürüm korumaları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Bayraklar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checksec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Koruma tablosu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yön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İleri:</a:t>
            </a:r>
            <a:r>
              <a:rPr sz="2000" b="0">
                <a:solidFill>
                  <a:srgbClr val="1F2D3A"/>
                </a:solidFill>
              </a:rPr>
              <a:t> gereksinim → nerede karşılandı?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Geri:</a:t>
            </a:r>
            <a:r>
              <a:rPr sz="2000" b="0">
                <a:solidFill>
                  <a:srgbClr val="1F2D3A"/>
                </a:solidFill>
              </a:rPr>
              <a:t> bu kod/test → hangi gereksinimi karşılıyor?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matris </a:t>
            </a:r>
            <a:r>
              <a:rPr sz="2000" b="1">
                <a:solidFill>
                  <a:srgbClr val="1F2D3A"/>
                </a:solidFill>
              </a:rPr>
              <a:t>iki yönde</a:t>
            </a:r>
            <a:r>
              <a:rPr sz="2000" b="0">
                <a:solidFill>
                  <a:srgbClr val="1F2D3A"/>
                </a:solidFill>
              </a:rPr>
              <a:t> de izlenebilir.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Kanıtsız "karşılandı"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Matriste "karşılandı" ama kanıt yoksa...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gözünde </a:t>
            </a:r>
            <a:r>
              <a:rPr sz="2000" b="1">
                <a:solidFill>
                  <a:srgbClr val="1F2D3A"/>
                </a:solidFill>
              </a:rPr>
              <a:t>karşılanmamış</a:t>
            </a:r>
            <a:r>
              <a:rPr sz="2000" b="0">
                <a:solidFill>
                  <a:srgbClr val="1F2D3A"/>
                </a:solidFill>
              </a:rPr>
              <a:t>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bulgulardan biri olur.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uçtan uca zincir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Zincirin nasıl kurulduğunu tek bir varlık üzerinden başından sonuna dolduralım: kullanıcının </a:t>
            </a:r>
            <a:r>
              <a:rPr sz="2000" b="1">
                <a:solidFill>
                  <a:srgbClr val="1F2D3A"/>
                </a:solidFill>
              </a:rPr>
              <a:t>oturum belirteci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Altı halka: varlık → tehdit → gereksinim → önlem → doğrulama → kanıt.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1. Varlık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629"/>
                <a:gridCol w="9144905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Değer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Kullanıcının oturum belirteci (session token)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Konum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İstemci belleği; her istekte HTTP başlığında taşınır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(gizlilik)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Yaşam döngüsü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Açılışta üretilir → her istekte kullanılır → çıkışta/zaman aşımında geçersiz kılınır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2. Tehdit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 üzerinde konumlanan bir saldırgan (ör. aynı halka açık Wi-Fi), şifrelenmemiş bağlantıdan belirteci dinleyip yakalayabilir.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Yakaladığı belirteçle kendi isteklerinde kullanarak kullanıcı </a:t>
            </a:r>
            <a:r>
              <a:rPr sz="2000" b="1">
                <a:solidFill>
                  <a:srgbClr val="1F2D3A"/>
                </a:solidFill>
              </a:rPr>
              <a:t>gibi davranabilir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STRIDE: </a:t>
            </a:r>
            <a:r>
              <a:rPr sz="2000" b="1">
                <a:solidFill>
                  <a:srgbClr val="1F2D3A"/>
                </a:solidFill>
              </a:rPr>
              <a:t>Spoofing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Information Disclosure</a:t>
            </a:r>
            <a:r>
              <a:rPr sz="2000" b="0">
                <a:solidFill>
                  <a:srgbClr val="1F2D3A"/>
                </a:solidFill>
              </a:rPr>
              <a:t> (1. hafta terminolojisi).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3. Gereksinim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Varlık → tehdit → hedef (gizlilik+kimlik) → araç sınıfı → durum → zorunluluk zinciri kısaca tekrar uygulanır: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CEN429-DT-01</a:t>
            </a:r>
            <a:r>
              <a:rPr sz="2000" b="0">
                <a:solidFill>
                  <a:srgbClr val="1F2D3A"/>
                </a:solidFill>
              </a:rPr>
              <a:t> — "Oturum belirteci yalnız TLS 1.2 ve üzeri, sunucu sertifikası doğrulanmış bir kanaldan taşınmalıdır."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Önlem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Kılavuzun </a:t>
            </a:r>
            <a:r>
              <a:rPr sz="2000" b="1">
                <a:solidFill>
                  <a:srgbClr val="1F2D3A"/>
                </a:solidFill>
              </a:rPr>
              <a:t>S10.3 "Aktarım güvenliği"</a:t>
            </a:r>
            <a:r>
              <a:rPr sz="2000" b="0">
                <a:solidFill>
                  <a:srgbClr val="1F2D3A"/>
                </a:solidFill>
              </a:rPr>
              <a:t> bölümü: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"İstemci, sunucuya her bağlantıda TLS 1.2+ el sıkışması yapar; sertifika zinciri ve ana bilgisayar adı doğrulanır (bkz. Hafta 10). Kanal kurulmadan hiçbir istek gönderilmez."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5.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testi ekibi bir MITM (ortadaki adam) aracıyla bağlantıya araya girmeye çalışır: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Geçersiz/kendinden imzalı sertifika sunulunca bağlantının </a:t>
            </a:r>
            <a:r>
              <a:rPr sz="2000" b="1">
                <a:solidFill>
                  <a:srgbClr val="1F2D3A"/>
                </a:solidFill>
              </a:rPr>
              <a:t>reddedildiğini</a:t>
            </a:r>
            <a:r>
              <a:rPr sz="2000" b="0">
                <a:solidFill>
                  <a:srgbClr val="1F2D3A"/>
                </a:solidFill>
              </a:rPr>
              <a:t>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 metin (TLS'siz) bağlantı denemesinin </a:t>
            </a:r>
            <a:r>
              <a:rPr sz="2000" b="1">
                <a:solidFill>
                  <a:srgbClr val="1F2D3A"/>
                </a:solidFill>
              </a:rPr>
              <a:t>reddedildiğini</a:t>
            </a:r>
            <a:r>
              <a:rPr sz="2000" b="0">
                <a:solidFill>
                  <a:srgbClr val="1F2D3A"/>
                </a:solidFill>
              </a:rPr>
              <a:t> doğrular.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6. Kanıt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aracının günlük çıktısı: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mitm_test_2026-11-03.log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 çalıştırma kaydı: </a:t>
            </a:r>
            <a:r>
              <a:rPr sz="2000" b="1">
                <a:solidFill>
                  <a:srgbClr val="1F2D3A"/>
                </a:solidFill>
              </a:rPr>
              <a:t>#617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handshake paket dökümü: </a:t>
            </a:r>
            <a:r>
              <a:rPr sz="2000" b="0">
                <a:solidFill>
                  <a:srgbClr val="A1123F"/>
                </a:solidFill>
                <a:latin typeface="Consolas"/>
              </a:rPr>
              <a:t>handshake.pcapng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evidence/week13/</a:t>
            </a:r>
            <a:r>
              <a:rPr sz="2000" b="0">
                <a:solidFill>
                  <a:srgbClr val="1F2D3A"/>
                </a:solidFill>
              </a:rPr>
              <a:t> klasöründe saklanır, matriste bu dosya adlarıyla referans verilir.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Zincirin dolu satırı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212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61"/>
                <a:gridCol w="3182531"/>
                <a:gridCol w="707229"/>
                <a:gridCol w="454647"/>
                <a:gridCol w="2778400"/>
                <a:gridCol w="2980465"/>
              </a:tblGrid>
              <a:tr h="60624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0624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CEN429-DT-01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Oturum belirteci TLS 1.2+, sertifika doğrulanarak taşınmalı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MITM testi: geçersiz sertifika/düz metin reddedilir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mitm_test_2026-11-03.log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CI #617,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handshake.pcapng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48102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Bir halka eksik olsaydı: varlık yoksa "hangi veri" belirsiz kalır, tehdit yoksa gereksinim keyfi görünür, önlem yoksa iddia desteksiz kalır, doğrulama yoksa "nasıl test edildi" cevapsız kalır, kanıt yoksa satır </a:t>
            </a:r>
            <a:r>
              <a:rPr sz="1800" b="1">
                <a:solidFill>
                  <a:srgbClr val="1F2D3A"/>
                </a:solidFill>
              </a:rPr>
              <a:t>ilk bulgu</a:t>
            </a:r>
            <a:r>
              <a:rPr sz="1800" b="0">
                <a:solidFill>
                  <a:srgbClr val="1F2D3A"/>
                </a:solidFill>
              </a:rPr>
              <a:t> olur.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"Karşılanmadı" durumunun tam zinciri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194"/>
                <a:gridCol w="4621356"/>
                <a:gridCol w="4492985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Halka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Karşılandı (DT-01)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Karşılanmadı (DT-04)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Oturum belirteci TLS ile taşınır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 sertifikası sabitlenmeli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 (henüz yok)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MITM testi geçti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günlüğü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Kalan risk: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S16.4'e yazılır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"Karşılanmadı"da önlem/doğrulama boş kalabilir ama </a:t>
            </a:r>
            <a:r>
              <a:rPr sz="1800" b="1">
                <a:solidFill>
                  <a:srgbClr val="1F2D3A"/>
                </a:solidFill>
              </a:rPr>
              <a:t>kanıt</a:t>
            </a:r>
            <a:r>
              <a:rPr sz="1800" b="0">
                <a:solidFill>
                  <a:srgbClr val="1F2D3A"/>
                </a:solidFill>
              </a:rPr>
              <a:t> (kalan riskin nerede belgelendiği) boş kalamaz.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zinciri (animasyon)</a:t>
            </a:r>
          </a:p>
        </p:txBody>
      </p:sp>
      <p:pic>
        <p:nvPicPr>
          <p:cNvPr id="7" name="Picture 6" descr="traceability-matr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384" y="1325880"/>
            <a:ext cx="55249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zinciri — uç durum: her satır boşluklu</a:t>
            </a:r>
          </a:p>
        </p:txBody>
      </p:sp>
      <p:pic>
        <p:nvPicPr>
          <p:cNvPr id="7" name="Picture 6" descr="traceability-matrix--edge-all-gap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321" y="1325880"/>
            <a:ext cx="51250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2'nin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"karşılandı" satırının kanıt sütununda </a:t>
            </a:r>
            <a:r>
              <a:rPr sz="2000" b="1">
                <a:solidFill>
                  <a:srgbClr val="1F2D3A"/>
                </a:solidFill>
              </a:rPr>
              <a:t>bulunabilir, adlandırılmış</a:t>
            </a:r>
            <a:r>
              <a:rPr sz="2000" b="0">
                <a:solidFill>
                  <a:srgbClr val="1F2D3A"/>
                </a:solidFill>
              </a:rPr>
              <a:t> bir referans olmalı: dosya adı, CI numarası, test raporu bölümü.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"Var", "test edildi" kanıt değil, kanıt </a:t>
            </a:r>
            <a:r>
              <a:rPr sz="2000" b="1">
                <a:solidFill>
                  <a:srgbClr val="1F2D3A"/>
                </a:solidFill>
              </a:rPr>
              <a:t>vaadidir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Değerlendiricinin en sık yazdığı bulgu: </a:t>
            </a:r>
            <a:r>
              <a:rPr sz="2000" b="1">
                <a:solidFill>
                  <a:srgbClr val="1F2D3A"/>
                </a:solidFill>
              </a:rPr>
              <a:t>kanıtsız "karşılandı"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1–2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İyi gereksinimin dört ölçütü?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"Uygulama güvenli olmalı" neden kötü?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İzlenebilirlik zinciri nedir?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1–2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Belirli · ölçülebilir/doğrulanabilir · tekil · izlenebilir</a:t>
            </a:r>
            <a:r>
              <a:rPr sz="2000" b="0">
                <a:solidFill>
                  <a:srgbClr val="1F2D3A"/>
                </a:solidFill>
              </a:rPr>
              <a:t> (gerçekçi, atomik).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Belirsiz ve ölçülemez</a:t>
            </a:r>
            <a:r>
              <a:rPr sz="2000" b="0">
                <a:solidFill>
                  <a:srgbClr val="1F2D3A"/>
                </a:solidFill>
              </a:rPr>
              <a:t>; "güvenli"nin tanımı yok → test edilemez, herkes farklı anlar.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Tehdit/standart → gereksinim → tasarım/kod → test/kanıt.</a:t>
            </a:r>
            <a:r>
              <a:rPr sz="2000" b="0">
                <a:solidFill>
                  <a:srgbClr val="1F2D3A"/>
                </a:solidFill>
              </a:rPr>
              <a:t> Her gereksinim bir kaynağa ve bir kanıta </a:t>
            </a:r>
            <a:r>
              <a:rPr sz="2000" b="1">
                <a:solidFill>
                  <a:srgbClr val="1F2D3A"/>
                </a:solidFill>
              </a:rPr>
              <a:t>iki yönlü</a:t>
            </a:r>
            <a:r>
              <a:rPr sz="2000" b="0">
                <a:solidFill>
                  <a:srgbClr val="1F2D3A"/>
                </a:solidFill>
              </a:rPr>
              <a:t> bağlanır.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Gereksinim bloğu ve devredilenler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Devretme üç soru — şema</a:t>
            </a:r>
          </a:p>
        </p:txBody>
      </p:sp>
      <p:pic>
        <p:nvPicPr>
          <p:cNvPr id="7" name="Picture 6" descr="h13-06-devret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3171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bloğu kalıbı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bir </a:t>
            </a:r>
            <a:r>
              <a:rPr sz="2000" b="1">
                <a:solidFill>
                  <a:srgbClr val="1F2D3A"/>
                </a:solidFill>
              </a:rPr>
              <a:t>blok</a:t>
            </a:r>
            <a:r>
              <a:rPr sz="2000" b="0">
                <a:solidFill>
                  <a:srgbClr val="1F2D3A"/>
                </a:solidFill>
              </a:rPr>
              <a:t> olarak yazılır: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benzersiz numara (ör. CEN429-DU-01)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Metin:</a:t>
            </a:r>
            <a:r>
              <a:rPr sz="2000" b="0">
                <a:solidFill>
                  <a:srgbClr val="1F2D3A"/>
                </a:solidFill>
              </a:rPr>
              <a:t> ne isteniyor (tekil, ölçülebilir)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Durum:</a:t>
            </a:r>
            <a:r>
              <a:rPr sz="2000" b="0">
                <a:solidFill>
                  <a:srgbClr val="1F2D3A"/>
                </a:solidFill>
              </a:rPr>
              <a:t> karşılandı / devredildi / karşılanmadı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Karşılama:</a:t>
            </a:r>
            <a:r>
              <a:rPr sz="2000" b="0">
                <a:solidFill>
                  <a:srgbClr val="1F2D3A"/>
                </a:solidFill>
              </a:rPr>
              <a:t> nasıl karşılandı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Doğrulama + kanıt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blok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CEN429-DU-01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Yerel DB'deki C sınıfı veri AEAD ile şifrelenir.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Karşılama: AES-256-GCM, anahtar TEE'de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Doğrulama: T-05 birim testi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Kanıt: test çıktısı, S16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blok?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gereksinim aynı yapıda → </a:t>
            </a:r>
            <a:r>
              <a:rPr sz="2000" b="1">
                <a:solidFill>
                  <a:srgbClr val="1F2D3A"/>
                </a:solidFill>
              </a:rPr>
              <a:t>karşılaştırılabilir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hızlı okur.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 bu bloklardan üretilir.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Devredilen gereksinim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bileşen bir gereksinimi </a:t>
            </a:r>
            <a:r>
              <a:rPr sz="2000" b="1">
                <a:solidFill>
                  <a:srgbClr val="1F2D3A"/>
                </a:solidFill>
              </a:rPr>
              <a:t>kendisi</a:t>
            </a:r>
            <a:r>
              <a:rPr sz="2000" b="0">
                <a:solidFill>
                  <a:srgbClr val="1F2D3A"/>
                </a:solidFill>
              </a:rPr>
              <a:t> karşılayamıyor.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Sorumluluğu üst uygulamaya/OS'a/donanıma </a:t>
            </a:r>
            <a:r>
              <a:rPr sz="2000" b="1">
                <a:solidFill>
                  <a:srgbClr val="1F2D3A"/>
                </a:solidFill>
              </a:rPr>
              <a:t>devreder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bir kaçış değil, </a:t>
            </a:r>
            <a:r>
              <a:rPr sz="2000" b="1">
                <a:solidFill>
                  <a:srgbClr val="1F2D3A"/>
                </a:solidFill>
              </a:rPr>
              <a:t>açık bir sözleşmedir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Devrederken üç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Devredilen her gereksinimde yaz: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Kime?</a:t>
            </a:r>
            <a:r>
              <a:rPr sz="2000" b="0">
                <a:solidFill>
                  <a:srgbClr val="1F2D3A"/>
                </a:solidFill>
              </a:rPr>
              <a:t> (üst uygulama / OS / donanım)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Neden?</a:t>
            </a:r>
            <a:r>
              <a:rPr sz="2000" b="0">
                <a:solidFill>
                  <a:srgbClr val="1F2D3A"/>
                </a:solidFill>
              </a:rPr>
              <a:t> (neden bu bileşen karşılayamıyor)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Nasıl?</a:t>
            </a:r>
            <a:r>
              <a:rPr sz="2000" b="0">
                <a:solidFill>
                  <a:srgbClr val="1F2D3A"/>
                </a:solidFill>
              </a:rPr>
              <a:t> (karşı taraf nasıl karşılayacak)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Devredilen · örnek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CEN429-AP-03: Güvenli kurulum ve güncelleme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Devredildi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Kime: Üst mobil uygulama (MPA)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Neden: SDK dağıtım kanalına sahip değil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Nasıl: MPA imzalı güncelleme + sürüm denetimi sağlar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Sessiz devretme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gereksinimi karşılamıyor ve </a:t>
            </a:r>
            <a:r>
              <a:rPr sz="2000" b="1">
                <a:solidFill>
                  <a:srgbClr val="1F2D3A"/>
                </a:solidFill>
              </a:rPr>
              <a:t>yazmıyorsanız</a:t>
            </a:r>
            <a:r>
              <a:rPr sz="2000" b="0">
                <a:solidFill>
                  <a:srgbClr val="1F2D3A"/>
                </a:solidFill>
              </a:rPr>
              <a:t> → eksik.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Devretme </a:t>
            </a:r>
            <a:r>
              <a:rPr sz="2000" b="1">
                <a:solidFill>
                  <a:srgbClr val="1F2D3A"/>
                </a:solidFill>
              </a:rPr>
              <a:t>belgelenmeli</a:t>
            </a:r>
            <a:r>
              <a:rPr sz="2000" b="0">
                <a:solidFill>
                  <a:srgbClr val="1F2D3A"/>
                </a:solidFill>
              </a:rPr>
              <a:t>; aksi halde "karşılanmadı"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S14 bölümü tam bunun için.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Karşılandı mı, devredildi mi?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745621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Ürün sağlar (kanıtla)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Başka taraf sağlar (kime/neden/nasıl)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Henüz yok (kalan risk)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bloğu doldurmak (Karşılandı)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2. bölümdeki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CEN429-DR-01</a:t>
            </a:r>
            <a:r>
              <a:rPr sz="2000" b="0">
                <a:solidFill>
                  <a:srgbClr val="1F2D3A"/>
                </a:solidFill>
              </a:rPr>
              <a:t> zincirinin </a:t>
            </a:r>
            <a:r>
              <a:rPr sz="2000" b="1">
                <a:solidFill>
                  <a:srgbClr val="1F2D3A"/>
                </a:solidFill>
              </a:rPr>
              <a:t>kılavuza yazılmış</a:t>
            </a:r>
            <a:r>
              <a:rPr sz="2000" b="0">
                <a:solidFill>
                  <a:srgbClr val="1F2D3A"/>
                </a:solidFill>
              </a:rPr>
              <a:t> hâlidir: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9253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CEN429-DR</a:t>
            </a:r>
            <a:r>
              <a:rPr sz="2000" b="0">
                <a:solidFill>
                  <a:srgbClr val="A1123F"/>
                </a:solidFill>
                <a:latin typeface="Consolas"/>
              </a:rPr>
              <a:t>evidence/week13/test_butunluk_ci482.log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kalıp · Devredildi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CEN429-AP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609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Devredilen blok da </a:t>
            </a:r>
            <a:r>
              <a:rPr sz="2000" b="1">
                <a:solidFill>
                  <a:srgbClr val="1F2D3A"/>
                </a:solidFill>
              </a:rPr>
              <a:t>Karşılama</a:t>
            </a:r>
            <a:r>
              <a:rPr sz="2000" b="0">
                <a:solidFill>
                  <a:srgbClr val="1F2D3A"/>
                </a:solidFill>
              </a:rPr>
              <a:t> alanına sahiptir — ama "karşı taraf nasıl yapmalı, biz neden yapmıyoruz" sorusunu cevaplar.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kalıp · Karşılanmadı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CEN429-DT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"Karşılanmadı" bloğu </a:t>
            </a:r>
            <a:r>
              <a:rPr sz="2000" b="1">
                <a:solidFill>
                  <a:srgbClr val="1F2D3A"/>
                </a:solidFill>
              </a:rPr>
              <a:t>Karşılama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1">
                <a:solidFill>
                  <a:srgbClr val="1F2D3A"/>
                </a:solidFill>
              </a:rPr>
              <a:t>Durum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Kalan risk</a:t>
            </a:r>
            <a:r>
              <a:rPr sz="2000" b="0">
                <a:solidFill>
                  <a:srgbClr val="1F2D3A"/>
                </a:solidFill>
              </a:rPr>
              <a:t> alanlarını doldurur.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alanlarının görevi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Başlık satırı</a:t>
            </a:r>
            <a:r>
              <a:rPr sz="2000" b="0">
                <a:solidFill>
                  <a:srgbClr val="1F2D3A"/>
                </a:solidFill>
              </a:rPr>
              <a:t> ([Aile] Kimlik — Durum): değerlendiricinin gözünü hızlıca nereye götüreceğini söyler.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Gereksinim</a:t>
            </a:r>
            <a:r>
              <a:rPr sz="2000" b="0">
                <a:solidFill>
                  <a:srgbClr val="1F2D3A"/>
                </a:solidFill>
              </a:rPr>
              <a:t> satırı: standarttan/tehditten gelen "ne"yi tekrarlar, yeniden yorumlanmaz.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Karşılama:</a:t>
            </a:r>
            <a:r>
              <a:rPr sz="2000" b="0">
                <a:solidFill>
                  <a:srgbClr val="1F2D3A"/>
                </a:solidFill>
              </a:rPr>
              <a:t> "nasıl"ı somut dosya/bölüm adlarıyla anlatır.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Doğrulama + Kanıt:</a:t>
            </a:r>
            <a:r>
              <a:rPr sz="2000" b="0">
                <a:solidFill>
                  <a:srgbClr val="1F2D3A"/>
                </a:solidFill>
              </a:rPr>
              <a:t> izlenebilirlik zincirinin son iki halkası.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Donanım devretmesi ve Bölüm 3'ün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Güvenli eleman/TEE </a:t>
            </a:r>
            <a:r>
              <a:rPr sz="1800" b="1">
                <a:solidFill>
                  <a:srgbClr val="1F2D3A"/>
                </a:solidFill>
              </a:rPr>
              <a:t>varsa</a:t>
            </a:r>
            <a:r>
              <a:rPr sz="1800" b="0">
                <a:solidFill>
                  <a:srgbClr val="1F2D3A"/>
                </a:solidFill>
              </a:rPr>
              <a:t>: gereksinim donanıma devredilebilir.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Güvenli eleman </a:t>
            </a:r>
            <a:r>
              <a:rPr sz="1800" b="1">
                <a:solidFill>
                  <a:srgbClr val="1F2D3A"/>
                </a:solidFill>
              </a:rPr>
              <a:t>yoksa</a:t>
            </a:r>
            <a:r>
              <a:rPr sz="1800" b="0">
                <a:solidFill>
                  <a:srgbClr val="1F2D3A"/>
                </a:solidFill>
              </a:rPr>
              <a:t>: devredilemez — devredilecek taraf yok; ürün yazılım tabanlı önlem almalı ya da "karşılanmadı" + kalan risk yazmalı. "Donanıma devredildi" yazmak burada </a:t>
            </a:r>
            <a:r>
              <a:rPr sz="1800" b="1">
                <a:solidFill>
                  <a:srgbClr val="1F2D3A"/>
                </a:solidFill>
              </a:rPr>
              <a:t>geçersiz devretmedir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karşılama metni her zaman somut bir referansla bitmeli; devretmeden önce karşı tarafın </a:t>
            </a:r>
            <a:r>
              <a:rPr sz="1800" b="1">
                <a:solidFill>
                  <a:srgbClr val="1F2D3A"/>
                </a:solidFill>
              </a:rPr>
              <a:t>gerçekten</a:t>
            </a:r>
            <a:r>
              <a:rPr sz="1800" b="0">
                <a:solidFill>
                  <a:srgbClr val="1F2D3A"/>
                </a:solidFill>
              </a:rPr>
              <a:t> karşılayabileceğini doğrulayın.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bloğu (animasyon)</a:t>
            </a:r>
          </a:p>
        </p:txBody>
      </p:sp>
      <p:pic>
        <p:nvPicPr>
          <p:cNvPr id="7" name="Picture 6" descr="requirement-block-deferra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962" y="1325880"/>
            <a:ext cx="76277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bloğu — uç durum: sessiz devir</a:t>
            </a:r>
          </a:p>
        </p:txBody>
      </p:sp>
      <p:pic>
        <p:nvPicPr>
          <p:cNvPr id="7" name="Picture 6" descr="requirement-block-deferral--edge-silent-handoff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541" y="1325880"/>
            <a:ext cx="915661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Gereksinim bloğunun alanları?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Devrederken hangi üç soru yanıtlanır?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Sessiz devretme neden sorun?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ID · ölçülebilir ifade · kaynak/gerekçe · ilgili varlık/tehdit · doğrulama yöntemi (kanıt) · durum/öncelik.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şimdi karşılanmıyor? (2) </a:t>
            </a:r>
            <a:r>
              <a:rPr sz="2000" b="1">
                <a:solidFill>
                  <a:srgbClr val="1F2D3A"/>
                </a:solidFill>
              </a:rPr>
              <a:t>Riski ne, kim kabul ediyor</a:t>
            </a:r>
            <a:r>
              <a:rPr sz="2000" b="0">
                <a:solidFill>
                  <a:srgbClr val="1F2D3A"/>
                </a:solidFill>
              </a:rPr>
              <a:t> (onay)? (3) </a:t>
            </a:r>
            <a:r>
              <a:rPr sz="2000" b="1">
                <a:solidFill>
                  <a:srgbClr val="1F2D3A"/>
                </a:solidFill>
              </a:rPr>
              <a:t>Ne zaman/nasıl</a:t>
            </a:r>
            <a:r>
              <a:rPr sz="2000" b="0">
                <a:solidFill>
                  <a:srgbClr val="1F2D3A"/>
                </a:solidFill>
              </a:rPr>
              <a:t> karşılanacak (plan/telafi)?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Kayıt/onay olmadan gereksinim atlanır → </a:t>
            </a:r>
            <a:r>
              <a:rPr sz="2000" b="1">
                <a:solidFill>
                  <a:srgbClr val="1F2D3A"/>
                </a:solidFill>
              </a:rPr>
              <a:t>gizli açık</a:t>
            </a:r>
            <a:r>
              <a:rPr sz="2000" b="0">
                <a:solidFill>
                  <a:srgbClr val="1F2D3A"/>
                </a:solidFill>
              </a:rPr>
              <a:t>, sorumlusu yok, denetimde patlar. Açık, gerekçeli, onaylı devret.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Ortak Kriterler (ISO/IEC 15408)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 — şema</a:t>
            </a:r>
          </a:p>
        </p:txBody>
      </p:sp>
      <p:pic>
        <p:nvPicPr>
          <p:cNvPr id="7" name="Picture 6" descr="h13-07-ortak-kriter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231" y="1325880"/>
            <a:ext cx="726923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CC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Kriterler:</a:t>
            </a:r>
            <a:r>
              <a:rPr sz="2000" b="0">
                <a:solidFill>
                  <a:srgbClr val="1F2D3A"/>
                </a:solidFill>
              </a:rPr>
              <a:t> ürün güvenliğini değerlendirmenin uluslararası standardı.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Ortak bir </a:t>
            </a:r>
            <a:r>
              <a:rPr sz="2000" b="1">
                <a:solidFill>
                  <a:srgbClr val="1F2D3A"/>
                </a:solidFill>
              </a:rPr>
              <a:t>dil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yöntem</a:t>
            </a:r>
            <a:r>
              <a:rPr sz="2000" b="0">
                <a:solidFill>
                  <a:srgbClr val="1F2D3A"/>
                </a:solidFill>
              </a:rPr>
              <a:t> sağlar.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Ülkeler birbirinin değerlendirmesini tanır.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· değerlendirme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 (Target of Evaluation):</a:t>
            </a:r>
            <a:r>
              <a:rPr sz="2000" b="0">
                <a:solidFill>
                  <a:srgbClr val="1F2D3A"/>
                </a:solidFill>
              </a:rPr>
              <a:t> değerlendirilen tam ürün.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Benzersiz tanımlanır (12. hafta): sürüm + binary + özet.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bileşenler yazılır.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 · güvenlik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 (Security Target):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bu</a:t>
            </a:r>
            <a:r>
              <a:rPr sz="2000" b="0">
                <a:solidFill>
                  <a:srgbClr val="1F2D3A"/>
                </a:solidFill>
              </a:rPr>
              <a:t> ürünün güvenlik hedefi belgesi.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İçinde: tehditler, amaçlar, gereksinimler (SFR/SAR).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Ürüne özgüdür.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PP · koruma profili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PP (Protection Profile):</a:t>
            </a:r>
            <a:r>
              <a:rPr sz="2000" b="0">
                <a:solidFill>
                  <a:srgbClr val="1F2D3A"/>
                </a:solidFill>
              </a:rPr>
              <a:t> bir ürün </a:t>
            </a:r>
            <a:r>
              <a:rPr sz="2000" b="1">
                <a:solidFill>
                  <a:srgbClr val="1F2D3A"/>
                </a:solidFill>
              </a:rPr>
              <a:t>sınıfı</a:t>
            </a:r>
            <a:r>
              <a:rPr sz="2000" b="0">
                <a:solidFill>
                  <a:srgbClr val="1F2D3A"/>
                </a:solidFill>
              </a:rPr>
              <a:t> için ortak gereksinim seti.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"mobil cihaz PP", "akıllı kart PP".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ST'ler genelde bir PP'yi temel alır.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 vs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3637178"/>
                <a:gridCol w="3637178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Kapsam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ürün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Ürün sınıfı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 yazar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Geliştirici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Topluluk/otorite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 ürünün hedefi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Ortak taban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SFR · işlevsel gereksinimler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SFR (Security Functional Requirements):</a:t>
            </a:r>
            <a:r>
              <a:rPr sz="2000" b="0">
                <a:solidFill>
                  <a:srgbClr val="1F2D3A"/>
                </a:solidFill>
              </a:rPr>
              <a:t> ürünün </a:t>
            </a:r>
            <a:r>
              <a:rPr sz="2000" b="1">
                <a:solidFill>
                  <a:srgbClr val="1F2D3A"/>
                </a:solidFill>
              </a:rPr>
              <a:t>ne yapacağı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şifreleme, erişim denetimi, günlükleme.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Standart bir katalogdan seçilir.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SAR · güvence gereksinimleri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SAR (Security Assurance Requirements):</a:t>
            </a:r>
            <a:r>
              <a:rPr sz="2000" b="0">
                <a:solidFill>
                  <a:srgbClr val="1F2D3A"/>
                </a:solidFill>
              </a:rPr>
              <a:t> doğru yapıldığına </a:t>
            </a:r>
            <a:r>
              <a:rPr sz="2000" b="1">
                <a:solidFill>
                  <a:srgbClr val="1F2D3A"/>
                </a:solidFill>
              </a:rPr>
              <a:t>nasıl güveneceğiz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kaynak inceleme, test derinliği, zafiyet analizi.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EAL bunları belirler.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EAL · değerlendirme derinliği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EAL (Evaluation Assurance Level):</a:t>
            </a:r>
            <a:r>
              <a:rPr sz="2000" b="0">
                <a:solidFill>
                  <a:srgbClr val="1F2D3A"/>
                </a:solidFill>
              </a:rPr>
              <a:t> 1'den 7'ye derinlik.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EAL = daha derin inceleme.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"+" ek güvence bileşenlerini gösterir (EAL4+).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EAL yanlış anlaşılması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EAL güvenliğin </a:t>
            </a:r>
            <a:r>
              <a:rPr sz="2000" b="1">
                <a:solidFill>
                  <a:srgbClr val="1F2D3A"/>
                </a:solidFill>
              </a:rPr>
              <a:t>derinliği</a:t>
            </a:r>
            <a:r>
              <a:rPr sz="2000" b="0">
                <a:solidFill>
                  <a:srgbClr val="1F2D3A"/>
                </a:solidFill>
              </a:rPr>
              <a:t>, güvenliğin </a:t>
            </a:r>
            <a:r>
              <a:rPr sz="2000" b="1">
                <a:solidFill>
                  <a:srgbClr val="1F2D3A"/>
                </a:solidFill>
              </a:rPr>
              <a:t>miktarı</a:t>
            </a:r>
            <a:r>
              <a:rPr sz="2000" b="0">
                <a:solidFill>
                  <a:srgbClr val="1F2D3A"/>
                </a:solidFill>
              </a:rPr>
              <a:t>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"EAL4+ &gt; EAL2 daha güvenli" demek </a:t>
            </a:r>
            <a:r>
              <a:rPr sz="2000" b="1">
                <a:solidFill>
                  <a:srgbClr val="1F2D3A"/>
                </a:solidFill>
              </a:rPr>
              <a:t>yanlış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Güvenlik, </a:t>
            </a:r>
            <a:r>
              <a:rPr sz="2000" b="1">
                <a:solidFill>
                  <a:srgbClr val="1F2D3A"/>
                </a:solidFill>
              </a:rPr>
              <a:t>ST'deki tehdit ve amaçlara</a:t>
            </a:r>
            <a:r>
              <a:rPr sz="2000" b="0">
                <a:solidFill>
                  <a:srgbClr val="1F2D3A"/>
                </a:solidFill>
              </a:rPr>
              <a:t> bağlıdır.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ST iskeleti — TOE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mobil ödeme bileşeni için üç adımda dolduralım.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Adım 1 — TOE'yi tanımlayın: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TOE: "CEN429-Pay" kütüphanesi, sürüm 1.0, yalnız Android ARM64 derlemesi. </a:t>
            </a:r>
            <a:r>
              <a:rPr sz="2000" b="1">
                <a:solidFill>
                  <a:srgbClr val="1F2D3A"/>
                </a:solidFill>
              </a:rPr>
              <a:t>Kapsam dışı:</a:t>
            </a:r>
            <a:r>
              <a:rPr sz="2000" b="0">
                <a:solidFill>
                  <a:srgbClr val="1F2D3A"/>
                </a:solidFill>
              </a:rPr>
              <a:t> üst uygulamanın arayüzü, sunucu tarafı bileşenler, işletim sistemi çekirdeği.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984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Kapsam dışını yazmak, kapsamı yazmak kadar önemlidir.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Tehdit → amaç → SFR eşlemesi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873"/>
                <a:gridCol w="4938905"/>
                <a:gridCol w="1608015"/>
                <a:gridCol w="2641740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Güvenlik amacı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SFR ailesi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Dersteki 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T.EAVESDROP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Aktarılan veri gizli/bütünlüklü kalmalı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FCS, FTP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CEN429-DT-01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T.TAMPER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 bütünlüğünü denetlemeli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FPT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CEN429-AP-04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doğrulanmalı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CEN429-ID-02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5497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Bu tablo ST'nin kalbidir: her satır "neden bu gereksinim var" ile "hangi kanıt istenir" arasındaki köprü.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EAL merdiveni (animasyon)</a:t>
            </a:r>
          </a:p>
        </p:txBody>
      </p:sp>
      <p:pic>
        <p:nvPicPr>
          <p:cNvPr id="7" name="Picture 6" descr="common-criteria-ladd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814" y="1325880"/>
            <a:ext cx="507606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EAL merdiveni — uç durum: EAL7, merdivenin tamamı</a:t>
            </a:r>
          </a:p>
        </p:txBody>
      </p:sp>
      <p:pic>
        <p:nvPicPr>
          <p:cNvPr id="7" name="Picture 6" descr="common-criteria-ladder--edge-eal7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89" y="1325880"/>
            <a:ext cx="648651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4'ün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TOE tanımı her zaman </a:t>
            </a:r>
            <a:r>
              <a:rPr sz="1800" b="1">
                <a:solidFill>
                  <a:srgbClr val="1F2D3A"/>
                </a:solidFill>
              </a:rPr>
              <a:t>hem içerdiklerini hem dışarıda bıraktıklarını</a:t>
            </a:r>
            <a:r>
              <a:rPr sz="1800" b="0">
                <a:solidFill>
                  <a:srgbClr val="1F2D3A"/>
                </a:solidFill>
              </a:rPr>
              <a:t> listeler.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SFR'ler katalogdan seçilir, </a:t>
            </a:r>
            <a:r>
              <a:rPr sz="1800" b="1">
                <a:solidFill>
                  <a:srgbClr val="1F2D3A"/>
                </a:solidFill>
              </a:rPr>
              <a:t>uydurulmaz</a:t>
            </a:r>
            <a:r>
              <a:rPr sz="1800" b="0">
                <a:solidFill>
                  <a:srgbClr val="1F2D3A"/>
                </a:solidFill>
              </a:rPr>
              <a:t>; karşılığı yoksa "genişletilmiş bileşen" olarak gerekçelendirilir.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Değerlendirici her tehdidin bir amaca, her amacın bir SFR'ye bağlandığını kontrol eder.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FIPS 140-3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 düzeyleri — şema</a:t>
            </a:r>
          </a:p>
        </p:txBody>
      </p:sp>
      <p:pic>
        <p:nvPicPr>
          <p:cNvPr id="7" name="Picture 6" descr="h13-08-f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917" y="1325880"/>
            <a:ext cx="856386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Kriptografik modüllerin</a:t>
            </a:r>
            <a:r>
              <a:rPr sz="2000" b="0">
                <a:solidFill>
                  <a:srgbClr val="1F2D3A"/>
                </a:solidFill>
              </a:rPr>
              <a:t> doğrulanması standardı.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Modülün algoritmaları, kendini testi, anahtar yönetimi.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modülü</a:t>
            </a:r>
            <a:r>
              <a:rPr sz="2000" b="0">
                <a:solidFill>
                  <a:srgbClr val="1F2D3A"/>
                </a:solidFill>
              </a:rPr>
              <a:t> kapsar.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düzeyleri (1–4)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001791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636506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Kabaca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Temel; onaylı algoritmalar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izi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Kurcalamaya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direnç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ve yanıt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yüksek fiziksel koruma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 düzeyleri (animasyon)</a:t>
            </a:r>
          </a:p>
        </p:txBody>
      </p:sp>
      <p:pic>
        <p:nvPicPr>
          <p:cNvPr id="7" name="Picture 6" descr="fips-140-3-level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659" y="1325880"/>
            <a:ext cx="578837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 düzeyleri — uç durum: Düzey 4</a:t>
            </a:r>
          </a:p>
        </p:txBody>
      </p:sp>
      <p:pic>
        <p:nvPicPr>
          <p:cNvPr id="7" name="Picture 6" descr="fips-140-3-levels--edge-level4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392" y="1325880"/>
            <a:ext cx="570291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FIPS uyumluluğu tuzağı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FIPS </a:t>
            </a:r>
            <a:r>
              <a:rPr sz="2000" b="1">
                <a:solidFill>
                  <a:srgbClr val="1F2D3A"/>
                </a:solidFill>
              </a:rPr>
              <a:t>doğrulanmış</a:t>
            </a:r>
            <a:r>
              <a:rPr sz="2000" b="0">
                <a:solidFill>
                  <a:srgbClr val="1F2D3A"/>
                </a:solidFill>
              </a:rPr>
              <a:t> kütüphane kullanmak, uygulamayı otomatik FIPS uyumlu </a:t>
            </a:r>
            <a:r>
              <a:rPr sz="2000" b="1">
                <a:solidFill>
                  <a:srgbClr val="1F2D3A"/>
                </a:solidFill>
              </a:rPr>
              <a:t>yapmaz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modülü </a:t>
            </a:r>
            <a:r>
              <a:rPr sz="2000" b="1">
                <a:solidFill>
                  <a:srgbClr val="1F2D3A"/>
                </a:solidFill>
              </a:rPr>
              <a:t>onaylı kipte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doğru</a:t>
            </a:r>
            <a:r>
              <a:rPr sz="2000" b="0">
                <a:solidFill>
                  <a:srgbClr val="1F2D3A"/>
                </a:solidFill>
              </a:rPr>
              <a:t> kullanmalı.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Anahtarları da doğru yönetmeli.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CC ve FIPS birlikte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CC:</a:t>
            </a:r>
            <a:r>
              <a:rPr sz="2000" b="0">
                <a:solidFill>
                  <a:srgbClr val="1F2D3A"/>
                </a:solidFill>
              </a:rPr>
              <a:t> ürünün bütününü değerlendirir.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FIPS:</a:t>
            </a:r>
            <a:r>
              <a:rPr sz="2000" b="0">
                <a:solidFill>
                  <a:srgbClr val="1F2D3A"/>
                </a:solidFill>
              </a:rPr>
              <a:t> kripto modülünü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ürün CC değerlendirmesinde FIPS'li modül kullanabilir.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FIPS düzey 1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 kripto katmanı: OpenSSL </a:t>
            </a:r>
            <a:r>
              <a:rPr sz="2000" b="0">
                <a:solidFill>
                  <a:srgbClr val="A1123F"/>
                </a:solidFill>
                <a:latin typeface="Consolas"/>
              </a:rPr>
              <a:t>EVP</a:t>
            </a:r>
            <a:r>
              <a:rPr sz="2000" b="0">
                <a:solidFill>
                  <a:srgbClr val="1F2D3A"/>
                </a:solidFill>
              </a:rPr>
              <a:t> arayüzü, AES-256-GCM, anahtarlar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getrandom()</a:t>
            </a:r>
            <a:r>
              <a:rPr sz="2000" b="0">
                <a:solidFill>
                  <a:srgbClr val="1F2D3A"/>
                </a:solidFill>
              </a:rPr>
              <a:t>'dan üretiliyor, </a:t>
            </a:r>
            <a:r>
              <a:rPr sz="2000" b="1">
                <a:solidFill>
                  <a:srgbClr val="1F2D3A"/>
                </a:solidFill>
              </a:rPr>
              <a:t>hata durumunda sessizce varsayılan bir anahtara düşüyor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Düzey 1 beklentilerini tek tek işaretleyelim.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Düzey 1 · durum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34"/>
                <a:gridCol w="1781475"/>
                <a:gridCol w="5344425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Düzey 1 beklentisi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Onaylı algoritma, onaylı kipte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Kısmen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CAVP sertifikası yoksa iddia edilemez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Açılış/koşullu öz testler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 kendi öz testini çalıştırmıyor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Roller ve hizmetler tanımlı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rol ayrımı yapmıyor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Parametrelerin sıfırlanması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durumunda varsayılan anahtara düşülüyor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politikası belgesi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Böyle bir belge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En kritik açık ve Bölüm 5'in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88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Hata durumunda "varsayılan anahtara düşmek", </a:t>
            </a:r>
            <a:r>
              <a:rPr sz="1800" b="1">
                <a:solidFill>
                  <a:srgbClr val="1F2D3A"/>
                </a:solidFill>
              </a:rPr>
              <a:t>sıfırlama (zeroization) ilkesinin tam tersidir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3. haftadaki kural: "rastgele üreteç başarısız olursa </a:t>
            </a:r>
            <a:r>
              <a:rPr sz="1800" b="1">
                <a:solidFill>
                  <a:srgbClr val="1F2D3A"/>
                </a:solidFill>
              </a:rPr>
              <a:t>dur</a:t>
            </a:r>
            <a:r>
              <a:rPr sz="1800" b="0">
                <a:solidFill>
                  <a:srgbClr val="1F2D3A"/>
                </a:solidFill>
              </a:rPr>
              <a:t>, devam etme" — burada tersi yapılıyor.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bir FIPS iddiasının arkasında her zaman bir </a:t>
            </a:r>
            <a:r>
              <a:rPr sz="1800" b="1">
                <a:solidFill>
                  <a:srgbClr val="1F2D3A"/>
                </a:solidFill>
              </a:rPr>
              <a:t>CMVP sertifika numarası ve kapsamı</a:t>
            </a:r>
            <a:r>
              <a:rPr sz="1800" b="0">
                <a:solidFill>
                  <a:srgbClr val="1F2D3A"/>
                </a:solidFill>
              </a:rPr>
              <a:t> olmalı; yoksa "FIPS onaylı algoritmalar kullanıyoruz (doğrulanmış modül değil)" diye dürüstçe daraltın.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4–5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 ile PP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SFR ve SAR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"EAL4+ her zaman daha güvenli" neden yanlış?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FIPS'li kütüphane uygulamayı FIPS uyumlu yapar mı?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4–5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PP</a:t>
            </a:r>
            <a:r>
              <a:rPr sz="2000" b="0">
                <a:solidFill>
                  <a:srgbClr val="1F2D3A"/>
                </a:solidFill>
              </a:rPr>
              <a:t> bir ürün </a:t>
            </a:r>
            <a:r>
              <a:rPr sz="2000" b="1">
                <a:solidFill>
                  <a:srgbClr val="1F2D3A"/>
                </a:solidFill>
              </a:rPr>
              <a:t>sınıfı</a:t>
            </a:r>
            <a:r>
              <a:rPr sz="2000" b="0">
                <a:solidFill>
                  <a:srgbClr val="1F2D3A"/>
                </a:solidFill>
              </a:rPr>
              <a:t> için standart gereksinim kümesi; </a:t>
            </a:r>
            <a:r>
              <a:rPr sz="2000" b="1">
                <a:solidFill>
                  <a:srgbClr val="1F2D3A"/>
                </a:solidFill>
              </a:rPr>
              <a:t>ST</a:t>
            </a:r>
            <a:r>
              <a:rPr sz="2000" b="0">
                <a:solidFill>
                  <a:srgbClr val="1F2D3A"/>
                </a:solidFill>
              </a:rPr>
              <a:t> belirli bir </a:t>
            </a:r>
            <a:r>
              <a:rPr sz="2000" b="1">
                <a:solidFill>
                  <a:srgbClr val="1F2D3A"/>
                </a:solidFill>
              </a:rPr>
              <a:t>ürünün (TOE)</a:t>
            </a:r>
            <a:r>
              <a:rPr sz="2000" b="0">
                <a:solidFill>
                  <a:srgbClr val="1F2D3A"/>
                </a:solidFill>
              </a:rPr>
              <a:t> neyi karşıladığını söyleyen belge.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SFR</a:t>
            </a:r>
            <a:r>
              <a:rPr sz="2000" b="0">
                <a:solidFill>
                  <a:srgbClr val="1F2D3A"/>
                </a:solidFill>
              </a:rPr>
              <a:t> ürünün </a:t>
            </a:r>
            <a:r>
              <a:rPr sz="2000" b="1">
                <a:solidFill>
                  <a:srgbClr val="1F2D3A"/>
                </a:solidFill>
              </a:rPr>
              <a:t>ne yapacağı</a:t>
            </a:r>
            <a:r>
              <a:rPr sz="2000" b="0">
                <a:solidFill>
                  <a:srgbClr val="1F2D3A"/>
                </a:solidFill>
              </a:rPr>
              <a:t> (fonksiyonel); </a:t>
            </a:r>
            <a:r>
              <a:rPr sz="2000" b="1">
                <a:solidFill>
                  <a:srgbClr val="1F2D3A"/>
                </a:solidFill>
              </a:rPr>
              <a:t>SAR</a:t>
            </a:r>
            <a:r>
              <a:rPr sz="2000" b="0">
                <a:solidFill>
                  <a:srgbClr val="1F2D3A"/>
                </a:solidFill>
              </a:rPr>
              <a:t> buna </a:t>
            </a:r>
            <a:r>
              <a:rPr sz="2000" b="1">
                <a:solidFill>
                  <a:srgbClr val="1F2D3A"/>
                </a:solidFill>
              </a:rPr>
              <a:t>ne kadar güvenileceği</a:t>
            </a:r>
            <a:r>
              <a:rPr sz="2000" b="0">
                <a:solidFill>
                  <a:srgbClr val="1F2D3A"/>
                </a:solidFill>
              </a:rPr>
              <a:t> (güvence; EAL buradan gelir).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EAL </a:t>
            </a:r>
            <a:r>
              <a:rPr sz="2000" b="1">
                <a:solidFill>
                  <a:srgbClr val="1F2D3A"/>
                </a:solidFill>
              </a:rPr>
              <a:t>güvence derinliğini</a:t>
            </a:r>
            <a:r>
              <a:rPr sz="2000" b="0">
                <a:solidFill>
                  <a:srgbClr val="1F2D3A"/>
                </a:solidFill>
              </a:rPr>
              <a:t> ölçer, güvenlik miktarını değil; </a:t>
            </a:r>
            <a:r>
              <a:rPr sz="2000" b="1">
                <a:solidFill>
                  <a:srgbClr val="1F2D3A"/>
                </a:solidFill>
              </a:rPr>
              <a:t>kapsam (ST/TOE)</a:t>
            </a:r>
            <a:r>
              <a:rPr sz="2000" b="0">
                <a:solidFill>
                  <a:srgbClr val="1F2D3A"/>
                </a:solidFill>
              </a:rPr>
              <a:t> darsa yüksek EAL az şey kapsar.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Modülü </a:t>
            </a:r>
            <a:r>
              <a:rPr sz="2000" b="1">
                <a:solidFill>
                  <a:srgbClr val="1F2D3A"/>
                </a:solidFill>
              </a:rPr>
              <a:t>doğru kip/yapılandırmada, onaylı algoritmalarla</a:t>
            </a:r>
            <a:r>
              <a:rPr sz="2000" b="0">
                <a:solidFill>
                  <a:srgbClr val="1F2D3A"/>
                </a:solidFill>
              </a:rPr>
              <a:t> kullanmak gerekir. Modül sertifikası ≠ uygulama uyumu.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Sektöre özgü gereksinim setleri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Sektör standartları — şema</a:t>
            </a:r>
          </a:p>
        </p:txBody>
      </p:sp>
      <p:pic>
        <p:nvPicPr>
          <p:cNvPr id="7" name="Picture 6" descr="h13-09-sek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406" y="1325880"/>
            <a:ext cx="857488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sektör standartları?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CC/FIPS geneldir; sektörler kendi risklerine göre </a:t>
            </a:r>
            <a:r>
              <a:rPr sz="2000" b="1">
                <a:solidFill>
                  <a:srgbClr val="1F2D3A"/>
                </a:solidFill>
              </a:rPr>
              <a:t>ek</a:t>
            </a:r>
            <a:r>
              <a:rPr sz="2000" b="0">
                <a:solidFill>
                  <a:srgbClr val="1F2D3A"/>
                </a:solidFill>
              </a:rPr>
              <a:t> gereksinim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IoT, mobil, ödeme farklı tehdit ortamları.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hangisine yakınsa onu izleyin.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EN 303 645 (IoT)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Tüketici IoT için </a:t>
            </a:r>
            <a:r>
              <a:rPr sz="2000" b="1">
                <a:solidFill>
                  <a:srgbClr val="1F2D3A"/>
                </a:solidFill>
              </a:rPr>
              <a:t>temel</a:t>
            </a:r>
            <a:r>
              <a:rPr sz="2000" b="0">
                <a:solidFill>
                  <a:srgbClr val="1F2D3A"/>
                </a:solidFill>
              </a:rPr>
              <a:t> güvenlik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varsayılan parola yok, güvenli güncelleme, hassas parametreleri güvenle sakla.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Geniş, uygulanabilir taban.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· örnek maddeler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Benzersiz parolalar (ortak varsayılan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güncellemelerini yönet.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Hassas güvenlik parametrelerini güvenle sakla</a:t>
            </a:r>
            <a:r>
              <a:rPr sz="2000" b="0">
                <a:solidFill>
                  <a:srgbClr val="1F2D3A"/>
                </a:solidFill>
              </a:rPr>
              <a:t> (→ projede S5/S7/S8).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operatör ekosistemi için güvenlik yönergeleri.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Cihaz, ağ, servis güvenliği.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SIM/eSIM, kimlik.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Kart ödeme ekosistemi standartları (kartlar, terminaller, mobil ödeme).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güvenlik değerlendirmesi.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puanlaması (12. hafta).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PCI DSS:</a:t>
            </a:r>
            <a:r>
              <a:rPr sz="2000" b="0">
                <a:solidFill>
                  <a:srgbClr val="1F2D3A"/>
                </a:solidFill>
              </a:rPr>
              <a:t> kart verisi işleyen sistemler için güvenlik.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PCI MPoC/CPoC:</a:t>
            </a:r>
            <a:r>
              <a:rPr sz="2000" b="0">
                <a:solidFill>
                  <a:srgbClr val="1F2D3A"/>
                </a:solidFill>
              </a:rPr>
              <a:t> yazılım tabanlı ödeme kabulü.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Sıkı; laboratuvar değerlendirmesi.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Mobile Application Security Verification Standard.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uygulama güvenlik </a:t>
            </a:r>
            <a:r>
              <a:rPr sz="2000" b="1">
                <a:solidFill>
                  <a:srgbClr val="1F2D3A"/>
                </a:solidFill>
              </a:rPr>
              <a:t>gereksinimleri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Düzeyler: temel (L1), derinlemesine (L2), direnç (R).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MASVS · projeniz için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uygulanabilir</a:t>
            </a:r>
            <a:r>
              <a:rPr sz="2000" b="0">
                <a:solidFill>
                  <a:srgbClr val="1F2D3A"/>
                </a:solidFill>
              </a:rPr>
              <a:t> gereksinim seti.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MASTG ile test edilir (12.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Kripto, depolama, iletişim, kod kalitesi, direnç.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karşılaştırma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3091601"/>
                <a:gridCol w="491019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Odak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Genel ürün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Değerlendirme derinliği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Modül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303 645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EMVCo/PCI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 + güvenlik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 gereksinimi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Karşılaştırma · 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Hepsi aynı kökü paylaşır: </a:t>
            </a:r>
            <a:r>
              <a:rPr sz="2000" b="1">
                <a:solidFill>
                  <a:srgbClr val="1F2D3A"/>
                </a:solidFill>
              </a:rPr>
              <a:t>yazılı, doğrulanabilir</a:t>
            </a:r>
            <a:r>
              <a:rPr sz="2000" b="0">
                <a:solidFill>
                  <a:srgbClr val="1F2D3A"/>
                </a:solidFill>
              </a:rPr>
              <a:t> gereksinim.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Fark: kapsam ve sıkılık.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için </a:t>
            </a:r>
            <a:r>
              <a:rPr sz="2000" b="1">
                <a:solidFill>
                  <a:srgbClr val="1F2D3A"/>
                </a:solidFill>
              </a:rPr>
              <a:t>MASVS</a:t>
            </a:r>
            <a:r>
              <a:rPr sz="2000" b="0">
                <a:solidFill>
                  <a:srgbClr val="1F2D3A"/>
                </a:solidFill>
              </a:rPr>
              <a:t> en pratik başlangıç.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Aynı gereksinim, dört standart (1) — beklemede veri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625"/>
                <a:gridCol w="7906909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Karşılığı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FCS + FDP bileşenleri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Düzey 1: onaylı algoritma, öz test, sıfırlama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Madde 5.4 "Hassas parametreleri güvenle sakla"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 MASVS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MASVS-STORAGE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Dersin ailesi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CEN429-DR-01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Aynı gereksinim, dört standart (2) — zayıf kimlik doğrulama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525"/>
                <a:gridCol w="7722009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Karşılığı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FIA bileşenleri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Düzey 2: rol tabanlı kimlik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Madde 5.1 "Evrensel varsayılan parola yok"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 MASVS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MASVS-AUTH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Dersin ailesi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CEN429-ID-01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CEN429-ID-02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Örtüşme ve Bölüm 6'nın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Bir standarda uyum kanıtı, başka bir standartta da </a:t>
            </a:r>
            <a:r>
              <a:rPr sz="1800" b="1">
                <a:solidFill>
                  <a:srgbClr val="1F2D3A"/>
                </a:solidFill>
              </a:rPr>
              <a:t>kısmen yeniden kullanılabilir</a:t>
            </a:r>
            <a:r>
              <a:rPr sz="1800" b="0">
                <a:solidFill>
                  <a:srgbClr val="1F2D3A"/>
                </a:solidFill>
              </a:rPr>
              <a:t> — ama "otomatik karşılanır" demek değildir; her standardın </a:t>
            </a:r>
            <a:r>
              <a:rPr sz="1800" b="1">
                <a:solidFill>
                  <a:srgbClr val="1F2D3A"/>
                </a:solidFill>
              </a:rPr>
              <a:t>kendi ek ölçütü</a:t>
            </a:r>
            <a:r>
              <a:rPr sz="1800" b="0">
                <a:solidFill>
                  <a:srgbClr val="1F2D3A"/>
                </a:solidFill>
              </a:rPr>
              <a:t> vardır.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Aynı gereksinimi birden çok standarda eşlemek (bir standart sütunu ekleyerek) işi hızlandırır; sertifikasyon değişse bile iş tekrarlanmaz.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"FIPS'li modül kullanıyoruz, o yüzden MASVS-CRYPTO'yu da karşılıyoruz" cümlesi </a:t>
            </a:r>
            <a:r>
              <a:rPr sz="1800" b="1">
                <a:solidFill>
                  <a:srgbClr val="1F2D3A"/>
                </a:solidFill>
              </a:rPr>
              <a:t>tehlikelidir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örtüşmeyi kanıt toplamayı hızlandırmak için kullanın, ama her standardı </a:t>
            </a:r>
            <a:r>
              <a:rPr sz="1800" b="1">
                <a:solidFill>
                  <a:srgbClr val="1F2D3A"/>
                </a:solidFill>
              </a:rPr>
              <a:t>ayrı ayrı</a:t>
            </a:r>
            <a:r>
              <a:rPr sz="1800" b="0">
                <a:solidFill>
                  <a:srgbClr val="1F2D3A"/>
                </a:solidFill>
              </a:rPr>
              <a:t> işaretleyin.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Sektör standartlarının ders ailelerine eşlenmesi (animasyon)</a:t>
            </a:r>
          </a:p>
        </p:txBody>
      </p:sp>
      <p:pic>
        <p:nvPicPr>
          <p:cNvPr id="7" name="Picture 6" descr="sector-standard-mapp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722" y="1325880"/>
            <a:ext cx="919625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Sektör eşlemesi — uç durum: GSMA karşılığı olmayan aile</a:t>
            </a:r>
          </a:p>
        </p:txBody>
      </p:sp>
      <p:pic>
        <p:nvPicPr>
          <p:cNvPr id="7" name="Picture 6" descr="sector-standard-mapping--edge-gsma-ga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873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ETSI EN 303 645 kimin için?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MASVS neden projeniz için en uygun?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CC ile MASVS farkı?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Tüketici </a:t>
            </a:r>
            <a:r>
              <a:rPr sz="2000" b="1">
                <a:solidFill>
                  <a:srgbClr val="1F2D3A"/>
                </a:solidFill>
              </a:rPr>
              <a:t>IoT</a:t>
            </a:r>
            <a:r>
              <a:rPr sz="2000" b="0">
                <a:solidFill>
                  <a:srgbClr val="1F2D3A"/>
                </a:solidFill>
              </a:rPr>
              <a:t> cihazları için temel güvenlik (varsayılan parola yok, güncelleme, güvenli iletişim…).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Proje uygulama odaklı; </a:t>
            </a:r>
            <a:r>
              <a:rPr sz="2000" b="1">
                <a:solidFill>
                  <a:srgbClr val="1F2D3A"/>
                </a:solidFill>
              </a:rPr>
              <a:t>MASVS</a:t>
            </a:r>
            <a:r>
              <a:rPr sz="2000" b="0">
                <a:solidFill>
                  <a:srgbClr val="1F2D3A"/>
                </a:solidFill>
              </a:rPr>
              <a:t> somut, kontrol edilebilir maddeler + </a:t>
            </a:r>
            <a:r>
              <a:rPr sz="2000" b="1">
                <a:solidFill>
                  <a:srgbClr val="1F2D3A"/>
                </a:solidFill>
              </a:rPr>
              <a:t>MASTG</a:t>
            </a:r>
            <a:r>
              <a:rPr sz="2000" b="0">
                <a:solidFill>
                  <a:srgbClr val="1F2D3A"/>
                </a:solidFill>
              </a:rPr>
              <a:t> test rehberi → doğrudan uygulanır.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CC</a:t>
            </a:r>
            <a:r>
              <a:rPr sz="2000" b="0">
                <a:solidFill>
                  <a:srgbClr val="1F2D3A"/>
                </a:solidFill>
              </a:rPr>
              <a:t> ağır, akredite laboratuvar/sertifika (EAL); </a:t>
            </a:r>
            <a:r>
              <a:rPr sz="2000" b="1">
                <a:solidFill>
                  <a:srgbClr val="1F2D3A"/>
                </a:solidFill>
              </a:rPr>
              <a:t>MASVS</a:t>
            </a:r>
            <a:r>
              <a:rPr sz="2000" b="0">
                <a:solidFill>
                  <a:srgbClr val="1F2D3A"/>
                </a:solidFill>
              </a:rPr>
              <a:t> hafif, açık, geliştirici-dostu </a:t>
            </a:r>
            <a:r>
              <a:rPr sz="2000" b="1">
                <a:solidFill>
                  <a:srgbClr val="1F2D3A"/>
                </a:solidFill>
              </a:rPr>
              <a:t>öz-değerlendirme</a:t>
            </a:r>
            <a:r>
              <a:rPr sz="2000" b="0">
                <a:solidFill>
                  <a:srgbClr val="1F2D3A"/>
                </a:solidFill>
              </a:rPr>
              <a:t> standardı.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Gereksinimleri yazılım planına ve varlık yönetimine aktarmak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Uyum matrisinin yapısı — şema</a:t>
            </a:r>
          </a:p>
        </p:txBody>
      </p:sp>
      <p:pic>
        <p:nvPicPr>
          <p:cNvPr id="7" name="Picture 6" descr="h13-10-uyum-matr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585" y="1325880"/>
            <a:ext cx="78565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aktarma kararı — şema</a:t>
            </a:r>
          </a:p>
        </p:txBody>
      </p:sp>
      <p:pic>
        <p:nvPicPr>
          <p:cNvPr id="7" name="Picture 6" descr="h13-02-gereksinim-kar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998" y="1325880"/>
            <a:ext cx="692969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→ varlık → önlem</a:t>
            </a:r>
          </a:p>
        </p:txBody>
      </p:sp>
      <p:pic>
        <p:nvPicPr>
          <p:cNvPr id="7" name="Picture 6" descr="h13-05-gereksinim-blog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264" y="1325880"/>
            <a:ext cx="5669166" cy="4278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bir </a:t>
            </a:r>
            <a:r>
              <a:rPr sz="2000" b="1">
                <a:solidFill>
                  <a:srgbClr val="1F2D3A"/>
                </a:solidFill>
              </a:rPr>
              <a:t>varlığa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önleme</a:t>
            </a:r>
            <a:r>
              <a:rPr sz="2000" b="0">
                <a:solidFill>
                  <a:srgbClr val="1F2D3A"/>
                </a:solidFill>
              </a:rPr>
              <a:t> bağlanır.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Varlık yönetimiyle bağ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 S5 </a:t>
            </a:r>
            <a:r>
              <a:rPr sz="2000" b="1">
                <a:solidFill>
                  <a:srgbClr val="1F2D3A"/>
                </a:solidFill>
              </a:rPr>
              <a:t>varlık listesine</a:t>
            </a:r>
            <a:r>
              <a:rPr sz="2000" b="0">
                <a:solidFill>
                  <a:srgbClr val="1F2D3A"/>
                </a:solidFill>
              </a:rPr>
              <a:t> bağlanır.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varlık: C/I/I+ etiketi, koruma önlemi.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Gereksinim, o korumayı </a:t>
            </a:r>
            <a:r>
              <a:rPr sz="2000" b="1">
                <a:solidFill>
                  <a:srgbClr val="1F2D3A"/>
                </a:solidFill>
              </a:rPr>
              <a:t>zorunlu</a:t>
            </a:r>
            <a:r>
              <a:rPr sz="2000" b="0">
                <a:solidFill>
                  <a:srgbClr val="1F2D3A"/>
                </a:solidFill>
              </a:rPr>
              <a:t> kılar.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Plana aktarmak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gereksinim → tasarım/kod (S6–S11).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Güvence gereksinimi → test (S16).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Süreç gereksinimi → geliştirme süreci (S13).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CR-03'e altı adımı uygulamak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CEN429-CR-03</a:t>
            </a:r>
            <a:r>
              <a:rPr sz="2000" b="0">
                <a:solidFill>
                  <a:srgbClr val="1F2D3A"/>
                </a:solidFill>
              </a:rPr>
              <a:t> ("anahtarlar iş bitince silinmelidir"):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1. Uygulanabilirlik:</a:t>
            </a:r>
            <a:r>
              <a:rPr sz="2000" b="0">
                <a:solidFill>
                  <a:srgbClr val="1F2D3A"/>
                </a:solidFill>
              </a:rPr>
              <a:t> oturum ve kasa dosyası anahtarı var → uygulanır.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2. Sorumluluk:</a:t>
            </a:r>
            <a:r>
              <a:rPr sz="2000" b="0">
                <a:solidFill>
                  <a:srgbClr val="1F2D3A"/>
                </a:solidFill>
              </a:rPr>
              <a:t> kod projenin kendisi → biz karşılarız.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3. Varlıklara bağlama:</a:t>
            </a:r>
            <a:r>
              <a:rPr sz="2000" b="0">
                <a:solidFill>
                  <a:srgbClr val="1F2D3A"/>
                </a:solidFill>
              </a:rPr>
              <a:t> kasa dosyası anahtarının "silinme" sütunu boş — </a:t>
            </a:r>
            <a:r>
              <a:rPr sz="2000" b="1">
                <a:solidFill>
                  <a:srgbClr val="1F2D3A"/>
                </a:solidFill>
              </a:rPr>
              <a:t>eksiklik burada fark 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örnek · tehditten sürüm planına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4. Tehditlere bağlama:</a:t>
            </a:r>
            <a:r>
              <a:rPr sz="2000" b="0">
                <a:solidFill>
                  <a:srgbClr val="1F2D3A"/>
                </a:solidFill>
              </a:rPr>
              <a:t> "fiziksel erişimi olan saldırgan bellek dökümü alır" tehdidine bağlanır.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5. Önlem/doğrulama: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crypto_wipe()</a:t>
            </a:r>
            <a:r>
              <a:rPr sz="2000" b="0">
                <a:solidFill>
                  <a:srgbClr val="1F2D3A"/>
                </a:solidFill>
              </a:rPr>
              <a:t> çağrısı; doğrulama: bellek dökümünde anahtar baytlarının </a:t>
            </a:r>
            <a:r>
              <a:rPr sz="2000" b="1">
                <a:solidFill>
                  <a:srgbClr val="1F2D3A"/>
                </a:solidFill>
              </a:rPr>
              <a:t>bulunmadığını</a:t>
            </a:r>
            <a:r>
              <a:rPr sz="2000" b="0">
                <a:solidFill>
                  <a:srgbClr val="1F2D3A"/>
                </a:solidFill>
              </a:rPr>
              <a:t> göstermek.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6. Sürüm planı:</a:t>
            </a:r>
            <a:r>
              <a:rPr sz="2000" b="0">
                <a:solidFill>
                  <a:srgbClr val="1F2D3A"/>
                </a:solidFill>
              </a:rPr>
              <a:t> oturum anahtarı v0.9'da karşılandı; kasa dosyası anahtarı v1.0'a planlandı, o güne kadar </a:t>
            </a:r>
            <a:r>
              <a:rPr sz="2000" b="1">
                <a:solidFill>
                  <a:srgbClr val="1F2D3A"/>
                </a:solidFill>
              </a:rPr>
              <a:t>karşılanmadı</a:t>
            </a:r>
            <a:r>
              <a:rPr sz="2000" b="0">
                <a:solidFill>
                  <a:srgbClr val="1F2D3A"/>
                </a:solidFill>
              </a:rPr>
              <a:t> + kalan risk yazılır.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Gereksinimi plana aktarmak (animasyon)</a:t>
            </a:r>
          </a:p>
        </p:txBody>
      </p:sp>
      <p:pic>
        <p:nvPicPr>
          <p:cNvPr id="7" name="Picture 6" descr="requirements-to-pla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988" y="1325880"/>
            <a:ext cx="90397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Gereksinimi plana aktarmak — uç durum: uygulanmaz</a:t>
            </a:r>
          </a:p>
        </p:txBody>
      </p:sp>
      <p:pic>
        <p:nvPicPr>
          <p:cNvPr id="7" name="Picture 6" descr="requirements-to-plan--edge-not-applicab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572" y="1325880"/>
            <a:ext cx="942055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7'nin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Her "uygulanmaz" kararı, gerekçesini destekleyen bir </a:t>
            </a:r>
            <a:r>
              <a:rPr sz="1800" b="1">
                <a:solidFill>
                  <a:srgbClr val="1F2D3A"/>
                </a:solidFill>
              </a:rPr>
              <a:t>kanıtla</a:t>
            </a:r>
            <a:r>
              <a:rPr sz="1800" b="0">
                <a:solidFill>
                  <a:srgbClr val="1F2D3A"/>
                </a:solidFill>
              </a:rPr>
              <a:t> (kod taraması, mimari diyagram) birlikte yazılmalı.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Gerekçesiz "uygulanmaz", gerekçesiz "karşılandı" kadar güvenilmezdir.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Altı adımdan 3. ve 4.'ü (varlık/tehdit bağlama) atlamak en sık yapılan hatadır.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Dersin gereksinim aileleri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aileleri — şema</a:t>
            </a:r>
          </a:p>
        </p:txBody>
      </p:sp>
      <p:pic>
        <p:nvPicPr>
          <p:cNvPr id="7" name="Picture 6" descr="h13-11-gereksinim-aile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539" y="1325880"/>
            <a:ext cx="699861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Dersin kendi kimlikleri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ders, açık standartlardan uyarlanmış kendi gereksinim ailelerini kullanır: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CEN429-</a:t>
            </a:r>
            <a:r>
              <a:rPr sz="2000" b="1">
                <a:solidFill>
                  <a:srgbClr val="1F2D3A"/>
                </a:solidFill>
              </a:rPr>
              <a:t>AP</a:t>
            </a:r>
            <a:r>
              <a:rPr sz="2000" b="0">
                <a:solidFill>
                  <a:srgbClr val="1F2D3A"/>
                </a:solidFill>
              </a:rPr>
              <a:t> (uygulama koruma), </a:t>
            </a:r>
            <a:r>
              <a:rPr sz="2000" b="1">
                <a:solidFill>
                  <a:srgbClr val="1F2D3A"/>
                </a:solidFill>
              </a:rPr>
              <a:t>ID</a:t>
            </a:r>
            <a:r>
              <a:rPr sz="2000" b="0">
                <a:solidFill>
                  <a:srgbClr val="1F2D3A"/>
                </a:solidFill>
              </a:rPr>
              <a:t> (kimlik), </a:t>
            </a:r>
            <a:r>
              <a:rPr sz="2000" b="1">
                <a:solidFill>
                  <a:srgbClr val="1F2D3A"/>
                </a:solidFill>
              </a:rPr>
              <a:t>AS</a:t>
            </a:r>
            <a:r>
              <a:rPr sz="2000" b="0">
                <a:solidFill>
                  <a:srgbClr val="1F2D3A"/>
                </a:solidFill>
              </a:rPr>
              <a:t> (varlık), </a:t>
            </a:r>
            <a:r>
              <a:rPr sz="2000" b="1">
                <a:solidFill>
                  <a:srgbClr val="1F2D3A"/>
                </a:solidFill>
              </a:rPr>
              <a:t>DR/DU/DT</a:t>
            </a:r>
            <a:r>
              <a:rPr sz="2000" b="0">
                <a:solidFill>
                  <a:srgbClr val="1F2D3A"/>
                </a:solidFill>
              </a:rPr>
              <a:t> (veri: beklemede/kullanımda/aktarımda)…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61"/>
                <a:gridCol w="3536145"/>
                <a:gridCol w="6567127"/>
              </a:tblGrid>
              <a:tr h="51755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Uygulama koruma (gizleme, RASP)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Hassas fonksiyonlar gizlenir ve bütünlük denetimiyle korunur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Kimlik ve bağlama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Cihaz ve sürüm, anahtar kullanımına bağlanır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Varlık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varlık C/I/I+ ile etiketlenir ve yaşam döngüsü belgelenir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5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Beklemede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Yerel veri AEAD ile şifreli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80"/>
                <a:gridCol w="2268735"/>
                <a:gridCol w="7778520"/>
              </a:tblGrid>
              <a:tr h="44958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95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Kullanımdaki veri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 kullanımdan sonra silinir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Aktarımdaki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1.3 + zincir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95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Raporlama/günlük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Sürümde hassas veri düz loglanmaz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Onaylı algoritma, kip, anahtar uzunluğu; anahtar hiyerarşisi belgeli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95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Geliştirme/süreç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değişiklik birleştirilmeden önce incelenir; SBOM güncellenir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 aile → haftalara bağ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 → 4, 5, 6, 9, 11, 14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CR/DR/DU/DT → 3, 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 → 1, 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DV/RP → 12,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bu ailelerden bir </a:t>
            </a:r>
            <a:r>
              <a:rPr sz="2000" b="1">
                <a:solidFill>
                  <a:srgbClr val="1F2D3A"/>
                </a:solidFill>
              </a:rPr>
              <a:t>alt küme</a:t>
            </a:r>
            <a:r>
              <a:rPr sz="2000" b="0">
                <a:solidFill>
                  <a:srgbClr val="1F2D3A"/>
                </a:solidFill>
              </a:rPr>
              <a:t> seçer.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Uyum matrisi etkinliği · Adım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projenizden </a:t>
            </a:r>
            <a:r>
              <a:rPr sz="2000" b="1">
                <a:solidFill>
                  <a:srgbClr val="1F2D3A"/>
                </a:solidFill>
              </a:rPr>
              <a:t>beş gereksinim</a:t>
            </a:r>
            <a:r>
              <a:rPr sz="2000" b="0">
                <a:solidFill>
                  <a:srgbClr val="1F2D3A"/>
                </a:solidFill>
              </a:rPr>
              <a:t> seçin (farklı ailelerden).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için bir </a:t>
            </a:r>
            <a:r>
              <a:rPr sz="2000" b="1">
                <a:solidFill>
                  <a:srgbClr val="1F2D3A"/>
                </a:solidFill>
              </a:rPr>
              <a:t>gereksinim bloğu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adım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için matris satırı doldurun: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820379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1636730"/>
                <a:gridCol w="1636730"/>
                <a:gridCol w="2364165"/>
                <a:gridCol w="1636730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adım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birini </a:t>
            </a:r>
            <a:r>
              <a:rPr sz="2000" b="1">
                <a:solidFill>
                  <a:srgbClr val="1F2D3A"/>
                </a:solidFill>
              </a:rPr>
              <a:t>devredilen</a:t>
            </a:r>
            <a:r>
              <a:rPr sz="2000" b="0">
                <a:solidFill>
                  <a:srgbClr val="1F2D3A"/>
                </a:solidFill>
              </a:rPr>
              <a:t> olarak yazın (kime/neden/nasıl).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birinin </a:t>
            </a:r>
            <a:r>
              <a:rPr sz="2000" b="1">
                <a:solidFill>
                  <a:srgbClr val="1F2D3A"/>
                </a:solidFill>
              </a:rPr>
              <a:t>kanıtını</a:t>
            </a:r>
            <a:r>
              <a:rPr sz="2000" b="0">
                <a:solidFill>
                  <a:srgbClr val="1F2D3A"/>
                </a:solidFill>
              </a:rPr>
              <a:t> somut gösterin.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"karşılanmadı" varsa </a:t>
            </a:r>
            <a:r>
              <a:rPr sz="2000" b="1">
                <a:solidFill>
                  <a:srgbClr val="1F2D3A"/>
                </a:solidFill>
              </a:rPr>
              <a:t>kalan riske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gözüyle kontrol: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satırın kanıtı var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Devredilenler açık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 </a:t>
            </a:r>
            <a:r>
              <a:rPr sz="2000" b="1">
                <a:solidFill>
                  <a:srgbClr val="1F2D3A"/>
                </a:solidFill>
              </a:rPr>
              <a:t>doğrulanabilir</a:t>
            </a:r>
            <a:r>
              <a:rPr sz="2000" b="0">
                <a:solidFill>
                  <a:srgbClr val="1F2D3A"/>
                </a:solidFill>
              </a:rPr>
              <a:t> mi?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İşlenmiş örnek · ilk taslak (yetersiz)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Bir takımın </a:t>
            </a:r>
            <a:r>
              <a:rPr sz="1800" b="0">
                <a:solidFill>
                  <a:srgbClr val="A1123F"/>
                </a:solidFill>
                <a:latin typeface="Consolas"/>
              </a:rPr>
              <a:t>CEN429-AP-04</a:t>
            </a:r>
            <a:r>
              <a:rPr sz="1800" b="0">
                <a:solidFill>
                  <a:srgbClr val="1F2D3A"/>
                </a:solidFill>
              </a:rPr>
              <a:t> için matris satırı, </a:t>
            </a:r>
            <a:r>
              <a:rPr sz="1800" b="1">
                <a:solidFill>
                  <a:srgbClr val="1F2D3A"/>
                </a:solidFill>
              </a:rPr>
              <a:t>ilk taslakta</a:t>
            </a:r>
            <a:r>
              <a:rPr sz="1800" b="0">
                <a:solidFill>
                  <a:srgbClr val="1F2D3A"/>
                </a:solidFill>
              </a:rPr>
              <a:t>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3" cy="1212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58"/>
                <a:gridCol w="4280679"/>
                <a:gridCol w="1175088"/>
                <a:gridCol w="2098372"/>
                <a:gridCol w="1259023"/>
                <a:gridCol w="755413"/>
              </a:tblGrid>
              <a:tr h="60624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0624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CEN429-AP-04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 çalışma anında bütünlüğünü denetlemeli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Bütünlük kontrolü var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edildi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164737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Üç sorun: (1) önlem, gereksinimin </a:t>
            </a:r>
            <a:r>
              <a:rPr sz="1800" b="1">
                <a:solidFill>
                  <a:srgbClr val="1F2D3A"/>
                </a:solidFill>
              </a:rPr>
              <a:t>tekrarı</a:t>
            </a:r>
            <a:r>
              <a:rPr sz="1800" b="0">
                <a:solidFill>
                  <a:srgbClr val="1F2D3A"/>
                </a:solidFill>
              </a:rPr>
              <a:t>. (2) "Test edildi" doğrulama </a:t>
            </a:r>
            <a:r>
              <a:rPr sz="1800" b="1">
                <a:solidFill>
                  <a:srgbClr val="1F2D3A"/>
                </a:solidFill>
              </a:rPr>
              <a:t>yöntemi değil</a:t>
            </a:r>
            <a:r>
              <a:rPr sz="1800" b="0">
                <a:solidFill>
                  <a:srgbClr val="1F2D3A"/>
                </a:solidFill>
              </a:rPr>
              <a:t>. (3) Kanıt </a:t>
            </a:r>
            <a:r>
              <a:rPr sz="1800" b="1">
                <a:solidFill>
                  <a:srgbClr val="1F2D3A"/>
                </a:solidFill>
              </a:rPr>
              <a:t>boş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Taslağı düzeltme · adım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Önlemi somutlaştır: açılışta kod bölümünün özeti (hash) hesaplanır, derleme zamanında gömülü beklenen özetle karşılaştırılır; uyuşmazsa çalışma durur (S12.3).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Doğrulama yöntemini netleştir: binary dosyanın bir baytı değiştirilir, uygulamanın </a:t>
            </a:r>
            <a:r>
              <a:rPr sz="2000" b="1">
                <a:solidFill>
                  <a:srgbClr val="1F2D3A"/>
                </a:solidFill>
              </a:rPr>
              <a:t>başlamayı reddettiği</a:t>
            </a:r>
            <a:r>
              <a:rPr sz="2000" b="0">
                <a:solidFill>
                  <a:srgbClr val="1F2D3A"/>
                </a:solidFill>
              </a:rPr>
              <a:t> doğrulanır.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Kanıt ekle: CI işi </a:t>
            </a:r>
            <a:r>
              <a:rPr sz="2000" b="0">
                <a:solidFill>
                  <a:srgbClr val="A1123F"/>
                </a:solidFill>
                <a:latin typeface="Consolas"/>
              </a:rPr>
              <a:t>ci-integrity-check</a:t>
            </a:r>
            <a:r>
              <a:rPr sz="2000" b="0">
                <a:solidFill>
                  <a:srgbClr val="1F2D3A"/>
                </a:solidFill>
              </a:rPr>
              <a:t>, çalıştırma </a:t>
            </a:r>
            <a:r>
              <a:rPr sz="2000" b="1">
                <a:solidFill>
                  <a:srgbClr val="1F2D3A"/>
                </a:solidFill>
              </a:rPr>
              <a:t>#391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integrity_test.log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Düzeltilmiş satır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1212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022"/>
                <a:gridCol w="752519"/>
                <a:gridCol w="3493841"/>
                <a:gridCol w="2902575"/>
                <a:gridCol w="2902575"/>
              </a:tblGrid>
              <a:tr h="60624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0624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CEN429-AP-04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S12.3: açılış özeti hesaplanır, gömülü özetle karşılaştırılır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Bayt değişince başlamanın reddedildiği test edilir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ci-integrity-check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#391,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integrity_test.log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Fark neyde?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 satırın </a:t>
            </a:r>
            <a:r>
              <a:rPr sz="2000" b="1">
                <a:solidFill>
                  <a:srgbClr val="1F2D3A"/>
                </a:solidFill>
              </a:rPr>
              <a:t>uzunluğunda</a:t>
            </a:r>
            <a:r>
              <a:rPr sz="2000" b="0">
                <a:solidFill>
                  <a:srgbClr val="1F2D3A"/>
                </a:solidFill>
              </a:rPr>
              <a:t> değil, her hücrenin </a:t>
            </a:r>
            <a:r>
              <a:rPr sz="2000" b="1">
                <a:solidFill>
                  <a:srgbClr val="1F2D3A"/>
                </a:solidFill>
              </a:rPr>
              <a:t>somutluğunda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taslak da "dolu" görünüyordu ama hiçbir hücresi </a:t>
            </a:r>
            <a:r>
              <a:rPr sz="2000" b="1">
                <a:solidFill>
                  <a:srgbClr val="1F2D3A"/>
                </a:solidFill>
              </a:rPr>
              <a:t>bağımsız olarak doğrulanamazdı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için önemli olan: her hücreyi okuyunca "bunu nereden biliyoruz?" sorusuna cevap bulabilmek.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8'in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satırın kanıtı </a:t>
            </a:r>
            <a:r>
              <a:rPr sz="2000" b="1">
                <a:solidFill>
                  <a:srgbClr val="1F2D3A"/>
                </a:solidFill>
              </a:rPr>
              <a:t>o satıra özgü</a:t>
            </a:r>
            <a:r>
              <a:rPr sz="2000" b="0">
                <a:solidFill>
                  <a:srgbClr val="1F2D3A"/>
                </a:solidFill>
              </a:rPr>
              <a:t> olmalı: belirli test adı, belirli CI numarası, belirli günlük dosyası.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genel raporu bütün satırlara kopyalamak, matrisin </a:t>
            </a:r>
            <a:r>
              <a:rPr sz="2000" b="1">
                <a:solidFill>
                  <a:srgbClr val="1F2D3A"/>
                </a:solidFill>
              </a:rPr>
              <a:t>tamamını</a:t>
            </a:r>
            <a:r>
              <a:rPr sz="2000" b="0">
                <a:solidFill>
                  <a:srgbClr val="1F2D3A"/>
                </a:solidFill>
              </a:rPr>
              <a:t> şüpheli hâle getirir.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Genel bir rapora referans veriliyorsa, raporun </a:t>
            </a:r>
            <a:r>
              <a:rPr sz="2000" b="1">
                <a:solidFill>
                  <a:srgbClr val="1F2D3A"/>
                </a:solidFill>
              </a:rPr>
              <a:t>hangi bölümü/sayfası</a:t>
            </a:r>
            <a:r>
              <a:rPr sz="2000" b="0">
                <a:solidFill>
                  <a:srgbClr val="1F2D3A"/>
                </a:solidFill>
              </a:rPr>
              <a:t> olduğu da belirtilmeli.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7–8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Gereksinim hangi iki şeye bağlanır?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Dersin gereksinim ailelerinden üçünü sayın.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Uyum matrisinde her satırda ne olmalı?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7–8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Yukarıda </a:t>
            </a:r>
            <a:r>
              <a:rPr sz="2000" b="1">
                <a:solidFill>
                  <a:srgbClr val="1F2D3A"/>
                </a:solidFill>
              </a:rPr>
              <a:t>kaynağa</a:t>
            </a:r>
            <a:r>
              <a:rPr sz="2000" b="0">
                <a:solidFill>
                  <a:srgbClr val="1F2D3A"/>
                </a:solidFill>
              </a:rPr>
              <a:t> (tehdit/standart/varlık) ve aşağıda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(test/kod) — iki yön.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(Dokuz aileden herhangi üçü) ör. </a:t>
            </a:r>
            <a:r>
              <a:rPr sz="2000" b="1">
                <a:solidFill>
                  <a:srgbClr val="1F2D3A"/>
                </a:solidFill>
              </a:rPr>
              <a:t>veri güvenliği · kod sağlamlaştırma (hardening) · RASP · kriptografi/sertifika · bellek koruması · arayüz koruması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Gereksinim </a:t>
            </a:r>
            <a:r>
              <a:rPr sz="2000" b="1">
                <a:solidFill>
                  <a:srgbClr val="1F2D3A"/>
                </a:solidFill>
              </a:rPr>
              <a:t>ID+ifade · durum</a:t>
            </a:r>
            <a:r>
              <a:rPr sz="2000" b="0">
                <a:solidFill>
                  <a:srgbClr val="1F2D3A"/>
                </a:solidFill>
              </a:rPr>
              <a:t> (karşılandı/devredildi) </a:t>
            </a:r>
            <a:r>
              <a:rPr sz="2000" b="1">
                <a:solidFill>
                  <a:srgbClr val="1F2D3A"/>
                </a:solidFill>
              </a:rPr>
              <a:t>· kanıt</a:t>
            </a:r>
            <a:r>
              <a:rPr sz="2000" b="0">
                <a:solidFill>
                  <a:srgbClr val="1F2D3A"/>
                </a:solidFill>
              </a:rPr>
              <a:t> (test/dosya/S-bölümü). </a:t>
            </a:r>
            <a:r>
              <a:rPr sz="2000" b="1">
                <a:solidFill>
                  <a:srgbClr val="1F2D3A"/>
                </a:solidFill>
              </a:rPr>
              <a:t>Kanıtsız satır karşılanmamış</a:t>
            </a:r>
            <a:r>
              <a:rPr sz="2000" b="0">
                <a:solidFill>
                  <a:srgbClr val="1F2D3A"/>
                </a:solidFill>
              </a:rPr>
              <a:t> sayılır.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Uçtan uca: NotKasa'nın uyum matrisi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</a:rPr>
              <a:t>Sentetik uygulama </a:t>
            </a:r>
            <a:r>
              <a:rPr sz="1100" b="1">
                <a:solidFill>
                  <a:srgbClr val="1F2D3A"/>
                </a:solidFill>
              </a:rPr>
              <a:t>NotKasa</a:t>
            </a:r>
            <a:r>
              <a:rPr sz="1100" b="0">
                <a:solidFill>
                  <a:srgbClr val="1F2D3A"/>
                </a:solidFill>
              </a:rPr>
              <a:t> (yerel şifreli not tutar, sunucuyla konuşur, güncellenir) için gereksinim tehditten türer: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26946"/>
            <a:ext cx="10911535" cy="103632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Tehdit: cihaz çalınırsa yerel notlar okunur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   ↓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Amaç: beklemede gizlilik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   ↓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Gereksinim: C sınıfı veri AEAD ile şifrelenir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2994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</a:rPr>
              <a:t>Bu zincirden iki "karşılandı" bloğu: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74060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2D3A"/>
                </a:solidFill>
              </a:rPr>
              <a:t>DR-01 — beklemede veri: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75126"/>
            <a:ext cx="10911535" cy="118872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CEN429-DR-01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Metin: Yerel DB'deki C sınıfı veri AES-256-GCM ile şifrelenir.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Karşılama: AES-256-GCM, anahtar TEE'de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Doğrulama: T-05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Kanıt: test çıktısı (S16)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73574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2D3A"/>
                </a:solidFill>
              </a:rPr>
              <a:t>CR-02 — kripto: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74640"/>
            <a:ext cx="10911535" cy="118872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CEN429-CR-02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Metin: Anahtarların amacı, kripto-periyodu, imhası belgelenir.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Karşılama: S8 anahtar tablosu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Doğrulama: belge incelemesi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Kanıt: S8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Uçtan uca: NotKasa'nın uyum matrisi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2D3A"/>
                </a:solidFill>
              </a:rPr>
              <a:t>DT-03 — aktarımda veri: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26946"/>
            <a:ext cx="10911535" cy="118872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CEN429-DT-03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Metin: Sunucu iletişimi TLS 1.3 ve sertifika zinciri doğrulaması kullanır.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Karşılama: TLS 1.3 + SAN denetimi + SPKI pin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Doğrulama: T-11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Kanıt: test + S11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25394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2D3A"/>
                </a:solidFill>
              </a:rPr>
              <a:t>AP-04 — uygulama koruma (devredilen):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6460"/>
            <a:ext cx="10911535" cy="118872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CEN429-AP-04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Metin: Güvenli kurulum ve güncelleme sağlanır.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Durum: Devredildi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Kime: Üst uygulama (MPA)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Neden: SDK dağıtım kanalına sahip değil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Nasıl: MPA imzalı güncelleme + sürüm denetimi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24908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2D3A"/>
                </a:solidFill>
              </a:rPr>
              <a:t>AS-05 — karşılanmadı: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25974"/>
            <a:ext cx="10911535" cy="103632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CEN429-AS-05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Metin: Tüm hassas varlıklar için bellek izleme tespiti.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Durum: Karşılanmadı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Kalan risk: köklü cihazda canlı bellek analizi</a:t>
            </a:r>
          </a:p>
          <a:p>
            <a:pPr algn="l"/>
            <a:r>
              <a:rPr sz="1000">
                <a:solidFill>
                  <a:srgbClr val="1F2D3A"/>
                </a:solidFill>
                <a:latin typeface="Consolas"/>
              </a:rPr>
              <a:t>Azaltma: kısa ömürlü anahtar + sunucu denetimi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Matris · toplu görünüm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6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2909742"/>
                <a:gridCol w="1636730"/>
                <a:gridCol w="254602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DR-01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CR-02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DT-03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AP-04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kalan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Matristen okunanlar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karşılandı (kanıtlı), bir devredildi, bir kalan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 izlenebilir.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bu tablodan başlar.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Klasik hatalar —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5617"/>
                <a:gridCol w="193591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Doğrulanamaz gereksinim ("güvenli olmalı" gibi)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Kanıtsız "karşılandı"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Sessiz devretme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EAL'i güvenlik miktarı sanmak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FIPS'li kütüphane = FIPS uyumlu sanmak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Kalan riski boş bırakmak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satırın ayrıntısı, ilgili bölümdeki ⚠️ kutusunda ve kuralda işlendi; burada tek bakışta toparlıyoruz.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Dönem projesi: bu hafta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S14 ve S17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S17 ve S14, değerlendiricinin </a:t>
            </a:r>
            <a:r>
              <a:rPr sz="2000" b="1">
                <a:solidFill>
                  <a:srgbClr val="1F2D3A"/>
                </a:solidFill>
              </a:rPr>
              <a:t>ilk açtığı</a:t>
            </a:r>
            <a:r>
              <a:rPr sz="2000" b="0">
                <a:solidFill>
                  <a:srgbClr val="1F2D3A"/>
                </a:solidFill>
              </a:rPr>
              <a:t> belgelerdir.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S17 uyum matrisi:</a:t>
            </a:r>
            <a:r>
              <a:rPr sz="2000" b="0">
                <a:solidFill>
                  <a:srgbClr val="1F2D3A"/>
                </a:solidFill>
              </a:rPr>
              <a:t> uygulanan her gereksinim için durum, bölüm, doğrulama, kanıt.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S14 devredilenler:</a:t>
            </a:r>
            <a:r>
              <a:rPr sz="2000" b="0">
                <a:solidFill>
                  <a:srgbClr val="1F2D3A"/>
                </a:solidFill>
              </a:rPr>
              <a:t> kime, neden, nasıl.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kalan riske</a:t>
            </a:r>
            <a:r>
              <a:rPr sz="2000" b="0">
                <a:solidFill>
                  <a:srgbClr val="1F2D3A"/>
                </a:solidFill>
              </a:rPr>
              <a:t> yaz.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gözüyle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Kanıtsız "karşılandı" = karşılanmamış.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Devredilenler açık ve gerekçeli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 doğrulanabilir mi?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45 dakikada nasıl hazırlanır + kanıt klasörü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Aile tablosundan uygulanan gereksinimleri işaretleyin; uygulanmayanları "uygulanmaz, gerekçe: ..." bırakın.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Altı sütunu (kimlik, gereksinim, durum, önlem, doğrulama, kanıt) doldurun; kanıtsız "karşılandı" yazmayın.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"Devredildi" satırlarını S14'e, kime/neden/nasıl ile taşıyın.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Varlık tablonuzu (S5) her gereksinime bağlayın; S1'e dayandığınız standartları yazın.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93008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evidence/week13/  &lt;- test/log/pcap dosyaları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README.md       &lt;- her dosya hangi gereksinimin kanıtı, bir satırla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Zaman kısıtlıysa · öncelik sırası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Önce </a:t>
            </a:r>
            <a:r>
              <a:rPr sz="1800" b="1">
                <a:solidFill>
                  <a:srgbClr val="1F2D3A"/>
                </a:solidFill>
              </a:rPr>
              <a:t>en az 15 gereksinimlik</a:t>
            </a:r>
            <a:r>
              <a:rPr sz="1800" b="0">
                <a:solidFill>
                  <a:srgbClr val="1F2D3A"/>
                </a:solidFill>
              </a:rPr>
              <a:t> bir S17 iskeleti (kimlik+gereksinim+durum) — boş S17'den çok daha iyi.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Elde </a:t>
            </a:r>
            <a:r>
              <a:rPr sz="1800" b="1">
                <a:solidFill>
                  <a:srgbClr val="1F2D3A"/>
                </a:solidFill>
              </a:rPr>
              <a:t>gerçek kanıtı olan</a:t>
            </a:r>
            <a:r>
              <a:rPr sz="1800" b="0">
                <a:solidFill>
                  <a:srgbClr val="1F2D3A"/>
                </a:solidFill>
              </a:rPr>
              <a:t> "karşılandı" satırlarını tamamlayın; kanıtı olmayanı dürüstçe "karşılanmadı" yapın.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Devredilen satırları S14'e taşıyın.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Son olarak kalan önlem/doğrulama sütunlarını doldurun.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9300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"az ama dürüst" bir matris, "çok ama kanıtsız" olandan her zaman daha iyi puan alır.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İyi bir güvenlik gereksiniminin dört ölçütü?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Doğrulanabilir, tekil, ölçülebilir, gerçekçi.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"Uygulama güvenli olmalıdır" neden kötü? Nasıl düzeltilir?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Doğrulanamaz. Ölçülebilir yazılır: ör. "sürüm derlemesi yığın koruyucu, PIE ve tam RELRO ile üretilir".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İzlenebilirlik zinciri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Gereksinim → önlem → doğrulama → kanıt. Her gereksinim bir kanıta bağlanır.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Uyum matrisinde kanıtsız "karşılandı"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Değerlendirici için karşılanmamış sayılır; ilk bulgulardan biridir.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gereksinimi devrederken hangi üç soru yanıtlanır?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Kime, neden, nasıl. Sessiz devretme "karşılanmadı" sayılır.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 ile PP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ST tek ürünün güvenlik hedefi; PP bir ürün sınıfı için ortak gereksinim seti. ST genelde bir PP'yi temel alır.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"EAL4+ her zaman EAL2'den güvenli" doğru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Hayır. EAL değerlendirmenin derinliğidir; güvenlik ST'deki tehdit ve amaçlara bağlıdır. "+" ek güvence bileşenidir.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FIPS doğrulanmış kütüphane kullanan uygulama FIPS uyumlu mudur?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Tek başına değil. Doğrulama modülü kapsar; uygulama onaylı kipte, doğru kullanmalı, anahtarları doğru yönetmeli.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ETSI EN 303 645'in "hassas parametreleri güvenle sakla" maddesi projede nereye karşılık gelir?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S5 varlık listesi, S7 veri güvenliği/kabuk matrisi, S8 anahtar yaşam döngüsü.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kütüphane "güvenli güncelleme" gereksinimini karşılayamıyorsa?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Üst uygulamaya devreder ve kılavuzda kime/neden/nasıl karşılanacağını yazar.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173"/>
                <a:gridCol w="6408361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İşlevsel/güvence/süreç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Üç gereksinim türü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İzlenebilirlik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Gereksinim→kanıt zinciri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Başka tarafa aktarılan 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TOE/ST/PP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CC temel kavramları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SFR/SAR/EAL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İşlevsel/güvence/derinlik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14. hafta — Tigress ve çeşitlendirme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2090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 hafta tanımladığımız dersin gereksinim ailelerinden </a:t>
            </a:r>
            <a:r>
              <a:rPr sz="2000" b="1">
                <a:solidFill>
                  <a:srgbClr val="1F2D3A"/>
                </a:solidFill>
              </a:rPr>
              <a:t>CEN429-AP</a:t>
            </a:r>
            <a:r>
              <a:rPr sz="2000" b="0">
                <a:solidFill>
                  <a:srgbClr val="1F2D3A"/>
                </a:solidFill>
              </a:rPr>
              <a:t> (uygulama koruması) grubundaki "hassas kod bölümleri gizlenmelidir" gibi gereksinimlerin somut karşılığını, yani </a:t>
            </a:r>
            <a:r>
              <a:rPr sz="2000" b="1">
                <a:solidFill>
                  <a:srgbClr val="1F2D3A"/>
                </a:solidFill>
              </a:rPr>
              <a:t>önlem</a:t>
            </a:r>
            <a:r>
              <a:rPr sz="2000" b="0">
                <a:solidFill>
                  <a:srgbClr val="1F2D3A"/>
                </a:solidFill>
              </a:rPr>
              <a:t> tarafını, 14. haftada göreceğiz: Tigress aracıyla kod gizleme ve çeşitlendirme dönüşümlerini uygulayıp bunları uyum matrisinizin (S17) ilgili satırlarına bağlayacaksınız. Gizleme kurallarının otomatik, çeşitlendirilmiş uygulaması; ölçme ve derleme hattı.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13 — Güvenlik Gereksinimleri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