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güvenlik gereksinimlerini okuyup kendi projemize eşlemeyi öğreniyoruz: gereksinim, durum, kanıt.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güvenlik gereksinimlerini okuyup kendi projemize eşlemeyi öğreniyoruz: gereksinim → önlem → doğrulama → kanıt. Sıfır ön bilgi; her terimi tanımlayacağız.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Gereksinim/standart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gereksinim bloğu ve devredilenler.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Ortak Kriterler ve FIPS.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sektör standartları.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gereksinimleri projeye aktarma.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"NotKasa" ürünü için birkaç gereksinim bloğunu ve matris satırını dolduruyoruz.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aile için bir örnek gereksinim; öğrenci kendi projesine benzerini yazar.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Güvenlik Gereksinimleri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11.12.2026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355"/>
                <a:gridCol w="935274"/>
                <a:gridCol w="9144905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iyi gereksinim · izlenebilirlik · gereksinim bloğu · devredilenler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Ortak Kriterler (TOE, ST, PP, SFR/SAR, EAL) · 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6–9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ETSI, GSMA, EMVCo, PCI, MASVS · dersin gereksinim aileleri · uyum matrisi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güvenlik gereksinimleri nasıl standartlaştı?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TCSEC</a:t>
            </a:r>
            <a:r>
              <a:rPr sz="1800" b="0">
                <a:solidFill>
                  <a:srgbClr val="1F2D3A"/>
                </a:solidFill>
              </a:rPr>
              <a:t> gereksinim düzeylerini resmîleştirir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FIPS 140</a:t>
            </a:r>
            <a:r>
              <a:rPr sz="1800" b="0">
                <a:solidFill>
                  <a:srgbClr val="1F2D3A"/>
                </a:solidFill>
              </a:rPr>
              <a:t> kriptografik modül gereksinimleri (bugün </a:t>
            </a:r>
            <a:r>
              <a:rPr sz="1800" b="1">
                <a:solidFill>
                  <a:srgbClr val="1F2D3A"/>
                </a:solidFill>
              </a:rPr>
              <a:t>140-3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Ortak Kriterler</a:t>
            </a:r>
            <a:r>
              <a:rPr sz="1800" b="0">
                <a:solidFill>
                  <a:srgbClr val="1F2D3A"/>
                </a:solidFill>
              </a:rPr>
              <a:t>: </a:t>
            </a:r>
            <a:r>
              <a:rPr sz="1800" b="1">
                <a:solidFill>
                  <a:srgbClr val="1F2D3A"/>
                </a:solidFill>
              </a:rPr>
              <a:t>PP/ST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1">
                <a:solidFill>
                  <a:srgbClr val="1F2D3A"/>
                </a:solidFill>
              </a:rPr>
              <a:t>SFR/SAR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1">
                <a:solidFill>
                  <a:srgbClr val="1F2D3A"/>
                </a:solidFill>
              </a:rPr>
              <a:t>EAL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OWASP MASVS</a:t>
            </a:r>
            <a:r>
              <a:rPr sz="1800" b="0">
                <a:solidFill>
                  <a:srgbClr val="1F2D3A"/>
                </a:solidFill>
              </a:rPr>
              <a:t> (mobil), </a:t>
            </a:r>
            <a:r>
              <a:rPr sz="1800" b="1">
                <a:solidFill>
                  <a:srgbClr val="1F2D3A"/>
                </a:solidFill>
              </a:rPr>
              <a:t>ETSI EN 303 645</a:t>
            </a:r>
            <a:r>
              <a:rPr sz="1800" b="0">
                <a:solidFill>
                  <a:srgbClr val="1F2D3A"/>
                </a:solidFill>
              </a:rPr>
              <a:t> (IoT), </a:t>
            </a:r>
            <a:r>
              <a:rPr sz="1800" b="1">
                <a:solidFill>
                  <a:srgbClr val="1F2D3A"/>
                </a:solidFill>
              </a:rPr>
              <a:t>EMVCo/PCI</a:t>
            </a:r>
            <a:r>
              <a:rPr sz="1800" b="0">
                <a:solidFill>
                  <a:srgbClr val="1F2D3A"/>
                </a:solidFill>
              </a:rPr>
              <a:t> (ödeme)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Değişmeyen ilke: gereksinim </a:t>
            </a:r>
            <a:r>
              <a:rPr sz="1800" b="1">
                <a:solidFill>
                  <a:srgbClr val="1F2D3A"/>
                </a:solidFill>
              </a:rPr>
              <a:t>ölçülebilir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izlenebilir</a:t>
            </a:r>
            <a:r>
              <a:rPr sz="1800" b="0">
                <a:solidFill>
                  <a:srgbClr val="1F2D3A"/>
                </a:solidFill>
              </a:rPr>
              <a:t> olmalı; kanıtsız "karşılandı" geçersizdir.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12. hafta:</a:t>
            </a:r>
            <a:r>
              <a:rPr sz="2000" b="0">
                <a:solidFill>
                  <a:srgbClr val="1F2D3A"/>
                </a:solidFill>
              </a:rPr>
              <a:t> bir ürün nasıl </a:t>
            </a:r>
            <a:r>
              <a:rPr sz="2000" b="1">
                <a:solidFill>
                  <a:srgbClr val="1F2D3A"/>
                </a:solidFill>
              </a:rPr>
              <a:t>değerlendirilir/test 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(13):</a:t>
            </a:r>
            <a:r>
              <a:rPr sz="2000" b="0">
                <a:solidFill>
                  <a:srgbClr val="1F2D3A"/>
                </a:solidFill>
              </a:rPr>
              <a:t> değerlendirmenin ölçtüğü </a:t>
            </a:r>
            <a:r>
              <a:rPr sz="2000" b="1">
                <a:solidFill>
                  <a:srgbClr val="1F2D3A"/>
                </a:solidFill>
              </a:rPr>
              <a:t>gereksinimler</a:t>
            </a:r>
            <a:r>
              <a:rPr sz="2000" b="0">
                <a:solidFill>
                  <a:srgbClr val="1F2D3A"/>
                </a:solidFill>
              </a:rPr>
              <a:t> nereden gelir, nasıl yazılır, nasıl izlenir.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projenizin </a:t>
            </a:r>
            <a:r>
              <a:rPr sz="2000" b="1">
                <a:solidFill>
                  <a:srgbClr val="1F2D3A"/>
                </a:solidFill>
              </a:rPr>
              <a:t>uyum matrisi</a:t>
            </a:r>
            <a:r>
              <a:rPr sz="2000" b="0">
                <a:solidFill>
                  <a:srgbClr val="1F2D3A"/>
                </a:solidFill>
              </a:rPr>
              <a:t> (S17) ve </a:t>
            </a:r>
            <a:r>
              <a:rPr sz="2000" b="1">
                <a:solidFill>
                  <a:srgbClr val="1F2D3A"/>
                </a:solidFill>
              </a:rPr>
              <a:t>devredilenler</a:t>
            </a:r>
            <a:r>
              <a:rPr sz="2000" b="0">
                <a:solidFill>
                  <a:srgbClr val="1F2D3A"/>
                </a:solidFill>
              </a:rPr>
              <a:t> (S14).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ÖÇ.7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bir güvenlik gereksinimini kötüsünden ayırmak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izlenebilirlik/uyum matrisi</a:t>
            </a:r>
            <a:r>
              <a:rPr sz="2000" b="0">
                <a:solidFill>
                  <a:srgbClr val="1F2D3A"/>
                </a:solidFill>
              </a:rPr>
              <a:t> kurmak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CC, FIPS, ETSI, EMVCo, PCI, MASVS'in ne istediğini karşılaştırmak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"his" değil, </a:t>
            </a:r>
            <a:r>
              <a:rPr sz="2000" b="1">
                <a:solidFill>
                  <a:srgbClr val="1F2D3A"/>
                </a:solidFill>
              </a:rPr>
              <a:t>yazılı, ölçülebilir, izlenebilir</a:t>
            </a:r>
            <a:r>
              <a:rPr sz="2000" b="0">
                <a:solidFill>
                  <a:srgbClr val="1F2D3A"/>
                </a:solidFill>
              </a:rPr>
              <a:t> gereksinimlerle yönetilir: gereksinim → önlem → doğrulama → kanıt.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bu zinciri kurmayı öğreneceğiz.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(requirement)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Gereksinim:</a:t>
            </a:r>
            <a:r>
              <a:rPr sz="2000" b="0">
                <a:solidFill>
                  <a:srgbClr val="1F2D3A"/>
                </a:solidFill>
              </a:rPr>
              <a:t> sistemin </a:t>
            </a:r>
            <a:r>
              <a:rPr sz="2000" b="1">
                <a:solidFill>
                  <a:srgbClr val="1F2D3A"/>
                </a:solidFill>
              </a:rPr>
              <a:t>karşılaması gereken</a:t>
            </a:r>
            <a:r>
              <a:rPr sz="2000" b="0">
                <a:solidFill>
                  <a:srgbClr val="1F2D3A"/>
                </a:solidFill>
              </a:rPr>
              <a:t> bir koşul.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gereksinimi: bir güvenlik koşulu.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gereksinim </a:t>
            </a:r>
            <a:r>
              <a:rPr sz="2000" b="1">
                <a:solidFill>
                  <a:srgbClr val="1F2D3A"/>
                </a:solidFill>
              </a:rPr>
              <a:t>doğrulanabilir</a:t>
            </a:r>
            <a:r>
              <a:rPr sz="2000" b="0">
                <a:solidFill>
                  <a:srgbClr val="1F2D3A"/>
                </a:solidFill>
              </a:rPr>
              <a:t> (test edilebilir).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tür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İşlevsel:</a:t>
            </a:r>
            <a:r>
              <a:rPr sz="2000" b="0">
                <a:solidFill>
                  <a:srgbClr val="1F2D3A"/>
                </a:solidFill>
              </a:rPr>
              <a:t> hangi güvenlik işlevi olacak? (ör. veri AEAD ile korunur)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Güvence:</a:t>
            </a:r>
            <a:r>
              <a:rPr sz="2000" b="0">
                <a:solidFill>
                  <a:srgbClr val="1F2D3A"/>
                </a:solidFill>
              </a:rPr>
              <a:t> doğru yapıldığına nasıl güveneceğiz? (ör. test raporu)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Süreç:</a:t>
            </a:r>
            <a:r>
              <a:rPr sz="2000" b="0">
                <a:solidFill>
                  <a:srgbClr val="1F2D3A"/>
                </a:solidFill>
              </a:rPr>
              <a:t> kurum nasıl çalışmalı? (ör. her değişiklik incelenir)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vs kötü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"Uygulama güvenli olmalıdır." (doğrulanamaz)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"Sürüm derlemesi yığın koruyucu, PIE ve tam RELRO ile üretilmelidir." (ölçülebilir)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(traceability)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İzlenebilirlik:</a:t>
            </a:r>
            <a:r>
              <a:rPr sz="2000" b="0">
                <a:solidFill>
                  <a:srgbClr val="1F2D3A"/>
                </a:solidFill>
              </a:rPr>
              <a:t> her gereksinimi bir </a:t>
            </a:r>
            <a:r>
              <a:rPr sz="2000" b="1">
                <a:solidFill>
                  <a:srgbClr val="1F2D3A"/>
                </a:solidFill>
              </a:rPr>
              <a:t>önleme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teste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gereksinim nerede karşılandı, nasıl doğrulandı?"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Uyum matrisi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Uyum matrisi:</a:t>
            </a:r>
            <a:r>
              <a:rPr sz="2000" b="0">
                <a:solidFill>
                  <a:srgbClr val="1F2D3A"/>
                </a:solidFill>
              </a:rPr>
              <a:t> gereksinim → durum → bölüm → doğrulama → kanıt tablosu.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Projenin </a:t>
            </a:r>
            <a:r>
              <a:rPr sz="2000" b="1">
                <a:solidFill>
                  <a:srgbClr val="1F2D3A"/>
                </a:solidFill>
              </a:rPr>
              <a:t>S17</a:t>
            </a:r>
            <a:r>
              <a:rPr sz="2000" b="0">
                <a:solidFill>
                  <a:srgbClr val="1F2D3A"/>
                </a:solidFill>
              </a:rPr>
              <a:t> bölümü.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Değerlendiricinin ilk baktığı yer.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durumları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Karşılandı:</a:t>
            </a:r>
            <a:r>
              <a:rPr sz="2000" b="0">
                <a:solidFill>
                  <a:srgbClr val="1F2D3A"/>
                </a:solidFill>
              </a:rPr>
              <a:t> ürün bu gereksinimi sağlar (kanıtla).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Devredildi:</a:t>
            </a:r>
            <a:r>
              <a:rPr sz="2000" b="0">
                <a:solidFill>
                  <a:srgbClr val="1F2D3A"/>
                </a:solidFill>
              </a:rPr>
              <a:t> başka bir taraf sağlar (kime, neden, nasıl).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Karşılanmadı:</a:t>
            </a:r>
            <a:r>
              <a:rPr sz="2000" b="0">
                <a:solidFill>
                  <a:srgbClr val="1F2D3A"/>
                </a:solidFill>
              </a:rPr>
              <a:t> henüz sağlanmıyor.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bileşen bir gereksinimi </a:t>
            </a:r>
            <a:r>
              <a:rPr sz="2000" b="1">
                <a:solidFill>
                  <a:srgbClr val="1F2D3A"/>
                </a:solidFill>
              </a:rPr>
              <a:t>karşılayamıyorsa</a:t>
            </a:r>
            <a:r>
              <a:rPr sz="2000" b="0">
                <a:solidFill>
                  <a:srgbClr val="1F2D3A"/>
                </a:solidFill>
              </a:rPr>
              <a:t>, üst uygulamaya/OS'a </a:t>
            </a:r>
            <a:r>
              <a:rPr sz="2000" b="1">
                <a:solidFill>
                  <a:srgbClr val="1F2D3A"/>
                </a:solidFill>
              </a:rPr>
              <a:t>devreder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Kılavuza: </a:t>
            </a:r>
            <a:r>
              <a:rPr sz="2000" b="1">
                <a:solidFill>
                  <a:srgbClr val="1F2D3A"/>
                </a:solidFill>
              </a:rPr>
              <a:t>kime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karşılanacağı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Projenin </a:t>
            </a:r>
            <a:r>
              <a:rPr sz="2000" b="1">
                <a:solidFill>
                  <a:srgbClr val="1F2D3A"/>
                </a:solidFill>
              </a:rPr>
              <a:t>S14</a:t>
            </a:r>
            <a:r>
              <a:rPr sz="2000" b="0">
                <a:solidFill>
                  <a:srgbClr val="1F2D3A"/>
                </a:solidFill>
              </a:rPr>
              <a:t> bölümü.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 (CC)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 (ISO/IEC 15408):</a:t>
            </a:r>
            <a:r>
              <a:rPr sz="2000" b="0">
                <a:solidFill>
                  <a:srgbClr val="1F2D3A"/>
                </a:solidFill>
              </a:rPr>
              <a:t> ürün güvenliği değerlendirme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Kavramlar: TOE, ST, PP, SFR, SAR, EAL (birazdan).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· temel terimler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TOE:</a:t>
            </a:r>
            <a:r>
              <a:rPr sz="2000" b="0">
                <a:solidFill>
                  <a:srgbClr val="1F2D3A"/>
                </a:solidFill>
              </a:rPr>
              <a:t> değerlendirilen ürün.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 (Security Target):</a:t>
            </a:r>
            <a:r>
              <a:rPr sz="2000" b="0">
                <a:solidFill>
                  <a:srgbClr val="1F2D3A"/>
                </a:solidFill>
              </a:rPr>
              <a:t> bu ürünün güvenlik hedefi belgesi.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PP (Protection Profile):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ortak gereksinim seti.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· SFR, SAR, 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SFR:</a:t>
            </a:r>
            <a:r>
              <a:rPr sz="2000" b="0">
                <a:solidFill>
                  <a:srgbClr val="1F2D3A"/>
                </a:solidFill>
              </a:rPr>
              <a:t> güvenlik </a:t>
            </a:r>
            <a:r>
              <a:rPr sz="2000" b="1">
                <a:solidFill>
                  <a:srgbClr val="1F2D3A"/>
                </a:solidFill>
              </a:rPr>
              <a:t>işlevsel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SAR:</a:t>
            </a:r>
            <a:r>
              <a:rPr sz="2000" b="0">
                <a:solidFill>
                  <a:srgbClr val="1F2D3A"/>
                </a:solidFill>
              </a:rPr>
              <a:t> güvenlik </a:t>
            </a:r>
            <a:r>
              <a:rPr sz="2000" b="1">
                <a:solidFill>
                  <a:srgbClr val="1F2D3A"/>
                </a:solidFill>
              </a:rPr>
              <a:t>güvence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EAL:</a:t>
            </a:r>
            <a:r>
              <a:rPr sz="2000" b="0">
                <a:solidFill>
                  <a:srgbClr val="1F2D3A"/>
                </a:solidFill>
              </a:rPr>
              <a:t> değerlendirmenin </a:t>
            </a:r>
            <a:r>
              <a:rPr sz="2000" b="1">
                <a:solidFill>
                  <a:srgbClr val="1F2D3A"/>
                </a:solidFill>
              </a:rPr>
              <a:t>derinlik</a:t>
            </a:r>
            <a:r>
              <a:rPr sz="2000" b="0">
                <a:solidFill>
                  <a:srgbClr val="1F2D3A"/>
                </a:solidFill>
              </a:rPr>
              <a:t> düzeyi (EAL1–EAL7).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FIPS 140-3:</a:t>
            </a:r>
            <a:r>
              <a:rPr sz="2000" b="0">
                <a:solidFill>
                  <a:srgbClr val="1F2D3A"/>
                </a:solidFill>
              </a:rPr>
              <a:t> kriptografik </a:t>
            </a:r>
            <a:r>
              <a:rPr sz="2000" b="1">
                <a:solidFill>
                  <a:srgbClr val="1F2D3A"/>
                </a:solidFill>
              </a:rPr>
              <a:t>modüllerin</a:t>
            </a:r>
            <a:r>
              <a:rPr sz="2000" b="0">
                <a:solidFill>
                  <a:srgbClr val="1F2D3A"/>
                </a:solidFill>
              </a:rPr>
              <a:t> doğrulanması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düzeyleri (1–4).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modülü kapsar, uygulamanın tamamını değil.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Sektör standartları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ETSI EN 303 645:</a:t>
            </a:r>
            <a:r>
              <a:rPr sz="2000" b="0">
                <a:solidFill>
                  <a:srgbClr val="1F2D3A"/>
                </a:solidFill>
              </a:rPr>
              <a:t> IoT temel güvenlik.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GSMA, EMVCo, PCI:</a:t>
            </a:r>
            <a:r>
              <a:rPr sz="2000" b="0">
                <a:solidFill>
                  <a:srgbClr val="1F2D3A"/>
                </a:solidFill>
              </a:rPr>
              <a:t> mobil/ödeme.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MASVS:</a:t>
            </a:r>
            <a:r>
              <a:rPr sz="2000" b="0">
                <a:solidFill>
                  <a:srgbClr val="1F2D3A"/>
                </a:solidFill>
              </a:rPr>
              <a:t> mobil uygulama gereksinimleri.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Gereksinim vs önlem · "karşılanmadı" vs "uygulanmaz"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Sık hata:</a:t>
            </a:r>
            <a:r>
              <a:rPr sz="1800" b="0">
                <a:solidFill>
                  <a:srgbClr val="1F2D3A"/>
                </a:solidFill>
              </a:rPr>
              <a:t> "Gereksinim: AES-256-GCM kullanılmalıdır." → bu bir </a:t>
            </a:r>
            <a:r>
              <a:rPr sz="1800" b="1">
                <a:solidFill>
                  <a:srgbClr val="1F2D3A"/>
                </a:solidFill>
              </a:rPr>
              <a:t>önlem</a:t>
            </a:r>
            <a:r>
              <a:rPr sz="1800" b="0">
                <a:solidFill>
                  <a:srgbClr val="1F2D3A"/>
                </a:solidFill>
              </a:rPr>
              <a:t>, gereksinim değil. Doğrusu: "...AEAD ile korunmalıdır" (gereksinim) + "AES-256-GCM, S7.2" (önlem).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Karşılanmadı:</a:t>
            </a:r>
            <a:r>
              <a:rPr sz="1800" b="0">
                <a:solidFill>
                  <a:srgbClr val="1F2D3A"/>
                </a:solidFill>
              </a:rPr>
              <a:t> gereksinim uygulanıyor ama henüz sağlanmıyor — bir </a:t>
            </a:r>
            <a:r>
              <a:rPr sz="1800" b="1">
                <a:solidFill>
                  <a:srgbClr val="1F2D3A"/>
                </a:solidFill>
              </a:rPr>
              <a:t>eksikliktir</a:t>
            </a:r>
            <a:r>
              <a:rPr sz="1800" b="0">
                <a:solidFill>
                  <a:srgbClr val="1F2D3A"/>
                </a:solidFill>
              </a:rPr>
              <a:t>, kalan riske yazılır.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Uygulanmaz:</a:t>
            </a:r>
            <a:r>
              <a:rPr sz="1800" b="0">
                <a:solidFill>
                  <a:srgbClr val="1F2D3A"/>
                </a:solidFill>
              </a:rPr>
              <a:t> gereksinim ürüne hiç uygulanmıyor (ör. ağ kullanmıyorsa "aktarımda veri" gereksinimleri) — her zaman </a:t>
            </a:r>
            <a:r>
              <a:rPr sz="1800" b="1">
                <a:solidFill>
                  <a:srgbClr val="1F2D3A"/>
                </a:solidFill>
              </a:rPr>
              <a:t>gerekçesiyle</a:t>
            </a:r>
            <a:r>
              <a:rPr sz="1800" b="0">
                <a:solidFill>
                  <a:srgbClr val="1F2D3A"/>
                </a:solidFill>
              </a:rPr>
              <a:t> yazılmalı.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Durum ve karar kelimeleri —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8232"/>
                <a:gridCol w="4436558"/>
                <a:gridCol w="4196744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Kelime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zaman kullanılır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Yanında ne yazılmalı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Ürün gereksinimi kendisi sağlıyor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Önlem + doğrulama + kanıt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bir taraf sağlıyor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Kime + neden + nasıl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Uygulanır ama henüz sağlanmıyor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risk + planlanan düzeltme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Ürüne hiç uygulanmıyor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Gerekçe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-malıdır (MUST)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Zorunlu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Karşılanmazsa doğrudan bulgu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-malı (SHOULD)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Güçlü öneri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Karşılanmazsa yazılı gerekçe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(işlevsel/güvence/süreç) · izlenebilirlik · uyum matrisi · durum (karşılandı/devredildi/karşılanmadı) · devredilen · CC (TOE/ST/PP/SFR/SAR/EAL) · FIPS 140-3 · ETSI/GSMA/EMVCo/PCI/MASVS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iyi gereksinim nasıl yazılır?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İyi gereksinim nasıl yazılır?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gereksinim ölçütleri — şema</a:t>
            </a:r>
          </a:p>
        </p:txBody>
      </p:sp>
      <p:pic>
        <p:nvPicPr>
          <p:cNvPr id="7" name="Picture 6" descr="h13-03-iyi-gereksin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77894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tür (hatırlatma)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548"/>
                <a:gridCol w="4052855"/>
                <a:gridCol w="498813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İşlevsel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Hangi güvenlik işlevi?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Hassas veri AEAD ile korunur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 mu yapıldı?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Statik analiz + test raporu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Kurum nasıl çalışır?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değişiklik incelenir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gereksinim ölçütleri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Doğrulanabilir:</a:t>
            </a:r>
            <a:r>
              <a:rPr sz="2000" b="0">
                <a:solidFill>
                  <a:srgbClr val="1F2D3A"/>
                </a:solidFill>
              </a:rPr>
              <a:t> test edilebilir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Tekil:</a:t>
            </a:r>
            <a:r>
              <a:rPr sz="2000" b="0">
                <a:solidFill>
                  <a:srgbClr val="1F2D3A"/>
                </a:solidFill>
              </a:rPr>
              <a:t> tek bir şey mi söylüyor?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Ölçülebilir:</a:t>
            </a:r>
            <a:r>
              <a:rPr sz="2000" b="0">
                <a:solidFill>
                  <a:srgbClr val="1F2D3A"/>
                </a:solidFill>
              </a:rPr>
              <a:t> somut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Gerçekçi:</a:t>
            </a:r>
            <a:r>
              <a:rPr sz="2000" b="0">
                <a:solidFill>
                  <a:srgbClr val="1F2D3A"/>
                </a:solidFill>
              </a:rPr>
              <a:t> uygulanabilir mi?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"Uygulama güvenli olmalıdır."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"Sürüm derlemesi yığın koruyucu, PIE ve tam RELRO ile üretilmelidir."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Neden iyi? </a:t>
            </a:r>
            <a:r>
              <a:rPr sz="2000" b="1">
                <a:solidFill>
                  <a:srgbClr val="1F2D3A"/>
                </a:solidFill>
              </a:rPr>
              <a:t>Test edilebilir</a:t>
            </a:r>
            <a:r>
              <a:rPr sz="2000" b="0">
                <a:solidFill>
                  <a:srgbClr val="1F2D3A"/>
                </a:solidFill>
              </a:rPr>
              <a:t> (checksec).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gereksinim — şema</a:t>
            </a:r>
          </a:p>
        </p:txBody>
      </p:sp>
      <p:pic>
        <p:nvPicPr>
          <p:cNvPr id="7" name="Picture 6" descr="h13-04-kotu-iy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"Veriler şifrelenmelidir."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"C sınıfı her varlık beklemede ≥128 bit düzeyinde AEAD ile şifrelenmelidir."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Neden iyi? Hangi veri, hangi düzey, hangi yöntem belli.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"Anahtarlar iyi yönetilmelidir."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"(1) Her anahtarın amacı, kripto-periyodu ve imhası belgelenir. (2) İş bitince bellekten silinir."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Tekil, doğrulanabilir maddeler.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kötü gereksinimi iyileştirmek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Başlangıç cümlesi (gerçek bir taslaktan):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"Uygulama, kullanıcı verilerini korumalıdır."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cümleyi altı adımda iyi bir gereksinime dönüştüreceğiz; her adımda </a:t>
            </a:r>
            <a:r>
              <a:rPr sz="2000" b="1">
                <a:solidFill>
                  <a:srgbClr val="1F2D3A"/>
                </a:solidFill>
              </a:rPr>
              <a:t>önce/sonra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neden değişti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— Belirsiz kelimeleri işaretleyin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Önce:</a:t>
            </a:r>
            <a:r>
              <a:rPr sz="2000" b="0">
                <a:solidFill>
                  <a:srgbClr val="1F2D3A"/>
                </a:solidFill>
              </a:rPr>
              <a:t> "Uygulama, kullanıcı verilerini korumalıdır."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Belirsiz kelimeler: "kullanıcı verileri" (hangi veri?), "korumalıdır" (neye karşı, hangi düzeyde?).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 değişti:</a:t>
            </a:r>
            <a:r>
              <a:rPr sz="2000" b="0">
                <a:solidFill>
                  <a:srgbClr val="1F2D3A"/>
                </a:solidFill>
              </a:rPr>
              <a:t> değerlendirici bu cümleyi okuyunca test edecek hiçbir şey bulamaz.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— Varlık tablosuna bağlayın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59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Sonra:</a:t>
            </a:r>
            <a:r>
              <a:rPr sz="2000" b="0">
                <a:solidFill>
                  <a:srgbClr val="1F2D3A"/>
                </a:solidFill>
              </a:rPr>
              <a:t> "Yerel veritabanındaki </a:t>
            </a:r>
            <a:r>
              <a:rPr sz="2000" b="1">
                <a:solidFill>
                  <a:srgbClr val="1F2D3A"/>
                </a:solidFill>
              </a:rPr>
              <a:t>C sınıfı</a:t>
            </a:r>
            <a:r>
              <a:rPr sz="2000" b="0">
                <a:solidFill>
                  <a:srgbClr val="1F2D3A"/>
                </a:solidFill>
              </a:rPr>
              <a:t> alanlar korunmalıdır."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 değişti:</a:t>
            </a:r>
            <a:r>
              <a:rPr sz="2000" b="0">
                <a:solidFill>
                  <a:srgbClr val="1F2D3A"/>
                </a:solidFill>
              </a:rPr>
              <a:t> "kullanıcı verileri" tek şey değil; varlık tablosunda (1. hafta) ayrı satırlardır — oturum belirteci, profil, ödeme jetonu... her biri farklı sınıfta.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Hâlâ "korunmalı" ölçülemez → sıradaki adım.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— Koruma hedefini netleştirin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Sonra:</a:t>
            </a:r>
            <a:r>
              <a:rPr sz="2000" b="0">
                <a:solidFill>
                  <a:srgbClr val="1F2D3A"/>
                </a:solidFill>
              </a:rPr>
              <a:t> "...C sınıfı alanların </a:t>
            </a:r>
            <a:r>
              <a:rPr sz="2000" b="1">
                <a:solidFill>
                  <a:srgbClr val="1F2D3A"/>
                </a:solidFill>
              </a:rPr>
              <a:t>gizliliği ve bütünlüğü</a:t>
            </a:r>
            <a:r>
              <a:rPr sz="2000" b="0">
                <a:solidFill>
                  <a:srgbClr val="1F2D3A"/>
                </a:solidFill>
              </a:rPr>
              <a:t> korunmalıdır."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 değişti:</a:t>
            </a:r>
            <a:r>
              <a:rPr sz="2000" b="0">
                <a:solidFill>
                  <a:srgbClr val="1F2D3A"/>
                </a:solidFill>
              </a:rPr>
              <a:t> tehdit modeli hem "dosyayı okuma" (gizlilik) hem "dosyayı değiştirme" (bütünlük) riskini gösteriyor; ikisi de aynı anda gerekli.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— Ölçülebilir teknik kriter ekleyin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Sonra:</a:t>
            </a:r>
            <a:r>
              <a:rPr sz="2000" b="0">
                <a:solidFill>
                  <a:srgbClr val="1F2D3A"/>
                </a:solidFill>
              </a:rPr>
              <a:t> "...kimlik doğrulamalı şifrelemeyle (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) korunmalıdır."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 değişti:</a:t>
            </a:r>
            <a:r>
              <a:rPr sz="2000" b="0">
                <a:solidFill>
                  <a:srgbClr val="1F2D3A"/>
                </a:solidFill>
              </a:rPr>
              <a:t> 9. hafta kuralı — gizlilik ve bütünlük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isteniyorsa doğru araç sınıfı AEAD'dir; hâlâ belirli bir kütüphane adı verilmiyor.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— Durum ve zorunluluk sözcüğünü ekleyin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Sonra:</a:t>
            </a:r>
            <a:r>
              <a:rPr sz="2000" b="0">
                <a:solidFill>
                  <a:srgbClr val="1F2D3A"/>
                </a:solidFill>
              </a:rPr>
              <a:t> "</a:t>
            </a:r>
            <a:r>
              <a:rPr sz="2000" b="1">
                <a:solidFill>
                  <a:srgbClr val="1F2D3A"/>
                </a:solidFill>
              </a:rPr>
              <a:t>Beklemedeki</a:t>
            </a:r>
            <a:r>
              <a:rPr sz="2000" b="0">
                <a:solidFill>
                  <a:srgbClr val="1F2D3A"/>
                </a:solidFill>
              </a:rPr>
              <a:t> C sınıfı hassas veri, kimlik doğrulamalı şifrelemeyle (AEAD) korunmalıdır." (</a:t>
            </a:r>
            <a:r>
              <a:rPr sz="2000" b="1">
                <a:solidFill>
                  <a:srgbClr val="1F2D3A"/>
                </a:solidFill>
              </a:rPr>
              <a:t>MUST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 değişti:</a:t>
            </a:r>
            <a:r>
              <a:rPr sz="2000" b="0">
                <a:solidFill>
                  <a:srgbClr val="1F2D3A"/>
                </a:solidFill>
              </a:rPr>
              <a:t> veri burada beklemede (disk üzerinde); "-malıdır" seçildi çünkü tehdide karşı vazgeçilmez bir koşul — "-abilir" olsaydı isteğe bağlı sayılırdı.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— Kimlik verin ve tehdide bağlayın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Sonra (son hâl):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CEN429-DR-01</a:t>
            </a:r>
            <a:r>
              <a:rPr sz="2000" b="0">
                <a:solidFill>
                  <a:srgbClr val="1F2D3A"/>
                </a:solidFill>
              </a:rPr>
              <a:t> — "Beklemedeki C sınıfı hassas veri, kimlik doğrulamalı şifrelemeyle (AEAD) korunmalıdır." </a:t>
            </a:r>
            <a:r>
              <a:rPr sz="2000" b="0" i="1">
                <a:solidFill>
                  <a:srgbClr val="1F2D3A"/>
                </a:solidFill>
              </a:rPr>
              <a:t>(Tehdit: T-03, "cihazı ele geçiren saldırgan veritabanı dosyasını okur/değiştirir".)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 değişti:</a:t>
            </a:r>
            <a:r>
              <a:rPr sz="2000" b="0">
                <a:solidFill>
                  <a:srgbClr val="1F2D3A"/>
                </a:solidFill>
              </a:rPr>
              <a:t> kimliksiz bir gereksinim izlenebilirlik zincirine hiç girmez.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Altı adım · hangi belirsizliği giderdi?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819932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6365061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Giderdiği belirsizlik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Belirsiz kelimeyi işaretlemek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Hangi veri (varlık tablosu)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Hangi hedef (gizlilik/bütünlük)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Hangi araç sınıfı (AEAD)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Hangi durum, hangi zorunluluk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ve tehdit bağı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Biri eksik kalırsa gereksinim yine tartışmaya açık kalır; değerlendirici geri gönderir.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İkinci ve üçüncü örnekler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63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İkinci örnek (hız testi):</a:t>
            </a:r>
            <a:r>
              <a:rPr sz="1800" b="0">
                <a:solidFill>
                  <a:srgbClr val="1F2D3A"/>
                </a:solidFill>
              </a:rPr>
              <a:t> "Hızlı ve güvenli olmalıdır" → iki ayrı gereksinim tek cümlede. Aynı altı adımdan geçirilince: </a:t>
            </a:r>
            <a:r>
              <a:rPr sz="1800" b="0">
                <a:solidFill>
                  <a:srgbClr val="A1123F"/>
                </a:solidFill>
                <a:latin typeface="Consolas"/>
              </a:rPr>
              <a:t>CEN429-ID-04</a:t>
            </a:r>
            <a:r>
              <a:rPr sz="1800" b="0">
                <a:solidFill>
                  <a:srgbClr val="1F2D3A"/>
                </a:solidFill>
              </a:rPr>
              <a:t> — "Her oturum açma denemesi sunucu tarafında doğrulanmalıdır; istemci tarafı kontrolü tek başına yeterli kabul edilmemelidir."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Üçüncü örnek (süreç):</a:t>
            </a:r>
            <a:r>
              <a:rPr sz="1800" b="0">
                <a:solidFill>
                  <a:srgbClr val="1F2D3A"/>
                </a:solidFill>
              </a:rPr>
              <a:t> "Kod incelemesi yapılmalıdır." → Hangi değişiklik? Kim inceleyecek? Ne zaman? İyi hâli: "Her değişiklik, ana dala birleştirilmeden önce, yazan geliştirici dışında en az bir kişi tarafından incelenmeli ve onay sürüm kontrol sisteminde kayıt altına alınmalıdır."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1'in kuralı ve zorunluluk sözcükleri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Gereksinim sütununa </a:t>
            </a:r>
            <a:r>
              <a:rPr sz="1800" b="1">
                <a:solidFill>
                  <a:srgbClr val="1F2D3A"/>
                </a:solidFill>
              </a:rPr>
              <a:t>ne</a:t>
            </a:r>
            <a:r>
              <a:rPr sz="1800" b="0">
                <a:solidFill>
                  <a:srgbClr val="1F2D3A"/>
                </a:solidFill>
              </a:rPr>
              <a:t> istendiğini yazın; </a:t>
            </a:r>
            <a:r>
              <a:rPr sz="1800" b="1">
                <a:solidFill>
                  <a:srgbClr val="1F2D3A"/>
                </a:solidFill>
              </a:rPr>
              <a:t>nasıl</a:t>
            </a:r>
            <a:r>
              <a:rPr sz="1800" b="0">
                <a:solidFill>
                  <a:srgbClr val="1F2D3A"/>
                </a:solidFill>
              </a:rPr>
              <a:t> karşıladığınızı ayrı bir önlem cümlesine yazın.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Gereksinim metninde </a:t>
            </a:r>
            <a:r>
              <a:rPr sz="1800" b="1">
                <a:solidFill>
                  <a:srgbClr val="1F2D3A"/>
                </a:solidFill>
              </a:rPr>
              <a:t>araç sınıfını</a:t>
            </a:r>
            <a:r>
              <a:rPr sz="1800" b="0">
                <a:solidFill>
                  <a:srgbClr val="1F2D3A"/>
                </a:solidFill>
              </a:rPr>
              <a:t> (AEAD, CSPRNG, TLS 1.2+) yazın; belirli kütüphane/sürüm adını önleme koyun.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-malıdır (MUST):</a:t>
            </a:r>
            <a:r>
              <a:rPr sz="1800" b="0">
                <a:solidFill>
                  <a:srgbClr val="1F2D3A"/>
                </a:solidFill>
              </a:rPr>
              <a:t> zorunlu, karşılanmazsa doğrudan bulgu. </a:t>
            </a:r>
            <a:r>
              <a:rPr sz="1800" b="1">
                <a:solidFill>
                  <a:srgbClr val="1F2D3A"/>
                </a:solidFill>
              </a:rPr>
              <a:t>-malı (SHOULD):</a:t>
            </a:r>
            <a:r>
              <a:rPr sz="1800" b="0">
                <a:solidFill>
                  <a:srgbClr val="1F2D3A"/>
                </a:solidFill>
              </a:rPr>
              <a:t> güçlü öneri, gerekçe gerekir. </a:t>
            </a:r>
            <a:r>
              <a:rPr sz="1800" b="1">
                <a:solidFill>
                  <a:srgbClr val="1F2D3A"/>
                </a:solidFill>
              </a:rPr>
              <a:t>-abilir (MAY):</a:t>
            </a:r>
            <a:r>
              <a:rPr sz="1800" b="0">
                <a:solidFill>
                  <a:srgbClr val="1F2D3A"/>
                </a:solidFill>
              </a:rPr>
              <a:t> isteğe bağlı, bulgu değil.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Gereksinimden kanıta: izlenebilirlik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</a:t>
            </a:r>
          </a:p>
        </p:txBody>
      </p:sp>
      <p:pic>
        <p:nvPicPr>
          <p:cNvPr id="7" name="Picture 6" descr="h13-01-izlenebilir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1662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60183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bu zincirle bir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bağlanmalı.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neden önemli?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"bu gereksinim nerede?" diye sorar.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İzlenebilirlik yoksa: her şeyi baştan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Varsa: matristen doğrudan bulunur.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6525"/>
                <a:gridCol w="2149241"/>
                <a:gridCol w="2479894"/>
                <a:gridCol w="2975873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AEAD 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Birim testi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Test çıktısı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Sürüm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Bayraklar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checksec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Koruma tablosu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yön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İleri:</a:t>
            </a:r>
            <a:r>
              <a:rPr sz="2000" b="0">
                <a:solidFill>
                  <a:srgbClr val="1F2D3A"/>
                </a:solidFill>
              </a:rPr>
              <a:t> gereksinim → nerede karşılandı?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Geri:</a:t>
            </a:r>
            <a:r>
              <a:rPr sz="2000" b="0">
                <a:solidFill>
                  <a:srgbClr val="1F2D3A"/>
                </a:solidFill>
              </a:rPr>
              <a:t> bu kod/test → hangi gereksinimi karşılıyor?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matris </a:t>
            </a:r>
            <a:r>
              <a:rPr sz="2000" b="1">
                <a:solidFill>
                  <a:srgbClr val="1F2D3A"/>
                </a:solidFill>
              </a:rPr>
              <a:t>iki yönde</a:t>
            </a:r>
            <a:r>
              <a:rPr sz="2000" b="0">
                <a:solidFill>
                  <a:srgbClr val="1F2D3A"/>
                </a:solidFill>
              </a:rPr>
              <a:t> de izlenebilir.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Matriste "karşılandı" ama kanıt yoksa...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gözünde </a:t>
            </a:r>
            <a:r>
              <a:rPr sz="2000" b="1">
                <a:solidFill>
                  <a:srgbClr val="1F2D3A"/>
                </a:solidFill>
              </a:rPr>
              <a:t>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bulgulardan biri olur.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uçtan uca zincir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Zincirin nasıl kurulduğunu tek bir varlık üzerinden başından sonuna dolduralım: kullanıcının </a:t>
            </a:r>
            <a:r>
              <a:rPr sz="2000" b="1">
                <a:solidFill>
                  <a:srgbClr val="1F2D3A"/>
                </a:solidFill>
              </a:rPr>
              <a:t>oturum belirteci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Altı halka: varlık → tehdit → gereksinim → önlem → doğrulama → kanıt.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1. Varlık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6629"/>
                <a:gridCol w="9144905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Kullanıcının oturum belirteci (session token)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İstemci belleği; her istekte HTTP başlığında taşınır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(gizlilik)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Yaşam döngüsü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Açılışta üretilir → her istekte kullanılır → çıkışta/zaman aşımında geçersiz kılınır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2. Tehdit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 üzerinde konumlanan bir saldırgan (ör. aynı halka açık Wi-Fi), şifrelenmemiş bağlantıdan belirteci dinleyip yakalayabilir.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Yakaladığı belirteçle kendi isteklerinde kullanarak kullanıcı </a:t>
            </a:r>
            <a:r>
              <a:rPr sz="2000" b="1">
                <a:solidFill>
                  <a:srgbClr val="1F2D3A"/>
                </a:solidFill>
              </a:rPr>
              <a:t>gibi davranabilir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STRIDE: </a:t>
            </a:r>
            <a:r>
              <a:rPr sz="2000" b="1">
                <a:solidFill>
                  <a:srgbClr val="1F2D3A"/>
                </a:solidFill>
              </a:rPr>
              <a:t>Spoofing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Information Disclosure</a:t>
            </a:r>
            <a:r>
              <a:rPr sz="2000" b="0">
                <a:solidFill>
                  <a:srgbClr val="1F2D3A"/>
                </a:solidFill>
              </a:rPr>
              <a:t> (1. hafta terminolojisi).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3.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Varlık → tehdit → hedef (gizlilik+kimlik) → araç sınıfı → durum → zorunluluk zinciri kısaca tekrar uygulanır: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CEN429-DT-01</a:t>
            </a:r>
            <a:r>
              <a:rPr sz="2000" b="0">
                <a:solidFill>
                  <a:srgbClr val="1F2D3A"/>
                </a:solidFill>
              </a:rPr>
              <a:t> — "Oturum belirteci yalnız TLS 1.2 ve üzeri, sunucu sertifikası doğrulanmış bir kanaldan taşınmalıdır."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 Önlem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Kılavuzun </a:t>
            </a:r>
            <a:r>
              <a:rPr sz="2000" b="1">
                <a:solidFill>
                  <a:srgbClr val="1F2D3A"/>
                </a:solidFill>
              </a:rPr>
              <a:t>S10.3 "Aktarım güvenliği"</a:t>
            </a:r>
            <a:r>
              <a:rPr sz="2000" b="0">
                <a:solidFill>
                  <a:srgbClr val="1F2D3A"/>
                </a:solidFill>
              </a:rPr>
              <a:t> bölümü: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"İstemci, sunucuya her bağlantıda TLS 1.2+ el sıkışması yapar; sertifika zinciri ve ana bilgisayar adı doğrulanır (bkz. Hafta 10). Kanal kurulmadan hiçbir istek gönderilmez."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5.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testi ekibi bir MITM (ortadaki adam) aracıyla bağlantıya araya girmeye çalışır: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Geçersiz/kendinden imzalı sertifika sunulunca bağlantının </a:t>
            </a:r>
            <a:r>
              <a:rPr sz="2000" b="1">
                <a:solidFill>
                  <a:srgbClr val="1F2D3A"/>
                </a:solidFill>
              </a:rPr>
              <a:t>reddedildiğini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 metin (TLS'siz) bağlantı denemesinin </a:t>
            </a:r>
            <a:r>
              <a:rPr sz="2000" b="1">
                <a:solidFill>
                  <a:srgbClr val="1F2D3A"/>
                </a:solidFill>
              </a:rPr>
              <a:t>reddedildiğini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6. Kanıt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aracının günlük çıktısı: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mitm_test_2026-11-03.log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 çalıştırma kaydı: </a:t>
            </a:r>
            <a:r>
              <a:rPr sz="2000" b="1">
                <a:solidFill>
                  <a:srgbClr val="1F2D3A"/>
                </a:solidFill>
              </a:rPr>
              <a:t>#617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handshake paket dökümü: </a:t>
            </a:r>
            <a:r>
              <a:rPr sz="2000" b="0">
                <a:solidFill>
                  <a:srgbClr val="A1123F"/>
                </a:solidFill>
                <a:latin typeface="Consolas"/>
              </a:rPr>
              <a:t>handshake.pcapng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evidence/week13/</a:t>
            </a:r>
            <a:r>
              <a:rPr sz="2000" b="0">
                <a:solidFill>
                  <a:srgbClr val="1F2D3A"/>
                </a:solidFill>
              </a:rPr>
              <a:t> klasöründe saklanır, matriste bu dosya adlarıyla referans verilir.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Zincirin dolu satırı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8261"/>
                <a:gridCol w="3182531"/>
                <a:gridCol w="707229"/>
                <a:gridCol w="454647"/>
                <a:gridCol w="2778400"/>
                <a:gridCol w="2980465"/>
              </a:tblGrid>
              <a:tr h="60624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0624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CEN429-DT-01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 belirteci TLS 1.2+, sertifika doğrulanarak taşınmalı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S10.3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MITM testi: geçersiz sertifika/düz metin reddedilir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mitm_test_2026-11-03.log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CI #617,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handshake.pcapng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48102"/>
            <a:ext cx="10911535" cy="10012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halka eksik olsaydı: varlık yoksa "hangi veri" belirsiz kalır, tehdit yoksa gereksinim keyfi görünür, önlem yoksa iddia desteksiz kalır, doğrulama yoksa "nasıl test edildi" cevapsız kalır, kanıt yoksa satır </a:t>
            </a:r>
            <a:r>
              <a:rPr sz="1800" b="1">
                <a:solidFill>
                  <a:srgbClr val="1F2D3A"/>
                </a:solidFill>
              </a:rPr>
              <a:t>ilk bulgu</a:t>
            </a:r>
            <a:r>
              <a:rPr sz="1800" b="0">
                <a:solidFill>
                  <a:srgbClr val="1F2D3A"/>
                </a:solidFill>
              </a:rPr>
              <a:t> olur.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"Karşılanmadı" durumunun tam zinciri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7194"/>
                <a:gridCol w="4621356"/>
                <a:gridCol w="4492985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Halka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Karşılandı (DT-01)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Karşılanmadı (DT-04)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 belirteci TLS ile taşınır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 sertifikası sabitlenmeli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S10.3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 (henüz yok)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MITM testi geçti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günlüğü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Kalan risk: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S16.4'e yazılır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"Karşılanmadı"da önlem/doğrulama boş kalabilir ama </a:t>
            </a:r>
            <a:r>
              <a:rPr sz="1800" b="1">
                <a:solidFill>
                  <a:srgbClr val="1F2D3A"/>
                </a:solidFill>
              </a:rPr>
              <a:t>kanıt</a:t>
            </a:r>
            <a:r>
              <a:rPr sz="1800" b="0">
                <a:solidFill>
                  <a:srgbClr val="1F2D3A"/>
                </a:solidFill>
              </a:rPr>
              <a:t> (kalan riskin nerede belgelendiği) boş kalamaz.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2'nin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"karşılandı" satırının kanıt sütununda </a:t>
            </a:r>
            <a:r>
              <a:rPr sz="2000" b="1">
                <a:solidFill>
                  <a:srgbClr val="1F2D3A"/>
                </a:solidFill>
              </a:rPr>
              <a:t>bulunabilir, adlandırılmış</a:t>
            </a:r>
            <a:r>
              <a:rPr sz="2000" b="0">
                <a:solidFill>
                  <a:srgbClr val="1F2D3A"/>
                </a:solidFill>
              </a:rPr>
              <a:t> bir referans olmalı: dosya adı, CI numarası, test raporu bölümü.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"Var", "test edildi" kanıt değil, kanıt </a:t>
            </a:r>
            <a:r>
              <a:rPr sz="2000" b="1">
                <a:solidFill>
                  <a:srgbClr val="1F2D3A"/>
                </a:solidFill>
              </a:rPr>
              <a:t>vaadidir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Değerlendiricinin en sık yazdığı bulgu: </a:t>
            </a:r>
            <a:r>
              <a:rPr sz="2000" b="1">
                <a:solidFill>
                  <a:srgbClr val="1F2D3A"/>
                </a:solidFill>
              </a:rPr>
              <a:t>kanıtsız "karşılandı"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İyi gereksinimin dört ölçütü?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"Uygulama güvenli olmalı" neden kötü?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İzlenebilirlik zinciri nedir?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Belirli · ölçülebilir/doğrulanabilir · tekil · izlenebilir</a:t>
            </a:r>
            <a:r>
              <a:rPr sz="2000" b="0">
                <a:solidFill>
                  <a:srgbClr val="1F2D3A"/>
                </a:solidFill>
              </a:rPr>
              <a:t> (gerçekçi, atomik).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Belirsiz ve ölçülemez</a:t>
            </a:r>
            <a:r>
              <a:rPr sz="2000" b="0">
                <a:solidFill>
                  <a:srgbClr val="1F2D3A"/>
                </a:solidFill>
              </a:rPr>
              <a:t>; "güvenli"nin tanımı yok → test edilemez, herkes farklı anlar.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Tehdit/standart → gereksinim → tasarım/kod → test/kanıt.</a:t>
            </a:r>
            <a:r>
              <a:rPr sz="2000" b="0">
                <a:solidFill>
                  <a:srgbClr val="1F2D3A"/>
                </a:solidFill>
              </a:rPr>
              <a:t> Her gereksinim bir kaynağa ve bir kanıta </a:t>
            </a:r>
            <a:r>
              <a:rPr sz="2000" b="1">
                <a:solidFill>
                  <a:srgbClr val="1F2D3A"/>
                </a:solidFill>
              </a:rPr>
              <a:t>iki yönlü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Gereksinim bloğu ve devredilenler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Devretme üç soru — şema</a:t>
            </a:r>
          </a:p>
        </p:txBody>
      </p:sp>
      <p:pic>
        <p:nvPicPr>
          <p:cNvPr id="7" name="Picture 6" descr="h13-06-devret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bloğu kalıbı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bir </a:t>
            </a:r>
            <a:r>
              <a:rPr sz="2000" b="1">
                <a:solidFill>
                  <a:srgbClr val="1F2D3A"/>
                </a:solidFill>
              </a:rPr>
              <a:t>blok</a:t>
            </a:r>
            <a:r>
              <a:rPr sz="2000" b="0">
                <a:solidFill>
                  <a:srgbClr val="1F2D3A"/>
                </a:solidFill>
              </a:rPr>
              <a:t> olarak yazılır: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benzersiz numara (ör. CEN429-DU-01)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Metin:</a:t>
            </a:r>
            <a:r>
              <a:rPr sz="2000" b="0">
                <a:solidFill>
                  <a:srgbClr val="1F2D3A"/>
                </a:solidFill>
              </a:rPr>
              <a:t> ne isteniyor (tekil, ölçülebilir)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Durum:</a:t>
            </a:r>
            <a:r>
              <a:rPr sz="2000" b="0">
                <a:solidFill>
                  <a:srgbClr val="1F2D3A"/>
                </a:solidFill>
              </a:rPr>
              <a:t> karşılandı / devredildi / karşılanmadı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Karşılama:</a:t>
            </a:r>
            <a:r>
              <a:rPr sz="2000" b="0">
                <a:solidFill>
                  <a:srgbClr val="1F2D3A"/>
                </a:solidFill>
              </a:rPr>
              <a:t> nasıl karşılandı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Doğrulama + kanıt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blok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CEN429-DU-01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Yerel DB'deki C sınıfı veri AEAD ile şifrelenir.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AES-256-GCM, anahtar TEE'de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T-05 birim testi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çıktısı, S16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blok?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gereksinim aynı yapıda → </a:t>
            </a:r>
            <a:r>
              <a:rPr sz="2000" b="1">
                <a:solidFill>
                  <a:srgbClr val="1F2D3A"/>
                </a:solidFill>
              </a:rPr>
              <a:t>karşılaştırılabilir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hızlı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 bu bloklardan üretilir.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gereksinim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bileşen bir gereksinimi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karşılayamıyor.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Sorumluluğu üst uygulamaya/OS'a/donanıma </a:t>
            </a:r>
            <a:r>
              <a:rPr sz="2000" b="1">
                <a:solidFill>
                  <a:srgbClr val="1F2D3A"/>
                </a:solidFill>
              </a:rPr>
              <a:t>devreder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bir kaçış değil, </a:t>
            </a:r>
            <a:r>
              <a:rPr sz="2000" b="1">
                <a:solidFill>
                  <a:srgbClr val="1F2D3A"/>
                </a:solidFill>
              </a:rPr>
              <a:t>açık bir sözleşmedir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Devrederken üç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Devredilen her gereksinimde yaz: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Kime?</a:t>
            </a:r>
            <a:r>
              <a:rPr sz="2000" b="0">
                <a:solidFill>
                  <a:srgbClr val="1F2D3A"/>
                </a:solidFill>
              </a:rPr>
              <a:t> (üst uygulama / OS / donanım)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Neden?</a:t>
            </a:r>
            <a:r>
              <a:rPr sz="2000" b="0">
                <a:solidFill>
                  <a:srgbClr val="1F2D3A"/>
                </a:solidFill>
              </a:rPr>
              <a:t> (neden bu bileşen karşılayamıyor)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(karşı taraf nasıl karşılayacak)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· örnek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CEN429-AP-03: Güvenli kurulum ve güncelleme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Devredildi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Kime: Üst mobil uygulama (MPA)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Neden: SDK dağıtım kanalına sahip değil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Nasıl: MPA imzalı güncelleme + sürüm denetimi sağlar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Sessiz devretme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gereksinimi karşılamıyor ve </a:t>
            </a:r>
            <a:r>
              <a:rPr sz="2000" b="1">
                <a:solidFill>
                  <a:srgbClr val="1F2D3A"/>
                </a:solidFill>
              </a:rPr>
              <a:t>yazmıyorsanız</a:t>
            </a:r>
            <a:r>
              <a:rPr sz="2000" b="0">
                <a:solidFill>
                  <a:srgbClr val="1F2D3A"/>
                </a:solidFill>
              </a:rPr>
              <a:t> → eksik.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Devretme </a:t>
            </a:r>
            <a:r>
              <a:rPr sz="2000" b="1">
                <a:solidFill>
                  <a:srgbClr val="1F2D3A"/>
                </a:solidFill>
              </a:rPr>
              <a:t>belgelenmeli</a:t>
            </a:r>
            <a:r>
              <a:rPr sz="2000" b="0">
                <a:solidFill>
                  <a:srgbClr val="1F2D3A"/>
                </a:solidFill>
              </a:rPr>
              <a:t>; aksi halde "karşılanmadı"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S14 bölümü tam bunun için.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Karşılandı mı, devredildi mi?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7456215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Anlamı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Ürün sağlar (kanıtla)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Başka taraf sağlar (kime/neden/nasıl)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Henüz yok (kalan risk)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bloğu doldurmak (Karşılandı)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2. bölümdeki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CEN429-DR-01</a:t>
            </a:r>
            <a:r>
              <a:rPr sz="2000" b="0">
                <a:solidFill>
                  <a:srgbClr val="1F2D3A"/>
                </a:solidFill>
              </a:rPr>
              <a:t> zincirinin </a:t>
            </a:r>
            <a:r>
              <a:rPr sz="2000" b="1">
                <a:solidFill>
                  <a:srgbClr val="1F2D3A"/>
                </a:solidFill>
              </a:rPr>
              <a:t>kılavuza yazılmış</a:t>
            </a:r>
            <a:r>
              <a:rPr sz="2000" b="0">
                <a:solidFill>
                  <a:srgbClr val="1F2D3A"/>
                </a:solidFill>
              </a:rPr>
              <a:t> hâlidir: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9253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CEN429-DR</a:t>
            </a:r>
            <a:r>
              <a:rPr sz="2000" b="0">
                <a:solidFill>
                  <a:srgbClr val="A1123F"/>
                </a:solidFill>
                <a:latin typeface="Consolas"/>
              </a:rPr>
              <a:t>evidence/week13/test_butunluk_ci482.log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kalıp · Devredildi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CEN429-AP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609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Devredilen blok da </a:t>
            </a:r>
            <a:r>
              <a:rPr sz="2000" b="1">
                <a:solidFill>
                  <a:srgbClr val="1F2D3A"/>
                </a:solidFill>
              </a:rPr>
              <a:t>Karşılama</a:t>
            </a:r>
            <a:r>
              <a:rPr sz="2000" b="0">
                <a:solidFill>
                  <a:srgbClr val="1F2D3A"/>
                </a:solidFill>
              </a:rPr>
              <a:t> alanına sahiptir — ama "karşı taraf nasıl yapmalı, biz neden yapmıyoruz" sorusunu cevaplar.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kalıp · Karşılanmadı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CEN429-DT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"Karşılanmadı" bloğu </a:t>
            </a:r>
            <a:r>
              <a:rPr sz="2000" b="1">
                <a:solidFill>
                  <a:srgbClr val="1F2D3A"/>
                </a:solidFill>
              </a:rPr>
              <a:t>Karşılama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1">
                <a:solidFill>
                  <a:srgbClr val="1F2D3A"/>
                </a:solidFill>
              </a:rPr>
              <a:t>Durum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alanlarını doldurur.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alanlarının görevi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Başlık satırı</a:t>
            </a:r>
            <a:r>
              <a:rPr sz="2000" b="0">
                <a:solidFill>
                  <a:srgbClr val="1F2D3A"/>
                </a:solidFill>
              </a:rPr>
              <a:t> ([Aile] Kimlik — Durum): değerlendiricinin gözünü hızlıca nereye götüreceğini söyler.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Gereksinim</a:t>
            </a:r>
            <a:r>
              <a:rPr sz="2000" b="0">
                <a:solidFill>
                  <a:srgbClr val="1F2D3A"/>
                </a:solidFill>
              </a:rPr>
              <a:t> satırı: standarttan/tehditten gelen "ne"yi tekrarlar, yeniden yorumlanmaz.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Karşılama:</a:t>
            </a:r>
            <a:r>
              <a:rPr sz="2000" b="0">
                <a:solidFill>
                  <a:srgbClr val="1F2D3A"/>
                </a:solidFill>
              </a:rPr>
              <a:t> "nasıl"ı somut dosya/bölüm adlarıyla anlatır.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Doğrulama + Kanıt:</a:t>
            </a:r>
            <a:r>
              <a:rPr sz="2000" b="0">
                <a:solidFill>
                  <a:srgbClr val="1F2D3A"/>
                </a:solidFill>
              </a:rPr>
              <a:t> izlenebilirlik zincirinin son iki halkası.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Donanım devretmesi ve Bölüm 3'ün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Güvenli eleman/TEE </a:t>
            </a:r>
            <a:r>
              <a:rPr sz="1800" b="1">
                <a:solidFill>
                  <a:srgbClr val="1F2D3A"/>
                </a:solidFill>
              </a:rPr>
              <a:t>varsa</a:t>
            </a:r>
            <a:r>
              <a:rPr sz="1800" b="0">
                <a:solidFill>
                  <a:srgbClr val="1F2D3A"/>
                </a:solidFill>
              </a:rPr>
              <a:t>: gereksinim donanıma devredilebilir.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Güvenli eleman </a:t>
            </a:r>
            <a:r>
              <a:rPr sz="1800" b="1">
                <a:solidFill>
                  <a:srgbClr val="1F2D3A"/>
                </a:solidFill>
              </a:rPr>
              <a:t>yoksa</a:t>
            </a:r>
            <a:r>
              <a:rPr sz="1800" b="0">
                <a:solidFill>
                  <a:srgbClr val="1F2D3A"/>
                </a:solidFill>
              </a:rPr>
              <a:t>: devredilemez — devredilecek taraf yok; ürün yazılım tabanlı önlem almalı ya da "karşılanmadı" + kalan risk yazmalı. "Donanıma devredildi" yazmak burada </a:t>
            </a:r>
            <a:r>
              <a:rPr sz="1800" b="1">
                <a:solidFill>
                  <a:srgbClr val="1F2D3A"/>
                </a:solidFill>
              </a:rPr>
              <a:t>geçersiz devretmedir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karşılama metni her zaman somut bir referansla bitmeli; devretmeden önce karşı tarafın </a:t>
            </a:r>
            <a:r>
              <a:rPr sz="1800" b="1">
                <a:solidFill>
                  <a:srgbClr val="1F2D3A"/>
                </a:solidFill>
              </a:rPr>
              <a:t>gerçekten</a:t>
            </a:r>
            <a:r>
              <a:rPr sz="1800" b="0">
                <a:solidFill>
                  <a:srgbClr val="1F2D3A"/>
                </a:solidFill>
              </a:rPr>
              <a:t> karşılayabileceğini doğrulayın.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Gereksinim bloğunun alanları?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Devrederken hangi üç soru yanıtlanır?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Sessiz devretme neden sorun?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ID · ölçülebilir ifade · kaynak/gerekçe · ilgili varlık/tehdit · doğrulama yöntemi (kanıt) · durum/öncelik.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şimdi karşılanmıyor? (2) </a:t>
            </a:r>
            <a:r>
              <a:rPr sz="2000" b="1">
                <a:solidFill>
                  <a:srgbClr val="1F2D3A"/>
                </a:solidFill>
              </a:rPr>
              <a:t>Riski ne, kim kabul ediyor</a:t>
            </a:r>
            <a:r>
              <a:rPr sz="2000" b="0">
                <a:solidFill>
                  <a:srgbClr val="1F2D3A"/>
                </a:solidFill>
              </a:rPr>
              <a:t> (onay)? (3) </a:t>
            </a:r>
            <a:r>
              <a:rPr sz="2000" b="1">
                <a:solidFill>
                  <a:srgbClr val="1F2D3A"/>
                </a:solidFill>
              </a:rPr>
              <a:t>Ne zaman/nasıl</a:t>
            </a:r>
            <a:r>
              <a:rPr sz="2000" b="0">
                <a:solidFill>
                  <a:srgbClr val="1F2D3A"/>
                </a:solidFill>
              </a:rPr>
              <a:t> karşılanacak (plan/telafi)?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Kayıt/onay olmadan gereksinim atlanır → </a:t>
            </a:r>
            <a:r>
              <a:rPr sz="2000" b="1">
                <a:solidFill>
                  <a:srgbClr val="1F2D3A"/>
                </a:solidFill>
              </a:rPr>
              <a:t>gizli açık</a:t>
            </a:r>
            <a:r>
              <a:rPr sz="2000" b="0">
                <a:solidFill>
                  <a:srgbClr val="1F2D3A"/>
                </a:solidFill>
              </a:rPr>
              <a:t>, sorumlusu yok, denetimde patlar. Açık, gerekçeli, onaylı devret.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Ortak Kriterler (ISO/IEC 15408)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 — şema</a:t>
            </a:r>
          </a:p>
        </p:txBody>
      </p:sp>
      <p:pic>
        <p:nvPicPr>
          <p:cNvPr id="7" name="Picture 6" descr="h13-07-ortak-kriter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917539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Kriterler:</a:t>
            </a:r>
            <a:r>
              <a:rPr sz="2000" b="0">
                <a:solidFill>
                  <a:srgbClr val="1F2D3A"/>
                </a:solidFill>
              </a:rPr>
              <a:t> ürün güvenliğini değerlendirmenin uluslararası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Ortak bir </a:t>
            </a:r>
            <a:r>
              <a:rPr sz="2000" b="1">
                <a:solidFill>
                  <a:srgbClr val="1F2D3A"/>
                </a:solidFill>
              </a:rPr>
              <a:t>dil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yöntem</a:t>
            </a:r>
            <a:r>
              <a:rPr sz="2000" b="0">
                <a:solidFill>
                  <a:srgbClr val="1F2D3A"/>
                </a:solidFill>
              </a:rPr>
              <a:t> sağlar.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Ülkeler birbirinin değerlendirmesini tanır.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TOE · değerlendirme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 (Target of Evaluation):</a:t>
            </a:r>
            <a:r>
              <a:rPr sz="2000" b="0">
                <a:solidFill>
                  <a:srgbClr val="1F2D3A"/>
                </a:solidFill>
              </a:rPr>
              <a:t> değerlendirilen tam ürün.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tanımlanır (12. hafta): sürüm + ikili + özet.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bileşenler yazılır.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 · güvenlik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 (Security Target):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bu</a:t>
            </a:r>
            <a:r>
              <a:rPr sz="2000" b="0">
                <a:solidFill>
                  <a:srgbClr val="1F2D3A"/>
                </a:solidFill>
              </a:rPr>
              <a:t> ürünün güvenlik hedefi belgesi.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İçinde: tehditler, amaçlar, gereksinimler (SFR/SAR).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Ürüne özgüdür.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PP · koruma profili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PP (Protection Profile):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ortak gereksinim seti.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"mobil cihaz PP", "akıllı kart PP".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ST'ler genelde bir PP'yi temel alır.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 vs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4165"/>
                <a:gridCol w="3637178"/>
                <a:gridCol w="3637178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Kapsam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ürün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Ürün sınıfı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 yazar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Geliştirici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Topluluk/otorite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 ürünün hedefi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Ortak taban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SFR · işlevsel gereksinimler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SFR (Security Functional Requirements):</a:t>
            </a:r>
            <a:r>
              <a:rPr sz="2000" b="0">
                <a:solidFill>
                  <a:srgbClr val="1F2D3A"/>
                </a:solidFill>
              </a:rPr>
              <a:t> ürünün </a:t>
            </a:r>
            <a:r>
              <a:rPr sz="2000" b="1">
                <a:solidFill>
                  <a:srgbClr val="1F2D3A"/>
                </a:solidFill>
              </a:rPr>
              <a:t>ne yapacağı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şifreleme, erişim denetimi, günlükleme.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 bir katalogdan seçilir.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SAR · güvence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SAR (Security Assurance Requirements):</a:t>
            </a:r>
            <a:r>
              <a:rPr sz="2000" b="0">
                <a:solidFill>
                  <a:srgbClr val="1F2D3A"/>
                </a:solidFill>
              </a:rPr>
              <a:t> doğru yapıldığına </a:t>
            </a:r>
            <a:r>
              <a:rPr sz="2000" b="1">
                <a:solidFill>
                  <a:srgbClr val="1F2D3A"/>
                </a:solidFill>
              </a:rPr>
              <a:t>nasıl güveneceğiz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kaynak inceleme, test derinliği, zafiyet analizi.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bunları belirler.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EAL · değerlendirme derinliği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EAL (Evaluation Assurance Level):</a:t>
            </a:r>
            <a:r>
              <a:rPr sz="2000" b="0">
                <a:solidFill>
                  <a:srgbClr val="1F2D3A"/>
                </a:solidFill>
              </a:rPr>
              <a:t> 1'den 7'ye derinlik.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EAL = daha derin inceleme.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"+" ek güvence bileşenlerini gösterir (EAL4+).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EAL yanlış anlaşılması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güvenliğin </a:t>
            </a:r>
            <a:r>
              <a:rPr sz="2000" b="1">
                <a:solidFill>
                  <a:srgbClr val="1F2D3A"/>
                </a:solidFill>
              </a:rPr>
              <a:t>derinliği</a:t>
            </a:r>
            <a:r>
              <a:rPr sz="2000" b="0">
                <a:solidFill>
                  <a:srgbClr val="1F2D3A"/>
                </a:solidFill>
              </a:rPr>
              <a:t>, güvenliğin </a:t>
            </a:r>
            <a:r>
              <a:rPr sz="2000" b="1">
                <a:solidFill>
                  <a:srgbClr val="1F2D3A"/>
                </a:solidFill>
              </a:rPr>
              <a:t>miktarı</a:t>
            </a:r>
            <a:r>
              <a:rPr sz="2000" b="0">
                <a:solidFill>
                  <a:srgbClr val="1F2D3A"/>
                </a:solidFill>
              </a:rPr>
              <a:t>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"EAL4+ &gt; EAL2 daha güvenli" demek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Güvenlik, </a:t>
            </a:r>
            <a:r>
              <a:rPr sz="2000" b="1">
                <a:solidFill>
                  <a:srgbClr val="1F2D3A"/>
                </a:solidFill>
              </a:rPr>
              <a:t>ST'deki tehdit ve amaçlara</a:t>
            </a:r>
            <a:r>
              <a:rPr sz="2000" b="0">
                <a:solidFill>
                  <a:srgbClr val="1F2D3A"/>
                </a:solidFill>
              </a:rPr>
              <a:t> bağlıdır.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ST iskeleti — TOE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ödeme bileşeni için üç adımda dolduralım.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Adım 1 — TOE'yi tanımlayın: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TOE: "CEN429-Pay" kütüphanesi, sürüm 1.0, yalnız Android ARM64 derlemesi. </a:t>
            </a:r>
            <a:r>
              <a:rPr sz="2000" b="1">
                <a:solidFill>
                  <a:srgbClr val="1F2D3A"/>
                </a:solidFill>
              </a:rPr>
              <a:t>Kapsam dışı:</a:t>
            </a:r>
            <a:r>
              <a:rPr sz="2000" b="0">
                <a:solidFill>
                  <a:srgbClr val="1F2D3A"/>
                </a:solidFill>
              </a:rPr>
              <a:t> üst uygulamanın arayüzü, sunucu tarafı bileşenler, işletim sistemi çekirdeği.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998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Kapsam dışını yazmak, kapsamı yazmak kadar önemlidir.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Tehdit → amaç → SFR eşlemesi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59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873"/>
                <a:gridCol w="4938905"/>
                <a:gridCol w="1608015"/>
                <a:gridCol w="2641740"/>
              </a:tblGrid>
              <a:tr h="46497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Güvenlik amacı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SFR ailesi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Dersteki 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497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T.EAVESDROP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Aktarılan veri gizli/bütünlüklü kalmalı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FCS, FTP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CEN429-DT-01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497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T.TAMPER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 bütünlüğünü denetlemeli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FPT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CEN429-AP-04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49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doğrulanmalı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CEN429-ID-02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95497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Bu tablo ST'nin kalbidir: her satır "neden bu gereksinim var" ile "hangi kanıt istenir" arasındaki köprü.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4'ün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TOE tanımı her zaman </a:t>
            </a:r>
            <a:r>
              <a:rPr sz="1800" b="1">
                <a:solidFill>
                  <a:srgbClr val="1F2D3A"/>
                </a:solidFill>
              </a:rPr>
              <a:t>hem içerdiklerini hem dışarıda bıraktıklarını</a:t>
            </a:r>
            <a:r>
              <a:rPr sz="1800" b="0">
                <a:solidFill>
                  <a:srgbClr val="1F2D3A"/>
                </a:solidFill>
              </a:rPr>
              <a:t> listeler.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SFR'ler katalogdan seçilir, </a:t>
            </a:r>
            <a:r>
              <a:rPr sz="1800" b="1">
                <a:solidFill>
                  <a:srgbClr val="1F2D3A"/>
                </a:solidFill>
              </a:rPr>
              <a:t>uydurulmaz</a:t>
            </a:r>
            <a:r>
              <a:rPr sz="1800" b="0">
                <a:solidFill>
                  <a:srgbClr val="1F2D3A"/>
                </a:solidFill>
              </a:rPr>
              <a:t>; karşılığı yoksa "genişletilmiş bileşen" olarak gerekçelendirilir.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Değerlendirici her tehdidin bir amaca, her amacın bir SFR'ye bağlandığını kontrol eder.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FIPS 140-3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 düzeyleri — şema</a:t>
            </a:r>
          </a:p>
        </p:txBody>
      </p:sp>
      <p:pic>
        <p:nvPicPr>
          <p:cNvPr id="7" name="Picture 6" descr="h13-08-fi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35735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Kriptografik modüllerin</a:t>
            </a:r>
            <a:r>
              <a:rPr sz="2000" b="0">
                <a:solidFill>
                  <a:srgbClr val="1F2D3A"/>
                </a:solidFill>
              </a:rPr>
              <a:t> doğrulanması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Modülün algoritmaları, kendini testi, anahtar yönetimi.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modülü</a:t>
            </a:r>
            <a:r>
              <a:rPr sz="2000" b="0">
                <a:solidFill>
                  <a:srgbClr val="1F2D3A"/>
                </a:solidFill>
              </a:rPr>
              <a:t> kapsar.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düzeyleri (1–4)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001791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636506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Düzey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Kabaca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Temel; onaylı algoritmalar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Kurcalamaya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direnç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ve yanıt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yüksek fiziksel koruma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FIPS uyumluluğu tuzağı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FIPS </a:t>
            </a:r>
            <a:r>
              <a:rPr sz="2000" b="1">
                <a:solidFill>
                  <a:srgbClr val="1F2D3A"/>
                </a:solidFill>
              </a:rPr>
              <a:t>doğrulanmış</a:t>
            </a:r>
            <a:r>
              <a:rPr sz="2000" b="0">
                <a:solidFill>
                  <a:srgbClr val="1F2D3A"/>
                </a:solidFill>
              </a:rPr>
              <a:t> kütüphane kullanmak, uygulamayı otomatik FIPS uyumlu </a:t>
            </a:r>
            <a:r>
              <a:rPr sz="2000" b="1">
                <a:solidFill>
                  <a:srgbClr val="1F2D3A"/>
                </a:solidFill>
              </a:rPr>
              <a:t>yapmaz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modülü </a:t>
            </a:r>
            <a:r>
              <a:rPr sz="2000" b="1">
                <a:solidFill>
                  <a:srgbClr val="1F2D3A"/>
                </a:solidFill>
              </a:rPr>
              <a:t>onaylı kipte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doğru</a:t>
            </a:r>
            <a:r>
              <a:rPr sz="2000" b="0">
                <a:solidFill>
                  <a:srgbClr val="1F2D3A"/>
                </a:solidFill>
              </a:rPr>
              <a:t> kullanmalı.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Anahtarları da doğru yönetmeli.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ve FIPS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CC:</a:t>
            </a:r>
            <a:r>
              <a:rPr sz="2000" b="0">
                <a:solidFill>
                  <a:srgbClr val="1F2D3A"/>
                </a:solidFill>
              </a:rPr>
              <a:t> ürünün bütününü değerlendirir.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FIPS:</a:t>
            </a:r>
            <a:r>
              <a:rPr sz="2000" b="0">
                <a:solidFill>
                  <a:srgbClr val="1F2D3A"/>
                </a:solidFill>
              </a:rPr>
              <a:t> kripto modülünü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ürün CC değerlendirmesinde FIPS'li modül kullanabilir.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FIPS düzey 1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 kripto katmanı: OpenSSL </a:t>
            </a:r>
            <a:r>
              <a:rPr sz="2000" b="0">
                <a:solidFill>
                  <a:srgbClr val="A1123F"/>
                </a:solidFill>
                <a:latin typeface="Consolas"/>
              </a:rPr>
              <a:t>EVP</a:t>
            </a:r>
            <a:r>
              <a:rPr sz="2000" b="0">
                <a:solidFill>
                  <a:srgbClr val="1F2D3A"/>
                </a:solidFill>
              </a:rPr>
              <a:t> arayüzü, AES-256-GCM, anahtarlar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getrandom()</a:t>
            </a:r>
            <a:r>
              <a:rPr sz="2000" b="0">
                <a:solidFill>
                  <a:srgbClr val="1F2D3A"/>
                </a:solidFill>
              </a:rPr>
              <a:t>'dan üretiliyor, </a:t>
            </a:r>
            <a:r>
              <a:rPr sz="2000" b="1">
                <a:solidFill>
                  <a:srgbClr val="1F2D3A"/>
                </a:solidFill>
              </a:rPr>
              <a:t>hata durumunda sessizce varsayılan bir anahtara düşüyor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Düzey 1 beklentilerini tek tek işaretleyelim.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Düzey 1 · durum tablosu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5634"/>
                <a:gridCol w="1781475"/>
                <a:gridCol w="5344425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Düzey 1 beklentisi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Neden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Onaylı algoritma, onaylı kipte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Kısmen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CAVP sertifikası yoksa iddia edilemez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Açılış/koşullu öz testler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Proje kendi öz testini çalıştırmıyor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Roller ve hizmetler tanımlı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rol ayrımı yapmıyor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Parametrelerin sıfırlanması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durumunda varsayılan anahtara düşülüyor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politikası belgesi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Böyle bir belge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En kritik açık ve Bölüm 5'in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88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Hata durumunda "varsayılan anahtara düşmek", </a:t>
            </a:r>
            <a:r>
              <a:rPr sz="1800" b="1">
                <a:solidFill>
                  <a:srgbClr val="1F2D3A"/>
                </a:solidFill>
              </a:rPr>
              <a:t>sıfırlama (zeroization) ilkesinin tam tersidir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3. haftadaki kural: "rastgele üreteç başarısız olursa </a:t>
            </a:r>
            <a:r>
              <a:rPr sz="1800" b="1">
                <a:solidFill>
                  <a:srgbClr val="1F2D3A"/>
                </a:solidFill>
              </a:rPr>
              <a:t>dur</a:t>
            </a:r>
            <a:r>
              <a:rPr sz="1800" b="0">
                <a:solidFill>
                  <a:srgbClr val="1F2D3A"/>
                </a:solidFill>
              </a:rPr>
              <a:t>, devam etme" — burada tersi yapılıyor.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bir FIPS iddiasının arkasında her zaman bir </a:t>
            </a:r>
            <a:r>
              <a:rPr sz="1800" b="1">
                <a:solidFill>
                  <a:srgbClr val="1F2D3A"/>
                </a:solidFill>
              </a:rPr>
              <a:t>CMVP sertifika numarası ve kapsamı</a:t>
            </a:r>
            <a:r>
              <a:rPr sz="1800" b="0">
                <a:solidFill>
                  <a:srgbClr val="1F2D3A"/>
                </a:solidFill>
              </a:rPr>
              <a:t> olmalı; yoksa "FIPS onaylı algoritmalar kullanıyoruz (doğrulanmış modül değil)" diye dürüstçe daraltın.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4–5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ST ile PP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SFR ve SAR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"EAL4+ her zaman daha güvenli" neden yanlış?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FIPS'li kütüphane uygulamayı FIPS uyumlu yapar mı?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4–5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PP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standart gereksinim kümesi; </a:t>
            </a:r>
            <a:r>
              <a:rPr sz="2000" b="1">
                <a:solidFill>
                  <a:srgbClr val="1F2D3A"/>
                </a:solidFill>
              </a:rPr>
              <a:t>ST</a:t>
            </a:r>
            <a:r>
              <a:rPr sz="2000" b="0">
                <a:solidFill>
                  <a:srgbClr val="1F2D3A"/>
                </a:solidFill>
              </a:rPr>
              <a:t> belirli bir </a:t>
            </a:r>
            <a:r>
              <a:rPr sz="2000" b="1">
                <a:solidFill>
                  <a:srgbClr val="1F2D3A"/>
                </a:solidFill>
              </a:rPr>
              <a:t>ürünün (TOE)</a:t>
            </a:r>
            <a:r>
              <a:rPr sz="2000" b="0">
                <a:solidFill>
                  <a:srgbClr val="1F2D3A"/>
                </a:solidFill>
              </a:rPr>
              <a:t> neyi karşıladığını söyleyen belge.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SFR</a:t>
            </a:r>
            <a:r>
              <a:rPr sz="2000" b="0">
                <a:solidFill>
                  <a:srgbClr val="1F2D3A"/>
                </a:solidFill>
              </a:rPr>
              <a:t> ürünün </a:t>
            </a:r>
            <a:r>
              <a:rPr sz="2000" b="1">
                <a:solidFill>
                  <a:srgbClr val="1F2D3A"/>
                </a:solidFill>
              </a:rPr>
              <a:t>ne yapacağı</a:t>
            </a:r>
            <a:r>
              <a:rPr sz="2000" b="0">
                <a:solidFill>
                  <a:srgbClr val="1F2D3A"/>
                </a:solidFill>
              </a:rPr>
              <a:t> (fonksiyonel); </a:t>
            </a:r>
            <a:r>
              <a:rPr sz="2000" b="1">
                <a:solidFill>
                  <a:srgbClr val="1F2D3A"/>
                </a:solidFill>
              </a:rPr>
              <a:t>SAR</a:t>
            </a:r>
            <a:r>
              <a:rPr sz="2000" b="0">
                <a:solidFill>
                  <a:srgbClr val="1F2D3A"/>
                </a:solidFill>
              </a:rPr>
              <a:t> buna </a:t>
            </a:r>
            <a:r>
              <a:rPr sz="2000" b="1">
                <a:solidFill>
                  <a:srgbClr val="1F2D3A"/>
                </a:solidFill>
              </a:rPr>
              <a:t>ne kadar güvenileceği</a:t>
            </a:r>
            <a:r>
              <a:rPr sz="2000" b="0">
                <a:solidFill>
                  <a:srgbClr val="1F2D3A"/>
                </a:solidFill>
              </a:rPr>
              <a:t> (güvence; EAL buradan gelir).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EAL </a:t>
            </a:r>
            <a:r>
              <a:rPr sz="2000" b="1">
                <a:solidFill>
                  <a:srgbClr val="1F2D3A"/>
                </a:solidFill>
              </a:rPr>
              <a:t>güvence derinliğini</a:t>
            </a:r>
            <a:r>
              <a:rPr sz="2000" b="0">
                <a:solidFill>
                  <a:srgbClr val="1F2D3A"/>
                </a:solidFill>
              </a:rPr>
              <a:t> ölçer, güvenlik miktarını değil; </a:t>
            </a:r>
            <a:r>
              <a:rPr sz="2000" b="1">
                <a:solidFill>
                  <a:srgbClr val="1F2D3A"/>
                </a:solidFill>
              </a:rPr>
              <a:t>kapsam (ST/TOE)</a:t>
            </a:r>
            <a:r>
              <a:rPr sz="2000" b="0">
                <a:solidFill>
                  <a:srgbClr val="1F2D3A"/>
                </a:solidFill>
              </a:rPr>
              <a:t> darsa yüksek EAL az şey kapsar.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Modülü </a:t>
            </a:r>
            <a:r>
              <a:rPr sz="2000" b="1">
                <a:solidFill>
                  <a:srgbClr val="1F2D3A"/>
                </a:solidFill>
              </a:rPr>
              <a:t>doğru kip/yapılandırmada, onaylı algoritmalarla</a:t>
            </a:r>
            <a:r>
              <a:rPr sz="2000" b="0">
                <a:solidFill>
                  <a:srgbClr val="1F2D3A"/>
                </a:solidFill>
              </a:rPr>
              <a:t> kullanmak gerekir. Modül sertifikası ≠ uygulama uyumu.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Sektöre özgü gereksinim setleri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Sektör standartları — şema</a:t>
            </a:r>
          </a:p>
        </p:txBody>
      </p:sp>
      <p:pic>
        <p:nvPicPr>
          <p:cNvPr id="7" name="Picture 6" descr="h13-09-sek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92523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sektör standartları?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CC/FIPS geneldir; sektörler kendi risklerine göre </a:t>
            </a:r>
            <a:r>
              <a:rPr sz="2000" b="1">
                <a:solidFill>
                  <a:srgbClr val="1F2D3A"/>
                </a:solidFill>
              </a:rPr>
              <a:t>ek</a:t>
            </a:r>
            <a:r>
              <a:rPr sz="2000" b="0">
                <a:solidFill>
                  <a:srgbClr val="1F2D3A"/>
                </a:solidFill>
              </a:rPr>
              <a:t> gereksinim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IoT, mobil, ödeme farklı tehdit ortamları.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hangisine yakınsa onu izleyin.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EN 303 645 (IoT)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Tüketici IoT için </a:t>
            </a:r>
            <a:r>
              <a:rPr sz="2000" b="1">
                <a:solidFill>
                  <a:srgbClr val="1F2D3A"/>
                </a:solidFill>
              </a:rPr>
              <a:t>temel</a:t>
            </a:r>
            <a:r>
              <a:rPr sz="2000" b="0">
                <a:solidFill>
                  <a:srgbClr val="1F2D3A"/>
                </a:solidFill>
              </a:rPr>
              <a:t> güvenlik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varsayılan parola yok, güvenli güncelleme, hassas parametreleri güvenle sakla.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Geniş, uygulanabilir taban.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· örnek maddeler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parolalar (ortak varsayılan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güncellemelerini yönet.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Hassas güvenlik parametrelerini güvenle sakla</a:t>
            </a:r>
            <a:r>
              <a:rPr sz="2000" b="0">
                <a:solidFill>
                  <a:srgbClr val="1F2D3A"/>
                </a:solidFill>
              </a:rPr>
              <a:t> (→ projede S5/S7/S8).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GSMA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operatör ekosistemi için güvenlik yönergeleri.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Cihaz, ağ, servis güvenliği.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SIM/eSIM, kimlik.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Kart ödeme ekosistemi standartları (kartlar, terminaller, mobil ödeme).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uygunluk + güvenlik değerlendirmesi.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puanlaması (12. hafta).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PCI DSS:</a:t>
            </a:r>
            <a:r>
              <a:rPr sz="2000" b="0">
                <a:solidFill>
                  <a:srgbClr val="1F2D3A"/>
                </a:solidFill>
              </a:rPr>
              <a:t> kart verisi işleyen sistemler için güvenlik.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PCI MPoC/CPoC:</a:t>
            </a:r>
            <a:r>
              <a:rPr sz="2000" b="0">
                <a:solidFill>
                  <a:srgbClr val="1F2D3A"/>
                </a:solidFill>
              </a:rPr>
              <a:t> yazılım tabanlı ödeme kabulü.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Sıkı; laboratuvar değerlendirmesi.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Mobile Application Security Verification Standard.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uygulama güvenlik </a:t>
            </a:r>
            <a:r>
              <a:rPr sz="2000" b="1">
                <a:solidFill>
                  <a:srgbClr val="1F2D3A"/>
                </a:solidFill>
              </a:rPr>
              <a:t>gereksinimleri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Düzeyler: temel (L1), derinlemesine (L2), direnç (R).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MASVS · projeniz için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uygulanabilir</a:t>
            </a:r>
            <a:r>
              <a:rPr sz="2000" b="0">
                <a:solidFill>
                  <a:srgbClr val="1F2D3A"/>
                </a:solidFill>
              </a:rPr>
              <a:t> gereksinim seti.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MASTG ile test edilir (12.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Kripto, depolama, iletişim, kod kalitesi, direnç.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3091601"/>
                <a:gridCol w="491019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Odak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Genel ürün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Değerlendirme derinliği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Modül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303 645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EMVCo/PCI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 + güvenlik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 gereksinimi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Karşılaştırma ·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Hepsi aynı kökü paylaşır: </a:t>
            </a:r>
            <a:r>
              <a:rPr sz="2000" b="1">
                <a:solidFill>
                  <a:srgbClr val="1F2D3A"/>
                </a:solidFill>
              </a:rPr>
              <a:t>yazılı, doğrulanabilir</a:t>
            </a:r>
            <a:r>
              <a:rPr sz="2000" b="0">
                <a:solidFill>
                  <a:srgbClr val="1F2D3A"/>
                </a:solidFill>
              </a:rPr>
              <a:t> gereksinim.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Fark: kapsam ve sıkılık.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için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en pratik başlangıç.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gereksinim, dört standart (1) — beklemede veri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625"/>
                <a:gridCol w="7906909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Karşılığı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Kriterler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FCS + FDP bileşenleri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Düzey 1: onaylı algoritma, öz test, sıfırlama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EN 303 645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Madde 5.4 "Hassas parametreleri güvenle sakla"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OWASP MASVS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MASVS-STORAGE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Dersin ailesi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CEN429-DR-01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gereksinim, dört standart (2) — zayıf kimlik doğrulama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9525"/>
                <a:gridCol w="7722009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Karşılığı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Kriterler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FIA bileşenleri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Düzey 2: rol tabanlı kimlik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EN 303 645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Madde 5.1 "Evrensel varsayılan parola yok"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OWASP MASVS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MASVS-AUTH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Dersin ailesi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CEN429-ID-01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CEN429-ID-02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Örtüşme ve Bölüm 6'nın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Bir standarda uyum kanıtı, başka bir standartta da </a:t>
            </a:r>
            <a:r>
              <a:rPr sz="1800" b="1">
                <a:solidFill>
                  <a:srgbClr val="1F2D3A"/>
                </a:solidFill>
              </a:rPr>
              <a:t>kısmen yeniden kullanılabilir</a:t>
            </a:r>
            <a:r>
              <a:rPr sz="1800" b="0">
                <a:solidFill>
                  <a:srgbClr val="1F2D3A"/>
                </a:solidFill>
              </a:rPr>
              <a:t> — ama "otomatik karşılanır" demek değildir; her standardın </a:t>
            </a:r>
            <a:r>
              <a:rPr sz="1800" b="1">
                <a:solidFill>
                  <a:srgbClr val="1F2D3A"/>
                </a:solidFill>
              </a:rPr>
              <a:t>kendi ek ölçütü</a:t>
            </a:r>
            <a:r>
              <a:rPr sz="1800" b="0">
                <a:solidFill>
                  <a:srgbClr val="1F2D3A"/>
                </a:solidFill>
              </a:rPr>
              <a:t> vardır.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"FIPS'li modül kullanıyoruz, o yüzden MASVS-CRYPTO'yu da karşılıyoruz" cümlesi </a:t>
            </a:r>
            <a:r>
              <a:rPr sz="1800" b="1">
                <a:solidFill>
                  <a:srgbClr val="1F2D3A"/>
                </a:solidFill>
              </a:rPr>
              <a:t>tehlikelidir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örtüşmeyi kanıt toplamayı hızlandırmak için kullanın, ama her standardı </a:t>
            </a:r>
            <a:r>
              <a:rPr sz="1800" b="1">
                <a:solidFill>
                  <a:srgbClr val="1F2D3A"/>
                </a:solidFill>
              </a:rPr>
              <a:t>ayrı ayrı</a:t>
            </a:r>
            <a:r>
              <a:rPr sz="1800" b="0">
                <a:solidFill>
                  <a:srgbClr val="1F2D3A"/>
                </a:solidFill>
              </a:rPr>
              <a:t> işaretleyin.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ETSI EN 303 645 kimin için?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MASVS neden projeniz için en uygun?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CC ile MASVS farkı?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Tüketici </a:t>
            </a:r>
            <a:r>
              <a:rPr sz="2000" b="1">
                <a:solidFill>
                  <a:srgbClr val="1F2D3A"/>
                </a:solidFill>
              </a:rPr>
              <a:t>IoT</a:t>
            </a:r>
            <a:r>
              <a:rPr sz="2000" b="0">
                <a:solidFill>
                  <a:srgbClr val="1F2D3A"/>
                </a:solidFill>
              </a:rPr>
              <a:t> cihazları için temel güvenlik (varsayılan parola yok, güncelleme, güvenli iletişim…).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Proje uygulama odaklı;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somut, kontrol edilebilir maddeler + </a:t>
            </a:r>
            <a:r>
              <a:rPr sz="2000" b="1">
                <a:solidFill>
                  <a:srgbClr val="1F2D3A"/>
                </a:solidFill>
              </a:rPr>
              <a:t>MASTG</a:t>
            </a:r>
            <a:r>
              <a:rPr sz="2000" b="0">
                <a:solidFill>
                  <a:srgbClr val="1F2D3A"/>
                </a:solidFill>
              </a:rPr>
              <a:t> test rehberi → doğrudan uygulanır.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CC</a:t>
            </a:r>
            <a:r>
              <a:rPr sz="2000" b="0">
                <a:solidFill>
                  <a:srgbClr val="1F2D3A"/>
                </a:solidFill>
              </a:rPr>
              <a:t> ağır, akredite laboratuvar/sertifika (EAL);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hafif, açık, geliştirici-dostu </a:t>
            </a:r>
            <a:r>
              <a:rPr sz="2000" b="1">
                <a:solidFill>
                  <a:srgbClr val="1F2D3A"/>
                </a:solidFill>
              </a:rPr>
              <a:t>öz-değerlendirme</a:t>
            </a:r>
            <a:r>
              <a:rPr sz="2000" b="0">
                <a:solidFill>
                  <a:srgbClr val="1F2D3A"/>
                </a:solidFill>
              </a:rPr>
              <a:t> standardı.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Gereksinimleri projeye aktarmak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aktarma kararı — şema</a:t>
            </a:r>
          </a:p>
        </p:txBody>
      </p:sp>
      <p:pic>
        <p:nvPicPr>
          <p:cNvPr id="7" name="Picture 6" descr="h13-02-gereksinim-kar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01178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→ varlık → önlem</a:t>
            </a:r>
          </a:p>
        </p:txBody>
      </p:sp>
      <p:pic>
        <p:nvPicPr>
          <p:cNvPr id="7" name="Picture 6" descr="h13-05-gereksinim-blog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8470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2826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bir </a:t>
            </a:r>
            <a:r>
              <a:rPr sz="2000" b="1">
                <a:solidFill>
                  <a:srgbClr val="1F2D3A"/>
                </a:solidFill>
              </a:rPr>
              <a:t>varlığa</a:t>
            </a:r>
            <a:r>
              <a:rPr sz="2000" b="0">
                <a:solidFill>
                  <a:srgbClr val="1F2D3A"/>
                </a:solidFill>
              </a:rPr>
              <a:t> ve bir </a:t>
            </a:r>
            <a:r>
              <a:rPr sz="2000" b="1">
                <a:solidFill>
                  <a:srgbClr val="1F2D3A"/>
                </a:solidFill>
              </a:rPr>
              <a:t>önleme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Varlık yönetimiyle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S5 </a:t>
            </a:r>
            <a:r>
              <a:rPr sz="2000" b="1">
                <a:solidFill>
                  <a:srgbClr val="1F2D3A"/>
                </a:solidFill>
              </a:rPr>
              <a:t>varlık listesine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varlık: C/I/I+ etiketi, koruma önlemi.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Gereksinim, o korumayı </a:t>
            </a:r>
            <a:r>
              <a:rPr sz="2000" b="1">
                <a:solidFill>
                  <a:srgbClr val="1F2D3A"/>
                </a:solidFill>
              </a:rPr>
              <a:t>zorunlu</a:t>
            </a:r>
            <a:r>
              <a:rPr sz="2000" b="0">
                <a:solidFill>
                  <a:srgbClr val="1F2D3A"/>
                </a:solidFill>
              </a:rPr>
              <a:t> kılar.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Plana aktarmak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gereksinim → tasarım/kod (S6–S11).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Güvence gereksinimi → test (S16).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 gereksinimi → geliştirme süreci (S13).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CR-03'e altı adımı uygulamak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CEN429-CR-03</a:t>
            </a:r>
            <a:r>
              <a:rPr sz="2000" b="0">
                <a:solidFill>
                  <a:srgbClr val="1F2D3A"/>
                </a:solidFill>
              </a:rPr>
              <a:t> ("anahtarlar iş bitince silinmelidir"):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1. Uygulanabilirlik:</a:t>
            </a:r>
            <a:r>
              <a:rPr sz="2000" b="0">
                <a:solidFill>
                  <a:srgbClr val="1F2D3A"/>
                </a:solidFill>
              </a:rPr>
              <a:t> oturum ve kasa dosyası anahtarı var → uygulanır.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2. Sorumluluk:</a:t>
            </a:r>
            <a:r>
              <a:rPr sz="2000" b="0">
                <a:solidFill>
                  <a:srgbClr val="1F2D3A"/>
                </a:solidFill>
              </a:rPr>
              <a:t> kod projenin kendisi → biz karşılarız.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3. Varlıklara bağlama:</a:t>
            </a:r>
            <a:r>
              <a:rPr sz="2000" b="0">
                <a:solidFill>
                  <a:srgbClr val="1F2D3A"/>
                </a:solidFill>
              </a:rPr>
              <a:t> kasa dosyası anahtarının "silinme" sütunu boş — </a:t>
            </a:r>
            <a:r>
              <a:rPr sz="2000" b="1">
                <a:solidFill>
                  <a:srgbClr val="1F2D3A"/>
                </a:solidFill>
              </a:rPr>
              <a:t>eksiklik burada fark 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örnek · tehditten sürüm planına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4. Tehditlere bağlama:</a:t>
            </a:r>
            <a:r>
              <a:rPr sz="2000" b="0">
                <a:solidFill>
                  <a:srgbClr val="1F2D3A"/>
                </a:solidFill>
              </a:rPr>
              <a:t> "fiziksel erişimi olan saldırgan bellek dökümü alır" tehdidine bağlanır.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5. Önlem/doğrulama: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sifreleme_bellek_sil()</a:t>
            </a:r>
            <a:r>
              <a:rPr sz="2000" b="0">
                <a:solidFill>
                  <a:srgbClr val="1F2D3A"/>
                </a:solidFill>
              </a:rPr>
              <a:t> çağrısı; doğrulama: bellek dökümünde anahtar baytlarının </a:t>
            </a:r>
            <a:r>
              <a:rPr sz="2000" b="1">
                <a:solidFill>
                  <a:srgbClr val="1F2D3A"/>
                </a:solidFill>
              </a:rPr>
              <a:t>bulunmadığını</a:t>
            </a:r>
            <a:r>
              <a:rPr sz="2000" b="0">
                <a:solidFill>
                  <a:srgbClr val="1F2D3A"/>
                </a:solidFill>
              </a:rPr>
              <a:t> göstermek.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6. Sürüm planı:</a:t>
            </a:r>
            <a:r>
              <a:rPr sz="2000" b="0">
                <a:solidFill>
                  <a:srgbClr val="1F2D3A"/>
                </a:solidFill>
              </a:rPr>
              <a:t> oturum anahtarı v0.9'da karşılandı; kasa dosyası anahtarı v1.0'a planlandı, o güne kadar </a:t>
            </a:r>
            <a:r>
              <a:rPr sz="2000" b="1">
                <a:solidFill>
                  <a:srgbClr val="1F2D3A"/>
                </a:solidFill>
              </a:rPr>
              <a:t>karşılanmadı</a:t>
            </a:r>
            <a:r>
              <a:rPr sz="2000" b="0">
                <a:solidFill>
                  <a:srgbClr val="1F2D3A"/>
                </a:solidFill>
              </a:rPr>
              <a:t> + kalan risk yazılır.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7'nin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Her "uygulanmaz" kararı, gerekçesini destekleyen bir </a:t>
            </a:r>
            <a:r>
              <a:rPr sz="1800" b="1">
                <a:solidFill>
                  <a:srgbClr val="1F2D3A"/>
                </a:solidFill>
              </a:rPr>
              <a:t>kanıtla</a:t>
            </a:r>
            <a:r>
              <a:rPr sz="1800" b="0">
                <a:solidFill>
                  <a:srgbClr val="1F2D3A"/>
                </a:solidFill>
              </a:rPr>
              <a:t> (kod taraması, mimari diyagram) birlikte yazılmalı.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Gerekçesiz "uygulanmaz", gerekçesiz "karşılandı" kadar güvenilmezdir.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Altı adımdan 3. ve 4.'ü (varlık/tehdit bağlama) atlamak en sık yapılan hatadır.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Dersin gereksinim aileleri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aileleri — şema</a:t>
            </a:r>
          </a:p>
        </p:txBody>
      </p:sp>
      <p:pic>
        <p:nvPicPr>
          <p:cNvPr id="7" name="Picture 6" descr="h13-11-gereksinim-aile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61078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Dersin kendi kimlikleri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ders, açık standartlardan uyarlanmış kendi gereksinim ailelerini kullanır: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CEN429-</a:t>
            </a:r>
            <a:r>
              <a:rPr sz="2000" b="1">
                <a:solidFill>
                  <a:srgbClr val="1F2D3A"/>
                </a:solidFill>
              </a:rPr>
              <a:t>AP</a:t>
            </a:r>
            <a:r>
              <a:rPr sz="2000" b="0">
                <a:solidFill>
                  <a:srgbClr val="1F2D3A"/>
                </a:solidFill>
              </a:rPr>
              <a:t> (uygulama koruma), </a:t>
            </a:r>
            <a:r>
              <a:rPr sz="2000" b="1">
                <a:solidFill>
                  <a:srgbClr val="1F2D3A"/>
                </a:solidFill>
              </a:rPr>
              <a:t>ID</a:t>
            </a:r>
            <a:r>
              <a:rPr sz="2000" b="0">
                <a:solidFill>
                  <a:srgbClr val="1F2D3A"/>
                </a:solidFill>
              </a:rPr>
              <a:t> (kimlik), </a:t>
            </a:r>
            <a:r>
              <a:rPr sz="2000" b="1">
                <a:solidFill>
                  <a:srgbClr val="1F2D3A"/>
                </a:solidFill>
              </a:rPr>
              <a:t>AS</a:t>
            </a:r>
            <a:r>
              <a:rPr sz="2000" b="0">
                <a:solidFill>
                  <a:srgbClr val="1F2D3A"/>
                </a:solidFill>
              </a:rPr>
              <a:t> (varlık), </a:t>
            </a:r>
            <a:r>
              <a:rPr sz="2000" b="1">
                <a:solidFill>
                  <a:srgbClr val="1F2D3A"/>
                </a:solidFill>
              </a:rPr>
              <a:t>DR/DU/DT</a:t>
            </a:r>
            <a:r>
              <a:rPr sz="2000" b="0">
                <a:solidFill>
                  <a:srgbClr val="1F2D3A"/>
                </a:solidFill>
              </a:rPr>
              <a:t> (veri: beklemede/kullanımda/aktarımda)…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81993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636506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Uygulama koruma (gizleme, RASP)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ve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Varlık yönetimi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Beklemedeki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001343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543"/>
                <a:gridCol w="4345800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Kullanımdaki veri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Aktarımdaki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Raporlama/günlük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Geliştirme/süreç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Her aile → haftalara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 → 4, 5, 6, 9, 11, 14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CR/DR/DU/DT → 3, 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 → 1, 3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DV/RP → 12,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bu ailelerden bir </a:t>
            </a:r>
            <a:r>
              <a:rPr sz="2000" b="1">
                <a:solidFill>
                  <a:srgbClr val="1F2D3A"/>
                </a:solidFill>
              </a:rPr>
              <a:t>alt küme</a:t>
            </a:r>
            <a:r>
              <a:rPr sz="2000" b="0">
                <a:solidFill>
                  <a:srgbClr val="1F2D3A"/>
                </a:solidFill>
              </a:rPr>
              <a:t> seçer.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Uyum matrisi etkinliği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projenizden </a:t>
            </a:r>
            <a:r>
              <a:rPr sz="2000" b="1">
                <a:solidFill>
                  <a:srgbClr val="1F2D3A"/>
                </a:solidFill>
              </a:rPr>
              <a:t>beş gereksinim</a:t>
            </a:r>
            <a:r>
              <a:rPr sz="2000" b="0">
                <a:solidFill>
                  <a:srgbClr val="1F2D3A"/>
                </a:solidFill>
              </a:rPr>
              <a:t> seçin (farklı ailelerden).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için bir </a:t>
            </a:r>
            <a:r>
              <a:rPr sz="2000" b="1">
                <a:solidFill>
                  <a:srgbClr val="1F2D3A"/>
                </a:solidFill>
              </a:rPr>
              <a:t>gereksinim bloğu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için matris satırı doldurun: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820379" cy="832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1636730"/>
                <a:gridCol w="1636730"/>
                <a:gridCol w="2364165"/>
                <a:gridCol w="1636730"/>
              </a:tblGrid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birini </a:t>
            </a:r>
            <a:r>
              <a:rPr sz="2000" b="1">
                <a:solidFill>
                  <a:srgbClr val="1F2D3A"/>
                </a:solidFill>
              </a:rPr>
              <a:t>devredilen</a:t>
            </a:r>
            <a:r>
              <a:rPr sz="2000" b="0">
                <a:solidFill>
                  <a:srgbClr val="1F2D3A"/>
                </a:solidFill>
              </a:rPr>
              <a:t> olarak yazın (kime/neden/nasıl).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birinin </a:t>
            </a:r>
            <a:r>
              <a:rPr sz="2000" b="1">
                <a:solidFill>
                  <a:srgbClr val="1F2D3A"/>
                </a:solidFill>
              </a:rPr>
              <a:t>kanıtını</a:t>
            </a:r>
            <a:r>
              <a:rPr sz="2000" b="0">
                <a:solidFill>
                  <a:srgbClr val="1F2D3A"/>
                </a:solidFill>
              </a:rPr>
              <a:t> somut gösterin.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"karşılanmadı" varsa </a:t>
            </a:r>
            <a:r>
              <a:rPr sz="2000" b="1">
                <a:solidFill>
                  <a:srgbClr val="1F2D3A"/>
                </a:solidFill>
              </a:rPr>
              <a:t>kalan riske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gözüyle kontrol: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satırın kanıtı var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Devredilenler açık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</a:t>
            </a:r>
            <a:r>
              <a:rPr sz="2000" b="1">
                <a:solidFill>
                  <a:srgbClr val="1F2D3A"/>
                </a:solidFill>
              </a:rPr>
              <a:t>doğrulanabilir</a:t>
            </a:r>
            <a:r>
              <a:rPr sz="2000" b="0">
                <a:solidFill>
                  <a:srgbClr val="1F2D3A"/>
                </a:solidFill>
              </a:rPr>
              <a:t> mi?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İşlenmiş örnek · ilk taslak (yetersiz)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takımın </a:t>
            </a:r>
            <a:r>
              <a:rPr sz="1800" b="0">
                <a:solidFill>
                  <a:srgbClr val="A1123F"/>
                </a:solidFill>
                <a:latin typeface="Consolas"/>
              </a:rPr>
              <a:t>CEN429-AP-04</a:t>
            </a:r>
            <a:r>
              <a:rPr sz="1800" b="0">
                <a:solidFill>
                  <a:srgbClr val="1F2D3A"/>
                </a:solidFill>
              </a:rPr>
              <a:t> için matris satırı, </a:t>
            </a:r>
            <a:r>
              <a:rPr sz="1800" b="1">
                <a:solidFill>
                  <a:srgbClr val="1F2D3A"/>
                </a:solidFill>
              </a:rPr>
              <a:t>ilk taslakta</a:t>
            </a:r>
            <a:r>
              <a:rPr sz="1800" b="0">
                <a:solidFill>
                  <a:srgbClr val="1F2D3A"/>
                </a:solidFill>
              </a:rPr>
              <a:t>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3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2958"/>
                <a:gridCol w="4280679"/>
                <a:gridCol w="1175088"/>
                <a:gridCol w="2098372"/>
                <a:gridCol w="1259023"/>
                <a:gridCol w="755413"/>
              </a:tblGrid>
              <a:tr h="60624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0624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CEN429-AP-04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 çalışma anında bütünlüğünü denetlemeli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kontrolü var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edildi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164737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Üç sorun: (1) önlem, gereksinimin </a:t>
            </a:r>
            <a:r>
              <a:rPr sz="1800" b="1">
                <a:solidFill>
                  <a:srgbClr val="1F2D3A"/>
                </a:solidFill>
              </a:rPr>
              <a:t>tekrarı</a:t>
            </a:r>
            <a:r>
              <a:rPr sz="1800" b="0">
                <a:solidFill>
                  <a:srgbClr val="1F2D3A"/>
                </a:solidFill>
              </a:rPr>
              <a:t>. (2) "Test edildi" doğrulama </a:t>
            </a:r>
            <a:r>
              <a:rPr sz="1800" b="1">
                <a:solidFill>
                  <a:srgbClr val="1F2D3A"/>
                </a:solidFill>
              </a:rPr>
              <a:t>yöntemi değil</a:t>
            </a:r>
            <a:r>
              <a:rPr sz="1800" b="0">
                <a:solidFill>
                  <a:srgbClr val="1F2D3A"/>
                </a:solidFill>
              </a:rPr>
              <a:t>. (3) Kanıt </a:t>
            </a:r>
            <a:r>
              <a:rPr sz="1800" b="1">
                <a:solidFill>
                  <a:srgbClr val="1F2D3A"/>
                </a:solidFill>
              </a:rPr>
              <a:t>boş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Taslağı düzeltme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Önlemi somutlaştır: açılışta kod bölümünün özeti (hash) hesaplanır, derleme zamanında gömülü beklenen özetle karşılaştırılır; uyuşmazsa çalışma durur (S12.3).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Doğrulama yöntemini netleştir: ikili dosyanın bir baytı değiştirilir, uygulamanın </a:t>
            </a:r>
            <a:r>
              <a:rPr sz="2000" b="1">
                <a:solidFill>
                  <a:srgbClr val="1F2D3A"/>
                </a:solidFill>
              </a:rPr>
              <a:t>başlamayı reddettiği</a:t>
            </a:r>
            <a:r>
              <a:rPr sz="2000" b="0">
                <a:solidFill>
                  <a:srgbClr val="1F2D3A"/>
                </a:solidFill>
              </a:rPr>
              <a:t> doğrulanır.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Kanıt ekle: CI işi </a:t>
            </a:r>
            <a:r>
              <a:rPr sz="2000" b="0">
                <a:solidFill>
                  <a:srgbClr val="A1123F"/>
                </a:solidFill>
                <a:latin typeface="Consolas"/>
              </a:rPr>
              <a:t>ci-integrity-check</a:t>
            </a:r>
            <a:r>
              <a:rPr sz="2000" b="0">
                <a:solidFill>
                  <a:srgbClr val="1F2D3A"/>
                </a:solidFill>
              </a:rPr>
              <a:t>, çalıştırma </a:t>
            </a:r>
            <a:r>
              <a:rPr sz="2000" b="1">
                <a:solidFill>
                  <a:srgbClr val="1F2D3A"/>
                </a:solidFill>
              </a:rPr>
              <a:t>#391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integrity_test.log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Düzeltilmiş satır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0022"/>
                <a:gridCol w="752519"/>
                <a:gridCol w="3493841"/>
                <a:gridCol w="2902575"/>
                <a:gridCol w="2902575"/>
              </a:tblGrid>
              <a:tr h="60624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0624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CEN429-AP-04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S12.3: açılış özeti hesaplanır, gömülü özetle karşılaştırılır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Bayt değişince başlamanın reddedildiği test edilir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ci-integrity-check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#391,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integrity_test.log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Fark neyde?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satırın </a:t>
            </a:r>
            <a:r>
              <a:rPr sz="2000" b="1">
                <a:solidFill>
                  <a:srgbClr val="1F2D3A"/>
                </a:solidFill>
              </a:rPr>
              <a:t>uzunluğunda</a:t>
            </a:r>
            <a:r>
              <a:rPr sz="2000" b="0">
                <a:solidFill>
                  <a:srgbClr val="1F2D3A"/>
                </a:solidFill>
              </a:rPr>
              <a:t> değil, her hücrenin </a:t>
            </a:r>
            <a:r>
              <a:rPr sz="2000" b="1">
                <a:solidFill>
                  <a:srgbClr val="1F2D3A"/>
                </a:solidFill>
              </a:rPr>
              <a:t>somutluğunda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taslak da "dolu" görünüyordu ama hiçbir hücresi </a:t>
            </a:r>
            <a:r>
              <a:rPr sz="2000" b="1">
                <a:solidFill>
                  <a:srgbClr val="1F2D3A"/>
                </a:solidFill>
              </a:rPr>
              <a:t>bağımsız olarak doğrulanamazdı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için önemli olan: her hücreyi okuyunca "bunu nereden biliyoruz?" sorusuna cevap bulabilmek.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8'in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satırın kanıtı </a:t>
            </a:r>
            <a:r>
              <a:rPr sz="2000" b="1">
                <a:solidFill>
                  <a:srgbClr val="1F2D3A"/>
                </a:solidFill>
              </a:rPr>
              <a:t>o satıra özgü</a:t>
            </a:r>
            <a:r>
              <a:rPr sz="2000" b="0">
                <a:solidFill>
                  <a:srgbClr val="1F2D3A"/>
                </a:solidFill>
              </a:rPr>
              <a:t> olmalı: belirli test adı, belirli CI numarası, belirli günlük dosyası.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genel raporu bütün satırlara kopyalamak, matrisin </a:t>
            </a:r>
            <a:r>
              <a:rPr sz="2000" b="1">
                <a:solidFill>
                  <a:srgbClr val="1F2D3A"/>
                </a:solidFill>
              </a:rPr>
              <a:t>tamamını</a:t>
            </a:r>
            <a:r>
              <a:rPr sz="2000" b="0">
                <a:solidFill>
                  <a:srgbClr val="1F2D3A"/>
                </a:solidFill>
              </a:rPr>
              <a:t> şüpheli hâle getirir.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Genel bir rapora referans veriliyorsa, raporun </a:t>
            </a:r>
            <a:r>
              <a:rPr sz="2000" b="1">
                <a:solidFill>
                  <a:srgbClr val="1F2D3A"/>
                </a:solidFill>
              </a:rPr>
              <a:t>hangi bölümü/sayfası</a:t>
            </a:r>
            <a:r>
              <a:rPr sz="2000" b="0">
                <a:solidFill>
                  <a:srgbClr val="1F2D3A"/>
                </a:solidFill>
              </a:rPr>
              <a:t> olduğu da belirtilmeli.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7–8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Gereksinim hangi iki şeye bağlanır?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Dersin gereksinim ailelerinden üçünü sayın.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Uyum matrisinde her satırda ne olmalı?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7–8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Yukarıda </a:t>
            </a:r>
            <a:r>
              <a:rPr sz="2000" b="1">
                <a:solidFill>
                  <a:srgbClr val="1F2D3A"/>
                </a:solidFill>
              </a:rPr>
              <a:t>kaynağa</a:t>
            </a:r>
            <a:r>
              <a:rPr sz="2000" b="0">
                <a:solidFill>
                  <a:srgbClr val="1F2D3A"/>
                </a:solidFill>
              </a:rPr>
              <a:t> (tehdit/standart/varlık) ve aşağıda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(test/kod) — iki yön.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(Dokuz aileden herhangi üçü) ör. </a:t>
            </a:r>
            <a:r>
              <a:rPr sz="2000" b="1">
                <a:solidFill>
                  <a:srgbClr val="1F2D3A"/>
                </a:solidFill>
              </a:rPr>
              <a:t>veri güvenliği · kod sağlamlaştırma · RASP · kriptografi/sertifika · bellek koruması · arayüz koruması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Gereksinim </a:t>
            </a:r>
            <a:r>
              <a:rPr sz="2000" b="1">
                <a:solidFill>
                  <a:srgbClr val="1F2D3A"/>
                </a:solidFill>
              </a:rPr>
              <a:t>ID+ifade · durum</a:t>
            </a:r>
            <a:r>
              <a:rPr sz="2000" b="0">
                <a:solidFill>
                  <a:srgbClr val="1F2D3A"/>
                </a:solidFill>
              </a:rPr>
              <a:t> (karşılandı/devredildi) </a:t>
            </a:r>
            <a:r>
              <a:rPr sz="2000" b="1">
                <a:solidFill>
                  <a:srgbClr val="1F2D3A"/>
                </a:solidFill>
              </a:rPr>
              <a:t>· kanıt</a:t>
            </a:r>
            <a:r>
              <a:rPr sz="2000" b="0">
                <a:solidFill>
                  <a:srgbClr val="1F2D3A"/>
                </a:solidFill>
              </a:rPr>
              <a:t> (test/dosya/S-bölümü). </a:t>
            </a:r>
            <a:r>
              <a:rPr sz="2000" b="1">
                <a:solidFill>
                  <a:srgbClr val="1F2D3A"/>
                </a:solidFill>
              </a:rPr>
              <a:t>Kanıtsız satır 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Proje ve kapanış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S14 ve S17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S17 uyum matrisi:</a:t>
            </a:r>
            <a:r>
              <a:rPr sz="2000" b="0">
                <a:solidFill>
                  <a:srgbClr val="1F2D3A"/>
                </a:solidFill>
              </a:rPr>
              <a:t> uygulanan her gereksinim için durum, bölüm, doğrulama, kanıt.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S14 devredilenler:</a:t>
            </a:r>
            <a:r>
              <a:rPr sz="2000" b="0">
                <a:solidFill>
                  <a:srgbClr val="1F2D3A"/>
                </a:solidFill>
              </a:rPr>
              <a:t> kime, neden, nasıl.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kalan riske</a:t>
            </a:r>
            <a:r>
              <a:rPr sz="2000" b="0">
                <a:solidFill>
                  <a:srgbClr val="1F2D3A"/>
                </a:solidFill>
              </a:rPr>
              <a:t> yaz.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Kanıtsız "karşılandı" = karşılanmamış.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Devredilenler açık ve gerekçeli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doğrulanabilir mi?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45 dakikada nasıl hazırlanır + kanıt klasörü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Aile tablosundan uygulanan gereksinimleri işaretleyin; uygulanmayanları "uygulanmaz, gerekçe: ..." bırakın.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Altı sütunu (kimlik, gereksinim, durum, önlem, doğrulama, kanıt) doldurun; kanıtsız "karşılandı" yazmayın.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"Devredildi" satırlarını S14'e, kime/neden/nasıl ile taşıyın.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Varlık tablonuzu (S5) her gereksinime bağlayın; S1'e dayandığınız standartları yazın.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493008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evidence/week13/  &lt;- test/log/pcap dosyaları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README.md       &lt;- her dosya hangi gereksinimin kanıtı, bir satırla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Zaman kısıtlıysa · öncelik sırası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Önce </a:t>
            </a:r>
            <a:r>
              <a:rPr sz="1800" b="1">
                <a:solidFill>
                  <a:srgbClr val="1F2D3A"/>
                </a:solidFill>
              </a:rPr>
              <a:t>en az 15 gereksinimlik</a:t>
            </a:r>
            <a:r>
              <a:rPr sz="1800" b="0">
                <a:solidFill>
                  <a:srgbClr val="1F2D3A"/>
                </a:solidFill>
              </a:rPr>
              <a:t> bir S17 iskeleti (kimlik+gereksinim+durum) — boş S17'den çok daha iyi.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Elde </a:t>
            </a:r>
            <a:r>
              <a:rPr sz="1800" b="1">
                <a:solidFill>
                  <a:srgbClr val="1F2D3A"/>
                </a:solidFill>
              </a:rPr>
              <a:t>gerçek kanıtı olan</a:t>
            </a:r>
            <a:r>
              <a:rPr sz="1800" b="0">
                <a:solidFill>
                  <a:srgbClr val="1F2D3A"/>
                </a:solidFill>
              </a:rPr>
              <a:t> "karşılandı" satırlarını tamamlayın; kanıtı olmayanı dürüstçe "karşılanmadı" yapın.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Devredilen satırları S14'e taşıyın.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Son olarak kalan önlem/doğrulama sütunlarını doldurun.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9300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"az ama dürüst" bir matris, "çok ama kanıtsız" olandan her zaman daha iyi puan alır.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İyi bir güvenlik gereksiniminin dört ölçütü?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Doğrulanabilir, tekil, ölçülebilir, gerçekçi.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"Uygulama güvenli olmalıdır" neden kötü? Nasıl düzeltilir?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Doğrulanamaz. Ölçülebilir yazılır: ör. "sürüm derlemesi yığın koruyucu, PIE ve tam RELRO ile üretilir".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İzlenebilirlik zinciri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Gereksinim → önlem → doğrulama → kanıt. Her gereksinim bir kanıta bağlanır.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Uyum matrisinde kanıtsız "karşılandı"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Değerlendirici için karşılanmamış sayılır; ilk bulgulardan biridir.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gereksinimi devrederken hangi üç soru yanıtlanır?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Kime, neden, nasıl. Sessiz devretme "karşılanmadı" sayılır.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ST ile PP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ST tek ürünün güvenlik hedefi; PP bir ürün sınıfı için ortak gereksinim seti. ST genelde bir PP'yi temel alır.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"EAL4+ her zaman EAL2'den güvenli" doğru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EAL değerlendirmenin derinliğidir; güvenlik ST'deki tehdit ve amaçlara bağlıdır. "+" ek güvence bileşenidir.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FIPS doğrulanmış kütüphane kullanan uygulama FIPS uyumlu mudur?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Tek başına değil. Doğrulama modülü kapsar; uygulama onaylı kipte, doğru kullanmalı, anahtarları doğru yönetmeli.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ETSI EN 303 645'in "hassas parametreleri güvenle sakla" maddesi projede nereye karşılık gelir?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S5 varlık listesi, S7 veri güvenliği/kabuk matrisi, S8 anahtar yaşam döngüsü.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kütüphane "güvenli güncelleme" gereksinimini karşılayamıyorsa?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Üst uygulamaya devreder ve kılavuzda kime/neden/nasıl karşılanacağını yazar.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3173"/>
                <a:gridCol w="6408361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İşlevsel/güvence/süreç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Üç gereksinim türü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İzlenebilirlik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Gereksinim→kanıt zinciri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tarafa aktarılan 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TOE/ST/PP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CC temel kavramları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SFR/SAR/EAL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İşlevsel/güvence/derinlik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Güvenlik, </a:t>
            </a:r>
            <a:r>
              <a:rPr sz="2000" b="1">
                <a:solidFill>
                  <a:srgbClr val="1F2D3A"/>
                </a:solidFill>
              </a:rPr>
              <a:t>yazılı, doğrulanabilir, izlenebilir</a:t>
            </a:r>
            <a:r>
              <a:rPr sz="2000" b="0">
                <a:solidFill>
                  <a:srgbClr val="1F2D3A"/>
                </a:solidFill>
              </a:rPr>
              <a:t> gereksinimlerle yönetilir; her gereksinim bir önleme, teste ve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bağlanır, karşılanamayan açıkça </a:t>
            </a:r>
            <a:r>
              <a:rPr sz="2000" b="1">
                <a:solidFill>
                  <a:srgbClr val="1F2D3A"/>
                </a:solidFill>
              </a:rPr>
              <a:t>devredilir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14. hafta — Tigress ve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Gizleme kurallarının otomatik, çeşitlendirilmiş uygulaması; ölçme ve derleme hattı.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İşlenmiş uyum matrisi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Bağlam · NotKasa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uygulama: yerel şifreli not tutar, sunucuyla konuşur, güncellenir.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Birkaç gereksinim seçip matris satırı yazalım.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Gereksinimin doğuşu · tehditten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Tehdit: cihaz çalınırsa yerel notlar okunur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↓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Amaç: beklemede gizlilik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↓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Gereksinim: C sınıfı veri AEAD ile şifrelenir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havadan gelmez; </a:t>
            </a:r>
            <a:r>
              <a:rPr sz="2000" b="1">
                <a:solidFill>
                  <a:srgbClr val="1F2D3A"/>
                </a:solidFill>
              </a:rPr>
              <a:t>tehditten</a:t>
            </a:r>
            <a:r>
              <a:rPr sz="2000" b="0">
                <a:solidFill>
                  <a:srgbClr val="1F2D3A"/>
                </a:solidFill>
              </a:rPr>
              <a:t> türer.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DR-01 (beklemede veri)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CEN429-DR-01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Yerel DB'deki C sınıfı veri AES-256-GCM ile şifrelenir.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AES-256-GCM, anahtar TEE'de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T-05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çıktısı (S16)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CR-02 (kripto)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CEN429-CR-02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Anahtarların amacı, kripto-periyodu, imhası belgelenir.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S8 anahtar tablosu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belge incelemesi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S8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DT-03 (aktarımda veri)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CEN429-DT-03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Sunucu iletişimi TLS 1.3 ve sertifika zinciri doğrulaması kullanır.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TLS 1.3 + SAN denetimi + SPKI pin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T-11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+ S11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AP-04 (uygulama koruma) — devredilen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CEN429-AP-04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Güvenli kurulum ve güncelleme sağlanır.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Devredildi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Kime: Üst uygulama (MPA)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Neden: SDK dağıtım kanalına sahip değil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Nasıl: MPA imzalı güncelleme + sürüm denetimi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AS-05 — karşılanmadı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CEN429-AS-05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Tüm hassas varlıklar için bellek izleme tespiti.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Karşılanmadı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Kalan risk: köklü cihazda canlı bellek analizi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Azaltma: kısa ömürlü anahtar + sunucu denetimi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Matris · toplu görünüm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6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2909742"/>
                <a:gridCol w="1636730"/>
                <a:gridCol w="254602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DR-01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CR-02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DT-03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T-11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AP-04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Matristen okunanlar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karşılandı (kanıtlı), bir devredildi, bir kalan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 izlenebilir.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bu tablodan başlar.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Standart eşleme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gereksinim, çok standart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gereksinim birden çok standarda bağlanabilir:</a:t>
            </a:r>
          </a:p>
        </p:txBody>
      </p:sp>
      <p:pic>
        <p:nvPicPr>
          <p:cNvPr id="8" name="Picture 7" descr="h13-10-uyum-matr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875536"/>
            <a:ext cx="7672173" cy="3039522"/>
          </a:xfrm>
          <a:prstGeom prst="rect">
            <a:avLst/>
          </a:prstGeom>
        </p:spPr>
      </p:pic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Eşleme neden yararlı?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kez karşılarsınız, birçok standardı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sağlarsınız.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matrisinde standart sütunu ekleyin.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Sertifikasyon değişse bile iş tekrarlanmaz.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Eşleme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96"/>
                <a:gridCol w="1454871"/>
                <a:gridCol w="2000448"/>
                <a:gridCol w="1273012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ETSI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MASVS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Şifreli 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STORAGE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iletişim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NETWORK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güncelleme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A–B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 tehditten türer, blok olarak yazılır, matrise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gereksinim çok standardı karşılayabilir.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 olmadan hiçbir satır "karşılandı" değildir.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Gereksinim aileleri detay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AP · uygulama koruma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"Hassas fonksiyonlar gizlenir ve bütünlük denetimiyle korunur."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4, 6, 9, 11, 14.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gizleme ölçümü + RASP testi.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ID · kimlik ve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"Cihaz ve sürüm, anahtar kullanımına bağlanır."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6, 11.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cihaz bağlama testi.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 · varlık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"Her varlık C/I/I+ ile etiketlenir ve yaşam döngüsü belgelenir."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1, 3.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S5 varlık listesi.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DR/DU/DT ·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DR (beklemede):</a:t>
            </a:r>
            <a:r>
              <a:rPr sz="2000" b="0">
                <a:solidFill>
                  <a:srgbClr val="1F2D3A"/>
                </a:solidFill>
              </a:rPr>
              <a:t> "Yerel veri AEAD ile şifreli."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 (kullanımda):</a:t>
            </a:r>
            <a:r>
              <a:rPr sz="2000" b="0">
                <a:solidFill>
                  <a:srgbClr val="1F2D3A"/>
                </a:solidFill>
              </a:rPr>
              <a:t> "Anahtar kullanımdan sonra silinir."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DT (aktarımda):</a:t>
            </a:r>
            <a:r>
              <a:rPr sz="2000" b="0">
                <a:solidFill>
                  <a:srgbClr val="1F2D3A"/>
                </a:solidFill>
              </a:rPr>
              <a:t> "TLS 1.3 + zincir doğrulama."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 ·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"Onaylı algoritma, kip ve anahtar uzunluğu; anahtar hiyerarşisi belgeli."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3, 10.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algoritma envanteri.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RP · raporlama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"Sürümde hassas veri düz loglanmaz."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4, 6.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günlük denetimi.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DV · geliştirme/süreç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"Her değişiklik birleştirilmeden önce incelenir; SBOM güncellenir."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5, 12, 13.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süreç kayıtları, SBOM.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Aileden gereksinime ·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her aileden </a:t>
            </a:r>
            <a:r>
              <a:rPr sz="2000" b="1">
                <a:solidFill>
                  <a:srgbClr val="1F2D3A"/>
                </a:solidFill>
              </a:rPr>
              <a:t>en az bir</a:t>
            </a:r>
            <a:r>
              <a:rPr sz="2000" b="0">
                <a:solidFill>
                  <a:srgbClr val="1F2D3A"/>
                </a:solidFill>
              </a:rPr>
              <a:t> gereksinim seçer.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gereksinim tehditten türer, blok olarak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Matrise girer, kanıtla bağlanır.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Sık yapılan hatalar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doğrulanamaz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"Güvenli olmalı" gibi ölçülemez ifade.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somut, test edilebilir madde.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Matriste kanıt sütunu boş.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karşılanmamış sayar.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sessiz devretme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Karşılanamayan gereksinimi yazmamak.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kime/neden/nasıl (S14).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EAL'i güvenlik miktarı sanmak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"EAL4 &gt; EAL2 daha güvenli" yanlış.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derinliktir; güvenlik ST'ye bağlı.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FIPS'li kütüphane = FIPS uyumlu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Modül doğrulanmış olsa da uygulama doğru kullanmalı.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Onaylı kip + doğru anahtar yönetimi.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kalan riski boş bırakmak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ürünün kalan riski sıfır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"kalan risk" = eksik analiz.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(13.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gereksinim, tehditten doğar; bir önleme, bir teste ve bir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bağlanır; karşılanamıyorsa açıkça </a:t>
            </a:r>
            <a:r>
              <a:rPr sz="2000" b="1">
                <a:solidFill>
                  <a:srgbClr val="1F2D3A"/>
                </a:solidFill>
              </a:rPr>
              <a:t>devredilir</a:t>
            </a:r>
            <a:r>
              <a:rPr sz="2000" b="0">
                <a:solidFill>
                  <a:srgbClr val="1F2D3A"/>
                </a:solidFill>
              </a:rPr>
              <a:t>. Uyum matrisi bu zincirin haritasıdır.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13 — Güvenlik Gereksinimleri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