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gizleme kurallarının otomatik karşılığı Tigress ile kaynaktan kaynağa gizleme ve çeşitlendirme işleniyor. Ana kural: gizleme kırılamazlık vermez, maliyet yükseltir; dönüşümleri birleştir, çeşitlendir, ölç. Tigress yalnız kendi koda uygulanır; ikili derste dağıtılmaz.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el ile gizleme kurallarını araçla (Tigress) otomatikleştiriyoruz. Ana mesaj aynı: gizleme kırılamazlık vermez, maliyet yükseltir; birleştir, çeşitlendir, ölç.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varsaymıyoruz; 9. haftanın terimlerini kısaca hatırlatıp yenilerini ekliyoruz.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dönüşüm aileleri.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Dönüşüm adları sürümle küçük değişebilir; resmî belgeden doğrulanmalı. Kavramı 9. hafta kurallarına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çeşitlendirme ve ölçme.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sınıf içi akış, S15,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 Tigress'i kendi indirir, kendi küçük programına uygular. Tümüyle savunma amaçlı; kendi kodunu korur ve ölçer.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derleme hattı (S15) ve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çözümlü kendini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Somut, sentetik sayılarla bir ölçüm turu;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çok kullanılan dönüşümleri tek tek, ne yaptığı/ne zaman/maliyeti ile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İkinci bir sentetik örnekle hattı pekiştiriyoruz; farklı bir fonksiyon türü.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Tigress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294"/>
                <a:gridCol w="1022956"/>
                <a:gridCol w="897928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kaynaktan kaynağa gizleme · Tigress · lisans · temel 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aileleri · 9. hafta eşlemesi · dönüşüm hattı · adım adım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· ölçme · sınıf içi akış · derleme hattı (S15)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kurallarını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öğrendik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için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(14):</a:t>
            </a:r>
            <a:r>
              <a:rPr sz="2000" b="0">
                <a:solidFill>
                  <a:srgbClr val="1F2D3A"/>
                </a:solidFill>
              </a:rPr>
              <a:t> aynı kuralları </a:t>
            </a:r>
            <a:r>
              <a:rPr sz="2000" b="1">
                <a:solidFill>
                  <a:srgbClr val="1F2D3A"/>
                </a:solidFill>
              </a:rPr>
              <a:t>araçla, 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uygulamak → Tigress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Üçü bir bütün; bugün otomasyon adımı.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gizlemeyi açıklamak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dönüşüm hattı</a:t>
            </a:r>
            <a:r>
              <a:rPr sz="2000" b="0">
                <a:solidFill>
                  <a:srgbClr val="1F2D3A"/>
                </a:solidFill>
              </a:rPr>
              <a:t> kurmayı tarif etmek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çeşitlendirip ölçmek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derleme hattına</a:t>
            </a:r>
            <a:r>
              <a:rPr sz="2000" b="0">
                <a:solidFill>
                  <a:srgbClr val="1F2D3A"/>
                </a:solidFill>
              </a:rPr>
              <a:t> koymak (S15)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ana kuralı bu hafta da geçerli: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029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721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bir </a:t>
            </a:r>
            <a:r>
              <a:rPr sz="2000" b="1">
                <a:solidFill>
                  <a:srgbClr val="1F2D3A"/>
                </a:solidFill>
              </a:rPr>
              <a:t>sihir değil</a:t>
            </a:r>
            <a:r>
              <a:rPr sz="2000" b="0">
                <a:solidFill>
                  <a:srgbClr val="1F2D3A"/>
                </a:solidFill>
              </a:rPr>
              <a:t>; el ile yaptığımızı otomatikleştirir ve </a:t>
            </a:r>
            <a:r>
              <a:rPr sz="2000" b="1">
                <a:solidFill>
                  <a:srgbClr val="1F2D3A"/>
                </a:solidFill>
              </a:rPr>
              <a:t>çeşitlendirmeyi</a:t>
            </a:r>
            <a:r>
              <a:rPr sz="2000" b="0">
                <a:solidFill>
                  <a:srgbClr val="1F2D3A"/>
                </a:solidFill>
              </a:rPr>
              <a:t> kolaylaştırır.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"kaynaktan kaynağa", "dönüşüm", "tohum", "derleme hattı"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kaynak, derleyici, ikili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kod:</a:t>
            </a:r>
            <a:r>
              <a:rPr sz="2000" b="0">
                <a:solidFill>
                  <a:srgbClr val="1F2D3A"/>
                </a:solidFill>
              </a:rPr>
              <a:t> insanın yazdığı program metni (C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kaynağı makine koduna çeviren program (gcc/clang).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dosya:</a:t>
            </a:r>
            <a:r>
              <a:rPr sz="2000" b="0">
                <a:solidFill>
                  <a:srgbClr val="1F2D3A"/>
                </a:solidFill>
              </a:rPr>
              <a:t> çalıştırılan sonuç.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gizleme (obfuscation):</a:t>
            </a:r>
            <a:r>
              <a:rPr sz="2000" b="0">
                <a:solidFill>
                  <a:srgbClr val="1F2D3A"/>
                </a:solidFill>
              </a:rPr>
              <a:t> davranışı değiştirmeden kodu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 hale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saldırgan için maliyeti artırmak (9. hafta).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(source-to-source)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C kaynağı. Çıktı: </a:t>
            </a:r>
            <a:r>
              <a:rPr sz="2000" b="1">
                <a:solidFill>
                  <a:srgbClr val="1F2D3A"/>
                </a:solidFill>
              </a:rPr>
              <a:t>yine C kaynağı</a:t>
            </a:r>
            <a:r>
              <a:rPr sz="2000" b="0">
                <a:solidFill>
                  <a:srgbClr val="1F2D3A"/>
                </a:solidFill>
              </a:rPr>
              <a:t> — ama gizlenmiş.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normal derleyicinizle derlenir.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temiz.c → [araç] → gizli.c → derleyici → ikili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(transform)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Dönüşüm:</a:t>
            </a:r>
            <a:r>
              <a:rPr sz="2000" b="0">
                <a:solidFill>
                  <a:srgbClr val="1F2D3A"/>
                </a:solidFill>
              </a:rPr>
              <a:t> kaynağa uygulanan tek bir gizleme işlemi (ör. düzleştirme).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 birçok dönüşüm sunar; siz hangisini, nereye seçersiniz.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hattı (pipeline)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Hat:</a:t>
            </a:r>
            <a:r>
              <a:rPr sz="2000" b="0">
                <a:solidFill>
                  <a:srgbClr val="1F2D3A"/>
                </a:solidFill>
              </a:rPr>
              <a:t> birden çok dönüşümün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dönüşüm bir öncekinin çıktısına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önemlidir.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Tohum (seed)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Tohum:</a:t>
            </a:r>
            <a:r>
              <a:rPr sz="2000" b="0">
                <a:solidFill>
                  <a:srgbClr val="1F2D3A"/>
                </a:solidFill>
              </a:rPr>
              <a:t> rastgeleliği yöneten bir başlangıç sayısı.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 + farklı tohum =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gizlenmiş 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Çeşitlendirmenin anahtarı budur.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(diversification)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Çeşitlendirme:</a:t>
            </a:r>
            <a:r>
              <a:rPr sz="2000" b="0">
                <a:solidFill>
                  <a:srgbClr val="1F2D3A"/>
                </a:solidFill>
              </a:rPr>
              <a:t> 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 (9. hafta Kural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CLI (komut satırı)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CLI (Command-Line Interface):</a:t>
            </a:r>
            <a:r>
              <a:rPr sz="2000" b="0">
                <a:solidFill>
                  <a:srgbClr val="1F2D3A"/>
                </a:solidFill>
              </a:rPr>
              <a:t> komutları yazarak çalıştırdığınız arayüz.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bir CLI aracıdır: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 --Transform=... dosya.c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Birim testi (unit 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Birim testi:</a:t>
            </a:r>
            <a:r>
              <a:rPr sz="2000" b="0">
                <a:solidFill>
                  <a:srgbClr val="1F2D3A"/>
                </a:solidFill>
              </a:rPr>
              <a:t> bir fonksiyonun doğru çalıştığını otomatik denetleyen küçük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aynı testler geçmeli (davranış korunmalı).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 (Control Flow Graph):</a:t>
            </a:r>
            <a:r>
              <a:rPr sz="2000" b="0">
                <a:solidFill>
                  <a:srgbClr val="1F2D3A"/>
                </a:solidFill>
              </a:rPr>
              <a:t> temel blokları düğüm, geçişleri kenar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 (9. hafta).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Sembolik yürütme:</a:t>
            </a:r>
            <a:r>
              <a:rPr sz="2000" b="0">
                <a:solidFill>
                  <a:srgbClr val="1F2D3A"/>
                </a:solidFill>
              </a:rPr>
              <a:t> program yollarını matematiksel kısıt olarak çözen otomatik analiz (ör. KLEE).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Gizlemeye karşı bir </a:t>
            </a:r>
            <a:r>
              <a:rPr sz="2000" b="1">
                <a:solidFill>
                  <a:srgbClr val="1F2D3A"/>
                </a:solidFill>
              </a:rPr>
              <a:t>deobfuscation</a:t>
            </a:r>
            <a:r>
              <a:rPr sz="2000" b="0">
                <a:solidFill>
                  <a:srgbClr val="1F2D3A"/>
                </a:solidFill>
              </a:rPr>
              <a:t> yöntemidir; dayanıklılığı bununla sınarız.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kaynaktan kaynağa · dönüşüm · hat · tohum · çeşitlendirme · CLI · birim testi · CFG · sembolik yürütme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Tigress nedir ve nasıl çalışır?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Kaynaktan kaynağa gizleme ve Tigress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 ile gizlemenin üç sorunu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kuralları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uyguladık. Öğreticiydi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 — davranışı bozabilir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Bakımı zor</a:t>
            </a:r>
            <a:r>
              <a:rPr sz="2000" b="0">
                <a:solidFill>
                  <a:srgbClr val="1F2D3A"/>
                </a:solidFill>
              </a:rPr>
              <a:t> — kaynak okunamaz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Çeşitlendirilemez</a:t>
            </a:r>
            <a:r>
              <a:rPr sz="2000" b="0">
                <a:solidFill>
                  <a:srgbClr val="1F2D3A"/>
                </a:solidFill>
              </a:rPr>
              <a:t> — her kopyayı elle farklılaştıramazsınız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Çözüm: araca yaptır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araç</a:t>
            </a:r>
            <a:r>
              <a:rPr sz="2000" b="0">
                <a:solidFill>
                  <a:srgbClr val="1F2D3A"/>
                </a:solidFill>
              </a:rPr>
              <a:t>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kaynağı koruyun.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Gizleme, derleme hattında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bir adım olsun.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fikri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Sizin kaynağınız (okunur)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│  bakımı siz yaparsınız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 araç: dönüşümleri uygula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Gizli kaynak (C)  →  derleyici  →  ikili   ← bu dağıtılır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Bakım maliyeti </a:t>
            </a:r>
            <a:r>
              <a:rPr sz="2000" b="1">
                <a:solidFill>
                  <a:srgbClr val="1F2D3A"/>
                </a:solidFill>
              </a:rPr>
              <a:t>okunur kaynakta</a:t>
            </a:r>
            <a:r>
              <a:rPr sz="2000" b="0">
                <a:solidFill>
                  <a:srgbClr val="1F2D3A"/>
                </a:solidFill>
              </a:rPr>
              <a:t> kalır; dağıtılan kaynak gizli.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hat (S15)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4023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&lt;svg viewBox="0 0 960 240" style="width:96%;height:auto;display:block;margin:6px auto" font-family="sans-serif"&gt; &lt;g font-size="14"&gt; &lt;rect x="10" y="70" width="120" height="60" rx="8" fill="#e8f6f7" stroke="#0a9396"/&gt;&lt;text x="70" y="98" text-anchor="middle" font-weight="bold"&gt;temiz.c&lt;/text&gt;&lt;text x="70" y="118" text-anchor="middle" font-size="12"&gt;okunur kaynak&lt;/text&gt; &lt;rect x="175" y="70" width="140" height="60" rx="8" fill="#006d77"/&gt;&lt;text x="245" y="95" text-anchor="middle" fill="#fff" font-weight="bold"&gt;TIGRESS&lt;/text&gt;&lt;text x="245" y="114" text-anchor="middle" fill="#cdeff1" font-size="12"&gt;+ tohum · dönüşüm&lt;/text&gt; &lt;rect x="360" y="70" width="120" height="60" rx="8" fill="#e8f6f7" stroke="#0a9396"/&gt;&lt;text x="420" y="98" text-anchor="middle" font-weight="bold"&gt;gizli.c&lt;/text&gt;&lt;text x="420" y="118" text-anchor="middle" font-size="12"&gt;gizlenmiş kaynak&lt;/text&gt; &lt;rect x="525" y="70" width="110" height="60" rx="8" fill="#eaf4ea" stroke="#2e7d32"/&gt;&lt;text x="580" y="98" text-anchor="middle" font-weight="bold"&gt;derle&lt;/text&gt;&lt;text x="580" y="118" text-anchor="middle" font-size="12"&gt;+ SBOM&lt;/text&gt; &lt;rect x="680" y="70" width="110" height="60" rx="8" fill="#fdf1e7" stroke="#b5651d"/&gt;&lt;text x="735" y="98" text-anchor="middle" font-weight="bold"&gt;İMZALA&lt;/text&gt;&lt;text x="735" y="118" text-anchor="middle" font-size="12"&gt;son ikili&lt;/text&gt; &lt;rect x="835" y="70" width="110" height="60" rx="8" fill="#eef2ff" stroke="#4054b2"/&gt;&lt;text x="890" y="98" text-anchor="middle" font-weight="bold"&gt;dağıt&lt;/text&gt; &lt;/g&gt; &lt;g stroke="#333" stroke-width="3"&gt; &lt;line x1="130" y1="100" x2="175" y2="100" marker-end="url(#a14)"/&gt; &lt;line x1="315" y1="100" x2="360" y2="100" marker-end="url(#a14)"/&gt; &lt;line x1="480" y1="100" x2="525" y2="100" marker-end="url(#a14)"/&gt; &lt;line x1="635" y1="100" x2="680" y2="100" marker-end="url(#a14)"/&gt; &lt;line x1="790" y1="100" x2="835" y2="100" marker-end="url(#a14)"/&gt; &lt;/g&gt; &lt;text x="245" y="165" text-anchor="middle" font-size="13" fill="#c0392b"&gt;farklı tohum → farklı ikili (aynı davranış)&lt;/text&gt; &lt;text x="735" y="165" text-anchor="middle" font-size="13" fill="#b5651d"&gt;imza EN SON: önce gizle, sonra imzala&lt;/text&gt; &lt;text x="480" y="205" text-anchor="middle" font-size="15" fill="#2e7d32" font-weight="bold"&gt;Her hattan sonra: 1) davranışı test et · 2) maliyeti ölç (boyut/hız)&lt;/text&gt; &lt;defs&gt;&lt;marker id="a14" markerWidth="9" markerHeight="9" refX="7" refY="3" orient="auto"&gt;&lt;path d="M0,0 L7,3 L0,6 Z" fill="#333"/&gt;&lt;/marker&gt;&lt;/defs&gt; &lt;/svg&gt;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Arizona Üniversitesi'nden Collberg ve ekibinin geliştirdiği </a:t>
            </a:r>
            <a:r>
              <a:rPr sz="2000" b="1">
                <a:solidFill>
                  <a:srgbClr val="1F2D3A"/>
                </a:solidFill>
              </a:rPr>
              <a:t>kaynaktan kaynağa C gizleyici/çeşitlendirici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el ile kuralların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karşılığı.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· özellikler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platform: Linux, macOS, Windows, Android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Mimariler: Intel, ARM, WebAssembly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Derleyiciler: GCC, Clang, 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 sürüm: </a:t>
            </a:r>
            <a:r>
              <a:rPr sz="2000" b="1">
                <a:solidFill>
                  <a:srgbClr val="1F2D3A"/>
                </a:solidFill>
              </a:rPr>
              <a:t>v4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Lisans (önemli)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Kâr amacı gütmeyen</a:t>
            </a:r>
            <a:r>
              <a:rPr sz="2000" b="0">
                <a:solidFill>
                  <a:srgbClr val="1F2D3A"/>
                </a:solidFill>
              </a:rPr>
              <a:t> (akademik/araştırma) kullanım: </a:t>
            </a:r>
            <a:r>
              <a:rPr sz="2000" b="1">
                <a:solidFill>
                  <a:srgbClr val="1F2D3A"/>
                </a:solidFill>
              </a:rPr>
              <a:t>ücretsiz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Ticari</a:t>
            </a:r>
            <a:r>
              <a:rPr sz="2000" b="0">
                <a:solidFill>
                  <a:srgbClr val="1F2D3A"/>
                </a:solidFill>
              </a:rPr>
              <a:t> kullanım: Arizona Üniversitesi'nden </a:t>
            </a:r>
            <a:r>
              <a:rPr sz="2000" b="1">
                <a:solidFill>
                  <a:srgbClr val="1F2D3A"/>
                </a:solidFill>
              </a:rPr>
              <a:t>lisans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kodu açık değil; araştırmacılar şifreli kaynağa erişim isteyebilir.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Derste kullanım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</a:t>
            </a:r>
            <a:r>
              <a:rPr sz="2000" b="1">
                <a:solidFill>
                  <a:srgbClr val="1F2D3A"/>
                </a:solidFill>
              </a:rPr>
              <a:t>Tigress ikilisi ya da eski sürüm dağıtılmaz.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Öğrenciler güncel sürümü </a:t>
            </a:r>
            <a:r>
              <a:rPr sz="2000" b="1">
                <a:solidFill>
                  <a:srgbClr val="1F2D3A"/>
                </a:solidFill>
              </a:rPr>
              <a:t>resmî siteden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kendileri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</a:t>
            </a:r>
            <a:r>
              <a:rPr sz="2000" b="1">
                <a:solidFill>
                  <a:srgbClr val="1F2D3A"/>
                </a:solidFill>
              </a:rPr>
              <a:t>orada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kodunuza, kendi makinenizde uygularsınız.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18320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 (9. hafta)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 (Tigress)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Öğreticidir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Ölçeklenir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Hataya açık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Davranışı korur (test edilmiş)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okunamaz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Okunur kaynak sizde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545576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elle olmaz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Tohumla otomatik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tip, tanınabilir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Dönüşüm+tohum ile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araç da sihir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, maliyet yükseltir.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bilinen bir aracın kalıpları zamanla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(RASP, sunucu) yine şart.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tek dönüşüm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girdi: temiz.c → çıktı: gizli.c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--Transform=Flatten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 gizli.c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üç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`--Transform=...`</a:t>
            </a:r>
            <a:r>
              <a:rPr sz="2000" b="0">
                <a:solidFill>
                  <a:srgbClr val="1F2D3A"/>
                </a:solidFill>
              </a:rPr>
              <a:t> hangi dönüşüm (Flatten = düzleştirme, 9. hafta K-04)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`--Functions=...`</a:t>
            </a:r>
            <a:r>
              <a:rPr sz="2000" b="0">
                <a:solidFill>
                  <a:srgbClr val="1F2D3A"/>
                </a:solidFill>
              </a:rPr>
              <a:t> hangi fonksiyonlara (yalnız hassas olanlara — maliyet kuralı)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Çıktı yine C; </a:t>
            </a:r>
            <a:r>
              <a:rPr sz="2000" b="1">
                <a:solidFill>
                  <a:srgbClr val="1F2D3A"/>
                </a:solidFill>
              </a:rPr>
              <a:t>kendi derleyicinizle</a:t>
            </a:r>
            <a:r>
              <a:rPr sz="2000" b="0">
                <a:solidFill>
                  <a:srgbClr val="1F2D3A"/>
                </a:solidFill>
              </a:rPr>
              <a:t> derlersiniz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--Functions</a:t>
            </a:r>
            <a:r>
              <a:rPr sz="3000" b="1">
                <a:solidFill>
                  <a:srgbClr val="006D77"/>
                </a:solidFill>
              </a:rPr>
              <a:t> ile hedef seçiyoruz?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her fonksiyona uygulanırsa program </a:t>
            </a:r>
            <a:r>
              <a:rPr sz="2000" b="1">
                <a:solidFill>
                  <a:srgbClr val="1F2D3A"/>
                </a:solidFill>
              </a:rPr>
              <a:t>çok yavaşlar/şişer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fonksiyonları (lisans, anahtar türetme, bütünlük) hedefleriz.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9. haftadaki "maliyet kuralının" araçtaki hâli.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Kaynaktan kaynağa gizleme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El ile gizlemeye göre üç avantaj?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Tigress derste neden dağıtılmaz?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koda dönüşüm uygulanıp </a:t>
            </a:r>
            <a:r>
              <a:rPr sz="2000" b="1">
                <a:solidFill>
                  <a:srgbClr val="1F2D3A"/>
                </a:solidFill>
              </a:rPr>
              <a:t>yeni kaynak (yine C)</a:t>
            </a:r>
            <a:r>
              <a:rPr sz="2000" b="0">
                <a:solidFill>
                  <a:srgbClr val="1F2D3A"/>
                </a:solidFill>
              </a:rPr>
              <a:t> üretilir, sonra normal derlenir. Tigress C alır, gizlenmiş C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Tekrarlanabilir/otomatik</a:t>
            </a:r>
            <a:r>
              <a:rPr sz="2000" b="0">
                <a:solidFill>
                  <a:srgbClr val="1F2D3A"/>
                </a:solidFill>
              </a:rPr>
              <a:t> (her build), </a:t>
            </a:r>
            <a:r>
              <a:rPr sz="2000" b="1">
                <a:solidFill>
                  <a:srgbClr val="1F2D3A"/>
                </a:solidFill>
              </a:rPr>
              <a:t>tutarlı ve ölçekli</a:t>
            </a:r>
            <a:r>
              <a:rPr sz="2000" b="0">
                <a:solidFill>
                  <a:srgbClr val="1F2D3A"/>
                </a:solidFill>
              </a:rPr>
              <a:t> (çok fonksiyon), </a:t>
            </a:r>
            <a:r>
              <a:rPr sz="2000" b="1">
                <a:solidFill>
                  <a:srgbClr val="1F2D3A"/>
                </a:solidFill>
              </a:rPr>
              <a:t>orijinal kaynak temiz kalır</a:t>
            </a:r>
            <a:r>
              <a:rPr sz="2000" b="0">
                <a:solidFill>
                  <a:srgbClr val="1F2D3A"/>
                </a:solidFill>
              </a:rPr>
              <a:t> + tohumla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Lisans/kullanım koşulları</a:t>
            </a:r>
            <a:r>
              <a:rPr sz="2000" b="0">
                <a:solidFill>
                  <a:srgbClr val="1F2D3A"/>
                </a:solidFill>
              </a:rPr>
              <a:t>; herkes kendi indirir. Demolar Tigress yoksa </a:t>
            </a:r>
            <a:r>
              <a:rPr sz="2000" b="1">
                <a:solidFill>
                  <a:srgbClr val="1F2D3A"/>
                </a:solidFill>
              </a:rPr>
              <a:t>temiz türev/fallback</a:t>
            </a:r>
            <a:r>
              <a:rPr sz="2000" b="0">
                <a:solidFill>
                  <a:srgbClr val="1F2D3A"/>
                </a:solidFill>
              </a:rPr>
              <a:t> ile çalışır.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Dönüşüm aileleri ve hat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Dönüşümler = 9. hafta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dönüşümleri, 9. haftadaki gizleme ailelerine karşılık gelir.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Grup grup görelim; her birini bir K-kuralına bağlayacağız.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Flatten:</a:t>
            </a:r>
            <a:r>
              <a:rPr sz="2000" b="0">
                <a:solidFill>
                  <a:srgbClr val="1F2D3A"/>
                </a:solidFill>
              </a:rPr>
              <a:t> kontrol akışını düzleştirir → </a:t>
            </a:r>
            <a:r>
              <a:rPr sz="2000" b="1">
                <a:solidFill>
                  <a:srgbClr val="1F2D3A"/>
                </a:solidFill>
              </a:rPr>
              <a:t>K-04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InitOpaque / AddOpaque / UpdateOpaque:</a:t>
            </a:r>
            <a:r>
              <a:rPr sz="2000" b="0">
                <a:solidFill>
                  <a:srgbClr val="1F2D3A"/>
                </a:solidFill>
              </a:rPr>
              <a:t> opak yüklem + sahte dal → </a:t>
            </a:r>
            <a:r>
              <a:rPr sz="2000" b="1">
                <a:solidFill>
                  <a:srgbClr val="1F2D3A"/>
                </a:solidFill>
              </a:rPr>
              <a:t>K-01, K-03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EncodeArithmetic:</a:t>
            </a:r>
            <a:r>
              <a:rPr sz="2000" b="0">
                <a:solidFill>
                  <a:srgbClr val="1F2D3A"/>
                </a:solidFill>
              </a:rPr>
              <a:t> aritmetiği denk karmaşık ifadeyle (MBA) → </a:t>
            </a:r>
            <a:r>
              <a:rPr sz="2000" b="1">
                <a:solidFill>
                  <a:srgbClr val="1F2D3A"/>
                </a:solidFill>
              </a:rPr>
              <a:t>K-02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EncodeLiterals:</a:t>
            </a:r>
            <a:r>
              <a:rPr sz="2000" b="0">
                <a:solidFill>
                  <a:srgbClr val="1F2D3A"/>
                </a:solidFill>
              </a:rPr>
              <a:t> sabit ve dizgeleri kodlar → </a:t>
            </a:r>
            <a:r>
              <a:rPr sz="2000" b="1">
                <a:solidFill>
                  <a:srgbClr val="1F2D3A"/>
                </a:solidFill>
              </a:rPr>
              <a:t>K-07, K-08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EncodeData:</a:t>
            </a:r>
            <a:r>
              <a:rPr sz="2000" b="0">
                <a:solidFill>
                  <a:srgbClr val="1F2D3A"/>
                </a:solidFill>
              </a:rPr>
              <a:t> değişken gösterimini kodlar → </a:t>
            </a:r>
            <a:r>
              <a:rPr sz="2000" b="1">
                <a:solidFill>
                  <a:srgbClr val="1F2D3A"/>
                </a:solidFill>
              </a:rPr>
              <a:t>K-09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Split / Merge:</a:t>
            </a:r>
            <a:r>
              <a:rPr sz="2000" b="0">
                <a:solidFill>
                  <a:srgbClr val="1F2D3A"/>
                </a:solidFill>
              </a:rPr>
              <a:t> fonksiyonları böler/birleştirir →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Virtualize:</a:t>
            </a:r>
            <a:r>
              <a:rPr sz="2000" b="0">
                <a:solidFill>
                  <a:srgbClr val="1F2D3A"/>
                </a:solidFill>
              </a:rPr>
              <a:t> fonksiyonu özel VM bayt koduna → </a:t>
            </a:r>
            <a:r>
              <a:rPr sz="2000" b="1">
                <a:solidFill>
                  <a:srgbClr val="1F2D3A"/>
                </a:solidFill>
              </a:rPr>
              <a:t>K-10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Jit:</a:t>
            </a:r>
            <a:r>
              <a:rPr sz="2000" b="0">
                <a:solidFill>
                  <a:srgbClr val="1F2D3A"/>
                </a:solidFill>
              </a:rPr>
              <a:t> kodu çalışma anında üretir → </a:t>
            </a:r>
            <a:r>
              <a:rPr sz="2000" b="1">
                <a:solidFill>
                  <a:srgbClr val="1F2D3A"/>
                </a:solidFill>
              </a:rPr>
              <a:t>K-12 (dinamik)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Analiz-önleme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AntiBranchAnalysis / AntiAliasAnalysis / AntiTaintAnalysis:</a:t>
            </a:r>
            <a:r>
              <a:rPr sz="2000" b="0">
                <a:solidFill>
                  <a:srgbClr val="1F2D3A"/>
                </a:solidFill>
              </a:rPr>
              <a:t> statik analiz tekniklerini zorlaştırır → önleyici aile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RandomFuns:</a:t>
            </a:r>
            <a:r>
              <a:rPr sz="2000" b="0">
                <a:solidFill>
                  <a:srgbClr val="1F2D3A"/>
                </a:solidFill>
              </a:rPr>
              <a:t> rastgele sahte fonksiyonlar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RndArgs:</a:t>
            </a:r>
            <a:r>
              <a:rPr sz="2000" b="0">
                <a:solidFill>
                  <a:srgbClr val="1F2D3A"/>
                </a:solidFill>
              </a:rPr>
              <a:t> sahte parametreler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Tohumla birleşince her yapı farklı → çeşitlendirme,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↔ kural ·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3819037"/>
                <a:gridCol w="2546024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9. 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yüklem/sahte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K-01, K-03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Aritmetik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Sabit/dize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K-07, K-08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RandomFuns/RndArgs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ve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Ucuz:</a:t>
            </a:r>
            <a:r>
              <a:rPr sz="2000" b="0">
                <a:solidFill>
                  <a:srgbClr val="1F2D3A"/>
                </a:solidFill>
              </a:rPr>
              <a:t> EncodeArithmetic, EncodeLiterals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Orta:</a:t>
            </a:r>
            <a:r>
              <a:rPr sz="2000" b="0">
                <a:solidFill>
                  <a:srgbClr val="1F2D3A"/>
                </a:solidFill>
              </a:rPr>
              <a:t> Flatten, opak yüklemler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Pahalı:</a:t>
            </a:r>
            <a:r>
              <a:rPr sz="2000" b="0">
                <a:solidFill>
                  <a:srgbClr val="1F2D3A"/>
                </a:solidFill>
              </a:rPr>
              <a:t> Virtualize (onlarca kat yavaşlama)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Virtualize yalnız </a:t>
            </a:r>
            <a:r>
              <a:rPr sz="2000" b="1">
                <a:solidFill>
                  <a:srgbClr val="1F2D3A"/>
                </a:solidFill>
              </a:rPr>
              <a:t>küçük, kritik</a:t>
            </a:r>
            <a:r>
              <a:rPr sz="2000" b="0">
                <a:solidFill>
                  <a:srgbClr val="1F2D3A"/>
                </a:solidFill>
              </a:rPr>
              <a:t> fonksiyonlara;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hedeflenir.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Dönüşüm hattı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"Tek teknik değil, birlikte"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en önemli kuralı.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Tigress'te bu, dönüşümleri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uygulamak demektir.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Kavramsal 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 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ne yapıyor?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Sabit/dize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Aritmetiğini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Opak yüklemlerle güçlendir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= 9. haftada K-04'ün "güçlendirilmiş düzleştirme" dediği şeyin otomatik hâli.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Sıra ve test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sırası sonucu </a:t>
            </a:r>
            <a:r>
              <a:rPr sz="2000" b="1">
                <a:solidFill>
                  <a:srgbClr val="1F2D3A"/>
                </a:solidFill>
              </a:rPr>
              <a:t>etkiler</a:t>
            </a:r>
            <a:r>
              <a:rPr sz="2000" b="0">
                <a:solidFill>
                  <a:srgbClr val="1F2D3A"/>
                </a:solidFill>
              </a:rPr>
              <a:t>; kimi sıra başarımı gereksiz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her hattan sonra </a:t>
            </a:r>
            <a:r>
              <a:rPr sz="2000" b="1">
                <a:solidFill>
                  <a:srgbClr val="1F2D3A"/>
                </a:solidFill>
              </a:rPr>
              <a:t>birim testlerini</a:t>
            </a:r>
            <a:r>
              <a:rPr sz="2000" b="0">
                <a:solidFill>
                  <a:srgbClr val="1F2D3A"/>
                </a:solidFill>
              </a:rPr>
              <a:t> çalıştır (davranış korunmuş mu?) ve boyut/hız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davranışı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değiştirmemeli; değiştiriyorsa hat yanlış.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12. haftadaki "S16 sonuçları"na bağlanır.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Adım adım örnek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Başlangıç · temiz.c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 return IZIN;  /* tek dal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Korumasız: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Süre: dakikalar.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665"/>
                <a:gridCol w="3684414"/>
                <a:gridCol w="4251247"/>
                <a:gridCol w="184220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 yamasıyla atlanır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IZIN/RED düz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Karşılaştırma karmaşık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dal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dallar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(gerekirse)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VM bayt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duracağınız: </a:t>
            </a:r>
            <a:r>
              <a:rPr sz="2000" b="1">
                <a:solidFill>
                  <a:srgbClr val="1F2D3A"/>
                </a:solidFill>
              </a:rPr>
              <a:t>varlık değeri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ölçtüğünüz 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5 (Virtualize) çoğu denetim için gereksiz.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tablo → S9'un ta kendisi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"adım / dönüşüm / ne değişir / maliyet" tablosu,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</a:t>
            </a:r>
            <a:r>
              <a:rPr sz="2000" b="1">
                <a:solidFill>
                  <a:srgbClr val="1F2D3A"/>
                </a:solidFill>
              </a:rPr>
              <a:t>S9 koruma tablonuzun</a:t>
            </a:r>
            <a:r>
              <a:rPr sz="2000" b="0">
                <a:solidFill>
                  <a:srgbClr val="1F2D3A"/>
                </a:solidFill>
              </a:rPr>
              <a:t> doğrudan karşılığıdır.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Flatten, EncodeArithmetic, Virtualize hangi K-kurallarına karşılık?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 seçilir?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Her hattan sonra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iki şey?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Flatten</a:t>
            </a:r>
            <a:r>
              <a:rPr sz="2000" b="0">
                <a:solidFill>
                  <a:srgbClr val="1F2D3A"/>
                </a:solidFill>
              </a:rPr>
              <a:t> = kontrol akışı düzleştirme; </a:t>
            </a:r>
            <a:r>
              <a:rPr sz="2000" b="1">
                <a:solidFill>
                  <a:srgbClr val="1F2D3A"/>
                </a:solidFill>
              </a:rPr>
              <a:t>EncodeArithmetic</a:t>
            </a:r>
            <a:r>
              <a:rPr sz="2000" b="0">
                <a:solidFill>
                  <a:srgbClr val="1F2D3A"/>
                </a:solidFill>
              </a:rPr>
              <a:t> = aritmetik/veri gizleme;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= sanallaştırma (en güçlü, en pahalı).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fonksiyonu gizlemek maliyeti/performansı </a:t>
            </a:r>
            <a:r>
              <a:rPr sz="2000" b="1">
                <a:solidFill>
                  <a:srgbClr val="1F2D3A"/>
                </a:solidFill>
              </a:rPr>
              <a:t>patlatır</a:t>
            </a:r>
            <a:r>
              <a:rPr sz="2000" b="0">
                <a:solidFill>
                  <a:srgbClr val="1F2D3A"/>
                </a:solidFill>
              </a:rPr>
              <a:t>; yalnız </a:t>
            </a:r>
            <a:r>
              <a:rPr sz="2000" b="1">
                <a:solidFill>
                  <a:srgbClr val="1F2D3A"/>
                </a:solidFill>
              </a:rPr>
              <a:t>hassas</a:t>
            </a:r>
            <a:r>
              <a:rPr sz="2000" b="0">
                <a:solidFill>
                  <a:srgbClr val="1F2D3A"/>
                </a:solidFill>
              </a:rPr>
              <a:t> fonksiyonları seçmek dayanıklılığı oraya yoğunlaştırır.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Davranışı test et</a:t>
            </a:r>
            <a:r>
              <a:rPr sz="2000" b="0">
                <a:solidFill>
                  <a:srgbClr val="1F2D3A"/>
                </a:solidFill>
              </a:rPr>
              <a:t> (birim testi geçmeli), (2)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(boyut/hız/komut sayısı, önce-sonra).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Çeşitlendirme ve ölçme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bunu bir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ile yapar: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dönüşümler + farklı tohum → opak yüklem, sahte dal, durum değerleri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tohum, iki farklı ikili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--out=gizli_b.c temiz.c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gizli_a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gizli_b</a:t>
            </a:r>
            <a:r>
              <a:rPr sz="2000" b="0">
                <a:solidFill>
                  <a:srgbClr val="1F2D3A"/>
                </a:solidFill>
              </a:rPr>
              <a:t> aynı işi yapar; makine kodları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kullanıcı/cihaza farklı tohumlu kopya → bir kopyanın saldırısı diğerinde çalışmaz.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tohum → eski saldırı yeni sürümde bozulur.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RndArgs</a:t>
            </a:r>
            <a:r>
              <a:rPr sz="2000" b="0">
                <a:solidFill>
                  <a:srgbClr val="1F2D3A"/>
                </a:solidFill>
              </a:rPr>
              <a:t> de tohumla birleşince yapıyı değiştirir.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 ·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iki tohumla derle.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Tigress'in öğretim değeri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gizlemeyi dört boyutta (güç, dayanıklılık, gizlilik, maliyet) ölçmeyi öğrendik.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 ölçümleri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yapmanızı sağlar: aynı programı gizle, önce/sonra ölç.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(kolay, 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 için ölç ve S9/S15'e yaz: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552"/>
                <a:gridCol w="733398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size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ls -l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Çalışma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Aynı girdiyle N kez, ortalama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CFG karmaşıklığı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Tersine derleyicide temel blok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· komut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 farkı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Basit ama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Maliyet · örnek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09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1818589"/>
                <a:gridCol w="181858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 (hedef fn.)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 örnek; siz </a:t>
            </a:r>
            <a:r>
              <a:rPr sz="1800" b="1">
                <a:solidFill>
                  <a:srgbClr val="1F2D3A"/>
                </a:solidFill>
              </a:rPr>
              <a:t>kendi</a:t>
            </a:r>
            <a:r>
              <a:rPr sz="1800" b="0">
                <a:solidFill>
                  <a:srgbClr val="1F2D3A"/>
                </a:solidFill>
              </a:rPr>
              <a:t> ölçtüğünüzü yazarsınız.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ölçümü (ileri, 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Dayanıklılık = otomatik araca (sembolik yürütme) direnç.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"iddia değil, ölçülen bir nicelik".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bu araştırmanın </a:t>
            </a:r>
            <a:r>
              <a:rPr sz="2000" b="1">
                <a:solidFill>
                  <a:srgbClr val="1F2D3A"/>
                </a:solidFill>
              </a:rPr>
              <a:t>merkezinde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Banescu vd. · Tigress + KLEE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dönüşümlerinin </a:t>
            </a:r>
            <a:r>
              <a:rPr sz="2000" b="1">
                <a:solidFill>
                  <a:srgbClr val="1F2D3A"/>
                </a:solidFill>
              </a:rPr>
              <a:t>sembolik yürütmeye</a:t>
            </a:r>
            <a:r>
              <a:rPr sz="2000" b="0">
                <a:solidFill>
                  <a:srgbClr val="1F2D3A"/>
                </a:solidFill>
              </a:rPr>
              <a:t> ne kadar dayandığını ölçen çalışma. Bulgular: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dönüşüm (yalnız Flatten) → çoğu zaman geri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 </a:t>
            </a:r>
            <a:r>
              <a:rPr sz="2000" b="1">
                <a:solidFill>
                  <a:srgbClr val="1F2D3A"/>
                </a:solidFill>
              </a:rPr>
              <a:t>birleştirmek</a:t>
            </a:r>
            <a:r>
              <a:rPr sz="2000" b="0">
                <a:solidFill>
                  <a:srgbClr val="1F2D3A"/>
                </a:solidFill>
              </a:rPr>
              <a:t> + durum uzayını büyütmek → çözücüyü üstel zorlar.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de artar.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için çıkarım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ve maliyet </a:t>
            </a:r>
            <a:r>
              <a:rPr sz="2000" b="1">
                <a:solidFill>
                  <a:srgbClr val="1F2D3A"/>
                </a:solidFill>
              </a:rPr>
              <a:t>ödünleşir</a:t>
            </a:r>
            <a:r>
              <a:rPr sz="2000" b="0">
                <a:solidFill>
                  <a:srgbClr val="1F2D3A"/>
                </a:solidFill>
              </a:rPr>
              <a:t> (9. haftadaki gibi).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"şu araca karşı şu boyutta problemi şu sürede çözdürmedi"</a:t>
            </a:r>
            <a:r>
              <a:rPr sz="2000" b="0">
                <a:solidFill>
                  <a:srgbClr val="1F2D3A"/>
                </a:solidFill>
              </a:rPr>
              <a:t> de.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kuralı (S9/S15)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gizleme kararını ölçüyle savun: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"Flatten + AddOpaque hattı boyutu %30 büyüttü, işlemi 1.8× yavaşlattı; hedef fonksiyonun temel blok sayısı 8 katına çıktı."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gizleme = değerlendiricide (12. hafta)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Tohum çeşitlendirmeyi nasıl sağlar?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Uzayda ve zamanda çeşitlendirme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Banescu vd.'nin ana kuralı? (dayanıklılık ↔ maliyet)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Aynı kaynağı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la gizleyince araç farklı rastgele seçimler yapar → her build </a:t>
            </a:r>
            <a:r>
              <a:rPr sz="2000" b="1">
                <a:solidFill>
                  <a:srgbClr val="1F2D3A"/>
                </a:solidFill>
              </a:rPr>
              <a:t>farklı ikili</a:t>
            </a:r>
            <a:r>
              <a:rPr sz="2000" b="0">
                <a:solidFill>
                  <a:srgbClr val="1F2D3A"/>
                </a:solidFill>
              </a:rPr>
              <a:t> (aynı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kopyalar/kullanıcılar farklı (bir kırık herkesi kırmaz).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sürümler arası değişir (kırık kalıcı olmaz).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Daha güçlü gizleme daha çok </a:t>
            </a:r>
            <a:r>
              <a:rPr sz="2000" b="1">
                <a:solidFill>
                  <a:srgbClr val="1F2D3A"/>
                </a:solidFill>
              </a:rPr>
              <a:t>dayanıklılık</a:t>
            </a:r>
            <a:r>
              <a:rPr sz="2000" b="0">
                <a:solidFill>
                  <a:srgbClr val="1F2D3A"/>
                </a:solidFill>
              </a:rPr>
              <a:t> ama daha çok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; koruma varlığın </a:t>
            </a:r>
            <a:r>
              <a:rPr sz="2000" b="1">
                <a:solidFill>
                  <a:srgbClr val="1F2D3A"/>
                </a:solidFill>
              </a:rPr>
              <a:t>değeriyle orantılı</a:t>
            </a:r>
            <a:r>
              <a:rPr sz="2000" b="0">
                <a:solidFill>
                  <a:srgbClr val="1F2D3A"/>
                </a:solidFill>
              </a:rPr>
              <a:t> seçilir.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Sınıf içi akış (adım adım)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yapacağız?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küçük, sentetik programınızı: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 → davranışı doğrula → karşılaştır → ölç → çeşitlendir → raporla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adım gidelim.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Hazırlık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Küçük, sentetik bir program yaz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</a:t>
            </a:r>
            <a:r>
              <a:rPr sz="2000" b="1">
                <a:solidFill>
                  <a:srgbClr val="1F2D3A"/>
                </a:solidFill>
              </a:rPr>
              <a:t>doğru çalıştığını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senin "temiz" temel çizgin.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--Transform=EncodeLiterals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program_gizli gizli.c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dönüşüm hattı uygula.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Davranışı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birim testlerini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sürümde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birebir aynı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Farklıysa: hat yanlış → düzelt.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davranışı asla değiştirmez.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Karşılaştır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derleyicide (Ghidra/objdump) temiz ve gizli sürümü 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Kontrol akışını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blok sayısındaki </a:t>
            </a:r>
            <a:r>
              <a:rPr sz="2000" b="1">
                <a:solidFill>
                  <a:srgbClr val="1F2D3A"/>
                </a:solidFill>
              </a:rPr>
              <a:t>artışı</a:t>
            </a:r>
            <a:r>
              <a:rPr sz="2000" b="0">
                <a:solidFill>
                  <a:srgbClr val="1F2D3A"/>
                </a:solidFill>
              </a:rPr>
              <a:t> not et.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Ölç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Boyut ve süre farkını yaz.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hattı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ikilinin farklı olduğunu göster (bayt farkı).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...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... --out=gizli_b.c temiz.c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Raporla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Bulguları bir tabloya dök: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274802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7"/>
                <a:gridCol w="1636730"/>
                <a:gridCol w="1454871"/>
                <a:gridCol w="1454871"/>
                <a:gridCol w="2727883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Tohum farkı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173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doğrudan </a:t>
            </a:r>
            <a:r>
              <a:rPr sz="2000" b="1">
                <a:solidFill>
                  <a:srgbClr val="1F2D3A"/>
                </a:solidFill>
              </a:rPr>
              <a:t>S9/S15</a:t>
            </a:r>
            <a:r>
              <a:rPr sz="2000" b="0">
                <a:solidFill>
                  <a:srgbClr val="1F2D3A"/>
                </a:solidFill>
              </a:rPr>
              <a:t>'e girer.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güvenli kullanım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program bilgisayara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: sistem ayarı değiştirmez, ağa dokunmaz.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içi · özet 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temiz.c → gizle → testleri geç → CFG karşılaştır → boyut/süre ölç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→ iki tohumla çeşitlendir → tablo → S9/S15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akış · 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davranış</a:t>
            </a:r>
            <a:r>
              <a:rPr sz="2000" b="0">
                <a:solidFill>
                  <a:srgbClr val="1F2D3A"/>
                </a:solidFill>
              </a:rPr>
              <a:t> (testler) — bozulmadığından emin ol.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(CFG, ölçüm) — kazancı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— ölçeklenmeyi kır.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Ölçmeden "güçlü" deme.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Gizledikten sonra ilk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şey?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Çeşitlendirmeyi nasıl gösterirsin?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Rapor tablosu hangi proje bölümlerine gider?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Davranışın </a:t>
            </a:r>
            <a:r>
              <a:rPr sz="2000" b="1">
                <a:solidFill>
                  <a:srgbClr val="1F2D3A"/>
                </a:solidFill>
              </a:rPr>
              <a:t>değişmediğini test et</a:t>
            </a:r>
            <a:r>
              <a:rPr sz="2000" b="0">
                <a:solidFill>
                  <a:srgbClr val="1F2D3A"/>
                </a:solidFill>
              </a:rPr>
              <a:t> (birim testi geçmeli); gizleme işlevi bozmamalı.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 farklı tohumla üret; ikilileri karşılaştır (</a:t>
            </a:r>
            <a:r>
              <a:rPr sz="2000" b="1">
                <a:solidFill>
                  <a:srgbClr val="1F2D3A"/>
                </a:solidFill>
              </a:rPr>
              <a:t>hash/boyut/komut farklı</a:t>
            </a:r>
            <a:r>
              <a:rPr sz="2000" b="0">
                <a:solidFill>
                  <a:srgbClr val="1F2D3A"/>
                </a:solidFill>
              </a:rPr>
              <a:t>) ama </a:t>
            </a:r>
            <a:r>
              <a:rPr sz="2000" b="1">
                <a:solidFill>
                  <a:srgbClr val="1F2D3A"/>
                </a:solidFill>
              </a:rPr>
              <a:t>aynı girdi→aynı çıktı</a:t>
            </a:r>
            <a:r>
              <a:rPr sz="2000" b="0">
                <a:solidFill>
                  <a:srgbClr val="1F2D3A"/>
                </a:solidFill>
              </a:rPr>
              <a:t> (diff/objdump).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S9</a:t>
            </a:r>
            <a:r>
              <a:rPr sz="2000" b="0">
                <a:solidFill>
                  <a:srgbClr val="1F2D3A"/>
                </a:solidFill>
              </a:rPr>
              <a:t> (kod sağlamlaştırma) ve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(derleme/dağıtım hattı); önce/sonra ölçüm kanıt olarak.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Derleme hattı (S15) ve proje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"en sonda elle"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Gizleme, derleme </a:t>
            </a:r>
            <a:r>
              <a:rPr sz="2000" b="1">
                <a:solidFill>
                  <a:srgbClr val="1F2D3A"/>
                </a:solidFill>
              </a:rPr>
              <a:t>hattının</a:t>
            </a:r>
            <a:r>
              <a:rPr sz="2000" b="0">
                <a:solidFill>
                  <a:srgbClr val="1F2D3A"/>
                </a:solidFill>
              </a:rPr>
              <a:t> bir adımı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sonrası projenizin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bölümü tam bunu belgeler.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hattı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 → (Tigress dönüşüm hattı) → gizli kaynak → derleyici → ikili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→ imzalama (sürüm imzası) → sürüm kimliği + özet → dağıtım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1 · yalnız hassas fonksiyonlar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yalnız hassas fonksiyonları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Gerekçesini yaz (hangi fonksiyon, neden).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kuralı (9. hafta).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2 · her sürüm çeşitlendirilir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bir </a:t>
            </a:r>
            <a:r>
              <a:rPr sz="2000" b="1">
                <a:solidFill>
                  <a:srgbClr val="1F2D3A"/>
                </a:solidFill>
              </a:rPr>
              <a:t>tohumla</a:t>
            </a:r>
            <a:r>
              <a:rPr sz="2000" b="0">
                <a:solidFill>
                  <a:srgbClr val="1F2D3A"/>
                </a:solidFill>
              </a:rPr>
              <a:t> çeşitlendirilir.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 ve sürüm kimliği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Zamanda çeşitlendirme (bölüm 3).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3 · imzalama gizlemeden sonra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imzala.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ve özet değerleri (12. haftadaki TOE)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 sonra?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4 · CI'da otomatik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Hat, sürekli entegrasyonda (CI)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sürümde: birim testleri + boyut/hız ölçümü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bozulursa yapı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9, 11, 14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 (bu hafta)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=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; güç katmanlardan ve ölçümden.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ileri + S15 hat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Dönüşüm hattı (S9):</a:t>
            </a:r>
            <a:r>
              <a:rPr sz="2000" b="0">
                <a:solidFill>
                  <a:srgbClr val="1F2D3A"/>
                </a:solidFill>
              </a:rPr>
              <a:t> hangi fonksiyonlar, hangi dönüşümler, hangi sırayla,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 tablosu:</a:t>
            </a:r>
            <a:r>
              <a:rPr sz="2000" b="0">
                <a:solidFill>
                  <a:srgbClr val="1F2D3A"/>
                </a:solidFill>
              </a:rPr>
              <a:t> boyut, süre, (varsa) blok sayısı — önce/sonra.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Çeşitlendirme:</a:t>
            </a:r>
            <a:r>
              <a:rPr sz="2000" b="0">
                <a:solidFill>
                  <a:srgbClr val="1F2D3A"/>
                </a:solidFill>
              </a:rPr>
              <a:t> iki tohumla üretim + fark ölçütü; uygulamayacaksanız </a:t>
            </a:r>
            <a:r>
              <a:rPr sz="2000" b="1">
                <a:solidFill>
                  <a:srgbClr val="1F2D3A"/>
                </a:solidFill>
              </a:rPr>
              <a:t>gerekçe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S15 hattı:</a:t>
            </a:r>
            <a:r>
              <a:rPr sz="2000" b="0">
                <a:solidFill>
                  <a:srgbClr val="1F2D3A"/>
                </a:solidFill>
              </a:rPr>
              <a:t> gizleme + imzalama + sürüm kimliği adımlarını </a:t>
            </a:r>
            <a:r>
              <a:rPr sz="2000" b="1">
                <a:solidFill>
                  <a:srgbClr val="1F2D3A"/>
                </a:solidFill>
              </a:rPr>
              <a:t>diyagramla</a:t>
            </a:r>
            <a:r>
              <a:rPr sz="2000" b="0">
                <a:solidFill>
                  <a:srgbClr val="1F2D3A"/>
                </a:solidFill>
              </a:rPr>
              <a:t> belgele.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Davranış kanıtı:</a:t>
            </a:r>
            <a:r>
              <a:rPr sz="2000" b="0">
                <a:solidFill>
                  <a:srgbClr val="1F2D3A"/>
                </a:solidFill>
              </a:rPr>
              <a:t> gizli sürümün birim testlerini geçtiğini göster (S16 bağı).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dönüşüm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 dönüşümün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Ölçülmemiş gizleme = iddia (12. hafta).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İmzalama neden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"Yalnız hassas fonksiyonlar" kuralının gerekçesi?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S15 hattının adımları?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</a:t>
            </a:r>
            <a:r>
              <a:rPr sz="2000" b="1">
                <a:solidFill>
                  <a:srgbClr val="1F2D3A"/>
                </a:solidFill>
              </a:rPr>
              <a:t>son ikiliyi</a:t>
            </a:r>
            <a:r>
              <a:rPr sz="2000" b="0">
                <a:solidFill>
                  <a:srgbClr val="1F2D3A"/>
                </a:solidFill>
              </a:rPr>
              <a:t> korur; önce imzalayıp sonra gizlersen ikili değişir → imza geçersiz. Sıra: derle → gizle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Bütünü gizlemek performans/boyutu patlatır ve çoğu kod hassas değil; korumayı </a:t>
            </a:r>
            <a:r>
              <a:rPr sz="2000" b="1">
                <a:solidFill>
                  <a:srgbClr val="1F2D3A"/>
                </a:solidFill>
              </a:rPr>
              <a:t>kritik</a:t>
            </a:r>
            <a:r>
              <a:rPr sz="2000" b="0">
                <a:solidFill>
                  <a:srgbClr val="1F2D3A"/>
                </a:solidFill>
              </a:rPr>
              <a:t> fonksiyonlara yoğunlaştır → maliyet düşük, etki yüksek.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Kaynak → (statik analiz) → derle → </a:t>
            </a:r>
            <a:r>
              <a:rPr sz="2000" b="1">
                <a:solidFill>
                  <a:srgbClr val="1F2D3A"/>
                </a:solidFill>
              </a:rPr>
              <a:t>gizle</a:t>
            </a:r>
            <a:r>
              <a:rPr sz="2000" b="0">
                <a:solidFill>
                  <a:srgbClr val="1F2D3A"/>
                </a:solidFill>
              </a:rPr>
              <a:t> → çeşitlendir (tohum) → paketle/SBOM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 → dağıt (hepsi CI'da kayıtlı).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Kaynaktan kaynağa gizleme nedir? El ile gizlemeye göre üç avantajı?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Araç C kaynağı alıp gizli C kaynağı üretir. Avantajlar: davranışı korur (hataya kapalı), okunur kaynak sizde kalır, tohumla çeşitlendirme kolay.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Tigress'in dersteki yeri; hangi lisans, neden derste dağıtılmaz?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9. hafta kurallarının otomatik hâli. Kâr amacı gütmeyen kullanım ücretsiz, ticari için Arizona lisansı. Kaynak kapalı → ikilisi derste dağıtılmaz; öğrenci resmî siteden indirir.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Şu dönüşümleri 9. hafta kurallarıyla eşle: Flatten, EncodeArithmetic, EncodeLiterals, Virtualize, AddOpaque.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Flatten→K-04, EncodeArithmetic→K-02, EncodeLiterals→K-07/K-08, Virtualize→K-10, AddOpaque→K-01/K-03.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dönüşüm hattı neden tek dönüşümden güçlü? Sıra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Katmanlar birbirini güçlendirir (9. hafta "birlikte"). Sıra sonucu ve başarımı etkiler; kimi sıra gereksiz yavaşlatır ya da zayıf sonuç verir.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dönüşüm hattından sonra hangi iki şeyi mutlaka yaparsın?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Birim testlerini çalıştır (davranış korunmuş mu?), (2) boyut/hız ölç (maliyet).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Virtualize neden yalnız küçük ve kritik fonksiyonlara uygulanır?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Maliyeti çok yüksek (onlarca kat yavaşlama, boyut). Getirisi ancak en değerli, küçük fonksiyonlarda maliyeti haklı çıkarır.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Tohum (`--Seed`) çeşitlendirmeyi nasıl sağlar? Uzayda/zamanda fark?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Farklı tohum → farklı opak yüklem/sahte dal/durum. Uzayda: farklı kopyalar aynı anda. Zamanda: her sürüm yeni tohum.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Çeşitlendirme gizlemenin gücünü mü, ölçeklenmesini mi engeller?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Gücünü artırmaz (bir kopya yine kırılabilir);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 — bir kırık her yeri açmaz.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Banescu vd. çalışmasının ders için ana kuralı?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Dayanıklılık ölçülen bir niceliktir. Dönüşümleri birleştirmek sembolik yürütmeyi üstel zorlar; ama maliyet de artar → </a:t>
            </a:r>
            <a:r>
              <a:rPr sz="2000" b="1">
                <a:solidFill>
                  <a:srgbClr val="1F2D3A"/>
                </a:solidFill>
              </a:rPr>
              <a:t>dayanıklılık ↔ maliyet ödünleşir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Gizlemeyi derleme hattına koyarken imzalama neden gizlemeden sonra?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 Önce gizlenir, sonra imzalanır; sürüm kimliği/özet tutarlı olur.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S15'te "yalnız hassas fonksiyonlar gizlenir" kuralının gerekçesi?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fonksiyonu gizlemek programı çok yavaşlatır/şişirir. Maliyeti yalnız değerli fonksiyonlarda üstlenmek mantıklı.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9, 11 ve 14. haftaların ortak kuralını bir cümleyle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Koruma kırılamazlık değil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sağlar; gücü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aynı çerçeve: maliyet + katman + ölçüm.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ölçüm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 fonksiyonunu iki hatla gizleyip ölçelim: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A:</a:t>
            </a:r>
            <a:r>
              <a:rPr sz="2000" b="0">
                <a:solidFill>
                  <a:srgbClr val="1F2D3A"/>
                </a:solidFill>
              </a:rPr>
              <a:t> EncodeLiterals + EncodeArithmetic (hafif)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B:</a:t>
            </a:r>
            <a:r>
              <a:rPr sz="2000" b="0">
                <a:solidFill>
                  <a:srgbClr val="1F2D3A"/>
                </a:solidFill>
              </a:rPr>
              <a:t> Hat A + Flatten + AddOpaque (ağır)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· temel çizgi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program_temiz: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boyut: 100 KB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işlem süresi: 1.00× (referans)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erisim_ver temel blok: 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A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103 KB   (+%3)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1.05×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strings hassas dize: 0  (öncesi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Ucuz; dize gizleme büyük getiri.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B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131 KB   (+%31)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1.80×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 arttı (blok 5→40); maliyet de arttı.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Karşılaştırma tablosu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818589"/>
                <a:gridCol w="1818589"/>
                <a:gridCol w="181858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Temiz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103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131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1.05×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Hassas 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Hat A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Hat B (maliyeti kabul et) + çeşitlendirme.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 sayılara dayanır, hisse değil.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ölçümü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 B'yi tohum 1001 ve 2002 ile üret.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fonksiyonun bayt farkı: </a:t>
            </a:r>
            <a:r>
              <a:rPr sz="2000" b="1">
                <a:solidFill>
                  <a:srgbClr val="1F2D3A"/>
                </a:solidFill>
              </a:rPr>
              <a:t>%92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Yorum: bir kopyaya yazılan yama diğerinde büyük olasılıkla çalışmaz.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uygulamada bir </a:t>
            </a:r>
            <a:r>
              <a:rPr sz="2000" b="1">
                <a:solidFill>
                  <a:srgbClr val="1F2D3A"/>
                </a:solidFill>
              </a:rPr>
              <a:t>lisans denetimi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anahtar türetme</a:t>
            </a:r>
            <a:r>
              <a:rPr sz="2000" b="0">
                <a:solidFill>
                  <a:srgbClr val="1F2D3A"/>
                </a:solidFill>
              </a:rPr>
              <a:t> fonksiyonu var.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İkisini de mi ağır gizleyeceğiz?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Lisans denetimi:</a:t>
            </a:r>
            <a:r>
              <a:rPr sz="2000" b="0">
                <a:solidFill>
                  <a:srgbClr val="1F2D3A"/>
                </a:solidFill>
              </a:rPr>
              <a:t> orta değer → Hat B (Flatten + AddOpaque).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türetme:</a:t>
            </a:r>
            <a:r>
              <a:rPr sz="2000" b="0">
                <a:solidFill>
                  <a:srgbClr val="1F2D3A"/>
                </a:solidFill>
              </a:rPr>
              <a:t> yüksek değer → Hat B +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(küçük olduğu için maliyet kabul edilebilir).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Gerisi: gizlenmez (maliyet gereksiz).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çeşitlendirme + 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farklı tohum.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hattı: gizle → imzala → sürüm kimliği.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birim testleri + ölçüm otomatik.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S9/S15 çıktısı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4310"/>
                <a:gridCol w="2297165"/>
                <a:gridCol w="2153592"/>
                <a:gridCol w="387646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Boyut/süre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lisans_dogrula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+%31 / 1.8×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anahtar_turet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B+Virtualize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+%60 / 3×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yüksek değer, küçük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saldırgan tek kopyada çözebilir.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çeşitlendirme + kısa ömürlü anahtar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Alternatif ve sınırlar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O-LLVM (derleyici tabanlı)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Obfuscator-LLVM:</a:t>
            </a:r>
            <a:r>
              <a:rPr sz="2000" b="0">
                <a:solidFill>
                  <a:srgbClr val="1F2D3A"/>
                </a:solidFill>
              </a:rPr>
              <a:t> dönüşümleri </a:t>
            </a:r>
            <a:r>
              <a:rPr sz="2000" b="1">
                <a:solidFill>
                  <a:srgbClr val="1F2D3A"/>
                </a:solidFill>
              </a:rPr>
              <a:t>derleme sırasında</a:t>
            </a:r>
            <a:r>
              <a:rPr sz="2000" b="0">
                <a:solidFill>
                  <a:srgbClr val="1F2D3A"/>
                </a:solidFill>
              </a:rPr>
              <a:t> uygular.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değil; LLVM ara temsili üstünde.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K-11. Tigress'e bir alternatif.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mi, O-LLVM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339"/>
                <a:gridCol w="4676372"/>
                <a:gridCol w="2805823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O-LLVM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(C→C)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 (IR)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Görünürlük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 kaynağı görebilirsin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 adımı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zenginliği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 (Virtualize dahil)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Daha 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iyi bilinir → kalıpları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1852"/>
                <a:gridCol w="743968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Kaynaktan kaynağa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girip gizli C çıkaran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gizleme işlemi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Dönüşümlerin sıralı bütünü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Tohum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Rastgeleliği yöneten sayı (çeşitlendirme)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Sembolik yürütme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Yol-çözen otomatik analiz (KLEE)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resmî sitesi/çalışma sayfaları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— dönüşümler, sözdizimi, v4, lisans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 alternatif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Tigress, 9. haftanın gizleme kurallarını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uygular; ama kural aynı: gizleme </a:t>
            </a:r>
            <a:r>
              <a:rPr sz="2000" b="1">
                <a:solidFill>
                  <a:srgbClr val="1F2D3A"/>
                </a:solidFill>
              </a:rPr>
              <a:t>kırılamazlık değil gecikme</a:t>
            </a:r>
            <a:r>
              <a:rPr sz="2000" b="0">
                <a:solidFill>
                  <a:srgbClr val="1F2D3A"/>
                </a:solidFill>
              </a:rPr>
              <a:t>; birleştir, çeşitlendir, </a:t>
            </a:r>
            <a:r>
              <a:rPr sz="2000" b="1">
                <a:solidFill>
                  <a:srgbClr val="1F2D3A"/>
                </a:solidFill>
              </a:rPr>
              <a:t>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15. hafta — Final proje gösterimleri (RAP2)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Dönem içeriği tamamlandı. Final raporunda bu haftanın </a:t>
            </a:r>
            <a:r>
              <a:rPr sz="2000" b="1">
                <a:solidFill>
                  <a:srgbClr val="FFFFFF"/>
                </a:solidFill>
              </a:rPr>
              <a:t>hattı (S15)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ölçümleri (S9)</a:t>
            </a:r>
            <a:r>
              <a:rPr sz="2000" b="0">
                <a:solidFill>
                  <a:srgbClr val="FFFFFF"/>
                </a:solidFill>
              </a:rPr>
              <a:t> beklenir. 16. hafta: Quiz-2.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Dönüşüm dönüşüm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tek?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hat kurarken </a:t>
            </a:r>
            <a:r>
              <a:rPr sz="2000" b="1">
                <a:solidFill>
                  <a:srgbClr val="1F2D3A"/>
                </a:solidFill>
              </a:rPr>
              <a:t>hangi dönüşümü neden</a:t>
            </a:r>
            <a:r>
              <a:rPr sz="2000" b="0">
                <a:solidFill>
                  <a:srgbClr val="1F2D3A"/>
                </a:solidFill>
              </a:rPr>
              <a:t> seçtiğinizi bilmelisiniz.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dönüşümü: ne yapar · ne zaman · maliyet.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Flatten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kontrol akışını tek switch'e taşır (K-04).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algoritma yapısını gizlemek için; çoğu hatta.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AddOpaque / InitOpaque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opak yüklemler ve sahte dallar ekler (K-01, K-03).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Flatten'ı güçlendirmek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aritmetiği denk karmaşık ifadeyle değiştirir (K-02).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hesap/karşılaştırma içeren fonksiyonlarda.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EncodeLiterals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sabit ve dizgeleri kodlar (K-07, K-08).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neredeyse her zaman (ucuz, yüksek getiri).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değişkenlerin gösterimini kodlar (K-09).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hassas değişkenleri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Split / Merge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fonksiyonları böler/birleştirir; yapıyı bulanıklaştırır (K-06).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fonksiyon sınırlarını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Virtualize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fonksiyonu özel VM bayt koduna çevirir (K-10).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yalnız en kritik, </a:t>
            </a:r>
            <a:r>
              <a:rPr sz="2000" b="1">
                <a:solidFill>
                  <a:srgbClr val="1F2D3A"/>
                </a:solidFill>
              </a:rPr>
              <a:t>küçük</a:t>
            </a:r>
            <a:r>
              <a:rPr sz="2000" b="0">
                <a:solidFill>
                  <a:srgbClr val="1F2D3A"/>
                </a:solidFill>
              </a:rPr>
              <a:t> fonksiyonlar.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(onlarca kat yavaşlama).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kodu çalışma anında üretir (dinamik, K-12).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çok seçici; ileri kullanım.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yüksek; OS korumalarıyla dikkat.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AntiBranchAnalysis / AntiAliasAnalysis / AntiTaintAnalysis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ilgili statik analiz tekniğini zorlaştırır (önleyici aile).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belirli analiz tehdidine karşı.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değişken.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RandomFuns / RndArgs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rastgele sahte fonksiyon/parametre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çeşitlendirmeyi güçlendirmek için (tohumla).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dönüşüm önce?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Tipik sıra (kavramsal):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EncodeLiterals (ucuz temizlik)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EncodeArithmetic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Flatten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AddOpaque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(gerekirse) Virtualize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RandomFuns/RndArgs (çeşitlendirme)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Gizleme kararı akışı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Bu fonksiyon hassas mı? (lisans, anahtar, bütünlük, denetim)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gizleme; maliyeti boşa harcama.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Değeri yüksek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</a:t>
            </a:r>
            <a:r>
              <a:rPr sz="2000" b="0">
                <a:solidFill>
                  <a:srgbClr val="1F2D3A"/>
                </a:solidFill>
              </a:rPr>
              <a:t> → EncodeLiterals + EncodeArithmetic + Flatten + AddOpaque.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 ve küçük</a:t>
            </a:r>
            <a:r>
              <a:rPr sz="2000" b="0">
                <a:solidFill>
                  <a:srgbClr val="1F2D3A"/>
                </a:solidFill>
              </a:rPr>
              <a:t> → yukarısı + Virtualize.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(boyut, süre, blok)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davranışı doğrula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S9/S15'e yaz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Hassas mı? --hayır--&gt; gizleme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evet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Değeri?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orta   -&gt; EncodeLiterals+Arithmetic+Flatten+AddOpaque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yüksek+küçük -&gt; + Virtualize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Her durumda: çeşitlendir + ölç + testle + S9/S15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Sık yapılan hatalar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her şeyi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Tüm fonksiyonları gizlemek programı çok yavaşlatır/şişirir.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ve değerli fonksiyonlar.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testsiz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sonra birim testleri çalıştırılmazsa, bozuk davranış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hattan sonra test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ölçmeden "güçlü" demek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 yoksa değerlendirici (12. hafta) bunu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Boyut/süre/blok sayılarını yaz.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çeşitlendirmeyi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tip gizleme → bir kırık her kopyayı açar.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sürüm/dağıtım farklı tohum.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imzayı gizlemeden önce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sonra imzala.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eski/dağıtılan Tigress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ikili dağıtılmaz; güncel sürümü resmî siteden indir.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doğrula.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hattınızı</a:t>
            </a:r>
            <a:r>
              <a:rPr sz="2000" b="0">
                <a:solidFill>
                  <a:srgbClr val="1F2D3A"/>
                </a:solidFill>
              </a:rPr>
              <a:t> kurmanın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dönüşüm seçim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araç + doğru ölçüm + çeşitlendirme = savunulabilir bir S9/S15.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G · İkinci işlenmiş hat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 örnek · bütünlük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dosya_saglam(const uint8_t *veri, size_t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const uint8_t *beklenen)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ozet[32];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ozet_hesapla(veri, n, ozet);        /* SHA-256 benzeri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sabit_zamanli_esit(ozet, beklenen, 32);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bütünlüğünü denetleyen sentetik bir fonksiyon.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bunu gizleyelim?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denetimi bulup </a:t>
            </a:r>
            <a:r>
              <a:rPr sz="2000" b="1">
                <a:solidFill>
                  <a:srgbClr val="1F2D3A"/>
                </a:solidFill>
              </a:rPr>
              <a:t>atlatmak</a:t>
            </a:r>
            <a:r>
              <a:rPr sz="2000" b="0">
                <a:solidFill>
                  <a:srgbClr val="1F2D3A"/>
                </a:solidFill>
              </a:rPr>
              <a:t> ister (kurcalanmış dosyayı geçirmek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Denetimin dönüş noktası ve karşılaştırması hedef.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opak boolean + rastgele çıkış burada kritik.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seçimi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--Functions=dosya_saglam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·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EncodeLiterals: </a:t>
            </a:r>
            <a:r>
              <a:rPr sz="2000" b="0">
                <a:solidFill>
                  <a:srgbClr val="A1123F"/>
                </a:solidFill>
                <a:latin typeface="Consolas"/>
              </a:rPr>
              <a:t>32</a:t>
            </a:r>
            <a:r>
              <a:rPr sz="2000" b="0">
                <a:solidFill>
                  <a:srgbClr val="1F2D3A"/>
                </a:solidFill>
              </a:rPr>
              <a:t> ve varsa dizgeler düz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EncodeArithmetic: karşılaştırma karmaşıklaşır.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Flatten: tek dönüş noktası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AddOpaque: sahte dallar; "başarı" dalı tek yerde değil.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Davranış doğrulama (zorunlu)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özetli dosya → </a:t>
            </a:r>
            <a:r>
              <a:rPr sz="2000" b="1">
                <a:solidFill>
                  <a:srgbClr val="1F2D3A"/>
                </a:solidFill>
              </a:rPr>
              <a:t>geçer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Bozuk özetli dosya →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 sürümde de aynı sonuç → hat doğru.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önce/sonra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Önce:  [hesapla] → [karşılaştır] → [geç]/[red]   (birkaç blok)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[switch] ⇄ {çok sayıda case + sahte}      (çok blok)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Denetimin nerede geçtiği/kaldığı akıştan okunmaz.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Sabit zamanlılık korunmalı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sabit_zamanli_esit</a:t>
            </a:r>
            <a:r>
              <a:rPr sz="2000" b="0">
                <a:solidFill>
                  <a:srgbClr val="1F2D3A"/>
                </a:solidFill>
              </a:rPr>
              <a:t> gizlense de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uğruna erken çıkış eklenirse yan kanal açılır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Dönüşümlerin bunu bozmadığını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(örnek)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1818589"/>
                <a:gridCol w="181858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(dosya_saglam)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tohumla üret → iki farklı ikili.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"Bütünlük denetimini atla" yaması bir kopyada işe yarasa bile diğerinde yaramaz.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İkinci örnek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 gibi </a:t>
            </a:r>
            <a:r>
              <a:rPr sz="2000" b="1">
                <a:solidFill>
                  <a:srgbClr val="1F2D3A"/>
                </a:solidFill>
              </a:rPr>
              <a:t>atlatma hedefi</a:t>
            </a:r>
            <a:r>
              <a:rPr sz="2000" b="0">
                <a:solidFill>
                  <a:srgbClr val="1F2D3A"/>
                </a:solidFill>
              </a:rPr>
              <a:t> fonksiyonlarda gizleme değerlidir.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asıl güç: gizleme + RASP (6. hafta)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tek başına atlatmayı </a:t>
            </a:r>
            <a:r>
              <a:rPr sz="2000" b="1">
                <a:solidFill>
                  <a:srgbClr val="1F2D3A"/>
                </a:solidFill>
              </a:rPr>
              <a:t>geciktirir</a:t>
            </a:r>
            <a:r>
              <a:rPr sz="2000" b="0">
                <a:solidFill>
                  <a:srgbClr val="1F2D3A"/>
                </a:solidFill>
              </a:rPr>
              <a:t>, engellemez.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H · Hızlı başvuru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seçim kılavuzu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10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5"/>
                <a:gridCol w="418275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İstediğin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Dizge/sabit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Hesabı gizle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Yapıyı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Sahte/opak ekle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kodunu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(pahalı)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--Seed, RandomFuns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 güçlüdür ama </a:t>
            </a:r>
            <a:r>
              <a:rPr sz="2000" b="1">
                <a:solidFill>
                  <a:srgbClr val="1F2D3A"/>
                </a:solidFill>
              </a:rPr>
              <a:t>karar sizindir</a:t>
            </a:r>
            <a:r>
              <a:rPr sz="2000" b="0">
                <a:solidFill>
                  <a:srgbClr val="1F2D3A"/>
                </a:solidFill>
              </a:rPr>
              <a:t>: neyi, neden, hangi maliyetle gizliyorsunuz?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Ölç, çeşitlendir, katmanla. Gizleme kırılamazlık değil, </a:t>
            </a:r>
            <a:r>
              <a:rPr sz="2000" b="1">
                <a:solidFill>
                  <a:srgbClr val="1F2D3A"/>
                </a:solidFill>
              </a:rPr>
              <a:t>kazanılan zamandır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14 — Tigress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