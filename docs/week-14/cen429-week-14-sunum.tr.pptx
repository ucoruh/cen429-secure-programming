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varsaymıyoruz; 9. haftanın terimlerini kısaca hatırlatıp yenilerini ekliyoruz.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Somut, sentetik sayılarla bir ölçüm turu;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kullanılan dönüşümleri tek tek, ne yaptığı/ne zaman/maliyeti ile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İkinci bir sentetik örnekle hattı pekiştiriyoruz; farklı bir fonksiyon türü.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1022956"/>
                <a:gridCol w="897928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kaynaktan kaynağa gizleme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</a:t>
            </a:r>
            <a:r>
              <a:rPr sz="1800" b="1">
                <a:solidFill>
                  <a:srgbClr val="1F2D3A"/>
                </a:solidFill>
              </a:rPr>
              <a:t>çeşitlendirme</a:t>
            </a:r>
            <a:r>
              <a:rPr sz="1800" b="0">
                <a:solidFill>
                  <a:srgbClr val="1F2D3A"/>
                </a:solidFill>
              </a:rPr>
              <a:t> fikri (aynı işlev, farklı ikili)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gizleme taksonomisi (9. haftanın temeli)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derleyici tabanlı gizleme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C için kaynaktan kaynağa + sanallaştırma + çeşitlendirme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vd. Tigress+KLEE ile </a:t>
            </a:r>
            <a:r>
              <a:rPr sz="1800" b="1">
                <a:solidFill>
                  <a:srgbClr val="1F2D3A"/>
                </a:solidFill>
              </a:rPr>
              <a:t>dayanıklılığı ölçer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Ana kural: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; koruma varlığın değeriyle orantılı seçilir.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029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72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"kaynaktan kaynağa", "dönüşüm", "tohum", "derleme hattı"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kaynak, derleyici, ikili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kod:</a:t>
            </a:r>
            <a:r>
              <a:rPr sz="2000" b="0">
                <a:solidFill>
                  <a:srgbClr val="1F2D3A"/>
                </a:solidFill>
              </a:rPr>
              <a:t> insanın yazdığı program metni (C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kaynağı makine koduna çeviren program (gcc/clang).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dosya:</a:t>
            </a:r>
            <a:r>
              <a:rPr sz="2000" b="0">
                <a:solidFill>
                  <a:srgbClr val="1F2D3A"/>
                </a:solidFill>
              </a:rPr>
              <a:t> çalıştırılan sonuç.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gizleme (obfuscation):</a:t>
            </a:r>
            <a:r>
              <a:rPr sz="2000" b="0">
                <a:solidFill>
                  <a:srgbClr val="1F2D3A"/>
                </a:solidFill>
              </a:rPr>
              <a:t> davranışı değiştirmeden kodu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 hale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saldırgan için maliyeti artırmak (9. hafta).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pic>
        <p:nvPicPr>
          <p:cNvPr id="8" name="Picture 7" descr="h14-01-kaynaktan-kaynaga-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278888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(diversification)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Çeşitlendirme:</a:t>
            </a:r>
            <a:r>
              <a:rPr sz="2000" b="0">
                <a:solidFill>
                  <a:srgbClr val="1F2D3A"/>
                </a:solidFill>
              </a:rPr>
              <a:t> 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 (9. hafta Kural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 (Control Flow Graph):</a:t>
            </a:r>
            <a:r>
              <a:rPr sz="2000" b="0">
                <a:solidFill>
                  <a:srgbClr val="1F2D3A"/>
                </a:solidFill>
              </a:rPr>
              <a:t> temel blokları düğüm, geçişleri kenar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 (9. hafta).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Sembolik yürütme:</a:t>
            </a:r>
            <a:r>
              <a:rPr sz="2000" b="0">
                <a:solidFill>
                  <a:srgbClr val="1F2D3A"/>
                </a:solidFill>
              </a:rPr>
              <a:t> program yollarını matematiksel kısıt olarak çözen otomatik analiz (ör. KLEE).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Gizlemeye karşı bir </a:t>
            </a:r>
            <a:r>
              <a:rPr sz="2000" b="1">
                <a:solidFill>
                  <a:srgbClr val="1F2D3A"/>
                </a:solidFill>
              </a:rPr>
              <a:t>deobfuscation</a:t>
            </a:r>
            <a:r>
              <a:rPr sz="2000" b="0">
                <a:solidFill>
                  <a:srgbClr val="1F2D3A"/>
                </a:solidFill>
              </a:rPr>
              <a:t> yöntemidir; dayanıklılığı bununla sınarız.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kaynaktan kaynağa · dönüşüm · hat · tohum · çeşitlendirme · CLI · birim testi · CFG · sembolik yürütme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Tigress nedir ve nasıl çalışır?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pic>
        <p:nvPicPr>
          <p:cNvPr id="7" name="Picture 6" descr="h14-02-el-ile-vs-ar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2909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2655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— şema</a:t>
            </a:r>
          </a:p>
        </p:txBody>
      </p:sp>
      <p:pic>
        <p:nvPicPr>
          <p:cNvPr id="7" name="Picture 6" descr="h14-04-donusum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haftadaki gizleme ailelerine karşılık gelir.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↔ kural eşlemesi — şema</a:t>
            </a:r>
          </a:p>
        </p:txBody>
      </p:sp>
      <p:pic>
        <p:nvPicPr>
          <p:cNvPr id="7" name="Picture 6" descr="h14-03-donusum-es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dizgeleri kodlar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Uzayda/zamanda çeşitlendirme — şema</a:t>
            </a:r>
          </a:p>
        </p:txBody>
      </p:sp>
      <p:pic>
        <p:nvPicPr>
          <p:cNvPr id="7" name="Picture 6" descr="h14-05-cesitlendirme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 hattı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818589"/>
                <a:gridCol w="18185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↔ maliyet — şema</a:t>
            </a:r>
          </a:p>
        </p:txBody>
      </p:sp>
      <p:pic>
        <p:nvPicPr>
          <p:cNvPr id="7" name="Picture 6" descr="h14-08-dayaniklilik-maliy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pic>
        <p:nvPicPr>
          <p:cNvPr id="7" name="Picture 6" descr="h14-06-test-ve-olc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pic>
        <p:nvPicPr>
          <p:cNvPr id="7" name="Picture 6" descr="h14-07-s15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ölçüm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 fonksiyonunu iki hatla gizleyip ölçelim: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A:</a:t>
            </a:r>
            <a:r>
              <a:rPr sz="2000" b="0">
                <a:solidFill>
                  <a:srgbClr val="1F2D3A"/>
                </a:solidFill>
              </a:rPr>
              <a:t> EncodeLiterals + EncodeArithmetic (hafif)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B:</a:t>
            </a:r>
            <a:r>
              <a:rPr sz="2000" b="0">
                <a:solidFill>
                  <a:srgbClr val="1F2D3A"/>
                </a:solidFill>
              </a:rPr>
              <a:t> Hat A + Flatten + AddOpaque (ağır)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· temel çizgi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A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Ucuz; dize gizleme büyük getiri.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B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 arttı (blok 5→40); maliyet de arttı.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Karşılaştırma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Alternatif ve sınırlar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15. hafta —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FFFFFF"/>
                </a:solidFill>
              </a:rPr>
              <a:t>hattı (S15)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ölçümleri (S9)</a:t>
            </a:r>
            <a:r>
              <a:rPr sz="2000" b="0">
                <a:solidFill>
                  <a:srgbClr val="FFFFFF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Dönüşüm dönüşüm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tek?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hat kurarken </a:t>
            </a:r>
            <a:r>
              <a:rPr sz="2000" b="1">
                <a:solidFill>
                  <a:srgbClr val="1F2D3A"/>
                </a:solidFill>
              </a:rPr>
              <a:t>hangi dönüşümü neden</a:t>
            </a:r>
            <a:r>
              <a:rPr sz="2000" b="0">
                <a:solidFill>
                  <a:srgbClr val="1F2D3A"/>
                </a:solidFill>
              </a:rPr>
              <a:t> seçtiğinizi bilmelisiniz.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dönüşümü: ne yapar · ne zaman · maliyet.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kontrol akışını tek switch'e taşır (K-04).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algoritma yapısını gizlemek için; çoğu hatta.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AddOpaque / InitOpaque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opak yüklemler ve sahte dallar ekler (K-01, K-03).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Flatten'ı güçlendirmek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aritmetiği denk karmaşık ifadeyle değiştirir (K-02).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hesap/karşılaştırma içeren fonksiyonlarda.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EncodeLiterals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sabit ve dizgeleri kodlar (K-07, K-08).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neredeyse her zaman (ucuz, yüksek getiri).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değişkenlerin gösterimini kodlar (K-09).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hassas değişkenleri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Split /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fonksiyonları böler/birleştirir; yapıyı bulanıklaştırır (K-06).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fonksiyon sınırlarını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Virtualize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fonksiyonu özel VM bayt koduna çevirir (K-10).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yalnız en kritik, </a:t>
            </a:r>
            <a:r>
              <a:rPr sz="2000" b="1">
                <a:solidFill>
                  <a:srgbClr val="1F2D3A"/>
                </a:solidFill>
              </a:rPr>
              <a:t>küçük</a:t>
            </a:r>
            <a:r>
              <a:rPr sz="2000" b="0">
                <a:solidFill>
                  <a:srgbClr val="1F2D3A"/>
                </a:solidFill>
              </a:rPr>
              <a:t> fonksiyonlar.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(onlarca kat yavaşlama).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kodu çalışma anında üretir (dinamik, K-12).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çok seçici; ileri kullanım.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yüksek; OS korumalarıyla dikkat.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AntiBranchAnalysis / AntiAliasAnalysis / AntiTaintAnalysis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ilgili statik analiz tekniğini zorlaştırır (önleyici aile).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belirli analiz tehdidine karşı.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değişken.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RandomFuns / RndArgs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rastgele sahte fonksiyon/parametre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çeşitlendirmeyi güçlendirmek için (tohumla).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dönüşüm önce?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Tipik sıra (kavramsal):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EncodeLiterals (ucuz temizlik)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EncodeArithmetic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AddOpaque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(gerekirse) Virtualize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RandomFuns/RndArgs (çeşitlendirme)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Gizleme kararı akışı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pic>
        <p:nvPicPr>
          <p:cNvPr id="7" name="Picture 6" descr="h14-09-karar-ak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846305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Sık yapılan hatalar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her şeyi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fonksiyonları gizlemek programı çok yavaşlatır/şişirir.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ve değerli fonksiyonlar.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testsiz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sonra birim testleri çalıştırılmazsa, bozuk davranış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hattan sonra test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ölçmeden "güçlü"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 yoksa değerlendirici (12. hafta) bunu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Boyut/süre/blok sayılarını yaz.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çeşitlendirmeyi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tip gizleme → bir kırık her kopyayı 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sürüm/dağıtım farklı tohum.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imzayı gizlemeden önce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sonra imzala.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eski/dağıtılan Tigress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ikili dağıtılmaz; güncel sürümü resmî siteden indir.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doğrula.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hattınızı</a:t>
            </a:r>
            <a:r>
              <a:rPr sz="2000" b="0">
                <a:solidFill>
                  <a:srgbClr val="1F2D3A"/>
                </a:solidFill>
              </a:rPr>
              <a:t> kurmanın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dönüşüm seçim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araç + doğru ölçüm + çeşitlendirme = savunulabilir bir S9/S15.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G · İkinci işlenmiş hat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dizgeler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pic>
        <p:nvPicPr>
          <p:cNvPr id="7" name="Picture 6" descr="h14-10-cfg-once-son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55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908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H · Hızlı başvuru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Dizge/sabit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Ölç, çeşitlendir, katmanla. Gizleme kırılamazlık değil, </a:t>
            </a:r>
            <a:r>
              <a:rPr sz="2000" b="1">
                <a:solidFill>
                  <a:srgbClr val="1F2D3A"/>
                </a:solidFill>
              </a:rPr>
              <a:t>kazanılan zamandır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