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  <p:sldId id="350" r:id="rId102"/>
    <p:sldId id="351" r:id="rId103"/>
    <p:sldId id="352" r:id="rId104"/>
    <p:sldId id="353" r:id="rId105"/>
    <p:sldId id="354" r:id="rId106"/>
    <p:sldId id="355" r:id="rId107"/>
    <p:sldId id="356" r:id="rId108"/>
    <p:sldId id="357" r:id="rId109"/>
    <p:sldId id="358" r:id="rId110"/>
    <p:sldId id="359" r:id="rId111"/>
    <p:sldId id="360" r:id="rId112"/>
    <p:sldId id="361" r:id="rId113"/>
    <p:sldId id="362" r:id="rId114"/>
    <p:sldId id="363" r:id="rId115"/>
    <p:sldId id="364" r:id="rId116"/>
    <p:sldId id="365" r:id="rId117"/>
    <p:sldId id="366" r:id="rId118"/>
    <p:sldId id="367" r:id="rId119"/>
    <p:sldId id="368" r:id="rId120"/>
    <p:sldId id="369" r:id="rId121"/>
    <p:sldId id="370" r:id="rId122"/>
    <p:sldId id="371" r:id="rId123"/>
    <p:sldId id="372" r:id="rId124"/>
    <p:sldId id="373" r:id="rId125"/>
    <p:sldId id="374" r:id="rId126"/>
    <p:sldId id="375" r:id="rId127"/>
    <p:sldId id="376" r:id="rId128"/>
    <p:sldId id="377" r:id="rId129"/>
    <p:sldId id="378" r:id="rId130"/>
    <p:sldId id="379" r:id="rId131"/>
    <p:sldId id="380" r:id="rId132"/>
    <p:sldId id="381" r:id="rId133"/>
    <p:sldId id="382" r:id="rId134"/>
    <p:sldId id="383" r:id="rId135"/>
    <p:sldId id="384" r:id="rId136"/>
    <p:sldId id="385" r:id="rId137"/>
    <p:sldId id="386" r:id="rId138"/>
    <p:sldId id="387" r:id="rId139"/>
    <p:sldId id="388" r:id="rId140"/>
    <p:sldId id="389" r:id="rId141"/>
    <p:sldId id="390" r:id="rId142"/>
    <p:sldId id="391" r:id="rId143"/>
    <p:sldId id="392" r:id="rId144"/>
    <p:sldId id="393" r:id="rId145"/>
    <p:sldId id="394" r:id="rId146"/>
    <p:sldId id="395" r:id="rId147"/>
    <p:sldId id="396" r:id="rId148"/>
    <p:sldId id="397" r:id="rId149"/>
    <p:sldId id="398" r:id="rId150"/>
    <p:sldId id="399" r:id="rId151"/>
    <p:sldId id="400" r:id="rId152"/>
    <p:sldId id="401" r:id="rId153"/>
    <p:sldId id="402" r:id="rId154"/>
    <p:sldId id="403" r:id="rId155"/>
    <p:sldId id="404" r:id="rId156"/>
    <p:sldId id="405" r:id="rId157"/>
    <p:sldId id="406" r:id="rId158"/>
    <p:sldId id="407" r:id="rId159"/>
    <p:sldId id="408" r:id="rId160"/>
    <p:sldId id="409" r:id="rId161"/>
    <p:sldId id="410" r:id="rId162"/>
    <p:sldId id="411" r:id="rId163"/>
    <p:sldId id="412" r:id="rId164"/>
    <p:sldId id="413" r:id="rId165"/>
    <p:sldId id="414" r:id="rId166"/>
    <p:sldId id="415" r:id="rId167"/>
    <p:sldId id="416" r:id="rId168"/>
    <p:sldId id="417" r:id="rId169"/>
    <p:sldId id="418" r:id="rId170"/>
    <p:sldId id="419" r:id="rId171"/>
    <p:sldId id="420" r:id="rId172"/>
    <p:sldId id="421" r:id="rId173"/>
    <p:sldId id="422" r:id="rId174"/>
    <p:sldId id="423" r:id="rId175"/>
    <p:sldId id="424" r:id="rId176"/>
    <p:sldId id="425" r:id="rId177"/>
    <p:sldId id="426" r:id="rId178"/>
    <p:sldId id="427" r:id="rId179"/>
    <p:sldId id="428" r:id="rId180"/>
    <p:sldId id="429" r:id="rId181"/>
    <p:sldId id="430" r:id="rId182"/>
    <p:sldId id="431" r:id="rId183"/>
    <p:sldId id="432" r:id="rId184"/>
    <p:sldId id="433" r:id="rId185"/>
    <p:sldId id="434" r:id="rId186"/>
    <p:sldId id="435" r:id="rId187"/>
    <p:sldId id="436" r:id="rId188"/>
    <p:sldId id="437" r:id="rId189"/>
    <p:sldId id="438" r:id="rId19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Relationship Id="rId81" Type="http://schemas.openxmlformats.org/officeDocument/2006/relationships/slide" Target="slides/slide74.xml"/><Relationship Id="rId82" Type="http://schemas.openxmlformats.org/officeDocument/2006/relationships/slide" Target="slides/slide75.xml"/><Relationship Id="rId83" Type="http://schemas.openxmlformats.org/officeDocument/2006/relationships/slide" Target="slides/slide76.xml"/><Relationship Id="rId84" Type="http://schemas.openxmlformats.org/officeDocument/2006/relationships/slide" Target="slides/slide77.xml"/><Relationship Id="rId85" Type="http://schemas.openxmlformats.org/officeDocument/2006/relationships/slide" Target="slides/slide78.xml"/><Relationship Id="rId86" Type="http://schemas.openxmlformats.org/officeDocument/2006/relationships/slide" Target="slides/slide79.xml"/><Relationship Id="rId87" Type="http://schemas.openxmlformats.org/officeDocument/2006/relationships/slide" Target="slides/slide80.xml"/><Relationship Id="rId88" Type="http://schemas.openxmlformats.org/officeDocument/2006/relationships/slide" Target="slides/slide81.xml"/><Relationship Id="rId89" Type="http://schemas.openxmlformats.org/officeDocument/2006/relationships/slide" Target="slides/slide82.xml"/><Relationship Id="rId90" Type="http://schemas.openxmlformats.org/officeDocument/2006/relationships/slide" Target="slides/slide83.xml"/><Relationship Id="rId91" Type="http://schemas.openxmlformats.org/officeDocument/2006/relationships/slide" Target="slides/slide84.xml"/><Relationship Id="rId92" Type="http://schemas.openxmlformats.org/officeDocument/2006/relationships/slide" Target="slides/slide85.xml"/><Relationship Id="rId93" Type="http://schemas.openxmlformats.org/officeDocument/2006/relationships/slide" Target="slides/slide86.xml"/><Relationship Id="rId94" Type="http://schemas.openxmlformats.org/officeDocument/2006/relationships/slide" Target="slides/slide87.xml"/><Relationship Id="rId95" Type="http://schemas.openxmlformats.org/officeDocument/2006/relationships/slide" Target="slides/slide88.xml"/><Relationship Id="rId96" Type="http://schemas.openxmlformats.org/officeDocument/2006/relationships/slide" Target="slides/slide89.xml"/><Relationship Id="rId97" Type="http://schemas.openxmlformats.org/officeDocument/2006/relationships/slide" Target="slides/slide90.xml"/><Relationship Id="rId98" Type="http://schemas.openxmlformats.org/officeDocument/2006/relationships/slide" Target="slides/slide91.xml"/><Relationship Id="rId99" Type="http://schemas.openxmlformats.org/officeDocument/2006/relationships/slide" Target="slides/slide92.xml"/><Relationship Id="rId100" Type="http://schemas.openxmlformats.org/officeDocument/2006/relationships/slide" Target="slides/slide93.xml"/><Relationship Id="rId101" Type="http://schemas.openxmlformats.org/officeDocument/2006/relationships/slide" Target="slides/slide94.xml"/><Relationship Id="rId102" Type="http://schemas.openxmlformats.org/officeDocument/2006/relationships/slide" Target="slides/slide95.xml"/><Relationship Id="rId103" Type="http://schemas.openxmlformats.org/officeDocument/2006/relationships/slide" Target="slides/slide96.xml"/><Relationship Id="rId104" Type="http://schemas.openxmlformats.org/officeDocument/2006/relationships/slide" Target="slides/slide97.xml"/><Relationship Id="rId105" Type="http://schemas.openxmlformats.org/officeDocument/2006/relationships/slide" Target="slides/slide98.xml"/><Relationship Id="rId106" Type="http://schemas.openxmlformats.org/officeDocument/2006/relationships/slide" Target="slides/slide99.xml"/><Relationship Id="rId107" Type="http://schemas.openxmlformats.org/officeDocument/2006/relationships/slide" Target="slides/slide100.xml"/><Relationship Id="rId108" Type="http://schemas.openxmlformats.org/officeDocument/2006/relationships/slide" Target="slides/slide101.xml"/><Relationship Id="rId109" Type="http://schemas.openxmlformats.org/officeDocument/2006/relationships/slide" Target="slides/slide102.xml"/><Relationship Id="rId110" Type="http://schemas.openxmlformats.org/officeDocument/2006/relationships/slide" Target="slides/slide103.xml"/><Relationship Id="rId111" Type="http://schemas.openxmlformats.org/officeDocument/2006/relationships/slide" Target="slides/slide104.xml"/><Relationship Id="rId112" Type="http://schemas.openxmlformats.org/officeDocument/2006/relationships/slide" Target="slides/slide105.xml"/><Relationship Id="rId113" Type="http://schemas.openxmlformats.org/officeDocument/2006/relationships/slide" Target="slides/slide106.xml"/><Relationship Id="rId114" Type="http://schemas.openxmlformats.org/officeDocument/2006/relationships/slide" Target="slides/slide107.xml"/><Relationship Id="rId115" Type="http://schemas.openxmlformats.org/officeDocument/2006/relationships/slide" Target="slides/slide108.xml"/><Relationship Id="rId116" Type="http://schemas.openxmlformats.org/officeDocument/2006/relationships/slide" Target="slides/slide109.xml"/><Relationship Id="rId117" Type="http://schemas.openxmlformats.org/officeDocument/2006/relationships/slide" Target="slides/slide110.xml"/><Relationship Id="rId118" Type="http://schemas.openxmlformats.org/officeDocument/2006/relationships/slide" Target="slides/slide111.xml"/><Relationship Id="rId119" Type="http://schemas.openxmlformats.org/officeDocument/2006/relationships/slide" Target="slides/slide112.xml"/><Relationship Id="rId120" Type="http://schemas.openxmlformats.org/officeDocument/2006/relationships/slide" Target="slides/slide113.xml"/><Relationship Id="rId121" Type="http://schemas.openxmlformats.org/officeDocument/2006/relationships/slide" Target="slides/slide114.xml"/><Relationship Id="rId122" Type="http://schemas.openxmlformats.org/officeDocument/2006/relationships/slide" Target="slides/slide115.xml"/><Relationship Id="rId123" Type="http://schemas.openxmlformats.org/officeDocument/2006/relationships/slide" Target="slides/slide116.xml"/><Relationship Id="rId124" Type="http://schemas.openxmlformats.org/officeDocument/2006/relationships/slide" Target="slides/slide117.xml"/><Relationship Id="rId125" Type="http://schemas.openxmlformats.org/officeDocument/2006/relationships/slide" Target="slides/slide118.xml"/><Relationship Id="rId126" Type="http://schemas.openxmlformats.org/officeDocument/2006/relationships/slide" Target="slides/slide119.xml"/><Relationship Id="rId127" Type="http://schemas.openxmlformats.org/officeDocument/2006/relationships/slide" Target="slides/slide120.xml"/><Relationship Id="rId128" Type="http://schemas.openxmlformats.org/officeDocument/2006/relationships/slide" Target="slides/slide121.xml"/><Relationship Id="rId129" Type="http://schemas.openxmlformats.org/officeDocument/2006/relationships/slide" Target="slides/slide122.xml"/><Relationship Id="rId130" Type="http://schemas.openxmlformats.org/officeDocument/2006/relationships/slide" Target="slides/slide123.xml"/><Relationship Id="rId131" Type="http://schemas.openxmlformats.org/officeDocument/2006/relationships/slide" Target="slides/slide124.xml"/><Relationship Id="rId132" Type="http://schemas.openxmlformats.org/officeDocument/2006/relationships/slide" Target="slides/slide125.xml"/><Relationship Id="rId133" Type="http://schemas.openxmlformats.org/officeDocument/2006/relationships/slide" Target="slides/slide126.xml"/><Relationship Id="rId134" Type="http://schemas.openxmlformats.org/officeDocument/2006/relationships/slide" Target="slides/slide127.xml"/><Relationship Id="rId135" Type="http://schemas.openxmlformats.org/officeDocument/2006/relationships/slide" Target="slides/slide128.xml"/><Relationship Id="rId136" Type="http://schemas.openxmlformats.org/officeDocument/2006/relationships/slide" Target="slides/slide129.xml"/><Relationship Id="rId137" Type="http://schemas.openxmlformats.org/officeDocument/2006/relationships/slide" Target="slides/slide130.xml"/><Relationship Id="rId138" Type="http://schemas.openxmlformats.org/officeDocument/2006/relationships/slide" Target="slides/slide131.xml"/><Relationship Id="rId139" Type="http://schemas.openxmlformats.org/officeDocument/2006/relationships/slide" Target="slides/slide132.xml"/><Relationship Id="rId140" Type="http://schemas.openxmlformats.org/officeDocument/2006/relationships/slide" Target="slides/slide133.xml"/><Relationship Id="rId141" Type="http://schemas.openxmlformats.org/officeDocument/2006/relationships/slide" Target="slides/slide134.xml"/><Relationship Id="rId142" Type="http://schemas.openxmlformats.org/officeDocument/2006/relationships/slide" Target="slides/slide135.xml"/><Relationship Id="rId143" Type="http://schemas.openxmlformats.org/officeDocument/2006/relationships/slide" Target="slides/slide136.xml"/><Relationship Id="rId144" Type="http://schemas.openxmlformats.org/officeDocument/2006/relationships/slide" Target="slides/slide137.xml"/><Relationship Id="rId145" Type="http://schemas.openxmlformats.org/officeDocument/2006/relationships/slide" Target="slides/slide138.xml"/><Relationship Id="rId146" Type="http://schemas.openxmlformats.org/officeDocument/2006/relationships/slide" Target="slides/slide139.xml"/><Relationship Id="rId147" Type="http://schemas.openxmlformats.org/officeDocument/2006/relationships/slide" Target="slides/slide140.xml"/><Relationship Id="rId148" Type="http://schemas.openxmlformats.org/officeDocument/2006/relationships/slide" Target="slides/slide141.xml"/><Relationship Id="rId149" Type="http://schemas.openxmlformats.org/officeDocument/2006/relationships/slide" Target="slides/slide142.xml"/><Relationship Id="rId150" Type="http://schemas.openxmlformats.org/officeDocument/2006/relationships/slide" Target="slides/slide143.xml"/><Relationship Id="rId151" Type="http://schemas.openxmlformats.org/officeDocument/2006/relationships/slide" Target="slides/slide144.xml"/><Relationship Id="rId152" Type="http://schemas.openxmlformats.org/officeDocument/2006/relationships/slide" Target="slides/slide145.xml"/><Relationship Id="rId153" Type="http://schemas.openxmlformats.org/officeDocument/2006/relationships/slide" Target="slides/slide146.xml"/><Relationship Id="rId154" Type="http://schemas.openxmlformats.org/officeDocument/2006/relationships/slide" Target="slides/slide147.xml"/><Relationship Id="rId155" Type="http://schemas.openxmlformats.org/officeDocument/2006/relationships/slide" Target="slides/slide148.xml"/><Relationship Id="rId156" Type="http://schemas.openxmlformats.org/officeDocument/2006/relationships/slide" Target="slides/slide149.xml"/><Relationship Id="rId157" Type="http://schemas.openxmlformats.org/officeDocument/2006/relationships/slide" Target="slides/slide150.xml"/><Relationship Id="rId158" Type="http://schemas.openxmlformats.org/officeDocument/2006/relationships/slide" Target="slides/slide151.xml"/><Relationship Id="rId159" Type="http://schemas.openxmlformats.org/officeDocument/2006/relationships/slide" Target="slides/slide152.xml"/><Relationship Id="rId160" Type="http://schemas.openxmlformats.org/officeDocument/2006/relationships/slide" Target="slides/slide153.xml"/><Relationship Id="rId161" Type="http://schemas.openxmlformats.org/officeDocument/2006/relationships/slide" Target="slides/slide154.xml"/><Relationship Id="rId162" Type="http://schemas.openxmlformats.org/officeDocument/2006/relationships/slide" Target="slides/slide155.xml"/><Relationship Id="rId163" Type="http://schemas.openxmlformats.org/officeDocument/2006/relationships/slide" Target="slides/slide156.xml"/><Relationship Id="rId164" Type="http://schemas.openxmlformats.org/officeDocument/2006/relationships/slide" Target="slides/slide157.xml"/><Relationship Id="rId165" Type="http://schemas.openxmlformats.org/officeDocument/2006/relationships/slide" Target="slides/slide158.xml"/><Relationship Id="rId166" Type="http://schemas.openxmlformats.org/officeDocument/2006/relationships/slide" Target="slides/slide159.xml"/><Relationship Id="rId167" Type="http://schemas.openxmlformats.org/officeDocument/2006/relationships/slide" Target="slides/slide160.xml"/><Relationship Id="rId168" Type="http://schemas.openxmlformats.org/officeDocument/2006/relationships/slide" Target="slides/slide161.xml"/><Relationship Id="rId169" Type="http://schemas.openxmlformats.org/officeDocument/2006/relationships/slide" Target="slides/slide162.xml"/><Relationship Id="rId170" Type="http://schemas.openxmlformats.org/officeDocument/2006/relationships/slide" Target="slides/slide163.xml"/><Relationship Id="rId171" Type="http://schemas.openxmlformats.org/officeDocument/2006/relationships/slide" Target="slides/slide164.xml"/><Relationship Id="rId172" Type="http://schemas.openxmlformats.org/officeDocument/2006/relationships/slide" Target="slides/slide165.xml"/><Relationship Id="rId173" Type="http://schemas.openxmlformats.org/officeDocument/2006/relationships/slide" Target="slides/slide166.xml"/><Relationship Id="rId174" Type="http://schemas.openxmlformats.org/officeDocument/2006/relationships/slide" Target="slides/slide167.xml"/><Relationship Id="rId175" Type="http://schemas.openxmlformats.org/officeDocument/2006/relationships/slide" Target="slides/slide168.xml"/><Relationship Id="rId176" Type="http://schemas.openxmlformats.org/officeDocument/2006/relationships/slide" Target="slides/slide169.xml"/><Relationship Id="rId177" Type="http://schemas.openxmlformats.org/officeDocument/2006/relationships/slide" Target="slides/slide170.xml"/><Relationship Id="rId178" Type="http://schemas.openxmlformats.org/officeDocument/2006/relationships/slide" Target="slides/slide171.xml"/><Relationship Id="rId179" Type="http://schemas.openxmlformats.org/officeDocument/2006/relationships/slide" Target="slides/slide172.xml"/><Relationship Id="rId180" Type="http://schemas.openxmlformats.org/officeDocument/2006/relationships/slide" Target="slides/slide173.xml"/><Relationship Id="rId181" Type="http://schemas.openxmlformats.org/officeDocument/2006/relationships/slide" Target="slides/slide174.xml"/><Relationship Id="rId182" Type="http://schemas.openxmlformats.org/officeDocument/2006/relationships/slide" Target="slides/slide175.xml"/><Relationship Id="rId183" Type="http://schemas.openxmlformats.org/officeDocument/2006/relationships/slide" Target="slides/slide176.xml"/><Relationship Id="rId184" Type="http://schemas.openxmlformats.org/officeDocument/2006/relationships/slide" Target="slides/slide177.xml"/><Relationship Id="rId185" Type="http://schemas.openxmlformats.org/officeDocument/2006/relationships/slide" Target="slides/slide178.xml"/><Relationship Id="rId186" Type="http://schemas.openxmlformats.org/officeDocument/2006/relationships/slide" Target="slides/slide179.xml"/><Relationship Id="rId187" Type="http://schemas.openxmlformats.org/officeDocument/2006/relationships/slide" Target="slides/slide180.xml"/><Relationship Id="rId188" Type="http://schemas.openxmlformats.org/officeDocument/2006/relationships/slide" Target="slides/slide181.xml"/><Relationship Id="rId189" Type="http://schemas.openxmlformats.org/officeDocument/2006/relationships/slide" Target="slides/slide182.xml"/><Relationship Id="rId190" Type="http://schemas.openxmlformats.org/officeDocument/2006/relationships/slide" Target="slides/slide18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5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7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 hafta 9. haftadaki gizleme kurallarının otomatik karşılığı Tigress ile kaynaktan kaynağa gizleme ve çeşitlendirme işleniyor. Ana kural: gizleme kırılamazlık vermez, maliyet yükseltir; dönüşümleri birleştir, çeşitlendir, ölç. Tigress yalnız kendi koda uygulanır; ikili derste dağıtılmaz.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 hafta 9. haftadaki el ile gizleme kurallarını araçla (Tigress) otomatikleştiriyoruz. Ana mesaj aynı: gizleme kırılamazlık vermez, maliyet yükseltir; birleştir, çeşitlendir, ölç.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Hiçbir ön bilgi varsaymıyoruz; 9. haftanın terimlerini kısaca hatırlatıp yenilerini ekliyoruz.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Sonra dönüşüm aileleri.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Dönüşüm adları sürümle küçük değişebilir; resmî belgeden doğrulanmalı. Kavramı 9. hafta kurallarına bağlıyoruz.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Ara sonrası çeşitlendirme ve ölçme.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Sonra sınıf içi akış, S15, proje.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Öğrenci Tigress'i kendi indirir, kendi küçük programına uygular. Tümüyle savunma amaçlı; kendi kodunu korur ve ölçer.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Sonra derleme hattı (S15) ve proje.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Sonra çözümlü kendini sınama.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Önce öğrenciye sordurun, sonra cevabı açın.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Somut, sentetik sayılarla bir ölçüm turu; tahtada yapılabilir.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 çok kullanılan dönüşümleri tek tek, ne yaptığı/ne zaman/maliyeti ile ele alıyoruz.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İkinci bir sentetik örnekle hattı pekiştiriyoruz; farklı bir fonksiyon türü.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4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6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7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9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0.xml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9456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4000" b="1">
                <a:solidFill>
                  <a:srgbClr val="006D77"/>
                </a:solidFill>
              </a:rPr>
              <a:t>Tigress ve Çeşitlendirme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56616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000" b="1">
                <a:solidFill>
                  <a:srgbClr val="1F2D3A"/>
                </a:solidFill>
              </a:rPr>
              <a:t>CEN429 Güvenli Programlama — Hafta 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0518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000" b="0">
                <a:solidFill>
                  <a:srgbClr val="1F2D3A"/>
                </a:solidFill>
              </a:rPr>
              <a:t>Dr. Öğr. Üyesi Uğur CORUH · 18.12.2026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Bugünün planı (3 saat)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2240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09294"/>
                <a:gridCol w="1022956"/>
                <a:gridCol w="8979284"/>
              </a:tblGrid>
              <a:tr h="560070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Saat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Bölüm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Konu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560070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0–1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Temel kavramlar · kaynaktan kaynağa gizleme · Tigress · lisans · temel akış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60070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2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2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Dönüşüm aileleri · 9. hafta eşlemesi · dönüşüm hattı · adım adım örnek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560070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3–4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Çeşitlendirme · ölçme · sınıf içi akış · derleme hattı (S15) · proje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Kısa tarihçe — kaynaktan kaynağa gizleme ve çeşitlendirme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8059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1993</a:t>
            </a:r>
            <a:r>
              <a:rPr sz="1800" b="0">
                <a:solidFill>
                  <a:srgbClr val="1F2D3A"/>
                </a:solidFill>
              </a:rPr>
              <a:t> — Cohen: </a:t>
            </a:r>
            <a:r>
              <a:rPr sz="1800" b="1">
                <a:solidFill>
                  <a:srgbClr val="1F2D3A"/>
                </a:solidFill>
              </a:rPr>
              <a:t>çeşitlendirme</a:t>
            </a:r>
            <a:r>
              <a:rPr sz="1800" b="0">
                <a:solidFill>
                  <a:srgbClr val="1F2D3A"/>
                </a:solidFill>
              </a:rPr>
              <a:t> fikri (aynı işlev, farklı ikili)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1997</a:t>
            </a:r>
            <a:r>
              <a:rPr sz="1800" b="0">
                <a:solidFill>
                  <a:srgbClr val="1F2D3A"/>
                </a:solidFill>
              </a:rPr>
              <a:t> — Collberg vd. gizleme taksonomisi (9. haftanın temeli)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2013</a:t>
            </a:r>
            <a:r>
              <a:rPr sz="1800" b="0">
                <a:solidFill>
                  <a:srgbClr val="1F2D3A"/>
                </a:solidFill>
              </a:rPr>
              <a:t> — </a:t>
            </a:r>
            <a:r>
              <a:rPr sz="1800" b="1">
                <a:solidFill>
                  <a:srgbClr val="1F2D3A"/>
                </a:solidFill>
              </a:rPr>
              <a:t>Obfuscator-LLVM</a:t>
            </a:r>
            <a:r>
              <a:rPr sz="1800" b="0">
                <a:solidFill>
                  <a:srgbClr val="1F2D3A"/>
                </a:solidFill>
              </a:rPr>
              <a:t>: derleyici tabanlı gizleme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2010'lar</a:t>
            </a:r>
            <a:r>
              <a:rPr sz="1800" b="0">
                <a:solidFill>
                  <a:srgbClr val="1F2D3A"/>
                </a:solidFill>
              </a:rPr>
              <a:t> — </a:t>
            </a:r>
            <a:r>
              <a:rPr sz="1800" b="1">
                <a:solidFill>
                  <a:srgbClr val="1F2D3A"/>
                </a:solidFill>
              </a:rPr>
              <a:t>Tigress</a:t>
            </a:r>
            <a:r>
              <a:rPr sz="1800" b="0">
                <a:solidFill>
                  <a:srgbClr val="1F2D3A"/>
                </a:solidFill>
              </a:rPr>
              <a:t>: C için kaynaktan kaynağa + sanallaştırma + çeşitlendirme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2016–17</a:t>
            </a:r>
            <a:r>
              <a:rPr sz="1800" b="0">
                <a:solidFill>
                  <a:srgbClr val="1F2D3A"/>
                </a:solidFill>
              </a:rPr>
              <a:t> — Banescu vd. Tigress+KLEE ile </a:t>
            </a:r>
            <a:r>
              <a:rPr sz="1800" b="1">
                <a:solidFill>
                  <a:srgbClr val="1F2D3A"/>
                </a:solidFill>
              </a:rPr>
              <a:t>dayanıklılığı ölçer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241548"/>
            <a:ext cx="10911535" cy="57150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>
                <a:solidFill>
                  <a:srgbClr val="1F2D3A"/>
                </a:solidFill>
              </a:rPr>
              <a:t>Ana kural: </a:t>
            </a:r>
            <a:r>
              <a:rPr sz="1800" b="1">
                <a:solidFill>
                  <a:srgbClr val="1F2D3A"/>
                </a:solidFill>
              </a:rPr>
              <a:t>dayanıklılık ↔ maliyet</a:t>
            </a:r>
            <a:r>
              <a:rPr sz="1800" b="0">
                <a:solidFill>
                  <a:srgbClr val="1F2D3A"/>
                </a:solidFill>
              </a:rPr>
              <a:t>; koruma varlığın değeriyle orantılı seçilir.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Bu hafta nereye oturuyor?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9. hafta:</a:t>
            </a:r>
            <a:r>
              <a:rPr sz="2000" b="0">
                <a:solidFill>
                  <a:srgbClr val="1F2D3A"/>
                </a:solidFill>
              </a:rPr>
              <a:t> gizleme kurallarını </a:t>
            </a:r>
            <a:r>
              <a:rPr sz="2000" b="1">
                <a:solidFill>
                  <a:srgbClr val="1F2D3A"/>
                </a:solidFill>
              </a:rPr>
              <a:t>el ile</a:t>
            </a:r>
            <a:r>
              <a:rPr sz="2000" b="0">
                <a:solidFill>
                  <a:srgbClr val="1F2D3A"/>
                </a:solidFill>
              </a:rPr>
              <a:t> öğrendik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11. hafta:</a:t>
            </a:r>
            <a:r>
              <a:rPr sz="2000" b="0">
                <a:solidFill>
                  <a:srgbClr val="1F2D3A"/>
                </a:solidFill>
              </a:rPr>
              <a:t> anahtar için whitebox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Bu hafta (14):</a:t>
            </a:r>
            <a:r>
              <a:rPr sz="2000" b="0">
                <a:solidFill>
                  <a:srgbClr val="1F2D3A"/>
                </a:solidFill>
              </a:rPr>
              <a:t> aynı kuralları </a:t>
            </a:r>
            <a:r>
              <a:rPr sz="2000" b="1">
                <a:solidFill>
                  <a:srgbClr val="1F2D3A"/>
                </a:solidFill>
              </a:rPr>
              <a:t>araçla, otomatik</a:t>
            </a:r>
            <a:r>
              <a:rPr sz="2000" b="0">
                <a:solidFill>
                  <a:srgbClr val="1F2D3A"/>
                </a:solidFill>
              </a:rPr>
              <a:t> ve </a:t>
            </a:r>
            <a:r>
              <a:rPr sz="2000" b="1">
                <a:solidFill>
                  <a:srgbClr val="1F2D3A"/>
                </a:solidFill>
              </a:rPr>
              <a:t>çeşitlendirilmiş</a:t>
            </a:r>
            <a:r>
              <a:rPr sz="2000" b="0">
                <a:solidFill>
                  <a:srgbClr val="1F2D3A"/>
                </a:solidFill>
              </a:rPr>
              <a:t> uygulamak → Tigress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9850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Üçü bir bütün; bugün otomasyon adımı.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Öğrenme çıktısı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Bu hafta </a:t>
            </a:r>
            <a:r>
              <a:rPr sz="2000" b="1">
                <a:solidFill>
                  <a:srgbClr val="1F2D3A"/>
                </a:solidFill>
              </a:rPr>
              <a:t>ÖÇ.3</a:t>
            </a:r>
            <a:r>
              <a:rPr sz="2000" b="0">
                <a:solidFill>
                  <a:srgbClr val="1F2D3A"/>
                </a:solidFill>
              </a:rPr>
              <a:t> (ikili uygulama korumaları) üstünedir.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Sonunda yapabileceğiniz: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25192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Kaynaktan kaynağa gizlemeyi açıklamak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 </a:t>
            </a:r>
            <a:r>
              <a:rPr sz="2000" b="1">
                <a:solidFill>
                  <a:srgbClr val="1F2D3A"/>
                </a:solidFill>
              </a:rPr>
              <a:t>dönüşüm hattı</a:t>
            </a:r>
            <a:r>
              <a:rPr sz="2000" b="0">
                <a:solidFill>
                  <a:srgbClr val="1F2D3A"/>
                </a:solidFill>
              </a:rPr>
              <a:t> kurmayı tarif etmek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Gizlemeyi </a:t>
            </a:r>
            <a:r>
              <a:rPr sz="2000" b="1">
                <a:solidFill>
                  <a:srgbClr val="1F2D3A"/>
                </a:solidFill>
              </a:rPr>
              <a:t>çeşitlendirip ölçmek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Gizlemeyi </a:t>
            </a:r>
            <a:r>
              <a:rPr sz="2000" b="1">
                <a:solidFill>
                  <a:srgbClr val="1F2D3A"/>
                </a:solidFill>
              </a:rPr>
              <a:t>derleme hattına</a:t>
            </a:r>
            <a:r>
              <a:rPr sz="2000" b="0">
                <a:solidFill>
                  <a:srgbClr val="1F2D3A"/>
                </a:solidFill>
              </a:rPr>
              <a:t> koymak (S15)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Baştan bir hatırlatma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67359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haftanın ana kuralı bu hafta da geçerli: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902968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Gizleme kırılamazlık vermez, </a:t>
            </a:r>
            <a:r>
              <a:rPr sz="2000" b="1">
                <a:solidFill>
                  <a:srgbClr val="1F2D3A"/>
                </a:solidFill>
              </a:rPr>
              <a:t>maliyet</a:t>
            </a:r>
            <a:r>
              <a:rPr sz="2000" b="0">
                <a:solidFill>
                  <a:srgbClr val="1F2D3A"/>
                </a:solidFill>
              </a:rPr>
              <a:t> yükseltir.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61721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Tigress bir </a:t>
            </a:r>
            <a:r>
              <a:rPr sz="2000" b="1">
                <a:solidFill>
                  <a:srgbClr val="1F2D3A"/>
                </a:solidFill>
              </a:rPr>
              <a:t>sihir değil</a:t>
            </a:r>
            <a:r>
              <a:rPr sz="2000" b="0">
                <a:solidFill>
                  <a:srgbClr val="1F2D3A"/>
                </a:solidFill>
              </a:rPr>
              <a:t>; el ile yaptığımızı otomatikleştirir ve </a:t>
            </a:r>
            <a:r>
              <a:rPr sz="2000" b="1">
                <a:solidFill>
                  <a:srgbClr val="1F2D3A"/>
                </a:solidFill>
              </a:rPr>
              <a:t>çeşitlendirmeyi</a:t>
            </a:r>
            <a:r>
              <a:rPr sz="2000" b="0">
                <a:solidFill>
                  <a:srgbClr val="1F2D3A"/>
                </a:solidFill>
              </a:rPr>
              <a:t> kolaylaştırır.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0. Temel kavramlar (sıfırdan)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Neden bu bölüm?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Bugün "kaynaktan kaynağa", "dönüşüm", "tohum", "derleme hattı" gibi terimler geçecek.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057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Önce hepsini </a:t>
            </a:r>
            <a:r>
              <a:rPr sz="2000" b="1">
                <a:solidFill>
                  <a:srgbClr val="1F2D3A"/>
                </a:solidFill>
              </a:rPr>
              <a:t>tek tek</a:t>
            </a:r>
            <a:r>
              <a:rPr sz="2000" b="0">
                <a:solidFill>
                  <a:srgbClr val="1F2D3A"/>
                </a:solidFill>
              </a:rPr>
              <a:t> tanımlayalım.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Hatırlatma · kaynak, derleyici, ikili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Kaynak kod:</a:t>
            </a:r>
            <a:r>
              <a:rPr sz="2000" b="0">
                <a:solidFill>
                  <a:srgbClr val="1F2D3A"/>
                </a:solidFill>
              </a:rPr>
              <a:t> insanın yazdığı program metni (C dosyası).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Derleyici:</a:t>
            </a:r>
            <a:r>
              <a:rPr sz="2000" b="0">
                <a:solidFill>
                  <a:srgbClr val="1F2D3A"/>
                </a:solidFill>
              </a:rPr>
              <a:t> kaynağı makine koduna çeviren program (gcc/clang).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İkili dosya:</a:t>
            </a:r>
            <a:r>
              <a:rPr sz="2000" b="0">
                <a:solidFill>
                  <a:srgbClr val="1F2D3A"/>
                </a:solidFill>
              </a:rPr>
              <a:t> çalıştırılan sonuç.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Hatırlatma · gizleme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173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Kod gizleme (obfuscation):</a:t>
            </a:r>
            <a:r>
              <a:rPr sz="2000" b="0">
                <a:solidFill>
                  <a:srgbClr val="1F2D3A"/>
                </a:solidFill>
              </a:rPr>
              <a:t> davranışı değiştirmeden kodu </a:t>
            </a:r>
            <a:r>
              <a:rPr sz="2000" b="1">
                <a:solidFill>
                  <a:srgbClr val="1F2D3A"/>
                </a:solidFill>
              </a:rPr>
              <a:t>anlaşılması zor</a:t>
            </a:r>
            <a:r>
              <a:rPr sz="2000" b="0">
                <a:solidFill>
                  <a:srgbClr val="1F2D3A"/>
                </a:solidFill>
              </a:rPr>
              <a:t> hale getirmek.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Amaç: saldırgan için maliyeti artırmak (9. hafta).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Kaynaktan kaynağa (source-to-source)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Girdi: C kaynağı. Çıktı: </a:t>
            </a:r>
            <a:r>
              <a:rPr sz="2000" b="1">
                <a:solidFill>
                  <a:srgbClr val="1F2D3A"/>
                </a:solidFill>
              </a:rPr>
              <a:t>yine C kaynağı</a:t>
            </a:r>
            <a:r>
              <a:rPr sz="2000" b="0">
                <a:solidFill>
                  <a:srgbClr val="1F2D3A"/>
                </a:solidFill>
              </a:rPr>
              <a:t> — ama gizlenmiş.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Sonra normal derleyicinizle derlenir.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278888"/>
            <a:ext cx="10911535" cy="463295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temiz.c → [araç] → gizli.c → derleyici → ikili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Dönüşüm (transform) nedir?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Dönüşüm:</a:t>
            </a:r>
            <a:r>
              <a:rPr sz="2000" b="0">
                <a:solidFill>
                  <a:srgbClr val="1F2D3A"/>
                </a:solidFill>
              </a:rPr>
              <a:t> kaynağa uygulanan tek bir gizleme işlemi (ör. düzleştirme).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Araç birçok dönüşüm sunar; siz hangisini, nereye seçersiniz.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Dönüşüm hattı (pipeline)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Hat:</a:t>
            </a:r>
            <a:r>
              <a:rPr sz="2000" b="0">
                <a:solidFill>
                  <a:srgbClr val="1F2D3A"/>
                </a:solidFill>
              </a:rPr>
              <a:t> birden çok dönüşümün </a:t>
            </a:r>
            <a:r>
              <a:rPr sz="2000" b="1">
                <a:solidFill>
                  <a:srgbClr val="1F2D3A"/>
                </a:solidFill>
              </a:rPr>
              <a:t>sırayla</a:t>
            </a:r>
            <a:r>
              <a:rPr sz="2000" b="0">
                <a:solidFill>
                  <a:srgbClr val="1F2D3A"/>
                </a:solidFill>
              </a:rPr>
              <a:t> uygulanması.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dönüşüm bir öncekinin çıktısına uygulanır.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Sıra önemlidir.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Tohum (seed) nedir?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Tohum:</a:t>
            </a:r>
            <a:r>
              <a:rPr sz="2000" b="0">
                <a:solidFill>
                  <a:srgbClr val="1F2D3A"/>
                </a:solidFill>
              </a:rPr>
              <a:t> rastgeleliği yöneten bir başlangıç sayısı.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Aynı dönüşüm + farklı tohum = </a:t>
            </a:r>
            <a:r>
              <a:rPr sz="2000" b="1">
                <a:solidFill>
                  <a:srgbClr val="1F2D3A"/>
                </a:solidFill>
              </a:rPr>
              <a:t>farklı</a:t>
            </a:r>
            <a:r>
              <a:rPr sz="2000" b="0">
                <a:solidFill>
                  <a:srgbClr val="1F2D3A"/>
                </a:solidFill>
              </a:rPr>
              <a:t> gizlenmiş çıktı.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Çeşitlendirmenin anahtarı budur.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Çeşitlendirme (diversification)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173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Çeşitlendirme:</a:t>
            </a:r>
            <a:r>
              <a:rPr sz="2000" b="0">
                <a:solidFill>
                  <a:srgbClr val="1F2D3A"/>
                </a:solidFill>
              </a:rPr>
              <a:t> aynı kaynaktan </a:t>
            </a:r>
            <a:r>
              <a:rPr sz="2000" b="1">
                <a:solidFill>
                  <a:srgbClr val="1F2D3A"/>
                </a:solidFill>
              </a:rPr>
              <a:t>davranışça eş, yapıca farklı</a:t>
            </a:r>
            <a:r>
              <a:rPr sz="2000" b="0">
                <a:solidFill>
                  <a:srgbClr val="1F2D3A"/>
                </a:solidFill>
              </a:rPr>
              <a:t> ikili dosyalar üretmek.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 kopyaya yazılan saldırı diğerinde çalışmaz (9. hafta Kural 2).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CLI (komut satırı) nedir?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CLI (Command-Line Interface):</a:t>
            </a:r>
            <a:r>
              <a:rPr sz="2000" b="0">
                <a:solidFill>
                  <a:srgbClr val="1F2D3A"/>
                </a:solidFill>
              </a:rPr>
              <a:t> komutları yazarak çalıştırdığınız arayüz.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Tigress bir CLI aracıdır: </a:t>
            </a:r>
            <a:r>
              <a:rPr sz="2000" b="0">
                <a:solidFill>
                  <a:srgbClr val="A1123F"/>
                </a:solidFill>
                <a:latin typeface="Consolas"/>
              </a:rPr>
              <a:t>tigress --Transform=... dosya.c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Birim testi (unit test)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Birim testi:</a:t>
            </a:r>
            <a:r>
              <a:rPr sz="2000" b="0">
                <a:solidFill>
                  <a:srgbClr val="1F2D3A"/>
                </a:solidFill>
              </a:rPr>
              <a:t> bir fonksiyonun doğru çalıştığını otomatik denetleyen küçük test.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Gizlemeden </a:t>
            </a:r>
            <a:r>
              <a:rPr sz="2000" b="1">
                <a:solidFill>
                  <a:srgbClr val="1F2D3A"/>
                </a:solidFill>
              </a:rPr>
              <a:t>sonra</a:t>
            </a:r>
            <a:r>
              <a:rPr sz="2000" b="0">
                <a:solidFill>
                  <a:srgbClr val="1F2D3A"/>
                </a:solidFill>
              </a:rPr>
              <a:t> aynı testler geçmeli (davranış korunmalı).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CFG hatırlatma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CFG (Control Flow Graph):</a:t>
            </a:r>
            <a:r>
              <a:rPr sz="2000" b="0">
                <a:solidFill>
                  <a:srgbClr val="1F2D3A"/>
                </a:solidFill>
              </a:rPr>
              <a:t> temel blokları düğüm, geçişleri kenar yapan şema.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Gizlemenin </a:t>
            </a:r>
            <a:r>
              <a:rPr sz="2000" b="1">
                <a:solidFill>
                  <a:srgbClr val="1F2D3A"/>
                </a:solidFill>
              </a:rPr>
              <a:t>gücünü</a:t>
            </a:r>
            <a:r>
              <a:rPr sz="2000" b="0">
                <a:solidFill>
                  <a:srgbClr val="1F2D3A"/>
                </a:solidFill>
              </a:rPr>
              <a:t> düğüm/kenar sayısıyla ölçeriz (9. hafta).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Sembolik yürütme (kısaca)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173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Sembolik yürütme:</a:t>
            </a:r>
            <a:r>
              <a:rPr sz="2000" b="0">
                <a:solidFill>
                  <a:srgbClr val="1F2D3A"/>
                </a:solidFill>
              </a:rPr>
              <a:t> program yollarını matematiksel kısıt olarak çözen otomatik analiz (ör. KLEE).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Gizlemeye karşı bir </a:t>
            </a:r>
            <a:r>
              <a:rPr sz="2000" b="1">
                <a:solidFill>
                  <a:srgbClr val="1F2D3A"/>
                </a:solidFill>
              </a:rPr>
              <a:t>deobfuscation</a:t>
            </a:r>
            <a:r>
              <a:rPr sz="2000" b="0">
                <a:solidFill>
                  <a:srgbClr val="1F2D3A"/>
                </a:solidFill>
              </a:rPr>
              <a:t> yöntemidir; dayanıklılığı bununla sınarız.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Şimdi hazırız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Terimler: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kaynaktan kaynağa · dönüşüm · hat · tohum · çeşitlendirme · CLI · birim testi · CFG · sembolik yürütme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75539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Şimdi: Tigress nedir ve nasıl çalışır?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21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1. Kaynaktan kaynağa gizleme ve Tigress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El ile gizlemenin üç sorunu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67359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haftada kuralları </a:t>
            </a:r>
            <a:r>
              <a:rPr sz="2000" b="1">
                <a:solidFill>
                  <a:srgbClr val="1F2D3A"/>
                </a:solidFill>
              </a:rPr>
              <a:t>el ile</a:t>
            </a:r>
            <a:r>
              <a:rPr sz="2000" b="0">
                <a:solidFill>
                  <a:srgbClr val="1F2D3A"/>
                </a:solidFill>
              </a:rPr>
              <a:t> uyguladık. Öğreticiydi ama: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902968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1">
                <a:solidFill>
                  <a:srgbClr val="1F2D3A"/>
                </a:solidFill>
              </a:rPr>
              <a:t>Hataya açık</a:t>
            </a:r>
            <a:r>
              <a:rPr sz="2000" b="0">
                <a:solidFill>
                  <a:srgbClr val="1F2D3A"/>
                </a:solidFill>
              </a:rPr>
              <a:t> — davranışı bozabilir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1">
                <a:solidFill>
                  <a:srgbClr val="1F2D3A"/>
                </a:solidFill>
              </a:rPr>
              <a:t>Bakımı zor</a:t>
            </a:r>
            <a:r>
              <a:rPr sz="2000" b="0">
                <a:solidFill>
                  <a:srgbClr val="1F2D3A"/>
                </a:solidFill>
              </a:rPr>
              <a:t> — kaynak okunamaz olur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1">
                <a:solidFill>
                  <a:srgbClr val="1F2D3A"/>
                </a:solidFill>
              </a:rPr>
              <a:t>Çeşitlendirilemez</a:t>
            </a:r>
            <a:r>
              <a:rPr sz="2000" b="0">
                <a:solidFill>
                  <a:srgbClr val="1F2D3A"/>
                </a:solidFill>
              </a:rPr>
              <a:t> — her kopyayı elle farklılaştıramazsınız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Çözüm: araca yaptır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Gizlemeyi bir </a:t>
            </a:r>
            <a:r>
              <a:rPr sz="2000" b="1">
                <a:solidFill>
                  <a:srgbClr val="1F2D3A"/>
                </a:solidFill>
              </a:rPr>
              <a:t>araç</a:t>
            </a:r>
            <a:r>
              <a:rPr sz="2000" b="0">
                <a:solidFill>
                  <a:srgbClr val="1F2D3A"/>
                </a:solidFill>
              </a:rPr>
              <a:t> yapsın.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Siz </a:t>
            </a:r>
            <a:r>
              <a:rPr sz="2000" b="1">
                <a:solidFill>
                  <a:srgbClr val="1F2D3A"/>
                </a:solidFill>
              </a:rPr>
              <a:t>okunur</a:t>
            </a:r>
            <a:r>
              <a:rPr sz="2000" b="0">
                <a:solidFill>
                  <a:srgbClr val="1F2D3A"/>
                </a:solidFill>
              </a:rPr>
              <a:t> kaynağı koruyun.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Gizleme, derleme hattında </a:t>
            </a:r>
            <a:r>
              <a:rPr sz="2000" b="1">
                <a:solidFill>
                  <a:srgbClr val="1F2D3A"/>
                </a:solidFill>
              </a:rPr>
              <a:t>otomatik</a:t>
            </a:r>
            <a:r>
              <a:rPr sz="2000" b="0">
                <a:solidFill>
                  <a:srgbClr val="1F2D3A"/>
                </a:solidFill>
              </a:rPr>
              <a:t> bir adım olsun.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Kaynaktan kaynağa fikri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408176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Sizin kaynağınız (okunur)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│  bakımı siz yaparsınız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▼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[ araç: dönüşümleri uygula ]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▼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Gizli kaynak (C)  →  derleyici  →  ikili   ← bu dağıtılır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843784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Bakım maliyeti </a:t>
            </a:r>
            <a:r>
              <a:rPr sz="2000" b="1">
                <a:solidFill>
                  <a:srgbClr val="1F2D3A"/>
                </a:solidFill>
              </a:rPr>
              <a:t>okunur kaynakta</a:t>
            </a:r>
            <a:r>
              <a:rPr sz="2000" b="0">
                <a:solidFill>
                  <a:srgbClr val="1F2D3A"/>
                </a:solidFill>
              </a:rPr>
              <a:t> kalır; dağıtılan kaynak gizli.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Kaynaktan kaynağa hat (S15)</a:t>
            </a:r>
          </a:p>
        </p:txBody>
      </p:sp>
      <p:pic>
        <p:nvPicPr>
          <p:cNvPr id="7" name="Picture 6" descr="h14-01-kaynaktan-kaynaga-ha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33529" y="1325880"/>
            <a:ext cx="8524636" cy="3379457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Tigress nedir?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173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Arizona Üniversitesi'nden Collberg ve ekibinin geliştirdiği </a:t>
            </a:r>
            <a:r>
              <a:rPr sz="2000" b="1">
                <a:solidFill>
                  <a:srgbClr val="1F2D3A"/>
                </a:solidFill>
              </a:rPr>
              <a:t>kaynaktan kaynağa C gizleyici/çeşitlendirici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9. haftadaki el ile kuralların </a:t>
            </a:r>
            <a:r>
              <a:rPr sz="2000" b="1">
                <a:solidFill>
                  <a:srgbClr val="1F2D3A"/>
                </a:solidFill>
              </a:rPr>
              <a:t>otomatik</a:t>
            </a:r>
            <a:r>
              <a:rPr sz="2000" b="0">
                <a:solidFill>
                  <a:srgbClr val="1F2D3A"/>
                </a:solidFill>
              </a:rPr>
              <a:t> karşılığı.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Tigress · özellikler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Çok platform: Linux, macOS, Windows, Android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Mimariler: Intel, ARM, WebAssembly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Derleyiciler: GCC, Clang, MSVC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Güncel sürüm: </a:t>
            </a:r>
            <a:r>
              <a:rPr sz="2000" b="1">
                <a:solidFill>
                  <a:srgbClr val="1F2D3A"/>
                </a:solidFill>
              </a:rPr>
              <a:t>v4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⚠️ Lisans (önemli)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Kâr amacı gütmeyen</a:t>
            </a:r>
            <a:r>
              <a:rPr sz="2000" b="0">
                <a:solidFill>
                  <a:srgbClr val="1F2D3A"/>
                </a:solidFill>
              </a:rPr>
              <a:t> (akademik/araştırma) kullanım: </a:t>
            </a:r>
            <a:r>
              <a:rPr sz="2000" b="1">
                <a:solidFill>
                  <a:srgbClr val="1F2D3A"/>
                </a:solidFill>
              </a:rPr>
              <a:t>ücretsiz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Ticari</a:t>
            </a:r>
            <a:r>
              <a:rPr sz="2000" b="0">
                <a:solidFill>
                  <a:srgbClr val="1F2D3A"/>
                </a:solidFill>
              </a:rPr>
              <a:t> kullanım: Arizona Üniversitesi'nden </a:t>
            </a:r>
            <a:r>
              <a:rPr sz="2000" b="1">
                <a:solidFill>
                  <a:srgbClr val="1F2D3A"/>
                </a:solidFill>
              </a:rPr>
              <a:t>lisans</a:t>
            </a:r>
            <a:r>
              <a:rPr sz="2000" b="0">
                <a:solidFill>
                  <a:srgbClr val="1F2D3A"/>
                </a:solidFill>
              </a:rPr>
              <a:t> gerekir.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Kaynak kodu açık değil; araştırmacılar şifreli kaynağa erişim isteyebilir.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⚠️ Derste kullanım kuralı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Derste </a:t>
            </a:r>
            <a:r>
              <a:rPr sz="2000" b="1">
                <a:solidFill>
                  <a:srgbClr val="1F2D3A"/>
                </a:solidFill>
              </a:rPr>
              <a:t>Tigress ikilisi ya da eski sürüm dağıtılmaz.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Öğrenciler güncel sürümü </a:t>
            </a:r>
            <a:r>
              <a:rPr sz="2000" b="1">
                <a:solidFill>
                  <a:srgbClr val="1F2D3A"/>
                </a:solidFill>
              </a:rPr>
              <a:t>resmî siteden</a:t>
            </a:r>
            <a:r>
              <a:rPr sz="2000" b="0">
                <a:solidFill>
                  <a:srgbClr val="1F2D3A"/>
                </a:solidFill>
              </a:rPr>
              <a:t> (</a:t>
            </a:r>
            <a:r>
              <a:rPr sz="2000" b="0">
                <a:solidFill>
                  <a:srgbClr val="A1123F"/>
                </a:solidFill>
                <a:latin typeface="Consolas"/>
              </a:rPr>
              <a:t>tigress.wtf</a:t>
            </a:r>
            <a:r>
              <a:rPr sz="2000" b="0">
                <a:solidFill>
                  <a:srgbClr val="1F2D3A"/>
                </a:solidFill>
              </a:rPr>
              <a:t>) kendileri indirir.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Lisans koşulunu </a:t>
            </a:r>
            <a:r>
              <a:rPr sz="2000" b="1">
                <a:solidFill>
                  <a:srgbClr val="1F2D3A"/>
                </a:solidFill>
              </a:rPr>
              <a:t>orada</a:t>
            </a:r>
            <a:r>
              <a:rPr sz="2000" b="0">
                <a:solidFill>
                  <a:srgbClr val="1F2D3A"/>
                </a:solidFill>
              </a:rPr>
              <a:t> doğrular.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Yalnız </a:t>
            </a:r>
            <a:r>
              <a:rPr sz="2000" b="1">
                <a:solidFill>
                  <a:srgbClr val="1F2D3A"/>
                </a:solidFill>
              </a:rPr>
              <a:t>kendi</a:t>
            </a:r>
            <a:r>
              <a:rPr sz="2000" b="0">
                <a:solidFill>
                  <a:srgbClr val="1F2D3A"/>
                </a:solidFill>
              </a:rPr>
              <a:t> kodunuza, kendi makinenizde uygularsınız.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Neden araç, el ile değil? (1)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002239" cy="15270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19037"/>
                <a:gridCol w="6183202"/>
              </a:tblGrid>
              <a:tr h="38176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El ile (9. hafta)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Araçla (Tigress)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Öğreticidir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Ölçeklenir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Hataya açık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Davranışı korur (test edilmiş)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Kaynak okunamaz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Okunur kaynak sizde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Neden araç, el ile değil? (2)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547816" cy="11795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92049"/>
                <a:gridCol w="5455767"/>
              </a:tblGrid>
              <a:tr h="39319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El ile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Araçla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Çeşitlendirme elle olmaz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Tohumla otomatik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Tek tip, tanınabilir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Dönüşüm+tohum ile değişken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Ama araç da sihir değil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Tigress de kırılamazlık </a:t>
            </a:r>
            <a:r>
              <a:rPr sz="2000" b="1">
                <a:solidFill>
                  <a:srgbClr val="1F2D3A"/>
                </a:solidFill>
              </a:rPr>
              <a:t>vermez</a:t>
            </a:r>
            <a:r>
              <a:rPr sz="2000" b="0">
                <a:solidFill>
                  <a:srgbClr val="1F2D3A"/>
                </a:solidFill>
              </a:rPr>
              <a:t>, maliyet yükseltir.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İyi bilinen bir aracın kalıpları zamanla tanınabilir.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Bu yüzden </a:t>
            </a:r>
            <a:r>
              <a:rPr sz="2000" b="1">
                <a:solidFill>
                  <a:srgbClr val="1F2D3A"/>
                </a:solidFill>
              </a:rPr>
              <a:t>çeşitlendirme</a:t>
            </a:r>
            <a:r>
              <a:rPr sz="2000" b="0">
                <a:solidFill>
                  <a:srgbClr val="1F2D3A"/>
                </a:solidFill>
              </a:rPr>
              <a:t> ve </a:t>
            </a:r>
            <a:r>
              <a:rPr sz="2000" b="1">
                <a:solidFill>
                  <a:srgbClr val="1F2D3A"/>
                </a:solidFill>
              </a:rPr>
              <a:t>katmanlı savunma</a:t>
            </a:r>
            <a:r>
              <a:rPr sz="2000" b="0">
                <a:solidFill>
                  <a:srgbClr val="1F2D3A"/>
                </a:solidFill>
              </a:rPr>
              <a:t> (RASP, sunucu) yine şart.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Temel akış · tek dönüşüm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030224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# girdi: temiz.c → çıktı: gizli.c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tigress --Transform=Flatten --Functions=erisim_ver \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--out=gizli.c temiz.c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cc -o program gizli.c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Temel akış · üç fikir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1">
                <a:solidFill>
                  <a:srgbClr val="1F2D3A"/>
                </a:solidFill>
              </a:rPr>
              <a:t>`--Transform=...`</a:t>
            </a:r>
            <a:r>
              <a:rPr sz="2000" b="0">
                <a:solidFill>
                  <a:srgbClr val="1F2D3A"/>
                </a:solidFill>
              </a:rPr>
              <a:t> hangi dönüşüm (Flatten = düzleştirme, 9. hafta K-04)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1">
                <a:solidFill>
                  <a:srgbClr val="1F2D3A"/>
                </a:solidFill>
              </a:rPr>
              <a:t>`--Functions=...`</a:t>
            </a:r>
            <a:r>
              <a:rPr sz="2000" b="0">
                <a:solidFill>
                  <a:srgbClr val="1F2D3A"/>
                </a:solidFill>
              </a:rPr>
              <a:t> hangi fonksiyonlara (yalnız hassas olanlara — maliyet kuralı)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Çıktı yine C; </a:t>
            </a:r>
            <a:r>
              <a:rPr sz="2000" b="1">
                <a:solidFill>
                  <a:srgbClr val="1F2D3A"/>
                </a:solidFill>
              </a:rPr>
              <a:t>kendi derleyicinizle</a:t>
            </a:r>
            <a:r>
              <a:rPr sz="2000" b="0">
                <a:solidFill>
                  <a:srgbClr val="1F2D3A"/>
                </a:solidFill>
              </a:rPr>
              <a:t> derlersiniz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Neden </a:t>
            </a:r>
            <a:r>
              <a:rPr sz="3000" b="1">
                <a:solidFill>
                  <a:srgbClr val="006D77"/>
                </a:solidFill>
                <a:latin typeface="Consolas"/>
              </a:rPr>
              <a:t>--Functions</a:t>
            </a:r>
            <a:r>
              <a:rPr sz="3000" b="1">
                <a:solidFill>
                  <a:srgbClr val="006D77"/>
                </a:solidFill>
              </a:rPr>
              <a:t> ile hedef seçiyoruz?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Gizleme her fonksiyona uygulanırsa program </a:t>
            </a:r>
            <a:r>
              <a:rPr sz="2000" b="1">
                <a:solidFill>
                  <a:srgbClr val="1F2D3A"/>
                </a:solidFill>
              </a:rPr>
              <a:t>çok yavaşlar/şişer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Yalnız hassas fonksiyonları (lisans, anahtar türetme, bütünlük) hedefleriz.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Bu, 9. haftadaki "maliyet kuralının" araçtaki hâli.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1 — kısa sınama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Kaynaktan kaynağa gizleme nedir?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El ile gizlemeye göre üç avantaj?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Tigress derste neden dağıtılmaz?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1 — cevaplar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2098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Kaynak koda dönüşüm uygulanıp </a:t>
            </a:r>
            <a:r>
              <a:rPr sz="2000" b="1">
                <a:solidFill>
                  <a:srgbClr val="1F2D3A"/>
                </a:solidFill>
              </a:rPr>
              <a:t>yeni kaynak (yine C)</a:t>
            </a:r>
            <a:r>
              <a:rPr sz="2000" b="0">
                <a:solidFill>
                  <a:srgbClr val="1F2D3A"/>
                </a:solidFill>
              </a:rPr>
              <a:t> üretilir, sonra normal derlenir. Tigress C alır, gizlenmiş C verir.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1">
                <a:solidFill>
                  <a:srgbClr val="1F2D3A"/>
                </a:solidFill>
              </a:rPr>
              <a:t>Tekrarlanabilir/otomatik</a:t>
            </a:r>
            <a:r>
              <a:rPr sz="2000" b="0">
                <a:solidFill>
                  <a:srgbClr val="1F2D3A"/>
                </a:solidFill>
              </a:rPr>
              <a:t> (her build), </a:t>
            </a:r>
            <a:r>
              <a:rPr sz="2000" b="1">
                <a:solidFill>
                  <a:srgbClr val="1F2D3A"/>
                </a:solidFill>
              </a:rPr>
              <a:t>tutarlı ve ölçekli</a:t>
            </a:r>
            <a:r>
              <a:rPr sz="2000" b="0">
                <a:solidFill>
                  <a:srgbClr val="1F2D3A"/>
                </a:solidFill>
              </a:rPr>
              <a:t> (çok fonksiyon), </a:t>
            </a:r>
            <a:r>
              <a:rPr sz="2000" b="1">
                <a:solidFill>
                  <a:srgbClr val="1F2D3A"/>
                </a:solidFill>
              </a:rPr>
              <a:t>orijinal kaynak temiz kalır</a:t>
            </a:r>
            <a:r>
              <a:rPr sz="2000" b="0">
                <a:solidFill>
                  <a:srgbClr val="1F2D3A"/>
                </a:solidFill>
              </a:rPr>
              <a:t> + tohumla çeşitlendirme.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1">
                <a:solidFill>
                  <a:srgbClr val="1F2D3A"/>
                </a:solidFill>
              </a:rPr>
              <a:t>Lisans/kullanım koşulları</a:t>
            </a:r>
            <a:r>
              <a:rPr sz="2000" b="0">
                <a:solidFill>
                  <a:srgbClr val="1F2D3A"/>
                </a:solidFill>
              </a:rPr>
              <a:t>; herkes kendi indirir. Demolar Tigress yoksa </a:t>
            </a:r>
            <a:r>
              <a:rPr sz="2000" b="1">
                <a:solidFill>
                  <a:srgbClr val="1F2D3A"/>
                </a:solidFill>
              </a:rPr>
              <a:t>temiz türev/fallback</a:t>
            </a:r>
            <a:r>
              <a:rPr sz="2000" b="0">
                <a:solidFill>
                  <a:srgbClr val="1F2D3A"/>
                </a:solidFill>
              </a:rPr>
              <a:t> ile çalışır.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38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2. Dönüşüm aileleri ve hat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Dönüşümler = 9. hafta kuralları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Tigress dönüşümleri, 9. haftadaki gizleme ailelerine karşılık gelir.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Grup grup görelim; her birini bir K-kuralına bağlayacağız.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Kontrol akışı dönüşümleri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Flatten:</a:t>
            </a:r>
            <a:r>
              <a:rPr sz="2000" b="0">
                <a:solidFill>
                  <a:srgbClr val="1F2D3A"/>
                </a:solidFill>
              </a:rPr>
              <a:t> kontrol akışını düzleştirir → </a:t>
            </a:r>
            <a:r>
              <a:rPr sz="2000" b="1">
                <a:solidFill>
                  <a:srgbClr val="1F2D3A"/>
                </a:solidFill>
              </a:rPr>
              <a:t>K-04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InitOpaque / AddOpaque / UpdateOpaque:</a:t>
            </a:r>
            <a:r>
              <a:rPr sz="2000" b="0">
                <a:solidFill>
                  <a:srgbClr val="1F2D3A"/>
                </a:solidFill>
              </a:rPr>
              <a:t> opak yüklem + sahte dal → </a:t>
            </a:r>
            <a:r>
              <a:rPr sz="2000" b="1">
                <a:solidFill>
                  <a:srgbClr val="1F2D3A"/>
                </a:solidFill>
              </a:rPr>
              <a:t>K-01, K-03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Veri dönüşümleri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EncodeArithmetic:</a:t>
            </a:r>
            <a:r>
              <a:rPr sz="2000" b="0">
                <a:solidFill>
                  <a:srgbClr val="1F2D3A"/>
                </a:solidFill>
              </a:rPr>
              <a:t> aritmetiği denk karmaşık ifadeyle (MBA) → </a:t>
            </a:r>
            <a:r>
              <a:rPr sz="2000" b="1">
                <a:solidFill>
                  <a:srgbClr val="1F2D3A"/>
                </a:solidFill>
              </a:rPr>
              <a:t>K-02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EncodeLiterals:</a:t>
            </a:r>
            <a:r>
              <a:rPr sz="2000" b="0">
                <a:solidFill>
                  <a:srgbClr val="1F2D3A"/>
                </a:solidFill>
              </a:rPr>
              <a:t> sabit ve dizgeleri kodlar → </a:t>
            </a:r>
            <a:r>
              <a:rPr sz="2000" b="1">
                <a:solidFill>
                  <a:srgbClr val="1F2D3A"/>
                </a:solidFill>
              </a:rPr>
              <a:t>K-07, K-08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EncodeData:</a:t>
            </a:r>
            <a:r>
              <a:rPr sz="2000" b="0">
                <a:solidFill>
                  <a:srgbClr val="1F2D3A"/>
                </a:solidFill>
              </a:rPr>
              <a:t> değişken gösterimini kodlar → </a:t>
            </a:r>
            <a:r>
              <a:rPr sz="2000" b="1">
                <a:solidFill>
                  <a:srgbClr val="1F2D3A"/>
                </a:solidFill>
              </a:rPr>
              <a:t>K-09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Fonksiyon dönüşümleri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Split / Merge:</a:t>
            </a:r>
            <a:r>
              <a:rPr sz="2000" b="0">
                <a:solidFill>
                  <a:srgbClr val="1F2D3A"/>
                </a:solidFill>
              </a:rPr>
              <a:t> fonksiyonları böler/birleştirir → </a:t>
            </a:r>
            <a:r>
              <a:rPr sz="2000" b="1">
                <a:solidFill>
                  <a:srgbClr val="1F2D3A"/>
                </a:solidFill>
              </a:rPr>
              <a:t>K-06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Virtualize:</a:t>
            </a:r>
            <a:r>
              <a:rPr sz="2000" b="0">
                <a:solidFill>
                  <a:srgbClr val="1F2D3A"/>
                </a:solidFill>
              </a:rPr>
              <a:t> fonksiyonu özel VM bayt koduna → </a:t>
            </a:r>
            <a:r>
              <a:rPr sz="2000" b="1">
                <a:solidFill>
                  <a:srgbClr val="1F2D3A"/>
                </a:solidFill>
              </a:rPr>
              <a:t>K-10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Jit:</a:t>
            </a:r>
            <a:r>
              <a:rPr sz="2000" b="0">
                <a:solidFill>
                  <a:srgbClr val="1F2D3A"/>
                </a:solidFill>
              </a:rPr>
              <a:t> kodu çalışma anında üretir → </a:t>
            </a:r>
            <a:r>
              <a:rPr sz="2000" b="1">
                <a:solidFill>
                  <a:srgbClr val="1F2D3A"/>
                </a:solidFill>
              </a:rPr>
              <a:t>K-12 (dinamik)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Analiz-önleme dönüşümleri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975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AntiBranchAnalysis / AntiAliasAnalysis / AntiTaintAnalysis:</a:t>
            </a:r>
            <a:r>
              <a:rPr sz="2000" b="0">
                <a:solidFill>
                  <a:srgbClr val="1F2D3A"/>
                </a:solidFill>
              </a:rPr>
              <a:t> statik analiz tekniklerini zorlaştırır → önleyici aile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Çeşitlendirme dönüşümleri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RandomFuns:</a:t>
            </a:r>
            <a:r>
              <a:rPr sz="2000" b="0">
                <a:solidFill>
                  <a:srgbClr val="1F2D3A"/>
                </a:solidFill>
              </a:rPr>
              <a:t> rastgele sahte fonksiyonlar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RndArgs:</a:t>
            </a:r>
            <a:r>
              <a:rPr sz="2000" b="0">
                <a:solidFill>
                  <a:srgbClr val="1F2D3A"/>
                </a:solidFill>
              </a:rPr>
              <a:t> sahte parametreler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Tohumla birleşince her yapı farklı → çeşitlendirme, </a:t>
            </a:r>
            <a:r>
              <a:rPr sz="2000" b="1">
                <a:solidFill>
                  <a:srgbClr val="1F2D3A"/>
                </a:solidFill>
              </a:rPr>
              <a:t>K-06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Dönüşüm ↔ kural · tablo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365957" cy="240304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00896"/>
                <a:gridCol w="3819037"/>
                <a:gridCol w="2546024"/>
              </a:tblGrid>
              <a:tr h="343291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Tigress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Ne yapar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9. hafta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Flatten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Düzleştirme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K-04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AddOpaque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Opak yüklem/sahte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K-01, K-03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EncodeArithmetic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Aritmetik kodlama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K-02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EncodeLiterals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Sabit/dize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K-07, K-08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Virtualize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Sanallaştırma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K-10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RandomFuns/RndArgs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Çeşitlendirme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K-06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Aileler ve maliyet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Ucuz:</a:t>
            </a:r>
            <a:r>
              <a:rPr sz="2000" b="0">
                <a:solidFill>
                  <a:srgbClr val="1F2D3A"/>
                </a:solidFill>
              </a:rPr>
              <a:t> EncodeArithmetic, EncodeLiterals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Orta:</a:t>
            </a:r>
            <a:r>
              <a:rPr sz="2000" b="0">
                <a:solidFill>
                  <a:srgbClr val="1F2D3A"/>
                </a:solidFill>
              </a:rPr>
              <a:t> Flatten, opak yüklemler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Pahalı:</a:t>
            </a:r>
            <a:r>
              <a:rPr sz="2000" b="0">
                <a:solidFill>
                  <a:srgbClr val="1F2D3A"/>
                </a:solidFill>
              </a:rPr>
              <a:t> Virtualize (onlarca kat yavaşlama)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54808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Bu yüzden Virtualize yalnız </a:t>
            </a:r>
            <a:r>
              <a:rPr sz="2000" b="1">
                <a:solidFill>
                  <a:srgbClr val="1F2D3A"/>
                </a:solidFill>
              </a:rPr>
              <a:t>küçük, kritik</a:t>
            </a:r>
            <a:r>
              <a:rPr sz="2000" b="0">
                <a:solidFill>
                  <a:srgbClr val="1F2D3A"/>
                </a:solidFill>
              </a:rPr>
              <a:t> fonksiyonlara; </a:t>
            </a:r>
            <a:r>
              <a:rPr sz="2000" b="0">
                <a:solidFill>
                  <a:srgbClr val="A1123F"/>
                </a:solidFill>
                <a:latin typeface="Consolas"/>
              </a:rPr>
              <a:t>--Functions</a:t>
            </a:r>
            <a:r>
              <a:rPr sz="2000" b="0">
                <a:solidFill>
                  <a:srgbClr val="1F2D3A"/>
                </a:solidFill>
              </a:rPr>
              <a:t> ile hedeflenir.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47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Dönüşüm hattı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"Tek teknik değil, birlikte"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67359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haftanın en önemli kuralı.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90296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Tigress'te bu, dönüşümleri </a:t>
            </a:r>
            <a:r>
              <a:rPr sz="2000" b="1">
                <a:solidFill>
                  <a:srgbClr val="1F2D3A"/>
                </a:solidFill>
              </a:rPr>
              <a:t>sırayla</a:t>
            </a:r>
            <a:r>
              <a:rPr sz="2000" b="0">
                <a:solidFill>
                  <a:srgbClr val="1F2D3A"/>
                </a:solidFill>
              </a:rPr>
              <a:t> uygulamak demektir.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Kavramsal hat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408176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tigress \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--Transform=EncodeLiterals   --Functions=erisim_ver \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--Transform=EncodeArithmetic --Functions=erisim_ver \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--Transform=Flatten          --Functions=erisim_ver \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--Transform=AddOpaque        --Functions=erisim_ver \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--out=gizli.c temiz.c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Hat ne yapıyor?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Tek denetimi (</a:t>
            </a:r>
            <a:r>
              <a:rPr sz="2000" b="0">
                <a:solidFill>
                  <a:srgbClr val="A1123F"/>
                </a:solidFill>
                <a:latin typeface="Consolas"/>
              </a:rPr>
              <a:t>erisim_ver</a:t>
            </a:r>
            <a:r>
              <a:rPr sz="2000" b="0">
                <a:solidFill>
                  <a:srgbClr val="1F2D3A"/>
                </a:solidFill>
              </a:rPr>
              <a:t>):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Sabit/dize kodla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Aritmetiğini kodla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Düzleştir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4. </a:t>
            </a:r>
            <a:r>
              <a:rPr sz="2000" b="0">
                <a:solidFill>
                  <a:srgbClr val="1F2D3A"/>
                </a:solidFill>
              </a:rPr>
              <a:t>Opak yüklemlerle güçlendir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580384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= 9. haftada K-04'ün "güçlendirilmiş düzleştirme" dediği şeyin otomatik hâli.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⚠️ Sıra ve test kuralı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Dönüşüm sırası sonucu </a:t>
            </a:r>
            <a:r>
              <a:rPr sz="2000" b="1">
                <a:solidFill>
                  <a:srgbClr val="1F2D3A"/>
                </a:solidFill>
              </a:rPr>
              <a:t>etkiler</a:t>
            </a:r>
            <a:r>
              <a:rPr sz="2000" b="0">
                <a:solidFill>
                  <a:srgbClr val="1F2D3A"/>
                </a:solidFill>
              </a:rPr>
              <a:t>; kimi sıra başarımı gereksiz bozar.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Kural:</a:t>
            </a:r>
            <a:r>
              <a:rPr sz="2000" b="0">
                <a:solidFill>
                  <a:srgbClr val="1F2D3A"/>
                </a:solidFill>
              </a:rPr>
              <a:t> her hattan sonra </a:t>
            </a:r>
            <a:r>
              <a:rPr sz="2000" b="1">
                <a:solidFill>
                  <a:srgbClr val="1F2D3A"/>
                </a:solidFill>
              </a:rPr>
              <a:t>birim testlerini</a:t>
            </a:r>
            <a:r>
              <a:rPr sz="2000" b="0">
                <a:solidFill>
                  <a:srgbClr val="1F2D3A"/>
                </a:solidFill>
              </a:rPr>
              <a:t> çalıştır (davranış korunmuş mu?) ve boyut/hız ölç.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Gizleme davranışı </a:t>
            </a:r>
            <a:r>
              <a:rPr sz="2000" b="1">
                <a:solidFill>
                  <a:srgbClr val="1F2D3A"/>
                </a:solidFill>
              </a:rPr>
              <a:t>asla</a:t>
            </a:r>
            <a:r>
              <a:rPr sz="2000" b="0">
                <a:solidFill>
                  <a:srgbClr val="1F2D3A"/>
                </a:solidFill>
              </a:rPr>
              <a:t> değiştirmemeli; değiştiriyorsa hat yanlış.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9850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Bu, 12. haftadaki "S16 sonuçları"na bağlanır.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52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Adım adım örnek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Başlangıç · temiz.c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030224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int erisim_ver(const char *jeton)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if (jeton_gecerli(jeton)) return IZIN;  /* tek dal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return RED;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46583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Korumasız: tek dal, </a:t>
            </a:r>
            <a:r>
              <a:rPr sz="2000" b="0">
                <a:solidFill>
                  <a:srgbClr val="A1123F"/>
                </a:solidFill>
                <a:latin typeface="Consolas"/>
              </a:rPr>
              <a:t>strings</a:t>
            </a:r>
            <a:r>
              <a:rPr sz="2000" b="0">
                <a:solidFill>
                  <a:srgbClr val="1F2D3A"/>
                </a:solidFill>
              </a:rPr>
              <a:t>, tek bayt yamasıyla atlanır.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0 · saldırgan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strings</a:t>
            </a:r>
            <a:r>
              <a:rPr sz="2000" b="0">
                <a:solidFill>
                  <a:srgbClr val="1F2D3A"/>
                </a:solidFill>
              </a:rPr>
              <a:t> → </a:t>
            </a:r>
            <a:r>
              <a:rPr sz="2000" b="0">
                <a:solidFill>
                  <a:srgbClr val="A1123F"/>
                </a:solidFill>
                <a:latin typeface="Consolas"/>
              </a:rPr>
              <a:t>IZIN</a:t>
            </a:r>
            <a:r>
              <a:rPr sz="2000" b="0">
                <a:solidFill>
                  <a:srgbClr val="1F2D3A"/>
                </a:solidFill>
              </a:rPr>
              <a:t>/</a:t>
            </a:r>
            <a:r>
              <a:rPr sz="2000" b="0">
                <a:solidFill>
                  <a:srgbClr val="A1123F"/>
                </a:solidFill>
                <a:latin typeface="Consolas"/>
              </a:rPr>
              <a:t>RED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Tersine derle → tek </a:t>
            </a:r>
            <a:r>
              <a:rPr sz="2000" b="0">
                <a:solidFill>
                  <a:srgbClr val="A1123F"/>
                </a:solidFill>
                <a:latin typeface="Consolas"/>
              </a:rPr>
              <a:t>if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Başarısızlık dalını başarıya çevir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548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Süre: dakikalar.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Katman katman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3" cy="240304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3665"/>
                <a:gridCol w="3684414"/>
                <a:gridCol w="4251247"/>
                <a:gridCol w="1842207"/>
              </a:tblGrid>
              <a:tr h="343291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Adım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Dönüşüm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Ne değişir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Maliyet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Tek bayt yamasıyla atlanır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EncodeLiterals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IZIN/RED düz görünmez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Çok düşük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EncodeArithmetic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Karşılaştırma karmaşık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Düşük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3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Flatten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Tek dal görünmez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Orta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AddOpaque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Sahte dallar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Orta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5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Virtualize (gerekirse)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VM bayt kodu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Yüksek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Çıkarım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adım saldırıyı biraz daha </a:t>
            </a:r>
            <a:r>
              <a:rPr sz="2000" b="1">
                <a:solidFill>
                  <a:srgbClr val="1F2D3A"/>
                </a:solidFill>
              </a:rPr>
              <a:t>pahalı</a:t>
            </a:r>
            <a:r>
              <a:rPr sz="2000" b="0">
                <a:solidFill>
                  <a:srgbClr val="1F2D3A"/>
                </a:solidFill>
              </a:rPr>
              <a:t> yapar.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adım bir </a:t>
            </a:r>
            <a:r>
              <a:rPr sz="2000" b="1">
                <a:solidFill>
                  <a:srgbClr val="1F2D3A"/>
                </a:solidFill>
              </a:rPr>
              <a:t>maliyet</a:t>
            </a:r>
            <a:r>
              <a:rPr sz="2000" b="0">
                <a:solidFill>
                  <a:srgbClr val="1F2D3A"/>
                </a:solidFill>
              </a:rPr>
              <a:t> ekler.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Nerede duracağınız: </a:t>
            </a:r>
            <a:r>
              <a:rPr sz="2000" b="1">
                <a:solidFill>
                  <a:srgbClr val="1F2D3A"/>
                </a:solidFill>
              </a:rPr>
              <a:t>varlık değeri</a:t>
            </a:r>
            <a:r>
              <a:rPr sz="2000" b="0">
                <a:solidFill>
                  <a:srgbClr val="1F2D3A"/>
                </a:solidFill>
              </a:rPr>
              <a:t> + </a:t>
            </a:r>
            <a:r>
              <a:rPr sz="2000" b="1">
                <a:solidFill>
                  <a:srgbClr val="1F2D3A"/>
                </a:solidFill>
              </a:rPr>
              <a:t>ölçtüğünüz maliyet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548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Adım 5 (Virtualize) çoğu denetim için gereksiz.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Bu tablo → S9'un ta kendisi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Bu "adım / dönüşüm / ne değişir / maliyet" tablosu,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projede </a:t>
            </a:r>
            <a:r>
              <a:rPr sz="2000" b="1">
                <a:solidFill>
                  <a:srgbClr val="1F2D3A"/>
                </a:solidFill>
              </a:rPr>
              <a:t>S9 koruma tablonuzun</a:t>
            </a:r>
            <a:r>
              <a:rPr sz="2000" b="0">
                <a:solidFill>
                  <a:srgbClr val="1F2D3A"/>
                </a:solidFill>
              </a:rPr>
              <a:t> doğrudan karşılığıdır.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2 — kısa sınama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Flatten, EncodeArithmetic, Virtualize hangi K-kurallarına karşılık?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Neden </a:t>
            </a:r>
            <a:r>
              <a:rPr sz="2000" b="0">
                <a:solidFill>
                  <a:srgbClr val="A1123F"/>
                </a:solidFill>
                <a:latin typeface="Consolas"/>
              </a:rPr>
              <a:t>--Functions</a:t>
            </a:r>
            <a:r>
              <a:rPr sz="2000" b="0">
                <a:solidFill>
                  <a:srgbClr val="1F2D3A"/>
                </a:solidFill>
              </a:rPr>
              <a:t> ile hedef seçilir?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Her hattan sonra </a:t>
            </a:r>
            <a:r>
              <a:rPr sz="2000" b="1">
                <a:solidFill>
                  <a:srgbClr val="1F2D3A"/>
                </a:solidFill>
              </a:rPr>
              <a:t>mutlaka</a:t>
            </a:r>
            <a:r>
              <a:rPr sz="2000" b="0">
                <a:solidFill>
                  <a:srgbClr val="1F2D3A"/>
                </a:solidFill>
              </a:rPr>
              <a:t> yapılacak iki şey?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2 — cevaplar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2098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1">
                <a:solidFill>
                  <a:srgbClr val="1F2D3A"/>
                </a:solidFill>
              </a:rPr>
              <a:t>Flatten</a:t>
            </a:r>
            <a:r>
              <a:rPr sz="2000" b="0">
                <a:solidFill>
                  <a:srgbClr val="1F2D3A"/>
                </a:solidFill>
              </a:rPr>
              <a:t> = kontrol akışı düzleştirme; </a:t>
            </a:r>
            <a:r>
              <a:rPr sz="2000" b="1">
                <a:solidFill>
                  <a:srgbClr val="1F2D3A"/>
                </a:solidFill>
              </a:rPr>
              <a:t>EncodeArithmetic</a:t>
            </a:r>
            <a:r>
              <a:rPr sz="2000" b="0">
                <a:solidFill>
                  <a:srgbClr val="1F2D3A"/>
                </a:solidFill>
              </a:rPr>
              <a:t> = aritmetik/veri gizleme; </a:t>
            </a:r>
            <a:r>
              <a:rPr sz="2000" b="1">
                <a:solidFill>
                  <a:srgbClr val="1F2D3A"/>
                </a:solidFill>
              </a:rPr>
              <a:t>Virtualize</a:t>
            </a:r>
            <a:r>
              <a:rPr sz="2000" b="0">
                <a:solidFill>
                  <a:srgbClr val="1F2D3A"/>
                </a:solidFill>
              </a:rPr>
              <a:t> = sanallaştırma (en güçlü, en pahalı).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Her fonksiyonu gizlemek maliyeti/performansı </a:t>
            </a:r>
            <a:r>
              <a:rPr sz="2000" b="1">
                <a:solidFill>
                  <a:srgbClr val="1F2D3A"/>
                </a:solidFill>
              </a:rPr>
              <a:t>patlatır</a:t>
            </a:r>
            <a:r>
              <a:rPr sz="2000" b="0">
                <a:solidFill>
                  <a:srgbClr val="1F2D3A"/>
                </a:solidFill>
              </a:rPr>
              <a:t>; yalnız </a:t>
            </a:r>
            <a:r>
              <a:rPr sz="2000" b="1">
                <a:solidFill>
                  <a:srgbClr val="1F2D3A"/>
                </a:solidFill>
              </a:rPr>
              <a:t>hassas</a:t>
            </a:r>
            <a:r>
              <a:rPr sz="2000" b="0">
                <a:solidFill>
                  <a:srgbClr val="1F2D3A"/>
                </a:solidFill>
              </a:rPr>
              <a:t> fonksiyonları seçmek dayanıklılığı oraya yoğunlaştırır.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(1) </a:t>
            </a:r>
            <a:r>
              <a:rPr sz="2000" b="1">
                <a:solidFill>
                  <a:srgbClr val="1F2D3A"/>
                </a:solidFill>
              </a:rPr>
              <a:t>Davranışı test et</a:t>
            </a:r>
            <a:r>
              <a:rPr sz="2000" b="0">
                <a:solidFill>
                  <a:srgbClr val="1F2D3A"/>
                </a:solidFill>
              </a:rPr>
              <a:t> (birim testi geçmeli), (2) </a:t>
            </a:r>
            <a:r>
              <a:rPr sz="2000" b="1">
                <a:solidFill>
                  <a:srgbClr val="1F2D3A"/>
                </a:solidFill>
              </a:rPr>
              <a:t>maliyeti ölç</a:t>
            </a:r>
            <a:r>
              <a:rPr sz="2000" b="0">
                <a:solidFill>
                  <a:srgbClr val="1F2D3A"/>
                </a:solidFill>
              </a:rPr>
              <a:t> (boyut/hız/komut sayısı, önce-sonra).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60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3. Çeşitlendirme ve ölçme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Kural 2'yi hatırla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Bir kopyada işe yarayan saldırı, bütün kopyalarda işe yaramasın.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40128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Saldırgan bir kopyayı kırıp yamayı </a:t>
            </a:r>
            <a:r>
              <a:rPr sz="2000" b="1">
                <a:solidFill>
                  <a:srgbClr val="1F2D3A"/>
                </a:solidFill>
              </a:rPr>
              <a:t>herkese</a:t>
            </a:r>
            <a:r>
              <a:rPr sz="2000" b="0">
                <a:solidFill>
                  <a:srgbClr val="1F2D3A"/>
                </a:solidFill>
              </a:rPr>
              <a:t> dağıtabiliyorsa, bir kırık her yeri açar.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Çeşitlendirme nedir?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Aynı kaynaktan </a:t>
            </a:r>
            <a:r>
              <a:rPr sz="2000" b="1">
                <a:solidFill>
                  <a:srgbClr val="1F2D3A"/>
                </a:solidFill>
              </a:rPr>
              <a:t>davranışça eş, yapıca farklı</a:t>
            </a:r>
            <a:r>
              <a:rPr sz="2000" b="0">
                <a:solidFill>
                  <a:srgbClr val="1F2D3A"/>
                </a:solidFill>
              </a:rPr>
              <a:t> ikili dosyalar.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Tigress bunu bir </a:t>
            </a:r>
            <a:r>
              <a:rPr sz="2000" b="1">
                <a:solidFill>
                  <a:srgbClr val="1F2D3A"/>
                </a:solidFill>
              </a:rPr>
              <a:t>tohum</a:t>
            </a:r>
            <a:r>
              <a:rPr sz="2000" b="0">
                <a:solidFill>
                  <a:srgbClr val="1F2D3A"/>
                </a:solidFill>
              </a:rPr>
              <a:t> ile yapar: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25192"/>
            <a:ext cx="10911535" cy="7975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Aynı dönüşümler + farklı tohum → opak yüklem, sahte dal, durum değerleri </a:t>
            </a:r>
            <a:r>
              <a:rPr sz="2000" b="1">
                <a:solidFill>
                  <a:srgbClr val="1F2D3A"/>
                </a:solidFill>
              </a:rPr>
              <a:t>değişir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İki tohum, iki farklı ikili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030224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tigress --Seed=1001 --Transform=Flatten --Transform=AddOpaque \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--Functions=erisim_ver --out=gizli_a.c temiz.c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tigress --Seed=2002 --Transform=Flatten --Transform=AddOpaque \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--Functions=erisim_ver --out=gizli_b.c temiz.c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46583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A1123F"/>
                </a:solidFill>
                <a:latin typeface="Consolas"/>
              </a:rPr>
              <a:t>gizli_a</a:t>
            </a:r>
            <a:r>
              <a:rPr sz="2000" b="0">
                <a:solidFill>
                  <a:srgbClr val="1F2D3A"/>
                </a:solidFill>
              </a:rPr>
              <a:t> ve </a:t>
            </a:r>
            <a:r>
              <a:rPr sz="2000" b="0">
                <a:solidFill>
                  <a:srgbClr val="A1123F"/>
                </a:solidFill>
                <a:latin typeface="Consolas"/>
              </a:rPr>
              <a:t>gizli_b</a:t>
            </a:r>
            <a:r>
              <a:rPr sz="2000" b="0">
                <a:solidFill>
                  <a:srgbClr val="1F2D3A"/>
                </a:solidFill>
              </a:rPr>
              <a:t> aynı işi yapar; makine kodları </a:t>
            </a:r>
            <a:r>
              <a:rPr sz="2000" b="1">
                <a:solidFill>
                  <a:srgbClr val="1F2D3A"/>
                </a:solidFill>
              </a:rPr>
              <a:t>farklı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İki tür çeşitlendirme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173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Uzayda:</a:t>
            </a:r>
            <a:r>
              <a:rPr sz="2000" b="0">
                <a:solidFill>
                  <a:srgbClr val="1F2D3A"/>
                </a:solidFill>
              </a:rPr>
              <a:t> farklı kullanıcı/cihaza farklı tohumlu kopya → bir kopyanın saldırısı diğerinde çalışmaz.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Zamanda:</a:t>
            </a:r>
            <a:r>
              <a:rPr sz="2000" b="0">
                <a:solidFill>
                  <a:srgbClr val="1F2D3A"/>
                </a:solidFill>
              </a:rPr>
              <a:t> her sürüm yeni tohum → eski saldırı yeni sürümde bozulur.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09088"/>
            <a:ext cx="10911535" cy="467359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haftadaki anahtar/sürüm yenilemeyle birlikte çalışır.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Çeşitlendirme neyi engeller?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Gizlemenin </a:t>
            </a:r>
            <a:r>
              <a:rPr sz="2000" b="1">
                <a:solidFill>
                  <a:srgbClr val="1F2D3A"/>
                </a:solidFill>
              </a:rPr>
              <a:t>gücünü</a:t>
            </a:r>
            <a:r>
              <a:rPr sz="2000" b="0">
                <a:solidFill>
                  <a:srgbClr val="1F2D3A"/>
                </a:solidFill>
              </a:rPr>
              <a:t> artırmaz (bir kopyayı kırmak yine mümkün).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Ama </a:t>
            </a:r>
            <a:r>
              <a:rPr sz="2000" b="1">
                <a:solidFill>
                  <a:srgbClr val="1F2D3A"/>
                </a:solidFill>
              </a:rPr>
              <a:t>ölçeklenmesini</a:t>
            </a:r>
            <a:r>
              <a:rPr sz="2000" b="0">
                <a:solidFill>
                  <a:srgbClr val="1F2D3A"/>
                </a:solidFill>
              </a:rPr>
              <a:t> engeller.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7888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A1123F"/>
                </a:solidFill>
                <a:latin typeface="Consolas"/>
              </a:rPr>
              <a:t>RandomFuns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0">
                <a:solidFill>
                  <a:srgbClr val="A1123F"/>
                </a:solidFill>
                <a:latin typeface="Consolas"/>
              </a:rPr>
              <a:t>RndArgs</a:t>
            </a:r>
            <a:r>
              <a:rPr sz="2000" b="0">
                <a:solidFill>
                  <a:srgbClr val="1F2D3A"/>
                </a:solidFill>
              </a:rPr>
              <a:t> de tohumla birleşince yapıyı değiştirir.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Çeşitlendirme etkinliği · ölçüt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Aynı kaynağı iki tohumla derle.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Korunan fonksiyonların </a:t>
            </a:r>
            <a:r>
              <a:rPr sz="2000" b="1">
                <a:solidFill>
                  <a:srgbClr val="1F2D3A"/>
                </a:solidFill>
              </a:rPr>
              <a:t>bayt farkını</a:t>
            </a:r>
            <a:r>
              <a:rPr sz="2000" b="0">
                <a:solidFill>
                  <a:srgbClr val="1F2D3A"/>
                </a:solidFill>
              </a:rPr>
              <a:t> ölç.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Fark ne kadar yüksekse, bir saldırının diğerinde çalışma olasılığı o kadar düşük.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9850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Ölçütü S9'a yaz.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67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Gizlemeyi ölçmek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Tigress'in öğretim değeri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975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haftada gizlemeyi dört boyutta (güç, dayanıklılık, gizlilik, maliyet) ölçmeyi öğrendik.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3316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Tigress bu ölçümleri </a:t>
            </a:r>
            <a:r>
              <a:rPr sz="2000" b="1">
                <a:solidFill>
                  <a:srgbClr val="1F2D3A"/>
                </a:solidFill>
              </a:rPr>
              <a:t>somut</a:t>
            </a:r>
            <a:r>
              <a:rPr sz="2000" b="0">
                <a:solidFill>
                  <a:srgbClr val="1F2D3A"/>
                </a:solidFill>
              </a:rPr>
              <a:t> yapmanızı sağlar: aynı programı gizle, önce/sonra ölç.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Maliyet ölçümü (kolay, zorunlu)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Her hat için ölç ve S9/S15'e yaz: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875536"/>
          <a:ext cx="10911534" cy="15270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552"/>
                <a:gridCol w="7333982"/>
              </a:tblGrid>
              <a:tr h="38176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Ölçüt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Nasıl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İkili boyut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A1123F"/>
                          </a:solidFill>
                          <a:latin typeface="Consolas"/>
                        </a:rPr>
                        <a:t>size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 / </a:t>
                      </a:r>
                      <a:r>
                        <a:rPr sz="1439" b="0">
                          <a:solidFill>
                            <a:srgbClr val="A1123F"/>
                          </a:solidFill>
                          <a:latin typeface="Consolas"/>
                        </a:rPr>
                        <a:t>ls -l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Çalışma süresi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Aynı girdiyle N kez, ortalama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CFG karmaşıklığı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Tersine derleyicide temel blok sayısı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Maliyet ölçümü · komut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65227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size ./program_temiz ./program_gizli   # boyut farkı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# süre: aynı girdiyle N kez çalıştır, ortalamayı karşılaştır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87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Basit ama </a:t>
            </a:r>
            <a:r>
              <a:rPr sz="2000" b="1">
                <a:solidFill>
                  <a:srgbClr val="1F2D3A"/>
                </a:solidFill>
              </a:rPr>
              <a:t>kanıt</a:t>
            </a:r>
            <a:r>
              <a:rPr sz="2000" b="0">
                <a:solidFill>
                  <a:srgbClr val="1F2D3A"/>
                </a:solidFill>
              </a:rPr>
              <a:t> üretir.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Maliyet · örnek tablo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8365509" cy="14319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728331"/>
                <a:gridCol w="1818589"/>
                <a:gridCol w="1818589"/>
              </a:tblGrid>
              <a:tr h="357987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Ölçüt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Önce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Sonra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5798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Boyut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100 KB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130 KB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798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Süre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1.0×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1.8×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5798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Temel blok (hedef fn.)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40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2867558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Rakamlar örnek; siz </a:t>
            </a:r>
            <a:r>
              <a:rPr sz="1800" b="1">
                <a:solidFill>
                  <a:srgbClr val="1F2D3A"/>
                </a:solidFill>
              </a:rPr>
              <a:t>kendi</a:t>
            </a:r>
            <a:r>
              <a:rPr sz="1800" b="0">
                <a:solidFill>
                  <a:srgbClr val="1F2D3A"/>
                </a:solidFill>
              </a:rPr>
              <a:t> ölçtüğünüzü yazarsınız.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Dayanıklılık ölçümü (ileri, kavram)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Dayanıklılık = otomatik araca (sembolik yürütme) direnç.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9. hafta: "iddia değil, ölçülen bir nicelik".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Tigress bu araştırmanın </a:t>
            </a:r>
            <a:r>
              <a:rPr sz="2000" b="1">
                <a:solidFill>
                  <a:srgbClr val="1F2D3A"/>
                </a:solidFill>
              </a:rPr>
              <a:t>merkezinde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Banescu vd. · Tigress + KLEE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Tigress dönüşümlerinin </a:t>
            </a:r>
            <a:r>
              <a:rPr sz="2000" b="1">
                <a:solidFill>
                  <a:srgbClr val="1F2D3A"/>
                </a:solidFill>
              </a:rPr>
              <a:t>sembolik yürütmeye</a:t>
            </a:r>
            <a:r>
              <a:rPr sz="2000" b="0">
                <a:solidFill>
                  <a:srgbClr val="1F2D3A"/>
                </a:solidFill>
              </a:rPr>
              <a:t> ne kadar dayandığını ölçen çalışma. Bulgular: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05736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Tek dönüşüm (yalnız Flatten) → çoğu zaman geri açılır.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Dönüşümleri </a:t>
            </a:r>
            <a:r>
              <a:rPr sz="2000" b="1">
                <a:solidFill>
                  <a:srgbClr val="1F2D3A"/>
                </a:solidFill>
              </a:rPr>
              <a:t>birleştirmek</a:t>
            </a:r>
            <a:r>
              <a:rPr sz="2000" b="0">
                <a:solidFill>
                  <a:srgbClr val="1F2D3A"/>
                </a:solidFill>
              </a:rPr>
              <a:t> + durum uzayını büyütmek → çözücüyü üstel zorlar.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Ama </a:t>
            </a:r>
            <a:r>
              <a:rPr sz="2000" b="1">
                <a:solidFill>
                  <a:srgbClr val="1F2D3A"/>
                </a:solidFill>
              </a:rPr>
              <a:t>maliyet</a:t>
            </a:r>
            <a:r>
              <a:rPr sz="2000" b="0">
                <a:solidFill>
                  <a:srgbClr val="1F2D3A"/>
                </a:solidFill>
              </a:rPr>
              <a:t> de artar.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Ders için çıkarım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Dayanıklılık ve maliyet </a:t>
            </a:r>
            <a:r>
              <a:rPr sz="2000" b="1">
                <a:solidFill>
                  <a:srgbClr val="1F2D3A"/>
                </a:solidFill>
              </a:rPr>
              <a:t>ödünleşir</a:t>
            </a:r>
            <a:r>
              <a:rPr sz="2000" b="0">
                <a:solidFill>
                  <a:srgbClr val="1F2D3A"/>
                </a:solidFill>
              </a:rPr>
              <a:t> (9. haftadaki gibi).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4012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"Güçlü" deme; </a:t>
            </a:r>
            <a:r>
              <a:rPr sz="2000" b="1">
                <a:solidFill>
                  <a:srgbClr val="1F2D3A"/>
                </a:solidFill>
              </a:rPr>
              <a:t>"şu araca karşı şu boyutta problemi şu sürede çözdürmedi"</a:t>
            </a:r>
            <a:r>
              <a:rPr sz="2000" b="0">
                <a:solidFill>
                  <a:srgbClr val="1F2D3A"/>
                </a:solidFill>
              </a:rPr>
              <a:t> de.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Ölçüm kuralı (S9/S15)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Bir gizleme kararını ölçüyle savun: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875536"/>
            <a:ext cx="10911535" cy="934719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"Flatten + AddOpaque hattı boyutu %30 büyüttü, işlemi 1.8× yavaşlattı; hedef fonksiyonun temel blok sayısı 8 katına çıktı."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919984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Ölçülmemiş gizleme = değerlendiricide (12. hafta) </a:t>
            </a:r>
            <a:r>
              <a:rPr sz="2000" b="1">
                <a:solidFill>
                  <a:srgbClr val="1F2D3A"/>
                </a:solidFill>
              </a:rPr>
              <a:t>iddia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3 — kısa sınama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Tohum çeşitlendirmeyi nasıl sağlar?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Uzayda ve zamanda çeşitlendirme farkı?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Banescu vd.'nin ana kuralı? (dayanıklılık ↔ maliyet)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3 — cevaplar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2098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Aynı kaynağı farklı </a:t>
            </a:r>
            <a:r>
              <a:rPr sz="2000" b="1">
                <a:solidFill>
                  <a:srgbClr val="1F2D3A"/>
                </a:solidFill>
              </a:rPr>
              <a:t>tohum</a:t>
            </a:r>
            <a:r>
              <a:rPr sz="2000" b="0">
                <a:solidFill>
                  <a:srgbClr val="1F2D3A"/>
                </a:solidFill>
              </a:rPr>
              <a:t>la gizleyince araç farklı rastgele seçimler yapar → her build </a:t>
            </a:r>
            <a:r>
              <a:rPr sz="2000" b="1">
                <a:solidFill>
                  <a:srgbClr val="1F2D3A"/>
                </a:solidFill>
              </a:rPr>
              <a:t>farklı ikili</a:t>
            </a:r>
            <a:r>
              <a:rPr sz="2000" b="0">
                <a:solidFill>
                  <a:srgbClr val="1F2D3A"/>
                </a:solidFill>
              </a:rPr>
              <a:t> (aynı davranış).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1">
                <a:solidFill>
                  <a:srgbClr val="1F2D3A"/>
                </a:solidFill>
              </a:rPr>
              <a:t>Uzayda:</a:t>
            </a:r>
            <a:r>
              <a:rPr sz="2000" b="0">
                <a:solidFill>
                  <a:srgbClr val="1F2D3A"/>
                </a:solidFill>
              </a:rPr>
              <a:t> farklı kopyalar/kullanıcılar farklı (bir kırık herkesi kırmaz). </a:t>
            </a:r>
            <a:r>
              <a:rPr sz="2000" b="1">
                <a:solidFill>
                  <a:srgbClr val="1F2D3A"/>
                </a:solidFill>
              </a:rPr>
              <a:t>Zamanda:</a:t>
            </a:r>
            <a:r>
              <a:rPr sz="2000" b="0">
                <a:solidFill>
                  <a:srgbClr val="1F2D3A"/>
                </a:solidFill>
              </a:rPr>
              <a:t> sürümler arası değişir (kırık kalıcı olmaz).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Daha güçlü gizleme daha çok </a:t>
            </a:r>
            <a:r>
              <a:rPr sz="2000" b="1">
                <a:solidFill>
                  <a:srgbClr val="1F2D3A"/>
                </a:solidFill>
              </a:rPr>
              <a:t>dayanıklılık</a:t>
            </a:r>
            <a:r>
              <a:rPr sz="2000" b="0">
                <a:solidFill>
                  <a:srgbClr val="1F2D3A"/>
                </a:solidFill>
              </a:rPr>
              <a:t> ama daha çok </a:t>
            </a:r>
            <a:r>
              <a:rPr sz="2000" b="1">
                <a:solidFill>
                  <a:srgbClr val="1F2D3A"/>
                </a:solidFill>
              </a:rPr>
              <a:t>maliyet</a:t>
            </a:r>
            <a:r>
              <a:rPr sz="2000" b="0">
                <a:solidFill>
                  <a:srgbClr val="1F2D3A"/>
                </a:solidFill>
              </a:rPr>
              <a:t>; koruma varlığın </a:t>
            </a:r>
            <a:r>
              <a:rPr sz="2000" b="1">
                <a:solidFill>
                  <a:srgbClr val="1F2D3A"/>
                </a:solidFill>
              </a:rPr>
              <a:t>değeriyle orantılı</a:t>
            </a:r>
            <a:r>
              <a:rPr sz="2000" b="0">
                <a:solidFill>
                  <a:srgbClr val="1F2D3A"/>
                </a:solidFill>
              </a:rPr>
              <a:t> seçilir.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78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4. Sınıf içi akış (adım adım)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Ne yapacağız?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Kendi küçük, sentetik programınızı: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gizle → davranışı doğrula → karşılaştır → ölç → çeşitlendir → raporla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2519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Adım adım gidelim.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1 · Hazırlık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Küçük, sentetik bir program yaz (ör. </a:t>
            </a:r>
            <a:r>
              <a:rPr sz="2000" b="0">
                <a:solidFill>
                  <a:srgbClr val="A1123F"/>
                </a:solidFill>
                <a:latin typeface="Consolas"/>
              </a:rPr>
              <a:t>erisim_ver</a:t>
            </a:r>
            <a:r>
              <a:rPr sz="2000" b="0">
                <a:solidFill>
                  <a:srgbClr val="1F2D3A"/>
                </a:solidFill>
              </a:rPr>
              <a:t>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Birim testleriyle </a:t>
            </a:r>
            <a:r>
              <a:rPr sz="2000" b="1">
                <a:solidFill>
                  <a:srgbClr val="1F2D3A"/>
                </a:solidFill>
              </a:rPr>
              <a:t>doğru çalıştığını</a:t>
            </a:r>
            <a:r>
              <a:rPr sz="2000" b="0">
                <a:solidFill>
                  <a:srgbClr val="1F2D3A"/>
                </a:solidFill>
              </a:rPr>
              <a:t> göster.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Bu senin "temiz" temel çizgin.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2 · Gizle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030224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tigress --Transform=EncodeLiterals --Transform=EncodeArithmetic \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--Transform=Flatten --Transform=AddOpaque \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--Functions=erisim_ver --out=gizli.c temiz.c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cc -o program_gizli gizli.c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46583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Bir dönüşüm hattı uygula.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3 · Davranışı doğrula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Aynı birim testlerini </a:t>
            </a:r>
            <a:r>
              <a:rPr sz="2000" b="1">
                <a:solidFill>
                  <a:srgbClr val="1F2D3A"/>
                </a:solidFill>
              </a:rPr>
              <a:t>gizli</a:t>
            </a:r>
            <a:r>
              <a:rPr sz="2000" b="0">
                <a:solidFill>
                  <a:srgbClr val="1F2D3A"/>
                </a:solidFill>
              </a:rPr>
              <a:t> sürümde çalıştır.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Sonuç </a:t>
            </a:r>
            <a:r>
              <a:rPr sz="2000" b="1">
                <a:solidFill>
                  <a:srgbClr val="1F2D3A"/>
                </a:solidFill>
              </a:rPr>
              <a:t>birebir aynı</a:t>
            </a:r>
            <a:r>
              <a:rPr sz="2000" b="0">
                <a:solidFill>
                  <a:srgbClr val="1F2D3A"/>
                </a:solidFill>
              </a:rPr>
              <a:t> olmalı.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Farklıysa: hat yanlış → düzelt.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654808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Gizleme davranışı asla değiştirmez.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4 · Karşılaştır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Tersine derleyicide (Ghidra/objdump) temiz ve gizli sürümü aç.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Kontrol akışını karşılaştır.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Temel blok sayısındaki </a:t>
            </a:r>
            <a:r>
              <a:rPr sz="2000" b="1">
                <a:solidFill>
                  <a:srgbClr val="1F2D3A"/>
                </a:solidFill>
              </a:rPr>
              <a:t>artışı</a:t>
            </a:r>
            <a:r>
              <a:rPr sz="2000" b="0">
                <a:solidFill>
                  <a:srgbClr val="1F2D3A"/>
                </a:solidFill>
              </a:rPr>
              <a:t> not et.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5 · Ölç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65227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size ./program_temiz ./program_gizli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# süre: aynı girdiyle N kez çalıştır, ortalamayı karşılaştır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87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Boyut ve süre farkını yaz.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6 · Çeşitlendir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Aynı hattı </a:t>
            </a:r>
            <a:r>
              <a:rPr sz="2000" b="1">
                <a:solidFill>
                  <a:srgbClr val="1F2D3A"/>
                </a:solidFill>
              </a:rPr>
              <a:t>iki farklı tohumla</a:t>
            </a:r>
            <a:r>
              <a:rPr sz="2000" b="0">
                <a:solidFill>
                  <a:srgbClr val="1F2D3A"/>
                </a:solidFill>
              </a:rPr>
              <a:t> çalıştır.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İki ikilinin farklı olduğunu göster (bayt farkı).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278888"/>
            <a:ext cx="10911535" cy="65227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tigress --Seed=1001 ... --out=gizli_a.c temiz.c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tigress --Seed=2002 ... --out=gizli_b.c temiz.c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7 · Raporla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Bulguları bir tabloya dök: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875536"/>
          <a:ext cx="9274802" cy="8321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00447"/>
                <a:gridCol w="1636730"/>
                <a:gridCol w="1454871"/>
                <a:gridCol w="1454871"/>
                <a:gridCol w="2727883"/>
              </a:tblGrid>
              <a:tr h="41605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Dönüşüm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Boyut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Süre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Blok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Tohum farkı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41605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…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…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…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…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…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281736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Bu tablo doğrudan </a:t>
            </a:r>
            <a:r>
              <a:rPr sz="2000" b="1">
                <a:solidFill>
                  <a:srgbClr val="1F2D3A"/>
                </a:solidFill>
              </a:rPr>
              <a:t>S9/S15</a:t>
            </a:r>
            <a:r>
              <a:rPr sz="2000" b="0">
                <a:solidFill>
                  <a:srgbClr val="1F2D3A"/>
                </a:solidFill>
              </a:rPr>
              <a:t>'e girer.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⚠️ Etik ve güvenli kullanım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Tigress yalnız </a:t>
            </a:r>
            <a:r>
              <a:rPr sz="2000" b="1">
                <a:solidFill>
                  <a:srgbClr val="1F2D3A"/>
                </a:solidFill>
              </a:rPr>
              <a:t>kendi</a:t>
            </a:r>
            <a:r>
              <a:rPr sz="2000" b="0">
                <a:solidFill>
                  <a:srgbClr val="1F2D3A"/>
                </a:solidFill>
              </a:rPr>
              <a:t> kodunuza.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Örnek program bilgisayara </a:t>
            </a:r>
            <a:r>
              <a:rPr sz="2000" b="1">
                <a:solidFill>
                  <a:srgbClr val="1F2D3A"/>
                </a:solidFill>
              </a:rPr>
              <a:t>zarar vermez</a:t>
            </a:r>
            <a:r>
              <a:rPr sz="2000" b="0">
                <a:solidFill>
                  <a:srgbClr val="1F2D3A"/>
                </a:solidFill>
              </a:rPr>
              <a:t>: sistem ayarı değiştirmez, ağa dokunmaz.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Bütün değerler </a:t>
            </a:r>
            <a:r>
              <a:rPr sz="2000" b="1">
                <a:solidFill>
                  <a:srgbClr val="1F2D3A"/>
                </a:solidFill>
              </a:rPr>
              <a:t>sentetik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Sınıf içi · özet akış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65227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temiz.c → gizle → testleri geç → CFG karşılaştır → boyut/süre ölç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→ iki tohumla çeşitlendir → tablo → S9/S15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adım akış · neden bu sıra?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Önce </a:t>
            </a:r>
            <a:r>
              <a:rPr sz="2000" b="1">
                <a:solidFill>
                  <a:srgbClr val="1F2D3A"/>
                </a:solidFill>
              </a:rPr>
              <a:t>davranış</a:t>
            </a:r>
            <a:r>
              <a:rPr sz="2000" b="0">
                <a:solidFill>
                  <a:srgbClr val="1F2D3A"/>
                </a:solidFill>
              </a:rPr>
              <a:t> (testler) — bozulmadığından emin ol.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Sonra </a:t>
            </a:r>
            <a:r>
              <a:rPr sz="2000" b="1">
                <a:solidFill>
                  <a:srgbClr val="1F2D3A"/>
                </a:solidFill>
              </a:rPr>
              <a:t>kanıt</a:t>
            </a:r>
            <a:r>
              <a:rPr sz="2000" b="0">
                <a:solidFill>
                  <a:srgbClr val="1F2D3A"/>
                </a:solidFill>
              </a:rPr>
              <a:t> (CFG, ölçüm) — kazancı göster.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Sonra </a:t>
            </a:r>
            <a:r>
              <a:rPr sz="2000" b="1">
                <a:solidFill>
                  <a:srgbClr val="1F2D3A"/>
                </a:solidFill>
              </a:rPr>
              <a:t>çeşitlendirme</a:t>
            </a:r>
            <a:r>
              <a:rPr sz="2000" b="0">
                <a:solidFill>
                  <a:srgbClr val="1F2D3A"/>
                </a:solidFill>
              </a:rPr>
              <a:t> — ölçeklenmeyi kır.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548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Ölçmeden "güçlü" deme.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4 — kısa sınama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Gizledikten sonra ilk </a:t>
            </a:r>
            <a:r>
              <a:rPr sz="2000" b="1">
                <a:solidFill>
                  <a:srgbClr val="1F2D3A"/>
                </a:solidFill>
              </a:rPr>
              <a:t>mutlaka</a:t>
            </a:r>
            <a:r>
              <a:rPr sz="2000" b="0">
                <a:solidFill>
                  <a:srgbClr val="1F2D3A"/>
                </a:solidFill>
              </a:rPr>
              <a:t> yapılacak şey?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Çeşitlendirmeyi nasıl gösterirsin?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Rapor tablosu hangi proje bölümlerine gider?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4 — cevaplar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2098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Davranışın </a:t>
            </a:r>
            <a:r>
              <a:rPr sz="2000" b="1">
                <a:solidFill>
                  <a:srgbClr val="1F2D3A"/>
                </a:solidFill>
              </a:rPr>
              <a:t>değişmediğini test et</a:t>
            </a:r>
            <a:r>
              <a:rPr sz="2000" b="0">
                <a:solidFill>
                  <a:srgbClr val="1F2D3A"/>
                </a:solidFill>
              </a:rPr>
              <a:t> (birim testi geçmeli); gizleme işlevi bozmamalı.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İki farklı tohumla üret; ikilileri karşılaştır (</a:t>
            </a:r>
            <a:r>
              <a:rPr sz="2000" b="1">
                <a:solidFill>
                  <a:srgbClr val="1F2D3A"/>
                </a:solidFill>
              </a:rPr>
              <a:t>hash/boyut/komut farklı</a:t>
            </a:r>
            <a:r>
              <a:rPr sz="2000" b="0">
                <a:solidFill>
                  <a:srgbClr val="1F2D3A"/>
                </a:solidFill>
              </a:rPr>
              <a:t>) ama </a:t>
            </a:r>
            <a:r>
              <a:rPr sz="2000" b="1">
                <a:solidFill>
                  <a:srgbClr val="1F2D3A"/>
                </a:solidFill>
              </a:rPr>
              <a:t>aynı girdi→aynı çıktı</a:t>
            </a:r>
            <a:r>
              <a:rPr sz="2000" b="0">
                <a:solidFill>
                  <a:srgbClr val="1F2D3A"/>
                </a:solidFill>
              </a:rPr>
              <a:t> (diff/objdump).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1">
                <a:solidFill>
                  <a:srgbClr val="1F2D3A"/>
                </a:solidFill>
              </a:rPr>
              <a:t>S9</a:t>
            </a:r>
            <a:r>
              <a:rPr sz="2000" b="0">
                <a:solidFill>
                  <a:srgbClr val="1F2D3A"/>
                </a:solidFill>
              </a:rPr>
              <a:t> (kod sağlamlaştırma) ve </a:t>
            </a:r>
            <a:r>
              <a:rPr sz="2000" b="1">
                <a:solidFill>
                  <a:srgbClr val="1F2D3A"/>
                </a:solidFill>
              </a:rPr>
              <a:t>S15</a:t>
            </a:r>
            <a:r>
              <a:rPr sz="2000" b="0">
                <a:solidFill>
                  <a:srgbClr val="1F2D3A"/>
                </a:solidFill>
              </a:rPr>
              <a:t> (derleme/dağıtım hattı); önce/sonra ölçüm kanıt olarak.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92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5. Derleme hattı (S15) ve proje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Gizleme "en sonda elle" değil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Gizleme, derleme </a:t>
            </a:r>
            <a:r>
              <a:rPr sz="2000" b="1">
                <a:solidFill>
                  <a:srgbClr val="1F2D3A"/>
                </a:solidFill>
              </a:rPr>
              <a:t>hattının</a:t>
            </a:r>
            <a:r>
              <a:rPr sz="2000" b="0">
                <a:solidFill>
                  <a:srgbClr val="1F2D3A"/>
                </a:solidFill>
              </a:rPr>
              <a:t> bir adımı olmalı.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Vize sonrası projenizin </a:t>
            </a:r>
            <a:r>
              <a:rPr sz="2000" b="1">
                <a:solidFill>
                  <a:srgbClr val="1F2D3A"/>
                </a:solidFill>
              </a:rPr>
              <a:t>S15</a:t>
            </a:r>
            <a:r>
              <a:rPr sz="2000" b="0">
                <a:solidFill>
                  <a:srgbClr val="1F2D3A"/>
                </a:solidFill>
              </a:rPr>
              <a:t> bölümü tam bunu belgeler.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Derleme hattı · şema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65227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kaynak → (Tigress dönüşüm hattı) → gizli kaynak → derleyici → ikili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→ imzalama (sürüm imzası) → sürüm kimliği + özet → dağıtım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Hat kuralı 1 · yalnız hassas fonksiyonlar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--Functions</a:t>
            </a:r>
            <a:r>
              <a:rPr sz="2000" b="0">
                <a:solidFill>
                  <a:srgbClr val="1F2D3A"/>
                </a:solidFill>
              </a:rPr>
              <a:t> ile yalnız hassas fonksiyonları gizle.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Gerekçesini yaz (hangi fonksiyon, neden).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Maliyet kuralı (9. hafta).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Hat kuralı 2 · her sürüm çeşitlendirilir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sürüm bir </a:t>
            </a:r>
            <a:r>
              <a:rPr sz="2000" b="1">
                <a:solidFill>
                  <a:srgbClr val="1F2D3A"/>
                </a:solidFill>
              </a:rPr>
              <a:t>tohumla</a:t>
            </a:r>
            <a:r>
              <a:rPr sz="2000" b="0">
                <a:solidFill>
                  <a:srgbClr val="1F2D3A"/>
                </a:solidFill>
              </a:rPr>
              <a:t> çeşitlendirilir.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Tohum ve sürüm kimliği </a:t>
            </a:r>
            <a:r>
              <a:rPr sz="2000" b="1">
                <a:solidFill>
                  <a:srgbClr val="1F2D3A"/>
                </a:solidFill>
              </a:rPr>
              <a:t>kaydedilir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Zamanda çeşitlendirme (bölüm 3).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Hat kuralı 3 · imzalama gizlemeden sonra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Önce gizle, </a:t>
            </a:r>
            <a:r>
              <a:rPr sz="2000" b="1">
                <a:solidFill>
                  <a:srgbClr val="1F2D3A"/>
                </a:solidFill>
              </a:rPr>
              <a:t>sonra</a:t>
            </a:r>
            <a:r>
              <a:rPr sz="2000" b="0">
                <a:solidFill>
                  <a:srgbClr val="1F2D3A"/>
                </a:solidFill>
              </a:rPr>
              <a:t> imzala.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Sürüm kimliği ve özet değerleri (12. haftadaki TOE) </a:t>
            </a:r>
            <a:r>
              <a:rPr sz="2000" b="1">
                <a:solidFill>
                  <a:srgbClr val="1F2D3A"/>
                </a:solidFill>
              </a:rPr>
              <a:t>tutarlı</a:t>
            </a:r>
            <a:r>
              <a:rPr sz="2000" b="0">
                <a:solidFill>
                  <a:srgbClr val="1F2D3A"/>
                </a:solidFill>
              </a:rPr>
              <a:t> olsun.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Neden sonra? İmza, dağıtılan </a:t>
            </a:r>
            <a:r>
              <a:rPr sz="2000" b="1">
                <a:solidFill>
                  <a:srgbClr val="1F2D3A"/>
                </a:solidFill>
              </a:rPr>
              <a:t>son</a:t>
            </a:r>
            <a:r>
              <a:rPr sz="2000" b="0">
                <a:solidFill>
                  <a:srgbClr val="1F2D3A"/>
                </a:solidFill>
              </a:rPr>
              <a:t> ikiliyi kapsamalı.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Hat kuralı 4 · CI'da otomatik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Hat, sürekli entegrasyonda (CI) çalışır.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sürümde: birim testleri + boyut/hız ölçümü </a:t>
            </a:r>
            <a:r>
              <a:rPr sz="2000" b="1">
                <a:solidFill>
                  <a:srgbClr val="1F2D3A"/>
                </a:solidFill>
              </a:rPr>
              <a:t>otomatik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Davranış bozulursa yapı </a:t>
            </a:r>
            <a:r>
              <a:rPr sz="2000" b="1">
                <a:solidFill>
                  <a:srgbClr val="1F2D3A"/>
                </a:solidFill>
              </a:rPr>
              <a:t>durur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9, 11, 14 birlikte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9:</a:t>
            </a:r>
            <a:r>
              <a:rPr sz="2000" b="0">
                <a:solidFill>
                  <a:srgbClr val="1F2D3A"/>
                </a:solidFill>
              </a:rPr>
              <a:t> gizleme kuralları (kod)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11:</a:t>
            </a:r>
            <a:r>
              <a:rPr sz="2000" b="0">
                <a:solidFill>
                  <a:srgbClr val="1F2D3A"/>
                </a:solidFill>
              </a:rPr>
              <a:t> whitebox (anahtar)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14:</a:t>
            </a:r>
            <a:r>
              <a:rPr sz="2000" b="0">
                <a:solidFill>
                  <a:srgbClr val="1F2D3A"/>
                </a:solidFill>
              </a:rPr>
              <a:t> otomasyon + çeşitlendirme (bu hafta)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548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Ortak kural: koruma = </a:t>
            </a:r>
            <a:r>
              <a:rPr sz="2000" b="1">
                <a:solidFill>
                  <a:srgbClr val="1F2D3A"/>
                </a:solidFill>
              </a:rPr>
              <a:t>gecikme</a:t>
            </a:r>
            <a:r>
              <a:rPr sz="2000" b="0">
                <a:solidFill>
                  <a:srgbClr val="1F2D3A"/>
                </a:solidFill>
              </a:rPr>
              <a:t>; güç katmanlardan ve ölçümden.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Proje · S9 ileri + S15 hat —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1. Dönüşüm hattı (S9):</a:t>
            </a:r>
            <a:r>
              <a:rPr sz="2000" b="0">
                <a:solidFill>
                  <a:srgbClr val="1F2D3A"/>
                </a:solidFill>
              </a:rPr>
              <a:t> hangi fonksiyonlar, hangi dönüşümler, hangi sırayla, </a:t>
            </a:r>
            <a:r>
              <a:rPr sz="2000" b="1">
                <a:solidFill>
                  <a:srgbClr val="1F2D3A"/>
                </a:solidFill>
              </a:rPr>
              <a:t>neden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Proje · S9 + S15 —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2. Ölçüm tablosu:</a:t>
            </a:r>
            <a:r>
              <a:rPr sz="2000" b="0">
                <a:solidFill>
                  <a:srgbClr val="1F2D3A"/>
                </a:solidFill>
              </a:rPr>
              <a:t> boyut, süre, (varsa) blok sayısı — önce/sonra.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Proje · S9 + S15 —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3. Çeşitlendirme:</a:t>
            </a:r>
            <a:r>
              <a:rPr sz="2000" b="0">
                <a:solidFill>
                  <a:srgbClr val="1F2D3A"/>
                </a:solidFill>
              </a:rPr>
              <a:t> iki tohumla üretim + fark ölçütü; uygulamayacaksanız </a:t>
            </a:r>
            <a:r>
              <a:rPr sz="2000" b="1">
                <a:solidFill>
                  <a:srgbClr val="1F2D3A"/>
                </a:solidFill>
              </a:rPr>
              <a:t>gerekçe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Proje · S9 + S15 — 4,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4. S15 hattı:</a:t>
            </a:r>
            <a:r>
              <a:rPr sz="2000" b="0">
                <a:solidFill>
                  <a:srgbClr val="1F2D3A"/>
                </a:solidFill>
              </a:rPr>
              <a:t> gizleme + imzalama + sürüm kimliği adımlarını </a:t>
            </a:r>
            <a:r>
              <a:rPr sz="2000" b="1">
                <a:solidFill>
                  <a:srgbClr val="1F2D3A"/>
                </a:solidFill>
              </a:rPr>
              <a:t>diyagramla</a:t>
            </a:r>
            <a:r>
              <a:rPr sz="2000" b="0">
                <a:solidFill>
                  <a:srgbClr val="1F2D3A"/>
                </a:solidFill>
              </a:rPr>
              <a:t> belgele.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5. Davranış kanıtı:</a:t>
            </a:r>
            <a:r>
              <a:rPr sz="2000" b="0">
                <a:solidFill>
                  <a:srgbClr val="1F2D3A"/>
                </a:solidFill>
              </a:rPr>
              <a:t> gizli sürümün birim testlerini geçtiğini göster (S16 bağı).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Değerlendirici gözüyle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"Çok dönüşüm kullandım" </a:t>
            </a:r>
            <a:r>
              <a:rPr sz="2000" b="1">
                <a:solidFill>
                  <a:srgbClr val="1F2D3A"/>
                </a:solidFill>
              </a:rPr>
              <a:t>değil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Her dönüşümün gerekçesi ve ölçüsü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Ölçülmemiş gizleme = iddia (12. hafta).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5 — kısa sınama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İmzalama neden gizlemeden </a:t>
            </a:r>
            <a:r>
              <a:rPr sz="2000" b="1">
                <a:solidFill>
                  <a:srgbClr val="1F2D3A"/>
                </a:solidFill>
              </a:rPr>
              <a:t>sonra</a:t>
            </a:r>
            <a:r>
              <a:rPr sz="2000" b="0">
                <a:solidFill>
                  <a:srgbClr val="1F2D3A"/>
                </a:solidFill>
              </a:rPr>
              <a:t>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"Yalnız hassas fonksiyonlar" kuralının gerekçesi?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S15 hattının adımları?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5 — cevaplar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2098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İmza </a:t>
            </a:r>
            <a:r>
              <a:rPr sz="2000" b="1">
                <a:solidFill>
                  <a:srgbClr val="1F2D3A"/>
                </a:solidFill>
              </a:rPr>
              <a:t>son ikiliyi</a:t>
            </a:r>
            <a:r>
              <a:rPr sz="2000" b="0">
                <a:solidFill>
                  <a:srgbClr val="1F2D3A"/>
                </a:solidFill>
              </a:rPr>
              <a:t> korur; önce imzalayıp sonra gizlersen ikili değişir → imza geçersiz. Sıra: derle → gizle → </a:t>
            </a:r>
            <a:r>
              <a:rPr sz="2000" b="1">
                <a:solidFill>
                  <a:srgbClr val="1F2D3A"/>
                </a:solidFill>
              </a:rPr>
              <a:t>imzala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Bütünü gizlemek performans/boyutu patlatır ve çoğu kod hassas değil; korumayı </a:t>
            </a:r>
            <a:r>
              <a:rPr sz="2000" b="1">
                <a:solidFill>
                  <a:srgbClr val="1F2D3A"/>
                </a:solidFill>
              </a:rPr>
              <a:t>kritik</a:t>
            </a:r>
            <a:r>
              <a:rPr sz="2000" b="0">
                <a:solidFill>
                  <a:srgbClr val="1F2D3A"/>
                </a:solidFill>
              </a:rPr>
              <a:t> fonksiyonlara yoğunlaştır → maliyet düşük, etki yüksek.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Kaynak → (statik analiz) → derle → </a:t>
            </a:r>
            <a:r>
              <a:rPr sz="2000" b="1">
                <a:solidFill>
                  <a:srgbClr val="1F2D3A"/>
                </a:solidFill>
              </a:rPr>
              <a:t>gizle</a:t>
            </a:r>
            <a:r>
              <a:rPr sz="2000" b="0">
                <a:solidFill>
                  <a:srgbClr val="1F2D3A"/>
                </a:solidFill>
              </a:rPr>
              <a:t> → çeşitlendir (tohum) → paketle/SBOM → </a:t>
            </a:r>
            <a:r>
              <a:rPr sz="2000" b="1">
                <a:solidFill>
                  <a:srgbClr val="1F2D3A"/>
                </a:solidFill>
              </a:rPr>
              <a:t>imzala</a:t>
            </a:r>
            <a:r>
              <a:rPr sz="2000" b="0">
                <a:solidFill>
                  <a:srgbClr val="1F2D3A"/>
                </a:solidFill>
              </a:rPr>
              <a:t> → dağıt (hepsi CI'da kayıtlı).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Çözümlü kendini sınama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Kaynaktan kaynağa gizleme nedir? El ile gizlemeye göre üç avantajı?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Araç C kaynağı alıp gizli C kaynağı üretir. Avantajlar: davranışı korur (hataya kapalı), okunur kaynak sizde kalır, tohumla çeşitlendirme kolay.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Tigress'in dersteki yeri; hangi lisans, neden derste dağıtılmaz?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100327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9. hafta kurallarının otomatik hâli. Kâr amacı gütmeyen kullanım ücretsiz, ticari için Arizona lisansı. Kaynak kapalı → ikilisi derste dağıtılmaz; öğrenci resmî siteden indirir.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Şu dönüşümleri 9. hafta kurallarıyla eşle: Flatten, EncodeArithmetic, EncodeLiterals, Virtualize, AddOpaque.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057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Flatten→K-04, EncodeArithmetic→K-02, EncodeLiterals→K-07/K-08, Virtualize→K-10, AddOpaque→K-01/K-03.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Bir dönüşüm hattı neden tek dönüşümden güçlü? Sıra neden önemli?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Katmanlar birbirini güçlendirir (9. hafta "birlikte"). Sıra sonucu ve başarımı etkiler; kimi sıra gereksiz yavaşlatır ya da zayıf sonuç verir.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Her dönüşüm hattından sonra hangi iki şeyi mutlaka yaparsın?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(1) Birim testlerini çalıştır (davranış korunmuş mu?), (2) boyut/hız ölç (maliyet).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Virtualize neden yalnız küçük ve kritik fonksiyonlara uygulanır?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Maliyeti çok yüksek (onlarca kat yavaşlama, boyut). Getirisi ancak en değerli, küçük fonksiyonlarda maliyeti haklı çıkarır.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Tohum (`--Seed`) çeşitlendirmeyi nasıl sağlar? Uzayda/zamanda fark?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Farklı tohum → farklı opak yüklem/sahte dal/durum. Uzayda: farklı kopyalar aynı anda. Zamanda: her sürüm yeni tohum.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Çeşitlendirme gizlemenin gücünü mü, ölçeklenmesini mi engeller?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Gücünü artırmaz (bir kopya yine kırılabilir); </a:t>
            </a:r>
            <a:r>
              <a:rPr sz="2000" b="1">
                <a:solidFill>
                  <a:srgbClr val="1F2D3A"/>
                </a:solidFill>
              </a:rPr>
              <a:t>ölçeklenmesini</a:t>
            </a:r>
            <a:r>
              <a:rPr sz="2000" b="0">
                <a:solidFill>
                  <a:srgbClr val="1F2D3A"/>
                </a:solidFill>
              </a:rPr>
              <a:t> engeller — bir kırık her yeri açmaz.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Banescu vd. çalışmasının ders için ana kuralı?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Dayanıklılık ölçülen bir niceliktir. Dönüşümleri birleştirmek sembolik yürütmeyi üstel zorlar; ama maliyet de artar → </a:t>
            </a:r>
            <a:r>
              <a:rPr sz="2000" b="1">
                <a:solidFill>
                  <a:srgbClr val="1F2D3A"/>
                </a:solidFill>
              </a:rPr>
              <a:t>dayanıklılık ↔ maliyet ödünleşir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Gizlemeyi derleme hattına koyarken imzalama neden gizlemeden sonra?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İmza, dağıtılan </a:t>
            </a:r>
            <a:r>
              <a:rPr sz="2000" b="1">
                <a:solidFill>
                  <a:srgbClr val="1F2D3A"/>
                </a:solidFill>
              </a:rPr>
              <a:t>son</a:t>
            </a:r>
            <a:r>
              <a:rPr sz="2000" b="0">
                <a:solidFill>
                  <a:srgbClr val="1F2D3A"/>
                </a:solidFill>
              </a:rPr>
              <a:t> ikiliyi kapsamalı. Önce gizlenir, sonra imzalanır; sürüm kimliği/özet tutarlı olur.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S15'te "yalnız hassas fonksiyonlar gizlenir" kuralının gerekçesi?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Her fonksiyonu gizlemek programı çok yavaşlatır/şişirir. Maliyeti yalnız değerli fonksiyonlarda üstlenmek mantıklı.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9, 11 ve 14. haftaların ortak kuralını bir cümleyle yaz.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Koruma kırılamazlık değil </a:t>
            </a:r>
            <a:r>
              <a:rPr sz="2000" b="1">
                <a:solidFill>
                  <a:srgbClr val="1F2D3A"/>
                </a:solidFill>
              </a:rPr>
              <a:t>gecikme</a:t>
            </a:r>
            <a:r>
              <a:rPr sz="2000" b="0">
                <a:solidFill>
                  <a:srgbClr val="1F2D3A"/>
                </a:solidFill>
              </a:rPr>
              <a:t> sağlar; gücü </a:t>
            </a:r>
            <a:r>
              <a:rPr sz="2000" b="1">
                <a:solidFill>
                  <a:srgbClr val="1F2D3A"/>
                </a:solidFill>
              </a:rPr>
              <a:t>katmanların birleşiminden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1">
                <a:solidFill>
                  <a:srgbClr val="1F2D3A"/>
                </a:solidFill>
              </a:rPr>
              <a:t>çeşitlendirmeden</a:t>
            </a:r>
            <a:r>
              <a:rPr sz="2000" b="0">
                <a:solidFill>
                  <a:srgbClr val="1F2D3A"/>
                </a:solidFill>
              </a:rPr>
              <a:t> ve </a:t>
            </a:r>
            <a:r>
              <a:rPr sz="2000" b="1">
                <a:solidFill>
                  <a:srgbClr val="1F2D3A"/>
                </a:solidFill>
              </a:rPr>
              <a:t>ölçülmüş</a:t>
            </a:r>
            <a:r>
              <a:rPr sz="2000" b="0">
                <a:solidFill>
                  <a:srgbClr val="1F2D3A"/>
                </a:solidFill>
              </a:rPr>
              <a:t> olmaktan gelir.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Kapanış · üç hafta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9:</a:t>
            </a:r>
            <a:r>
              <a:rPr sz="2000" b="0">
                <a:solidFill>
                  <a:srgbClr val="1F2D3A"/>
                </a:solidFill>
              </a:rPr>
              <a:t> gizleme kuralları (el ile)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11:</a:t>
            </a:r>
            <a:r>
              <a:rPr sz="2000" b="0">
                <a:solidFill>
                  <a:srgbClr val="1F2D3A"/>
                </a:solidFill>
              </a:rPr>
              <a:t> whitebox (anahtar)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14:</a:t>
            </a:r>
            <a:r>
              <a:rPr sz="2000" b="0">
                <a:solidFill>
                  <a:srgbClr val="1F2D3A"/>
                </a:solidFill>
              </a:rPr>
              <a:t> otomasyon + çeşitlendirme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548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Hepsi aynı çerçeve: maliyet + katman + ölçüm.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121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Ek A · İşlenmiş ölçüm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Senaryo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A1123F"/>
                </a:solidFill>
                <a:latin typeface="Consolas"/>
              </a:rPr>
              <a:t>erisim_ver</a:t>
            </a:r>
            <a:r>
              <a:rPr sz="2000" b="0">
                <a:solidFill>
                  <a:srgbClr val="1F2D3A"/>
                </a:solidFill>
              </a:rPr>
              <a:t> fonksiyonunu iki hatla gizleyip ölçelim: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Hat A:</a:t>
            </a:r>
            <a:r>
              <a:rPr sz="2000" b="0">
                <a:solidFill>
                  <a:srgbClr val="1F2D3A"/>
                </a:solidFill>
              </a:rPr>
              <a:t> EncodeLiterals + EncodeArithmetic (hafif)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Hat B:</a:t>
            </a:r>
            <a:r>
              <a:rPr sz="2000" b="0">
                <a:solidFill>
                  <a:srgbClr val="1F2D3A"/>
                </a:solidFill>
              </a:rPr>
              <a:t> Hat A + Flatten + AddOpaque (ağır)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Önce · temel çizgi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030224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program_temiz: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boyut: 100 KB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işlem süresi: 1.00× (referans)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erisim_ver temel blok: 5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Hat A · ölçüm (örnek)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030224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boyut: 103 KB   (+%3)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süre:  1.05×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blok:  7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strings hassas dize: 0  (öncesi 3)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46583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Ucuz; dize gizleme büyük getiri.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Hat B · ölçüm (örnek)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841247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boyut: 131 KB   (+%31)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süre:  1.80×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blok:  40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7685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Güç arttı (blok 5→40); maliyet de arttı.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Karşılaştırma tablosu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818365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27883"/>
                <a:gridCol w="1818589"/>
                <a:gridCol w="1818589"/>
                <a:gridCol w="1818589"/>
              </a:tblGrid>
              <a:tr h="351129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Ölçüt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Temiz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Hat A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Hat B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Boyut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100 KB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103 KB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131 KB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Süre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1.00×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1.05×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1.80×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Blok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7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40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113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Hassas dize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3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0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0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Karar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Varlık değeri </a:t>
            </a:r>
            <a:r>
              <a:rPr sz="2000" b="1">
                <a:solidFill>
                  <a:srgbClr val="1F2D3A"/>
                </a:solidFill>
              </a:rPr>
              <a:t>düşük</a:t>
            </a:r>
            <a:r>
              <a:rPr sz="2000" b="0">
                <a:solidFill>
                  <a:srgbClr val="1F2D3A"/>
                </a:solidFill>
              </a:rPr>
              <a:t> → Hat A yeter.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Varlık değeri </a:t>
            </a:r>
            <a:r>
              <a:rPr sz="2000" b="1">
                <a:solidFill>
                  <a:srgbClr val="1F2D3A"/>
                </a:solidFill>
              </a:rPr>
              <a:t>yüksek</a:t>
            </a:r>
            <a:r>
              <a:rPr sz="2000" b="0">
                <a:solidFill>
                  <a:srgbClr val="1F2D3A"/>
                </a:solidFill>
              </a:rPr>
              <a:t> → Hat B (maliyeti kabul et) + çeşitlendirme.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278888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Karar sayılara dayanır, hisse değil.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Çeşitlendirme ölçümü (örnek)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Hat B'yi tohum 1001 ve 2002 ile üret.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Korunan fonksiyonun bayt farkı: </a:t>
            </a:r>
            <a:r>
              <a:rPr sz="2000" b="1">
                <a:solidFill>
                  <a:srgbClr val="1F2D3A"/>
                </a:solidFill>
              </a:rPr>
              <a:t>%92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Yorum: bir kopyaya yazılan yama diğerinde büyük olasılıkla çalışmaz.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129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Ek B · Mini vaka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Vaka · kurgu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Sentetik bir uygulamada bir </a:t>
            </a:r>
            <a:r>
              <a:rPr sz="2000" b="1">
                <a:solidFill>
                  <a:srgbClr val="1F2D3A"/>
                </a:solidFill>
              </a:rPr>
              <a:t>lisans denetimi</a:t>
            </a:r>
            <a:r>
              <a:rPr sz="2000" b="0">
                <a:solidFill>
                  <a:srgbClr val="1F2D3A"/>
                </a:solidFill>
              </a:rPr>
              <a:t> ve bir </a:t>
            </a:r>
            <a:r>
              <a:rPr sz="2000" b="1">
                <a:solidFill>
                  <a:srgbClr val="1F2D3A"/>
                </a:solidFill>
              </a:rPr>
              <a:t>anahtar türetme</a:t>
            </a:r>
            <a:r>
              <a:rPr sz="2000" b="0">
                <a:solidFill>
                  <a:srgbClr val="1F2D3A"/>
                </a:solidFill>
              </a:rPr>
              <a:t> fonksiyonu var.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İkisini de mi ağır gizleyeceğiz?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Vaka · karar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Lisans denetimi:</a:t>
            </a:r>
            <a:r>
              <a:rPr sz="2000" b="0">
                <a:solidFill>
                  <a:srgbClr val="1F2D3A"/>
                </a:solidFill>
              </a:rPr>
              <a:t> orta değer → Hat B (Flatten + AddOpaque).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Anahtar türetme:</a:t>
            </a:r>
            <a:r>
              <a:rPr sz="2000" b="0">
                <a:solidFill>
                  <a:srgbClr val="1F2D3A"/>
                </a:solidFill>
              </a:rPr>
              <a:t> yüksek değer → Hat B + </a:t>
            </a:r>
            <a:r>
              <a:rPr sz="2000" b="1">
                <a:solidFill>
                  <a:srgbClr val="1F2D3A"/>
                </a:solidFill>
              </a:rPr>
              <a:t>Virtualize</a:t>
            </a:r>
            <a:r>
              <a:rPr sz="2000" b="0">
                <a:solidFill>
                  <a:srgbClr val="1F2D3A"/>
                </a:solidFill>
              </a:rPr>
              <a:t> (küçük olduğu için maliyet kabul edilebilir).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Gerisi: gizlenmez (maliyet gereksiz).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Vaka · çeşitlendirme + hat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sürüm farklı tohum.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Derleme hattı: gizle → imzala → sürüm kimliği.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CI'da birim testleri + ölçüm otomatik.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Vaka · S9/S15 çıktısı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3" cy="11795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84310"/>
                <a:gridCol w="2297165"/>
                <a:gridCol w="2153592"/>
                <a:gridCol w="3876466"/>
              </a:tblGrid>
              <a:tr h="39319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Fonksiyon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Hat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Boyut/süre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Gerekçe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lisans_dogrula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B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+%31 / 1.8×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orta değer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anahtar_turet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B+Virtualize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+%60 / 3×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yüksek değer, küçük fn.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Vaka · kalan risk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Yeterince kararlı saldırgan tek kopyada çözebilir.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Telafi: çeşitlendirme + kısa ömürlü anahtar + sunucu denetimi.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Açıkça yazılır.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135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Ek C · Alternatif ve sınırlar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O-LLVM (derleyici tabanlı)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Obfuscator-LLVM:</a:t>
            </a:r>
            <a:r>
              <a:rPr sz="2000" b="0">
                <a:solidFill>
                  <a:srgbClr val="1F2D3A"/>
                </a:solidFill>
              </a:rPr>
              <a:t> dönüşümleri </a:t>
            </a:r>
            <a:r>
              <a:rPr sz="2000" b="1">
                <a:solidFill>
                  <a:srgbClr val="1F2D3A"/>
                </a:solidFill>
              </a:rPr>
              <a:t>derleme sırasında</a:t>
            </a:r>
            <a:r>
              <a:rPr sz="2000" b="0">
                <a:solidFill>
                  <a:srgbClr val="1F2D3A"/>
                </a:solidFill>
              </a:rPr>
              <a:t> uygular.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Kaynaktan kaynağa değil; LLVM ara temsili üstünde.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9. hafta K-11. Tigress'e bir alternatif.</a:t>
            </a: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Tigress mi, O-LLVM mi?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15270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29339"/>
                <a:gridCol w="4676372"/>
                <a:gridCol w="2805823"/>
              </a:tblGrid>
              <a:tr h="381762">
                <a:tc>
                  <a:txBody>
                    <a:bodyPr wrap="square"/>
                    <a:lstStyle/>
                    <a:p/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Tigress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O-LLVM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Nerede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Kaynak (C→C)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Derleyici (IR)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Görünürlük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Gizli kaynağı görebilirsin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Derleme adımı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Dönüşüm zenginliği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Çok (Virtualize dahil)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Daha sınırlı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Ortak sınır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İkisi de iyi bilinir → kalıpları tanınabilir.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İkisi de </a:t>
            </a:r>
            <a:r>
              <a:rPr sz="2000" b="1">
                <a:solidFill>
                  <a:srgbClr val="1F2D3A"/>
                </a:solidFill>
              </a:rPr>
              <a:t>çeşitlendirme</a:t>
            </a:r>
            <a:r>
              <a:rPr sz="2000" b="0">
                <a:solidFill>
                  <a:srgbClr val="1F2D3A"/>
                </a:solidFill>
              </a:rPr>
              <a:t> ve </a:t>
            </a:r>
            <a:r>
              <a:rPr sz="2000" b="1">
                <a:solidFill>
                  <a:srgbClr val="1F2D3A"/>
                </a:solidFill>
              </a:rPr>
              <a:t>katmanlı savunma</a:t>
            </a:r>
            <a:r>
              <a:rPr sz="2000" b="0">
                <a:solidFill>
                  <a:srgbClr val="1F2D3A"/>
                </a:solidFill>
              </a:rPr>
              <a:t> ister.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İkisi de kırılamazlık </a:t>
            </a:r>
            <a:r>
              <a:rPr sz="2000" b="1">
                <a:solidFill>
                  <a:srgbClr val="1F2D3A"/>
                </a:solidFill>
              </a:rPr>
              <a:t>vermez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Terimler sözlüğü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207934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71852"/>
                <a:gridCol w="7439682"/>
              </a:tblGrid>
              <a:tr h="346557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Terim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Anlam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Kaynaktan kaynağa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 girip gizli C çıkaran gizleme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Dönüşüm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Tek gizleme işlemi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Hat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Dönüşümlerin sıralı bütünü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Tohum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Rastgeleliği yöneten sayı (çeşitlendirme)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6560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Sembolik yürütme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Yol-çözen otomatik analiz (KLEE)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Kaynaklar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925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Tigress</a:t>
            </a:r>
            <a:r>
              <a:rPr sz="2000" b="0">
                <a:solidFill>
                  <a:srgbClr val="1F2D3A"/>
                </a:solidFill>
              </a:rPr>
              <a:t> resmî sitesi/çalışma sayfaları (</a:t>
            </a:r>
            <a:r>
              <a:rPr sz="2000" b="0">
                <a:solidFill>
                  <a:srgbClr val="A1123F"/>
                </a:solidFill>
                <a:latin typeface="Consolas"/>
              </a:rPr>
              <a:t>tigress.wtf</a:t>
            </a:r>
            <a:r>
              <a:rPr sz="2000" b="0">
                <a:solidFill>
                  <a:srgbClr val="1F2D3A"/>
                </a:solidFill>
              </a:rPr>
              <a:t>) — dönüşümler, sözdizimi, v4, lisans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Collberg &amp; Nagra, </a:t>
            </a:r>
            <a:r>
              <a:rPr sz="2000" b="0" i="1">
                <a:solidFill>
                  <a:srgbClr val="1F2D3A"/>
                </a:solidFill>
              </a:rPr>
              <a:t>Surreptitious Software</a:t>
            </a:r>
            <a:r>
              <a:rPr sz="2000" b="0">
                <a:solidFill>
                  <a:srgbClr val="1F2D3A"/>
                </a:solidFill>
              </a:rPr>
              <a:t> — taksonomi, ölçme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Banescu vd. — Tigress + KLEE dayanıklılık ölçümü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Obfuscator-LLVM — derleyici tabanlı alternatif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Özet: bu haftanın tek cümlesi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934719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Tigress, 9. haftanın gizleme kurallarını </a:t>
            </a:r>
            <a:r>
              <a:rPr sz="2000" b="1">
                <a:solidFill>
                  <a:srgbClr val="1F2D3A"/>
                </a:solidFill>
              </a:rPr>
              <a:t>otomatik</a:t>
            </a:r>
            <a:r>
              <a:rPr sz="2000" b="0">
                <a:solidFill>
                  <a:srgbClr val="1F2D3A"/>
                </a:solidFill>
              </a:rPr>
              <a:t> ve </a:t>
            </a:r>
            <a:r>
              <a:rPr sz="2000" b="1">
                <a:solidFill>
                  <a:srgbClr val="1F2D3A"/>
                </a:solidFill>
              </a:rPr>
              <a:t>çeşitlendirilmiş</a:t>
            </a:r>
            <a:r>
              <a:rPr sz="2000" b="0">
                <a:solidFill>
                  <a:srgbClr val="1F2D3A"/>
                </a:solidFill>
              </a:rPr>
              <a:t> uygular; ama kural aynı: gizleme </a:t>
            </a:r>
            <a:r>
              <a:rPr sz="2000" b="1">
                <a:solidFill>
                  <a:srgbClr val="1F2D3A"/>
                </a:solidFill>
              </a:rPr>
              <a:t>kırılamazlık değil gecikme</a:t>
            </a:r>
            <a:r>
              <a:rPr sz="2000" b="0">
                <a:solidFill>
                  <a:srgbClr val="1F2D3A"/>
                </a:solidFill>
              </a:rPr>
              <a:t>; birleştir, çeşitlendir, </a:t>
            </a:r>
            <a:r>
              <a:rPr sz="2000" b="1">
                <a:solidFill>
                  <a:srgbClr val="1F2D3A"/>
                </a:solidFill>
              </a:rPr>
              <a:t>ölç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142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9456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Sonraki hafta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56616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</a:rPr>
              <a:t>15. hafta — Final proje gösterimleri (RAP2)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051808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</a:rPr>
              <a:t>Dönem içeriği tamamlandı. Final raporunda bu haftanın </a:t>
            </a:r>
            <a:r>
              <a:rPr sz="2000" b="1">
                <a:solidFill>
                  <a:srgbClr val="FFFFFF"/>
                </a:solidFill>
              </a:rPr>
              <a:t>hattı (S15)</a:t>
            </a:r>
            <a:r>
              <a:rPr sz="2000" b="0">
                <a:solidFill>
                  <a:srgbClr val="FFFFFF"/>
                </a:solidFill>
              </a:rPr>
              <a:t> ve </a:t>
            </a:r>
            <a:r>
              <a:rPr sz="2000" b="1">
                <a:solidFill>
                  <a:srgbClr val="FFFFFF"/>
                </a:solidFill>
              </a:rPr>
              <a:t>ölçümleri (S9)</a:t>
            </a:r>
            <a:r>
              <a:rPr sz="2000" b="0">
                <a:solidFill>
                  <a:srgbClr val="FFFFFF"/>
                </a:solidFill>
              </a:rPr>
              <a:t> beklenir. 16. hafta: Quiz-2.</a:t>
            </a:r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143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Ek D · Dönüşüm dönüşüm</a:t>
            </a:r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Neden tek tek?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Bir hat kurarken </a:t>
            </a:r>
            <a:r>
              <a:rPr sz="2000" b="1">
                <a:solidFill>
                  <a:srgbClr val="1F2D3A"/>
                </a:solidFill>
              </a:rPr>
              <a:t>hangi dönüşümü neden</a:t>
            </a:r>
            <a:r>
              <a:rPr sz="2000" b="0">
                <a:solidFill>
                  <a:srgbClr val="1F2D3A"/>
                </a:solidFill>
              </a:rPr>
              <a:t> seçtiğinizi bilmelisiniz.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Her dönüşümü: ne yapar · ne zaman · maliyet.</a:t>
            </a:r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Flatten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Ne yapar:</a:t>
            </a:r>
            <a:r>
              <a:rPr sz="2000" b="0">
                <a:solidFill>
                  <a:srgbClr val="1F2D3A"/>
                </a:solidFill>
              </a:rPr>
              <a:t> kontrol akışını tek switch'e taşır (K-04).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Ne zaman:</a:t>
            </a:r>
            <a:r>
              <a:rPr sz="2000" b="0">
                <a:solidFill>
                  <a:srgbClr val="1F2D3A"/>
                </a:solidFill>
              </a:rPr>
              <a:t> algoritma yapısını gizlemek için; çoğu hatta.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Maliyet:</a:t>
            </a:r>
            <a:r>
              <a:rPr sz="2000" b="0">
                <a:solidFill>
                  <a:srgbClr val="1F2D3A"/>
                </a:solidFill>
              </a:rPr>
              <a:t> orta.</a:t>
            </a: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AddOpaque / InitOpaque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Ne yapar:</a:t>
            </a:r>
            <a:r>
              <a:rPr sz="2000" b="0">
                <a:solidFill>
                  <a:srgbClr val="1F2D3A"/>
                </a:solidFill>
              </a:rPr>
              <a:t> opak yüklemler ve sahte dallar ekler (K-01, K-03).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Ne zaman:</a:t>
            </a:r>
            <a:r>
              <a:rPr sz="2000" b="0">
                <a:solidFill>
                  <a:srgbClr val="1F2D3A"/>
                </a:solidFill>
              </a:rPr>
              <a:t> Flatten'ı güçlendirmek için.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Maliyet:</a:t>
            </a:r>
            <a:r>
              <a:rPr sz="2000" b="0">
                <a:solidFill>
                  <a:srgbClr val="1F2D3A"/>
                </a:solidFill>
              </a:rPr>
              <a:t> orta.</a:t>
            </a:r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EncodeArithmetic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Ne yapar:</a:t>
            </a:r>
            <a:r>
              <a:rPr sz="2000" b="0">
                <a:solidFill>
                  <a:srgbClr val="1F2D3A"/>
                </a:solidFill>
              </a:rPr>
              <a:t> aritmetiği denk karmaşık ifadeyle değiştirir (K-02).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Ne zaman:</a:t>
            </a:r>
            <a:r>
              <a:rPr sz="2000" b="0">
                <a:solidFill>
                  <a:srgbClr val="1F2D3A"/>
                </a:solidFill>
              </a:rPr>
              <a:t> hesap/karşılaştırma içeren fonksiyonlarda.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Maliyet:</a:t>
            </a:r>
            <a:r>
              <a:rPr sz="2000" b="0">
                <a:solidFill>
                  <a:srgbClr val="1F2D3A"/>
                </a:solidFill>
              </a:rPr>
              <a:t> düşük.</a:t>
            </a:r>
          </a:p>
        </p:txBody>
      </p:sp>
    </p:spTree>
  </p:cSld>
  <p:clrMapOvr>
    <a:masterClrMapping/>
  </p:clrMapOvr>
</p:sld>
</file>

<file path=ppt/slides/slide1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EncodeLiterals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Ne yapar:</a:t>
            </a:r>
            <a:r>
              <a:rPr sz="2000" b="0">
                <a:solidFill>
                  <a:srgbClr val="1F2D3A"/>
                </a:solidFill>
              </a:rPr>
              <a:t> sabit ve dizgeleri kodlar (K-07, K-08).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Ne zaman:</a:t>
            </a:r>
            <a:r>
              <a:rPr sz="2000" b="0">
                <a:solidFill>
                  <a:srgbClr val="1F2D3A"/>
                </a:solidFill>
              </a:rPr>
              <a:t> neredeyse her zaman (ucuz, yüksek getiri).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Maliyet:</a:t>
            </a:r>
            <a:r>
              <a:rPr sz="2000" b="0">
                <a:solidFill>
                  <a:srgbClr val="1F2D3A"/>
                </a:solidFill>
              </a:rPr>
              <a:t> çok düşük.</a:t>
            </a:r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EncodeData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Ne yapar:</a:t>
            </a:r>
            <a:r>
              <a:rPr sz="2000" b="0">
                <a:solidFill>
                  <a:srgbClr val="1F2D3A"/>
                </a:solidFill>
              </a:rPr>
              <a:t> değişkenlerin gösterimini kodlar (K-09).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Ne zaman:</a:t>
            </a:r>
            <a:r>
              <a:rPr sz="2000" b="0">
                <a:solidFill>
                  <a:srgbClr val="1F2D3A"/>
                </a:solidFill>
              </a:rPr>
              <a:t> hassas değişkenleri gizlemek için.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Maliyet:</a:t>
            </a:r>
            <a:r>
              <a:rPr sz="2000" b="0">
                <a:solidFill>
                  <a:srgbClr val="1F2D3A"/>
                </a:solidFill>
              </a:rPr>
              <a:t> düşük–orta.</a:t>
            </a:r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Split / Merge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Ne yapar:</a:t>
            </a:r>
            <a:r>
              <a:rPr sz="2000" b="0">
                <a:solidFill>
                  <a:srgbClr val="1F2D3A"/>
                </a:solidFill>
              </a:rPr>
              <a:t> fonksiyonları böler/birleştirir; yapıyı bulanıklaştırır (K-06).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Ne zaman:</a:t>
            </a:r>
            <a:r>
              <a:rPr sz="2000" b="0">
                <a:solidFill>
                  <a:srgbClr val="1F2D3A"/>
                </a:solidFill>
              </a:rPr>
              <a:t> fonksiyon sınırlarını gizlemek için.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Maliyet:</a:t>
            </a:r>
            <a:r>
              <a:rPr sz="2000" b="0">
                <a:solidFill>
                  <a:srgbClr val="1F2D3A"/>
                </a:solidFill>
              </a:rPr>
              <a:t> düşük–orta.</a:t>
            </a:r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Virtualize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Ne yapar:</a:t>
            </a:r>
            <a:r>
              <a:rPr sz="2000" b="0">
                <a:solidFill>
                  <a:srgbClr val="1F2D3A"/>
                </a:solidFill>
              </a:rPr>
              <a:t> fonksiyonu özel VM bayt koduna çevirir (K-10).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Ne zaman:</a:t>
            </a:r>
            <a:r>
              <a:rPr sz="2000" b="0">
                <a:solidFill>
                  <a:srgbClr val="1F2D3A"/>
                </a:solidFill>
              </a:rPr>
              <a:t> yalnız en kritik, </a:t>
            </a:r>
            <a:r>
              <a:rPr sz="2000" b="1">
                <a:solidFill>
                  <a:srgbClr val="1F2D3A"/>
                </a:solidFill>
              </a:rPr>
              <a:t>küçük</a:t>
            </a:r>
            <a:r>
              <a:rPr sz="2000" b="0">
                <a:solidFill>
                  <a:srgbClr val="1F2D3A"/>
                </a:solidFill>
              </a:rPr>
              <a:t> fonksiyonlar.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Maliyet: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1">
                <a:solidFill>
                  <a:srgbClr val="1F2D3A"/>
                </a:solidFill>
              </a:rPr>
              <a:t>yüksek</a:t>
            </a:r>
            <a:r>
              <a:rPr sz="2000" b="0">
                <a:solidFill>
                  <a:srgbClr val="1F2D3A"/>
                </a:solidFill>
              </a:rPr>
              <a:t> (onlarca kat yavaşlama).</a:t>
            </a: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Jit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Ne yapar:</a:t>
            </a:r>
            <a:r>
              <a:rPr sz="2000" b="0">
                <a:solidFill>
                  <a:srgbClr val="1F2D3A"/>
                </a:solidFill>
              </a:rPr>
              <a:t> kodu çalışma anında üretir (dinamik, K-12).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Ne zaman:</a:t>
            </a:r>
            <a:r>
              <a:rPr sz="2000" b="0">
                <a:solidFill>
                  <a:srgbClr val="1F2D3A"/>
                </a:solidFill>
              </a:rPr>
              <a:t> çok seçici; ileri kullanım.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Maliyet:</a:t>
            </a:r>
            <a:r>
              <a:rPr sz="2000" b="0">
                <a:solidFill>
                  <a:srgbClr val="1F2D3A"/>
                </a:solidFill>
              </a:rPr>
              <a:t> yüksek; OS korumalarıyla dikkat.</a:t>
            </a:r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AntiBranchAnalysis / AntiAliasAnalysis / AntiTaintAnalysis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Ne yapar:</a:t>
            </a:r>
            <a:r>
              <a:rPr sz="2000" b="0">
                <a:solidFill>
                  <a:srgbClr val="1F2D3A"/>
                </a:solidFill>
              </a:rPr>
              <a:t> ilgili statik analiz tekniğini zorlaştırır (önleyici aile).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Ne zaman:</a:t>
            </a:r>
            <a:r>
              <a:rPr sz="2000" b="0">
                <a:solidFill>
                  <a:srgbClr val="1F2D3A"/>
                </a:solidFill>
              </a:rPr>
              <a:t> belirli analiz tehdidine karşı.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Maliyet:</a:t>
            </a:r>
            <a:r>
              <a:rPr sz="2000" b="0">
                <a:solidFill>
                  <a:srgbClr val="1F2D3A"/>
                </a:solidFill>
              </a:rPr>
              <a:t> değişken.</a:t>
            </a:r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RandomFuns / RndArgs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Ne yapar:</a:t>
            </a:r>
            <a:r>
              <a:rPr sz="2000" b="0">
                <a:solidFill>
                  <a:srgbClr val="1F2D3A"/>
                </a:solidFill>
              </a:rPr>
              <a:t> rastgele sahte fonksiyon/parametre ekler.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Ne zaman:</a:t>
            </a:r>
            <a:r>
              <a:rPr sz="2000" b="0">
                <a:solidFill>
                  <a:srgbClr val="1F2D3A"/>
                </a:solidFill>
              </a:rPr>
              <a:t> çeşitlendirmeyi güçlendirmek için (tohumla).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Maliyet:</a:t>
            </a:r>
            <a:r>
              <a:rPr sz="2000" b="0">
                <a:solidFill>
                  <a:srgbClr val="1F2D3A"/>
                </a:solidFill>
              </a:rPr>
              <a:t> düşük–orta.</a:t>
            </a:r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Hangi dönüşüm önce?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Tipik sıra (kavramsal):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42515"/>
            <a:ext cx="10911535" cy="21488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1. </a:t>
            </a:r>
            <a:r>
              <a:rPr sz="1800" b="0">
                <a:solidFill>
                  <a:srgbClr val="1F2D3A"/>
                </a:solidFill>
              </a:rPr>
              <a:t>EncodeLiterals (ucuz temizlik)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2. </a:t>
            </a:r>
            <a:r>
              <a:rPr sz="1800" b="0">
                <a:solidFill>
                  <a:srgbClr val="1F2D3A"/>
                </a:solidFill>
              </a:rPr>
              <a:t>EncodeArithmetic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3. </a:t>
            </a:r>
            <a:r>
              <a:rPr sz="1800" b="0">
                <a:solidFill>
                  <a:srgbClr val="1F2D3A"/>
                </a:solidFill>
              </a:rPr>
              <a:t>Flatten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4. </a:t>
            </a:r>
            <a:r>
              <a:rPr sz="1800" b="0">
                <a:solidFill>
                  <a:srgbClr val="1F2D3A"/>
                </a:solidFill>
              </a:rPr>
              <a:t>AddOpaque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5. </a:t>
            </a:r>
            <a:r>
              <a:rPr sz="1800" b="0">
                <a:solidFill>
                  <a:srgbClr val="1F2D3A"/>
                </a:solidFill>
              </a:rPr>
              <a:t>(gerekirse) Virtualize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6. </a:t>
            </a:r>
            <a:r>
              <a:rPr sz="1800" b="0">
                <a:solidFill>
                  <a:srgbClr val="1F2D3A"/>
                </a:solidFill>
              </a:rPr>
              <a:t>RandomFuns/RndArgs (çeşitlendirme)</a:t>
            </a:r>
          </a:p>
        </p:txBody>
      </p:sp>
    </p:spTree>
  </p:cSld>
  <p:clrMapOvr>
    <a:masterClrMapping/>
  </p:clrMapOvr>
</p:sld>
</file>

<file path=ppt/slides/slide1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156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Ek E · Gizleme kararı akışı</a:t>
            </a:r>
          </a:p>
        </p:txBody>
      </p:sp>
    </p:spTree>
  </p:cSld>
  <p:clrMapOvr>
    <a:masterClrMapping/>
  </p:clrMapOvr>
</p:sld>
</file>

<file path=ppt/slides/slide1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"Bu fonksiyonu gizlemeli miyim?" —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Soru 1:</a:t>
            </a:r>
            <a:r>
              <a:rPr sz="2000" b="0">
                <a:solidFill>
                  <a:srgbClr val="1F2D3A"/>
                </a:solidFill>
              </a:rPr>
              <a:t> Bu fonksiyon hassas mı? (lisans, anahtar, bütünlük, denetim)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Hayır</a:t>
            </a:r>
            <a:r>
              <a:rPr sz="2000" b="0">
                <a:solidFill>
                  <a:srgbClr val="1F2D3A"/>
                </a:solidFill>
              </a:rPr>
              <a:t> → gizleme; maliyeti boşa harcama.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Evet</a:t>
            </a:r>
            <a:r>
              <a:rPr sz="2000" b="0">
                <a:solidFill>
                  <a:srgbClr val="1F2D3A"/>
                </a:solidFill>
              </a:rPr>
              <a:t> → devam.</a:t>
            </a:r>
          </a:p>
        </p:txBody>
      </p:sp>
    </p:spTree>
  </p:cSld>
  <p:clrMapOvr>
    <a:masterClrMapping/>
  </p:clrMapOvr>
</p:sld>
</file>

<file path=ppt/slides/slide1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"Bu fonksiyonu gizlemeli miyim?" —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Soru 2:</a:t>
            </a:r>
            <a:r>
              <a:rPr sz="2000" b="0">
                <a:solidFill>
                  <a:srgbClr val="1F2D3A"/>
                </a:solidFill>
              </a:rPr>
              <a:t> Değeri yüksek mi?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Orta</a:t>
            </a:r>
            <a:r>
              <a:rPr sz="2000" b="0">
                <a:solidFill>
                  <a:srgbClr val="1F2D3A"/>
                </a:solidFill>
              </a:rPr>
              <a:t> → EncodeLiterals + EncodeArithmetic + Flatten + AddOpaque.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Yüksek ve küçük</a:t>
            </a:r>
            <a:r>
              <a:rPr sz="2000" b="0">
                <a:solidFill>
                  <a:srgbClr val="1F2D3A"/>
                </a:solidFill>
              </a:rPr>
              <a:t> → yukarısı + Virtualize.</a:t>
            </a:r>
          </a:p>
        </p:txBody>
      </p:sp>
    </p:spTree>
  </p:cSld>
  <p:clrMapOvr>
    <a:masterClrMapping/>
  </p:clrMapOvr>
</p:sld>
</file>

<file path=ppt/slides/slide1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"Bu fonksiyonu gizlemeli miyim?" —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Soru 3:</a:t>
            </a:r>
            <a:r>
              <a:rPr sz="2000" b="0">
                <a:solidFill>
                  <a:srgbClr val="1F2D3A"/>
                </a:solidFill>
              </a:rPr>
              <a:t> Her durumda: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Çeşitlendir (tohum)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Ölç (boyut, süre, blok)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Birim testleriyle davranışı doğrula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S9/S15'e yaz</a:t>
            </a:r>
          </a:p>
        </p:txBody>
      </p:sp>
    </p:spTree>
  </p:cSld>
  <p:clrMapOvr>
    <a:masterClrMapping/>
  </p:clrMapOvr>
</p:sld>
</file>

<file path=ppt/slides/slide1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Karar akışı · tek bakış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294790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Hassas mı? --hayır--&gt; gizleme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 | evet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Değeri?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 orta   -&gt; EncodeLiterals+Arithmetic+Flatten+AddOpaque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 yüksek+küçük -&gt; + Virtualize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Her durumda: çeşitlendir + ölç + testle + S9/S15</a:t>
            </a:r>
          </a:p>
        </p:txBody>
      </p:sp>
    </p:spTree>
  </p:cSld>
  <p:clrMapOvr>
    <a:masterClrMapping/>
  </p:clrMapOvr>
</p:sld>
</file>

<file path=ppt/slides/slide1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161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Ek F · Sık yapılan hatalar</a:t>
            </a:r>
          </a:p>
        </p:txBody>
      </p:sp>
    </p:spTree>
  </p:cSld>
  <p:clrMapOvr>
    <a:masterClrMapping/>
  </p:clrMapOvr>
</p:sld>
</file>

<file path=ppt/slides/slide1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Hata · her şeyi gizlemek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Tüm fonksiyonları gizlemek programı çok yavaşlatır/şişirir.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Yalnız hassas ve değerli fonksiyonlar.</a:t>
            </a:r>
          </a:p>
        </p:txBody>
      </p:sp>
    </p:spTree>
  </p:cSld>
  <p:clrMapOvr>
    <a:masterClrMapping/>
  </p:clrMapOvr>
</p:sld>
</file>

<file path=ppt/slides/slide1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Hata · testsiz gizleme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Gizlemeden sonra birim testleri çalıştırılmazsa, bozuk davranış fark edilmez.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hattan sonra test </a:t>
            </a:r>
            <a:r>
              <a:rPr sz="2000" b="1">
                <a:solidFill>
                  <a:srgbClr val="1F2D3A"/>
                </a:solidFill>
              </a:rPr>
              <a:t>zorunlu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Hata · ölçmeden "güçlü" demek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Ölçüm yoksa değerlendirici (12. hafta) bunu </a:t>
            </a:r>
            <a:r>
              <a:rPr sz="2000" b="1">
                <a:solidFill>
                  <a:srgbClr val="1F2D3A"/>
                </a:solidFill>
              </a:rPr>
              <a:t>iddia</a:t>
            </a:r>
            <a:r>
              <a:rPr sz="2000" b="0">
                <a:solidFill>
                  <a:srgbClr val="1F2D3A"/>
                </a:solidFill>
              </a:rPr>
              <a:t> sayar.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Boyut/süre/blok sayılarını yaz.</a:t>
            </a:r>
          </a:p>
        </p:txBody>
      </p:sp>
    </p:spTree>
  </p:cSld>
  <p:clrMapOvr>
    <a:masterClrMapping/>
  </p:clrMapOvr>
</p:sld>
</file>

<file path=ppt/slides/slide1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Hata · çeşitlendirmeyi atlamak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Tek tip gizleme → bir kırık her kopyayı açar.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sürüm/dağıtım farklı tohum.</a:t>
            </a:r>
          </a:p>
        </p:txBody>
      </p:sp>
    </p:spTree>
  </p:cSld>
  <p:clrMapOvr>
    <a:masterClrMapping/>
  </p:clrMapOvr>
</p:sld>
</file>

<file path=ppt/slides/slide1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Hata · imzayı gizlemeden önce yapmak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İmza dağıtılan </a:t>
            </a:r>
            <a:r>
              <a:rPr sz="2000" b="1">
                <a:solidFill>
                  <a:srgbClr val="1F2D3A"/>
                </a:solidFill>
              </a:rPr>
              <a:t>son</a:t>
            </a:r>
            <a:r>
              <a:rPr sz="2000" b="0">
                <a:solidFill>
                  <a:srgbClr val="1F2D3A"/>
                </a:solidFill>
              </a:rPr>
              <a:t> ikiliyi kapsamalı.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Önce gizle, sonra imzala.</a:t>
            </a:r>
          </a:p>
        </p:txBody>
      </p:sp>
    </p:spTree>
  </p:cSld>
  <p:clrMapOvr>
    <a:masterClrMapping/>
  </p:clrMapOvr>
</p:sld>
</file>

<file path=ppt/slides/slide1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Hata · eski/dağıtılan Tigress kullanmak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Derste ikili dağıtılmaz; güncel sürümü resmî siteden indir.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Lisans koşulunu doğrula.</a:t>
            </a:r>
          </a:p>
        </p:txBody>
      </p:sp>
    </p:spTree>
  </p:cSld>
  <p:clrMapOvr>
    <a:masterClrMapping/>
  </p:clrMapOvr>
</p:sld>
</file>

<file path=ppt/slides/slide1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Ek · kapanış notu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Bu ekler size </a:t>
            </a:r>
            <a:r>
              <a:rPr sz="2000" b="1">
                <a:solidFill>
                  <a:srgbClr val="1F2D3A"/>
                </a:solidFill>
              </a:rPr>
              <a:t>kendi hattınızı</a:t>
            </a:r>
            <a:r>
              <a:rPr sz="2000" b="0">
                <a:solidFill>
                  <a:srgbClr val="1F2D3A"/>
                </a:solidFill>
              </a:rPr>
              <a:t> kurmanın somut kalıbını verdi: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dönüşüm dönüşüm seçim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karar akışı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kaçınılacak hatalar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3204464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Doğru araç + doğru ölçüm + çeşitlendirme = savunulabilir bir S9/S15.</a:t>
            </a:r>
          </a:p>
        </p:txBody>
      </p:sp>
    </p:spTree>
  </p:cSld>
  <p:clrMapOvr>
    <a:masterClrMapping/>
  </p:clrMapOvr>
</p:sld>
</file>

<file path=ppt/slides/slide1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169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Ek G · İkinci işlenmiş hat</a:t>
            </a:r>
          </a:p>
        </p:txBody>
      </p:sp>
    </p:spTree>
  </p:cSld>
  <p:clrMapOvr>
    <a:masterClrMapping/>
  </p:clrMapOvr>
</p:sld>
</file>

<file path=ppt/slides/slide1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Yeni örnek · bütünlük denetimi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408176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int dosya_saglam(const uint8_t *veri, size_t n,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         const uint8_t *beklenen)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uint8_t ozet[32];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ozet_hesapla(veri, n, ozet);        /* SHA-256 benzeri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return sabit_zamanli_esit(ozet, beklenen, 32);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843784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Sürüm bütünlüğünü denetleyen sentetik bir fonksiyon.</a:t>
            </a:r>
          </a:p>
        </p:txBody>
      </p:sp>
    </p:spTree>
  </p:cSld>
  <p:clrMapOvr>
    <a:masterClrMapping/>
  </p:clrMapOvr>
</p:sld>
</file>

<file path=ppt/slides/slide1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Neden bunu gizleyelim?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Saldırgan bu denetimi bulup </a:t>
            </a:r>
            <a:r>
              <a:rPr sz="2000" b="1">
                <a:solidFill>
                  <a:srgbClr val="1F2D3A"/>
                </a:solidFill>
              </a:rPr>
              <a:t>atlatmak</a:t>
            </a:r>
            <a:r>
              <a:rPr sz="2000" b="0">
                <a:solidFill>
                  <a:srgbClr val="1F2D3A"/>
                </a:solidFill>
              </a:rPr>
              <a:t> ister (kurcalanmış dosyayı geçirmek için).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Denetimin dönüş noktası ve karşılaştırması hedef.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9. hafta: opak boolean + rastgele çıkış burada kritik.</a:t>
            </a:r>
          </a:p>
        </p:txBody>
      </p:sp>
    </p:spTree>
  </p:cSld>
  <p:clrMapOvr>
    <a:masterClrMapping/>
  </p:clrMapOvr>
</p:sld>
</file>

<file path=ppt/slides/slide1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Hat seçimi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59715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tigress \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--Transform=EncodeLiterals \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--Transform=EncodeArithmetic \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--Transform=Flatten \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--Transform=AddOpaque \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--Functions=dosya_saglam \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--out=gizli.c temiz.c</a:t>
            </a:r>
          </a:p>
        </p:txBody>
      </p:sp>
    </p:spTree>
  </p:cSld>
  <p:clrMapOvr>
    <a:masterClrMapping/>
  </p:clrMapOvr>
</p:sld>
</file>

<file path=ppt/slides/slide1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adım · ne olur?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EncodeLiterals: </a:t>
            </a:r>
            <a:r>
              <a:rPr sz="2000" b="0">
                <a:solidFill>
                  <a:srgbClr val="A1123F"/>
                </a:solidFill>
                <a:latin typeface="Consolas"/>
              </a:rPr>
              <a:t>32</a:t>
            </a:r>
            <a:r>
              <a:rPr sz="2000" b="0">
                <a:solidFill>
                  <a:srgbClr val="1F2D3A"/>
                </a:solidFill>
              </a:rPr>
              <a:t> ve varsa dizgeler düz görünmez.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EncodeArithmetic: karşılaştırma karmaşıklaşır.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Flatten: tek dönüş noktası görünmez.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AddOpaque: sahte dallar; "başarı" dalı tek yerde değil.</a:t>
            </a:r>
          </a:p>
        </p:txBody>
      </p:sp>
    </p:spTree>
  </p:cSld>
  <p:clrMapOvr>
    <a:masterClrMapping/>
  </p:clrMapOvr>
</p:sld>
</file>

<file path=ppt/slides/slide1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Davranış doğrulama (zorunlu)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Doğru özetli dosya → </a:t>
            </a:r>
            <a:r>
              <a:rPr sz="2000" b="1">
                <a:solidFill>
                  <a:srgbClr val="1F2D3A"/>
                </a:solidFill>
              </a:rPr>
              <a:t>geçer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Bozuk özetli dosya → </a:t>
            </a:r>
            <a:r>
              <a:rPr sz="2000" b="1">
                <a:solidFill>
                  <a:srgbClr val="1F2D3A"/>
                </a:solidFill>
              </a:rPr>
              <a:t>reddedilir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Gizli sürümde de aynı sonuç → hat doğru.</a:t>
            </a:r>
          </a:p>
        </p:txBody>
      </p:sp>
    </p:spTree>
  </p:cSld>
  <p:clrMapOvr>
    <a:masterClrMapping/>
  </p:clrMapOvr>
</p:sld>
</file>

<file path=ppt/slides/slide1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CFG önce/sonra (kavram)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65227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Önce:  [hesapla] → [karşılaştır] → [geç]/[red]   (birkaç blok)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Sonra: [switch] ⇄ {çok sayıda case + sahte}      (çok blok)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87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Denetimin nerede geçtiği/kaldığı akıştan okunmaz.</a:t>
            </a:r>
          </a:p>
        </p:txBody>
      </p:sp>
    </p:spTree>
  </p:cSld>
  <p:clrMapOvr>
    <a:masterClrMapping/>
  </p:clrMapOvr>
</p:sld>
</file>

<file path=ppt/slides/slide1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⚠️ Sabit zamanlılık korunmalı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sabit_zamanli_esit</a:t>
            </a:r>
            <a:r>
              <a:rPr sz="2000" b="0">
                <a:solidFill>
                  <a:srgbClr val="1F2D3A"/>
                </a:solidFill>
              </a:rPr>
              <a:t> gizlense de </a:t>
            </a:r>
            <a:r>
              <a:rPr sz="2000" b="1">
                <a:solidFill>
                  <a:srgbClr val="1F2D3A"/>
                </a:solidFill>
              </a:rPr>
              <a:t>sabit zamanlı</a:t>
            </a:r>
            <a:r>
              <a:rPr sz="2000" b="0">
                <a:solidFill>
                  <a:srgbClr val="1F2D3A"/>
                </a:solidFill>
              </a:rPr>
              <a:t> kalmalı.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Gizleme uğruna erken çıkış eklenirse yan kanal açılır (3. hafta).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Dönüşümlerin bunu bozmadığını </a:t>
            </a:r>
            <a:r>
              <a:rPr sz="2000" b="1">
                <a:solidFill>
                  <a:srgbClr val="1F2D3A"/>
                </a:solidFill>
              </a:rPr>
              <a:t>test et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Ölçüm (örnek)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7819932" cy="15270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82754"/>
                <a:gridCol w="1818589"/>
                <a:gridCol w="1818589"/>
              </a:tblGrid>
              <a:tr h="38176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Ölçüt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Önce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Sonra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Boyut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100 KB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128 KB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Süre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1.0×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1.7×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Blok (dosya_saglam)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33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Çeşitlendirme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173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İki tohumla üret → iki farklı ikili.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"Bütünlük denetimini atla" yaması bir kopyada işe yarasa bile diğerinde yaramaz.</a:t>
            </a:r>
          </a:p>
        </p:txBody>
      </p:sp>
    </p:spTree>
  </p:cSld>
  <p:clrMapOvr>
    <a:masterClrMapping/>
  </p:clrMapOvr>
</p:sld>
</file>

<file path=ppt/slides/slide1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İkinci örnek · çıkarım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Bütünlük denetimi gibi </a:t>
            </a:r>
            <a:r>
              <a:rPr sz="2000" b="1">
                <a:solidFill>
                  <a:srgbClr val="1F2D3A"/>
                </a:solidFill>
              </a:rPr>
              <a:t>atlatma hedefi</a:t>
            </a:r>
            <a:r>
              <a:rPr sz="2000" b="0">
                <a:solidFill>
                  <a:srgbClr val="1F2D3A"/>
                </a:solidFill>
              </a:rPr>
              <a:t> fonksiyonlarda gizleme değerlidir.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Ama asıl güç: gizleme + RASP (6. hafta) + sunucu denetimi.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Gizleme tek başına atlatmayı </a:t>
            </a:r>
            <a:r>
              <a:rPr sz="2000" b="1">
                <a:solidFill>
                  <a:srgbClr val="1F2D3A"/>
                </a:solidFill>
              </a:rPr>
              <a:t>geciktirir</a:t>
            </a:r>
            <a:r>
              <a:rPr sz="2000" b="0">
                <a:solidFill>
                  <a:srgbClr val="1F2D3A"/>
                </a:solidFill>
              </a:rPr>
              <a:t>, engellemez.</a:t>
            </a:r>
          </a:p>
        </p:txBody>
      </p:sp>
    </p:spTree>
  </p:cSld>
  <p:clrMapOvr>
    <a:masterClrMapping/>
  </p:clrMapOvr>
</p:sld>
</file>

<file path=ppt/slides/slide1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180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Ek H · Hızlı başvuru</a:t>
            </a:r>
          </a:p>
        </p:txBody>
      </p:sp>
    </p:spTree>
  </p:cSld>
  <p:clrMapOvr>
    <a:masterClrMapping/>
  </p:clrMapOvr>
</p:sld>
</file>

<file path=ppt/slides/slide1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181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Dönüşüm seçim kılavuzu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8365510" cy="240304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82755"/>
                <a:gridCol w="4182755"/>
              </a:tblGrid>
              <a:tr h="343291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İstediğin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Dönüşüm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Dizge/sabit gizle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EncodeLiterals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Hesabı gizle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EncodeArithmetic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Yapıyı gizle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Flatten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Sahte/opak ekle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AddOpaque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Makine kodunu gizle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Virtualize (pahalı)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Çeşitlendir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--Seed, RandomFuns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182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Kontrol listesi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4917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 </a:t>
            </a:r>
            <a:r>
              <a:rPr sz="1800" b="0">
                <a:solidFill>
                  <a:srgbClr val="A1123F"/>
                </a:solidFill>
                <a:latin typeface="Consolas"/>
              </a:rPr>
              <a:t>--Functions</a:t>
            </a:r>
            <a:r>
              <a:rPr sz="1800" b="0">
                <a:solidFill>
                  <a:srgbClr val="1F2D3A"/>
                </a:solidFill>
              </a:rPr>
              <a:t>)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 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 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 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 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 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 </a:t>
            </a:r>
          </a:p>
        </p:txBody>
      </p:sp>
    </p:spTree>
  </p:cSld>
  <p:clrMapOvr>
    <a:masterClrMapping/>
  </p:clrMapOvr>
</p:sld>
</file>

<file path=ppt/slides/slide1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183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Son söz (14. hafta)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Araç güçlüdür ama </a:t>
            </a:r>
            <a:r>
              <a:rPr sz="2000" b="1">
                <a:solidFill>
                  <a:srgbClr val="1F2D3A"/>
                </a:solidFill>
              </a:rPr>
              <a:t>karar sizindir</a:t>
            </a:r>
            <a:r>
              <a:rPr sz="2000" b="0">
                <a:solidFill>
                  <a:srgbClr val="1F2D3A"/>
                </a:solidFill>
              </a:rPr>
              <a:t>: neyi, neden, hangi maliyetle gizliyorsunuz?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4012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Ölç, çeşitlendir, katmanla. Gizleme kırılamazlık değil, </a:t>
            </a:r>
            <a:r>
              <a:rPr sz="2000" b="1">
                <a:solidFill>
                  <a:srgbClr val="1F2D3A"/>
                </a:solidFill>
              </a:rPr>
              <a:t>kazanılan zamandır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CEN429 Hafta 14 — Tigress ve Çeşitlendirme</dc:title>
  <dc:subject/>
  <dc:creator>Dr. Öğr. Üyesi Uğur CORUH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