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gösterim haftası: her takım güvenlik kılavuzunun tamamını, korumalı uygulamasını ve test sonuçlarını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gösteriminde (RAP2) tüm bölümler TAM beklenir; her maddeyi ne kanıtlayacağınızı açıklıyoruz.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Final Proje Gösterimleri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25.12.2026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hafta: final proje gösterimleri (RAP2)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anlatılmaz; final raporu (</a:t>
            </a:r>
            <a:r>
              <a:rPr sz="2000" b="1">
                <a:solidFill>
                  <a:srgbClr val="1F2D3A"/>
                </a:solidFill>
              </a:rPr>
              <a:t>kılavuzun tamamı</a:t>
            </a:r>
            <a:r>
              <a:rPr sz="2000" b="0">
                <a:solidFill>
                  <a:srgbClr val="1F2D3A"/>
                </a:solidFill>
              </a:rPr>
              <a:t>) + korumalı uygulama + test sonuçları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RAP2 = finalin </a:t>
            </a:r>
            <a:r>
              <a:rPr sz="2000" b="1">
                <a:solidFill>
                  <a:srgbClr val="1F2D3A"/>
                </a:solidFill>
              </a:rPr>
              <a:t>%70</a:t>
            </a:r>
            <a:r>
              <a:rPr sz="2000" b="0">
                <a:solidFill>
                  <a:srgbClr val="1F2D3A"/>
                </a:solidFill>
              </a:rPr>
              <a:t>'i · Quiz-2 = </a:t>
            </a:r>
            <a:r>
              <a:rPr sz="2000" b="1">
                <a:solidFill>
                  <a:srgbClr val="1F2D3A"/>
                </a:solidFill>
              </a:rPr>
              <a:t>%30</a:t>
            </a:r>
            <a:r>
              <a:rPr sz="2000" b="0">
                <a:solidFill>
                  <a:srgbClr val="1F2D3A"/>
                </a:solidFill>
              </a:rPr>
              <a:t> · Başarı = </a:t>
            </a:r>
            <a:r>
              <a:rPr sz="2000" b="0">
                <a:solidFill>
                  <a:srgbClr val="A1123F"/>
                </a:solidFill>
                <a:latin typeface="Consolas"/>
              </a:rPr>
              <a:t>0,4·Vize + 0,6·Final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Ayrıntılı rubrik: proje rehberi · sıra ve süre: ders sınıfı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⚠️ Geç teslim yok · vize geri bildirimleri için </a:t>
            </a:r>
            <a:r>
              <a:rPr sz="2000" b="1">
                <a:solidFill>
                  <a:srgbClr val="1F2D3A"/>
                </a:solidFill>
              </a:rPr>
              <a:t>bulgu–aksiyon listesi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Final rubriği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730"/>
                <a:gridCol w="1055955"/>
                <a:gridCol w="3519850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Kriter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Kılavuzda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iletişim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· S11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Varlık yönetimi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(tam) · S8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İkili korumalar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(ileri) · S15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testi ve birim testleri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Standartlar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· S14 · S17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Final rapor ve sunum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Tümü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Kılavuz haritası S0–S17 — şema</a:t>
            </a:r>
          </a:p>
        </p:txBody>
      </p:sp>
      <p:pic>
        <p:nvPicPr>
          <p:cNvPr id="7" name="Picture 6" descr="h15-02-kilavuz-harit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499" y="1325880"/>
            <a:ext cx="781669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Vizeden finale: yeni ve tamamlanacak bölümler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1030"/>
                <a:gridCol w="5530504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Yeni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Tamamlanacak / güncellenecek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kimlik ve bağlama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varlıklar (tam)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 kripto ve anahtarlar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sağlamlaştırma (ileri)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S11 güvenli iletişim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 raporlama (tam)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S14 varsayımlar ve devredilenler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güncel SBOM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S15 derleme ve dağıtım hattı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sonuçlar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S17 tam matris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RAP2 teslimi — şema</a:t>
            </a:r>
          </a:p>
        </p:txBody>
      </p:sp>
      <p:pic>
        <p:nvPicPr>
          <p:cNvPr id="7" name="Picture 6" descr="h15-01-r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778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Hazırlık kontrol listesi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21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782"/>
                <a:gridCol w="9948752"/>
              </a:tblGrid>
              <a:tr h="4535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Gösterebilmeniz gereken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9, 14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Gizlenen fonksiyonlar ve gerekçe · maliyet tablosu · derleme hattında gizleme ve imzalama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Algoritma envanteri · anahtar yaşam döngüsü · TLS/sabitleme · imza doğrulaması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Hassas varlık için koruma yöntemi ya da gerekçesi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planı +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sonuçlar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birim testleri · CI · bulgu–aksiyon listesi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Uyum matrisi · varsayımlar ve devredilenler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Önerilen gösterim akışı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Özet:</a:t>
            </a:r>
            <a:r>
              <a:rPr sz="2000" b="0">
                <a:solidFill>
                  <a:srgbClr val="1F2D3A"/>
                </a:solidFill>
              </a:rPr>
              <a:t> ürün, mimari, en kritik üç varlık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Vizeden bu yana:</a:t>
            </a:r>
            <a:r>
              <a:rPr sz="2000" b="0">
                <a:solidFill>
                  <a:srgbClr val="1F2D3A"/>
                </a:solidFill>
              </a:rPr>
              <a:t> bulgu–aksiyon listesi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Canlı gösterim:</a:t>
            </a:r>
            <a:r>
              <a:rPr sz="2000" b="0">
                <a:solidFill>
                  <a:srgbClr val="1F2D3A"/>
                </a:solidFill>
              </a:rPr>
              <a:t> kripto, güvenli iletişim, bir koruma katmanı </a:t>
            </a:r>
            <a:r>
              <a:rPr sz="2000" b="1">
                <a:solidFill>
                  <a:srgbClr val="1F2D3A"/>
                </a:solidFill>
              </a:rPr>
              <a:t>çalışırken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testler, koruma tablosu, SBOM, uyum matrisi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Kalan risk:</a:t>
            </a:r>
            <a:r>
              <a:rPr sz="2000" b="0">
                <a:solidFill>
                  <a:srgbClr val="1F2D3A"/>
                </a:solidFill>
              </a:rPr>
              <a:t> bilerek kapsam dışı olanlar ve nedenleri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Final gösterimi — şema</a:t>
            </a:r>
          </a:p>
        </p:txBody>
      </p:sp>
      <p:pic>
        <p:nvPicPr>
          <p:cNvPr id="7" name="Picture 6" descr="h15-03-goste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sorular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anahtar nereden türetiliyor, nerede duruyor, ne zaman siliniyor?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Zincir ve ad doğrulaması nerede?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doğrulaması başarısızsa ne oluyor? Eski imzalı sürüm yüklenebilir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Gizlemenin maliyetini ölçtünüz mü?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Şu "karşılandı" satırının kanıtı nerede?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gereksinimi devrettiniz, karşı taraf nasıl karşılayacak?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Sık yapılan hatalar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1496"/>
                <a:gridCol w="5810038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Neden sorun?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planı var, sonuç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Finalde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beklenir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Kanıtsız "karşılandı"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Karşılanmamış sayılır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Kılavuz ile kod sürümü farklı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Değerlendirilen ürün belirsiz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Boş kalan risk bölümü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Eksik analiz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Vize geri bildirimi yok sayılmış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Bulgu–aksiyon döngüsü sürecin parçası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Depoda gerçek sır / kişisel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Değerler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sentetik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olmalı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S16: plan değil sonuç — şema</a:t>
            </a:r>
          </a:p>
        </p:txBody>
      </p:sp>
      <p:pic>
        <p:nvPicPr>
          <p:cNvPr id="7" name="Picture 6" descr="h15-04-s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Dönem sonunda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Kılavuzunuz = sertifikasyon belgelerinin küçük bir modeli → </a:t>
            </a:r>
            <a:r>
              <a:rPr sz="2000" b="1">
                <a:solidFill>
                  <a:srgbClr val="1F2D3A"/>
                </a:solidFill>
              </a:rPr>
              <a:t>portfolyo</a:t>
            </a:r>
            <a:r>
              <a:rPr sz="2000" b="0">
                <a:solidFill>
                  <a:srgbClr val="1F2D3A"/>
                </a:solidFill>
              </a:rPr>
              <a:t> (gizli bilgi içermediğinden emin olun)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Teslim edilen her satır açıklanabilmeli; her takım üyesine soru sorulabilir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Final dönemi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16 — Quiz-2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Kapsam: 9–14. haftalar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Çalışma rehberi: 16. hafta sayfası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Final rubriği madde madde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Final neyi ölçer?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Final gösterimi projenizin </a:t>
            </a:r>
            <a:r>
              <a:rPr sz="2000" b="1">
                <a:solidFill>
                  <a:srgbClr val="1F2D3A"/>
                </a:solidFill>
              </a:rPr>
              <a:t>tamamını</a:t>
            </a:r>
            <a:r>
              <a:rPr sz="2000" b="0">
                <a:solidFill>
                  <a:srgbClr val="1F2D3A"/>
                </a:solidFill>
              </a:rPr>
              <a:t> ölçer: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kripto, güvenli iletişim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yönetimi (tam)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ileri ikili korumalar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</a:t>
            </a:r>
            <a:r>
              <a:rPr sz="2000" b="1">
                <a:solidFill>
                  <a:srgbClr val="1F2D3A"/>
                </a:solidFill>
              </a:rPr>
              <a:t>sonuçları</a:t>
            </a:r>
            <a:r>
              <a:rPr sz="2000" b="0">
                <a:solidFill>
                  <a:srgbClr val="1F2D3A"/>
                </a:solidFill>
              </a:rPr>
              <a:t>, standartlar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Madde · kriptografi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Algoritma envanteri, anahtar yaşam döngüsü.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S8 + testler.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Madde · güvenli iletişim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TLS, sabitleme, mesaj düzeyi.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S6, S11 + test.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Madde · ileri ikili korumalar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(S9 ileri), derleme hattı (S15).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ölçüm tablosu + imzalama.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Madde · test ve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</a:t>
            </a:r>
            <a:r>
              <a:rPr sz="2000" b="1">
                <a:solidFill>
                  <a:srgbClr val="1F2D3A"/>
                </a:solidFill>
              </a:rPr>
              <a:t>sonuçları</a:t>
            </a:r>
            <a:r>
              <a:rPr sz="2000" b="0">
                <a:solidFill>
                  <a:srgbClr val="1F2D3A"/>
                </a:solidFill>
              </a:rPr>
              <a:t> (plan değil).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S16.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Madde · standartlar ve uyum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Uyum matrisi (S17), devredilenler (S14).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S14, S17.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Vizeden finale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Yeni bölümler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S6 kimlik/bağlama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S8 kripto/anahtarlar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S11 güvenli iletişim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S14 varsayımlar/devredilenler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S15 derleme/dağıtım hattı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Tamamlanacaklar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S5 varlıklar (tam)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S9 sağlamlaştırma (ileri)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S12 raporlama (tam)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S16 </a:t>
            </a:r>
            <a:r>
              <a:rPr sz="2000" b="1">
                <a:solidFill>
                  <a:srgbClr val="1F2D3A"/>
                </a:solidFill>
              </a:rPr>
              <a:t>sonuçlar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S17 tam matris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Bulgu–aksiyon (vizeden)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Vize geri bildirimleri bir tabloya: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bulgu → aksiyon → kapanış.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bu döngüyü arar.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Gösterim akışı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Akış · özet + vizeden bu yana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Ürün, mimari, en kritik üç varlık.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Bulgu–aksiyon listesi.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Akış · canlı gösterim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Kripto, güvenli iletişim ve </a:t>
            </a:r>
            <a:r>
              <a:rPr sz="2000" b="1">
                <a:solidFill>
                  <a:srgbClr val="1F2D3A"/>
                </a:solidFill>
              </a:rPr>
              <a:t>bir koruma katmanı</a:t>
            </a:r>
            <a:r>
              <a:rPr sz="2000" b="0">
                <a:solidFill>
                  <a:srgbClr val="1F2D3A"/>
                </a:solidFill>
              </a:rPr>
              <a:t> çalışırken.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Ör. kurcalanmış dosyanın reddi.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Akış · kanıt +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Testler, koruma tablosu, SBOM, uyum matrisi.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Kalan risk: bilerek kapsam dışı olanlar.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Örnek sorular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Bu anahtar hangi anahtardan türetiliyor, nerede duruyor, ne zaman siliniyor?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Sertifika zinciri ve ad denetimi nerede yapılıyor?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İmza doğrulaması başarısızsa ne oluyor? Eski imzalı sürüm yüklenebilir mi?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Gizlemenin maliyetini ölçtünüz mü? Hangi fonksiyonu neden gizlediniz?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Uyum matrisinde şu "karşılandı" satırının kanıtı nerede?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· Sık yapılan hatalar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planı var,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yok.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Kanıtsız "karşılandı".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Kılavuz ile kod sürümü farklı.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Kalan risk boş.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Vize geri bildirimi yok sayılmış.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Depoda gerçek sır/kişisel veri.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(RAP2)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Finalde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beklenir: her koruma çalışırken gösterilir, her gereksinim kanıtla bağlanır.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Kılavuzunuz sertifikasyon belgelerinin küçük bir modelidir; bir </a:t>
            </a:r>
            <a:r>
              <a:rPr sz="2000" b="1">
                <a:solidFill>
                  <a:srgbClr val="1F2D3A"/>
                </a:solidFill>
              </a:rPr>
              <a:t>portfolyo</a:t>
            </a:r>
            <a:r>
              <a:rPr sz="2000" b="0">
                <a:solidFill>
                  <a:srgbClr val="1F2D3A"/>
                </a:solidFill>
              </a:rPr>
              <a:t> öğesidir.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15 — Final Proje Gösterimleri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