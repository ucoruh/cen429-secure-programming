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gösterim haftası: her takım güvenlik kılavuzunun tamamını, korumalı uygulamasını ve test sonuçlarını gösterir.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Final Proje Gösterimleri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Güvenli Programlama — Hafta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25.12.2026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 hafta: final proje gösterimleri (RAP2)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Ders anlatılmaz; final raporu (</a:t>
            </a:r>
            <a:r>
              <a:rPr sz="2000" b="1">
                <a:solidFill>
                  <a:srgbClr val="1F2D3A"/>
                </a:solidFill>
              </a:rPr>
              <a:t>kılavuzun tamamı</a:t>
            </a:r>
            <a:r>
              <a:rPr sz="2000" b="0">
                <a:solidFill>
                  <a:srgbClr val="1F2D3A"/>
                </a:solidFill>
              </a:rPr>
              <a:t>) + korumalı uygulama + test sonuçları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RAP2 = finalin </a:t>
            </a:r>
            <a:r>
              <a:rPr sz="2000" b="1">
                <a:solidFill>
                  <a:srgbClr val="1F2D3A"/>
                </a:solidFill>
              </a:rPr>
              <a:t>%70</a:t>
            </a:r>
            <a:r>
              <a:rPr sz="2000" b="0">
                <a:solidFill>
                  <a:srgbClr val="1F2D3A"/>
                </a:solidFill>
              </a:rPr>
              <a:t>'i · Quiz-2 = </a:t>
            </a:r>
            <a:r>
              <a:rPr sz="2000" b="1">
                <a:solidFill>
                  <a:srgbClr val="1F2D3A"/>
                </a:solidFill>
              </a:rPr>
              <a:t>%30</a:t>
            </a:r>
            <a:r>
              <a:rPr sz="2000" b="0">
                <a:solidFill>
                  <a:srgbClr val="1F2D3A"/>
                </a:solidFill>
              </a:rPr>
              <a:t> · Başarı = </a:t>
            </a:r>
            <a:r>
              <a:rPr sz="2000" b="0">
                <a:solidFill>
                  <a:srgbClr val="A1123F"/>
                </a:solidFill>
                <a:latin typeface="Consolas"/>
              </a:rPr>
              <a:t>0,4·Vize + 0,6·Final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Ayrıntılı rubrik: proje rehberi · sıra ve süre: ders sınıfı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⚠️ Geç teslim yok · vize geri bildirimleri için </a:t>
            </a:r>
            <a:r>
              <a:rPr sz="2000" b="1">
                <a:solidFill>
                  <a:srgbClr val="1F2D3A"/>
                </a:solidFill>
              </a:rPr>
              <a:t>bulgu–aksiyon listesi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RAP2 teslimi — şema</a:t>
            </a:r>
          </a:p>
        </p:txBody>
      </p:sp>
      <p:pic>
        <p:nvPicPr>
          <p:cNvPr id="7" name="Picture 6" descr="h15-01-ra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562" y="1325880"/>
            <a:ext cx="952057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Final rubriği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2726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730"/>
                <a:gridCol w="1055955"/>
                <a:gridCol w="3519850"/>
              </a:tblGrid>
              <a:tr h="34084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Kriter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Kılavuzda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Kriptografi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 iletişim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S6 · S11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Varlık yönetimi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S5 (tam) · S8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Binary korumalar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S9 (ileri) · S15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Güvenlik testi ve birim testleri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S16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sonuçlar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Standartlar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 · S14 · S17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Final rapor ve sunum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Tümü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Vizeden finale: yeni ve tamamlanacak bölümler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1030"/>
                <a:gridCol w="5530504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Yeni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Tamamlanacak / güncellenecek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S6 kimlik ve bağlama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S5 varlıklar (tam)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S8 kripto ve anahtarlar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S9 sağlamlaştırma (ileri)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S11 güvenli iletişim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S12 raporlama (tam)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S14 varsayımlar ve devredilenler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S13 güncel SBOM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S15 derleme ve dağıtım hattı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S16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sonuçlar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· S17 tam matris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Kılavuz haritası S0–S17 — şema</a:t>
            </a:r>
          </a:p>
        </p:txBody>
      </p:sp>
      <p:pic>
        <p:nvPicPr>
          <p:cNvPr id="7" name="Picture 6" descr="h15-02-kilavuz-harita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8851" y="1325880"/>
            <a:ext cx="645399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Hazırlık kontrol listesi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721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2782"/>
                <a:gridCol w="9948752"/>
              </a:tblGrid>
              <a:tr h="45354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Hafta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Gösterebilmeniz gereken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9, 14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Gizlenen fonksiyonlar ve gerekçe · maliyet tablosu · derleme hattında gizleme ve imzalama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Algoritma envanteri · anahtar yaşam döngüsü · TLS/sabitleme · imza doğrulaması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Hassas varlık için koruma yöntemi ya da gerekçesi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Test planı +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sonuçlar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· birim testleri · CI · bulgu–aksiyon listesi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5354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Uyum matrisi · varsayımlar ve devredilenler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Önerilen gösterim akışı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631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Özet:</a:t>
            </a:r>
            <a:r>
              <a:rPr sz="2000" b="0">
                <a:solidFill>
                  <a:srgbClr val="1F2D3A"/>
                </a:solidFill>
              </a:rPr>
              <a:t> ürün, mimari, en kritik üç varlık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Vizeden bu yana:</a:t>
            </a:r>
            <a:r>
              <a:rPr sz="2000" b="0">
                <a:solidFill>
                  <a:srgbClr val="1F2D3A"/>
                </a:solidFill>
              </a:rPr>
              <a:t> bulgu–aksiyon listesi (bulgu → aksiyon → kapanış; değerlendirici bu döngüyü arar)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Canlı gösterim:</a:t>
            </a:r>
            <a:r>
              <a:rPr sz="2000" b="0">
                <a:solidFill>
                  <a:srgbClr val="1F2D3A"/>
                </a:solidFill>
              </a:rPr>
              <a:t> kripto, güvenli iletişim, bir koruma katmanı </a:t>
            </a:r>
            <a:r>
              <a:rPr sz="2000" b="1">
                <a:solidFill>
                  <a:srgbClr val="1F2D3A"/>
                </a:solidFill>
              </a:rPr>
              <a:t>çalışırken</a:t>
            </a:r>
            <a:r>
              <a:rPr sz="2000" b="0">
                <a:solidFill>
                  <a:srgbClr val="1F2D3A"/>
                </a:solidFill>
              </a:rPr>
              <a:t> (ör. kurcalanmış dosyanın reddi)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Kanıt:</a:t>
            </a:r>
            <a:r>
              <a:rPr sz="2000" b="0">
                <a:solidFill>
                  <a:srgbClr val="1F2D3A"/>
                </a:solidFill>
              </a:rPr>
              <a:t> testler, koruma tablosu, SBOM, uyum matrisi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1">
                <a:solidFill>
                  <a:srgbClr val="1F2D3A"/>
                </a:solidFill>
              </a:rPr>
              <a:t>Kalan risk:</a:t>
            </a:r>
            <a:r>
              <a:rPr sz="2000" b="0">
                <a:solidFill>
                  <a:srgbClr val="1F2D3A"/>
                </a:solidFill>
              </a:rPr>
              <a:t> bilerek kapsam dışı olanlar ve nedenleri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Final gösterimi — şema</a:t>
            </a:r>
          </a:p>
        </p:txBody>
      </p:sp>
      <p:pic>
        <p:nvPicPr>
          <p:cNvPr id="7" name="Picture 6" descr="h15-03-goste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72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Gösterim kontrol listesi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Gösterimde sırayla neyi açıp göstereceğiniz: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300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Yerel sitenin </a:t>
            </a:r>
            <a:r>
              <a:rPr sz="2000" b="1">
                <a:solidFill>
                  <a:srgbClr val="1F2D3A"/>
                </a:solidFill>
              </a:rPr>
              <a:t>ana sayfası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9-open-site-...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http://localhost</a:t>
            </a:r>
            <a:r>
              <a:rPr sz="2000" b="0">
                <a:solidFill>
                  <a:srgbClr val="1F2D3A"/>
                </a:solidFill>
              </a:rPr>
              <a:t> adresinde).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Her rapor sayfası:</a:t>
            </a:r>
            <a:r>
              <a:rPr sz="2000" b="0">
                <a:solidFill>
                  <a:srgbClr val="1F2D3A"/>
                </a:solidFill>
              </a:rPr>
              <a:t> testler, kod kapsamı, dokümantasyon kapsamı (Windows ve Linux).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API belgeleri.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`release/` klasörünün</a:t>
            </a:r>
            <a:r>
              <a:rPr sz="2000" b="0">
                <a:solidFill>
                  <a:srgbClr val="1F2D3A"/>
                </a:solidFill>
              </a:rPr>
              <a:t> içeriği.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Uygulamayı </a:t>
            </a:r>
            <a:r>
              <a:rPr sz="2000" b="1">
                <a:solidFill>
                  <a:srgbClr val="1F2D3A"/>
                </a:solidFill>
              </a:rPr>
              <a:t>release arşivinden çalıştırma.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6. </a:t>
            </a:r>
            <a:r>
              <a:rPr sz="2000" b="0">
                <a:solidFill>
                  <a:srgbClr val="1F2D3A"/>
                </a:solidFill>
              </a:rPr>
              <a:t>Özel deponuzun </a:t>
            </a:r>
            <a:r>
              <a:rPr sz="2000" b="1">
                <a:solidFill>
                  <a:srgbClr val="1F2D3A"/>
                </a:solidFill>
              </a:rPr>
              <a:t>GitHub Release sayfası</a:t>
            </a:r>
            <a:r>
              <a:rPr sz="2000" b="0">
                <a:solidFill>
                  <a:srgbClr val="1F2D3A"/>
                </a:solidFill>
              </a:rPr>
              <a:t> (ders sorumlusu collaborator olarak ekli).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Örnek sorular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46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anahtar hangi anahtardan türetiliyor, nerede duruyor, ne zaman siliniyor?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Sertifika zincirinizi nasıl doğruluyorsunuz? Ad denetimi nerede yapılıyor?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İmza doğrulaması başarısızsa ne oluyor? Eski imzalı sürüm yüklenebilir mi?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Gizlemenin maliyetini ölçtünüz mü? Hangi fonksiyonu neden gizlediniz?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Uyum matrisinde şu "karşılandı" satırının kanıtı nerede?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Hangi gereksinimi devrettiniz, karşı taraf nasıl karşılayacak?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Sık yapılan hatalar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1496"/>
                <a:gridCol w="5810038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Neden sorun?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Test planı var, sonuç yok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Finalde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sonuç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beklenir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Kanıtsız "karşılandı"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Karşılanmamış sayılır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Kılavuz ile kod sürümü farklı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Değerlendirilen ürün belirsiz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Boş kalan risk bölümü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Eksik analiz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Vize geri bildirimi yok sayılmış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Bulgu–aksiyon döngüsü sürecin parçası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Depoda gerçek sır / kişisel veri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Değerler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sentetik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olmalı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Akademik dürüstlük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İzlencenin "Akademik Dürüstlük" bölümü projede de geçerlidir; teslim edilen her satır açıklanabilmeli, gösterimde takımın her üyesine soru sorulabilir.</a:t>
            </a:r>
          </a:p>
        </p:txBody>
      </p:sp>
      <p:pic>
        <p:nvPicPr>
          <p:cNvPr id="8" name="Picture 7" descr="h15-04-s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461" y="2205736"/>
            <a:ext cx="10080772" cy="39481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Dönem sonunda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Kılavuzunuz = sertifikasyon belgelerinin küçük bir modeli → </a:t>
            </a:r>
            <a:r>
              <a:rPr sz="2000" b="1">
                <a:solidFill>
                  <a:srgbClr val="1F2D3A"/>
                </a:solidFill>
              </a:rPr>
              <a:t>portfolyo</a:t>
            </a:r>
            <a:r>
              <a:rPr sz="2000" b="0">
                <a:solidFill>
                  <a:srgbClr val="1F2D3A"/>
                </a:solidFill>
              </a:rPr>
              <a:t> (gizli bilgi içermediğinden emin olun)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33168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Finalde </a:t>
            </a:r>
            <a:r>
              <a:rPr sz="2000" b="1">
                <a:solidFill>
                  <a:srgbClr val="1F2D3A"/>
                </a:solidFill>
              </a:rPr>
              <a:t>sonuç</a:t>
            </a:r>
            <a:r>
              <a:rPr sz="2000" b="0">
                <a:solidFill>
                  <a:srgbClr val="1F2D3A"/>
                </a:solidFill>
              </a:rPr>
              <a:t> beklenir: her koruma çalışırken gösterilir, her gereksinim kanıtla bağlanır.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Bir sonraki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Hafta 16 — Quiz-2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Final gösteriminden (RAP2) sonra sıra Quiz-2'ye gelir; kapsam 9–14. haftalardır. Çalışma rehberi 16. hafta sayfasındadır.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Hafta 15 — Final Proje Gösterimleri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