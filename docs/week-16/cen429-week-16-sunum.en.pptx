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Quiz-2 dönemi: 9-14. haftaların kavramlarını tekrar ediyoruz; bu sunum çalışma rehberidir.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~112 bit; RSA-3072 ya da X25519. 2) Dolgu kâhini; tek hata, AEAD. 3) Negatif hata geçerli sayılır; == 1 ve sürüm imzalı olmalı. 4) Zincir köke ulaşmıyor. 5) Fail-open; Must-Staple, kısa ömür. 6) İmzalı DH, CertificateVerify.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Cevaplar 16. hafta sayfasında açılır kutularda.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Quiz-2 kapsamı 9-14. hafta. Artık 9, 11, 14. haftalar yayımlandı; örnek soruları eklendi.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Final Dönemi: Quiz-2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04–17.01.2027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Quiz-2: ne, ne zaman?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</a:t>
            </a:r>
            <a:r>
              <a:rPr sz="2000" b="1">
                <a:solidFill>
                  <a:srgbClr val="1F2D3A"/>
                </a:solidFill>
              </a:rPr>
              <a:t>9–14. haftalar</a:t>
            </a:r>
            <a:r>
              <a:rPr sz="2000" b="0">
                <a:solidFill>
                  <a:srgbClr val="1F2D3A"/>
                </a:solidFill>
              </a:rPr>
              <a:t> · finalin </a:t>
            </a:r>
            <a:r>
              <a:rPr sz="2000" b="1">
                <a:solidFill>
                  <a:srgbClr val="1F2D3A"/>
                </a:solidFill>
              </a:rPr>
              <a:t>%30</a:t>
            </a:r>
            <a:r>
              <a:rPr sz="2000" b="0">
                <a:solidFill>
                  <a:srgbClr val="1F2D3A"/>
                </a:solidFill>
              </a:rPr>
              <a:t>'u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Tarih, saat, yer, süre, biçim: </a:t>
            </a:r>
            <a:r>
              <a:rPr sz="2000" b="1">
                <a:solidFill>
                  <a:srgbClr val="1F2D3A"/>
                </a:solidFill>
              </a:rPr>
              <a:t>ders sınıfında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hazırlık: Kendini sınama soruları · 10. hafta OpenSSL adımları · 13. hafta uyum matrisi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68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267"/>
                <a:gridCol w="10234267"/>
              </a:tblGrid>
              <a:tr h="52669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Gizlemenin amacı, maliyeti, ölçülmesi (güç, dayanıklılık, maliyet)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düzeyi · kip ve dolgu · HMAC, EtM, yeniden oynatma · OAEP/PSS, Ed25519/X25519 · imza · DH · PKI, X.509 · CRL/OCSP · PKCS#11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Beyaz/kara kutu modelleri · whitebox'ın katmanlı savunmadaki yeri ve sınırları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 adım · gereksinim şablonu · bulgu–aksiyon · etki analizi · 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İyi gereksinim · uyum matrisi · devredilenler · CC, EAL · FIPS 140-3 · ETSI, EMVCo, PCI, 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Çeşitlendirmenin amacı · maliyet ve etkinlik ölçümü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588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511"/>
                <a:gridCol w="2757860"/>
                <a:gridCol w="6235162"/>
              </a:tblGrid>
              <a:tr h="35881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dolgu · AEAD, dolgu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·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· anahtar anlaşması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SAN'a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OCSP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Liste · anlık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 hedefi · ürün sınıfı seti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Derinlik · saldırganın kaynağı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881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 karşılar · başka taraf (kime, neden, 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881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değerlendirme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Belgeler · yalnız değişeni değerlendirir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 sorular (10. hafta)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RSA-2048 + AES-256: güvenlik düzeyi?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"Dolgu geçersiz" ile "MAC geçersiz" ayrı iletiler: risk?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if (EVP_DigestVerify(...))</a:t>
            </a:r>
            <a:r>
              <a:rPr sz="18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1800" b="0">
                <a:solidFill>
                  <a:srgbClr val="1F2D3A"/>
                </a:solidFill>
              </a:rPr>
              <a:t> ara sertifika olmadan neden başarısız?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OCSP'ye ulaşamayınca kabul: hangi örüntü?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Kimliksiz DH'ye karşı ne yapılır?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 sorular (12–13. haftalar)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TOE neden benzersiz tanımlanır?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Etki analizi ile delta değerlendirme ilişkisi?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"Uygulama güvenli olmalıdır" nasıl düzeltilir?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Kanıtsız "karşılandı" ne anlama gelir?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Kütüphane güvenli güncellemeyi karşılayamıyorsa?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EAL4+ her zaman EAL2'den güvenli mi?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7. </a:t>
            </a:r>
            <a:r>
              <a:rPr sz="1800" b="0">
                <a:solidFill>
                  <a:srgbClr val="1F2D3A"/>
                </a:solidFill>
              </a:rPr>
              <a:t>FIPS doğrulanmış kütüphane = uygulama FIPS uyumlu mu?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şanslar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Cevapları 16. hafta sayfasında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Kılavuzunuz bir </a:t>
            </a:r>
            <a:r>
              <a:rPr sz="2000" b="1">
                <a:solidFill>
                  <a:srgbClr val="1F2D3A"/>
                </a:solidFill>
              </a:rPr>
              <a:t>portfolyo</a:t>
            </a:r>
            <a:r>
              <a:rPr sz="2000" b="0">
                <a:solidFill>
                  <a:srgbClr val="1F2D3A"/>
                </a:solidFill>
              </a:rPr>
              <a:t> öğesidir (gizli bilgi içermediğinden emin olun)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Hafta hafta konu haritası (9–14)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kırılamazlık değil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Kurallar: opak yüklem, düzleştirme, sahte/ölü, veri kodlama.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Ölçme: güç, dayanıklılık, gizlilik,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Çeşitlendirme.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10.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düzeyi;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ve dolgu; dolgu kâhini →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HMAC, encrypt-then-MAC, replay.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OAEP/PSS, Ed25519/X25519; PKI, X.509, CRL/OCSP.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11.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WBC; iç/dış kodlama.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"Hepsi kırıldı" → WBC bir katman.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+ cihaz bağlama + sunucu.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12.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 adım değerlendirme.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+ CVSS.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Sızma testi planı; test kartı.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Etki analizi vs delta.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13.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gereksinim; izlenebilirlik.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matrisi; devredilenler.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 (TOE/ST/PP/SFR/SAR/EAL); FIPS 140-3.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ETSI/EMVCo/PCI/MASVS.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14.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Kaynaktan kaynağa (Tigress).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Dönüşüm hattı; tohumla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+ dayanıklılık ölçümü.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hattı (S15).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karıştırılanlar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07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428"/>
                <a:gridCol w="3023678"/>
                <a:gridCol w="5784428"/>
              </a:tblGrid>
              <a:tr h="40102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Dolgu /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OAEP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 /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/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Derinlik / saldırgan kaynağı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/ başka taraf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Delta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Belgeler / yalnız değişeni değerlendirir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pratik (9, 11, 14)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9.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Sahte işlem ile ölü dal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Sahte işlem çalışır ama sonucu değiştirmez; ölü dal opak yüklemle hiç çalışmaz. İkisi de gerçek mantığı gizler.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9.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Gizlemeyi ölçen dört boyut? Hangileri ödünleşir?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Güç, dayanıklılık, gizlilik, maliyet. Güç/dayanıklılık artarken maliyet artar, gizlilik azalır.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11.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"Yayımlanmış saf-yazılım WBC'lerin hepsi kırıldı" kararınızı nasıl etkiler?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WBC tek başına anahtar güvencesi sayılamaz; yenileme + cihaz bağlama + sunucu denetimi + gizleme ile; mümkünse donanıma taşı.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11.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DCA hangi donanım saldırısına benzer?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DPA'ya (güç analizi); yazılım izlerine istatistik uygular, iç kodlamayı çoğu zaman aşar.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14.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dönüşüm hattından sonra mutlaka yapılacak iki şey?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Birim testleri (davranış korunmuş mu?) ve boyut/hız ölçümü (maliyet).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14.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Tohum (`--Seed`) ne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Çeşitlendirme; aynı dönüşümler farklı tohumla farklı ikili üretir, bir kopyaya yazılan saldırı diğerinde çalışmaz.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10.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· 12–13.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daha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Hayır; EAL derinliktir, güvenlik ST'deki tehdit ve amaçlara bağlı.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Whitebox kriptografide dış kodlamanın (F,G)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Çok yavaş B) </a:t>
            </a:r>
            <a:r>
              <a:rPr sz="2000" b="1">
                <a:solidFill>
                  <a:srgbClr val="1F2D3A"/>
                </a:solidFill>
              </a:rPr>
              <a:t>Standart AES değil</a:t>
            </a:r>
            <a:r>
              <a:rPr sz="2000" b="0">
                <a:solidFill>
                  <a:srgbClr val="1F2D3A"/>
                </a:solidFill>
              </a:rPr>
              <a:t> ✓ C) Tablo küçük D) Anahtar açık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planı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9, 11, 14. hafta sayfalarındaki çözümlü sınamaları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haftanın OpenSSL adımlarını tekrar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13. haftanın uyum matrisi etkinliğini kendin doldur.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(Quiz-2 hazırlık)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Koruma =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; güç katmandan ve </a:t>
            </a:r>
            <a:r>
              <a:rPr sz="2000" b="1">
                <a:solidFill>
                  <a:srgbClr val="1F2D3A"/>
                </a:solidFill>
              </a:rPr>
              <a:t>ölçümden</a:t>
            </a:r>
            <a:r>
              <a:rPr sz="2000" b="0">
                <a:solidFill>
                  <a:srgbClr val="1F2D3A"/>
                </a:solidFill>
              </a:rPr>
              <a:t>. Ezber değil, gerekçe ölçülür.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şanslar.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16 — Final Dönemi: Quiz-2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