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Quiz-2 period: we review the concepts of weeks 9-14; this deck is a study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Quiz-2 covers weeks 9-14. Weeks 9, 11, and 14 have now been published; sample questions have been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1) ~112 bits; RSA-3072 or X25519. 2) Padding oracle; single error, AEAD. 3) A negative error counts as valid; must be == 1, and the version must be signed. 4) The chain doesn't reach the root. 5) Fail-open; Must-Staple, short lifetime. 6) Signed DH, CertificateVerify.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Answers appear in collapsible boxes on the Week 16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Final Exam Period: Quiz-2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Secure Programming — Week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04–17.01.2027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Quiz-2: What, When?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Scope: </a:t>
            </a:r>
            <a:r>
              <a:rPr sz="2000" b="1">
                <a:solidFill>
                  <a:srgbClr val="1F2D3A"/>
                </a:solidFill>
              </a:rPr>
              <a:t>weeks 9–14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30%</a:t>
            </a:r>
            <a:r>
              <a:rPr sz="2000" b="0">
                <a:solidFill>
                  <a:srgbClr val="1F2D3A"/>
                </a:solidFill>
              </a:rPr>
              <a:t> of the final grade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Date, time, place, duration, format: </a:t>
            </a:r>
            <a:r>
              <a:rPr sz="2000" b="1">
                <a:solidFill>
                  <a:srgbClr val="1F2D3A"/>
                </a:solidFill>
              </a:rPr>
              <a:t>announced in class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Best preparation: Self-check questions · Week 10 OpenSSL steps · Week 13 compliance matrix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Final and Course Passing Grade — Diagram</a:t>
            </a:r>
          </a:p>
        </p:txBody>
      </p:sp>
      <p:pic>
        <p:nvPicPr>
          <p:cNvPr id="7" name="Picture 6" descr="h16-02-final-he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821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Topic Map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686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6196"/>
                <a:gridCol w="10305338"/>
              </a:tblGrid>
              <a:tr h="52669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Focus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Purpose, cost, and measurement of obfuscation (potency, resilience, cost)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Security level · modes and padding · HMAC, EtM, replay · OAEP/PSS, Ed25519/X25519 · signature · DH · PKI, X.509 · CRL/OCSP · PKCS#11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White-box/black-box models · white-box's role and limits in layered defence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 steps · requirement template · finding–action · impact analysis · delta assessment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Good requirement · compliance matrix · deferred requirements · CC, EAL · FIPS 140-3 · ETSI, EMVCo, PCI, MASVS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Purpose of diversification · measuring cost and effectiveness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Quiz-2 Scope — Diagram</a:t>
            </a:r>
          </a:p>
        </p:txBody>
      </p:sp>
      <p:pic>
        <p:nvPicPr>
          <p:cNvPr id="7" name="Picture 6" descr="h16-01-kap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876" y="1325880"/>
            <a:ext cx="9811942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Week 9 · 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Obfuscation: not unbreakability, but </a:t>
            </a:r>
            <a:r>
              <a:rPr sz="2000" b="1">
                <a:solidFill>
                  <a:srgbClr val="1F2D3A"/>
                </a:solidFill>
              </a:rPr>
              <a:t>cost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Techniques: opaque predicates, control-flow flattening, bogus/dead code, data encoding.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Measurement: potency, resilience, stealth, cost.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Diversification.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Week 10 · 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Security level; weakest link.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Modes and padding; padding oracle → AEAD.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HMAC, encrypt-then-MAC, replay.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OAEP/PSS, Ed25519/X25519; PKI, X.509, CRL/OCSP.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Week 11 · 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Black/gray/white box.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Table-based WBC; internal/external encoding.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"All broken" → WBC is one layer.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Key renewal + device binding + server.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Week 12 · 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13-step assessment.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Attack potential + CVSS.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Penetration test plan; test card.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Impact analysis vs. delta.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Week 13 · 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Good requirement; traceability.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Compliance matrix; deferred requirements.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 (TOE/ST/PP/SFR/SAR/EAL); FIPS 140-3.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ETSI/EMVCo/PCI/MASVS.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Week 14 · 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Source-to-source (Tigress).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Transformation pipeline; seed-based diversification.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Cost + resilience measurement.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Build pipeline (S15).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Frequently Confused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4016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8232"/>
                <a:gridCol w="2398139"/>
                <a:gridCol w="6235162"/>
              </a:tblGrid>
              <a:tr h="40160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Confidentiality + padding · AEAD, no padding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OAEP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Encryption · signature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Signature · key agreement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Name check → 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OCSP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List · live query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Security target · product class requirement set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Attack potential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Depth · attacker's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Deferred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Product meets it · another party (who, why, how)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60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Impact analysis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Delta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Documents · re-assesses only what changed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Answer Pattern — Diagram</a:t>
            </a:r>
          </a:p>
        </p:txBody>
      </p:sp>
      <p:pic>
        <p:nvPicPr>
          <p:cNvPr id="7" name="Picture 6" descr="h16-03-cevap-kali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6990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Sample Questions (Week 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RSA-2048 + AES-256: security level?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"Padding invalid" vs. "MAC invalid" as separate messages: risk?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Why is </a:t>
            </a:r>
            <a:r>
              <a:rPr sz="1800" b="0">
                <a:solidFill>
                  <a:srgbClr val="A1123F"/>
                </a:solidFill>
                <a:latin typeface="Consolas"/>
              </a:rPr>
              <a:t>if (EVP_DigestVerify(...))</a:t>
            </a:r>
            <a:r>
              <a:rPr sz="1800" b="0">
                <a:solidFill>
                  <a:srgbClr val="1F2D3A"/>
                </a:solidFill>
              </a:rPr>
              <a:t> wrong?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Why does </a:t>
            </a:r>
            <a:r>
              <a:rPr sz="18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1800" b="0">
                <a:solidFill>
                  <a:srgbClr val="1F2D3A"/>
                </a:solidFill>
              </a:rPr>
              <a:t> fail without the intermediate certificate?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Accepting when OCSP is unreachable: which pattern?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What protects against unauthenticated DH?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Sample Questions (Weeks 12–13)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Why must the TOE be uniquely defined?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Relationship between impact analysis and delta assessment?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How is "the application must be secure" fixed?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What does "met" without evidence mean?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If a library cannot meet the secure-update requirement?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Is EAL4+ always more secure than EAL2?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7. </a:t>
            </a:r>
            <a:r>
              <a:rPr sz="1800" b="0">
                <a:solidFill>
                  <a:srgbClr val="1F2D3A"/>
                </a:solidFill>
              </a:rPr>
              <a:t>Does a FIPS-validated library mean the application is FIPS compliant?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Good Luck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Answers on the Week 16 page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Your guide is a </a:t>
            </a:r>
            <a:r>
              <a:rPr sz="2000" b="1">
                <a:solidFill>
                  <a:srgbClr val="1F2D3A"/>
                </a:solidFill>
              </a:rPr>
              <a:t>portfolio</a:t>
            </a:r>
            <a:r>
              <a:rPr sz="2000" b="0">
                <a:solidFill>
                  <a:srgbClr val="1F2D3A"/>
                </a:solidFill>
              </a:rPr>
              <a:t> item (make sure it contains no confidential information)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Difference between bogus code and dead code?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Bogus code executes but doesn't change the result; dead code with an opaque predicate never executes. Both hide the real logic.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four dimensions that measure obfuscation? Which ones trade off?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Potency, resilience, stealth, cost. As potency/resilience increase, cost increases and stealth decreases.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How does "all published pure-software WBCs have been broken" affect your decision?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WBC alone cannot count as key assurance; combine with renewal + device binding + server checks + obfuscation; move to hardware where possible.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Which hardware attack does DCA resemble?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DPA (power analysis); it applies statistics to software traces and often defeats internal encoding.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Two things that must always be done after a transformation pipeline?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Unit tests (is behaviour preserved?) and size/speed measurement (cost).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What does the seed (`--Seed`) provide?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Diversification; the same transformations produce a different binary with a different seed, so an attack written against one copy won't work on another.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four questions of chain validation?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Is the signature valid, does it reach a trusted root, has it not expired, does the name (SAN) match.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Weeks 12–13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Is "EAL4+ is always more secure" true?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No; EAL is depth, security depends on the threats and objectives in the 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Example · Multiple 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What is the limit of external encoding (F,G) in white-box cryptography?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Too slow B) </a:t>
            </a:r>
            <a:r>
              <a:rPr sz="2000" b="1">
                <a:solidFill>
                  <a:srgbClr val="1F2D3A"/>
                </a:solidFill>
              </a:rPr>
              <a:t>Not standard AES</a:t>
            </a:r>
            <a:r>
              <a:rPr sz="2000" b="0">
                <a:solidFill>
                  <a:srgbClr val="1F2D3A"/>
                </a:solidFill>
              </a:rPr>
              <a:t> ✓ C) Table too small D) Key exposed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Study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 the solved practice items on the Week 9, 11, and 14 pages.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Review the Week 10 OpenSSL steps.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Fill in the Week 13 compliance matrix activity yourself.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Term in One Sentence — Diagram</a:t>
            </a:r>
          </a:p>
        </p:txBody>
      </p:sp>
      <p:pic>
        <p:nvPicPr>
          <p:cNvPr id="7" name="Picture 6" descr="h16-04-donem-oze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2709" y="1325880"/>
            <a:ext cx="694627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Final Word (Quiz-2 Prep)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Protection = </a:t>
            </a:r>
            <a:r>
              <a:rPr sz="2000" b="1">
                <a:solidFill>
                  <a:srgbClr val="1F2D3A"/>
                </a:solidFill>
              </a:rPr>
              <a:t>delay</a:t>
            </a:r>
            <a:r>
              <a:rPr sz="2000" b="0">
                <a:solidFill>
                  <a:srgbClr val="1F2D3A"/>
                </a:solidFill>
              </a:rPr>
              <a:t>; strength comes from layering and </a:t>
            </a:r>
            <a:r>
              <a:rPr sz="2000" b="1">
                <a:solidFill>
                  <a:srgbClr val="1F2D3A"/>
                </a:solidFill>
              </a:rPr>
              <a:t>measurement</a:t>
            </a:r>
            <a:r>
              <a:rPr sz="2000" b="0">
                <a:solidFill>
                  <a:srgbClr val="1F2D3A"/>
                </a:solidFill>
              </a:rPr>
              <a:t>. Reasoning is measured, not memorized.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Good luck.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Week 16 — Final Exam Period: Quiz-2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