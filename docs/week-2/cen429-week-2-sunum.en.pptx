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Geçen hafta güvenliğin dilini kurduk (varlık, tehdit, STRIDE, saldırı ağacı). Bu hafta üç sütunu dolduruyoruz: tehdit (zararlı yazılım), savunma (güvenlik modelleri), ortak dil (CWE/CVE/CVSS). Altı demo var; laboratuvarı WSL veya Visual Studio'da açık tutun.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haftanın terimlerini sıfırdan tanımlıyoruz: zararlı yazılım, tespit, erişim modelleri, zafiyet kataloğu.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Demoları önceden bir kez derleyin (code/ içinde build.ps1 ya da build.sh). Derste bekleme olmasın diye ilk üç demoyu açık bırakın.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Öğrencilere sorun: "Telefonunuza bulaşan bir şey duyduğunuzda ona ne dersiniz?" Çoğu "virüs" der. Bu haftadan sonra doğru terimi kullanacaklar.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Tarihleri doğru verin. WannaCry, yama çıktıktan SONRA güncellememiş makinelere yayıldı; bu "yama boşluğu"na dersin sonunda döneceğiz.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"Makroları etkinleştir" uyarısı hâlâ bir saldırı yoludur. Öğrencilere hiç tanımadıkları bir belgede makro etkinleştirmemelerini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formülü sözle anlatın: her enfekte makine rastgele adres tarar, duyarlıya denk gelirse bulaştırır. Sonra Code Red ve Slammer sayılarını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değerini yarıya indirip yeniden çalıştırın; doygunluk süresinin nasıl uzadığını gösterin. Asıl nokta: ilk bulaşmayı mümkün kılan tek bir taşma hatası.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poli_1 ve poli_2 aynı algoritma (xs32) farklı tohum; poli_3 farklı algoritma (lcg8) + cop komut. Desen imzasi ALGO=xs32'yi ariyordu, poli_3'te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kural kaçırır, geniş kural yanlış alarm verir. Kural yalnız bilineni yakalar; bu yüzden sezgisel ve davranış tabanlı yöntemlerle birlikte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Değerlendirici önce dosyayı, sonra beklenen değeri değiştirir. İkinci test geçilemiyorsa denetim yalnız kazaya karşı korur.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Tabloyu zararlının ne yaptığıyla değil, içeri nasıl girdiğiyle okuyun. 1988-2008 çoğunlukla tek bir taşma; 2017 sonrası güncelleme ve derleme süreçleri.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 sorusu: Office'in 2022'den beri internetten gelen belgelerde makroları varsayılan engellemesi hangi eski salgınların kapısını kapattı?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 dugumleri saldirgani birden cok katmani birlikte kirmaya zorlar; derinlemesine savunmanin niceliksel hali.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 adına gömülü tek bir satır sonu, hiç yaşanmamış bir yönetici girişini günlüğe yazdırdı. Biçim dizgesi tuzağını 4. haftaya köprü olarak anın.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Schneier–Kelsey 1999. Doğrulayıcı başlangıç anahtarını çevrimdışı tutar. En güçlü kanıt, saldırganın ulaşamadığı uzak kopyadır.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Askeri kokenli (1973). "Asagi yazma yok" ilk bakista tuhaf gelir; amac cok gizli bilgiyi memurun gorebilecegi bir yere yazmayi engellemek.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 ve 1b'de ACE'ler aynı, yalnız sıra farklı. Son adımda icacls ile demonun kendi dosyasının gerçek ACL'ini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Benzetimdir; gerçek setuid dosyası oluşturulmaz, sudo gerekmez. Sistemdeki setuid programlar yalnız listelenir.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karşılığı: dört göz ilkesi, bölünmüş bilgi ve çift denetim, günlük mutabakat.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iki cevap slaytını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BLP, Biba ve modelleri örneklerle pekiştiriyoruz.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Bilgisayar Virüsleri ve Güvenlik Modelleri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"polimorfik virüs", "Bell–LaPadula", "CVSS"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Hiçbirini bilmediğinizi varsayıyoruz.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Zararlı yazılım (malware)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Zararlı yazılım:</a:t>
            </a:r>
            <a:r>
              <a:rPr sz="2000" b="0">
                <a:solidFill>
                  <a:srgbClr val="1F2D3A"/>
                </a:solidFill>
              </a:rPr>
              <a:t> zarar vermek için yazılmış program.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"Virüs" bir alt türdür; hepsi virüs değildir.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Türler: virüs, solucan, truva atı, fidye, casus…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Virüs, solucan, truva atı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Virüs:</a:t>
            </a:r>
            <a:r>
              <a:rPr sz="2000" b="0">
                <a:solidFill>
                  <a:srgbClr val="1F2D3A"/>
                </a:solidFill>
              </a:rPr>
              <a:t> başka bir programa </a:t>
            </a:r>
            <a:r>
              <a:rPr sz="2000" b="1">
                <a:solidFill>
                  <a:srgbClr val="1F2D3A"/>
                </a:solidFill>
              </a:rPr>
              <a:t>bulaşarak</a:t>
            </a:r>
            <a:r>
              <a:rPr sz="2000" b="0">
                <a:solidFill>
                  <a:srgbClr val="1F2D3A"/>
                </a:solidFill>
              </a:rPr>
              <a:t> yayılır.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Solucan:</a:t>
            </a:r>
            <a:r>
              <a:rPr sz="2000" b="0">
                <a:solidFill>
                  <a:srgbClr val="1F2D3A"/>
                </a:solidFill>
              </a:rPr>
              <a:t> kendi başına, ağ üzerinden </a:t>
            </a:r>
            <a:r>
              <a:rPr sz="2000" b="1">
                <a:solidFill>
                  <a:srgbClr val="1F2D3A"/>
                </a:solidFill>
              </a:rPr>
              <a:t>kendini kopyalar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Truva atı:</a:t>
            </a:r>
            <a:r>
              <a:rPr sz="2000" b="0">
                <a:solidFill>
                  <a:srgbClr val="1F2D3A"/>
                </a:solidFill>
              </a:rPr>
              <a:t> faydalı görünüp gizli zararlı taşır.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Fidye ve diğerleri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Fidye (ransomware):</a:t>
            </a:r>
            <a:r>
              <a:rPr sz="2000" b="0">
                <a:solidFill>
                  <a:srgbClr val="1F2D3A"/>
                </a:solidFill>
              </a:rPr>
              <a:t> dosyaları şifreleyip fidye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Casus (spyware):</a:t>
            </a:r>
            <a:r>
              <a:rPr sz="2000" b="0">
                <a:solidFill>
                  <a:srgbClr val="1F2D3A"/>
                </a:solidFill>
              </a:rPr>
              <a:t> gizlice bilgi toplar.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Arka kapı (backdoor):</a:t>
            </a:r>
            <a:r>
              <a:rPr sz="2000" b="0">
                <a:solidFill>
                  <a:srgbClr val="1F2D3A"/>
                </a:solidFill>
              </a:rPr>
              <a:t> gizli erişim bırakır.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virüsün üç parçası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Bulaştırıcı:</a:t>
            </a:r>
            <a:r>
              <a:rPr sz="2000" b="0">
                <a:solidFill>
                  <a:srgbClr val="1F2D3A"/>
                </a:solidFill>
              </a:rPr>
              <a:t> nasıl yayılır.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Tetikleyici:</a:t>
            </a:r>
            <a:r>
              <a:rPr sz="2000" b="0">
                <a:solidFill>
                  <a:srgbClr val="1F2D3A"/>
                </a:solidFill>
              </a:rPr>
              <a:t> ne zaman etkinleşir.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 (payload):</a:t>
            </a:r>
            <a:r>
              <a:rPr sz="2000" b="0">
                <a:solidFill>
                  <a:srgbClr val="1F2D3A"/>
                </a:solidFill>
              </a:rPr>
              <a:t> ne yapar.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Virüsün üç parçası — şema</a:t>
            </a:r>
          </a:p>
        </p:txBody>
      </p:sp>
      <p:pic>
        <p:nvPicPr>
          <p:cNvPr id="7" name="Picture 6" descr="h02-02-virus-uc-p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Gizlenme: polimorfik/metamorfik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Polimorfik:</a:t>
            </a:r>
            <a:r>
              <a:rPr sz="2000" b="0">
                <a:solidFill>
                  <a:srgbClr val="1F2D3A"/>
                </a:solidFill>
              </a:rPr>
              <a:t> her kopyada kendini </a:t>
            </a:r>
            <a:r>
              <a:rPr sz="2000" b="1">
                <a:solidFill>
                  <a:srgbClr val="1F2D3A"/>
                </a:solidFill>
              </a:rPr>
              <a:t>farklı şifreler</a:t>
            </a:r>
            <a:r>
              <a:rPr sz="2000" b="0">
                <a:solidFill>
                  <a:srgbClr val="1F2D3A"/>
                </a:solidFill>
              </a:rPr>
              <a:t> (imzadan kaçar).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Metamorfik:</a:t>
            </a:r>
            <a:r>
              <a:rPr sz="2000" b="0">
                <a:solidFill>
                  <a:srgbClr val="1F2D3A"/>
                </a:solidFill>
              </a:rPr>
              <a:t> her kopyada kodunu </a:t>
            </a:r>
            <a:r>
              <a:rPr sz="2000" b="1">
                <a:solidFill>
                  <a:srgbClr val="1F2D3A"/>
                </a:solidFill>
              </a:rPr>
              <a:t>yeniden yazar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imza tabanlı tespitten kaçmak.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Tespit: imza vs sezgisel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 tabanlı:</a:t>
            </a:r>
            <a:r>
              <a:rPr sz="2000" b="0">
                <a:solidFill>
                  <a:srgbClr val="1F2D3A"/>
                </a:solidFill>
              </a:rPr>
              <a:t> bilinen zararlının parmak izini arar (hızlı, yeniyi kaçırır).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Sezgisel/davranış:</a:t>
            </a:r>
            <a:r>
              <a:rPr sz="2000" b="0">
                <a:solidFill>
                  <a:srgbClr val="1F2D3A"/>
                </a:solidFill>
              </a:rPr>
              <a:t> şüpheli </a:t>
            </a:r>
            <a:r>
              <a:rPr sz="2000" b="1">
                <a:solidFill>
                  <a:srgbClr val="1F2D3A"/>
                </a:solidFill>
              </a:rPr>
              <a:t>davranışı</a:t>
            </a:r>
            <a:r>
              <a:rPr sz="2000" b="0">
                <a:solidFill>
                  <a:srgbClr val="1F2D3A"/>
                </a:solidFill>
              </a:rPr>
              <a:t> arar (yeniyi bulur, yanlış alarm).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Entropi (rastgelelik)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Entropi:</a:t>
            </a:r>
            <a:r>
              <a:rPr sz="2000" b="0">
                <a:solidFill>
                  <a:srgbClr val="1F2D3A"/>
                </a:solidFill>
              </a:rPr>
              <a:t> verinin ne kadar rastgele göründüğü.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Şifreli/paketlenmiş kod </a:t>
            </a:r>
            <a:r>
              <a:rPr sz="2000" b="1">
                <a:solidFill>
                  <a:srgbClr val="1F2D3A"/>
                </a:solidFill>
              </a:rPr>
              <a:t>yüksek entropili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Tespitte ipucu: yüksek entropili bölge şüphelidir.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Erişim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Erişim denetimi:</a:t>
            </a:r>
            <a:r>
              <a:rPr sz="2000" b="0">
                <a:solidFill>
                  <a:srgbClr val="1F2D3A"/>
                </a:solidFill>
              </a:rPr>
              <a:t> kim (özne), neye (nesne), ne yapabilir (hak)?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matris</a:t>
            </a:r>
            <a:r>
              <a:rPr sz="2000" b="0">
                <a:solidFill>
                  <a:srgbClr val="1F2D3A"/>
                </a:solidFill>
              </a:rPr>
              <a:t> ile modellenir.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Modeller: DAC, MAC, RBAC.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DAC / MAC /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DAC:</a:t>
            </a:r>
            <a:r>
              <a:rPr sz="2000" b="0">
                <a:solidFill>
                  <a:srgbClr val="1F2D3A"/>
                </a:solidFill>
              </a:rPr>
              <a:t> sahibi izinleri belirler (Unix dosya izinleri).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MAC:</a:t>
            </a:r>
            <a:r>
              <a:rPr sz="2000" b="0">
                <a:solidFill>
                  <a:srgbClr val="1F2D3A"/>
                </a:solidFill>
              </a:rPr>
              <a:t> sistem zorunlu kurallar koyar (etiketli).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RBAC:</a:t>
            </a:r>
            <a:r>
              <a:rPr sz="2000" b="0">
                <a:solidFill>
                  <a:srgbClr val="1F2D3A"/>
                </a:solidFill>
              </a:rPr>
              <a:t> izinler </a:t>
            </a:r>
            <a:r>
              <a:rPr sz="2000" b="1">
                <a:solidFill>
                  <a:srgbClr val="1F2D3A"/>
                </a:solidFill>
              </a:rPr>
              <a:t>rollere</a:t>
            </a:r>
            <a:r>
              <a:rPr sz="2000" b="0">
                <a:solidFill>
                  <a:srgbClr val="1F2D3A"/>
                </a:solidFill>
              </a:rPr>
              <a:t> bağlı.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Biçimsel modeller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Bell–LaPadula: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gizlilik</a:t>
            </a:r>
            <a:r>
              <a:rPr sz="2000" b="0">
                <a:solidFill>
                  <a:srgbClr val="1F2D3A"/>
                </a:solidFill>
              </a:rPr>
              <a:t> (yukarı okuma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Biba: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 (aşağı okuma yok — BLP'nin tersi).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Clark–Wilson:</a:t>
            </a:r>
            <a:r>
              <a:rPr sz="2000" b="0">
                <a:solidFill>
                  <a:srgbClr val="1F2D3A"/>
                </a:solidFill>
              </a:rPr>
              <a:t> ticari bütünlük (iyi biçimli işlemler).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Denetim kaydı (audit 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Denetim kaydı:</a:t>
            </a:r>
            <a:r>
              <a:rPr sz="2000" b="0">
                <a:solidFill>
                  <a:srgbClr val="1F2D3A"/>
                </a:solidFill>
              </a:rPr>
              <a:t> kim ne zaman ne yaptı —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olarak günlük.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Kurcalamaya dayanıklı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Günlük enjeksiyonuna (CWE-117) dikkat.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CWE, CVE, CVSS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CWE:</a:t>
            </a:r>
            <a:r>
              <a:rPr sz="2000" b="0">
                <a:solidFill>
                  <a:srgbClr val="1F2D3A"/>
                </a:solidFill>
              </a:rPr>
              <a:t> zayıflık </a:t>
            </a:r>
            <a:r>
              <a:rPr sz="2000" b="1">
                <a:solidFill>
                  <a:srgbClr val="1F2D3A"/>
                </a:solidFill>
              </a:rPr>
              <a:t>türü</a:t>
            </a:r>
            <a:r>
              <a:rPr sz="2000" b="0">
                <a:solidFill>
                  <a:srgbClr val="1F2D3A"/>
                </a:solidFill>
              </a:rPr>
              <a:t> kataloğu (ör. CWE-416).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belirli</a:t>
            </a:r>
            <a:r>
              <a:rPr sz="2000" b="0">
                <a:solidFill>
                  <a:srgbClr val="1F2D3A"/>
                </a:solidFill>
              </a:rPr>
              <a:t> bir üründeki açık (ör. CVE-2024-xxxx).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CVSS:</a:t>
            </a:r>
            <a:r>
              <a:rPr sz="2000" b="0">
                <a:solidFill>
                  <a:srgbClr val="1F2D3A"/>
                </a:solidFill>
              </a:rPr>
              <a:t> bir açığın </a:t>
            </a:r>
            <a:r>
              <a:rPr sz="2000" b="1">
                <a:solidFill>
                  <a:srgbClr val="1F2D3A"/>
                </a:solidFill>
              </a:rPr>
              <a:t>ciddiyet puanı</a:t>
            </a:r>
            <a:r>
              <a:rPr sz="2000" b="0">
                <a:solidFill>
                  <a:srgbClr val="1F2D3A"/>
                </a:solidFill>
              </a:rPr>
              <a:t> (0–10).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ve zafiyet yaşam döngüsü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Top 10 / MASVS:</a:t>
            </a:r>
            <a:r>
              <a:rPr sz="2000" b="0">
                <a:solidFill>
                  <a:srgbClr val="1F2D3A"/>
                </a:solidFill>
              </a:rPr>
              <a:t> yaygın açıklar ve mobil gereksinimler.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Sorumlu ifşa:</a:t>
            </a:r>
            <a:r>
              <a:rPr sz="2000" b="0">
                <a:solidFill>
                  <a:srgbClr val="1F2D3A"/>
                </a:solidFill>
              </a:rPr>
              <a:t> açığı önce üreticiye bildirme.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Açık: keşif → bildirim → yama → yayın.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Zafiyet yaşam döngüsü — şema</a:t>
            </a:r>
          </a:p>
        </p:txBody>
      </p:sp>
      <p:pic>
        <p:nvPicPr>
          <p:cNvPr id="7" name="Picture 6" descr="h02-06-zafiyet-yasam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zararlı yazılım · virüs/solucan/truva/fidye · virüsün üç parçası · polimorfik · imza/sezgisel tespit · entropi · erişim denetimi (DAC/MAC/RBAC) · BLP/Biba · denetim kaydı · CWE/CVE/CVSS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tehdit, model, sınıflandırmanın büyük resmi.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15"/>
                <a:gridCol w="10095719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Zararlı yazılım: tarih, anatomi, türler · gizlenme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karşı önlemler · saldırı ağacı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 · erişim ve modeller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3,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 · OWASP · CVE · CVSS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 · yaşam döngüsü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Demolar: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code/week-02</a:t>
            </a:r>
            <a:r>
              <a:rPr sz="2000" b="0">
                <a:solidFill>
                  <a:srgbClr val="1F2D3A"/>
                </a:solidFill>
              </a:rPr>
              <a:t> —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zararlı yazılım ve güvenlik modelleri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1949</a:t>
            </a:r>
            <a:r>
              <a:rPr sz="1800" b="0">
                <a:solidFill>
                  <a:srgbClr val="1F2D3A"/>
                </a:solidFill>
              </a:rPr>
              <a:t> — von Neumann: </a:t>
            </a:r>
            <a:r>
              <a:rPr sz="1800" b="1">
                <a:solidFill>
                  <a:srgbClr val="1F2D3A"/>
                </a:solidFill>
              </a:rPr>
              <a:t>kendini çoğaltan</a:t>
            </a:r>
            <a:r>
              <a:rPr sz="1800" b="0">
                <a:solidFill>
                  <a:srgbClr val="1F2D3A"/>
                </a:solidFill>
              </a:rPr>
              <a:t> otomata (virüsün matematiksel kökü)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1971</a:t>
            </a:r>
            <a:r>
              <a:rPr sz="1800" b="0">
                <a:solidFill>
                  <a:srgbClr val="1F2D3A"/>
                </a:solidFill>
              </a:rPr>
              <a:t> Creeper · </a:t>
            </a:r>
            <a:r>
              <a:rPr sz="1800" b="1">
                <a:solidFill>
                  <a:srgbClr val="1F2D3A"/>
                </a:solidFill>
              </a:rPr>
              <a:t>1986</a:t>
            </a:r>
            <a:r>
              <a:rPr sz="1800" b="0">
                <a:solidFill>
                  <a:srgbClr val="1F2D3A"/>
                </a:solidFill>
              </a:rPr>
              <a:t> Brain (ilk PC virüsü) ·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Morris Worm</a:t>
            </a:r>
            <a:r>
              <a:rPr sz="1800" b="0">
                <a:solidFill>
                  <a:srgbClr val="1F2D3A"/>
                </a:solidFill>
              </a:rPr>
              <a:t> interneti durdurur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1973–77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Bell–LaPadula</a:t>
            </a:r>
            <a:r>
              <a:rPr sz="1800" b="0">
                <a:solidFill>
                  <a:srgbClr val="1F2D3A"/>
                </a:solidFill>
              </a:rPr>
              <a:t> (gizlilik), </a:t>
            </a:r>
            <a:r>
              <a:rPr sz="1800" b="1">
                <a:solidFill>
                  <a:srgbClr val="1F2D3A"/>
                </a:solidFill>
              </a:rPr>
              <a:t>Biba</a:t>
            </a:r>
            <a:r>
              <a:rPr sz="1800" b="0">
                <a:solidFill>
                  <a:srgbClr val="1F2D3A"/>
                </a:solidFill>
              </a:rPr>
              <a:t> (bütünlük); </a:t>
            </a:r>
            <a:r>
              <a:rPr sz="1800" b="1">
                <a:solidFill>
                  <a:srgbClr val="1F2D3A"/>
                </a:solidFill>
              </a:rPr>
              <a:t>1987</a:t>
            </a:r>
            <a:r>
              <a:rPr sz="1800" b="0">
                <a:solidFill>
                  <a:srgbClr val="1F2D3A"/>
                </a:solidFill>
              </a:rPr>
              <a:t> Clark–Wilson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 → 2006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CVE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CWE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: ortak sınıflandırma dili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İki ayrı kol: </a:t>
            </a:r>
            <a:r>
              <a:rPr sz="1800" b="1">
                <a:solidFill>
                  <a:srgbClr val="1F2D3A"/>
                </a:solidFill>
              </a:rPr>
              <a:t>zararlıyı tanıma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erişimi modelleme</a:t>
            </a:r>
            <a:r>
              <a:rPr sz="1800" b="0">
                <a:solidFill>
                  <a:srgbClr val="1F2D3A"/>
                </a:solidFill>
              </a:rPr>
              <a:t>. Bugün ikisini birden görüyoruz.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 ve kapsam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ÖÇ.1:</a:t>
            </a:r>
            <a:r>
              <a:rPr sz="2000" b="0">
                <a:solidFill>
                  <a:srgbClr val="1F2D3A"/>
                </a:solidFill>
              </a:rPr>
              <a:t> Yaygın yazılım güvenlik açıklarını </a:t>
            </a:r>
            <a:r>
              <a:rPr sz="2000" b="1">
                <a:solidFill>
                  <a:srgbClr val="1F2D3A"/>
                </a:solidFill>
              </a:rPr>
              <a:t>tanımlar ve sınıflandırır.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 üç konu bir arada: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zararlı yazılım türleri ve gizlenmesi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Savunma:</a:t>
            </a:r>
            <a:r>
              <a:rPr sz="2000" b="0">
                <a:solidFill>
                  <a:srgbClr val="1F2D3A"/>
                </a:solidFill>
              </a:rPr>
              <a:t> erişim denetimi ve biçimsel modeller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Ortak dil:</a:t>
            </a:r>
            <a:r>
              <a:rPr sz="2000" b="0">
                <a:solidFill>
                  <a:srgbClr val="1F2D3A"/>
                </a:solidFill>
              </a:rPr>
              <a:t> CWE · CVE · CVSS · OWASP · MASVS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066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Hiçbir demoda gerçek zararlı yazılım yok. Hepsi kendi klasöründe, yönetici yetkisi olmadan çalışan </a:t>
            </a:r>
            <a:r>
              <a:rPr sz="2000" b="1">
                <a:solidFill>
                  <a:srgbClr val="1F2D3A"/>
                </a:solidFill>
              </a:rPr>
              <a:t>güvenli benzetimlerdir.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Zararlı yazılım: türler ve tarih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"Virüs" her şey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Zararlı yazılım (malware):</a:t>
            </a:r>
            <a:r>
              <a:rPr sz="2000" b="0">
                <a:solidFill>
                  <a:srgbClr val="1F2D3A"/>
                </a:solidFill>
              </a:rPr>
              <a:t> sahibinin izni dışında zarar veren her program.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Virüs, zararlı yazılımın </a:t>
            </a:r>
            <a:r>
              <a:rPr sz="2000" b="1">
                <a:solidFill>
                  <a:srgbClr val="1F2D3A"/>
                </a:solidFill>
              </a:rPr>
              <a:t>yalnızca bir türüdür.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Ayrım </a:t>
            </a:r>
            <a:r>
              <a:rPr sz="2000" b="1">
                <a:solidFill>
                  <a:srgbClr val="1F2D3A"/>
                </a:solidFill>
              </a:rPr>
              <a:t>nasıl yayıldığına</a:t>
            </a:r>
            <a:r>
              <a:rPr sz="2000" b="0">
                <a:solidFill>
                  <a:srgbClr val="1F2D3A"/>
                </a:solidFill>
              </a:rPr>
              <a:t> göre yapılır: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Virüs:</a:t>
            </a:r>
            <a:r>
              <a:rPr sz="2000" b="0">
                <a:solidFill>
                  <a:srgbClr val="1F2D3A"/>
                </a:solidFill>
              </a:rPr>
              <a:t> başka dosyaya iliştirilir, taşıyıcı çalışınca yayılır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Solucan:</a:t>
            </a:r>
            <a:r>
              <a:rPr sz="2000" b="0">
                <a:solidFill>
                  <a:srgbClr val="1F2D3A"/>
                </a:solidFill>
              </a:rPr>
              <a:t> kendi başına, ağ üzerinden yayılır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Truva atı:</a:t>
            </a:r>
            <a:r>
              <a:rPr sz="2000" b="0">
                <a:solidFill>
                  <a:srgbClr val="1F2D3A"/>
                </a:solidFill>
              </a:rPr>
              <a:t> masum görünür, kendini kopyalamaz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Fidye / rootkit / bot / silici:</a:t>
            </a:r>
            <a:r>
              <a:rPr sz="2000" b="0">
                <a:solidFill>
                  <a:srgbClr val="1F2D3A"/>
                </a:solidFill>
              </a:rPr>
              <a:t> yük ya da davranış türleri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Haftanın üç parçası — şema</a:t>
            </a:r>
          </a:p>
        </p:txBody>
      </p:sp>
      <p:pic>
        <p:nvPicPr>
          <p:cNvPr id="7" name="Picture 6" descr="h02-01-haftanin-res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tarih: dönüm noktaları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897"/>
                <a:gridCol w="2764255"/>
                <a:gridCol w="6983382"/>
              </a:tblGrid>
              <a:tr h="3627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Yıl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Türü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Cohen'in tanımı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Kuram: "tam tespit imkânsız"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1986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Brain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İlk yaygın PC virüsü (önyükleme sektörü)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İnternette yayılan ilk büyük solucan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ILOVEYOU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E-posta ekiyle milyonlar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Ağ açığıyla bellekte yayılan solucan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Stuxnet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Endüstriyel denetleyiciyi hedef alan solucan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Kendi kendine yayılan fidye yazılımı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NotPetya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Fidye gibi görünen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silici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(yıkıcı)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Cohen 1984: tespitin sınırı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virüs, kendini (belki değiştirerek) başka programlara </a:t>
            </a:r>
            <a:r>
              <a:rPr sz="2000" b="1">
                <a:solidFill>
                  <a:srgbClr val="1F2D3A"/>
                </a:solidFill>
              </a:rPr>
              <a:t>kopyalayabilen</a:t>
            </a:r>
            <a:r>
              <a:rPr sz="2000" b="0">
                <a:solidFill>
                  <a:srgbClr val="1F2D3A"/>
                </a:solidFill>
              </a:rPr>
              <a:t> programdır.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Cohen kanıtladı: </a:t>
            </a:r>
            <a:r>
              <a:rPr sz="2000" b="1">
                <a:solidFill>
                  <a:srgbClr val="1F2D3A"/>
                </a:solidFill>
              </a:rPr>
              <a:t>"Bu program virüs mü?"</a:t>
            </a:r>
            <a:r>
              <a:rPr sz="2000" b="0">
                <a:solidFill>
                  <a:srgbClr val="1F2D3A"/>
                </a:solidFill>
              </a:rPr>
              <a:t> sorusunu her durumda doğru yanıtlayan genel bir algoritma </a:t>
            </a:r>
            <a:r>
              <a:rPr sz="2000" b="1">
                <a:solidFill>
                  <a:srgbClr val="1F2D3A"/>
                </a:solidFill>
              </a:rPr>
              <a:t>yoktur</a:t>
            </a:r>
            <a:r>
              <a:rPr sz="2000" b="0">
                <a:solidFill>
                  <a:srgbClr val="1F2D3A"/>
                </a:solidFill>
              </a:rPr>
              <a:t> (durma probleminden indirgenir).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 sonuç: hiçbir antivirüs %100 tespit edemez.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✅ </a:t>
            </a:r>
            <a:r>
              <a:rPr sz="2000" b="1">
                <a:solidFill>
                  <a:srgbClr val="1F2D3A"/>
                </a:solidFill>
              </a:rPr>
              <a:t>Yanlış pozitif:</a:t>
            </a:r>
            <a:r>
              <a:rPr sz="2000" b="0">
                <a:solidFill>
                  <a:srgbClr val="1F2D3A"/>
                </a:solidFill>
              </a:rPr>
              <a:t> temiz dosyayı yakalar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❌ </a:t>
            </a:r>
            <a:r>
              <a:rPr sz="2000" b="1">
                <a:solidFill>
                  <a:srgbClr val="1F2D3A"/>
                </a:solidFill>
              </a:rPr>
              <a:t>Yanlış negatif:</a:t>
            </a:r>
            <a:r>
              <a:rPr sz="2000" b="0">
                <a:solidFill>
                  <a:srgbClr val="1F2D3A"/>
                </a:solidFill>
              </a:rPr>
              <a:t> zararlıyı kaçırır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0537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Bunu Demo 01'de kendi gözümüzle göreceğiz.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virüsün üç parçası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1199"/>
                <a:gridCol w="3637178"/>
                <a:gridCol w="413315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Parça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Hastalık benzetmesi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Bulaştırıcı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Kendini kopyalar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Hücreye girip çoğalma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Tetikleyici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"Ne zaman?" koşulu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Kuluçka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Yük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Asıl zarar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Semptomlar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Tetikleyici koşulu bekleyip patlayan koda </a:t>
            </a:r>
            <a:r>
              <a:rPr sz="2000" b="1">
                <a:solidFill>
                  <a:srgbClr val="1F2D3A"/>
                </a:solidFill>
              </a:rPr>
              <a:t>mantık bombası</a:t>
            </a:r>
            <a:r>
              <a:rPr sz="2000" b="0">
                <a:solidFill>
                  <a:srgbClr val="1F2D3A"/>
                </a:solidFill>
              </a:rPr>
              <a:t> denir.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parça zorunlu değildir: yalnız yayılan, yüksüz bir virüs de vardır (yine de zafiyettir).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Virüs alt türleri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 (dosya) virüsü:</a:t>
            </a:r>
            <a:r>
              <a:rPr sz="2000" b="0">
                <a:solidFill>
                  <a:srgbClr val="1F2D3A"/>
                </a:solidFill>
              </a:rPr>
              <a:t> çalıştırılabilir dosyaya bulaşır; dosya çalışınca virüs de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Makro virüsü:</a:t>
            </a:r>
            <a:r>
              <a:rPr sz="2000" b="0">
                <a:solidFill>
                  <a:srgbClr val="1F2D3A"/>
                </a:solidFill>
              </a:rPr>
              <a:t> ofis belgesinin makro diline yazılır; belge açılınca çalışır (Melissa, 1999).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Önyükleme sektörü virüsü:</a:t>
            </a:r>
            <a:r>
              <a:rPr sz="2000" b="0">
                <a:solidFill>
                  <a:srgbClr val="1F2D3A"/>
                </a:solidFill>
              </a:rPr>
              <a:t> diskin ilk sektörüne bulaşır, işletim sisteminden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çalışır (Brain, 1986).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Modern </a:t>
            </a:r>
            <a:r>
              <a:rPr sz="2000" b="1">
                <a:solidFill>
                  <a:srgbClr val="1F2D3A"/>
                </a:solidFill>
              </a:rPr>
              <a:t>UEFI Secure Boot</a:t>
            </a:r>
            <a:r>
              <a:rPr sz="2000" b="0">
                <a:solidFill>
                  <a:srgbClr val="1F2D3A"/>
                </a:solidFill>
              </a:rPr>
              <a:t> bu sınıfı büyük ölçüde zorlaştırdı.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Solucan, truva atı, fidye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28"/>
                <a:gridCol w="5205502"/>
                <a:gridCol w="3503703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Yayılma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Solucan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 başına, ağdan; kullanıcı gerekmez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Morris, Code Red, 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Truva atı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Masum görünür; kullanıcı çalıştırır; kopyalanmaz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"Bedava oyun", sahte güncelleme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Fidye yazılımı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Dosyaları şifreler, para ister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CryptoLocker, 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Solucanın tehlikesi hızdır:</a:t>
            </a:r>
            <a:r>
              <a:rPr sz="2000" b="0">
                <a:solidFill>
                  <a:srgbClr val="1F2D3A"/>
                </a:solidFill>
              </a:rPr>
              <a:t> dakikalar içinde yüz binlerce makine.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Diğer türler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Rootkit:</a:t>
            </a:r>
            <a:r>
              <a:rPr sz="2000" b="0">
                <a:solidFill>
                  <a:srgbClr val="1F2D3A"/>
                </a:solidFill>
              </a:rPr>
              <a:t> kendini ve diğer zararlıları işletim sisteminden </a:t>
            </a:r>
            <a:r>
              <a:rPr sz="2000" b="1">
                <a:solidFill>
                  <a:srgbClr val="1F2D3A"/>
                </a:solidFill>
              </a:rPr>
              <a:t>gizler</a:t>
            </a:r>
            <a:r>
              <a:rPr sz="2000" b="0">
                <a:solidFill>
                  <a:srgbClr val="1F2D3A"/>
                </a:solidFill>
              </a:rPr>
              <a:t> (dosya/süreç/ağ listesinden siler). Tespiti en zor sınıf.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Bot / botnet:</a:t>
            </a:r>
            <a:r>
              <a:rPr sz="2000" b="0">
                <a:solidFill>
                  <a:srgbClr val="1F2D3A"/>
                </a:solidFill>
              </a:rPr>
              <a:t> uzaktan komut alan makineler ağı (DDoS, spam, madencilik).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Casus / reklam yazılımı:</a:t>
            </a:r>
            <a:r>
              <a:rPr sz="2000" b="0">
                <a:solidFill>
                  <a:srgbClr val="1F2D3A"/>
                </a:solidFill>
              </a:rPr>
              <a:t> veri toplar ya da reklam gösterir.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Silici (wiper):</a:t>
            </a:r>
            <a:r>
              <a:rPr sz="2000" b="0">
                <a:solidFill>
                  <a:srgbClr val="1F2D3A"/>
                </a:solidFill>
              </a:rPr>
              <a:t> fidye gibi görünür ama veriyi </a:t>
            </a:r>
            <a:r>
              <a:rPr sz="2000" b="1">
                <a:solidFill>
                  <a:srgbClr val="1F2D3A"/>
                </a:solidFill>
              </a:rPr>
              <a:t>kalıcı yok eder</a:t>
            </a:r>
            <a:r>
              <a:rPr sz="2000" b="0">
                <a:solidFill>
                  <a:srgbClr val="1F2D3A"/>
                </a:solidFill>
              </a:rPr>
              <a:t> (NotPetya). Amaç para değil, yıkım.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Solucan ne kadar hızlı yayılır?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SI modeli</a:t>
            </a:r>
            <a:r>
              <a:rPr sz="2000" b="0">
                <a:solidFill>
                  <a:srgbClr val="1F2D3A"/>
                </a:solidFill>
              </a:rPr>
              <a:t> — duyarlı (S) ve enfekte (I) makineler: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i(t+dt) = i(t) + beta * i(t) * (1 - i(t)/N) * 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beta * i</a:t>
            </a:r>
            <a:r>
              <a:rPr sz="2000" b="0">
                <a:solidFill>
                  <a:srgbClr val="1F2D3A"/>
                </a:solidFill>
              </a:rPr>
              <a:t>: enfekte çoğaldıkça tarama hızlanır → </a:t>
            </a:r>
            <a:r>
              <a:rPr sz="2000" b="1">
                <a:solidFill>
                  <a:srgbClr val="1F2D3A"/>
                </a:solidFill>
              </a:rPr>
              <a:t>üstel</a:t>
            </a:r>
            <a:r>
              <a:rPr sz="2000" b="0">
                <a:solidFill>
                  <a:srgbClr val="1F2D3A"/>
                </a:solidFill>
              </a:rPr>
              <a:t> büyüme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(1 - i/N)</a:t>
            </a:r>
            <a:r>
              <a:rPr sz="2000" b="0">
                <a:solidFill>
                  <a:srgbClr val="1F2D3A"/>
                </a:solidFill>
              </a:rPr>
              <a:t>: duyarlı azaldıkça isabet düşer → </a:t>
            </a:r>
            <a:r>
              <a:rPr sz="2000" b="1">
                <a:solidFill>
                  <a:srgbClr val="1F2D3A"/>
                </a:solidFill>
              </a:rPr>
              <a:t>doygunluk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sessiz açılış → ani patlama → doygunluk (S eğrisi)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748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Savunmacının tek penceresi </a:t>
            </a:r>
            <a:r>
              <a:rPr sz="2000" b="1">
                <a:solidFill>
                  <a:srgbClr val="1F2D3A"/>
                </a:solidFill>
              </a:rPr>
              <a:t>açılış evresi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Salgın modeli — şema</a:t>
            </a:r>
          </a:p>
        </p:txBody>
      </p:sp>
      <p:pic>
        <p:nvPicPr>
          <p:cNvPr id="7" name="Picture 6" descr="h02-03-salgin-mod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09 — Salgın simülasyonu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code/week-02/09-salgin-simulasyonu</a:t>
            </a:r>
            <a:r>
              <a:rPr sz="1800" b="0">
                <a:solidFill>
                  <a:srgbClr val="1F2D3A"/>
                </a:solidFill>
              </a:rPr>
              <a:t> · yalnız hesaplama, ağ yok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Senaryo: Slammer benzeri (rastgele tarama, hizli UDP)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54 s        78    0.1% |..............................|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1.5 dk     1430    1.9% |#.............................|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2.4 dk    45601   60.8% |##################............|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3.3 dk    74429   99.2% |##############################|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%90 doygunluk:  Code Red ~13.3 sa · Slammer ~2.7 dk · Hitlist ~50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Code Red (2001): ~359.000 sunucu · ikiye katlanma ~37 dk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Slammer (2003): tek 404 baytlık UDP paketi · ~8,5 s'de ikiye katlanma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Ders: insan hızında tepki yetişmez → </a:t>
            </a:r>
            <a:r>
              <a:rPr sz="1800" b="1">
                <a:solidFill>
                  <a:srgbClr val="1F2D3A"/>
                </a:solidFill>
              </a:rPr>
              <a:t>önceden yama, kapalı port, otomatik savunma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Yayılma ve gizlenme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Gizlenme merdiveni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6183203"/>
                <a:gridCol w="2303546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değişir?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Savunma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Gövde şifreli,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çözücü sabit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Çözücüyü imzala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Oligomorfizm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Çözücünün birkaç biçimi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Hepsini imzala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Polimorfizm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her kopyada yeniden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üretilir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Emülasyonla çöz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Metamorfizm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yok,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kodun tamamı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yeniden yazılır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Davranışa bak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Anahtar fikir:</a:t>
            </a:r>
            <a:r>
              <a:rPr sz="1800" b="0">
                <a:solidFill>
                  <a:srgbClr val="1F2D3A"/>
                </a:solidFill>
              </a:rPr>
              <a:t> şifreli gövde her kopyada farklı görünür, </a:t>
            </a:r>
            <a:r>
              <a:rPr sz="1800" b="1">
                <a:solidFill>
                  <a:srgbClr val="1F2D3A"/>
                </a:solidFill>
              </a:rPr>
              <a:t>çözülünce hep aynıdır.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Şifreli / polimorfik virüsün yapısı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+------------------+     +-------------------+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Çözücü kod      | --&gt; |  Şifreli gövde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(poli: her kopya |     | (her kopyada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farklı)         |     |  farklı baytlar)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+------------------+     +---------+---------+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 | çöz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 v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+-------------------+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|  Açık gövde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|  (HER ZAMAN AYNI) | --&gt; imza burada tutar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+-------------------+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88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Emülasyon</a:t>
            </a:r>
            <a:r>
              <a:rPr sz="2000" b="0">
                <a:solidFill>
                  <a:srgbClr val="1F2D3A"/>
                </a:solidFill>
              </a:rPr>
              <a:t> tam da bu son kutuyu görmek için çözücüyü çalıştırır.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Polimorfik virüs — şema</a:t>
            </a:r>
          </a:p>
        </p:txBody>
      </p:sp>
      <p:pic>
        <p:nvPicPr>
          <p:cNvPr id="7" name="Picture 6" descr="h02-04-polimorf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Oyuncak antivirüs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code/week-02/01-imza-tarayici</a:t>
            </a:r>
            <a:r>
              <a:rPr sz="2000" b="0">
                <a:solidFill>
                  <a:srgbClr val="1F2D3A"/>
                </a:solidFill>
              </a:rPr>
              <a:t> · Kitap: Tarif 12.1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Zararsız, çalıştırılamayan bir </a:t>
            </a:r>
            <a:r>
              <a:rPr sz="2000" b="1">
                <a:solidFill>
                  <a:srgbClr val="1F2D3A"/>
                </a:solidFill>
              </a:rPr>
              <a:t>"KAPSÜL"</a:t>
            </a:r>
            <a:r>
              <a:rPr sz="2000" b="0">
                <a:solidFill>
                  <a:srgbClr val="1F2D3A"/>
                </a:solidFill>
              </a:rPr>
              <a:t> biçimi: başlık + çözücü + gövde.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Dört yöntem, dört sınır: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042"/>
                <a:gridCol w="3288407"/>
                <a:gridCol w="508208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Yakalar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Atlatılır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Birebir aynı dosya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bayt değişince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Desen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 değişiklik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Çözücü değişince (polimorfizm)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Sezgisel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Yanlış pozitif/negatif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Emülasyon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Hepsi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Anti-emülasyon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Hash kırılgan, desen dayanıklı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(hash):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ornek_a.bin        YAKALANDI  Ornek.MaviKedi.A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ornek_a_1bayt.bin  TEMIZ      &lt;- tek bayt degisti, ozet bambaska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(desen):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poli_1.bin  YAKALANDI  Ornek.Cozucu.xs32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poli_2.bin  YAKALANDI  Ornek.Cozucu.xs32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poli_3.bin  TEMIZ      &lt;- cozucu de degisti (polimorfizm)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Hash</a:t>
            </a:r>
            <a:r>
              <a:rPr sz="2000" b="0">
                <a:solidFill>
                  <a:srgbClr val="1F2D3A"/>
                </a:solidFill>
              </a:rPr>
              <a:t> çığ etkisiyle tek baytta kırılır; </a:t>
            </a:r>
            <a:r>
              <a:rPr sz="2000" b="1">
                <a:solidFill>
                  <a:srgbClr val="1F2D3A"/>
                </a:solidFill>
              </a:rPr>
              <a:t>desen</a:t>
            </a:r>
            <a:r>
              <a:rPr sz="2000" b="0">
                <a:solidFill>
                  <a:srgbClr val="1F2D3A"/>
                </a:solidFill>
              </a:rPr>
              <a:t> çözücüyü yakalar ama polimorfizm onu da atlatır.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Sezgisel: iki tür hata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5 (sezgisel):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ornek_a.bin  TEMIZ     puan=  0   &lt;- YANLIS NEGATIF (kacirdi)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poli_1.bin   SUPHELI   puan= 80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arsiv.bin    SUPHELI   puan= 50   &lt;- YANLIS POZITIF (zararsiz)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olmadan polimorfiği yakaladı ✅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zararsız yüksek-entropili dosyayı şüpheli sandı ❌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 düz gövdeli örneği kaçırdı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Cohen'in belirsizliği tam burada.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Emülasyon hepsini çözer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6 (emulasyon):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poli_1.bin  YAKALANDI  ... | 5 komut, 0 BOS, 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poli_2.bin  YAKALANDI  ... | 5 komut, 0 BOS, 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poli_3.bin  YAKALANDI  ... | 8 komut, 4 BOS, lcg8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Çözücüyü </a:t>
            </a:r>
            <a:r>
              <a:rPr sz="2000" b="1">
                <a:solidFill>
                  <a:srgbClr val="1F2D3A"/>
                </a:solidFill>
              </a:rPr>
              <a:t>güvenli sanal makinede</a:t>
            </a:r>
            <a:r>
              <a:rPr sz="2000" b="0">
                <a:solidFill>
                  <a:srgbClr val="1F2D3A"/>
                </a:solidFill>
              </a:rPr>
              <a:t> çalıştırır, açılan gövdeyi tarar.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polimorfik kopya da </a:t>
            </a:r>
            <a:r>
              <a:rPr sz="2000" b="1">
                <a:solidFill>
                  <a:srgbClr val="1F2D3A"/>
                </a:solidFill>
              </a:rPr>
              <a:t>aynı imzaya</a:t>
            </a:r>
            <a:r>
              <a:rPr sz="2000" b="0">
                <a:solidFill>
                  <a:srgbClr val="1F2D3A"/>
                </a:solidFill>
              </a:rPr>
              <a:t> döndü.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Güçlü ama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; zararlı "sanal makinedeyim" derse gizlenebilir.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Sonuç: tek yöntem yetmez → katmanlı savunma.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Entropi: rastgelelik ölçüsü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H = -sum_{b=0}^{255} p(b),log_2 p(b) quad (0 dots 8 text{ bit/bayt})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 ~ 0:</a:t>
            </a:r>
            <a:r>
              <a:rPr sz="2000" b="0">
                <a:solidFill>
                  <a:srgbClr val="1F2D3A"/>
                </a:solidFill>
              </a:rPr>
              <a:t> hep aynı bayt · </a:t>
            </a:r>
            <a:r>
              <a:rPr sz="2000" b="1">
                <a:solidFill>
                  <a:srgbClr val="1F2D3A"/>
                </a:solidFill>
              </a:rPr>
              <a:t>H ~ 4–5:</a:t>
            </a:r>
            <a:r>
              <a:rPr sz="2000" b="0">
                <a:solidFill>
                  <a:srgbClr val="1F2D3A"/>
                </a:solidFill>
              </a:rPr>
              <a:t> metin/kod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 ~ 6:</a:t>
            </a:r>
            <a:r>
              <a:rPr sz="2000" b="0">
                <a:solidFill>
                  <a:srgbClr val="1F2D3A"/>
                </a:solidFill>
              </a:rPr>
              <a:t> derlenmiş program · </a:t>
            </a:r>
            <a:r>
              <a:rPr sz="2000" b="1">
                <a:solidFill>
                  <a:srgbClr val="1F2D3A"/>
                </a:solidFill>
              </a:rPr>
              <a:t>H ~ 8:</a:t>
            </a:r>
            <a:r>
              <a:rPr sz="2000" b="0">
                <a:solidFill>
                  <a:srgbClr val="1F2D3A"/>
                </a:solidFill>
              </a:rPr>
              <a:t> şifreli/sıkışık/rastgele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Antivirüs: "paketli/şifreli kod?" · EDR: "dosyaları hızla şifreleyen süreç?" (fidye)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02 — Entropi ölçer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code/week-02/02-entropi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tekduze.txt   0.00  |........................| tekduze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belge.txt     4.17  |#############...........| dusuk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kod.bin       6.23  |###################.....| orta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sifreli.bin   7.95  |########################| YUKSEK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rastgele.bin  7.95  |########################| YUKSEK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Entropi tek başına "zararlı mı?" demez: </a:t>
            </a:r>
            <a:r>
              <a:rPr sz="2000" b="0">
                <a:solidFill>
                  <a:srgbClr val="A1123F"/>
                </a:solidFill>
                <a:latin typeface="Consolas"/>
              </a:rPr>
              <a:t>.zip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.png</a:t>
            </a:r>
            <a:r>
              <a:rPr sz="2000" b="0">
                <a:solidFill>
                  <a:srgbClr val="1F2D3A"/>
                </a:solidFill>
              </a:rPr>
              <a:t> de yüksektir. </a:t>
            </a:r>
            <a:r>
              <a:rPr sz="2000" b="1">
                <a:solidFill>
                  <a:srgbClr val="1F2D3A"/>
                </a:solidFill>
              </a:rPr>
              <a:t>Beklenmedik yerde</a:t>
            </a:r>
            <a:r>
              <a:rPr sz="2000" b="0">
                <a:solidFill>
                  <a:srgbClr val="1F2D3A"/>
                </a:solidFill>
              </a:rPr>
              <a:t> yüksekse ipucudur.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02 — Sıcak bölge ve fidye izi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Karma dosya (pencere 512):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1024-1535  4.14  dusuk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1536-2047  7.56  YUKSEK  &lt;- gizli sifreli bolum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2048-2559  7.66  YUKSEK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Fidye izi: belge.txt 4.17 --&gt; sifreli.bin 7.95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Paketlenmiş programın deseni: </a:t>
            </a:r>
            <a:r>
              <a:rPr sz="2000" b="1">
                <a:solidFill>
                  <a:srgbClr val="1F2D3A"/>
                </a:solidFill>
              </a:rPr>
              <a:t>küçük açıcı + yüksek entropili gövde.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süreç kısa sürede çok dosyada bu sıçramayı yapıyorsa </a:t>
            </a:r>
            <a:r>
              <a:rPr sz="2000" b="1">
                <a:solidFill>
                  <a:srgbClr val="1F2D3A"/>
                </a:solidFill>
              </a:rPr>
              <a:t>davranış tabanlı</a:t>
            </a:r>
            <a:r>
              <a:rPr sz="2000" b="0">
                <a:solidFill>
                  <a:srgbClr val="1F2D3A"/>
                </a:solidFill>
              </a:rPr>
              <a:t> koruma alarm verir.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Karşı önlemler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566"/>
                <a:gridCol w="3933227"/>
                <a:gridCol w="4440740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Güçlü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Zayıf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tabanlı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Hızlı, düşük yanlış pozitif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Bilinmeyeni/polimorfiği kaçırır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Sezgisel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İmzasız yeni örnek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Yanlış pozitif/negatif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Davranış tabanlı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Gizlenmeye dirençli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Zarar başlamış olabilir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Kum havuzu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Gerçek davranışı görür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Yavaş; anti-VM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Emülasyon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Çözücüyü açar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Anti-emülasyon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İtibar / bulut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Hızlı yayılan tehdide iyi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Gizlilik, bağlantı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Modern EDR hepsini birleştirir, davranışa ağırlık verir.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07 — Kural tabanlı tespit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code/week-02/07-kural-motoru</a:t>
            </a:r>
            <a:r>
              <a:rPr sz="1800" b="0">
                <a:solidFill>
                  <a:srgbClr val="1F2D3A"/>
                </a:solidFill>
              </a:rPr>
              <a:t> · YARA benzeri mini motor, </a:t>
            </a:r>
            <a:r>
              <a:rPr sz="1800" b="1">
                <a:solidFill>
                  <a:srgbClr val="1F2D3A"/>
                </a:solidFill>
              </a:rPr>
              <a:t>kendi zararsız desenlerimiz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kural Kelime_Baglam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dizge $a = "indir"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dizge $b = "calistir"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dizge $sihir = "KAPSUL/1"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kosul ($a and $b) and $sihir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47033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556"/>
                <a:gridCol w="4025614"/>
                <a:gridCol w="444936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Ders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Zararsız kılavuz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Kelime_Cifti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eşleşti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❌ Bağlamsız kural →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yanlış pozitif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Değişmiş varyant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joker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??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 desen yakaladı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Değişmeyen iskeleti hedefle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Bozuk kural dosyası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REDDEDİLDİ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Tespit aracı da bir ayrıştırıcıdır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08 — Bütünlük izleme (beyaz liste)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code/week-02/08-butunluk-izleme</a:t>
            </a:r>
            <a:r>
              <a:rPr sz="2000" b="0">
                <a:solidFill>
                  <a:srgbClr val="1F2D3A"/>
                </a:solidFill>
              </a:rPr>
              <a:t> · SHA-256 manifesti + </a:t>
            </a:r>
            <a:r>
              <a:rPr sz="2000" b="1">
                <a:solidFill>
                  <a:srgbClr val="1F2D3A"/>
                </a:solidFill>
              </a:rPr>
              <a:t>HMAC mühür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DEGISTI  kutuphane.bin  c603d7c6... -&gt; 64b8f2b2... (49-&gt;65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SILINDI  veri.txt       (manifestte var, klasorde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YENI     gizli.bin      (taban cizgisinde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saldirgan manifesti yeniden yazar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butunluk korunmus    &lt;- izleyici KANDIRILDI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MUHUR GECERSIZ -&gt; manifeste GUVENME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9344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Özet değişikliği yakalar · ⚠️ </a:t>
            </a:r>
            <a:r>
              <a:rPr sz="2000" b="1">
                <a:solidFill>
                  <a:srgbClr val="1F2D3A"/>
                </a:solidFill>
              </a:rPr>
              <a:t>beklenen değerler de korunmalı</a:t>
            </a:r>
            <a:r>
              <a:rPr sz="2000" b="0">
                <a:solidFill>
                  <a:srgbClr val="1F2D3A"/>
                </a:solidFill>
              </a:rPr>
              <a:t> (HMAC/imza, anahtar ayrı yerde)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7329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Tarif 12.2: CRC32 → SHA-256/HMAC · 6. haftada çalışma zamanı bütünlük denetimi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Olaylar: içeri nasıl girdiler?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0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042"/>
                <a:gridCol w="6291335"/>
                <a:gridCol w="2654157"/>
              </a:tblGrid>
              <a:tr h="4340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Giriş yolu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 sınıfı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Morris (1988)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fingerd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taşması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sendmail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DEBUG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rsh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güveni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CWE-120/242 · 489 · 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 (2001)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IIS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.ida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taşması (CVE-2001-0500)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Slammer (2003)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çözümleme hizmeti, tek UDP paketi (CVE-2002-0649)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Blaster (2003)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RPC/DCOM taşması (CVE-2003-0352)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Conficker (2008)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 hizmeti yol işleme (CVE-2008-4250) · zayıf parola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CWE-119 · 521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WannaCry (2017)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SMBv1 (CVE-2017-0144) · yama 2 ay önce çıkmıştı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güvenliği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NotPetya (2017)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güncelleme sunucusu üzerinden dağıtım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CWE-494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SUNBURST (2020)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 ortamına arka kapı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tedarik zinciri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Olaylardan programcıya dersler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Sınır denetimi:</a:t>
            </a:r>
            <a:r>
              <a:rPr sz="2000" b="0">
                <a:solidFill>
                  <a:srgbClr val="1F2D3A"/>
                </a:solidFill>
              </a:rPr>
              <a:t> 1988–2008 salgınlarının çoğu tek bir arabellek taşması (1. ve 4. hafta)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Sürümde hata ayıklama kodu bırakma</a:t>
            </a:r>
            <a:r>
              <a:rPr sz="2000" b="0">
                <a:solidFill>
                  <a:srgbClr val="1F2D3A"/>
                </a:solidFill>
              </a:rPr>
              <a:t> (Morris / </a:t>
            </a:r>
            <a:r>
              <a:rPr sz="2000" b="0">
                <a:solidFill>
                  <a:srgbClr val="A1123F"/>
                </a:solidFill>
                <a:latin typeface="Consolas"/>
              </a:rPr>
              <a:t>sendmail</a:t>
            </a:r>
            <a:r>
              <a:rPr sz="2000" b="0">
                <a:solidFill>
                  <a:srgbClr val="1F2D3A"/>
                </a:solidFill>
              </a:rPr>
              <a:t> DEBUG)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Gereksiz hizmeti açma:</a:t>
            </a:r>
            <a:r>
              <a:rPr sz="2000" b="0">
                <a:solidFill>
                  <a:srgbClr val="1F2D3A"/>
                </a:solidFill>
              </a:rPr>
              <a:t> her port bir saldırı yüzeyi (Slammer, Blaster)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İmzalı güncelleme + istemcide doğrulama</a:t>
            </a:r>
            <a:r>
              <a:rPr sz="2000" b="0">
                <a:solidFill>
                  <a:srgbClr val="1F2D3A"/>
                </a:solidFill>
              </a:rPr>
              <a:t> (NotPetya) — 3. ve 10. hafta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Derleme ortamı ve tedarik zinciri güvenliği</a:t>
            </a:r>
            <a:r>
              <a:rPr sz="2000" b="0">
                <a:solidFill>
                  <a:srgbClr val="1F2D3A"/>
                </a:solidFill>
              </a:rPr>
              <a:t> (SUNBURST) — 5. hafta SBOM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Güncelleme mekanizması güvenlik özelliğidir:</a:t>
            </a:r>
            <a:r>
              <a:rPr sz="2000" b="0">
                <a:solidFill>
                  <a:srgbClr val="1F2D3A"/>
                </a:solidFill>
              </a:rPr>
              <a:t> yama gecikmesi = açık kapı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Saldırı ağaçları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 — şema</a:t>
            </a:r>
          </a:p>
        </p:txBody>
      </p:sp>
      <p:pic>
        <p:nvPicPr>
          <p:cNvPr id="7" name="Picture 6" descr="h02-07-saldiri-aga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3909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 = niceliksel tehdit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Kök: saldırganın </a:t>
            </a:r>
            <a:r>
              <a:rPr sz="2000" b="1">
                <a:solidFill>
                  <a:srgbClr val="1F2D3A"/>
                </a:solidFill>
              </a:rPr>
              <a:t>hedefi</a:t>
            </a:r>
            <a:r>
              <a:rPr sz="2000" b="0">
                <a:solidFill>
                  <a:srgbClr val="1F2D3A"/>
                </a:solidFill>
              </a:rPr>
              <a:t> · Dallar: ona ulaşma yolları.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VEYA:</a:t>
            </a:r>
            <a:r>
              <a:rPr sz="2000" b="0">
                <a:solidFill>
                  <a:srgbClr val="1F2D3A"/>
                </a:solidFill>
              </a:rPr>
              <a:t> en ucuz çocuk yeter · </a:t>
            </a:r>
            <a:r>
              <a:rPr sz="2000" b="1">
                <a:solidFill>
                  <a:srgbClr val="1F2D3A"/>
                </a:solidFill>
              </a:rPr>
              <a:t>VE:</a:t>
            </a:r>
            <a:r>
              <a:rPr sz="2000" b="0">
                <a:solidFill>
                  <a:srgbClr val="1F2D3A"/>
                </a:solidFill>
              </a:rPr>
              <a:t> çocukların toplamı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Yapraklara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yazarsak en ucuz saldırıyı buluruz.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HEDEF (VEYA)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├─ Veritabanini coz        (VE:  3 + 6 = 9)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├─ Bellekten oku           (VEYA: min 2)   &lt;- en ucuz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└─ Trafigi dinle           (VE:  7 + 8 = 15)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04 — Savunma maliyeti artırır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code/week-02/04-saldiri-agaci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ONCE:   EN UCUZ SALDIRI = 2  (bellekten oku)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SONRA:  EN UCUZ SALDIRI = 8  (RASP eklendi)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"Bellekten oku" dalına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 (anti-debug, anti-hook) eklendi.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ucuz saldırı </a:t>
            </a:r>
            <a:r>
              <a:rPr sz="2000" b="1">
                <a:solidFill>
                  <a:srgbClr val="1F2D3A"/>
                </a:solidFill>
              </a:rPr>
              <a:t>2 → 8</a:t>
            </a:r>
            <a:r>
              <a:rPr sz="2000" b="0">
                <a:solidFill>
                  <a:srgbClr val="1F2D3A"/>
                </a:solidFill>
              </a:rPr>
              <a:t> birime çıktı; en zayıf nokta </a:t>
            </a:r>
            <a:r>
              <a:rPr sz="2000" b="1">
                <a:solidFill>
                  <a:srgbClr val="1F2D3A"/>
                </a:solidFill>
              </a:rPr>
              <a:t>değişti.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yatırımını </a:t>
            </a:r>
            <a:r>
              <a:rPr sz="2000" b="1">
                <a:solidFill>
                  <a:srgbClr val="1F2D3A"/>
                </a:solidFill>
              </a:rPr>
              <a:t>sayıyla</a:t>
            </a:r>
            <a:r>
              <a:rPr sz="2000" b="0">
                <a:solidFill>
                  <a:srgbClr val="1F2D3A"/>
                </a:solidFill>
              </a:rPr>
              <a:t> gerekçelendirmenin yolu budur.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Denetim kaydı: ne yazılır, ne yazılmaz?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7751"/>
                <a:gridCol w="508378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✅ Kaydet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❌ Asla kaydetme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Giriş denemeleri (kim, ne zaman, nereden)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Parola, PIN, belirteç, özel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 ve ayar değişiklikleri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Kart numarasının tamamı, 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Hassas işlemler (onay, dışa aktarma, silme)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Çözülmüş gizli veri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Güvenlik denetimi sonuçları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Sürümde hata ayıklama çıktısı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Tarif 13.11 · günlüğü </a:t>
            </a:r>
            <a:r>
              <a:rPr sz="2000" b="1">
                <a:solidFill>
                  <a:srgbClr val="1F2D3A"/>
                </a:solidFill>
              </a:rPr>
              <a:t>saldırganın da okuyacağını</a:t>
            </a:r>
            <a:r>
              <a:rPr sz="2000" b="0">
                <a:solidFill>
                  <a:srgbClr val="1F2D3A"/>
                </a:solidFill>
              </a:rPr>
              <a:t> varsayarak tasarla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10 — Günlük enjeksiyonu (CWE-117)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code/week-02/10-gunluk-enjeksiyonu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GUVENSIZ: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kullanici=kayra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kullanici=admin sonuc=BASARILI ...  &lt;- SAHTE satir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kullanici=deniz^[[2K^Mgizli ...     &lt;- ekran silme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GUVENLI: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kullanici=kayra\x0A2026-... (tek satir)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sahte 'admin BASARILI' satiri: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711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✅ Kaçışla (</a:t>
            </a:r>
            <a:r>
              <a:rPr sz="1800" b="0">
                <a:solidFill>
                  <a:srgbClr val="A1123F"/>
                </a:solidFill>
                <a:latin typeface="Consolas"/>
              </a:rPr>
              <a:t>xNN</a:t>
            </a:r>
            <a:r>
              <a:rPr sz="1800" b="0">
                <a:solidFill>
                  <a:srgbClr val="1F2D3A"/>
                </a:solidFill>
              </a:rPr>
              <a:t>) · ✅ uzunluğu sınırla · ✅ </a:t>
            </a:r>
            <a:r>
              <a:rPr sz="1800" b="0">
                <a:solidFill>
                  <a:srgbClr val="A1123F"/>
                </a:solidFill>
                <a:latin typeface="Consolas"/>
              </a:rPr>
              <a:t>syslog(LOG_INFO, "%s", girdi)</a:t>
            </a:r>
            <a:r>
              <a:rPr sz="1800" b="0">
                <a:solidFill>
                  <a:srgbClr val="1F2D3A"/>
                </a:solidFill>
              </a:rPr>
              <a:t> — girdi asla biçim dizgesi değil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11 — Kurcalamaya dayanıklı günlük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code/week-02/11-kurcalamaya-dayanikli-gunluk</a:t>
            </a:r>
            <a:r>
              <a:rPr sz="1800" b="0">
                <a:solidFill>
                  <a:srgbClr val="1F2D3A"/>
                </a:solidFill>
              </a:rPr>
              <a:t> · HMAC zinciri + </a:t>
            </a:r>
            <a:r>
              <a:rPr sz="1800" b="1">
                <a:solidFill>
                  <a:srgbClr val="1F2D3A"/>
                </a:solidFill>
              </a:rPr>
              <a:t>anahtar evrimi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2338186"/>
                <a:gridCol w="3117581"/>
              </a:tblGrid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Saldırı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Anahtar evrimli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Statik anahtar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Kayıt değiştirme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MAC:BOZUK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yakalanır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Kayıt silme / sıra değiştirme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SIRA:BOZUK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yakalanır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14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Ele geçirilen anahtarla geçmişi yeniden 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KURCALANMIŞ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❌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BÜTÜNLÜKLÜ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görünür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816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Anahtar her kayıtta tek yönlü evrilir, eski anahtar silinir → ele geçirmeden </a:t>
            </a:r>
            <a:r>
              <a:rPr sz="1800" b="1">
                <a:solidFill>
                  <a:srgbClr val="1F2D3A"/>
                </a:solidFill>
              </a:rPr>
              <a:t>önceki</a:t>
            </a:r>
            <a:r>
              <a:rPr sz="1800" b="0">
                <a:solidFill>
                  <a:srgbClr val="1F2D3A"/>
                </a:solidFill>
              </a:rPr>
              <a:t> kayıtlar korunur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Erişim denetimi ve modeller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Özne, nesne, hak — ve matris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Özne</a:t>
            </a:r>
            <a:r>
              <a:rPr sz="2000" b="0">
                <a:solidFill>
                  <a:srgbClr val="1F2D3A"/>
                </a:solidFill>
              </a:rPr>
              <a:t> (kullanıcı/süreç) · </a:t>
            </a:r>
            <a:r>
              <a:rPr sz="2000" b="1">
                <a:solidFill>
                  <a:srgbClr val="1F2D3A"/>
                </a:solidFill>
              </a:rPr>
              <a:t>Nesne</a:t>
            </a:r>
            <a:r>
              <a:rPr sz="2000" b="0">
                <a:solidFill>
                  <a:srgbClr val="1F2D3A"/>
                </a:solidFill>
              </a:rPr>
              <a:t> (dosya/kayıt) · </a:t>
            </a:r>
            <a:r>
              <a:rPr sz="2000" b="1">
                <a:solidFill>
                  <a:srgbClr val="1F2D3A"/>
                </a:solidFill>
              </a:rPr>
              <a:t>Hak</a:t>
            </a:r>
            <a:r>
              <a:rPr sz="2000" b="0">
                <a:solidFill>
                  <a:srgbClr val="1F2D3A"/>
                </a:solidFill>
              </a:rPr>
              <a:t> (oku/yaz/çalıştır).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02968"/>
          <a:ext cx="891108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3637177"/>
                <a:gridCol w="2182306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odeme_anahtari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gunluk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kutuphane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oku, yaz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saldirgan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39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Matris iki biçimde saklanır: </a:t>
            </a:r>
            <a:r>
              <a:rPr sz="2000" b="1">
                <a:solidFill>
                  <a:srgbClr val="1F2D3A"/>
                </a:solidFill>
              </a:rPr>
              <a:t>ACL</a:t>
            </a:r>
            <a:r>
              <a:rPr sz="2000" b="0">
                <a:solidFill>
                  <a:srgbClr val="1F2D3A"/>
                </a:solidFill>
              </a:rPr>
              <a:t> (sütun: nesne kimin erişeceğini tutar) · </a:t>
            </a:r>
            <a:r>
              <a:rPr sz="2000" b="1">
                <a:solidFill>
                  <a:srgbClr val="1F2D3A"/>
                </a:solidFill>
              </a:rPr>
              <a:t>Yetenek</a:t>
            </a:r>
            <a:r>
              <a:rPr sz="2000" b="0">
                <a:solidFill>
                  <a:srgbClr val="1F2D3A"/>
                </a:solidFill>
              </a:rPr>
              <a:t> (satır: özne biletleri).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DAC · MAC · RBAC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936"/>
                <a:gridCol w="5703756"/>
                <a:gridCol w="3719841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Kararı kim verir?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Nesnenin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sahibi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Unix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chmod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Windows DACL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Sistem/politika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(sahip değiştiremez)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Bell–LaPadula, SELinux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RBAC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İzinler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rollere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kullanıcı role atanır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"Muhasebeci" rolü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Gerçek sistemler üçünü </a:t>
            </a:r>
            <a:r>
              <a:rPr sz="1800" b="1">
                <a:solidFill>
                  <a:srgbClr val="1F2D3A"/>
                </a:solidFill>
              </a:rPr>
              <a:t>birlikte</a:t>
            </a:r>
            <a:r>
              <a:rPr sz="1800" b="0">
                <a:solidFill>
                  <a:srgbClr val="1F2D3A"/>
                </a:solidFill>
              </a:rPr>
              <a:t> kullanır; etkin karar çoğu zaman </a:t>
            </a:r>
            <a:r>
              <a:rPr sz="1800" b="1">
                <a:solidFill>
                  <a:srgbClr val="1F2D3A"/>
                </a:solidFill>
              </a:rPr>
              <a:t>kesişimdir.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03 — Salt DAC (matris)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code/week-02/03-erisim-modeli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kutuphane OKU odeme_anahtari   =&gt; IZIN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uygulama  OKU odeme_anahtari   =&gt; RED  (matriste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saldirgan OKU odeme_anahtari   =&gt; RED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saldirgan YAZ gunluk           =&gt;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Uygulamanın bile ödeme anahtarına </a:t>
            </a:r>
            <a:r>
              <a:rPr sz="2000" b="1">
                <a:solidFill>
                  <a:srgbClr val="1F2D3A"/>
                </a:solidFill>
              </a:rPr>
              <a:t>doğrudan erişimi yok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en az ayrıcalık.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Bell–LaPadula: gizlilik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Seviyeler: Genel &lt; Gizli &lt; Çok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okuma yok:</a:t>
            </a:r>
            <a:r>
              <a:rPr sz="2000" b="0">
                <a:solidFill>
                  <a:srgbClr val="1F2D3A"/>
                </a:solidFill>
              </a:rPr>
              <a:t> kendinden gizli olanı okuyamaz.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*</a:t>
            </a:r>
            <a:r>
              <a:rPr sz="2000" b="0" i="1">
                <a:solidFill>
                  <a:srgbClr val="1F2D3A"/>
                </a:solidFill>
              </a:rPr>
              <a:t>Aşağı yazma yok (</a:t>
            </a:r>
            <a:r>
              <a:rPr sz="2000" b="0">
                <a:solidFill>
                  <a:srgbClr val="1F2D3A"/>
                </a:solidFill>
              </a:rPr>
              <a:t>-özellik):** kendinden az gizli olana yazamaz.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"Read down, write up"</a:t>
            </a:r>
            <a:r>
              <a:rPr sz="2000" b="0">
                <a:solidFill>
                  <a:srgbClr val="1F2D3A"/>
                </a:solidFill>
              </a:rPr>
              <a:t> — gizli bilgi </a:t>
            </a:r>
            <a:r>
              <a:rPr sz="2000" b="1">
                <a:solidFill>
                  <a:srgbClr val="1F2D3A"/>
                </a:solidFill>
              </a:rPr>
              <a:t>aşağı sızamaz.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Biba: bütünlük (BLP'nin tersi)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Seviyeler: Dış &lt; Uygulama &lt; Çekirdek (güvenilirlik)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Aşağı okuma yok:</a:t>
            </a:r>
            <a:r>
              <a:rPr sz="2000" b="0">
                <a:solidFill>
                  <a:srgbClr val="1F2D3A"/>
                </a:solidFill>
              </a:rPr>
              <a:t> kendinden az güvenilir veriyi okuyamaz.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yazma yok:</a:t>
            </a:r>
            <a:r>
              <a:rPr sz="2000" b="0">
                <a:solidFill>
                  <a:srgbClr val="1F2D3A"/>
                </a:solidFill>
              </a:rPr>
              <a:t> kendinden güvenilir veriye yazamaz.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"Read up, write down"</a:t>
            </a:r>
            <a:r>
              <a:rPr sz="2000" b="0">
                <a:solidFill>
                  <a:srgbClr val="1F2D3A"/>
                </a:solidFill>
              </a:rPr>
              <a:t> — kirli bilgi </a:t>
            </a:r>
            <a:r>
              <a:rPr sz="2000" b="1">
                <a:solidFill>
                  <a:srgbClr val="1F2D3A"/>
                </a:solidFill>
              </a:rPr>
              <a:t>yukarı çıkamaz</a:t>
            </a:r>
            <a:r>
              <a:rPr sz="2000" b="0">
                <a:solidFill>
                  <a:srgbClr val="1F2D3A"/>
                </a:solidFill>
              </a:rPr>
              <a:t>, temizi bozamaz.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ve Biba: ters yönler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BELL-LaPADULA (gizlilik)      BIBA (butunluk)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Cok Gizli  ^  oku             Cekirdek  ^  yaz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|       |  yaz gonderme        |     |  oku gonderme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Gizli      |                   Uygulama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|      v                       |     v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Genel                           Dis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BLP: yukari OKUMA yok, asagi YAZMA yok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Biba: asagi OKUMA yok, yukari YAZMA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veri hem gizli hem güvenilir olmalıysa → yalnız </a:t>
            </a:r>
            <a:r>
              <a:rPr sz="2000" b="1">
                <a:solidFill>
                  <a:srgbClr val="1F2D3A"/>
                </a:solidFill>
              </a:rPr>
              <a:t>kendi seviyesinde</a:t>
            </a:r>
            <a:r>
              <a:rPr sz="2000" b="0">
                <a:solidFill>
                  <a:srgbClr val="1F2D3A"/>
                </a:solidFill>
              </a:rPr>
              <a:t> işlenir.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↔ Biba — şema</a:t>
            </a:r>
          </a:p>
        </p:txBody>
      </p:sp>
      <p:pic>
        <p:nvPicPr>
          <p:cNvPr id="7" name="Picture 6" descr="h02-05-blp-bi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9292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6489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Ters yönler:</a:t>
            </a:r>
            <a:r>
              <a:rPr sz="2000" b="0">
                <a:solidFill>
                  <a:srgbClr val="1F2D3A"/>
                </a:solidFill>
              </a:rPr>
              <a:t> BLP gizliliği (yukarı okuma + aşağı yazma yok), Biba bütünlüğü (aşağı okuma + yukarı yazma yok) korur.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Clark–Wilson: ticari bütünlük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Askeri seviye yerine </a:t>
            </a:r>
            <a:r>
              <a:rPr sz="2000" b="1">
                <a:solidFill>
                  <a:srgbClr val="1F2D3A"/>
                </a:solidFill>
              </a:rPr>
              <a:t>iyi biçimli işlem + görev ayrılığı</a:t>
            </a:r>
            <a:r>
              <a:rPr sz="2000" b="0">
                <a:solidFill>
                  <a:srgbClr val="1F2D3A"/>
                </a:solidFill>
              </a:rPr>
              <a:t> (1987, banka):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CDI:</a:t>
            </a:r>
            <a:r>
              <a:rPr sz="2000" b="0">
                <a:solidFill>
                  <a:srgbClr val="1F2D3A"/>
                </a:solidFill>
              </a:rPr>
              <a:t> bütünlüğü korunacak veri (bakiye).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TP:</a:t>
            </a:r>
            <a:r>
              <a:rPr sz="2000" b="0">
                <a:solidFill>
                  <a:srgbClr val="1F2D3A"/>
                </a:solidFill>
              </a:rPr>
              <a:t> CDI'ye yalnız </a:t>
            </a:r>
            <a:r>
              <a:rPr sz="2000" b="1">
                <a:solidFill>
                  <a:srgbClr val="1F2D3A"/>
                </a:solidFill>
              </a:rPr>
              <a:t>onaylı işlemler</a:t>
            </a:r>
            <a:r>
              <a:rPr sz="2000" b="0">
                <a:solidFill>
                  <a:srgbClr val="1F2D3A"/>
                </a:solidFill>
              </a:rPr>
              <a:t> dokunur (doğrudan yazma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IVP:</a:t>
            </a:r>
            <a:r>
              <a:rPr sz="2000" b="0">
                <a:solidFill>
                  <a:srgbClr val="1F2D3A"/>
                </a:solidFill>
              </a:rPr>
              <a:t> tutarlılığı düzenli denetler ("borç = alacak").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Görev ayrılığı:</a:t>
            </a:r>
            <a:r>
              <a:rPr sz="2000" b="0">
                <a:solidFill>
                  <a:srgbClr val="1F2D3A"/>
                </a:solidFill>
              </a:rPr>
              <a:t> başlatan ≠ onaylayan.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038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"Veriye doğrudan değil, </a:t>
            </a:r>
            <a:r>
              <a:rPr sz="2000" b="1">
                <a:solidFill>
                  <a:srgbClr val="1F2D3A"/>
                </a:solidFill>
              </a:rPr>
              <a:t>doğrulanmış işlemlerle</a:t>
            </a:r>
            <a:r>
              <a:rPr sz="2000" b="0">
                <a:solidFill>
                  <a:srgbClr val="1F2D3A"/>
                </a:solidFill>
              </a:rPr>
              <a:t> dokun."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03 — BLP ve Biba çıktısı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BLP:  memur   OKU operasyon  BLP:RED  =&gt; RED  (yukari okuma)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general YAZ ilan       BLP:RED  =&gt; RED  (asagi yazma)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Biba: aglayici YAZ kayit     BIBA:RED =&gt; RED  (yukari yazma)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islemci  OKU gelen     BIBA:RED =&gt; RED  (asagi okuma)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DAC her ikisinde </a:t>
            </a:r>
            <a:r>
              <a:rPr sz="2000" b="1">
                <a:solidFill>
                  <a:srgbClr val="1F2D3A"/>
                </a:solidFill>
              </a:rPr>
              <a:t>VAR</a:t>
            </a:r>
            <a:r>
              <a:rPr sz="2000" b="0">
                <a:solidFill>
                  <a:srgbClr val="1F2D3A"/>
                </a:solidFill>
              </a:rPr>
              <a:t>; reddi getiren </a:t>
            </a:r>
            <a:r>
              <a:rPr sz="2000" b="1">
                <a:solidFill>
                  <a:srgbClr val="1F2D3A"/>
                </a:solidFill>
              </a:rPr>
              <a:t>sistem (MAC)</a:t>
            </a:r>
            <a:r>
              <a:rPr sz="2000" b="0">
                <a:solidFill>
                  <a:srgbClr val="1F2D3A"/>
                </a:solidFill>
              </a:rPr>
              <a:t> kuralıdır.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Unix erişim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-rwxr-x---</a:t>
            </a:r>
            <a:r>
              <a:rPr sz="2000" b="0">
                <a:solidFill>
                  <a:srgbClr val="1F2D3A"/>
                </a:solidFill>
              </a:rPr>
              <a:t> → sahip / grup / diğerleri, her biri </a:t>
            </a:r>
            <a:r>
              <a:rPr sz="2000" b="1">
                <a:solidFill>
                  <a:srgbClr val="1F2D3A"/>
                </a:solidFill>
              </a:rPr>
              <a:t>oku-yaz-çalıştır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kimlik: </a:t>
            </a:r>
            <a:r>
              <a:rPr sz="2000" b="1">
                <a:solidFill>
                  <a:srgbClr val="1F2D3A"/>
                </a:solidFill>
              </a:rPr>
              <a:t>effective / real / saved</a:t>
            </a:r>
            <a:r>
              <a:rPr sz="2000" b="0">
                <a:solidFill>
                  <a:srgbClr val="1F2D3A"/>
                </a:solidFill>
              </a:rPr>
              <a:t> UID.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setuid:</a:t>
            </a:r>
            <a:r>
              <a:rPr sz="2000" b="0">
                <a:solidFill>
                  <a:srgbClr val="1F2D3A"/>
                </a:solidFill>
              </a:rPr>
              <a:t> program </a:t>
            </a:r>
            <a:r>
              <a:rPr sz="2000" b="1">
                <a:solidFill>
                  <a:srgbClr val="1F2D3A"/>
                </a:solidFill>
              </a:rPr>
              <a:t>sahibinin</a:t>
            </a:r>
            <a:r>
              <a:rPr sz="2000" b="0">
                <a:solidFill>
                  <a:srgbClr val="1F2D3A"/>
                </a:solidFill>
              </a:rPr>
              <a:t> (çoğu zaman root) yetkisiyle çalışır — güçlü ama tehlikeli.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sticky bit: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/tmp</a:t>
            </a:r>
            <a:r>
              <a:rPr sz="2000" b="0">
                <a:solidFill>
                  <a:srgbClr val="1F2D3A"/>
                </a:solidFill>
              </a:rPr>
              <a:t>'te başkasının dosyasını silememe.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Kitap: Tarif 2.1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Windows erişim modeli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873"/>
                <a:gridCol w="3141199"/>
                <a:gridCol w="479446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Unix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UID/GID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 bitleri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DACL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içindeki ACE'ler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Denetim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syslog (harici)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SACL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(yerleşik)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"Herkese açık"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chmod 777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NULL DACL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DACL:</a:t>
            </a:r>
            <a:r>
              <a:rPr sz="1800" b="0">
                <a:solidFill>
                  <a:srgbClr val="1F2D3A"/>
                </a:solidFill>
              </a:rPr>
              <a:t> kim ne yapabilir (ACE = SID + hak + izin/reddet).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Modern Windows: </a:t>
            </a:r>
            <a:r>
              <a:rPr sz="1800" b="1">
                <a:solidFill>
                  <a:srgbClr val="1F2D3A"/>
                </a:solidFill>
              </a:rPr>
              <a:t>MIC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AppContainer</a:t>
            </a:r>
            <a:r>
              <a:rPr sz="1800" b="0">
                <a:solidFill>
                  <a:srgbClr val="1F2D3A"/>
                </a:solidFill>
              </a:rPr>
              <a:t> (Biba benzeri). Kitap: Tarif 2.2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06 — TOCTOU yarışı (CWE-367)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code/week-02/06-toctou</a:t>
            </a:r>
            <a:r>
              <a:rPr sz="2000" b="0">
                <a:solidFill>
                  <a:srgbClr val="1F2D3A"/>
                </a:solidFill>
              </a:rPr>
              <a:t> (yalnız WSL/Linux) · Kitap: Tarif 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GUVENSIZ (once lstat, sonra fopen):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&gt;&gt;&gt; SALDIRI BASARILI: yazi gizli_hedef.txt'e yonlendirildi!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GUVENLI (O_NOFOLLOW ile tek adim):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reddedildi: hedef sembolik bag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Denetim ile kullanım arasındaki boşluk</a:t>
            </a:r>
            <a:r>
              <a:rPr sz="2000" b="0">
                <a:solidFill>
                  <a:srgbClr val="1F2D3A"/>
                </a:solidFill>
              </a:rPr>
              <a:t> bir yarıştır. Çözüm: tek atomik adım (</a:t>
            </a:r>
            <a:r>
              <a:rPr sz="2000" b="0">
                <a:solidFill>
                  <a:srgbClr val="A1123F"/>
                </a:solidFill>
                <a:latin typeface="Consolas"/>
              </a:rPr>
              <a:t>O_NOFOLLOW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O_EXCL</a:t>
            </a:r>
            <a:r>
              <a:rPr sz="2000" b="0">
                <a:solidFill>
                  <a:srgbClr val="1F2D3A"/>
                </a:solidFill>
              </a:rPr>
              <a:t>), fd üzerinden çalış.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12 — ACE değerlendirme algoritması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code/week-02/12-ace-degerlendirme</a:t>
            </a:r>
            <a:r>
              <a:rPr sz="1800" b="0">
                <a:solidFill>
                  <a:srgbClr val="1F2D3A"/>
                </a:solidFill>
              </a:rPr>
              <a:t> · Tarif 2.2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1a kanonik:  RET Herkes TAM | IZIN Pazarlama YAZ  =&gt;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1b bozuk:    IZIN Pazarlama YAZ | ... RET Herkes  =&gt; IZIN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2a NULL DACL (yabanci hesap) =&gt; IZIN (SAHIP_AL, IZIN_YAZ dahil!)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2b BOS DACL  (ayni hesap)    =&gt;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3b kalitim kesildi           =&gt; RED (liste bitti)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695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Sıra önemli: </a:t>
            </a:r>
            <a:r>
              <a:rPr sz="1800" b="1">
                <a:solidFill>
                  <a:srgbClr val="1F2D3A"/>
                </a:solidFill>
              </a:rPr>
              <a:t>açık RET → açık İZİN → miras RET → miras İZİN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NULL DACL = herkese </a:t>
            </a:r>
            <a:r>
              <a:rPr sz="1800" b="1">
                <a:solidFill>
                  <a:srgbClr val="1F2D3A"/>
                </a:solidFill>
              </a:rPr>
              <a:t>her</a:t>
            </a:r>
            <a:r>
              <a:rPr sz="1800" b="0">
                <a:solidFill>
                  <a:srgbClr val="1F2D3A"/>
                </a:solidFill>
              </a:rPr>
              <a:t> hak · ✅ gerekli hakları açıkça ver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Sahip, DACL ne derse desin izinleri değiştirebilir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13 — Unix izinleri, umask, setuid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code/week-02/13-unix-izin-umask</a:t>
            </a:r>
            <a:r>
              <a:rPr sz="1800" b="0">
                <a:solidFill>
                  <a:srgbClr val="1F2D3A"/>
                </a:solidFill>
              </a:rPr>
              <a:t> · Tarif 2.1, 2.7, 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ayse   oku paradoks.txt ---rwxrwx  sahip -&gt;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zeynep oku paradoks.txt ---rwxrwx  diger -&gt; IZIN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0666 &amp; ~umask:  000 -&gt; rw-rw-rw-   022 -&gt; rw-r--r--   077 -&gt; rw-------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seteuid(1001)  r/e/s = 1001/1001/0   &lt;- sakli UID hala 0!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68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İlk eşleşen sınıf</a:t>
            </a:r>
            <a:r>
              <a:rPr sz="1800" b="0">
                <a:solidFill>
                  <a:srgbClr val="1F2D3A"/>
                </a:solidFill>
              </a:rPr>
              <a:t> karar verir (sahip → grup → diğerleri)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fopen()</a:t>
            </a:r>
            <a:r>
              <a:rPr sz="1800" b="0">
                <a:solidFill>
                  <a:srgbClr val="1F2D3A"/>
                </a:solidFill>
              </a:rPr>
              <a:t> 0666 ister → hassas dosya: </a:t>
            </a:r>
            <a:r>
              <a:rPr sz="1800" b="0">
                <a:solidFill>
                  <a:srgbClr val="A1123F"/>
                </a:solidFill>
                <a:latin typeface="Consolas"/>
              </a:rPr>
              <a:t>open(..., 0600)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Kalıcı bırakma: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setresuid()</a:t>
            </a:r>
            <a:r>
              <a:rPr sz="1800" b="0">
                <a:solidFill>
                  <a:srgbClr val="1F2D3A"/>
                </a:solidFill>
              </a:rPr>
              <a:t> + doğrula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14 — RBAC, görev ayrılığı, Clark–Wilson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code/week-02/14-rbac-clark-wilson</a:t>
            </a:r>
            <a:r>
              <a:rPr sz="1800" b="0">
                <a:solidFill>
                  <a:srgbClr val="1F2D3A"/>
                </a:solidFill>
              </a:rPr>
              <a:t> · banka benzetimi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ATA cem GISE                 SSD(GISE,ONAYCI)  -&gt;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OTURUM deniz GISE,DENETCI    DSD(GISE,DENETCI) -&gt;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OTURUM deniz DENETCI         -&gt; TAMAM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deniz IVP: beklenen 20250, bulunan 20250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68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SSD:</a:t>
            </a:r>
            <a:r>
              <a:rPr sz="1800" b="0">
                <a:solidFill>
                  <a:srgbClr val="1F2D3A"/>
                </a:solidFill>
              </a:rPr>
              <a:t> çelişen iki role atanamaz · </a:t>
            </a:r>
            <a:r>
              <a:rPr sz="1800" b="1">
                <a:solidFill>
                  <a:srgbClr val="1F2D3A"/>
                </a:solidFill>
              </a:rPr>
              <a:t>DSD:</a:t>
            </a:r>
            <a:r>
              <a:rPr sz="1800" b="0">
                <a:solidFill>
                  <a:srgbClr val="1F2D3A"/>
                </a:solidFill>
              </a:rPr>
              <a:t> aynı oturumda ikisi etkin olamaz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CDI'ya yalnız </a:t>
            </a:r>
            <a:r>
              <a:rPr sz="1800" b="1">
                <a:solidFill>
                  <a:srgbClr val="1F2D3A"/>
                </a:solidFill>
              </a:rPr>
              <a:t>sertifikalı TP</a:t>
            </a:r>
            <a:r>
              <a:rPr sz="1800" b="0">
                <a:solidFill>
                  <a:srgbClr val="1F2D3A"/>
                </a:solidFill>
              </a:rPr>
              <a:t> dokunur; büyük havale → </a:t>
            </a:r>
            <a:r>
              <a:rPr sz="1800" b="1">
                <a:solidFill>
                  <a:srgbClr val="1F2D3A"/>
                </a:solidFill>
              </a:rPr>
              <a:t>ikinci kişi onayı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⚠️ Hatalı TP sertifikalanırsa kurallar görmez, </a:t>
            </a:r>
            <a:r>
              <a:rPr sz="1800" b="1">
                <a:solidFill>
                  <a:srgbClr val="1F2D3A"/>
                </a:solidFill>
              </a:rPr>
              <a:t>IVP yakalar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Zafiyet sınıflandırma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CWE: zayıflık türleri kataloğu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= zayıflığın </a:t>
            </a:r>
            <a:r>
              <a:rPr sz="2000" b="1">
                <a:solidFill>
                  <a:srgbClr val="1F2D3A"/>
                </a:solidFill>
              </a:rPr>
              <a:t>türü</a:t>
            </a:r>
            <a:r>
              <a:rPr sz="2000" b="0">
                <a:solidFill>
                  <a:srgbClr val="1F2D3A"/>
                </a:solidFill>
              </a:rPr>
              <a:t> (SQL enjeksiyonu → CWE-89).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 Top 25:</a:t>
            </a:r>
            <a:r>
              <a:rPr sz="2000" b="0">
                <a:solidFill>
                  <a:srgbClr val="1F2D3A"/>
                </a:solidFill>
              </a:rPr>
              <a:t> o yıl en çok görülen/tehlikeli 25 zayıflık.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78888"/>
          <a:ext cx="6546920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8"/>
                <a:gridCol w="4546472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Zayıflık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Sınır dışına 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 enjeksiyonu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CWE-367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TOCTOU (Demo 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Gömülü kimlik/anahtar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6106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Hiyerarşik: pillar → class → base → variant. </a:t>
            </a:r>
            <a:r>
              <a:rPr sz="2000" b="1">
                <a:solidFill>
                  <a:srgbClr val="1F2D3A"/>
                </a:solidFill>
              </a:rPr>
              <a:t>En somut</a:t>
            </a:r>
            <a:r>
              <a:rPr sz="2000" b="0">
                <a:solidFill>
                  <a:srgbClr val="1F2D3A"/>
                </a:solidFill>
              </a:rPr>
              <a:t> CWE'yi seç.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Top 10 ve MASVS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7185"/>
                <a:gridCol w="2442880"/>
                <a:gridCol w="4071468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Belge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Kapsam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 / Top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Tüm yazılım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Katalog / öncelik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Top 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Farkındalık / öncelik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Doğrulama standardı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MASVS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Mobil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Doğrulama +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MASVS-RESILIENCE</a:t>
            </a:r>
            <a:r>
              <a:rPr sz="2000" b="0">
                <a:solidFill>
                  <a:srgbClr val="1F2D3A"/>
                </a:solidFill>
              </a:rPr>
              <a:t> = tersine mühendisliğe direnç → bu dersin kod gizleme (H9, H14), RASP (H6), whitebox (H11) konuları.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CVE ve CVSS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CVE:</a:t>
            </a:r>
            <a:r>
              <a:rPr sz="2000" b="0">
                <a:solidFill>
                  <a:srgbClr val="1F2D3A"/>
                </a:solidFill>
              </a:rPr>
              <a:t> belirli üründeki belirli açığın </a:t>
            </a:r>
            <a:r>
              <a:rPr sz="2000" b="1">
                <a:solidFill>
                  <a:srgbClr val="1F2D3A"/>
                </a:solidFill>
              </a:rPr>
              <a:t>kimliği</a:t>
            </a:r>
            <a:r>
              <a:rPr sz="2000" b="0">
                <a:solidFill>
                  <a:srgbClr val="1F2D3A"/>
                </a:solidFill>
              </a:rPr>
              <a:t> (CVE-2014-0160 = Heartbleed). Bir </a:t>
            </a:r>
            <a:r>
              <a:rPr sz="2000" b="1">
                <a:solidFill>
                  <a:srgbClr val="1F2D3A"/>
                </a:solidFill>
              </a:rPr>
              <a:t>isim</a:t>
            </a:r>
            <a:r>
              <a:rPr sz="2000" b="0">
                <a:solidFill>
                  <a:srgbClr val="1F2D3A"/>
                </a:solidFill>
              </a:rPr>
              <a:t>, ciddiyet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CVSS:</a:t>
            </a:r>
            <a:r>
              <a:rPr sz="2000" b="0">
                <a:solidFill>
                  <a:srgbClr val="1F2D3A"/>
                </a:solidFill>
              </a:rPr>
              <a:t> açığın </a:t>
            </a:r>
            <a:r>
              <a:rPr sz="2000" b="1">
                <a:solidFill>
                  <a:srgbClr val="1F2D3A"/>
                </a:solidFill>
              </a:rPr>
              <a:t>ciddiyeti</a:t>
            </a:r>
            <a:r>
              <a:rPr sz="2000" b="0">
                <a:solidFill>
                  <a:srgbClr val="1F2D3A"/>
                </a:solidFill>
              </a:rPr>
              <a:t> 0.0–10.0. Üç grup: </a:t>
            </a:r>
            <a:r>
              <a:rPr sz="2000" b="1">
                <a:solidFill>
                  <a:srgbClr val="1F2D3A"/>
                </a:solidFill>
              </a:rPr>
              <a:t>Temel</a:t>
            </a:r>
            <a:r>
              <a:rPr sz="2000" b="0">
                <a:solidFill>
                  <a:srgbClr val="1F2D3A"/>
                </a:solidFill>
              </a:rPr>
              <a:t> (değişmez), Zamansal, Çevresel.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CVE bir ya da birden çok </a:t>
            </a:r>
            <a:r>
              <a:rPr sz="2000" b="1">
                <a:solidFill>
                  <a:srgbClr val="1F2D3A"/>
                </a:solidFill>
              </a:rPr>
              <a:t>CWE türüne</a:t>
            </a:r>
            <a:r>
              <a:rPr sz="2000" b="0">
                <a:solidFill>
                  <a:srgbClr val="1F2D3A"/>
                </a:solidFill>
              </a:rPr>
              <a:t> aittir.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CVSS v3.1 Temel puan metrikleri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886"/>
                <a:gridCol w="3534722"/>
                <a:gridCol w="537892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Sorusu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Değerler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Nereden?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Ağ / Bitişik / Yerel / Fiziksel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kadar zor?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 / 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Yetki gerekir mi?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Yok / Düşük / 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UI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Kurban gerekir mi?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Yok / Gerekli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Kapsam aşılıyor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Değişmedi / Değişti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C/I/A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 / Düşük /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v4.0:</a:t>
            </a:r>
            <a:r>
              <a:rPr sz="1800" b="0">
                <a:solidFill>
                  <a:srgbClr val="1F2D3A"/>
                </a:solidFill>
              </a:rPr>
              <a:t> kapsam yerine ayrı VC/VI/VA + SC/SI/SA; temel puan = CVSS-B.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05 — CVSS hesaplayıcı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code/week-02/05-cvss</a:t>
            </a:r>
            <a:r>
              <a:rPr sz="2000" b="0">
                <a:solidFill>
                  <a:srgbClr val="1F2D3A"/>
                </a:solidFill>
              </a:rPr>
              <a:t> (Python)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AV:N/AC:L/PR:N/UI:N/S:U/C:H/I:H/A:H  = 9.8  Kritik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... S:U -&gt; S:C          = 10.0 Kritik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AV:L (yerel) /PR:L/... C:H/I:H/A:H    = 7.8  Yuksek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6512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Uzaktan + kimliksiz</a:t>
            </a:r>
            <a:r>
              <a:rPr sz="2000" b="0">
                <a:solidFill>
                  <a:srgbClr val="1F2D3A"/>
                </a:solidFill>
              </a:rPr>
              <a:t> en yüksek; kapsam değişince 10.0.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Temel puan </a:t>
            </a:r>
            <a:r>
              <a:rPr sz="2000" b="1">
                <a:solidFill>
                  <a:srgbClr val="1F2D3A"/>
                </a:solidFill>
              </a:rPr>
              <a:t>bağlamı bilmez</a:t>
            </a:r>
            <a:r>
              <a:rPr sz="2000" b="0">
                <a:solidFill>
                  <a:srgbClr val="1F2D3A"/>
                </a:solidFill>
              </a:rPr>
              <a:t>: 4.0'lık açık tam sizin varlığınızı vuruyorsa sizin için 9.8'den önemli olabilir.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Zafiyet yaşam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Kesif -&gt; Ozel ifsa -&gt; Yama -&gt; Yama yayini -&gt; Kamuya acilma -&gt; Guncelleme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\.................. zero-day (yama yokken saldiri) ................/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Zero-day:</a:t>
            </a:r>
            <a:r>
              <a:rPr sz="2000" b="0">
                <a:solidFill>
                  <a:srgbClr val="1F2D3A"/>
                </a:solidFill>
              </a:rPr>
              <a:t> satıcının bilmediği/yamasının olmadığı açık.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Sorumlu ifşa:</a:t>
            </a:r>
            <a:r>
              <a:rPr sz="2000" b="0">
                <a:solidFill>
                  <a:srgbClr val="1F2D3A"/>
                </a:solidFill>
              </a:rPr>
              <a:t> önce satıcıya bildir, ~90 gün bekle, sonra açıkla.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Yama boşluğu:</a:t>
            </a:r>
            <a:r>
              <a:rPr sz="2000" b="0">
                <a:solidFill>
                  <a:srgbClr val="1F2D3A"/>
                </a:solidFill>
              </a:rPr>
              <a:t> yama çıkınca açık kamuya açılır; güncellemeyen savunmasız (WannaCry).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 projesi: bu hafta (S4)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her satıra bir CWE</a:t>
            </a:r>
            <a:r>
              <a:rPr sz="2000" b="0">
                <a:solidFill>
                  <a:srgbClr val="1F2D3A"/>
                </a:solidFill>
              </a:rPr>
              <a:t> ekleyin.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saldırı ağacı</a:t>
            </a:r>
            <a:r>
              <a:rPr sz="2000" b="0">
                <a:solidFill>
                  <a:srgbClr val="1F2D3A"/>
                </a:solidFill>
              </a:rPr>
              <a:t> (Demo 04 biçimi); en ucuz yol + en etkili önlem.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CVE</a:t>
            </a:r>
            <a:r>
              <a:rPr sz="2000" b="0">
                <a:solidFill>
                  <a:srgbClr val="1F2D3A"/>
                </a:solidFill>
              </a:rPr>
              <a:t>'lerini bulup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puanlayın.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erişim modelini</a:t>
            </a:r>
            <a:r>
              <a:rPr sz="2000" b="0">
                <a:solidFill>
                  <a:srgbClr val="1F2D3A"/>
                </a:solidFill>
              </a:rPr>
              <a:t> (DAC / MAC / RBAC) gerekçelendirin.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6092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| ID | Tehdit | Varlik | Yol | CWE | Onlem | Bolum |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(seçme)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9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Virüs, solucan, truva atı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Polimorfizm ≠ metamorfizm: fark?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Yüksek entropi zararlıyı </a:t>
            </a:r>
            <a:r>
              <a:rPr sz="2000" b="1">
                <a:solidFill>
                  <a:srgbClr val="1F2D3A"/>
                </a:solidFill>
              </a:rPr>
              <a:t>kanıtlar</a:t>
            </a:r>
            <a:r>
              <a:rPr sz="2000" b="0">
                <a:solidFill>
                  <a:srgbClr val="1F2D3A"/>
                </a:solidFill>
              </a:rPr>
              <a:t>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BLP iki kuralı ve neyi korur?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Biba, BLP'den nasıl ayrılır?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DAC ile MAC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0">
                <a:solidFill>
                  <a:srgbClr val="1F2D3A"/>
                </a:solidFill>
              </a:rPr>
              <a:t>CWE ile CVE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8. </a:t>
            </a:r>
            <a:r>
              <a:rPr sz="2000" b="0">
                <a:solidFill>
                  <a:srgbClr val="1F2D3A"/>
                </a:solidFill>
              </a:rPr>
              <a:t>CVSS Temel puan neyi ölçmez?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(1–4)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Virüs</a:t>
            </a:r>
            <a:r>
              <a:rPr sz="1800" b="0">
                <a:solidFill>
                  <a:srgbClr val="1F2D3A"/>
                </a:solidFill>
              </a:rPr>
              <a:t> başka programa bulaşır; </a:t>
            </a:r>
            <a:r>
              <a:rPr sz="1800" b="1">
                <a:solidFill>
                  <a:srgbClr val="1F2D3A"/>
                </a:solidFill>
              </a:rPr>
              <a:t>solucan</a:t>
            </a:r>
            <a:r>
              <a:rPr sz="1800" b="0">
                <a:solidFill>
                  <a:srgbClr val="1F2D3A"/>
                </a:solidFill>
              </a:rPr>
              <a:t> kendi başına ağdan kopyalar; </a:t>
            </a:r>
            <a:r>
              <a:rPr sz="1800" b="1">
                <a:solidFill>
                  <a:srgbClr val="1F2D3A"/>
                </a:solidFill>
              </a:rPr>
              <a:t>truva atı</a:t>
            </a:r>
            <a:r>
              <a:rPr sz="1800" b="0">
                <a:solidFill>
                  <a:srgbClr val="1F2D3A"/>
                </a:solidFill>
              </a:rPr>
              <a:t> faydalı görünüp gizli zararlı taşır.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Polimorfik</a:t>
            </a:r>
            <a:r>
              <a:rPr sz="1800" b="0">
                <a:solidFill>
                  <a:srgbClr val="1F2D3A"/>
                </a:solidFill>
              </a:rPr>
              <a:t> her kopyada kendini farklı </a:t>
            </a:r>
            <a:r>
              <a:rPr sz="1800" b="1">
                <a:solidFill>
                  <a:srgbClr val="1F2D3A"/>
                </a:solidFill>
              </a:rPr>
              <a:t>şifreler</a:t>
            </a:r>
            <a:r>
              <a:rPr sz="1800" b="0">
                <a:solidFill>
                  <a:srgbClr val="1F2D3A"/>
                </a:solidFill>
              </a:rPr>
              <a:t>; </a:t>
            </a:r>
            <a:r>
              <a:rPr sz="1800" b="1">
                <a:solidFill>
                  <a:srgbClr val="1F2D3A"/>
                </a:solidFill>
              </a:rPr>
              <a:t>metamorfik</a:t>
            </a:r>
            <a:r>
              <a:rPr sz="1800" b="0">
                <a:solidFill>
                  <a:srgbClr val="1F2D3A"/>
                </a:solidFill>
              </a:rPr>
              <a:t> kodunu </a:t>
            </a:r>
            <a:r>
              <a:rPr sz="1800" b="1">
                <a:solidFill>
                  <a:srgbClr val="1F2D3A"/>
                </a:solidFill>
              </a:rPr>
              <a:t>yeniden yazar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Hayır.</a:t>
            </a:r>
            <a:r>
              <a:rPr sz="1800" b="0">
                <a:solidFill>
                  <a:srgbClr val="1F2D3A"/>
                </a:solidFill>
              </a:rPr>
              <a:t> Yüksek entropi bir </a:t>
            </a:r>
            <a:r>
              <a:rPr sz="1800" b="1">
                <a:solidFill>
                  <a:srgbClr val="1F2D3A"/>
                </a:solidFill>
              </a:rPr>
              <a:t>ipucudur</a:t>
            </a:r>
            <a:r>
              <a:rPr sz="1800" b="0">
                <a:solidFill>
                  <a:srgbClr val="1F2D3A"/>
                </a:solidFill>
              </a:rPr>
              <a:t> (şifreli/paketli); tek başına zararlıyı kanıtlamaz (meşru sıkıştırma da yüksek entropili).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BLP:</a:t>
            </a:r>
            <a:r>
              <a:rPr sz="1800" b="0">
                <a:solidFill>
                  <a:srgbClr val="1F2D3A"/>
                </a:solidFill>
              </a:rPr>
              <a:t> yukarı okuma yok + aşağı yazma yok → </a:t>
            </a:r>
            <a:r>
              <a:rPr sz="1800" b="1">
                <a:solidFill>
                  <a:srgbClr val="1F2D3A"/>
                </a:solidFill>
              </a:rPr>
              <a:t>gizliliği</a:t>
            </a:r>
            <a:r>
              <a:rPr sz="1800" b="0">
                <a:solidFill>
                  <a:srgbClr val="1F2D3A"/>
                </a:solidFill>
              </a:rPr>
              <a:t> korur.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(5–8)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Biba</a:t>
            </a:r>
            <a:r>
              <a:rPr sz="1800" b="0">
                <a:solidFill>
                  <a:srgbClr val="1F2D3A"/>
                </a:solidFill>
              </a:rPr>
              <a:t> BLP'nin tersidir: aşağı okuma yok + yukarı yazma yok → </a:t>
            </a:r>
            <a:r>
              <a:rPr sz="1800" b="1">
                <a:solidFill>
                  <a:srgbClr val="1F2D3A"/>
                </a:solidFill>
              </a:rPr>
              <a:t>bütünlüğü</a:t>
            </a:r>
            <a:r>
              <a:rPr sz="1800" b="0">
                <a:solidFill>
                  <a:srgbClr val="1F2D3A"/>
                </a:solidFill>
              </a:rPr>
              <a:t> korur.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DAC</a:t>
            </a:r>
            <a:r>
              <a:rPr sz="1800" b="0">
                <a:solidFill>
                  <a:srgbClr val="1F2D3A"/>
                </a:solidFill>
              </a:rPr>
              <a:t> izinleri sahibi belirler (esnek, sızıntıya açık); </a:t>
            </a:r>
            <a:r>
              <a:rPr sz="1800" b="1">
                <a:solidFill>
                  <a:srgbClr val="1F2D3A"/>
                </a:solidFill>
              </a:rPr>
              <a:t>MAC</a:t>
            </a:r>
            <a:r>
              <a:rPr sz="1800" b="0">
                <a:solidFill>
                  <a:srgbClr val="1F2D3A"/>
                </a:solidFill>
              </a:rPr>
              <a:t> sistemin zorunlu etiketli kuralları (katı).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CWE</a:t>
            </a:r>
            <a:r>
              <a:rPr sz="1800" b="0">
                <a:solidFill>
                  <a:srgbClr val="1F2D3A"/>
                </a:solidFill>
              </a:rPr>
              <a:t> zayıflık </a:t>
            </a:r>
            <a:r>
              <a:rPr sz="1800" b="1">
                <a:solidFill>
                  <a:srgbClr val="1F2D3A"/>
                </a:solidFill>
              </a:rPr>
              <a:t>türü</a:t>
            </a:r>
            <a:r>
              <a:rPr sz="1800" b="0">
                <a:solidFill>
                  <a:srgbClr val="1F2D3A"/>
                </a:solidFill>
              </a:rPr>
              <a:t> (ör. CWE-416); </a:t>
            </a:r>
            <a:r>
              <a:rPr sz="1800" b="1">
                <a:solidFill>
                  <a:srgbClr val="1F2D3A"/>
                </a:solidFill>
              </a:rPr>
              <a:t>CVE</a:t>
            </a:r>
            <a:r>
              <a:rPr sz="1800" b="0">
                <a:solidFill>
                  <a:srgbClr val="1F2D3A"/>
                </a:solidFill>
              </a:rPr>
              <a:t> belirli bir üründeki </a:t>
            </a:r>
            <a:r>
              <a:rPr sz="1800" b="1">
                <a:solidFill>
                  <a:srgbClr val="1F2D3A"/>
                </a:solidFill>
              </a:rPr>
              <a:t>somut</a:t>
            </a:r>
            <a:r>
              <a:rPr sz="1800" b="0">
                <a:solidFill>
                  <a:srgbClr val="1F2D3A"/>
                </a:solidFill>
              </a:rPr>
              <a:t> açık.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CVSS Temel puan</a:t>
            </a:r>
            <a:r>
              <a:rPr sz="1800" b="0">
                <a:solidFill>
                  <a:srgbClr val="1F2D3A"/>
                </a:solidFill>
              </a:rPr>
              <a:t> olabilirliği/etkiyi ölçer ama </a:t>
            </a:r>
            <a:r>
              <a:rPr sz="1800" b="1">
                <a:solidFill>
                  <a:srgbClr val="1F2D3A"/>
                </a:solidFill>
              </a:rPr>
              <a:t>istismarın sahada gerçekleşme olasılığını</a:t>
            </a:r>
            <a:r>
              <a:rPr sz="1800" b="0">
                <a:solidFill>
                  <a:srgbClr val="1F2D3A"/>
                </a:solidFill>
              </a:rPr>
              <a:t> (tehdit/ortam) tek başına ölçmez.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3 — Veri Güvenliği: Aktarımda, Beklemede, Kullanımda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Şifreleme temelleri · TLS 1.3 ve sertifika sabitleme · AES-GCM ile yerel şifreleme · güvenli silme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67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Kaynak: Viega &amp; Messier, Tarif 9.1–9.3, 10.7–10.9, 4.9–4.11, 13.2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Erişim modelleri karşılaştırma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· gizlilik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"Yukarı yazma, aşağı okuma yok"</a:t>
            </a:r>
            <a:r>
              <a:rPr sz="2000" b="0">
                <a:solidFill>
                  <a:srgbClr val="1F2D3A"/>
                </a:solidFill>
              </a:rPr>
              <a:t> değil — tersi: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okuma yok</a:t>
            </a:r>
            <a:r>
              <a:rPr sz="2000" b="0">
                <a:solidFill>
                  <a:srgbClr val="1F2D3A"/>
                </a:solidFill>
              </a:rPr>
              <a:t> (no read up): düşük yetkili, yüksek gizli veriyi okuyamaz.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Aşağı yazma yok</a:t>
            </a:r>
            <a:r>
              <a:rPr sz="2000" b="0">
                <a:solidFill>
                  <a:srgbClr val="1F2D3A"/>
                </a:solidFill>
              </a:rPr>
              <a:t> (no write down): yüksek yetkili, düşük seviyeye sızdıramaz.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·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"Gizli" etiketli bir kullanıcı "Çok Gizli" belgeyi </a:t>
            </a:r>
            <a:r>
              <a:rPr sz="2000" b="1">
                <a:solidFill>
                  <a:srgbClr val="1F2D3A"/>
                </a:solidFill>
              </a:rPr>
              <a:t>okuyamaz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"Çok Gizli" bir süreç "Genel" dosyaya </a:t>
            </a:r>
            <a:r>
              <a:rPr sz="2000" b="1">
                <a:solidFill>
                  <a:srgbClr val="1F2D3A"/>
                </a:solidFill>
              </a:rPr>
              <a:t>yazamaz</a:t>
            </a:r>
            <a:r>
              <a:rPr sz="2000" b="0">
                <a:solidFill>
                  <a:srgbClr val="1F2D3A"/>
                </a:solidFill>
              </a:rPr>
              <a:t> (sızıntı önlenir).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</a:t>
            </a:r>
            <a:r>
              <a:rPr sz="2000" b="1">
                <a:solidFill>
                  <a:srgbClr val="1F2D3A"/>
                </a:solidFill>
              </a:rPr>
              <a:t>gizlilik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Biba · bütünlük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BLP'nin </a:t>
            </a:r>
            <a:r>
              <a:rPr sz="2000" b="1">
                <a:solidFill>
                  <a:srgbClr val="1F2D3A"/>
                </a:solidFill>
              </a:rPr>
              <a:t>tersi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Aşağı okuma yok</a:t>
            </a:r>
            <a:r>
              <a:rPr sz="2000" b="0">
                <a:solidFill>
                  <a:srgbClr val="1F2D3A"/>
                </a:solidFill>
              </a:rPr>
              <a:t>: yüksek bütünlüklü, düşük güvenilir veriyi okumaz.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yazma yok</a:t>
            </a:r>
            <a:r>
              <a:rPr sz="2000" b="0">
                <a:solidFill>
                  <a:srgbClr val="1F2D3A"/>
                </a:solidFill>
              </a:rPr>
              <a:t>: düşük güvenilir, yüksek bütünlüğe yazamaz.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vs Biba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728778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2546024"/>
                <a:gridCol w="2546024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BLP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Biba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Korur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Bütünlük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Yukarı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Aşağı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Aşağı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Yukarı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sistemde ikisi </a:t>
            </a:r>
            <a:r>
              <a:rPr sz="2000" b="1">
                <a:solidFill>
                  <a:srgbClr val="1F2D3A"/>
                </a:solidFill>
              </a:rPr>
              <a:t>çelişebilir</a:t>
            </a:r>
            <a:r>
              <a:rPr sz="2000" b="0">
                <a:solidFill>
                  <a:srgbClr val="1F2D3A"/>
                </a:solidFill>
              </a:rPr>
              <a:t>; dikkatle birleştirilir.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Clark–Wilson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Ticari bütünlük: iyi biçimli işlemler + görev ayrımı.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Veriye yalnız </a:t>
            </a:r>
            <a:r>
              <a:rPr sz="2000" b="1">
                <a:solidFill>
                  <a:srgbClr val="1F2D3A"/>
                </a:solidFill>
              </a:rPr>
              <a:t>onaylı</a:t>
            </a:r>
            <a:r>
              <a:rPr sz="2000" b="0">
                <a:solidFill>
                  <a:srgbClr val="1F2D3A"/>
                </a:solidFill>
              </a:rPr>
              <a:t> yordamlarla erişilir.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muhasebe kayıtları.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DAC / MAC / RBAC · seçim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DAC:</a:t>
            </a:r>
            <a:r>
              <a:rPr sz="2000" b="0">
                <a:solidFill>
                  <a:srgbClr val="1F2D3A"/>
                </a:solidFill>
              </a:rPr>
              <a:t> esnek ama sızıntıya açık (sahibi paylaşır).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MAC:</a:t>
            </a:r>
            <a:r>
              <a:rPr sz="2000" b="0">
                <a:solidFill>
                  <a:srgbClr val="1F2D3A"/>
                </a:solidFill>
              </a:rPr>
              <a:t> katı, askeri/etiketli ortam.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RBAC:</a:t>
            </a:r>
            <a:r>
              <a:rPr sz="2000" b="0">
                <a:solidFill>
                  <a:srgbClr val="1F2D3A"/>
                </a:solidFill>
              </a:rPr>
              <a:t> kurumsal; rol bazlı, yönetimi kolay.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Zafiyeti bul (kod okuma)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1 · günlük enjeksiyonu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fprintf(log, "giris: %s\n", kullanici_adi);  /* CWE-117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 adı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içerirse </a:t>
            </a:r>
            <a:r>
              <a:rPr sz="2000" b="1">
                <a:solidFill>
                  <a:srgbClr val="1F2D3A"/>
                </a:solidFill>
              </a:rPr>
              <a:t>sahte</a:t>
            </a:r>
            <a:r>
              <a:rPr sz="2000" b="0">
                <a:solidFill>
                  <a:srgbClr val="1F2D3A"/>
                </a:solidFill>
              </a:rPr>
              <a:t> günlük satırı ekler. Doğrusu: kaçış/temizleme.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2 · biçim dizisi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syslog(LOG_INFO, kullanici_girdisi);  /* CWE-134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Biçim dizgesi sabit olmalı: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syslog(LOG_INFO, "%s", girdi)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3 · zayıf tespit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imza</a:t>
            </a:r>
            <a:r>
              <a:rPr sz="2000" b="0">
                <a:solidFill>
                  <a:srgbClr val="1F2D3A"/>
                </a:solidFill>
              </a:rPr>
              <a:t> ile tarama, polimorfik virüsü kaçırır.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Ek: sezgisel + davranış + entropi.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kendini sınama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Virüs ile solucan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Virüs başka programa bulaşarak yayılır; solucan kendi başına ağ üzerinden kendini kopyalar.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Polimorfik virüs neden imza tespitini zorlar?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kopyada kendini farklı şifreler; sabit bir imza kalmaz. Sezgisel/emülasyon gerekir.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İmza ve sezgisel tespitin güçlü/zayıf yanı?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 hızlı ama yeniyi kaçırır; sezgisel yeniyi bulur ama yanlış alarm üretir.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BLP ile Biba neyi korur, kuralları ters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BLP gizliliği (yukarı okuma yok), Biba bütünlüğü (aşağı okuma yok). Evet, yönleri terstir.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CWE ile CVE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CWE zayıflık </a:t>
            </a:r>
            <a:r>
              <a:rPr sz="2000" b="1">
                <a:solidFill>
                  <a:srgbClr val="1F2D3A"/>
                </a:solidFill>
              </a:rPr>
              <a:t>türü</a:t>
            </a:r>
            <a:r>
              <a:rPr sz="2000" b="0">
                <a:solidFill>
                  <a:srgbClr val="1F2D3A"/>
                </a:solidFill>
              </a:rPr>
              <a:t> (örn. use-after-free); CVE belirli bir üründeki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 açık.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CVSS ne söyler?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 açığın ciddiyetini standart bir puanla (0–10); önceliklendirmede kullanılır.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Günlük enjeksiyonu (CWE-117) nasıl önlenir?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Günlüğe yazılan kullanıcı verisindeki satır sonu/kontrol karakterlerini temizle/kaçır; yapılandırılmış günlük kullan.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Sorumlu ifşa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Açığı önce üreticiye bildirip yama için süre tanımak, sonra kamuya açıklamak.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600134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Polimorfik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kopyada farklı şifreli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İmza/sezgisel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Bilinen iz / şüpheli davranış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Entropi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Rastgelelik ölçüsü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DAC/MAC/RBAC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Erişim denetim modelleri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BLP/Biba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/ bütünlük modeli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CWE/CVE/CVSS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Tür / somut açık / puan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(2.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Tehdidi </a:t>
            </a:r>
            <a:r>
              <a:rPr sz="2000" b="1">
                <a:solidFill>
                  <a:srgbClr val="1F2D3A"/>
                </a:solidFill>
              </a:rPr>
              <a:t>sınıflandır</a:t>
            </a:r>
            <a:r>
              <a:rPr sz="2000" b="0">
                <a:solidFill>
                  <a:srgbClr val="1F2D3A"/>
                </a:solidFill>
              </a:rPr>
              <a:t>, erişimi </a:t>
            </a:r>
            <a:r>
              <a:rPr sz="2000" b="1">
                <a:solidFill>
                  <a:srgbClr val="1F2D3A"/>
                </a:solidFill>
              </a:rPr>
              <a:t>modelle</a:t>
            </a:r>
            <a:r>
              <a:rPr sz="2000" b="0">
                <a:solidFill>
                  <a:srgbClr val="1F2D3A"/>
                </a:solidFill>
              </a:rPr>
              <a:t>, açığı </a:t>
            </a:r>
            <a:r>
              <a:rPr sz="2000" b="1">
                <a:solidFill>
                  <a:srgbClr val="1F2D3A"/>
                </a:solidFill>
              </a:rPr>
              <a:t>kataloglar</a:t>
            </a:r>
            <a:r>
              <a:rPr sz="2000" b="0">
                <a:solidFill>
                  <a:srgbClr val="1F2D3A"/>
                </a:solidFill>
              </a:rPr>
              <a:t>la (CWE/CVE) izle ve ciddiyetini (CVSS) ölç.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çerçeve, sonraki haftalardaki teknik korumaların zeminidir.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2 — Bilgisayar Virüsleri ve Güvenlik Modelleri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