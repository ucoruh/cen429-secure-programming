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slides/slide147.xml" ContentType="application/vnd.openxmlformats-officedocument.presentationml.slide+xml"/>
  <Override PartName="/ppt/slides/slide148.xml" ContentType="application/vnd.openxmlformats-officedocument.presentationml.slide+xml"/>
  <Override PartName="/ppt/slides/slide149.xml" ContentType="application/vnd.openxmlformats-officedocument.presentationml.slide+xml"/>
  <Override PartName="/ppt/slides/slide15.xml" ContentType="application/vnd.openxmlformats-officedocument.presentationml.slide+xml"/>
  <Override PartName="/ppt/slides/slide150.xml" ContentType="application/vnd.openxmlformats-officedocument.presentationml.slide+xml"/>
  <Override PartName="/ppt/slides/slide151.xml" ContentType="application/vnd.openxmlformats-officedocument.presentationml.slide+xml"/>
  <Override PartName="/ppt/slides/slide152.xml" ContentType="application/vnd.openxmlformats-officedocument.presentationml.slide+xml"/>
  <Override PartName="/ppt/slides/slide153.xml" ContentType="application/vnd.openxmlformats-officedocument.presentationml.slide+xml"/>
  <Override PartName="/ppt/slides/slide154.xml" ContentType="application/vnd.openxmlformats-officedocument.presentationml.slide+xml"/>
  <Override PartName="/ppt/slides/slide155.xml" ContentType="application/vnd.openxmlformats-officedocument.presentationml.slide+xml"/>
  <Override PartName="/ppt/slides/slide156.xml" ContentType="application/vnd.openxmlformats-officedocument.presentationml.slide+xml"/>
  <Override PartName="/ppt/slides/slide157.xml" ContentType="application/vnd.openxmlformats-officedocument.presentationml.slide+xml"/>
  <Override PartName="/ppt/slides/slide158.xml" ContentType="application/vnd.openxmlformats-officedocument.presentationml.slide+xml"/>
  <Override PartName="/ppt/slides/slide159.xml" ContentType="application/vnd.openxmlformats-officedocument.presentationml.slide+xml"/>
  <Override PartName="/ppt/slides/slide16.xml" ContentType="application/vnd.openxmlformats-officedocument.presentationml.slide+xml"/>
  <Override PartName="/ppt/slides/slide160.xml" ContentType="application/vnd.openxmlformats-officedocument.presentationml.slide+xml"/>
  <Override PartName="/ppt/slides/slide161.xml" ContentType="application/vnd.openxmlformats-officedocument.presentationml.slide+xml"/>
  <Override PartName="/ppt/slides/slide162.xml" ContentType="application/vnd.openxmlformats-officedocument.presentationml.slide+xml"/>
  <Override PartName="/ppt/slides/slide163.xml" ContentType="application/vnd.openxmlformats-officedocument.presentationml.slide+xml"/>
  <Override PartName="/ppt/slides/slide164.xml" ContentType="application/vnd.openxmlformats-officedocument.presentationml.slide+xml"/>
  <Override PartName="/ppt/slides/slide165.xml" ContentType="application/vnd.openxmlformats-officedocument.presentationml.slide+xml"/>
  <Override PartName="/ppt/slides/slide166.xml" ContentType="application/vnd.openxmlformats-officedocument.presentationml.slide+xml"/>
  <Override PartName="/ppt/slides/slide167.xml" ContentType="application/vnd.openxmlformats-officedocument.presentationml.slide+xml"/>
  <Override PartName="/ppt/slides/slide168.xml" ContentType="application/vnd.openxmlformats-officedocument.presentationml.slide+xml"/>
  <Override PartName="/ppt/slides/slide169.xml" ContentType="application/vnd.openxmlformats-officedocument.presentationml.slide+xml"/>
  <Override PartName="/ppt/slides/slide17.xml" ContentType="application/vnd.openxmlformats-officedocument.presentationml.slide+xml"/>
  <Override PartName="/ppt/slides/slide170.xml" ContentType="application/vnd.openxmlformats-officedocument.presentationml.slide+xml"/>
  <Override PartName="/ppt/slides/slide171.xml" ContentType="application/vnd.openxmlformats-officedocument.presentationml.slide+xml"/>
  <Override PartName="/ppt/slides/slide172.xml" ContentType="application/vnd.openxmlformats-officedocument.presentationml.slide+xml"/>
  <Override PartName="/ppt/slides/slide173.xml" ContentType="application/vnd.openxmlformats-officedocument.presentationml.slide+xml"/>
  <Override PartName="/ppt/slides/slide174.xml" ContentType="application/vnd.openxmlformats-officedocument.presentationml.slide+xml"/>
  <Override PartName="/ppt/slides/slide175.xml" ContentType="application/vnd.openxmlformats-officedocument.presentationml.slide+xml"/>
  <Override PartName="/ppt/slides/slide176.xml" ContentType="application/vnd.openxmlformats-officedocument.presentationml.slide+xml"/>
  <Override PartName="/ppt/slides/slide177.xml" ContentType="application/vnd.openxmlformats-officedocument.presentationml.slide+xml"/>
  <Override PartName="/ppt/slides/slide178.xml" ContentType="application/vnd.openxmlformats-officedocument.presentationml.slide+xml"/>
  <Override PartName="/ppt/slides/slide179.xml" ContentType="application/vnd.openxmlformats-officedocument.presentationml.slide+xml"/>
  <Override PartName="/ppt/slides/slide18.xml" ContentType="application/vnd.openxmlformats-officedocument.presentationml.slide+xml"/>
  <Override PartName="/ppt/slides/slide180.xml" ContentType="application/vnd.openxmlformats-officedocument.presentationml.slide+xml"/>
  <Override PartName="/ppt/slides/slide181.xml" ContentType="application/vnd.openxmlformats-officedocument.presentationml.slide+xml"/>
  <Override PartName="/ppt/slides/slide182.xml" ContentType="application/vnd.openxmlformats-officedocument.presentationml.slide+xml"/>
  <Override PartName="/ppt/slides/slide183.xml" ContentType="application/vnd.openxmlformats-officedocument.presentationml.slide+xml"/>
  <Override PartName="/ppt/slides/slide184.xml" ContentType="application/vnd.openxmlformats-officedocument.presentationml.slide+xml"/>
  <Override PartName="/ppt/slides/slide185.xml" ContentType="application/vnd.openxmlformats-officedocument.presentationml.slide+xml"/>
  <Override PartName="/ppt/slides/slide186.xml" ContentType="application/vnd.openxmlformats-officedocument.presentationml.slide+xml"/>
  <Override PartName="/ppt/slides/slide187.xml" ContentType="application/vnd.openxmlformats-officedocument.presentationml.slide+xml"/>
  <Override PartName="/ppt/slides/slide188.xml" ContentType="application/vnd.openxmlformats-officedocument.presentationml.slide+xml"/>
  <Override PartName="/ppt/slides/slide189.xml" ContentType="application/vnd.openxmlformats-officedocument.presentationml.slide+xml"/>
  <Override PartName="/ppt/slides/slide19.xml" ContentType="application/vnd.openxmlformats-officedocument.presentationml.slide+xml"/>
  <Override PartName="/ppt/slides/slide190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  <p:sldId id="310" r:id="rId62"/>
    <p:sldId id="311" r:id="rId63"/>
    <p:sldId id="312" r:id="rId64"/>
    <p:sldId id="313" r:id="rId65"/>
    <p:sldId id="314" r:id="rId66"/>
    <p:sldId id="315" r:id="rId67"/>
    <p:sldId id="316" r:id="rId68"/>
    <p:sldId id="317" r:id="rId69"/>
    <p:sldId id="318" r:id="rId70"/>
    <p:sldId id="319" r:id="rId71"/>
    <p:sldId id="320" r:id="rId72"/>
    <p:sldId id="321" r:id="rId73"/>
    <p:sldId id="322" r:id="rId74"/>
    <p:sldId id="323" r:id="rId75"/>
    <p:sldId id="324" r:id="rId76"/>
    <p:sldId id="325" r:id="rId77"/>
    <p:sldId id="326" r:id="rId78"/>
    <p:sldId id="327" r:id="rId79"/>
    <p:sldId id="328" r:id="rId80"/>
    <p:sldId id="329" r:id="rId81"/>
    <p:sldId id="330" r:id="rId82"/>
    <p:sldId id="331" r:id="rId83"/>
    <p:sldId id="332" r:id="rId84"/>
    <p:sldId id="333" r:id="rId85"/>
    <p:sldId id="334" r:id="rId86"/>
    <p:sldId id="335" r:id="rId87"/>
    <p:sldId id="336" r:id="rId88"/>
    <p:sldId id="337" r:id="rId89"/>
    <p:sldId id="338" r:id="rId90"/>
    <p:sldId id="339" r:id="rId91"/>
    <p:sldId id="340" r:id="rId92"/>
    <p:sldId id="341" r:id="rId93"/>
    <p:sldId id="342" r:id="rId94"/>
    <p:sldId id="343" r:id="rId95"/>
    <p:sldId id="344" r:id="rId96"/>
    <p:sldId id="345" r:id="rId97"/>
    <p:sldId id="346" r:id="rId98"/>
    <p:sldId id="347" r:id="rId99"/>
    <p:sldId id="348" r:id="rId100"/>
    <p:sldId id="349" r:id="rId101"/>
    <p:sldId id="350" r:id="rId102"/>
    <p:sldId id="351" r:id="rId103"/>
    <p:sldId id="352" r:id="rId104"/>
    <p:sldId id="353" r:id="rId105"/>
    <p:sldId id="354" r:id="rId106"/>
    <p:sldId id="355" r:id="rId107"/>
    <p:sldId id="356" r:id="rId108"/>
    <p:sldId id="357" r:id="rId109"/>
    <p:sldId id="358" r:id="rId110"/>
    <p:sldId id="359" r:id="rId111"/>
    <p:sldId id="360" r:id="rId112"/>
    <p:sldId id="361" r:id="rId113"/>
    <p:sldId id="362" r:id="rId114"/>
    <p:sldId id="363" r:id="rId115"/>
    <p:sldId id="364" r:id="rId116"/>
    <p:sldId id="365" r:id="rId117"/>
    <p:sldId id="366" r:id="rId118"/>
    <p:sldId id="367" r:id="rId119"/>
    <p:sldId id="368" r:id="rId120"/>
    <p:sldId id="369" r:id="rId121"/>
    <p:sldId id="370" r:id="rId122"/>
    <p:sldId id="371" r:id="rId123"/>
    <p:sldId id="372" r:id="rId124"/>
    <p:sldId id="373" r:id="rId125"/>
    <p:sldId id="374" r:id="rId126"/>
    <p:sldId id="375" r:id="rId127"/>
    <p:sldId id="376" r:id="rId128"/>
    <p:sldId id="377" r:id="rId129"/>
    <p:sldId id="378" r:id="rId130"/>
    <p:sldId id="379" r:id="rId131"/>
    <p:sldId id="380" r:id="rId132"/>
    <p:sldId id="381" r:id="rId133"/>
    <p:sldId id="382" r:id="rId134"/>
    <p:sldId id="383" r:id="rId135"/>
    <p:sldId id="384" r:id="rId136"/>
    <p:sldId id="385" r:id="rId137"/>
    <p:sldId id="386" r:id="rId138"/>
    <p:sldId id="387" r:id="rId139"/>
    <p:sldId id="388" r:id="rId140"/>
    <p:sldId id="389" r:id="rId141"/>
    <p:sldId id="390" r:id="rId142"/>
    <p:sldId id="391" r:id="rId143"/>
    <p:sldId id="392" r:id="rId144"/>
    <p:sldId id="393" r:id="rId145"/>
    <p:sldId id="394" r:id="rId146"/>
    <p:sldId id="395" r:id="rId147"/>
    <p:sldId id="396" r:id="rId148"/>
    <p:sldId id="397" r:id="rId149"/>
    <p:sldId id="398" r:id="rId150"/>
    <p:sldId id="399" r:id="rId151"/>
    <p:sldId id="400" r:id="rId152"/>
    <p:sldId id="401" r:id="rId153"/>
    <p:sldId id="402" r:id="rId154"/>
    <p:sldId id="403" r:id="rId155"/>
    <p:sldId id="404" r:id="rId156"/>
    <p:sldId id="405" r:id="rId157"/>
    <p:sldId id="406" r:id="rId158"/>
    <p:sldId id="407" r:id="rId159"/>
    <p:sldId id="408" r:id="rId160"/>
    <p:sldId id="409" r:id="rId161"/>
    <p:sldId id="410" r:id="rId162"/>
    <p:sldId id="411" r:id="rId163"/>
    <p:sldId id="412" r:id="rId164"/>
    <p:sldId id="413" r:id="rId165"/>
    <p:sldId id="414" r:id="rId166"/>
    <p:sldId id="415" r:id="rId167"/>
    <p:sldId id="416" r:id="rId168"/>
    <p:sldId id="417" r:id="rId169"/>
    <p:sldId id="418" r:id="rId170"/>
    <p:sldId id="419" r:id="rId171"/>
    <p:sldId id="420" r:id="rId172"/>
    <p:sldId id="421" r:id="rId173"/>
    <p:sldId id="422" r:id="rId174"/>
    <p:sldId id="423" r:id="rId175"/>
    <p:sldId id="424" r:id="rId176"/>
    <p:sldId id="425" r:id="rId177"/>
    <p:sldId id="426" r:id="rId178"/>
    <p:sldId id="427" r:id="rId179"/>
    <p:sldId id="428" r:id="rId180"/>
    <p:sldId id="429" r:id="rId181"/>
    <p:sldId id="430" r:id="rId182"/>
    <p:sldId id="431" r:id="rId183"/>
    <p:sldId id="432" r:id="rId184"/>
    <p:sldId id="433" r:id="rId185"/>
    <p:sldId id="434" r:id="rId186"/>
    <p:sldId id="435" r:id="rId187"/>
    <p:sldId id="436" r:id="rId188"/>
    <p:sldId id="437" r:id="rId189"/>
    <p:sldId id="438" r:id="rId190"/>
    <p:sldId id="439" r:id="rId191"/>
    <p:sldId id="440" r:id="rId192"/>
    <p:sldId id="441" r:id="rId193"/>
    <p:sldId id="442" r:id="rId194"/>
    <p:sldId id="443" r:id="rId195"/>
    <p:sldId id="444" r:id="rId196"/>
    <p:sldId id="445" r:id="rId19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Relationship Id="rId56" Type="http://schemas.openxmlformats.org/officeDocument/2006/relationships/slide" Target="slides/slide49.xml"/><Relationship Id="rId57" Type="http://schemas.openxmlformats.org/officeDocument/2006/relationships/slide" Target="slides/slide50.xml"/><Relationship Id="rId58" Type="http://schemas.openxmlformats.org/officeDocument/2006/relationships/slide" Target="slides/slide51.xml"/><Relationship Id="rId59" Type="http://schemas.openxmlformats.org/officeDocument/2006/relationships/slide" Target="slides/slide52.xml"/><Relationship Id="rId60" Type="http://schemas.openxmlformats.org/officeDocument/2006/relationships/slide" Target="slides/slide53.xml"/><Relationship Id="rId61" Type="http://schemas.openxmlformats.org/officeDocument/2006/relationships/slide" Target="slides/slide54.xml"/><Relationship Id="rId62" Type="http://schemas.openxmlformats.org/officeDocument/2006/relationships/slide" Target="slides/slide55.xml"/><Relationship Id="rId63" Type="http://schemas.openxmlformats.org/officeDocument/2006/relationships/slide" Target="slides/slide56.xml"/><Relationship Id="rId64" Type="http://schemas.openxmlformats.org/officeDocument/2006/relationships/slide" Target="slides/slide57.xml"/><Relationship Id="rId65" Type="http://schemas.openxmlformats.org/officeDocument/2006/relationships/slide" Target="slides/slide58.xml"/><Relationship Id="rId66" Type="http://schemas.openxmlformats.org/officeDocument/2006/relationships/slide" Target="slides/slide59.xml"/><Relationship Id="rId67" Type="http://schemas.openxmlformats.org/officeDocument/2006/relationships/slide" Target="slides/slide60.xml"/><Relationship Id="rId68" Type="http://schemas.openxmlformats.org/officeDocument/2006/relationships/slide" Target="slides/slide61.xml"/><Relationship Id="rId69" Type="http://schemas.openxmlformats.org/officeDocument/2006/relationships/slide" Target="slides/slide62.xml"/><Relationship Id="rId70" Type="http://schemas.openxmlformats.org/officeDocument/2006/relationships/slide" Target="slides/slide63.xml"/><Relationship Id="rId71" Type="http://schemas.openxmlformats.org/officeDocument/2006/relationships/slide" Target="slides/slide64.xml"/><Relationship Id="rId72" Type="http://schemas.openxmlformats.org/officeDocument/2006/relationships/slide" Target="slides/slide65.xml"/><Relationship Id="rId73" Type="http://schemas.openxmlformats.org/officeDocument/2006/relationships/slide" Target="slides/slide66.xml"/><Relationship Id="rId74" Type="http://schemas.openxmlformats.org/officeDocument/2006/relationships/slide" Target="slides/slide67.xml"/><Relationship Id="rId75" Type="http://schemas.openxmlformats.org/officeDocument/2006/relationships/slide" Target="slides/slide68.xml"/><Relationship Id="rId76" Type="http://schemas.openxmlformats.org/officeDocument/2006/relationships/slide" Target="slides/slide69.xml"/><Relationship Id="rId77" Type="http://schemas.openxmlformats.org/officeDocument/2006/relationships/slide" Target="slides/slide70.xml"/><Relationship Id="rId78" Type="http://schemas.openxmlformats.org/officeDocument/2006/relationships/slide" Target="slides/slide71.xml"/><Relationship Id="rId79" Type="http://schemas.openxmlformats.org/officeDocument/2006/relationships/slide" Target="slides/slide72.xml"/><Relationship Id="rId80" Type="http://schemas.openxmlformats.org/officeDocument/2006/relationships/slide" Target="slides/slide73.xml"/><Relationship Id="rId81" Type="http://schemas.openxmlformats.org/officeDocument/2006/relationships/slide" Target="slides/slide74.xml"/><Relationship Id="rId82" Type="http://schemas.openxmlformats.org/officeDocument/2006/relationships/slide" Target="slides/slide75.xml"/><Relationship Id="rId83" Type="http://schemas.openxmlformats.org/officeDocument/2006/relationships/slide" Target="slides/slide76.xml"/><Relationship Id="rId84" Type="http://schemas.openxmlformats.org/officeDocument/2006/relationships/slide" Target="slides/slide77.xml"/><Relationship Id="rId85" Type="http://schemas.openxmlformats.org/officeDocument/2006/relationships/slide" Target="slides/slide78.xml"/><Relationship Id="rId86" Type="http://schemas.openxmlformats.org/officeDocument/2006/relationships/slide" Target="slides/slide79.xml"/><Relationship Id="rId87" Type="http://schemas.openxmlformats.org/officeDocument/2006/relationships/slide" Target="slides/slide80.xml"/><Relationship Id="rId88" Type="http://schemas.openxmlformats.org/officeDocument/2006/relationships/slide" Target="slides/slide81.xml"/><Relationship Id="rId89" Type="http://schemas.openxmlformats.org/officeDocument/2006/relationships/slide" Target="slides/slide82.xml"/><Relationship Id="rId90" Type="http://schemas.openxmlformats.org/officeDocument/2006/relationships/slide" Target="slides/slide83.xml"/><Relationship Id="rId91" Type="http://schemas.openxmlformats.org/officeDocument/2006/relationships/slide" Target="slides/slide84.xml"/><Relationship Id="rId92" Type="http://schemas.openxmlformats.org/officeDocument/2006/relationships/slide" Target="slides/slide85.xml"/><Relationship Id="rId93" Type="http://schemas.openxmlformats.org/officeDocument/2006/relationships/slide" Target="slides/slide86.xml"/><Relationship Id="rId94" Type="http://schemas.openxmlformats.org/officeDocument/2006/relationships/slide" Target="slides/slide87.xml"/><Relationship Id="rId95" Type="http://schemas.openxmlformats.org/officeDocument/2006/relationships/slide" Target="slides/slide88.xml"/><Relationship Id="rId96" Type="http://schemas.openxmlformats.org/officeDocument/2006/relationships/slide" Target="slides/slide89.xml"/><Relationship Id="rId97" Type="http://schemas.openxmlformats.org/officeDocument/2006/relationships/slide" Target="slides/slide90.xml"/><Relationship Id="rId98" Type="http://schemas.openxmlformats.org/officeDocument/2006/relationships/slide" Target="slides/slide91.xml"/><Relationship Id="rId99" Type="http://schemas.openxmlformats.org/officeDocument/2006/relationships/slide" Target="slides/slide92.xml"/><Relationship Id="rId100" Type="http://schemas.openxmlformats.org/officeDocument/2006/relationships/slide" Target="slides/slide93.xml"/><Relationship Id="rId101" Type="http://schemas.openxmlformats.org/officeDocument/2006/relationships/slide" Target="slides/slide94.xml"/><Relationship Id="rId102" Type="http://schemas.openxmlformats.org/officeDocument/2006/relationships/slide" Target="slides/slide95.xml"/><Relationship Id="rId103" Type="http://schemas.openxmlformats.org/officeDocument/2006/relationships/slide" Target="slides/slide96.xml"/><Relationship Id="rId104" Type="http://schemas.openxmlformats.org/officeDocument/2006/relationships/slide" Target="slides/slide97.xml"/><Relationship Id="rId105" Type="http://schemas.openxmlformats.org/officeDocument/2006/relationships/slide" Target="slides/slide98.xml"/><Relationship Id="rId106" Type="http://schemas.openxmlformats.org/officeDocument/2006/relationships/slide" Target="slides/slide99.xml"/><Relationship Id="rId107" Type="http://schemas.openxmlformats.org/officeDocument/2006/relationships/slide" Target="slides/slide100.xml"/><Relationship Id="rId108" Type="http://schemas.openxmlformats.org/officeDocument/2006/relationships/slide" Target="slides/slide101.xml"/><Relationship Id="rId109" Type="http://schemas.openxmlformats.org/officeDocument/2006/relationships/slide" Target="slides/slide102.xml"/><Relationship Id="rId110" Type="http://schemas.openxmlformats.org/officeDocument/2006/relationships/slide" Target="slides/slide103.xml"/><Relationship Id="rId111" Type="http://schemas.openxmlformats.org/officeDocument/2006/relationships/slide" Target="slides/slide104.xml"/><Relationship Id="rId112" Type="http://schemas.openxmlformats.org/officeDocument/2006/relationships/slide" Target="slides/slide105.xml"/><Relationship Id="rId113" Type="http://schemas.openxmlformats.org/officeDocument/2006/relationships/slide" Target="slides/slide106.xml"/><Relationship Id="rId114" Type="http://schemas.openxmlformats.org/officeDocument/2006/relationships/slide" Target="slides/slide107.xml"/><Relationship Id="rId115" Type="http://schemas.openxmlformats.org/officeDocument/2006/relationships/slide" Target="slides/slide108.xml"/><Relationship Id="rId116" Type="http://schemas.openxmlformats.org/officeDocument/2006/relationships/slide" Target="slides/slide109.xml"/><Relationship Id="rId117" Type="http://schemas.openxmlformats.org/officeDocument/2006/relationships/slide" Target="slides/slide110.xml"/><Relationship Id="rId118" Type="http://schemas.openxmlformats.org/officeDocument/2006/relationships/slide" Target="slides/slide111.xml"/><Relationship Id="rId119" Type="http://schemas.openxmlformats.org/officeDocument/2006/relationships/slide" Target="slides/slide112.xml"/><Relationship Id="rId120" Type="http://schemas.openxmlformats.org/officeDocument/2006/relationships/slide" Target="slides/slide113.xml"/><Relationship Id="rId121" Type="http://schemas.openxmlformats.org/officeDocument/2006/relationships/slide" Target="slides/slide114.xml"/><Relationship Id="rId122" Type="http://schemas.openxmlformats.org/officeDocument/2006/relationships/slide" Target="slides/slide115.xml"/><Relationship Id="rId123" Type="http://schemas.openxmlformats.org/officeDocument/2006/relationships/slide" Target="slides/slide116.xml"/><Relationship Id="rId124" Type="http://schemas.openxmlformats.org/officeDocument/2006/relationships/slide" Target="slides/slide117.xml"/><Relationship Id="rId125" Type="http://schemas.openxmlformats.org/officeDocument/2006/relationships/slide" Target="slides/slide118.xml"/><Relationship Id="rId126" Type="http://schemas.openxmlformats.org/officeDocument/2006/relationships/slide" Target="slides/slide119.xml"/><Relationship Id="rId127" Type="http://schemas.openxmlformats.org/officeDocument/2006/relationships/slide" Target="slides/slide120.xml"/><Relationship Id="rId128" Type="http://schemas.openxmlformats.org/officeDocument/2006/relationships/slide" Target="slides/slide121.xml"/><Relationship Id="rId129" Type="http://schemas.openxmlformats.org/officeDocument/2006/relationships/slide" Target="slides/slide122.xml"/><Relationship Id="rId130" Type="http://schemas.openxmlformats.org/officeDocument/2006/relationships/slide" Target="slides/slide123.xml"/><Relationship Id="rId131" Type="http://schemas.openxmlformats.org/officeDocument/2006/relationships/slide" Target="slides/slide124.xml"/><Relationship Id="rId132" Type="http://schemas.openxmlformats.org/officeDocument/2006/relationships/slide" Target="slides/slide125.xml"/><Relationship Id="rId133" Type="http://schemas.openxmlformats.org/officeDocument/2006/relationships/slide" Target="slides/slide126.xml"/><Relationship Id="rId134" Type="http://schemas.openxmlformats.org/officeDocument/2006/relationships/slide" Target="slides/slide127.xml"/><Relationship Id="rId135" Type="http://schemas.openxmlformats.org/officeDocument/2006/relationships/slide" Target="slides/slide128.xml"/><Relationship Id="rId136" Type="http://schemas.openxmlformats.org/officeDocument/2006/relationships/slide" Target="slides/slide129.xml"/><Relationship Id="rId137" Type="http://schemas.openxmlformats.org/officeDocument/2006/relationships/slide" Target="slides/slide130.xml"/><Relationship Id="rId138" Type="http://schemas.openxmlformats.org/officeDocument/2006/relationships/slide" Target="slides/slide131.xml"/><Relationship Id="rId139" Type="http://schemas.openxmlformats.org/officeDocument/2006/relationships/slide" Target="slides/slide132.xml"/><Relationship Id="rId140" Type="http://schemas.openxmlformats.org/officeDocument/2006/relationships/slide" Target="slides/slide133.xml"/><Relationship Id="rId141" Type="http://schemas.openxmlformats.org/officeDocument/2006/relationships/slide" Target="slides/slide134.xml"/><Relationship Id="rId142" Type="http://schemas.openxmlformats.org/officeDocument/2006/relationships/slide" Target="slides/slide135.xml"/><Relationship Id="rId143" Type="http://schemas.openxmlformats.org/officeDocument/2006/relationships/slide" Target="slides/slide136.xml"/><Relationship Id="rId144" Type="http://schemas.openxmlformats.org/officeDocument/2006/relationships/slide" Target="slides/slide137.xml"/><Relationship Id="rId145" Type="http://schemas.openxmlformats.org/officeDocument/2006/relationships/slide" Target="slides/slide138.xml"/><Relationship Id="rId146" Type="http://schemas.openxmlformats.org/officeDocument/2006/relationships/slide" Target="slides/slide139.xml"/><Relationship Id="rId147" Type="http://schemas.openxmlformats.org/officeDocument/2006/relationships/slide" Target="slides/slide140.xml"/><Relationship Id="rId148" Type="http://schemas.openxmlformats.org/officeDocument/2006/relationships/slide" Target="slides/slide141.xml"/><Relationship Id="rId149" Type="http://schemas.openxmlformats.org/officeDocument/2006/relationships/slide" Target="slides/slide142.xml"/><Relationship Id="rId150" Type="http://schemas.openxmlformats.org/officeDocument/2006/relationships/slide" Target="slides/slide143.xml"/><Relationship Id="rId151" Type="http://schemas.openxmlformats.org/officeDocument/2006/relationships/slide" Target="slides/slide144.xml"/><Relationship Id="rId152" Type="http://schemas.openxmlformats.org/officeDocument/2006/relationships/slide" Target="slides/slide145.xml"/><Relationship Id="rId153" Type="http://schemas.openxmlformats.org/officeDocument/2006/relationships/slide" Target="slides/slide146.xml"/><Relationship Id="rId154" Type="http://schemas.openxmlformats.org/officeDocument/2006/relationships/slide" Target="slides/slide147.xml"/><Relationship Id="rId155" Type="http://schemas.openxmlformats.org/officeDocument/2006/relationships/slide" Target="slides/slide148.xml"/><Relationship Id="rId156" Type="http://schemas.openxmlformats.org/officeDocument/2006/relationships/slide" Target="slides/slide149.xml"/><Relationship Id="rId157" Type="http://schemas.openxmlformats.org/officeDocument/2006/relationships/slide" Target="slides/slide150.xml"/><Relationship Id="rId158" Type="http://schemas.openxmlformats.org/officeDocument/2006/relationships/slide" Target="slides/slide151.xml"/><Relationship Id="rId159" Type="http://schemas.openxmlformats.org/officeDocument/2006/relationships/slide" Target="slides/slide152.xml"/><Relationship Id="rId160" Type="http://schemas.openxmlformats.org/officeDocument/2006/relationships/slide" Target="slides/slide153.xml"/><Relationship Id="rId161" Type="http://schemas.openxmlformats.org/officeDocument/2006/relationships/slide" Target="slides/slide154.xml"/><Relationship Id="rId162" Type="http://schemas.openxmlformats.org/officeDocument/2006/relationships/slide" Target="slides/slide155.xml"/><Relationship Id="rId163" Type="http://schemas.openxmlformats.org/officeDocument/2006/relationships/slide" Target="slides/slide156.xml"/><Relationship Id="rId164" Type="http://schemas.openxmlformats.org/officeDocument/2006/relationships/slide" Target="slides/slide157.xml"/><Relationship Id="rId165" Type="http://schemas.openxmlformats.org/officeDocument/2006/relationships/slide" Target="slides/slide158.xml"/><Relationship Id="rId166" Type="http://schemas.openxmlformats.org/officeDocument/2006/relationships/slide" Target="slides/slide159.xml"/><Relationship Id="rId167" Type="http://schemas.openxmlformats.org/officeDocument/2006/relationships/slide" Target="slides/slide160.xml"/><Relationship Id="rId168" Type="http://schemas.openxmlformats.org/officeDocument/2006/relationships/slide" Target="slides/slide161.xml"/><Relationship Id="rId169" Type="http://schemas.openxmlformats.org/officeDocument/2006/relationships/slide" Target="slides/slide162.xml"/><Relationship Id="rId170" Type="http://schemas.openxmlformats.org/officeDocument/2006/relationships/slide" Target="slides/slide163.xml"/><Relationship Id="rId171" Type="http://schemas.openxmlformats.org/officeDocument/2006/relationships/slide" Target="slides/slide164.xml"/><Relationship Id="rId172" Type="http://schemas.openxmlformats.org/officeDocument/2006/relationships/slide" Target="slides/slide165.xml"/><Relationship Id="rId173" Type="http://schemas.openxmlformats.org/officeDocument/2006/relationships/slide" Target="slides/slide166.xml"/><Relationship Id="rId174" Type="http://schemas.openxmlformats.org/officeDocument/2006/relationships/slide" Target="slides/slide167.xml"/><Relationship Id="rId175" Type="http://schemas.openxmlformats.org/officeDocument/2006/relationships/slide" Target="slides/slide168.xml"/><Relationship Id="rId176" Type="http://schemas.openxmlformats.org/officeDocument/2006/relationships/slide" Target="slides/slide169.xml"/><Relationship Id="rId177" Type="http://schemas.openxmlformats.org/officeDocument/2006/relationships/slide" Target="slides/slide170.xml"/><Relationship Id="rId178" Type="http://schemas.openxmlformats.org/officeDocument/2006/relationships/slide" Target="slides/slide171.xml"/><Relationship Id="rId179" Type="http://schemas.openxmlformats.org/officeDocument/2006/relationships/slide" Target="slides/slide172.xml"/><Relationship Id="rId180" Type="http://schemas.openxmlformats.org/officeDocument/2006/relationships/slide" Target="slides/slide173.xml"/><Relationship Id="rId181" Type="http://schemas.openxmlformats.org/officeDocument/2006/relationships/slide" Target="slides/slide174.xml"/><Relationship Id="rId182" Type="http://schemas.openxmlformats.org/officeDocument/2006/relationships/slide" Target="slides/slide175.xml"/><Relationship Id="rId183" Type="http://schemas.openxmlformats.org/officeDocument/2006/relationships/slide" Target="slides/slide176.xml"/><Relationship Id="rId184" Type="http://schemas.openxmlformats.org/officeDocument/2006/relationships/slide" Target="slides/slide177.xml"/><Relationship Id="rId185" Type="http://schemas.openxmlformats.org/officeDocument/2006/relationships/slide" Target="slides/slide178.xml"/><Relationship Id="rId186" Type="http://schemas.openxmlformats.org/officeDocument/2006/relationships/slide" Target="slides/slide179.xml"/><Relationship Id="rId187" Type="http://schemas.openxmlformats.org/officeDocument/2006/relationships/slide" Target="slides/slide180.xml"/><Relationship Id="rId188" Type="http://schemas.openxmlformats.org/officeDocument/2006/relationships/slide" Target="slides/slide181.xml"/><Relationship Id="rId189" Type="http://schemas.openxmlformats.org/officeDocument/2006/relationships/slide" Target="slides/slide182.xml"/><Relationship Id="rId190" Type="http://schemas.openxmlformats.org/officeDocument/2006/relationships/slide" Target="slides/slide183.xml"/><Relationship Id="rId191" Type="http://schemas.openxmlformats.org/officeDocument/2006/relationships/slide" Target="slides/slide184.xml"/><Relationship Id="rId192" Type="http://schemas.openxmlformats.org/officeDocument/2006/relationships/slide" Target="slides/slide185.xml"/><Relationship Id="rId193" Type="http://schemas.openxmlformats.org/officeDocument/2006/relationships/slide" Target="slides/slide186.xml"/><Relationship Id="rId194" Type="http://schemas.openxmlformats.org/officeDocument/2006/relationships/slide" Target="slides/slide187.xml"/><Relationship Id="rId195" Type="http://schemas.openxmlformats.org/officeDocument/2006/relationships/slide" Target="slides/slide188.xml"/><Relationship Id="rId196" Type="http://schemas.openxmlformats.org/officeDocument/2006/relationships/slide" Target="slides/slide189.xml"/><Relationship Id="rId197" Type="http://schemas.openxmlformats.org/officeDocument/2006/relationships/slide" Target="slides/slide19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4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5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8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2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4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3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9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2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5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5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6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7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5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Geçen hafta güvenliğin dilini kurduk (varlık, tehdit, STRIDE, saldırı ağacı). Bu hafta üç sütunu dolduruyoruz: tehdit (zararlı yazılım), savunma (güvenlik modelleri), ortak dil (CWE/CVE/CVSS). Altı demo var; laboratuvarı WSL veya Visual Studio'da açık tutun.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Bu haftanın terimlerini sıfırdan tanımlıyoruz: zararlı yazılım, tespit, erişim modelleri, zafiyet kataloğu.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Demoları önceden bir kez derleyin (code/ içinde build.ps1 ya da build.sh). Derste bekleme olmasın diye ilk üç demoyu açık bırakın.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Öğrencilere sorun: "Telefonunuza bulaşan bir şey duyduğunuzda ona ne dersiniz?" Çoğu "virüs" der. Bu haftadan sonra doğru terimi kullanacaklar.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Tarihleri doğru verin. WannaCry, yama çıktıktan SONRA güncellememiş makinelere yayıldı; bu "yama boşluğu"na dersin sonunda döneceğiz.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"Makroları etkinleştir" uyarısı hâlâ bir saldırı yoludur. Öğrencilere hiç tanımadıkları bir belgede makro etkinleştirmemelerini söyleyin.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Önce formülü sözle anlatın: her enfekte makine rastgele adres tarar, duyarlıya denk gelirse bulaştırır. Sonra Code Red ve Slammer sayılarını verin.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Önce harfleri tahtaya yazın: S, I, N. Sonra "her enfekte makine ne yapar?" diye sorun; cevap bu slaytta.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beta değerini yarıya indirip yeniden çalıştırın; doygunluk süresinin nasıl uzadığını gösterin. Asıl nokta: ilk bulaşmayı mümkün kılan tek bir taşma hatası.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poli_1 ve poli_2 aynı algoritma (xs32) farklı tohum; poli_3 farklı algoritma (lcg8) + cop komut. Desen imzasi ALGO=xs32'yi ariyordu, poli_3'te yok.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Dar kural kaçırır, geniş kural yanlış alarm verir. Kural yalnız bilineni yakalar; bu yüzden sezgisel ve davranış tabanlı yöntemlerle birlikte kullanılır.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Tripwire, AppLocker/WDAC ve kod imzalama denetimleri hep bu fikre dayanır.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Değerlendirici önce dosyayı, sonra beklenen değeri değiştirir. İkinci test geçilemiyorsa denetim yalnız kazaya karşı korur.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Tabloyu zararlının ne yaptığıyla değil, içeri nasıl girdiğiyle okuyun. 1988-2008 çoğunlukla tek bir taşma; 2017 sonrası güncelleme ve derleme süreçleri.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Tartışma sorusu: Office'in 2022'den beri internetten gelen belgelerde makroları varsayılan engellemesi hangi eski salgınların kapısını kapattı?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VE dugumleri saldirgani birden cok katmani birlikte kirmaya zorlar; derinlemesine savunmanin niceliksel hali.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Kullanıcı adına gömülü tek bir satır sonu, hiç yaşanmamış bir yönetici girişini günlüğe yazdırdı. Biçim dizgesi tuzağını 4. haftaya köprü olarak anın.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Schneier–Kelsey 1999. Doğrulayıcı başlangıç anahtarını çevrimdışı tutar. En güçlü kanıt, saldırganın ulaşamadığı uzak kopyadır.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Askeri kokenli (1973). "Asagi yazma yok" ilk bakista tuhaf gelir; amac cok gizli bilgiyi memurun gorebilecegi bir yere yazmayi engellemek.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1a ve 1b'de ACE'ler aynı, yalnız sıra farklı. Son adımda icacls ile demonun kendi dosyasının gerçek ACL'ini gösterin.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Benzetimdir; gerçek setuid dosyası oluşturulmaz, sudo gerekmez. Sistemdeki setuid programlar yalnız listelenir.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Sahada karşılığı: dört göz ilkesi, bölünmüş bilgi ve çift denetim, günlük mutabakat.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önce sordur, sonra iki cevap slaytını aç.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BLP, Biba ve modelleri örneklerle pekiştiriyoruz.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4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5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6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7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3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8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4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9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5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6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10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9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11.png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0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12.png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1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2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3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4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13.png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5.xml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14.png"/></Relationships>
</file>

<file path=ppt/slides/_rels/slide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15.png"/></Relationships>
</file>

<file path=ppt/slides/_rels/slide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6.xml"/></Relationships>
</file>

<file path=ppt/slides/_rels/slide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7.xml"/></Relationships>
</file>

<file path=ppt/slides/_rels/slide1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8.xml"/></Relationships>
</file>

<file path=ppt/slides/_rels/slide1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0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0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0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0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0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0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9.xml"/></Relationships>
</file>

<file path=ppt/slides/_rels/slide1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16.png"/></Relationships>
</file>

<file path=ppt/slides/_rels/slide1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17.png"/></Relationships>
</file>

<file path=ppt/slides/_rels/slide1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20.xml"/></Relationships>
</file>

<file path=ppt/slides/_rels/slide1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21.xml"/></Relationships>
</file>

<file path=ppt/slides/_rels/slide1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22.xml"/></Relationships>
</file>

<file path=ppt/slides/_rels/slide1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18.png"/></Relationships>
</file>

<file path=ppt/slides/_rels/slide1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23.xml"/></Relationships>
</file>

<file path=ppt/slides/_rels/slide1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1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19456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4000" b="1">
                <a:solidFill>
                  <a:srgbClr val="006D77"/>
                </a:solidFill>
              </a:rPr>
              <a:t>Bilgisayar Virüsleri ve Güvenlik Modelleri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56616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2000" b="1">
                <a:solidFill>
                  <a:srgbClr val="1F2D3A"/>
                </a:solidFill>
              </a:rPr>
              <a:t>CEN429 Güvenli Programlama — Hafta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05180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2000" b="0">
                <a:solidFill>
                  <a:srgbClr val="1F2D3A"/>
                </a:solidFill>
              </a:rPr>
              <a:t>Dr. Öğr. Üyesi Uğur CORUH · 25.09.2026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0. Temel kavramlar (sıfırdan)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Neden bu bölüm?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Bu hafta "polimorfik virüs", "Bell–LaPadula", "CVSS" gibi terimler geçecek.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Hiçbirini bilmediğinizi varsayıyoruz.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425192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Önce hepsini </a:t>
            </a:r>
            <a:r>
              <a:rPr sz="2000" b="1">
                <a:solidFill>
                  <a:srgbClr val="1F2D3A"/>
                </a:solidFill>
              </a:rPr>
              <a:t>tek tek</a:t>
            </a:r>
            <a:r>
              <a:rPr sz="2000" b="0">
                <a:solidFill>
                  <a:srgbClr val="1F2D3A"/>
                </a:solidFill>
              </a:rPr>
              <a:t> tanımlayalım.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Zararlı yazılım (malware)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Zararlı yazılım:</a:t>
            </a:r>
            <a:r>
              <a:rPr sz="2000" b="0">
                <a:solidFill>
                  <a:srgbClr val="1F2D3A"/>
                </a:solidFill>
              </a:rPr>
              <a:t> zarar vermek için yazılmış program.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"Virüs" bir alt türdür; hepsi virüs değildir.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Türler: virüs, solucan, truva atı, fidye, casus…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Virüs, solucan, truva atı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Virüs:</a:t>
            </a:r>
            <a:r>
              <a:rPr sz="2000" b="0">
                <a:solidFill>
                  <a:srgbClr val="1F2D3A"/>
                </a:solidFill>
              </a:rPr>
              <a:t> başka bir programa </a:t>
            </a:r>
            <a:r>
              <a:rPr sz="2000" b="1">
                <a:solidFill>
                  <a:srgbClr val="1F2D3A"/>
                </a:solidFill>
              </a:rPr>
              <a:t>bulaşarak</a:t>
            </a:r>
            <a:r>
              <a:rPr sz="2000" b="0">
                <a:solidFill>
                  <a:srgbClr val="1F2D3A"/>
                </a:solidFill>
              </a:rPr>
              <a:t> yayılır.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Solucan:</a:t>
            </a:r>
            <a:r>
              <a:rPr sz="2000" b="0">
                <a:solidFill>
                  <a:srgbClr val="1F2D3A"/>
                </a:solidFill>
              </a:rPr>
              <a:t> kendi başına, ağ üzerinden </a:t>
            </a:r>
            <a:r>
              <a:rPr sz="2000" b="1">
                <a:solidFill>
                  <a:srgbClr val="1F2D3A"/>
                </a:solidFill>
              </a:rPr>
              <a:t>kendini kopyalar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Truva atı:</a:t>
            </a:r>
            <a:r>
              <a:rPr sz="2000" b="0">
                <a:solidFill>
                  <a:srgbClr val="1F2D3A"/>
                </a:solidFill>
              </a:rPr>
              <a:t> faydalı görünüp gizli zararlı taşır.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Fidye ve diğerleri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Fidye (ransomware):</a:t>
            </a:r>
            <a:r>
              <a:rPr sz="2000" b="0">
                <a:solidFill>
                  <a:srgbClr val="1F2D3A"/>
                </a:solidFill>
              </a:rPr>
              <a:t> dosyaları şifreleyip fidye ister.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Casus (spyware):</a:t>
            </a:r>
            <a:r>
              <a:rPr sz="2000" b="0">
                <a:solidFill>
                  <a:srgbClr val="1F2D3A"/>
                </a:solidFill>
              </a:rPr>
              <a:t> gizlice bilgi toplar.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Arka kapı (backdoor):</a:t>
            </a:r>
            <a:r>
              <a:rPr sz="2000" b="0">
                <a:solidFill>
                  <a:srgbClr val="1F2D3A"/>
                </a:solidFill>
              </a:rPr>
              <a:t> gizli erişim bırakır.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Bir virüsün üç parçası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Bulaştırıcı:</a:t>
            </a:r>
            <a:r>
              <a:rPr sz="2000" b="0">
                <a:solidFill>
                  <a:srgbClr val="1F2D3A"/>
                </a:solidFill>
              </a:rPr>
              <a:t> nasıl yayılır.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Tetikleyici:</a:t>
            </a:r>
            <a:r>
              <a:rPr sz="2000" b="0">
                <a:solidFill>
                  <a:srgbClr val="1F2D3A"/>
                </a:solidFill>
              </a:rPr>
              <a:t> ne zaman etkinleşir.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Yük (payload):</a:t>
            </a:r>
            <a:r>
              <a:rPr sz="2000" b="0">
                <a:solidFill>
                  <a:srgbClr val="1F2D3A"/>
                </a:solidFill>
              </a:rPr>
              <a:t> ne yapar.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Virüsün üç parçası — şema</a:t>
            </a:r>
          </a:p>
        </p:txBody>
      </p:sp>
      <p:pic>
        <p:nvPicPr>
          <p:cNvPr id="7" name="Picture 6" descr="h02-02-virus-uc-parc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46645" y="1325880"/>
            <a:ext cx="8098404" cy="3473778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Gizlenme: polimorfik/metamorfik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Polimorfik:</a:t>
            </a:r>
            <a:r>
              <a:rPr sz="2000" b="0">
                <a:solidFill>
                  <a:srgbClr val="1F2D3A"/>
                </a:solidFill>
              </a:rPr>
              <a:t> her kopyada kendini </a:t>
            </a:r>
            <a:r>
              <a:rPr sz="2000" b="1">
                <a:solidFill>
                  <a:srgbClr val="1F2D3A"/>
                </a:solidFill>
              </a:rPr>
              <a:t>farklı şifreler</a:t>
            </a:r>
            <a:r>
              <a:rPr sz="2000" b="0">
                <a:solidFill>
                  <a:srgbClr val="1F2D3A"/>
                </a:solidFill>
              </a:rPr>
              <a:t> (imzadan kaçar).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Metamorfik:</a:t>
            </a:r>
            <a:r>
              <a:rPr sz="2000" b="0">
                <a:solidFill>
                  <a:srgbClr val="1F2D3A"/>
                </a:solidFill>
              </a:rPr>
              <a:t> her kopyada kodunu </a:t>
            </a:r>
            <a:r>
              <a:rPr sz="2000" b="1">
                <a:solidFill>
                  <a:srgbClr val="1F2D3A"/>
                </a:solidFill>
              </a:rPr>
              <a:t>yeniden yazar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Amaç: imza tabanlı tespitten kaçmak.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Tespit: imza vs sezgisel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İmza tabanlı:</a:t>
            </a:r>
            <a:r>
              <a:rPr sz="2000" b="0">
                <a:solidFill>
                  <a:srgbClr val="1F2D3A"/>
                </a:solidFill>
              </a:rPr>
              <a:t> bilinen zararlının parmak izini arar (hızlı, yeniyi kaçırır).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Sezgisel/davranış:</a:t>
            </a:r>
            <a:r>
              <a:rPr sz="2000" b="0">
                <a:solidFill>
                  <a:srgbClr val="1F2D3A"/>
                </a:solidFill>
              </a:rPr>
              <a:t> şüpheli </a:t>
            </a:r>
            <a:r>
              <a:rPr sz="2000" b="1">
                <a:solidFill>
                  <a:srgbClr val="1F2D3A"/>
                </a:solidFill>
              </a:rPr>
              <a:t>davranışı</a:t>
            </a:r>
            <a:r>
              <a:rPr sz="2000" b="0">
                <a:solidFill>
                  <a:srgbClr val="1F2D3A"/>
                </a:solidFill>
              </a:rPr>
              <a:t> arar (yeniyi bulur, yanlış alarm).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Entropi (rastgelelik)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Entropi:</a:t>
            </a:r>
            <a:r>
              <a:rPr sz="2000" b="0">
                <a:solidFill>
                  <a:srgbClr val="1F2D3A"/>
                </a:solidFill>
              </a:rPr>
              <a:t> verinin ne kadar rastgele göründüğü.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Şifreli/paketlenmiş kod </a:t>
            </a:r>
            <a:r>
              <a:rPr sz="2000" b="1">
                <a:solidFill>
                  <a:srgbClr val="1F2D3A"/>
                </a:solidFill>
              </a:rPr>
              <a:t>yüksek entropili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Tespitte ipucu: yüksek entropili bölge şüphelidir.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Erişim denetimi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Erişim denetimi:</a:t>
            </a:r>
            <a:r>
              <a:rPr sz="2000" b="0">
                <a:solidFill>
                  <a:srgbClr val="1F2D3A"/>
                </a:solidFill>
              </a:rPr>
              <a:t> kim (özne), neye (nesne), ne yapabilir (hak)?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Bir </a:t>
            </a:r>
            <a:r>
              <a:rPr sz="2000" b="1">
                <a:solidFill>
                  <a:srgbClr val="1F2D3A"/>
                </a:solidFill>
              </a:rPr>
              <a:t>matris</a:t>
            </a:r>
            <a:r>
              <a:rPr sz="2000" b="0">
                <a:solidFill>
                  <a:srgbClr val="1F2D3A"/>
                </a:solidFill>
              </a:rPr>
              <a:t> ile modellenir.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Modeller: DAC, MAC, RBAC.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DAC ve MAC — şema</a:t>
            </a:r>
          </a:p>
        </p:txBody>
      </p:sp>
      <p:pic>
        <p:nvPicPr>
          <p:cNvPr id="7" name="Picture 6" descr="h02-14-dac-ma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59761" y="1325880"/>
            <a:ext cx="7672173" cy="3429419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DAC / MAC / RBAC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DAC:</a:t>
            </a:r>
            <a:r>
              <a:rPr sz="2000" b="0">
                <a:solidFill>
                  <a:srgbClr val="1F2D3A"/>
                </a:solidFill>
              </a:rPr>
              <a:t> sahibi izinleri belirler (Unix dosya izinleri).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MAC:</a:t>
            </a:r>
            <a:r>
              <a:rPr sz="2000" b="0">
                <a:solidFill>
                  <a:srgbClr val="1F2D3A"/>
                </a:solidFill>
              </a:rPr>
              <a:t> sistem zorunlu kurallar koyar (etiketli).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RBAC:</a:t>
            </a:r>
            <a:r>
              <a:rPr sz="2000" b="0">
                <a:solidFill>
                  <a:srgbClr val="1F2D3A"/>
                </a:solidFill>
              </a:rPr>
              <a:t> izinler </a:t>
            </a:r>
            <a:r>
              <a:rPr sz="2000" b="1">
                <a:solidFill>
                  <a:srgbClr val="1F2D3A"/>
                </a:solidFill>
              </a:rPr>
              <a:t>rollere</a:t>
            </a:r>
            <a:r>
              <a:rPr sz="2000" b="0">
                <a:solidFill>
                  <a:srgbClr val="1F2D3A"/>
                </a:solidFill>
              </a:rPr>
              <a:t> bağlı.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Biçimsel modeller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Bell–LaPadula:</a:t>
            </a:r>
            <a:r>
              <a:rPr sz="2000" b="0">
                <a:solidFill>
                  <a:srgbClr val="1F2D3A"/>
                </a:solidFill>
              </a:rPr>
              <a:t> </a:t>
            </a:r>
            <a:r>
              <a:rPr sz="2000" b="1">
                <a:solidFill>
                  <a:srgbClr val="1F2D3A"/>
                </a:solidFill>
              </a:rPr>
              <a:t>gizlilik</a:t>
            </a:r>
            <a:r>
              <a:rPr sz="2000" b="0">
                <a:solidFill>
                  <a:srgbClr val="1F2D3A"/>
                </a:solidFill>
              </a:rPr>
              <a:t> (yukarı okuma yok).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Biba:</a:t>
            </a:r>
            <a:r>
              <a:rPr sz="2000" b="0">
                <a:solidFill>
                  <a:srgbClr val="1F2D3A"/>
                </a:solidFill>
              </a:rPr>
              <a:t> </a:t>
            </a:r>
            <a:r>
              <a:rPr sz="2000" b="1">
                <a:solidFill>
                  <a:srgbClr val="1F2D3A"/>
                </a:solidFill>
              </a:rPr>
              <a:t>bütünlük</a:t>
            </a:r>
            <a:r>
              <a:rPr sz="2000" b="0">
                <a:solidFill>
                  <a:srgbClr val="1F2D3A"/>
                </a:solidFill>
              </a:rPr>
              <a:t> (aşağı okuma yok — BLP'nin tersi).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Clark–Wilson:</a:t>
            </a:r>
            <a:r>
              <a:rPr sz="2000" b="0">
                <a:solidFill>
                  <a:srgbClr val="1F2D3A"/>
                </a:solidFill>
              </a:rPr>
              <a:t> ticari bütünlük (iyi biçimli işlemler).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Denetim kaydı (audit log)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Denetim kaydı:</a:t>
            </a:r>
            <a:r>
              <a:rPr sz="2000" b="0">
                <a:solidFill>
                  <a:srgbClr val="1F2D3A"/>
                </a:solidFill>
              </a:rPr>
              <a:t> kim ne zaman ne yaptı — </a:t>
            </a:r>
            <a:r>
              <a:rPr sz="2000" b="1">
                <a:solidFill>
                  <a:srgbClr val="1F2D3A"/>
                </a:solidFill>
              </a:rPr>
              <a:t>kanıt</a:t>
            </a:r>
            <a:r>
              <a:rPr sz="2000" b="0">
                <a:solidFill>
                  <a:srgbClr val="1F2D3A"/>
                </a:solidFill>
              </a:rPr>
              <a:t> olarak günlük.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Kurcalamaya dayanıklı olmalı.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Günlük enjeksiyonuna (CWE-117) dikkat.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Denetim kaydı — şema</a:t>
            </a:r>
          </a:p>
        </p:txBody>
      </p:sp>
      <p:pic>
        <p:nvPicPr>
          <p:cNvPr id="7" name="Picture 6" descr="h02-13-denetim-kaydi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59761" y="1325880"/>
            <a:ext cx="7672173" cy="346617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CWE, CVE, CVSS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CWE:</a:t>
            </a:r>
            <a:r>
              <a:rPr sz="2000" b="0">
                <a:solidFill>
                  <a:srgbClr val="1F2D3A"/>
                </a:solidFill>
              </a:rPr>
              <a:t> zayıflık </a:t>
            </a:r>
            <a:r>
              <a:rPr sz="2000" b="1">
                <a:solidFill>
                  <a:srgbClr val="1F2D3A"/>
                </a:solidFill>
              </a:rPr>
              <a:t>türü</a:t>
            </a:r>
            <a:r>
              <a:rPr sz="2000" b="0">
                <a:solidFill>
                  <a:srgbClr val="1F2D3A"/>
                </a:solidFill>
              </a:rPr>
              <a:t> kataloğu (ör. CWE-416).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CVE:</a:t>
            </a:r>
            <a:r>
              <a:rPr sz="2000" b="0">
                <a:solidFill>
                  <a:srgbClr val="1F2D3A"/>
                </a:solidFill>
              </a:rPr>
              <a:t> </a:t>
            </a:r>
            <a:r>
              <a:rPr sz="2000" b="1">
                <a:solidFill>
                  <a:srgbClr val="1F2D3A"/>
                </a:solidFill>
              </a:rPr>
              <a:t>belirli</a:t>
            </a:r>
            <a:r>
              <a:rPr sz="2000" b="0">
                <a:solidFill>
                  <a:srgbClr val="1F2D3A"/>
                </a:solidFill>
              </a:rPr>
              <a:t> bir üründeki açık (ör. CVE-2024-xxxx).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CVSS:</a:t>
            </a:r>
            <a:r>
              <a:rPr sz="2000" b="0">
                <a:solidFill>
                  <a:srgbClr val="1F2D3A"/>
                </a:solidFill>
              </a:rPr>
              <a:t> bir açığın </a:t>
            </a:r>
            <a:r>
              <a:rPr sz="2000" b="1">
                <a:solidFill>
                  <a:srgbClr val="1F2D3A"/>
                </a:solidFill>
              </a:rPr>
              <a:t>ciddiyet puanı</a:t>
            </a:r>
            <a:r>
              <a:rPr sz="2000" b="0">
                <a:solidFill>
                  <a:srgbClr val="1F2D3A"/>
                </a:solidFill>
              </a:rPr>
              <a:t> (0–10).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CWE, CVE, CVSS — şema</a:t>
            </a:r>
          </a:p>
        </p:txBody>
      </p:sp>
      <p:pic>
        <p:nvPicPr>
          <p:cNvPr id="7" name="Picture 6" descr="h02-15-cwe-cve-cvs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59761" y="1325880"/>
            <a:ext cx="7672173" cy="3041511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OWASP ve zafiyet yaşam döngüsü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OWASP Top 10 / MASVS:</a:t>
            </a:r>
            <a:r>
              <a:rPr sz="2000" b="0">
                <a:solidFill>
                  <a:srgbClr val="1F2D3A"/>
                </a:solidFill>
              </a:rPr>
              <a:t> yaygın açıklar ve mobil gereksinimler.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Sorumlu ifşa:</a:t>
            </a:r>
            <a:r>
              <a:rPr sz="2000" b="0">
                <a:solidFill>
                  <a:srgbClr val="1F2D3A"/>
                </a:solidFill>
              </a:rPr>
              <a:t> açığı önce üreticiye bildirme.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Açık: keşif → bildirim → yama → yayın.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Açığın yaşam çizgisi — şema</a:t>
            </a:r>
          </a:p>
        </p:txBody>
      </p:sp>
      <p:pic>
        <p:nvPicPr>
          <p:cNvPr id="7" name="Picture 6" descr="h02-17-acik-yasam-cizgisi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59761" y="1325880"/>
            <a:ext cx="7672173" cy="3685158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OWASP ve MASVS — şema</a:t>
            </a:r>
          </a:p>
        </p:txBody>
      </p:sp>
      <p:pic>
        <p:nvPicPr>
          <p:cNvPr id="7" name="Picture 6" descr="h02-16-owasp-masv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59761" y="1325880"/>
            <a:ext cx="7672173" cy="3429419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Şimdi hazırız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Terimler: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1100327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zararlı yazılım · virüs/solucan/truva/fidye · virüsün üç parçası · polimorfik · imza/sezgisel tespit · entropi · erişim denetimi (DAC/MAC/RBAC) · BLP/Biba · denetim kaydı · CWE/CVE/CVSS · OWASP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085592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Şimdi: tehdit, model, sınıflandırmanın büyük resmi.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Bugünün planı (3 saat)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4" cy="176479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15815"/>
                <a:gridCol w="10095719"/>
              </a:tblGrid>
              <a:tr h="441197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Saat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Konu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441197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Zararlı yazılım: tarih, anatomi, türler · gizlenme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41197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2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1F2D3A"/>
                          </a:solidFill>
                        </a:rPr>
                        <a:t>Demo 1–2</a:t>
                      </a:r>
                      <a:r>
                        <a:rPr sz="1439" b="0">
                          <a:solidFill>
                            <a:srgbClr val="1F2D3A"/>
                          </a:solidFill>
                        </a:rPr>
                        <a:t> · karşı önlemler · saldırı ağacı (</a:t>
                      </a:r>
                      <a:r>
                        <a:rPr sz="1439" b="1">
                          <a:solidFill>
                            <a:srgbClr val="1F2D3A"/>
                          </a:solidFill>
                        </a:rPr>
                        <a:t>Demo 4</a:t>
                      </a:r>
                      <a:r>
                        <a:rPr sz="1439" b="0">
                          <a:solidFill>
                            <a:srgbClr val="1F2D3A"/>
                          </a:solidFill>
                        </a:rPr>
                        <a:t>) · erişim ve modeller (</a:t>
                      </a:r>
                      <a:r>
                        <a:rPr sz="1439" b="1">
                          <a:solidFill>
                            <a:srgbClr val="1F2D3A"/>
                          </a:solidFill>
                        </a:rPr>
                        <a:t>Demo 3, 6</a:t>
                      </a:r>
                      <a:r>
                        <a:rPr sz="1439" b="0">
                          <a:solidFill>
                            <a:srgbClr val="1F2D3A"/>
                          </a:solidFill>
                        </a:rPr>
                        <a:t>)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441200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CWE · OWASP · CVE · CVSS (</a:t>
                      </a:r>
                      <a:r>
                        <a:rPr sz="1439" b="1">
                          <a:solidFill>
                            <a:srgbClr val="1F2D3A"/>
                          </a:solidFill>
                        </a:rPr>
                        <a:t>Demo 5</a:t>
                      </a:r>
                      <a:r>
                        <a:rPr sz="1439" b="0">
                          <a:solidFill>
                            <a:srgbClr val="1F2D3A"/>
                          </a:solidFill>
                        </a:rPr>
                        <a:t>) · yaşam döngüsü · proje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0080" y="3200399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Demolar:</a:t>
            </a:r>
            <a:r>
              <a:rPr sz="2000" b="0">
                <a:solidFill>
                  <a:srgbClr val="1F2D3A"/>
                </a:solidFill>
              </a:rPr>
              <a:t> </a:t>
            </a:r>
            <a:r>
              <a:rPr sz="2000" b="0">
                <a:solidFill>
                  <a:srgbClr val="A1123F"/>
                </a:solidFill>
                <a:latin typeface="Consolas"/>
              </a:rPr>
              <a:t>code/week-02</a:t>
            </a:r>
            <a:r>
              <a:rPr sz="2000" b="0">
                <a:solidFill>
                  <a:srgbClr val="1F2D3A"/>
                </a:solidFill>
              </a:rPr>
              <a:t> — Windows </a:t>
            </a:r>
            <a:r>
              <a:rPr sz="2000" b="0">
                <a:solidFill>
                  <a:srgbClr val="A1123F"/>
                </a:solidFill>
                <a:latin typeface="Consolas"/>
              </a:rPr>
              <a:t>.demo.ps1</a:t>
            </a:r>
            <a:r>
              <a:rPr sz="2000" b="0">
                <a:solidFill>
                  <a:srgbClr val="1F2D3A"/>
                </a:solidFill>
              </a:rPr>
              <a:t> · WSL/Linux </a:t>
            </a:r>
            <a:r>
              <a:rPr sz="2000" b="0">
                <a:solidFill>
                  <a:srgbClr val="A1123F"/>
                </a:solidFill>
                <a:latin typeface="Consolas"/>
              </a:rPr>
              <a:t>sh demo.sh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Kısa tarihçe — zararlı yazılım ve güvenlik modelleri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463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1">
                <a:solidFill>
                  <a:srgbClr val="1F2D3A"/>
                </a:solidFill>
              </a:rPr>
              <a:t>1949</a:t>
            </a:r>
            <a:r>
              <a:rPr sz="1800" b="0">
                <a:solidFill>
                  <a:srgbClr val="1F2D3A"/>
                </a:solidFill>
              </a:rPr>
              <a:t> — von Neumann: </a:t>
            </a:r>
            <a:r>
              <a:rPr sz="1800" b="1">
                <a:solidFill>
                  <a:srgbClr val="1F2D3A"/>
                </a:solidFill>
              </a:rPr>
              <a:t>kendini çoğaltan</a:t>
            </a:r>
            <a:r>
              <a:rPr sz="1800" b="0">
                <a:solidFill>
                  <a:srgbClr val="1F2D3A"/>
                </a:solidFill>
              </a:rPr>
              <a:t> otomata (virüsün matematiksel kökü)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1">
                <a:solidFill>
                  <a:srgbClr val="1F2D3A"/>
                </a:solidFill>
              </a:rPr>
              <a:t>1971</a:t>
            </a:r>
            <a:r>
              <a:rPr sz="1800" b="0">
                <a:solidFill>
                  <a:srgbClr val="1F2D3A"/>
                </a:solidFill>
              </a:rPr>
              <a:t> Creeper · </a:t>
            </a:r>
            <a:r>
              <a:rPr sz="1800" b="1">
                <a:solidFill>
                  <a:srgbClr val="1F2D3A"/>
                </a:solidFill>
              </a:rPr>
              <a:t>1986</a:t>
            </a:r>
            <a:r>
              <a:rPr sz="1800" b="0">
                <a:solidFill>
                  <a:srgbClr val="1F2D3A"/>
                </a:solidFill>
              </a:rPr>
              <a:t> Brain (ilk PC virüsü) · </a:t>
            </a:r>
            <a:r>
              <a:rPr sz="1800" b="1">
                <a:solidFill>
                  <a:srgbClr val="1F2D3A"/>
                </a:solidFill>
              </a:rPr>
              <a:t>1988</a:t>
            </a:r>
            <a:r>
              <a:rPr sz="1800" b="0">
                <a:solidFill>
                  <a:srgbClr val="1F2D3A"/>
                </a:solidFill>
              </a:rPr>
              <a:t> </a:t>
            </a:r>
            <a:r>
              <a:rPr sz="1800" b="1">
                <a:solidFill>
                  <a:srgbClr val="1F2D3A"/>
                </a:solidFill>
              </a:rPr>
              <a:t>Morris Worm</a:t>
            </a:r>
            <a:r>
              <a:rPr sz="1800" b="0">
                <a:solidFill>
                  <a:srgbClr val="1F2D3A"/>
                </a:solidFill>
              </a:rPr>
              <a:t> interneti durdurur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1">
                <a:solidFill>
                  <a:srgbClr val="1F2D3A"/>
                </a:solidFill>
              </a:rPr>
              <a:t>1973–77</a:t>
            </a:r>
            <a:r>
              <a:rPr sz="1800" b="0">
                <a:solidFill>
                  <a:srgbClr val="1F2D3A"/>
                </a:solidFill>
              </a:rPr>
              <a:t> — </a:t>
            </a:r>
            <a:r>
              <a:rPr sz="1800" b="1">
                <a:solidFill>
                  <a:srgbClr val="1F2D3A"/>
                </a:solidFill>
              </a:rPr>
              <a:t>Bell–LaPadula</a:t>
            </a:r>
            <a:r>
              <a:rPr sz="1800" b="0">
                <a:solidFill>
                  <a:srgbClr val="1F2D3A"/>
                </a:solidFill>
              </a:rPr>
              <a:t> (gizlilik), </a:t>
            </a:r>
            <a:r>
              <a:rPr sz="1800" b="1">
                <a:solidFill>
                  <a:srgbClr val="1F2D3A"/>
                </a:solidFill>
              </a:rPr>
              <a:t>Biba</a:t>
            </a:r>
            <a:r>
              <a:rPr sz="1800" b="0">
                <a:solidFill>
                  <a:srgbClr val="1F2D3A"/>
                </a:solidFill>
              </a:rPr>
              <a:t> (bütünlük); </a:t>
            </a:r>
            <a:r>
              <a:rPr sz="1800" b="1">
                <a:solidFill>
                  <a:srgbClr val="1F2D3A"/>
                </a:solidFill>
              </a:rPr>
              <a:t>1987</a:t>
            </a:r>
            <a:r>
              <a:rPr sz="1800" b="0">
                <a:solidFill>
                  <a:srgbClr val="1F2D3A"/>
                </a:solidFill>
              </a:rPr>
              <a:t> Clark–Wilson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1">
                <a:solidFill>
                  <a:srgbClr val="1F2D3A"/>
                </a:solidFill>
              </a:rPr>
              <a:t>1999 → 2006</a:t>
            </a:r>
            <a:r>
              <a:rPr sz="1800" b="0">
                <a:solidFill>
                  <a:srgbClr val="1F2D3A"/>
                </a:solidFill>
              </a:rPr>
              <a:t> — </a:t>
            </a:r>
            <a:r>
              <a:rPr sz="1800" b="1">
                <a:solidFill>
                  <a:srgbClr val="1F2D3A"/>
                </a:solidFill>
              </a:rPr>
              <a:t>CVE</a:t>
            </a:r>
            <a:r>
              <a:rPr sz="1800" b="0">
                <a:solidFill>
                  <a:srgbClr val="1F2D3A"/>
                </a:solidFill>
              </a:rPr>
              <a:t> · </a:t>
            </a:r>
            <a:r>
              <a:rPr sz="1800" b="1">
                <a:solidFill>
                  <a:srgbClr val="1F2D3A"/>
                </a:solidFill>
              </a:rPr>
              <a:t>CWE</a:t>
            </a:r>
            <a:r>
              <a:rPr sz="1800" b="0">
                <a:solidFill>
                  <a:srgbClr val="1F2D3A"/>
                </a:solidFill>
              </a:rPr>
              <a:t> · </a:t>
            </a:r>
            <a:r>
              <a:rPr sz="1800" b="1">
                <a:solidFill>
                  <a:srgbClr val="1F2D3A"/>
                </a:solidFill>
              </a:rPr>
              <a:t>CVSS</a:t>
            </a:r>
            <a:r>
              <a:rPr sz="1800" b="0">
                <a:solidFill>
                  <a:srgbClr val="1F2D3A"/>
                </a:solidFill>
              </a:rPr>
              <a:t>: ortak sınıflandırma dili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898648"/>
            <a:ext cx="10911535" cy="571500"/>
          </a:xfrm>
          <a:prstGeom prst="rect">
            <a:avLst/>
          </a:prstGeom>
          <a:solidFill>
            <a:srgbClr val="EEF7F8"/>
          </a:solidFill>
          <a:ln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1800" b="0">
                <a:solidFill>
                  <a:srgbClr val="1F2D3A"/>
                </a:solidFill>
              </a:rPr>
              <a:t>İki ayrı kol: </a:t>
            </a:r>
            <a:r>
              <a:rPr sz="1800" b="1">
                <a:solidFill>
                  <a:srgbClr val="1F2D3A"/>
                </a:solidFill>
              </a:rPr>
              <a:t>zararlıyı tanıma</a:t>
            </a:r>
            <a:r>
              <a:rPr sz="1800" b="0">
                <a:solidFill>
                  <a:srgbClr val="1F2D3A"/>
                </a:solidFill>
              </a:rPr>
              <a:t> + </a:t>
            </a:r>
            <a:r>
              <a:rPr sz="1800" b="1">
                <a:solidFill>
                  <a:srgbClr val="1F2D3A"/>
                </a:solidFill>
              </a:rPr>
              <a:t>erişimi modelleme</a:t>
            </a:r>
            <a:r>
              <a:rPr sz="1800" b="0">
                <a:solidFill>
                  <a:srgbClr val="1F2D3A"/>
                </a:solidFill>
              </a:rPr>
              <a:t>. Bugün ikisini birden görüyoruz.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Zararlı yazılımın kısa tarihi — şema</a:t>
            </a:r>
          </a:p>
        </p:txBody>
      </p:sp>
      <p:pic>
        <p:nvPicPr>
          <p:cNvPr id="7" name="Picture 6" descr="h02-09-zararli-tarih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59761" y="1325880"/>
            <a:ext cx="7672173" cy="3041813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Öğrenme çıktısı ve kapsam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971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ÖÇ.1:</a:t>
            </a:r>
            <a:r>
              <a:rPr sz="2000" b="0">
                <a:solidFill>
                  <a:srgbClr val="1F2D3A"/>
                </a:solidFill>
              </a:rPr>
              <a:t> Yaygın yazılım güvenlik açıklarını </a:t>
            </a:r>
            <a:r>
              <a:rPr sz="2000" b="1">
                <a:solidFill>
                  <a:srgbClr val="1F2D3A"/>
                </a:solidFill>
              </a:rPr>
              <a:t>tanımlar ve sınıflandırır.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Bu hafta üç konu bir arada:</a:t>
            </a:r>
          </a:p>
          <a:p>
            <a:pPr lvl="1"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    – </a:t>
            </a:r>
            <a:r>
              <a:rPr sz="2000" b="1">
                <a:solidFill>
                  <a:srgbClr val="1F2D3A"/>
                </a:solidFill>
              </a:rPr>
              <a:t>Tehdit:</a:t>
            </a:r>
            <a:r>
              <a:rPr sz="2000" b="0">
                <a:solidFill>
                  <a:srgbClr val="1F2D3A"/>
                </a:solidFill>
              </a:rPr>
              <a:t> zararlı yazılım türleri ve gizlenmesi</a:t>
            </a:r>
          </a:p>
          <a:p>
            <a:pPr lvl="1"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    – </a:t>
            </a:r>
            <a:r>
              <a:rPr sz="2000" b="1">
                <a:solidFill>
                  <a:srgbClr val="1F2D3A"/>
                </a:solidFill>
              </a:rPr>
              <a:t>Savunma:</a:t>
            </a:r>
            <a:r>
              <a:rPr sz="2000" b="0">
                <a:solidFill>
                  <a:srgbClr val="1F2D3A"/>
                </a:solidFill>
              </a:rPr>
              <a:t> erişim denetimi ve biçimsel modeller</a:t>
            </a:r>
          </a:p>
          <a:p>
            <a:pPr lvl="1"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    – </a:t>
            </a:r>
            <a:r>
              <a:rPr sz="2000" b="1">
                <a:solidFill>
                  <a:srgbClr val="1F2D3A"/>
                </a:solidFill>
              </a:rPr>
              <a:t>Ortak dil:</a:t>
            </a:r>
            <a:r>
              <a:rPr sz="2000" b="0">
                <a:solidFill>
                  <a:srgbClr val="1F2D3A"/>
                </a:solidFill>
              </a:rPr>
              <a:t> CWE · CVE · CVSS · OWASP · MASVS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3406648"/>
            <a:ext cx="10911535" cy="934719"/>
          </a:xfrm>
          <a:prstGeom prst="rect">
            <a:avLst/>
          </a:prstGeom>
          <a:solidFill>
            <a:srgbClr val="EEF7F8"/>
          </a:solidFill>
          <a:ln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2000" b="0">
                <a:solidFill>
                  <a:srgbClr val="1F2D3A"/>
                </a:solidFill>
              </a:rPr>
              <a:t>⚠️ </a:t>
            </a:r>
            <a:r>
              <a:rPr sz="2000" b="1">
                <a:solidFill>
                  <a:srgbClr val="1F2D3A"/>
                </a:solidFill>
              </a:rPr>
              <a:t>Etik:</a:t>
            </a:r>
            <a:r>
              <a:rPr sz="2000" b="0">
                <a:solidFill>
                  <a:srgbClr val="1F2D3A"/>
                </a:solidFill>
              </a:rPr>
              <a:t> Hiçbir demoda gerçek zararlı yazılım yok. Hepsi kendi klasöründe, yönetici yetkisi olmadan çalışan </a:t>
            </a:r>
            <a:r>
              <a:rPr sz="2000" b="1">
                <a:solidFill>
                  <a:srgbClr val="1F2D3A"/>
                </a:solidFill>
              </a:rPr>
              <a:t>güvenli benzetimlerdir.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28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Zararlı yazılım: türler ve tarih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"Virüs" her şey değildir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Zararlı yazılım (malware):</a:t>
            </a:r>
            <a:r>
              <a:rPr sz="2000" b="0">
                <a:solidFill>
                  <a:srgbClr val="1F2D3A"/>
                </a:solidFill>
              </a:rPr>
              <a:t> sahibinin izni dışında zarar veren her program.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23469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Virüs, zararlı yazılımın </a:t>
            </a:r>
            <a:r>
              <a:rPr sz="2000" b="1">
                <a:solidFill>
                  <a:srgbClr val="1F2D3A"/>
                </a:solidFill>
              </a:rPr>
              <a:t>yalnızca bir türüdür.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Ayrım </a:t>
            </a:r>
            <a:r>
              <a:rPr sz="2000" b="1">
                <a:solidFill>
                  <a:srgbClr val="1F2D3A"/>
                </a:solidFill>
              </a:rPr>
              <a:t>nasıl yayıldığına</a:t>
            </a:r>
            <a:r>
              <a:rPr sz="2000" b="0">
                <a:solidFill>
                  <a:srgbClr val="1F2D3A"/>
                </a:solidFill>
              </a:rPr>
              <a:t> göre yapılır:</a:t>
            </a:r>
          </a:p>
          <a:p>
            <a:pPr lvl="1"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    – </a:t>
            </a:r>
            <a:r>
              <a:rPr sz="2000" b="1">
                <a:solidFill>
                  <a:srgbClr val="1F2D3A"/>
                </a:solidFill>
              </a:rPr>
              <a:t>Virüs:</a:t>
            </a:r>
            <a:r>
              <a:rPr sz="2000" b="0">
                <a:solidFill>
                  <a:srgbClr val="1F2D3A"/>
                </a:solidFill>
              </a:rPr>
              <a:t> başka dosyaya iliştirilir, taşıyıcı çalışınca yayılır</a:t>
            </a:r>
          </a:p>
          <a:p>
            <a:pPr lvl="1"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    – </a:t>
            </a:r>
            <a:r>
              <a:rPr sz="2000" b="1">
                <a:solidFill>
                  <a:srgbClr val="1F2D3A"/>
                </a:solidFill>
              </a:rPr>
              <a:t>Solucan:</a:t>
            </a:r>
            <a:r>
              <a:rPr sz="2000" b="0">
                <a:solidFill>
                  <a:srgbClr val="1F2D3A"/>
                </a:solidFill>
              </a:rPr>
              <a:t> kendi başına, ağ üzerinden yayılır</a:t>
            </a:r>
          </a:p>
          <a:p>
            <a:pPr lvl="1"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    – </a:t>
            </a:r>
            <a:r>
              <a:rPr sz="2000" b="1">
                <a:solidFill>
                  <a:srgbClr val="1F2D3A"/>
                </a:solidFill>
              </a:rPr>
              <a:t>Truva atı:</a:t>
            </a:r>
            <a:r>
              <a:rPr sz="2000" b="0">
                <a:solidFill>
                  <a:srgbClr val="1F2D3A"/>
                </a:solidFill>
              </a:rPr>
              <a:t> masum görünür, kendini kopyalamaz</a:t>
            </a:r>
          </a:p>
          <a:p>
            <a:pPr lvl="1"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    – </a:t>
            </a:r>
            <a:r>
              <a:rPr sz="2000" b="1">
                <a:solidFill>
                  <a:srgbClr val="1F2D3A"/>
                </a:solidFill>
              </a:rPr>
              <a:t>Fidye / rootkit / bot / silici:</a:t>
            </a:r>
            <a:r>
              <a:rPr sz="2000" b="0">
                <a:solidFill>
                  <a:srgbClr val="1F2D3A"/>
                </a:solidFill>
              </a:rPr>
              <a:t> yük ya da davranış türleri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Haftanın üç parçası — şema</a:t>
            </a:r>
          </a:p>
        </p:txBody>
      </p:sp>
      <p:pic>
        <p:nvPicPr>
          <p:cNvPr id="7" name="Picture 6" descr="h02-01-haftanin-resmi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46645" y="1325880"/>
            <a:ext cx="8098404" cy="3210484"/>
          </a:xfrm>
          <a:prstGeom prst="rect">
            <a:avLst/>
          </a:prstGeom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Kısa tarih: dönüm noktaları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4" cy="326440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63897"/>
                <a:gridCol w="2764255"/>
                <a:gridCol w="6983382"/>
              </a:tblGrid>
              <a:tr h="362712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Yıl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Olay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Türü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62712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1984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Cohen'in tanımı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Kuram: "tam tespit imkânsız"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62712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1986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Brain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İlk yaygın PC virüsü (önyükleme sektörü)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62712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1988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Morris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İnternette yayılan ilk büyük solucan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62712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2000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ILOVEYOU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E-posta ekiyle milyonlar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62712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2001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Code Red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Ağ açığıyla bellekte yayılan solucan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62712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2010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Stuxnet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Endüstriyel denetleyiciyi hedef alan solucan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62712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2017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WannaCry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Kendi kendine yayılan fidye yazılımı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62712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2017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NotPetya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Fidye gibi görünen </a:t>
                      </a:r>
                      <a:r>
                        <a:rPr sz="1296" b="1">
                          <a:solidFill>
                            <a:srgbClr val="1F2D3A"/>
                          </a:solidFill>
                        </a:rPr>
                        <a:t>silici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 (yıkıcı)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Cohen 1984: tespitin sınırı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934719"/>
          </a:xfrm>
          <a:prstGeom prst="rect">
            <a:avLst/>
          </a:prstGeom>
          <a:solidFill>
            <a:srgbClr val="EEF7F8"/>
          </a:solidFill>
          <a:ln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2000" b="0">
                <a:solidFill>
                  <a:srgbClr val="1F2D3A"/>
                </a:solidFill>
              </a:rPr>
              <a:t>Bir virüs, kendini (belki değiştirerek) başka programlara </a:t>
            </a:r>
            <a:r>
              <a:rPr sz="2000" b="1">
                <a:solidFill>
                  <a:srgbClr val="1F2D3A"/>
                </a:solidFill>
              </a:rPr>
              <a:t>kopyalayabilen</a:t>
            </a:r>
            <a:r>
              <a:rPr sz="2000" b="0">
                <a:solidFill>
                  <a:srgbClr val="1F2D3A"/>
                </a:solidFill>
              </a:rPr>
              <a:t> programdır.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370328"/>
            <a:ext cx="10911535" cy="1925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Cohen kanıtladı: </a:t>
            </a:r>
            <a:r>
              <a:rPr sz="2000" b="1">
                <a:solidFill>
                  <a:srgbClr val="1F2D3A"/>
                </a:solidFill>
              </a:rPr>
              <a:t>"Bu program virüs mü?"</a:t>
            </a:r>
            <a:r>
              <a:rPr sz="2000" b="0">
                <a:solidFill>
                  <a:srgbClr val="1F2D3A"/>
                </a:solidFill>
              </a:rPr>
              <a:t> sorusunu her durumda doğru yanıtlayan genel bir algoritma </a:t>
            </a:r>
            <a:r>
              <a:rPr sz="2000" b="1">
                <a:solidFill>
                  <a:srgbClr val="1F2D3A"/>
                </a:solidFill>
              </a:rPr>
              <a:t>yoktur</a:t>
            </a:r>
            <a:r>
              <a:rPr sz="2000" b="0">
                <a:solidFill>
                  <a:srgbClr val="1F2D3A"/>
                </a:solidFill>
              </a:rPr>
              <a:t> (durma probleminden indirgenir).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Pratik sonuç: hiçbir antivirüs %100 tespit edemez.</a:t>
            </a:r>
          </a:p>
          <a:p>
            <a:pPr lvl="1"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    – </a:t>
            </a:r>
            <a:r>
              <a:rPr sz="2000" b="0">
                <a:solidFill>
                  <a:srgbClr val="1F2D3A"/>
                </a:solidFill>
              </a:rPr>
              <a:t>✅ </a:t>
            </a:r>
            <a:r>
              <a:rPr sz="2000" b="1">
                <a:solidFill>
                  <a:srgbClr val="1F2D3A"/>
                </a:solidFill>
              </a:rPr>
              <a:t>Yanlış pozitif:</a:t>
            </a:r>
            <a:r>
              <a:rPr sz="2000" b="0">
                <a:solidFill>
                  <a:srgbClr val="1F2D3A"/>
                </a:solidFill>
              </a:rPr>
              <a:t> temiz dosyayı yakalar</a:t>
            </a:r>
          </a:p>
          <a:p>
            <a:pPr lvl="1"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    – </a:t>
            </a:r>
            <a:r>
              <a:rPr sz="2000" b="0">
                <a:solidFill>
                  <a:srgbClr val="1F2D3A"/>
                </a:solidFill>
              </a:rPr>
              <a:t>❌ </a:t>
            </a:r>
            <a:r>
              <a:rPr sz="2000" b="1">
                <a:solidFill>
                  <a:srgbClr val="1F2D3A"/>
                </a:solidFill>
              </a:rPr>
              <a:t>Yanlış negatif:</a:t>
            </a:r>
            <a:r>
              <a:rPr sz="2000" b="0">
                <a:solidFill>
                  <a:srgbClr val="1F2D3A"/>
                </a:solidFill>
              </a:rPr>
              <a:t> zararlıyı kaçırır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440537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Bunu Demo 01'de kendi gözümüzle göreceğiz.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Bir virüsün üç parçası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4" cy="15270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41199"/>
                <a:gridCol w="3637178"/>
                <a:gridCol w="4133157"/>
              </a:tblGrid>
              <a:tr h="381762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Parça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İşi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Hastalık benzetmesi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81762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1F2D3A"/>
                          </a:solidFill>
                        </a:rPr>
                        <a:t>Bulaştırıcı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Kendini kopyalar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Hücreye girip çoğalma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81762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1F2D3A"/>
                          </a:solidFill>
                        </a:rPr>
                        <a:t>Tetikleyici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"Ne zaman?" koşulu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Kuluçka süresi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81762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1F2D3A"/>
                          </a:solidFill>
                        </a:rPr>
                        <a:t>Yük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Asıl zarar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Semptomlar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0080" y="2962656"/>
            <a:ext cx="10911535" cy="11734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Tetikleyici koşulu bekleyip patlayan koda </a:t>
            </a:r>
            <a:r>
              <a:rPr sz="2000" b="1">
                <a:solidFill>
                  <a:srgbClr val="1F2D3A"/>
                </a:solidFill>
              </a:rPr>
              <a:t>mantık bombası</a:t>
            </a:r>
            <a:r>
              <a:rPr sz="2000" b="0">
                <a:solidFill>
                  <a:srgbClr val="1F2D3A"/>
                </a:solidFill>
              </a:rPr>
              <a:t> denir.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Her parça zorunlu değildir: yalnız yayılan, yüksüz bir virüs de vardır (yine de zafiyettir).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Virüs alt türleri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25857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Program (dosya) virüsü:</a:t>
            </a:r>
            <a:r>
              <a:rPr sz="2000" b="0">
                <a:solidFill>
                  <a:srgbClr val="1F2D3A"/>
                </a:solidFill>
              </a:rPr>
              <a:t> çalıştırılabilir dosyaya bulaşır; dosya çalışınca virüs de çalışır.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Makro virüsü:</a:t>
            </a:r>
            <a:r>
              <a:rPr sz="2000" b="0">
                <a:solidFill>
                  <a:srgbClr val="1F2D3A"/>
                </a:solidFill>
              </a:rPr>
              <a:t> ofis belgesinin makro diline yazılır; belge açılınca çalışır (Melissa, 1999).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Önyükleme sektörü virüsü:</a:t>
            </a:r>
            <a:r>
              <a:rPr sz="2000" b="0">
                <a:solidFill>
                  <a:srgbClr val="1F2D3A"/>
                </a:solidFill>
              </a:rPr>
              <a:t> diskin ilk sektörüne bulaşır, işletim sisteminden </a:t>
            </a:r>
            <a:r>
              <a:rPr sz="2000" b="1">
                <a:solidFill>
                  <a:srgbClr val="1F2D3A"/>
                </a:solidFill>
              </a:rPr>
              <a:t>önce</a:t>
            </a:r>
            <a:r>
              <a:rPr sz="2000" b="0">
                <a:solidFill>
                  <a:srgbClr val="1F2D3A"/>
                </a:solidFill>
              </a:rPr>
              <a:t> çalışır (Brain, 1986).</a:t>
            </a:r>
          </a:p>
          <a:p>
            <a:pPr lvl="1"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    – </a:t>
            </a:r>
            <a:r>
              <a:rPr sz="2000" b="0">
                <a:solidFill>
                  <a:srgbClr val="1F2D3A"/>
                </a:solidFill>
              </a:rPr>
              <a:t>Modern </a:t>
            </a:r>
            <a:r>
              <a:rPr sz="2000" b="1">
                <a:solidFill>
                  <a:srgbClr val="1F2D3A"/>
                </a:solidFill>
              </a:rPr>
              <a:t>UEFI Secure Boot</a:t>
            </a:r>
            <a:r>
              <a:rPr sz="2000" b="0">
                <a:solidFill>
                  <a:srgbClr val="1F2D3A"/>
                </a:solidFill>
              </a:rPr>
              <a:t> bu sınıfı büyük ölçüde zorlaştırdı.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Solucan, truva atı, fidye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3" cy="20025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02328"/>
                <a:gridCol w="5205502"/>
                <a:gridCol w="3503703"/>
              </a:tblGrid>
              <a:tr h="500634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Tür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Yayılma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Örnek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500634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1F2D3A"/>
                          </a:solidFill>
                        </a:rPr>
                        <a:t>Solucan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Kendi başına, ağdan; kullanıcı gerekmez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Morris, Code Red, WannaCry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500634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1F2D3A"/>
                          </a:solidFill>
                        </a:rPr>
                        <a:t>Truva atı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Masum görünür; kullanıcı çalıştırır; kopyalanmaz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"Bedava oyun", sahte güncelleme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500634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1F2D3A"/>
                          </a:solidFill>
                        </a:rPr>
                        <a:t>Fidye yazılımı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Dosyaları şifreler, para ister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CryptoLocker, WannaCry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0080" y="3438144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Solucanın tehlikesi hızdır:</a:t>
            </a:r>
            <a:r>
              <a:rPr sz="2000" b="0">
                <a:solidFill>
                  <a:srgbClr val="1F2D3A"/>
                </a:solidFill>
              </a:rPr>
              <a:t> dakikalar içinde yüz binlerce makine.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Diğer türler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2255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Rootkit:</a:t>
            </a:r>
            <a:r>
              <a:rPr sz="2000" b="0">
                <a:solidFill>
                  <a:srgbClr val="1F2D3A"/>
                </a:solidFill>
              </a:rPr>
              <a:t> kendini ve diğer zararlıları işletim sisteminden </a:t>
            </a:r>
            <a:r>
              <a:rPr sz="2000" b="1">
                <a:solidFill>
                  <a:srgbClr val="1F2D3A"/>
                </a:solidFill>
              </a:rPr>
              <a:t>gizler</a:t>
            </a:r>
            <a:r>
              <a:rPr sz="2000" b="0">
                <a:solidFill>
                  <a:srgbClr val="1F2D3A"/>
                </a:solidFill>
              </a:rPr>
              <a:t> (dosya/süreç/ağ listesinden siler). Tespiti en zor sınıf.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Bot / botnet:</a:t>
            </a:r>
            <a:r>
              <a:rPr sz="2000" b="0">
                <a:solidFill>
                  <a:srgbClr val="1F2D3A"/>
                </a:solidFill>
              </a:rPr>
              <a:t> uzaktan komut alan makineler ağı (DDoS, spam, madencilik).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Casus / reklam yazılımı:</a:t>
            </a:r>
            <a:r>
              <a:rPr sz="2000" b="0">
                <a:solidFill>
                  <a:srgbClr val="1F2D3A"/>
                </a:solidFill>
              </a:rPr>
              <a:t> veri toplar ya da reklam gösterir.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Silici (wiper):</a:t>
            </a:r>
            <a:r>
              <a:rPr sz="2000" b="0">
                <a:solidFill>
                  <a:srgbClr val="1F2D3A"/>
                </a:solidFill>
              </a:rPr>
              <a:t> fidye gibi görünür ama veriyi </a:t>
            </a:r>
            <a:r>
              <a:rPr sz="2000" b="1">
                <a:solidFill>
                  <a:srgbClr val="1F2D3A"/>
                </a:solidFill>
              </a:rPr>
              <a:t>kalıcı yok eder</a:t>
            </a:r>
            <a:r>
              <a:rPr sz="2000" b="0">
                <a:solidFill>
                  <a:srgbClr val="1F2D3A"/>
                </a:solidFill>
              </a:rPr>
              <a:t> (NotPetya). Amaç para değil, yıkım.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Solucan ne kadar hızlı yayılır?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SI modeli</a:t>
            </a:r>
            <a:r>
              <a:rPr sz="2000" b="0">
                <a:solidFill>
                  <a:srgbClr val="1F2D3A"/>
                </a:solidFill>
              </a:rPr>
              <a:t> — duyarlı (S) ve enfekte (I) makineler: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875536"/>
            <a:ext cx="10911535" cy="463295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i(t+dt) = i(t) + beta * i(t) * (1 - i(t)/N) * dt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448559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A1123F"/>
                </a:solidFill>
                <a:latin typeface="Consolas"/>
              </a:rPr>
              <a:t>beta * i</a:t>
            </a:r>
            <a:r>
              <a:rPr sz="2000" b="0">
                <a:solidFill>
                  <a:srgbClr val="1F2D3A"/>
                </a:solidFill>
              </a:rPr>
              <a:t>: enfekte çoğaldıkça tarama hızlanır → </a:t>
            </a:r>
            <a:r>
              <a:rPr sz="2000" b="1">
                <a:solidFill>
                  <a:srgbClr val="1F2D3A"/>
                </a:solidFill>
              </a:rPr>
              <a:t>üstel</a:t>
            </a:r>
            <a:r>
              <a:rPr sz="2000" b="0">
                <a:solidFill>
                  <a:srgbClr val="1F2D3A"/>
                </a:solidFill>
              </a:rPr>
              <a:t> büyüme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A1123F"/>
                </a:solidFill>
                <a:latin typeface="Consolas"/>
              </a:rPr>
              <a:t>(1 - i/N)</a:t>
            </a:r>
            <a:r>
              <a:rPr sz="2000" b="0">
                <a:solidFill>
                  <a:srgbClr val="1F2D3A"/>
                </a:solidFill>
              </a:rPr>
              <a:t>: duyarlı azaldıkça isabet düşer → </a:t>
            </a:r>
            <a:r>
              <a:rPr sz="2000" b="1">
                <a:solidFill>
                  <a:srgbClr val="1F2D3A"/>
                </a:solidFill>
              </a:rPr>
              <a:t>doygunluk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Sonuç: sessiz açılış → ani patlama → doygunluk (S eğrisi)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777487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⚠️ Savunmacının tek penceresi </a:t>
            </a:r>
            <a:r>
              <a:rPr sz="2000" b="1">
                <a:solidFill>
                  <a:srgbClr val="1F2D3A"/>
                </a:solidFill>
              </a:rPr>
              <a:t>açılış evresi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SI modeli: adım adım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925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S (duyarlı):</a:t>
            </a:r>
            <a:r>
              <a:rPr sz="2000" b="0">
                <a:solidFill>
                  <a:srgbClr val="1F2D3A"/>
                </a:solidFill>
              </a:rPr>
              <a:t> henüz bulaşmamış, savunmasız makine.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I (enfekte):</a:t>
            </a:r>
            <a:r>
              <a:rPr sz="2000" b="0">
                <a:solidFill>
                  <a:srgbClr val="1F2D3A"/>
                </a:solidFill>
              </a:rPr>
              <a:t> zaten bulaşmış, kendisi de tarayan makine.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N:</a:t>
            </a:r>
            <a:r>
              <a:rPr sz="2000" b="0">
                <a:solidFill>
                  <a:srgbClr val="1F2D3A"/>
                </a:solidFill>
              </a:rPr>
              <a:t> toplam savunmasız makine sayısı (S + I).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Her enfekte makine birim zamanda </a:t>
            </a:r>
            <a:r>
              <a:rPr sz="2000" b="1">
                <a:solidFill>
                  <a:srgbClr val="1F2D3A"/>
                </a:solidFill>
              </a:rPr>
              <a:t>rastgele adres tarar</a:t>
            </a:r>
            <a:r>
              <a:rPr sz="2000" b="0">
                <a:solidFill>
                  <a:srgbClr val="1F2D3A"/>
                </a:solidFill>
              </a:rPr>
              <a:t>; adres duyarlıya denk gelirse onu da enfekte eder.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Salgın modeli — şema</a:t>
            </a:r>
          </a:p>
        </p:txBody>
      </p:sp>
      <p:pic>
        <p:nvPicPr>
          <p:cNvPr id="7" name="Picture 6" descr="h02-03-salgin-modeli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46645" y="1325880"/>
            <a:ext cx="8098404" cy="3210484"/>
          </a:xfrm>
          <a:prstGeom prst="rect">
            <a:avLst/>
          </a:prstGeom>
        </p:spPr>
      </p:pic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Demo 09 — Salgın simülasyonu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0690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0">
                <a:solidFill>
                  <a:srgbClr val="A1123F"/>
                </a:solidFill>
                <a:latin typeface="Consolas"/>
              </a:rPr>
              <a:t>code/week-02/09-salgin-simulasyonu</a:t>
            </a:r>
            <a:r>
              <a:rPr sz="1800" b="0">
                <a:solidFill>
                  <a:srgbClr val="1F2D3A"/>
                </a:solidFill>
              </a:rPr>
              <a:t> · yalnız hesaplama, ağ yok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842515"/>
            <a:ext cx="10911535" cy="1294790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Senaryo: Slammer benzeri (rastgele tarama, hizli UDP)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    54 s        78    0.1% |..............................|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   1.5 dk     1430    1.9% |#.............................|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   2.4 dk    45601   60.8% |##################............|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   3.3 dk    74429   99.2% |##############################|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%90 doygunluk:  Code Red ~13.3 sa · Slammer ~2.7 dk · Hitlist ~50 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247033"/>
            <a:ext cx="10911535" cy="11201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1F2D3A"/>
                </a:solidFill>
              </a:rPr>
              <a:t>Code Red (2001): ~359.000 sunucu · ikiye katlanma ~37 dk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1F2D3A"/>
                </a:solidFill>
              </a:rPr>
              <a:t>Slammer (2003): tek 404 baytlık UDP paketi · ~8,5 s'de ikiye katlanma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1F2D3A"/>
                </a:solidFill>
              </a:rPr>
              <a:t>✅ Ders: insan hızında tepki yetişmez → </a:t>
            </a:r>
            <a:r>
              <a:rPr sz="1800" b="1">
                <a:solidFill>
                  <a:srgbClr val="1F2D3A"/>
                </a:solidFill>
              </a:rPr>
              <a:t>önceden yama, kapalı port, otomatik savunma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Gerçek sayılar: Code Red vs Slammer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3" cy="132222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78697"/>
                <a:gridCol w="5875441"/>
                <a:gridCol w="3357395"/>
              </a:tblGrid>
              <a:tr h="440740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Olay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Giriş yolu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Hız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440740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Code Red (2001)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IIS </a:t>
                      </a:r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.ida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 taşması (CVE-2001-0500)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~359.000 sunucu; ikiye katlanma ~37 dk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40742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SQL Slammer (2003)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SQL Server ayrıştırma hizmeti, tek 404 baytlık UDP paketi (CVE-2002-0649)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~8,5 sn'de ikiye katlandı; ~10 dk'da %90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0080" y="2757830"/>
            <a:ext cx="10911535" cy="70408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0">
                <a:solidFill>
                  <a:srgbClr val="1F2D3A"/>
                </a:solidFill>
              </a:rPr>
              <a:t>Slammer'ı hızlandıran iki şey: </a:t>
            </a:r>
            <a:r>
              <a:rPr sz="1800" b="1">
                <a:solidFill>
                  <a:srgbClr val="1F2D3A"/>
                </a:solidFill>
              </a:rPr>
              <a:t>tek paket</a:t>
            </a:r>
            <a:r>
              <a:rPr sz="1800" b="0">
                <a:solidFill>
                  <a:srgbClr val="1F2D3A"/>
                </a:solidFill>
              </a:rPr>
              <a:t> yeterliydi (bağlantı kurma yok), hedefi </a:t>
            </a:r>
            <a:r>
              <a:rPr sz="1800" b="1">
                <a:solidFill>
                  <a:srgbClr val="1F2D3A"/>
                </a:solidFill>
              </a:rPr>
              <a:t>olabildiğince hızlı</a:t>
            </a:r>
            <a:r>
              <a:rPr sz="1800" b="0">
                <a:solidFill>
                  <a:srgbClr val="1F2D3A"/>
                </a:solidFill>
              </a:rPr>
              <a:t> taradı.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Slammer neden yavaşladı?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İlk dakikadan sonra yayılma hızı düştü.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Neden? </a:t>
            </a:r>
            <a:r>
              <a:rPr sz="2000" b="1">
                <a:solidFill>
                  <a:srgbClr val="1F2D3A"/>
                </a:solidFill>
              </a:rPr>
              <a:t>Savunma değil</a:t>
            </a:r>
            <a:r>
              <a:rPr sz="2000" b="0">
                <a:solidFill>
                  <a:srgbClr val="1F2D3A"/>
                </a:solidFill>
              </a:rPr>
              <a:t> — ağın </a:t>
            </a:r>
            <a:r>
              <a:rPr sz="2000" b="1">
                <a:solidFill>
                  <a:srgbClr val="1F2D3A"/>
                </a:solidFill>
              </a:rPr>
              <a:t>bant genişliği doldu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Solucan kendi trafiğiyle kendi yayılma kanalını tıkadı.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Ders: bazen saldırganın kendi başarısı, kendi sınırını yaratır.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İkiye katlanma süresi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2255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Enfekte sayısının </a:t>
            </a:r>
            <a:r>
              <a:rPr sz="2000" b="1">
                <a:solidFill>
                  <a:srgbClr val="1F2D3A"/>
                </a:solidFill>
              </a:rPr>
              <a:t>iki katına çıkması</a:t>
            </a:r>
            <a:r>
              <a:rPr sz="2000" b="0">
                <a:solidFill>
                  <a:srgbClr val="1F2D3A"/>
                </a:solidFill>
              </a:rPr>
              <a:t> için geçen süre, bir salgının hızının en sezgisel ölçüsüdür.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Code Red: ikiye katlanma ~</a:t>
            </a:r>
            <a:r>
              <a:rPr sz="2000" b="1">
                <a:solidFill>
                  <a:srgbClr val="1F2D3A"/>
                </a:solidFill>
              </a:rPr>
              <a:t>37 dakika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Slammer: ikiye katlanma ~</a:t>
            </a:r>
            <a:r>
              <a:rPr sz="2000" b="1">
                <a:solidFill>
                  <a:srgbClr val="1F2D3A"/>
                </a:solidFill>
              </a:rPr>
              <a:t>8,5 saniye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Aradaki fark ~260 kat — ikisi de "solucan" olsa da savunma penceresi </a:t>
            </a:r>
            <a:r>
              <a:rPr sz="2000" b="1">
                <a:solidFill>
                  <a:srgbClr val="1F2D3A"/>
                </a:solidFill>
              </a:rPr>
              <a:t>tamamen farklıdır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Demo 09 çıktısını okurken: açılış evresi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İlk 54 saniyede yalnız </a:t>
            </a:r>
            <a:r>
              <a:rPr sz="2000" b="1">
                <a:solidFill>
                  <a:srgbClr val="1F2D3A"/>
                </a:solidFill>
              </a:rPr>
              <a:t>78 makine</a:t>
            </a:r>
            <a:r>
              <a:rPr sz="2000" b="0">
                <a:solidFill>
                  <a:srgbClr val="1F2D3A"/>
                </a:solidFill>
              </a:rPr>
              <a:t> enfekte (%0.1).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Grafikte neredeyse hiçbir şey görünmüyor.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1,5 dakika sonra patlama </a:t>
            </a:r>
            <a:r>
              <a:rPr sz="2000" b="1">
                <a:solidFill>
                  <a:srgbClr val="1F2D3A"/>
                </a:solidFill>
              </a:rPr>
              <a:t>başlıyor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"Şimdilik az" demek, üstel büyümede </a:t>
            </a:r>
            <a:r>
              <a:rPr sz="2000" b="1">
                <a:solidFill>
                  <a:srgbClr val="1F2D3A"/>
                </a:solidFill>
              </a:rPr>
              <a:t>en pahalı yanılgıdır.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Demo 09 çıktısını okurken: hız ve hitlist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925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Hız (beta):</a:t>
            </a:r>
            <a:r>
              <a:rPr sz="2000" b="0">
                <a:solidFill>
                  <a:srgbClr val="1F2D3A"/>
                </a:solidFill>
              </a:rPr>
              <a:t> tarama hızını artırmak, doygunluğu </a:t>
            </a:r>
            <a:r>
              <a:rPr sz="2000" b="1">
                <a:solidFill>
                  <a:srgbClr val="1F2D3A"/>
                </a:solidFill>
              </a:rPr>
              <a:t>saatlerden dakikalara</a:t>
            </a:r>
            <a:r>
              <a:rPr sz="2000" b="0">
                <a:solidFill>
                  <a:srgbClr val="1F2D3A"/>
                </a:solidFill>
              </a:rPr>
              <a:t> indirir.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Bu yüzden savunma </a:t>
            </a:r>
            <a:r>
              <a:rPr sz="2000" b="1">
                <a:solidFill>
                  <a:srgbClr val="1F2D3A"/>
                </a:solidFill>
              </a:rPr>
              <a:t>otomatik</a:t>
            </a:r>
            <a:r>
              <a:rPr sz="2000" b="0">
                <a:solidFill>
                  <a:srgbClr val="1F2D3A"/>
                </a:solidFill>
              </a:rPr>
              <a:t> olmalı: güvenlik duvarı kuralı, ağ bölümleme, önceden yama.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Hitlist:</a:t>
            </a:r>
            <a:r>
              <a:rPr sz="2000" b="0">
                <a:solidFill>
                  <a:srgbClr val="1F2D3A"/>
                </a:solidFill>
              </a:rPr>
              <a:t> saldırgan hazır hedef listesiyle başlarsa açılış evresi </a:t>
            </a:r>
            <a:r>
              <a:rPr sz="2000" b="1">
                <a:solidFill>
                  <a:srgbClr val="1F2D3A"/>
                </a:solidFill>
              </a:rPr>
              <a:t>atlanır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Savunmacının zaten dar penceresi tamamen </a:t>
            </a:r>
            <a:r>
              <a:rPr sz="2000" b="1">
                <a:solidFill>
                  <a:srgbClr val="1F2D3A"/>
                </a:solidFill>
              </a:rPr>
              <a:t>kapanır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Programcıya ders (salgın)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Yayılma hızını programcı belirlemez.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Ama </a:t>
            </a:r>
            <a:r>
              <a:rPr sz="2000" b="1">
                <a:solidFill>
                  <a:srgbClr val="1F2D3A"/>
                </a:solidFill>
              </a:rPr>
              <a:t>ilk bulaşmayı mümkün kılan hatayı</a:t>
            </a:r>
            <a:r>
              <a:rPr sz="2000" b="0">
                <a:solidFill>
                  <a:srgbClr val="1F2D3A"/>
                </a:solidFill>
              </a:rPr>
              <a:t> programcı yapar.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Code Red, Slammer, Blaster — hepsi </a:t>
            </a:r>
            <a:r>
              <a:rPr sz="2000" b="1">
                <a:solidFill>
                  <a:srgbClr val="1F2D3A"/>
                </a:solidFill>
              </a:rPr>
              <a:t>sınır denetimsiz</a:t>
            </a:r>
            <a:r>
              <a:rPr sz="2000" b="0">
                <a:solidFill>
                  <a:srgbClr val="1F2D3A"/>
                </a:solidFill>
              </a:rPr>
              <a:t> bir taşma ile yayıldı.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Her dinlenen ağ portu bir </a:t>
            </a:r>
            <a:r>
              <a:rPr sz="2000" b="1">
                <a:solidFill>
                  <a:srgbClr val="1F2D3A"/>
                </a:solidFill>
              </a:rPr>
              <a:t>saldırı yüzeyidir</a:t>
            </a:r>
            <a:r>
              <a:rPr sz="2000" b="0">
                <a:solidFill>
                  <a:srgbClr val="1F2D3A"/>
                </a:solidFill>
              </a:rPr>
              <a:t>; kullanılmayan hizmeti hiç açmayın.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Kendiniz deneyin: beta yarıya inerse?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A1123F"/>
                </a:solidFill>
                <a:latin typeface="Consolas"/>
              </a:rPr>
              <a:t>salgin.c</a:t>
            </a:r>
            <a:r>
              <a:rPr sz="2000" b="0">
                <a:solidFill>
                  <a:srgbClr val="1F2D3A"/>
                </a:solidFill>
              </a:rPr>
              <a:t> içindeki </a:t>
            </a:r>
            <a:r>
              <a:rPr sz="2000" b="0">
                <a:solidFill>
                  <a:srgbClr val="A1123F"/>
                </a:solidFill>
                <a:latin typeface="Consolas"/>
              </a:rPr>
              <a:t>beta</a:t>
            </a:r>
            <a:r>
              <a:rPr sz="2000" b="0">
                <a:solidFill>
                  <a:srgbClr val="1F2D3A"/>
                </a:solidFill>
              </a:rPr>
              <a:t> değerini yarıya indirip yeniden çalıştırın.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Soru:</a:t>
            </a:r>
            <a:r>
              <a:rPr sz="2000" b="0">
                <a:solidFill>
                  <a:srgbClr val="1F2D3A"/>
                </a:solidFill>
              </a:rPr>
              <a:t> Doygunluk süresi nasıl değişir? Hitlist senaryosunda </a:t>
            </a:r>
            <a:r>
              <a:rPr sz="2000" b="0">
                <a:solidFill>
                  <a:srgbClr val="A1123F"/>
                </a:solidFill>
                <a:latin typeface="Consolas"/>
              </a:rPr>
              <a:t>i0</a:t>
            </a:r>
            <a:r>
              <a:rPr sz="2000" b="0">
                <a:solidFill>
                  <a:srgbClr val="1F2D3A"/>
                </a:solidFill>
              </a:rPr>
              <a:t>'ı 100'e çıkarınca fark ne kadar kalır?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755392"/>
            <a:ext cx="10911535" cy="1100327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Cevap:</a:t>
            </a:r>
            <a:r>
              <a:rPr sz="2000" b="0">
                <a:solidFill>
                  <a:srgbClr val="1F2D3A"/>
                </a:solidFill>
              </a:rPr>
              <a:t> Beta yarıya inince büyüme yavaşlar, doygunluk süresi </a:t>
            </a:r>
            <a:r>
              <a:rPr sz="2000" b="1">
                <a:solidFill>
                  <a:srgbClr val="1F2D3A"/>
                </a:solidFill>
              </a:rPr>
              <a:t>uzar</a:t>
            </a:r>
            <a:r>
              <a:rPr sz="2000" b="0">
                <a:solidFill>
                  <a:srgbClr val="1F2D3A"/>
                </a:solidFill>
              </a:rPr>
              <a:t>. Hitlist senaryosunda açılış evresi zaten atlandığı için </a:t>
            </a:r>
            <a:r>
              <a:rPr sz="2000" b="0">
                <a:solidFill>
                  <a:srgbClr val="A1123F"/>
                </a:solidFill>
                <a:latin typeface="Consolas"/>
              </a:rPr>
              <a:t>i0</a:t>
            </a:r>
            <a:r>
              <a:rPr sz="2000" b="0">
                <a:solidFill>
                  <a:srgbClr val="1F2D3A"/>
                </a:solidFill>
              </a:rPr>
              <a:t> artışının etkisi </a:t>
            </a:r>
            <a:r>
              <a:rPr sz="2000" b="1">
                <a:solidFill>
                  <a:srgbClr val="1F2D3A"/>
                </a:solidFill>
              </a:rPr>
              <a:t>daha küçüktür</a:t>
            </a:r>
            <a:r>
              <a:rPr sz="2000" b="0">
                <a:solidFill>
                  <a:srgbClr val="1F2D3A"/>
                </a:solidFill>
              </a:rPr>
              <a:t> — hitlist'in asıl gücü açılışı atlaması, başlangıç sayısı değil.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48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Yayılma ve gizlenme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Gizlenme merdiveni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4" cy="196961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24785"/>
                <a:gridCol w="6183203"/>
                <a:gridCol w="2303546"/>
              </a:tblGrid>
              <a:tr h="393923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Yöntem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Ne değişir?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Savunma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93923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1F2D3A"/>
                          </a:solidFill>
                        </a:rPr>
                        <a:t>Şifreleme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Gövde şifreli, </a:t>
                      </a:r>
                      <a:r>
                        <a:rPr sz="1296" b="1">
                          <a:solidFill>
                            <a:srgbClr val="1F2D3A"/>
                          </a:solidFill>
                        </a:rPr>
                        <a:t>çözücü sabit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Çözücüyü imzala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93923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1F2D3A"/>
                          </a:solidFill>
                        </a:rPr>
                        <a:t>Oligomorfizm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Çözücünün birkaç biçimi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Hepsini imzala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93923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1F2D3A"/>
                          </a:solidFill>
                        </a:rPr>
                        <a:t>Polimorfizm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Çözücü </a:t>
                      </a:r>
                      <a:r>
                        <a:rPr sz="1296" b="1">
                          <a:solidFill>
                            <a:srgbClr val="1F2D3A"/>
                          </a:solidFill>
                        </a:rPr>
                        <a:t>her kopyada yeniden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 üretilir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Emülasyonla çöz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93925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1F2D3A"/>
                          </a:solidFill>
                        </a:rPr>
                        <a:t>Metamorfizm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Şifreleme yok, </a:t>
                      </a:r>
                      <a:r>
                        <a:rPr sz="1296" b="1">
                          <a:solidFill>
                            <a:srgbClr val="1F2D3A"/>
                          </a:solidFill>
                        </a:rPr>
                        <a:t>kodun tamamı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 yeniden yazılır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Davranışa bak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0080" y="3405225"/>
            <a:ext cx="10911535" cy="40690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1">
                <a:solidFill>
                  <a:srgbClr val="1F2D3A"/>
                </a:solidFill>
              </a:rPr>
              <a:t>Anahtar fikir:</a:t>
            </a:r>
            <a:r>
              <a:rPr sz="1800" b="0">
                <a:solidFill>
                  <a:srgbClr val="1F2D3A"/>
                </a:solidFill>
              </a:rPr>
              <a:t> şifreli gövde her kopyada farklı görünür, </a:t>
            </a:r>
            <a:r>
              <a:rPr sz="1800" b="1">
                <a:solidFill>
                  <a:srgbClr val="1F2D3A"/>
                </a:solidFill>
              </a:rPr>
              <a:t>çözülünce hep aynıdır.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Şifreli / polimorfik virüsün yapısı</a:t>
            </a:r>
          </a:p>
        </p:txBody>
      </p:sp>
      <p:pic>
        <p:nvPicPr>
          <p:cNvPr id="7" name="Picture 6" descr="h02-04-polimorfi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59761" y="1325880"/>
            <a:ext cx="7672173" cy="366107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" y="509668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Emülasyon</a:t>
            </a:r>
            <a:r>
              <a:rPr sz="2000" b="0">
                <a:solidFill>
                  <a:srgbClr val="1F2D3A"/>
                </a:solidFill>
              </a:rPr>
              <a:t> tam da bu son kutuyu görmek için çözücüyü çalıştırır.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Demo 01 — Oyuncak antivirüs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A1123F"/>
                </a:solidFill>
                <a:latin typeface="Consolas"/>
              </a:rPr>
              <a:t>code/week-02/01-imza-tarayici</a:t>
            </a:r>
            <a:r>
              <a:rPr sz="2000" b="0">
                <a:solidFill>
                  <a:srgbClr val="1F2D3A"/>
                </a:solidFill>
              </a:rPr>
              <a:t> · Kitap: Tarif 12.1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Zararsız, çalıştırılamayan bir </a:t>
            </a:r>
            <a:r>
              <a:rPr sz="2000" b="1">
                <a:solidFill>
                  <a:srgbClr val="1F2D3A"/>
                </a:solidFill>
              </a:rPr>
              <a:t>"KAPSÜL"</a:t>
            </a:r>
            <a:r>
              <a:rPr sz="2000" b="0">
                <a:solidFill>
                  <a:srgbClr val="1F2D3A"/>
                </a:solidFill>
              </a:rPr>
              <a:t> biçimi: başlık + çözücü + gövde.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Dört yöntem, dört sınır: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40080" y="2828544"/>
          <a:ext cx="10911533" cy="187451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41042"/>
                <a:gridCol w="3288407"/>
                <a:gridCol w="5082084"/>
              </a:tblGrid>
              <a:tr h="374903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Yöntem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Yakalar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Atlatılır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74903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1F2D3A"/>
                          </a:solidFill>
                        </a:rPr>
                        <a:t>Hash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Birebir aynı dosya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Tek bayt değişince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74903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1F2D3A"/>
                          </a:solidFill>
                        </a:rPr>
                        <a:t>Desen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Küçük değişiklik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Çözücü değişince (polimorfizm)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74903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1F2D3A"/>
                          </a:solidFill>
                        </a:rPr>
                        <a:t>Sezgisel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İmzasız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Yanlış pozitif/negatif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74907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1F2D3A"/>
                          </a:solidFill>
                        </a:rPr>
                        <a:t>Emülasyon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Hepsi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Anti-emülasyon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Demo 01 — Hash kırılgan, desen dayanıklı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1786128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ADIM 2 (hash):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ornek_a.bin        YAKALANDI  Ornek.MaviKedi.A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ornek_a_1bayt.bin  TEMIZ      &lt;- tek bayt degisti, ozet bambaska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ADIM 3 (desen):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poli_1.bin  YAKALANDI  Ornek.Cozucu.xs32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poli_2.bin  YAKALANDI  Ornek.Cozucu.xs32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poli_3.bin  TEMIZ      &lt;- cozucu de degisti (polimorfizm)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22173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Hash</a:t>
            </a:r>
            <a:r>
              <a:rPr sz="2000" b="0">
                <a:solidFill>
                  <a:srgbClr val="1F2D3A"/>
                </a:solidFill>
              </a:rPr>
              <a:t> çığ etkisiyle tek baytta kırılır; </a:t>
            </a:r>
            <a:r>
              <a:rPr sz="2000" b="1">
                <a:solidFill>
                  <a:srgbClr val="1F2D3A"/>
                </a:solidFill>
              </a:rPr>
              <a:t>desen</a:t>
            </a:r>
            <a:r>
              <a:rPr sz="2000" b="0">
                <a:solidFill>
                  <a:srgbClr val="1F2D3A"/>
                </a:solidFill>
              </a:rPr>
              <a:t> çözücüyü yakalar ama polimorfizm onu da atlatır.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Demo 01 — Sezgisel: iki tür hata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1030224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ADIM 5 (sezgisel):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ornek_a.bin  TEMIZ     puan=  0   &lt;- YANLIS NEGATIF (kacirdi)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poli_1.bin   SUPHELI   puan= 80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arsiv.bin    SUPHELI   puan= 50   &lt;- YANLIS POZITIF (zararsiz)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465832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İmza olmadan polimorfiği yakaladı ✅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Ama zararsız yüksek-entropili dosyayı şüpheli sandı ❌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Ve düz gövdeli örneği kaçırdı 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79476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Cohen'in belirsizliği tam burada.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Demo 01 — Emülasyon hepsini çözer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1030224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ADIM 6 (emulasyon):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poli_1.bin  YAKALANDI  ... | 5 komut, 0 BOS, xs32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poli_2.bin  YAKALANDI  ... | 5 komut, 0 BOS, xs32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poli_3.bin  YAKALANDI  ... | 8 komut, 4 BOS, lcg8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465832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Çözücüyü </a:t>
            </a:r>
            <a:r>
              <a:rPr sz="2000" b="1">
                <a:solidFill>
                  <a:srgbClr val="1F2D3A"/>
                </a:solidFill>
              </a:rPr>
              <a:t>güvenli sanal makinede</a:t>
            </a:r>
            <a:r>
              <a:rPr sz="2000" b="0">
                <a:solidFill>
                  <a:srgbClr val="1F2D3A"/>
                </a:solidFill>
              </a:rPr>
              <a:t> çalıştırır, açılan gövdeyi tarar.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Üç polimorfik kopya da </a:t>
            </a:r>
            <a:r>
              <a:rPr sz="2000" b="1">
                <a:solidFill>
                  <a:srgbClr val="1F2D3A"/>
                </a:solidFill>
              </a:rPr>
              <a:t>aynı imzaya</a:t>
            </a:r>
            <a:r>
              <a:rPr sz="2000" b="0">
                <a:solidFill>
                  <a:srgbClr val="1F2D3A"/>
                </a:solidFill>
              </a:rPr>
              <a:t> döndü.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Güçlü ama </a:t>
            </a:r>
            <a:r>
              <a:rPr sz="2000" b="1">
                <a:solidFill>
                  <a:srgbClr val="1F2D3A"/>
                </a:solidFill>
              </a:rPr>
              <a:t>pahalı</a:t>
            </a:r>
            <a:r>
              <a:rPr sz="2000" b="0">
                <a:solidFill>
                  <a:srgbClr val="1F2D3A"/>
                </a:solidFill>
              </a:rPr>
              <a:t>; zararlı "sanal makinedeyim" derse gizlenebilir.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79476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Sonuç: tek yöntem yetmez → katmanlı savunma.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Entropi: rastgelelik ölçüsü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$$ H = -sum_{b=0}^{255} p(b),log_2 p(b) quad (0 dots 8 text{ bit/bayt}) $$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H ~ 0:</a:t>
            </a:r>
            <a:r>
              <a:rPr sz="2000" b="0">
                <a:solidFill>
                  <a:srgbClr val="1F2D3A"/>
                </a:solidFill>
              </a:rPr>
              <a:t> hep aynı bayt · </a:t>
            </a:r>
            <a:r>
              <a:rPr sz="2000" b="1">
                <a:solidFill>
                  <a:srgbClr val="1F2D3A"/>
                </a:solidFill>
              </a:rPr>
              <a:t>H ~ 4–5:</a:t>
            </a:r>
            <a:r>
              <a:rPr sz="2000" b="0">
                <a:solidFill>
                  <a:srgbClr val="1F2D3A"/>
                </a:solidFill>
              </a:rPr>
              <a:t> metin/kod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H ~ 6:</a:t>
            </a:r>
            <a:r>
              <a:rPr sz="2000" b="0">
                <a:solidFill>
                  <a:srgbClr val="1F2D3A"/>
                </a:solidFill>
              </a:rPr>
              <a:t> derlenmiş program · </a:t>
            </a:r>
            <a:r>
              <a:rPr sz="2000" b="1">
                <a:solidFill>
                  <a:srgbClr val="1F2D3A"/>
                </a:solidFill>
              </a:rPr>
              <a:t>H ~ 8:</a:t>
            </a:r>
            <a:r>
              <a:rPr sz="2000" b="0">
                <a:solidFill>
                  <a:srgbClr val="1F2D3A"/>
                </a:solidFill>
              </a:rPr>
              <a:t> şifreli/sıkışık/rastgele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828544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Antivirüs: "paketli/şifreli kod?" · EDR: "dosyaları hızla şifreleyen süreç?" (fidye)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Demo 02 — Entropi ölçer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A1123F"/>
                </a:solidFill>
                <a:latin typeface="Consolas"/>
              </a:rPr>
              <a:t>code/week-02/02-entropi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875536"/>
            <a:ext cx="10911535" cy="1219200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tekduze.txt   0.00  |........................| tekduze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belge.txt     4.17  |#############...........| dusuk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kod.bin       6.23  |###################.....| orta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sifreli.bin   7.95  |########################| YUKSEK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rastgele.bin  7.95  |########################| YUKSEK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204463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⚠️ Entropi tek başına "zararlı mı?" demez: </a:t>
            </a:r>
            <a:r>
              <a:rPr sz="2000" b="0">
                <a:solidFill>
                  <a:srgbClr val="A1123F"/>
                </a:solidFill>
                <a:latin typeface="Consolas"/>
              </a:rPr>
              <a:t>.zip</a:t>
            </a:r>
            <a:r>
              <a:rPr sz="2000" b="0">
                <a:solidFill>
                  <a:srgbClr val="1F2D3A"/>
                </a:solidFill>
              </a:rPr>
              <a:t>/</a:t>
            </a:r>
            <a:r>
              <a:rPr sz="2000" b="0">
                <a:solidFill>
                  <a:srgbClr val="A1123F"/>
                </a:solidFill>
                <a:latin typeface="Consolas"/>
              </a:rPr>
              <a:t>.png</a:t>
            </a:r>
            <a:r>
              <a:rPr sz="2000" b="0">
                <a:solidFill>
                  <a:srgbClr val="1F2D3A"/>
                </a:solidFill>
              </a:rPr>
              <a:t> de yüksektir. </a:t>
            </a:r>
            <a:r>
              <a:rPr sz="2000" b="1">
                <a:solidFill>
                  <a:srgbClr val="1F2D3A"/>
                </a:solidFill>
              </a:rPr>
              <a:t>Beklenmedik yerde</a:t>
            </a:r>
            <a:r>
              <a:rPr sz="2000" b="0">
                <a:solidFill>
                  <a:srgbClr val="1F2D3A"/>
                </a:solidFill>
              </a:rPr>
              <a:t> yüksekse ipucudur.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Demo 02 — Sıcak bölge ve fidye izi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1408176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Karma dosya (pencere 512):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1024-1535  4.14  dusuk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1536-2047  7.56  YUKSEK  &lt;- gizli sifreli bolum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2048-2559  7.66  YUKSEK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Fidye izi: belge.txt 4.17 --&gt; sifreli.bin 7.95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843784"/>
            <a:ext cx="10911535" cy="11734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Paketlenmiş programın deseni: </a:t>
            </a:r>
            <a:r>
              <a:rPr sz="2000" b="1">
                <a:solidFill>
                  <a:srgbClr val="1F2D3A"/>
                </a:solidFill>
              </a:rPr>
              <a:t>küçük açıcı + yüksek entropili gövde.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Bir süreç kısa sürede çok dosyada bu sıçramayı yapıyorsa </a:t>
            </a:r>
            <a:r>
              <a:rPr sz="2000" b="1">
                <a:solidFill>
                  <a:srgbClr val="1F2D3A"/>
                </a:solidFill>
              </a:rPr>
              <a:t>davranış tabanlı</a:t>
            </a:r>
            <a:r>
              <a:rPr sz="2000" b="0">
                <a:solidFill>
                  <a:srgbClr val="1F2D3A"/>
                </a:solidFill>
              </a:rPr>
              <a:t> koruma alarm verir.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Karşı önlemler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3" cy="240304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37566"/>
                <a:gridCol w="3933227"/>
                <a:gridCol w="4440740"/>
              </a:tblGrid>
              <a:tr h="343291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Yöntem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Güçlü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Zayıf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43291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İmza tabanlı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Hızlı, düşük yanlış pozitif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Bilinmeyeni/polimorfiği kaçırır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3291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Sezgisel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İmzasız yeni örnek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Yanlış pozitif/negatif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43291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Davranış tabanlı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Gizlenmeye dirençli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Zarar başlamış olabilir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3291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Kum havuzu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Gerçek davranışı görür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Yavaş; anti-VM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43291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Emülasyon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Çözücüyü açar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Anti-emülasyon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329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İtibar / bulut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Hızlı yayılan tehdide iyi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Gizlilik, bağlantı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0080" y="3838651"/>
            <a:ext cx="10911535" cy="40690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1">
                <a:solidFill>
                  <a:srgbClr val="1F2D3A"/>
                </a:solidFill>
              </a:rPr>
              <a:t>Modern EDR hepsini birleştirir, davranışa ağırlık verir.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Karşı önlem katmanları — şema</a:t>
            </a:r>
          </a:p>
        </p:txBody>
      </p:sp>
      <p:pic>
        <p:nvPicPr>
          <p:cNvPr id="7" name="Picture 6" descr="h02-10-karsi-onlem-katmanlari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59761" y="1325880"/>
            <a:ext cx="7672173" cy="3429419"/>
          </a:xfrm>
          <a:prstGeom prst="rect">
            <a:avLst/>
          </a:prstGeom>
        </p:spPr>
      </p:pic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EDR örneğinde davranış izi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2255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Süreç, kısa sürede </a:t>
            </a:r>
            <a:r>
              <a:rPr sz="2000" b="1">
                <a:solidFill>
                  <a:srgbClr val="1F2D3A"/>
                </a:solidFill>
              </a:rPr>
              <a:t>yüzlerce dosyayı</a:t>
            </a:r>
            <a:r>
              <a:rPr sz="2000" b="0">
                <a:solidFill>
                  <a:srgbClr val="1F2D3A"/>
                </a:solidFill>
              </a:rPr>
              <a:t> okuyup yüksek entropili haliyle geri yazıyor.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İçeriğe hiç </a:t>
            </a:r>
            <a:r>
              <a:rPr sz="2000" b="1">
                <a:solidFill>
                  <a:srgbClr val="1F2D3A"/>
                </a:solidFill>
              </a:rPr>
              <a:t>bakmadan</a:t>
            </a:r>
            <a:r>
              <a:rPr sz="2000" b="0">
                <a:solidFill>
                  <a:srgbClr val="1F2D3A"/>
                </a:solidFill>
              </a:rPr>
              <a:t>, yalnız bu davranış neredeyse kesin bir </a:t>
            </a:r>
            <a:r>
              <a:rPr sz="2000" b="1">
                <a:solidFill>
                  <a:srgbClr val="1F2D3A"/>
                </a:solidFill>
              </a:rPr>
              <a:t>fidye yazılımı</a:t>
            </a:r>
            <a:r>
              <a:rPr sz="2000" b="0">
                <a:solidFill>
                  <a:srgbClr val="1F2D3A"/>
                </a:solidFill>
              </a:rPr>
              <a:t> belirtisidir.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Davranış tabanlı koruma dosyanın "ne olduğuna" değil, "ne yaptığına" bakar.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Bu ipucu Demo 02'deki entropi sıçramasıyla </a:t>
            </a:r>
            <a:r>
              <a:rPr sz="2000" b="1">
                <a:solidFill>
                  <a:srgbClr val="1F2D3A"/>
                </a:solidFill>
              </a:rPr>
              <a:t>aynı fikrin</a:t>
            </a:r>
            <a:r>
              <a:rPr sz="2000" b="0">
                <a:solidFill>
                  <a:srgbClr val="1F2D3A"/>
                </a:solidFill>
              </a:rPr>
              <a:t> çalışma zamanı hâlidir.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Aynı alet kutusu: saldırgan ve savunmacı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2255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Bir zararlının </a:t>
            </a:r>
            <a:r>
              <a:rPr sz="2000" b="1">
                <a:solidFill>
                  <a:srgbClr val="1F2D3A"/>
                </a:solidFill>
              </a:rPr>
              <a:t>gizlenmek</a:t>
            </a:r>
            <a:r>
              <a:rPr sz="2000" b="0">
                <a:solidFill>
                  <a:srgbClr val="1F2D3A"/>
                </a:solidFill>
              </a:rPr>
              <a:t> için kullandığı teknik ile meşru yazılımın </a:t>
            </a:r>
            <a:r>
              <a:rPr sz="2000" b="1">
                <a:solidFill>
                  <a:srgbClr val="1F2D3A"/>
                </a:solidFill>
              </a:rPr>
              <a:t>kendini korumak</a:t>
            </a:r>
            <a:r>
              <a:rPr sz="2000" b="0">
                <a:solidFill>
                  <a:srgbClr val="1F2D3A"/>
                </a:solidFill>
              </a:rPr>
              <a:t> için kullandığı teknik çoğu zaman </a:t>
            </a:r>
            <a:r>
              <a:rPr sz="2000" b="1">
                <a:solidFill>
                  <a:srgbClr val="1F2D3A"/>
                </a:solidFill>
              </a:rPr>
              <a:t>aynıdır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Fark </a:t>
            </a:r>
            <a:r>
              <a:rPr sz="2000" b="1">
                <a:solidFill>
                  <a:srgbClr val="1F2D3A"/>
                </a:solidFill>
              </a:rPr>
              <a:t>niyet ve bağlamdadır</a:t>
            </a:r>
            <a:r>
              <a:rPr sz="2000" b="0">
                <a:solidFill>
                  <a:srgbClr val="1F2D3A"/>
                </a:solidFill>
              </a:rPr>
              <a:t>: biri sizin varlığınızı korur, diğeri imzadan kaçar.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Şifreli gövde + çözücü deseni: polimorfik virüste de, korumalı mobil uygulamada da var.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Bu simetri dönem boyunca (9., 11. hafta) tekrar karşımıza çıkacak.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Örnek: mobil ödeme neden şifreli sabit tutar?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2677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Tersine mühendisliği </a:t>
            </a:r>
            <a:r>
              <a:rPr sz="2000" b="1">
                <a:solidFill>
                  <a:srgbClr val="1F2D3A"/>
                </a:solidFill>
              </a:rPr>
              <a:t>yavaşlatmak</a:t>
            </a:r>
            <a:r>
              <a:rPr sz="2000" b="0">
                <a:solidFill>
                  <a:srgbClr val="1F2D3A"/>
                </a:solidFill>
              </a:rPr>
              <a:t> için hassas dizeler/sabitler şifreli tutulur, kullanım anında çözülür.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Bir değerlendirici ikili dosyada </a:t>
            </a:r>
            <a:r>
              <a:rPr sz="2000" b="1">
                <a:solidFill>
                  <a:srgbClr val="1F2D3A"/>
                </a:solidFill>
              </a:rPr>
              <a:t>yüksek entropili bölge</a:t>
            </a:r>
            <a:r>
              <a:rPr sz="2000" b="0">
                <a:solidFill>
                  <a:srgbClr val="1F2D3A"/>
                </a:solidFill>
              </a:rPr>
              <a:t> görünce sorar:</a:t>
            </a:r>
          </a:p>
          <a:p>
            <a:pPr lvl="1"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    – </a:t>
            </a:r>
            <a:r>
              <a:rPr sz="2000" b="0">
                <a:solidFill>
                  <a:srgbClr val="1F2D3A"/>
                </a:solidFill>
              </a:rPr>
              <a:t>Çözücü nerede?</a:t>
            </a:r>
          </a:p>
          <a:p>
            <a:pPr lvl="1"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    – </a:t>
            </a:r>
            <a:r>
              <a:rPr sz="2000" b="0">
                <a:solidFill>
                  <a:srgbClr val="1F2D3A"/>
                </a:solidFill>
              </a:rPr>
              <a:t>Anahtarı nasıl buluyor?</a:t>
            </a:r>
          </a:p>
          <a:p>
            <a:pPr lvl="1"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    – </a:t>
            </a:r>
            <a:r>
              <a:rPr sz="2000" b="0">
                <a:solidFill>
                  <a:srgbClr val="1F2D3A"/>
                </a:solidFill>
              </a:rPr>
              <a:t>Anahtar bellekte ne kadar açık kalıyor?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Aynı entropi ölçümü hem antivirüsün hem değerlendiricinin </a:t>
            </a:r>
            <a:r>
              <a:rPr sz="2000" b="1">
                <a:solidFill>
                  <a:srgbClr val="1F2D3A"/>
                </a:solidFill>
              </a:rPr>
              <a:t>ortak aracıdır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İtibar / bulut tabanlı tespit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2255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Dosyanın </a:t>
            </a:r>
            <a:r>
              <a:rPr sz="2000" b="1">
                <a:solidFill>
                  <a:srgbClr val="1F2D3A"/>
                </a:solidFill>
              </a:rPr>
              <a:t>yaygınlığı, kaynağı, dijital imzası</a:t>
            </a:r>
            <a:r>
              <a:rPr sz="2000" b="0">
                <a:solidFill>
                  <a:srgbClr val="1F2D3A"/>
                </a:solidFill>
              </a:rPr>
              <a:t> bulutta sorgulanır.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"Milyonlarca kullanıcıda görülmüş ve temiz" ise güvenilir sayılır; "hiç görülmemiş, imzasız" ise şüphelidir.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Güçlü yanı: </a:t>
            </a:r>
            <a:r>
              <a:rPr sz="2000" b="1">
                <a:solidFill>
                  <a:srgbClr val="1F2D3A"/>
                </a:solidFill>
              </a:rPr>
              <a:t>hızlı yayılan</a:t>
            </a:r>
            <a:r>
              <a:rPr sz="2000" b="0">
                <a:solidFill>
                  <a:srgbClr val="1F2D3A"/>
                </a:solidFill>
              </a:rPr>
              <a:t> tehdide karşı anında güncellenir.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Zayıf yanı: </a:t>
            </a:r>
            <a:r>
              <a:rPr sz="2000" b="1">
                <a:solidFill>
                  <a:srgbClr val="1F2D3A"/>
                </a:solidFill>
              </a:rPr>
              <a:t>gizlilik</a:t>
            </a:r>
            <a:r>
              <a:rPr sz="2000" b="0">
                <a:solidFill>
                  <a:srgbClr val="1F2D3A"/>
                </a:solidFill>
              </a:rPr>
              <a:t> (dosya bilgisi buluta gider) ve internet </a:t>
            </a:r>
            <a:r>
              <a:rPr sz="2000" b="1">
                <a:solidFill>
                  <a:srgbClr val="1F2D3A"/>
                </a:solidFill>
              </a:rPr>
              <a:t>bağlantısı</a:t>
            </a:r>
            <a:r>
              <a:rPr sz="2000" b="0">
                <a:solidFill>
                  <a:srgbClr val="1F2D3A"/>
                </a:solidFill>
              </a:rPr>
              <a:t> gerektirir.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Demo 07 — Kural tabanlı tespit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0690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0">
                <a:solidFill>
                  <a:srgbClr val="A1123F"/>
                </a:solidFill>
                <a:latin typeface="Consolas"/>
              </a:rPr>
              <a:t>code/week-02/07-kural-motoru</a:t>
            </a:r>
            <a:r>
              <a:rPr sz="1800" b="0">
                <a:solidFill>
                  <a:srgbClr val="1F2D3A"/>
                </a:solidFill>
              </a:rPr>
              <a:t> · YARA benzeri mini motor, </a:t>
            </a:r>
            <a:r>
              <a:rPr sz="1800" b="1">
                <a:solidFill>
                  <a:srgbClr val="1F2D3A"/>
                </a:solidFill>
              </a:rPr>
              <a:t>kendi zararsız desenlerimiz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842515"/>
            <a:ext cx="10911535" cy="1294790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kural Kelime_Baglam {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  dizge $a = "indir"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  dizge $b = "calistir"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  dizge $sihir = "KAPSUL/1"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  kosul ($a and $b) and $sihir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}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40080" y="3247033"/>
          <a:ext cx="10911533" cy="143195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36556"/>
                <a:gridCol w="4025614"/>
                <a:gridCol w="4449363"/>
              </a:tblGrid>
              <a:tr h="357987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Adım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Sonuç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Ders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5798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Zararsız kılavuz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Kelime_Cifti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 eşleşti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❌ Bağlamsız kural → </a:t>
                      </a:r>
                      <a:r>
                        <a:rPr sz="1296" b="1">
                          <a:solidFill>
                            <a:srgbClr val="1F2D3A"/>
                          </a:solidFill>
                        </a:rPr>
                        <a:t>yanlış pozitif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5798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Değişmiş varyant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yalnız joker (</a:t>
                      </a:r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??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) desen yakaladı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✅ Değişmeyen iskeleti hedefle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57989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Bozuk kural dosyası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1F2D3A"/>
                          </a:solidFill>
                        </a:rPr>
                        <a:t>REDDEDİLDİ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✅ Tespit aracı da bir ayrıştırıcıdır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Kara liste vs beyaz liste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25857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Kara liste:</a:t>
            </a:r>
            <a:r>
              <a:rPr sz="2000" b="0">
                <a:solidFill>
                  <a:srgbClr val="1F2D3A"/>
                </a:solidFill>
              </a:rPr>
              <a:t> "kötü olanı tanı" — bilinen zararlıyı listele, geri kalanına izin ver.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Beyaz liste:</a:t>
            </a:r>
            <a:r>
              <a:rPr sz="2000" b="0">
                <a:solidFill>
                  <a:srgbClr val="1F2D3A"/>
                </a:solidFill>
              </a:rPr>
              <a:t> "iyi olanı tanı" — bilinen iyiyi listele, </a:t>
            </a:r>
            <a:r>
              <a:rPr sz="2000" b="1">
                <a:solidFill>
                  <a:srgbClr val="1F2D3A"/>
                </a:solidFill>
              </a:rPr>
              <a:t>geri kalan her şeyden şüphelen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Bütünlük izleme, beyaz listenin </a:t>
            </a:r>
            <a:r>
              <a:rPr sz="2000" b="1">
                <a:solidFill>
                  <a:srgbClr val="1F2D3A"/>
                </a:solidFill>
              </a:rPr>
              <a:t>dosya düzeyindeki</a:t>
            </a:r>
            <a:r>
              <a:rPr sz="2000" b="0">
                <a:solidFill>
                  <a:srgbClr val="1F2D3A"/>
                </a:solidFill>
              </a:rPr>
              <a:t> biçimidir.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Sistem iyiyken her dosyanın özeti bir </a:t>
            </a:r>
            <a:r>
              <a:rPr sz="2000" b="1">
                <a:solidFill>
                  <a:srgbClr val="1F2D3A"/>
                </a:solidFill>
              </a:rPr>
              <a:t>manifeste</a:t>
            </a:r>
            <a:r>
              <a:rPr sz="2000" b="0">
                <a:solidFill>
                  <a:srgbClr val="1F2D3A"/>
                </a:solidFill>
              </a:rPr>
              <a:t> yazılır, sonra düzenli karşılaştırılır.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Soru — hangi tür, hangi katman?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E-posta ekindeki </a:t>
            </a:r>
            <a:r>
              <a:rPr sz="2000" b="1">
                <a:solidFill>
                  <a:srgbClr val="1F2D3A"/>
                </a:solidFill>
              </a:rPr>
              <a:t>"fatura.pdf.exe"</a:t>
            </a:r>
            <a:r>
              <a:rPr sz="2000" b="0">
                <a:solidFill>
                  <a:srgbClr val="1F2D3A"/>
                </a:solidFill>
              </a:rPr>
              <a:t> açılınca çalışıp adres defterindeki herkese kendini yolluyor.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20573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Soru:</a:t>
            </a:r>
            <a:r>
              <a:rPr sz="2000" b="0">
                <a:solidFill>
                  <a:srgbClr val="1F2D3A"/>
                </a:solidFill>
              </a:rPr>
              <a:t> Bu hangi tür zararlı? İlk yakalayacak katman ne olurdu?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755392"/>
            <a:ext cx="10911535" cy="1100327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Cevap:</a:t>
            </a:r>
            <a:r>
              <a:rPr sz="2000" b="0">
                <a:solidFill>
                  <a:srgbClr val="1F2D3A"/>
                </a:solidFill>
              </a:rPr>
              <a:t> Solucan/truva karışımı — kullanıcı </a:t>
            </a:r>
            <a:r>
              <a:rPr sz="2000" b="1">
                <a:solidFill>
                  <a:srgbClr val="1F2D3A"/>
                </a:solidFill>
              </a:rPr>
              <a:t>açar</a:t>
            </a:r>
            <a:r>
              <a:rPr sz="2000" b="0">
                <a:solidFill>
                  <a:srgbClr val="1F2D3A"/>
                </a:solidFill>
              </a:rPr>
              <a:t> (truva atı gibi başlar), sonra </a:t>
            </a:r>
            <a:r>
              <a:rPr sz="2000" b="1">
                <a:solidFill>
                  <a:srgbClr val="1F2D3A"/>
                </a:solidFill>
              </a:rPr>
              <a:t>kendi kendine yayılır</a:t>
            </a:r>
            <a:r>
              <a:rPr sz="2000" b="0">
                <a:solidFill>
                  <a:srgbClr val="1F2D3A"/>
                </a:solidFill>
              </a:rPr>
              <a:t> (solucan gibi). İlk yakalayacak katman: </a:t>
            </a:r>
            <a:r>
              <a:rPr sz="2000" b="1">
                <a:solidFill>
                  <a:srgbClr val="1F2D3A"/>
                </a:solidFill>
              </a:rPr>
              <a:t>imza/desen</a:t>
            </a:r>
            <a:r>
              <a:rPr sz="2000" b="0">
                <a:solidFill>
                  <a:srgbClr val="1F2D3A"/>
                </a:solidFill>
              </a:rPr>
              <a:t> (bilinen bir örnekse) ya da </a:t>
            </a:r>
            <a:r>
              <a:rPr sz="2000" b="1">
                <a:solidFill>
                  <a:srgbClr val="1F2D3A"/>
                </a:solidFill>
              </a:rPr>
              <a:t>sezgisel</a:t>
            </a:r>
            <a:r>
              <a:rPr sz="2000" b="0">
                <a:solidFill>
                  <a:srgbClr val="1F2D3A"/>
                </a:solidFill>
              </a:rPr>
              <a:t> (yeniyse).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Soru — tedarik zinciri saldırısı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Bir yazılımın </a:t>
            </a:r>
            <a:r>
              <a:rPr sz="2000" b="1">
                <a:solidFill>
                  <a:srgbClr val="1F2D3A"/>
                </a:solidFill>
              </a:rPr>
              <a:t>resmî güncellemesine</a:t>
            </a:r>
            <a:r>
              <a:rPr sz="2000" b="0">
                <a:solidFill>
                  <a:srgbClr val="1F2D3A"/>
                </a:solidFill>
              </a:rPr>
              <a:t>, derleme sırasında arka kapı ekleniyor (SUNBURST benzeri).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20573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Soru:</a:t>
            </a:r>
            <a:r>
              <a:rPr sz="2000" b="0">
                <a:solidFill>
                  <a:srgbClr val="1F2D3A"/>
                </a:solidFill>
              </a:rPr>
              <a:t> İmza tabanlı tespit ve izin listesi (whitelisting) bunu yakalar mı?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755392"/>
            <a:ext cx="10911535" cy="1100327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Cevap:</a:t>
            </a:r>
            <a:r>
              <a:rPr sz="2000" b="0">
                <a:solidFill>
                  <a:srgbClr val="1F2D3A"/>
                </a:solidFill>
              </a:rPr>
              <a:t> </a:t>
            </a:r>
            <a:r>
              <a:rPr sz="2000" b="1">
                <a:solidFill>
                  <a:srgbClr val="1F2D3A"/>
                </a:solidFill>
              </a:rPr>
              <a:t>Hayır, ikisi de başarısız olur.</a:t>
            </a:r>
            <a:r>
              <a:rPr sz="2000" b="0">
                <a:solidFill>
                  <a:srgbClr val="1F2D3A"/>
                </a:solidFill>
              </a:rPr>
              <a:t> Dosya </a:t>
            </a:r>
            <a:r>
              <a:rPr sz="2000" b="1">
                <a:solidFill>
                  <a:srgbClr val="1F2D3A"/>
                </a:solidFill>
              </a:rPr>
              <a:t>geçerli imzalıdır</a:t>
            </a:r>
            <a:r>
              <a:rPr sz="2000" b="0">
                <a:solidFill>
                  <a:srgbClr val="1F2D3A"/>
                </a:solidFill>
              </a:rPr>
              <a:t> ve izin listesinde zaten vardır (güncelleme resmî kaynaktan geliyor). Tedarik zinciri saldırısının korkutucu yanı tam budur: güvendiğiniz kaynağın kendisi ele geçirilmiştir.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Demo 08 — Bütünlük izleme (beyaz liste)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A1123F"/>
                </a:solidFill>
                <a:latin typeface="Consolas"/>
              </a:rPr>
              <a:t>code/week-02/08-butunluk-izleme</a:t>
            </a:r>
            <a:r>
              <a:rPr sz="2000" b="0">
                <a:solidFill>
                  <a:srgbClr val="1F2D3A"/>
                </a:solidFill>
              </a:rPr>
              <a:t> · SHA-256 manifesti + </a:t>
            </a:r>
            <a:r>
              <a:rPr sz="2000" b="1">
                <a:solidFill>
                  <a:srgbClr val="1F2D3A"/>
                </a:solidFill>
              </a:rPr>
              <a:t>HMAC mühür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875536"/>
            <a:ext cx="10911535" cy="1408176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DEGISTI  kutuphane.bin  c603d7c6... -&gt; 64b8f2b2... (49-&gt;65 B)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SILINDI  veri.txt       (manifestte var, klasorde yok)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YENI     gizli.bin      (taban cizgisinde yok)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-- saldirgan manifesti yeniden yazar --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SONUC: butunluk korunmus    &lt;- izleyici KANDIRILDI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MUHUR GECERSIZ -&gt; manifeste GUVENME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393440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✅ Özet değişikliği yakalar · ⚠️ </a:t>
            </a:r>
            <a:r>
              <a:rPr sz="2000" b="1">
                <a:solidFill>
                  <a:srgbClr val="1F2D3A"/>
                </a:solidFill>
              </a:rPr>
              <a:t>beklenen değerler de korunmalı</a:t>
            </a:r>
            <a:r>
              <a:rPr sz="2000" b="0">
                <a:solidFill>
                  <a:srgbClr val="1F2D3A"/>
                </a:solidFill>
              </a:rPr>
              <a:t> (HMAC/imza, anahtar ayrı yerde)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427329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Tarif 12.2: CRC32 → SHA-256/HMAC · 6. haftada çalışma zamanı bütünlük denetimi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Değerlendirici: bütünlük denetimini nasıl kırar?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İki adımlı test: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0">
                <a:solidFill>
                  <a:srgbClr val="1F2D3A"/>
                </a:solidFill>
              </a:rPr>
              <a:t>Önce izlenen bir </a:t>
            </a:r>
            <a:r>
              <a:rPr sz="2000" b="1">
                <a:solidFill>
                  <a:srgbClr val="1F2D3A"/>
                </a:solidFill>
              </a:rPr>
              <a:t>dosyayı</a:t>
            </a:r>
            <a:r>
              <a:rPr sz="2000" b="0">
                <a:solidFill>
                  <a:srgbClr val="1F2D3A"/>
                </a:solidFill>
              </a:rPr>
              <a:t> değiştirir → tespit edildi mi?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0">
                <a:solidFill>
                  <a:srgbClr val="1F2D3A"/>
                </a:solidFill>
              </a:rPr>
              <a:t>Sonra </a:t>
            </a:r>
            <a:r>
              <a:rPr sz="2000" b="1">
                <a:solidFill>
                  <a:srgbClr val="1F2D3A"/>
                </a:solidFill>
              </a:rPr>
              <a:t>beklenen değerleri</a:t>
            </a:r>
            <a:r>
              <a:rPr sz="2000" b="0">
                <a:solidFill>
                  <a:srgbClr val="1F2D3A"/>
                </a:solidFill>
              </a:rPr>
              <a:t> (manifest, gömülü özet) de değiştirmeye çalışır.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828544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İkinci test geçilemiyorsa denetim yalnız </a:t>
            </a:r>
            <a:r>
              <a:rPr sz="2000" b="1">
                <a:solidFill>
                  <a:srgbClr val="1F2D3A"/>
                </a:solidFill>
              </a:rPr>
              <a:t>kazaya</a:t>
            </a:r>
            <a:r>
              <a:rPr sz="2000" b="0">
                <a:solidFill>
                  <a:srgbClr val="1F2D3A"/>
                </a:solidFill>
              </a:rPr>
              <a:t> karşı korur, </a:t>
            </a:r>
            <a:r>
              <a:rPr sz="2000" b="1">
                <a:solidFill>
                  <a:srgbClr val="1F2D3A"/>
                </a:solidFill>
              </a:rPr>
              <a:t>saldırgana</a:t>
            </a:r>
            <a:r>
              <a:rPr sz="2000" b="0">
                <a:solidFill>
                  <a:srgbClr val="1F2D3A"/>
                </a:solidFill>
              </a:rPr>
              <a:t> karşı değil.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Sabit zamanlı karşılaştırma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925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İki özeti karşılaştırırken </a:t>
            </a:r>
            <a:r>
              <a:rPr sz="2000" b="1">
                <a:solidFill>
                  <a:srgbClr val="1F2D3A"/>
                </a:solidFill>
              </a:rPr>
              <a:t>ilk farklı bayta</a:t>
            </a:r>
            <a:r>
              <a:rPr sz="2000" b="0">
                <a:solidFill>
                  <a:srgbClr val="1F2D3A"/>
                </a:solidFill>
              </a:rPr>
              <a:t> kadar mı, yoksa </a:t>
            </a:r>
            <a:r>
              <a:rPr sz="2000" b="1">
                <a:solidFill>
                  <a:srgbClr val="1F2D3A"/>
                </a:solidFill>
              </a:rPr>
              <a:t>hep aynı sürede</a:t>
            </a:r>
            <a:r>
              <a:rPr sz="2000" b="0">
                <a:solidFill>
                  <a:srgbClr val="1F2D3A"/>
                </a:solidFill>
              </a:rPr>
              <a:t> mi bakılıyor?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Süre farkı, doğru baytların </a:t>
            </a:r>
            <a:r>
              <a:rPr sz="2000" b="1">
                <a:solidFill>
                  <a:srgbClr val="1F2D3A"/>
                </a:solidFill>
              </a:rPr>
              <a:t>sayısını sızdırabilir</a:t>
            </a:r>
            <a:r>
              <a:rPr sz="2000" b="0">
                <a:solidFill>
                  <a:srgbClr val="1F2D3A"/>
                </a:solidFill>
              </a:rPr>
              <a:t> (zamanlama yan kanalı).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Bütünlük ve HMAC karşılaştırmaları </a:t>
            </a:r>
            <a:r>
              <a:rPr sz="2000" b="1">
                <a:solidFill>
                  <a:srgbClr val="1F2D3A"/>
                </a:solidFill>
              </a:rPr>
              <a:t>sabit zamanlı</a:t>
            </a:r>
            <a:r>
              <a:rPr sz="2000" b="0">
                <a:solidFill>
                  <a:srgbClr val="1F2D3A"/>
                </a:solidFill>
              </a:rPr>
              <a:t> yapılmalı.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Demo 08'in HMAC mührü bu yüzden özel bir karşılaştırma kullanır.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Neden CRC32 yeterli değil?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CRC32</a:t>
            </a:r>
            <a:r>
              <a:rPr sz="2000" b="0">
                <a:solidFill>
                  <a:srgbClr val="1F2D3A"/>
                </a:solidFill>
              </a:rPr>
              <a:t> hata tespiti için tasarlandı, </a:t>
            </a:r>
            <a:r>
              <a:rPr sz="2000" b="1">
                <a:solidFill>
                  <a:srgbClr val="1F2D3A"/>
                </a:solidFill>
              </a:rPr>
              <a:t>saldırgana karşı değil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Aynı CRC32 değerini veren </a:t>
            </a:r>
            <a:r>
              <a:rPr sz="2000" b="1">
                <a:solidFill>
                  <a:srgbClr val="1F2D3A"/>
                </a:solidFill>
              </a:rPr>
              <a:t>farklı içerik</a:t>
            </a:r>
            <a:r>
              <a:rPr sz="2000" b="0">
                <a:solidFill>
                  <a:srgbClr val="1F2D3A"/>
                </a:solidFill>
              </a:rPr>
              <a:t> bulmak kolaydır (çakışma ucuz).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Saldırgan dosyayı değiştirip CRC'yi </a:t>
            </a:r>
            <a:r>
              <a:rPr sz="2000" b="1">
                <a:solidFill>
                  <a:srgbClr val="1F2D3A"/>
                </a:solidFill>
              </a:rPr>
              <a:t>eski değere döndürebilir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Bu yüzden bütünlük denetiminde </a:t>
            </a:r>
            <a:r>
              <a:rPr sz="2000" b="1">
                <a:solidFill>
                  <a:srgbClr val="1F2D3A"/>
                </a:solidFill>
              </a:rPr>
              <a:t>kriptografik özet</a:t>
            </a:r>
            <a:r>
              <a:rPr sz="2000" b="0">
                <a:solidFill>
                  <a:srgbClr val="1F2D3A"/>
                </a:solidFill>
              </a:rPr>
              <a:t> (SHA-256) ya da </a:t>
            </a:r>
            <a:r>
              <a:rPr sz="2000" b="1">
                <a:solidFill>
                  <a:srgbClr val="1F2D3A"/>
                </a:solidFill>
              </a:rPr>
              <a:t>imza</a:t>
            </a:r>
            <a:r>
              <a:rPr sz="2000" b="0">
                <a:solidFill>
                  <a:srgbClr val="1F2D3A"/>
                </a:solidFill>
              </a:rPr>
              <a:t> gerekir.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Olaylar: içeri nasıl girdiler?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4" cy="390631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6042"/>
                <a:gridCol w="6291335"/>
                <a:gridCol w="2654157"/>
              </a:tblGrid>
              <a:tr h="434035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Olay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Giriş yolu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Hata sınıfı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434035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Morris (1988)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fingerd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 </a:t>
                      </a:r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gets()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 taşması · </a:t>
                      </a:r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sendmail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 DEBUG · </a:t>
                      </a:r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rsh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 güveni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CWE-120/242 · 489 · 287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34035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Code Red (2001)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IIS </a:t>
                      </a:r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.ida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 taşması (CVE-2001-0500)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CWE-120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434035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Slammer (2003)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SQL çözümleme hizmeti, tek UDP paketi (CVE-2002-0649)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CWE-121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34035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Blaster (2003)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RPC/DCOM taşması (CVE-2003-0352)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CWE-120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434035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Conficker (2008)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Server hizmeti yol işleme (CVE-2008-4250) · zayıf parola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CWE-119 · 521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34035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WannaCry (2017)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SMBv1 (CVE-2017-0144) · yama 2 ay önce çıkmıştı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bellek güvenliği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434035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NotPetya (2017)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güncelleme sunucusu üzerinden dağıtım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CWE-494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34036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SUNBURST (2020)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derleme ortamına arka kapı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tedarik zinciri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Olay incelemelerinin iskeleti — şema</a:t>
            </a:r>
          </a:p>
        </p:txBody>
      </p:sp>
      <p:pic>
        <p:nvPicPr>
          <p:cNvPr id="7" name="Picture 6" descr="h02-11-olay-iskeleti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59761" y="1325880"/>
            <a:ext cx="7672173" cy="3041511"/>
          </a:xfrm>
          <a:prstGeom prst="rect">
            <a:avLst/>
          </a:prstGeom>
        </p:spPr>
      </p:pic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Olaylardan programcıya dersler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2677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1">
                <a:solidFill>
                  <a:srgbClr val="1F2D3A"/>
                </a:solidFill>
              </a:rPr>
              <a:t>Sınır denetimi:</a:t>
            </a:r>
            <a:r>
              <a:rPr sz="2000" b="0">
                <a:solidFill>
                  <a:srgbClr val="1F2D3A"/>
                </a:solidFill>
              </a:rPr>
              <a:t> 1988–2008 salgınlarının çoğu tek bir arabellek taşması (1. ve 4. hafta)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1">
                <a:solidFill>
                  <a:srgbClr val="1F2D3A"/>
                </a:solidFill>
              </a:rPr>
              <a:t>Sürümde hata ayıklama kodu bırakma</a:t>
            </a:r>
            <a:r>
              <a:rPr sz="2000" b="0">
                <a:solidFill>
                  <a:srgbClr val="1F2D3A"/>
                </a:solidFill>
              </a:rPr>
              <a:t> (Morris / </a:t>
            </a:r>
            <a:r>
              <a:rPr sz="2000" b="0">
                <a:solidFill>
                  <a:srgbClr val="A1123F"/>
                </a:solidFill>
                <a:latin typeface="Consolas"/>
              </a:rPr>
              <a:t>sendmail</a:t>
            </a:r>
            <a:r>
              <a:rPr sz="2000" b="0">
                <a:solidFill>
                  <a:srgbClr val="1F2D3A"/>
                </a:solidFill>
              </a:rPr>
              <a:t> DEBUG)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1">
                <a:solidFill>
                  <a:srgbClr val="1F2D3A"/>
                </a:solidFill>
              </a:rPr>
              <a:t>Gereksiz hizmeti açma:</a:t>
            </a:r>
            <a:r>
              <a:rPr sz="2000" b="0">
                <a:solidFill>
                  <a:srgbClr val="1F2D3A"/>
                </a:solidFill>
              </a:rPr>
              <a:t> her port bir saldırı yüzeyi (Slammer, Blaster)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4. </a:t>
            </a:r>
            <a:r>
              <a:rPr sz="2000" b="1">
                <a:solidFill>
                  <a:srgbClr val="1F2D3A"/>
                </a:solidFill>
              </a:rPr>
              <a:t>İmzalı güncelleme + istemcide doğrulama</a:t>
            </a:r>
            <a:r>
              <a:rPr sz="2000" b="0">
                <a:solidFill>
                  <a:srgbClr val="1F2D3A"/>
                </a:solidFill>
              </a:rPr>
              <a:t> (NotPetya) — 3. ve 10. hafta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5. </a:t>
            </a:r>
            <a:r>
              <a:rPr sz="2000" b="1">
                <a:solidFill>
                  <a:srgbClr val="1F2D3A"/>
                </a:solidFill>
              </a:rPr>
              <a:t>Derleme ortamı ve tedarik zinciri güvenliği</a:t>
            </a:r>
            <a:r>
              <a:rPr sz="2000" b="0">
                <a:solidFill>
                  <a:srgbClr val="1F2D3A"/>
                </a:solidFill>
              </a:rPr>
              <a:t> (SUNBURST) — 5. hafta SBOM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6. </a:t>
            </a:r>
            <a:r>
              <a:rPr sz="2000" b="1">
                <a:solidFill>
                  <a:srgbClr val="1F2D3A"/>
                </a:solidFill>
              </a:rPr>
              <a:t>Güncelleme mekanizması güvenlik özelliğidir:</a:t>
            </a:r>
            <a:r>
              <a:rPr sz="2000" b="0">
                <a:solidFill>
                  <a:srgbClr val="1F2D3A"/>
                </a:solidFill>
              </a:rPr>
              <a:t> yama gecikmesi = açık kapı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Stuxnet (2010): devlet düzeyinde saldırı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2057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1F2D3A"/>
                </a:solidFill>
              </a:rPr>
              <a:t>Hedef: endüstriyel denetleyiciler (</a:t>
            </a:r>
            <a:r>
              <a:rPr sz="1800" b="1">
                <a:solidFill>
                  <a:srgbClr val="1F2D3A"/>
                </a:solidFill>
              </a:rPr>
              <a:t>PLC</a:t>
            </a:r>
            <a:r>
              <a:rPr sz="1800" b="0">
                <a:solidFill>
                  <a:srgbClr val="1F2D3A"/>
                </a:solidFill>
              </a:rPr>
              <a:t>) — bir uranyum zenginleştirme tesisi.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1F2D3A"/>
                </a:solidFill>
              </a:rPr>
              <a:t>Giriş: bir </a:t>
            </a:r>
            <a:r>
              <a:rPr sz="1800" b="1">
                <a:solidFill>
                  <a:srgbClr val="1F2D3A"/>
                </a:solidFill>
              </a:rPr>
              <a:t>kısayol (.lnk)</a:t>
            </a:r>
            <a:r>
              <a:rPr sz="1800" b="0">
                <a:solidFill>
                  <a:srgbClr val="1F2D3A"/>
                </a:solidFill>
              </a:rPr>
              <a:t> dosyasının görüntülenmesiyle kod yükleme + </a:t>
            </a:r>
            <a:r>
              <a:rPr sz="1800" b="1">
                <a:solidFill>
                  <a:srgbClr val="1F2D3A"/>
                </a:solidFill>
              </a:rPr>
              <a:t>dört</a:t>
            </a:r>
            <a:r>
              <a:rPr sz="1800" b="0">
                <a:solidFill>
                  <a:srgbClr val="1F2D3A"/>
                </a:solidFill>
              </a:rPr>
              <a:t> sıfırıncı gün açığı.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1">
                <a:solidFill>
                  <a:srgbClr val="1F2D3A"/>
                </a:solidFill>
              </a:rPr>
              <a:t>Çalınmış sürücü imzaları</a:t>
            </a:r>
            <a:r>
              <a:rPr sz="1800" b="0">
                <a:solidFill>
                  <a:srgbClr val="1F2D3A"/>
                </a:solidFill>
              </a:rPr>
              <a:t> kullanıldı — imzalı olduğu için güvenilir göründü.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1F2D3A"/>
                </a:solidFill>
              </a:rPr>
              <a:t>Programcıya ders: görüntüleme sırasında kod çalıştırmayın; imza anahtarlarını donanımda (HSM) koruyun.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Eğilim: 1988–2008 vs 2017 sonrası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25857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1988–2008:</a:t>
            </a:r>
            <a:r>
              <a:rPr sz="2000" b="0">
                <a:solidFill>
                  <a:srgbClr val="1F2D3A"/>
                </a:solidFill>
              </a:rPr>
              <a:t> salgınların çoğu </a:t>
            </a:r>
            <a:r>
              <a:rPr sz="2000" b="1">
                <a:solidFill>
                  <a:srgbClr val="1F2D3A"/>
                </a:solidFill>
              </a:rPr>
              <a:t>tek bir arabellek taşmasıyla</a:t>
            </a:r>
            <a:r>
              <a:rPr sz="2000" b="0">
                <a:solidFill>
                  <a:srgbClr val="1F2D3A"/>
                </a:solidFill>
              </a:rPr>
              <a:t> yayıldı (Morris → Conficker).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2017 sonrası:</a:t>
            </a:r>
            <a:r>
              <a:rPr sz="2000" b="0">
                <a:solidFill>
                  <a:srgbClr val="1F2D3A"/>
                </a:solidFill>
              </a:rPr>
              <a:t> giriş kapısı </a:t>
            </a:r>
            <a:r>
              <a:rPr sz="2000" b="1">
                <a:solidFill>
                  <a:srgbClr val="1F2D3A"/>
                </a:solidFill>
              </a:rPr>
              <a:t>güncelleme ve derleme süreçlerine</a:t>
            </a:r>
            <a:r>
              <a:rPr sz="2000" b="0">
                <a:solidFill>
                  <a:srgbClr val="1F2D3A"/>
                </a:solidFill>
              </a:rPr>
              <a:t> kaydı (NotPetya, SUNBURST).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Saldırgan artık kodu kırmak yerine, kodun </a:t>
            </a:r>
            <a:r>
              <a:rPr sz="2000" b="1">
                <a:solidFill>
                  <a:srgbClr val="1F2D3A"/>
                </a:solidFill>
              </a:rPr>
              <a:t>size ulaştığı yolu</a:t>
            </a:r>
            <a:r>
              <a:rPr sz="2000" b="0">
                <a:solidFill>
                  <a:srgbClr val="1F2D3A"/>
                </a:solidFill>
              </a:rPr>
              <a:t> ele geçiriyor.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İki savunma ucu: sınır denetimi (1., 4. hafta) + imzalı güncelleme/tedarik zinciri (3., 5., 10. hafta).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WannaCry: üç ders bir olayda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3" cy="164591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04637"/>
                <a:gridCol w="6579013"/>
                <a:gridCol w="2727883"/>
              </a:tblGrid>
              <a:tr h="411479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Konu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WannaCry'da ne oldu?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Bu haftaki bağlantı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411479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1F2D3A"/>
                          </a:solidFill>
                        </a:rPr>
                        <a:t>Yayılma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SMB açığı (EternalBlue) ile kullanıcı hiçbir şey yapmadan solucan gibi yayıldı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Solucan tanımı, salgın modeli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11479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1F2D3A"/>
                          </a:solidFill>
                        </a:rPr>
                        <a:t>Yük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Dosyaları şifreleyip fidye istedi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Entropi sıçraması (Demo 02)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411482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1F2D3A"/>
                          </a:solidFill>
                        </a:rPr>
                        <a:t>Yama boşluğu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Yama saldırıdan </a:t>
                      </a:r>
                      <a:r>
                        <a:rPr sz="1296" b="1">
                          <a:solidFill>
                            <a:srgbClr val="1F2D3A"/>
                          </a:solidFill>
                        </a:rPr>
                        <a:t>haftalar önce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 çıkmıştı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Güncelleme = güvenlik özelliği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0080" y="3081528"/>
            <a:ext cx="10911535" cy="40690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0">
                <a:solidFill>
                  <a:srgbClr val="1F2D3A"/>
                </a:solidFill>
              </a:rPr>
              <a:t>Tek bir olay, bu haftanın üç ana konusunu birleştiriyor.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Yama gecikmesi bir güvenlik açığıdır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WannaCry'ın açığının yaması, saldırıdan </a:t>
            </a:r>
            <a:r>
              <a:rPr sz="2000" b="1">
                <a:solidFill>
                  <a:srgbClr val="1F2D3A"/>
                </a:solidFill>
              </a:rPr>
              <a:t>iki ay önce</a:t>
            </a:r>
            <a:r>
              <a:rPr sz="2000" b="0">
                <a:solidFill>
                  <a:srgbClr val="1F2D3A"/>
                </a:solidFill>
              </a:rPr>
              <a:t> yayımlanmıştı.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Slammer'ınki de </a:t>
            </a:r>
            <a:r>
              <a:rPr sz="2000" b="1">
                <a:solidFill>
                  <a:srgbClr val="1F2D3A"/>
                </a:solidFill>
              </a:rPr>
              <a:t>aylar önceden</a:t>
            </a:r>
            <a:r>
              <a:rPr sz="2000" b="0">
                <a:solidFill>
                  <a:srgbClr val="1F2D3A"/>
                </a:solidFill>
              </a:rPr>
              <a:t> vardı.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Sonuç: güncelleme mekanizması </a:t>
            </a:r>
            <a:r>
              <a:rPr sz="2000" b="1">
                <a:solidFill>
                  <a:srgbClr val="1F2D3A"/>
                </a:solidFill>
              </a:rPr>
              <a:t>güvenlik özelliğinin bir parçasıdır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Güncellemesi zor/yavaş bir ürün, düzeltilmiş hataları bile </a:t>
            </a:r>
            <a:r>
              <a:rPr sz="2000" b="1">
                <a:solidFill>
                  <a:srgbClr val="1F2D3A"/>
                </a:solidFill>
              </a:rPr>
              <a:t>aylarca açık tutar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Tartışma: makrolar neden varsayılan kapalı?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100327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Soru:</a:t>
            </a:r>
            <a:r>
              <a:rPr sz="2000" b="0">
                <a:solidFill>
                  <a:srgbClr val="1F2D3A"/>
                </a:solidFill>
              </a:rPr>
              <a:t> Office, 2022'den beri internetten gelen belgelerdeki makroları varsayılan engelliyor. Bu, Melissa ve ILOVEYOU gibi eski salgınların hangi zayıflığını kapatıyor?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535936"/>
            <a:ext cx="10911535" cy="1100327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Cevap:</a:t>
            </a:r>
            <a:r>
              <a:rPr sz="2000" b="0">
                <a:solidFill>
                  <a:srgbClr val="1F2D3A"/>
                </a:solidFill>
              </a:rPr>
              <a:t> Kullanıcının "makroları etkinleştir" tuzağına düşmesine dayanan yayılma yolunu kapatıyor. </a:t>
            </a:r>
            <a:r>
              <a:rPr sz="2000" b="1">
                <a:solidFill>
                  <a:srgbClr val="1F2D3A"/>
                </a:solidFill>
              </a:rPr>
              <a:t>Varsayılan ayar</a:t>
            </a:r>
            <a:r>
              <a:rPr sz="2000" b="0">
                <a:solidFill>
                  <a:srgbClr val="1F2D3A"/>
                </a:solidFill>
              </a:rPr>
              <a:t>, kullanıcı eğitiminden daha güçlüdür: eğitim her kullanıcıda işe yaramayabilir, ama güvenli varsayılan </a:t>
            </a:r>
            <a:r>
              <a:rPr sz="2000" b="1">
                <a:solidFill>
                  <a:srgbClr val="1F2D3A"/>
                </a:solidFill>
              </a:rPr>
              <a:t>herkesi</a:t>
            </a:r>
            <a:r>
              <a:rPr sz="2000" b="0">
                <a:solidFill>
                  <a:srgbClr val="1F2D3A"/>
                </a:solidFill>
              </a:rPr>
              <a:t> aynı anda korur.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Tedarik zinciri: SUNBURST'ten NotPetya'ya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25857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NotPetya (2017):</a:t>
            </a:r>
            <a:r>
              <a:rPr sz="2000" b="0">
                <a:solidFill>
                  <a:srgbClr val="1F2D3A"/>
                </a:solidFill>
              </a:rPr>
              <a:t> bir muhasebe yazılımının güncelleme sunucusu ele geçirildi, on binlerce makineye yayıldı.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SUNBURST (2020):</a:t>
            </a:r>
            <a:r>
              <a:rPr sz="2000" b="0">
                <a:solidFill>
                  <a:srgbClr val="1F2D3A"/>
                </a:solidFill>
              </a:rPr>
              <a:t> bir izleme yazılımının </a:t>
            </a:r>
            <a:r>
              <a:rPr sz="2000" b="1">
                <a:solidFill>
                  <a:srgbClr val="1F2D3A"/>
                </a:solidFill>
              </a:rPr>
              <a:t>derleme ortamına</a:t>
            </a:r>
            <a:r>
              <a:rPr sz="2000" b="0">
                <a:solidFill>
                  <a:srgbClr val="1F2D3A"/>
                </a:solidFill>
              </a:rPr>
              <a:t> sızılıp imzalı kütüphaneye arka kapı eklendi.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Ortak nokta: saldırgan </a:t>
            </a:r>
            <a:r>
              <a:rPr sz="2000" b="1">
                <a:solidFill>
                  <a:srgbClr val="1F2D3A"/>
                </a:solidFill>
              </a:rPr>
              <a:t>sizin güvendiğiniz kaynağı</a:t>
            </a:r>
            <a:r>
              <a:rPr sz="2000" b="0">
                <a:solidFill>
                  <a:srgbClr val="1F2D3A"/>
                </a:solidFill>
              </a:rPr>
              <a:t> hedef alıyor, sizi değil.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Savunma: güncellemeleri imzala + istemcide doğrula, derleme ortamını koru (5. hafta SBOM).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Olaylardan çıkan tek satırlık dersler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4" cy="229331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3386"/>
                <a:gridCol w="7708148"/>
              </a:tblGrid>
              <a:tr h="382219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Olay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Programcı ne yapmalıydı?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82219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Morris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Sınır denetimli okuma, hata ayıklama kodunu sürümde bırakmama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82219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Code Red / Slammer / Blaster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Ağ girdisinin uzunluğunu doğrulama, gereksiz hizmeti kapatma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82219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WannaCry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Ayrıştırıcıda sınır denetimi, eski protokolü kapatma, yamayı geciktirmeme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82219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NotPetya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Güncellemeleri imzalama ve istemcide doğrulama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82220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SUNBURST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Derleme ortamını koruma, tekrarlanabilir derleme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Yanılgı: "Her zararlı bir virüstür"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0690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1">
                <a:solidFill>
                  <a:srgbClr val="1F2D3A"/>
                </a:solidFill>
              </a:rPr>
              <a:t>Yanılgı:</a:t>
            </a:r>
            <a:r>
              <a:rPr sz="1800" b="0">
                <a:solidFill>
                  <a:srgbClr val="1F2D3A"/>
                </a:solidFill>
              </a:rPr>
              <a:t> Bulaşan her şeye "virüs" denir.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42515"/>
            <a:ext cx="10911535" cy="70408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1">
                <a:solidFill>
                  <a:srgbClr val="1F2D3A"/>
                </a:solidFill>
              </a:rPr>
              <a:t>Gerçek:</a:t>
            </a:r>
            <a:r>
              <a:rPr sz="1800" b="0">
                <a:solidFill>
                  <a:srgbClr val="1F2D3A"/>
                </a:solidFill>
              </a:rPr>
              <a:t> Virüs yalnız </a:t>
            </a:r>
            <a:r>
              <a:rPr sz="1800" b="1">
                <a:solidFill>
                  <a:srgbClr val="1F2D3A"/>
                </a:solidFill>
              </a:rPr>
              <a:t>bir türdür</a:t>
            </a:r>
            <a:r>
              <a:rPr sz="1800" b="0">
                <a:solidFill>
                  <a:srgbClr val="1F2D3A"/>
                </a:solidFill>
              </a:rPr>
              <a:t> — taşıyıcıya iliştirilir, taşıyıcı çalışınca çalışır. Solucan taşıyıcı gerektirmez; truva atı kendini kopyalamaz.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656331"/>
            <a:ext cx="10911535" cy="70408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0">
                <a:solidFill>
                  <a:srgbClr val="1F2D3A"/>
                </a:solidFill>
              </a:rPr>
              <a:t>Türü yanlış koymak, yanlış savunmayı seçtirir: solucana karşı </a:t>
            </a:r>
            <a:r>
              <a:rPr sz="1800" b="1">
                <a:solidFill>
                  <a:srgbClr val="1F2D3A"/>
                </a:solidFill>
              </a:rPr>
              <a:t>ağ yaması</a:t>
            </a:r>
            <a:r>
              <a:rPr sz="1800" b="0">
                <a:solidFill>
                  <a:srgbClr val="1F2D3A"/>
                </a:solidFill>
              </a:rPr>
              <a:t> gerekirken truva atına karşı </a:t>
            </a:r>
            <a:r>
              <a:rPr sz="1800" b="1">
                <a:solidFill>
                  <a:srgbClr val="1F2D3A"/>
                </a:solidFill>
              </a:rPr>
              <a:t>kullanıcı eğitimi</a:t>
            </a:r>
            <a:r>
              <a:rPr sz="1800" b="0">
                <a:solidFill>
                  <a:srgbClr val="1F2D3A"/>
                </a:solidFill>
              </a:rPr>
              <a:t> gerekir.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Yanılgı: "İmza veritabanım güncel, güvendeyim"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Yanılgı:</a:t>
            </a:r>
            <a:r>
              <a:rPr sz="2000" b="0">
                <a:solidFill>
                  <a:srgbClr val="1F2D3A"/>
                </a:solidFill>
              </a:rPr>
              <a:t> Güncel imza veritabanı yeterli korumadır.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Gerçek:</a:t>
            </a:r>
            <a:r>
              <a:rPr sz="2000" b="0">
                <a:solidFill>
                  <a:srgbClr val="1F2D3A"/>
                </a:solidFill>
              </a:rPr>
              <a:t> İmza yalnız </a:t>
            </a:r>
            <a:r>
              <a:rPr sz="2000" b="1">
                <a:solidFill>
                  <a:srgbClr val="1F2D3A"/>
                </a:solidFill>
              </a:rPr>
              <a:t>bilineni</a:t>
            </a:r>
            <a:r>
              <a:rPr sz="2000" b="0">
                <a:solidFill>
                  <a:srgbClr val="1F2D3A"/>
                </a:solidFill>
              </a:rPr>
              <a:t> yakalar. Tek baytlık değişiklik özet imzasını, çözücüsü değişen polimorfik kopya </a:t>
            </a:r>
            <a:r>
              <a:rPr sz="2000" b="1">
                <a:solidFill>
                  <a:srgbClr val="1F2D3A"/>
                </a:solidFill>
              </a:rPr>
              <a:t>desen</a:t>
            </a:r>
            <a:r>
              <a:rPr sz="2000" b="0">
                <a:solidFill>
                  <a:srgbClr val="1F2D3A"/>
                </a:solidFill>
              </a:rPr>
              <a:t> imzasını atlatır (Demo 01).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755392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İmza, savunmanın </a:t>
            </a:r>
            <a:r>
              <a:rPr sz="2000" b="1">
                <a:solidFill>
                  <a:srgbClr val="1F2D3A"/>
                </a:solidFill>
              </a:rPr>
              <a:t>başlangıcıdır</a:t>
            </a:r>
            <a:r>
              <a:rPr sz="2000" b="0">
                <a:solidFill>
                  <a:srgbClr val="1F2D3A"/>
                </a:solidFill>
              </a:rPr>
              <a:t>, bitmez.</a:t>
            </a: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Yanılgı: "Yüksek entropi = zararlı"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Yanılgı:</a:t>
            </a:r>
            <a:r>
              <a:rPr sz="2000" b="0">
                <a:solidFill>
                  <a:srgbClr val="1F2D3A"/>
                </a:solidFill>
              </a:rPr>
              <a:t> Yüksek entropili her dosya şüphelidir.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Gerçek:</a:t>
            </a:r>
            <a:r>
              <a:rPr sz="2000" b="0">
                <a:solidFill>
                  <a:srgbClr val="1F2D3A"/>
                </a:solidFill>
              </a:rPr>
              <a:t> Şifreli, sıkıştırılmış ve rastgele veri hep </a:t>
            </a:r>
            <a:r>
              <a:rPr sz="2000" b="1">
                <a:solidFill>
                  <a:srgbClr val="1F2D3A"/>
                </a:solidFill>
              </a:rPr>
              <a:t>8'e yakındır</a:t>
            </a:r>
            <a:r>
              <a:rPr sz="2000" b="0">
                <a:solidFill>
                  <a:srgbClr val="1F2D3A"/>
                </a:solidFill>
              </a:rPr>
              <a:t>; </a:t>
            </a:r>
            <a:r>
              <a:rPr sz="2000" b="0">
                <a:solidFill>
                  <a:srgbClr val="A1123F"/>
                </a:solidFill>
                <a:latin typeface="Consolas"/>
              </a:rPr>
              <a:t>.zip</a:t>
            </a:r>
            <a:r>
              <a:rPr sz="2000" b="0">
                <a:solidFill>
                  <a:srgbClr val="1F2D3A"/>
                </a:solidFill>
              </a:rPr>
              <a:t>, </a:t>
            </a:r>
            <a:r>
              <a:rPr sz="2000" b="0">
                <a:solidFill>
                  <a:srgbClr val="A1123F"/>
                </a:solidFill>
                <a:latin typeface="Consolas"/>
              </a:rPr>
              <a:t>.png</a:t>
            </a:r>
            <a:r>
              <a:rPr sz="2000" b="0">
                <a:solidFill>
                  <a:srgbClr val="1F2D3A"/>
                </a:solidFill>
              </a:rPr>
              <a:t>, şifreli yedek de öyle.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755392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Entropi yalnız </a:t>
            </a:r>
            <a:r>
              <a:rPr sz="2000" b="1">
                <a:solidFill>
                  <a:srgbClr val="1F2D3A"/>
                </a:solidFill>
              </a:rPr>
              <a:t>beklenmedik yerde</a:t>
            </a:r>
            <a:r>
              <a:rPr sz="2000" b="0">
                <a:solidFill>
                  <a:srgbClr val="1F2D3A"/>
                </a:solidFill>
              </a:rPr>
              <a:t> anlamlı bir ipucudur (Demo 02).</a:t>
            </a: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Yanılgı: kum havuzu ve emülasyonun sınırı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"Kum havuzunda temiz çıktı, o hâlde temiz."</a:t>
            </a:r>
            <a:r>
              <a:rPr sz="2000" b="0">
                <a:solidFill>
                  <a:srgbClr val="1F2D3A"/>
                </a:solidFill>
              </a:rPr>
              <a:t> Zararlı sanal ortamı </a:t>
            </a:r>
            <a:r>
              <a:rPr sz="2000" b="1">
                <a:solidFill>
                  <a:srgbClr val="1F2D3A"/>
                </a:solidFill>
              </a:rPr>
              <a:t>sezip uyuyabilir</a:t>
            </a:r>
            <a:r>
              <a:rPr sz="2000" b="0">
                <a:solidFill>
                  <a:srgbClr val="1F2D3A"/>
                </a:solidFill>
              </a:rPr>
              <a:t>; sonuç "bu koşullarda bir şey yapmadı" demektir, "zararsızdır" değil.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205736"/>
            <a:ext cx="10911535" cy="1100327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"Emülasyon metamorfik zararlıyı da çözer."</a:t>
            </a:r>
            <a:r>
              <a:rPr sz="2000" b="0">
                <a:solidFill>
                  <a:srgbClr val="1F2D3A"/>
                </a:solidFill>
              </a:rPr>
              <a:t> Emülasyon şifreli gövdenin çözüldüğü anı yakalar; metamorfik kodda </a:t>
            </a:r>
            <a:r>
              <a:rPr sz="2000" b="1">
                <a:solidFill>
                  <a:srgbClr val="1F2D3A"/>
                </a:solidFill>
              </a:rPr>
              <a:t>sabit bir gövde yoktur</a:t>
            </a:r>
            <a:r>
              <a:rPr sz="2000" b="0">
                <a:solidFill>
                  <a:srgbClr val="1F2D3A"/>
                </a:solidFill>
              </a:rPr>
              <a:t>. Burada davranış tabanlı tespit gerekir.</a:t>
            </a:r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Yanılgı: "%100 tespit eden ürün alırız"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Yanılgı:</a:t>
            </a:r>
            <a:r>
              <a:rPr sz="2000" b="0">
                <a:solidFill>
                  <a:srgbClr val="1F2D3A"/>
                </a:solidFill>
              </a:rPr>
              <a:t> Doğru ürünü seçersek hiçbir zararlı kaçmaz.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Gerçek:</a:t>
            </a:r>
            <a:r>
              <a:rPr sz="2000" b="0">
                <a:solidFill>
                  <a:srgbClr val="1F2D3A"/>
                </a:solidFill>
              </a:rPr>
              <a:t> Cohen'in (1984) kanıtladığı gibi, "bu program virüs mü?" sorusunu </a:t>
            </a:r>
            <a:r>
              <a:rPr sz="2000" b="1">
                <a:solidFill>
                  <a:srgbClr val="1F2D3A"/>
                </a:solidFill>
              </a:rPr>
              <a:t>her durumda doğru</a:t>
            </a:r>
            <a:r>
              <a:rPr sz="2000" b="0">
                <a:solidFill>
                  <a:srgbClr val="1F2D3A"/>
                </a:solidFill>
              </a:rPr>
              <a:t> yanıtlayan genel bir algoritma </a:t>
            </a:r>
            <a:r>
              <a:rPr sz="2000" b="1">
                <a:solidFill>
                  <a:srgbClr val="1F2D3A"/>
                </a:solidFill>
              </a:rPr>
              <a:t>yoktur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755392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Her tespit yöntemi yanlış pozitif ile yanlış negatif arasında bir </a:t>
            </a:r>
            <a:r>
              <a:rPr sz="2000" b="1">
                <a:solidFill>
                  <a:srgbClr val="1F2D3A"/>
                </a:solidFill>
              </a:rPr>
              <a:t>denge</a:t>
            </a:r>
            <a:r>
              <a:rPr sz="2000" b="0">
                <a:solidFill>
                  <a:srgbClr val="1F2D3A"/>
                </a:solidFill>
              </a:rPr>
              <a:t> kurar.</a:t>
            </a:r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Yanılgı: "Bütünlük izlemesini düz SHA-256 listesiyle yaptım"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Yanılgı:</a:t>
            </a:r>
            <a:r>
              <a:rPr sz="2000" b="0">
                <a:solidFill>
                  <a:srgbClr val="1F2D3A"/>
                </a:solidFill>
              </a:rPr>
              <a:t> Bir dosya listesi + özetleri yeterli bütünlük denetimidir.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Gerçek:</a:t>
            </a:r>
            <a:r>
              <a:rPr sz="2000" b="0">
                <a:solidFill>
                  <a:srgbClr val="1F2D3A"/>
                </a:solidFill>
              </a:rPr>
              <a:t> Saldırgan dosyayı değiştirdiği gibi </a:t>
            </a:r>
            <a:r>
              <a:rPr sz="2000" b="1">
                <a:solidFill>
                  <a:srgbClr val="1F2D3A"/>
                </a:solidFill>
              </a:rPr>
              <a:t>listeyi de</a:t>
            </a:r>
            <a:r>
              <a:rPr sz="2000" b="0">
                <a:solidFill>
                  <a:srgbClr val="1F2D3A"/>
                </a:solidFill>
              </a:rPr>
              <a:t> güncelleyebilir.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425192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Beklenen değerler </a:t>
            </a:r>
            <a:r>
              <a:rPr sz="2000" b="1">
                <a:solidFill>
                  <a:srgbClr val="1F2D3A"/>
                </a:solidFill>
              </a:rPr>
              <a:t>anahtarlı</a:t>
            </a:r>
            <a:r>
              <a:rPr sz="2000" b="0">
                <a:solidFill>
                  <a:srgbClr val="1F2D3A"/>
                </a:solidFill>
              </a:rPr>
              <a:t> (HMAC) ya da </a:t>
            </a:r>
            <a:r>
              <a:rPr sz="2000" b="1">
                <a:solidFill>
                  <a:srgbClr val="1F2D3A"/>
                </a:solidFill>
              </a:rPr>
              <a:t>imzalı</a:t>
            </a:r>
            <a:r>
              <a:rPr sz="2000" b="0">
                <a:solidFill>
                  <a:srgbClr val="1F2D3A"/>
                </a:solidFill>
              </a:rPr>
              <a:t> olmalı ve saldırganın erişemeyeceği yerde durmalıdır (Demo 08).</a:t>
            </a:r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Yanılgı: "Yama yayımlandı, iş bitti"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Yanılgı:</a:t>
            </a:r>
            <a:r>
              <a:rPr sz="2000" b="0">
                <a:solidFill>
                  <a:srgbClr val="1F2D3A"/>
                </a:solidFill>
              </a:rPr>
              <a:t> Yama çıktığı an risk biter.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Gerçek:</a:t>
            </a:r>
            <a:r>
              <a:rPr sz="2000" b="0">
                <a:solidFill>
                  <a:srgbClr val="1F2D3A"/>
                </a:solidFill>
              </a:rPr>
              <a:t> WannaCry'ın kullandığı açığın yaması saldırıdan </a:t>
            </a:r>
            <a:r>
              <a:rPr sz="2000" b="1">
                <a:solidFill>
                  <a:srgbClr val="1F2D3A"/>
                </a:solidFill>
              </a:rPr>
              <a:t>yaklaşık iki ay önce</a:t>
            </a:r>
            <a:r>
              <a:rPr sz="2000" b="0">
                <a:solidFill>
                  <a:srgbClr val="1F2D3A"/>
                </a:solidFill>
              </a:rPr>
              <a:t> çıkmıştı.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755392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Yama </a:t>
            </a:r>
            <a:r>
              <a:rPr sz="2000" b="1">
                <a:solidFill>
                  <a:srgbClr val="1F2D3A"/>
                </a:solidFill>
              </a:rPr>
              <a:t>uygulanana kadar</a:t>
            </a:r>
            <a:r>
              <a:rPr sz="2000" b="0">
                <a:solidFill>
                  <a:srgbClr val="1F2D3A"/>
                </a:solidFill>
              </a:rPr>
              <a:t> risk sürer; yayımlanan yama saldırgana da </a:t>
            </a:r>
            <a:r>
              <a:rPr sz="2000" b="1">
                <a:solidFill>
                  <a:srgbClr val="1F2D3A"/>
                </a:solidFill>
              </a:rPr>
              <a:t>yol gösterir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Kontrol listesi — zararlı yazılım ve tespit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3931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1F2D3A"/>
                </a:solidFill>
              </a:rPr>
              <a:t> </a:t>
            </a:r>
            <a:r>
              <a:rPr sz="1800" b="1">
                <a:solidFill>
                  <a:srgbClr val="1F2D3A"/>
                </a:solidFill>
              </a:rPr>
              <a:t>yayılma</a:t>
            </a:r>
            <a:r>
              <a:rPr sz="1800" b="0">
                <a:solidFill>
                  <a:srgbClr val="1F2D3A"/>
                </a:solidFill>
              </a:rPr>
              <a:t> ve </a:t>
            </a:r>
            <a:r>
              <a:rPr sz="1800" b="1">
                <a:solidFill>
                  <a:srgbClr val="1F2D3A"/>
                </a:solidFill>
              </a:rPr>
              <a:t>amaç</a:t>
            </a:r>
            <a:r>
              <a:rPr sz="1800" b="0">
                <a:solidFill>
                  <a:srgbClr val="1F2D3A"/>
                </a:solidFill>
              </a:rPr>
              <a:t> ile ayırabiliyorum.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1F2D3A"/>
                </a:solidFill>
              </a:rPr>
              <a:t> 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1F2D3A"/>
                </a:solidFill>
              </a:rPr>
              <a:t> 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1F2D3A"/>
                </a:solidFill>
              </a:rPr>
              <a:t> </a:t>
            </a:r>
            <a:r>
              <a:rPr sz="1800" b="1">
                <a:solidFill>
                  <a:srgbClr val="1F2D3A"/>
                </a:solidFill>
              </a:rPr>
              <a:t>güçlü/zayıf</a:t>
            </a:r>
            <a:r>
              <a:rPr sz="1800" b="0">
                <a:solidFill>
                  <a:srgbClr val="1F2D3A"/>
                </a:solidFill>
              </a:rPr>
              <a:t> yanını söyleyebiliyorum.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1F2D3A"/>
                </a:solidFill>
              </a:rPr>
              <a:t> 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1F2D3A"/>
                </a:solidFill>
              </a:rPr>
              <a:t> </a:t>
            </a:r>
            <a:r>
              <a:rPr sz="1800" b="1">
                <a:solidFill>
                  <a:srgbClr val="1F2D3A"/>
                </a:solidFill>
              </a:rPr>
              <a:t>birer dersini</a:t>
            </a:r>
            <a:r>
              <a:rPr sz="1800" b="0">
                <a:solidFill>
                  <a:srgbClr val="1F2D3A"/>
                </a:solidFill>
              </a:rPr>
              <a:t> söyleyebiliyorum.</a:t>
            </a:r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90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Saldırı ağaçları</a:t>
            </a:r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Saldırı ağacı = niceliksel tehdit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07061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1700" b="1">
                <a:solidFill>
                  <a:srgbClr val="006D77"/>
                </a:solidFill>
              </a:rPr>
              <a:t>• </a:t>
            </a:r>
            <a:r>
              <a:rPr sz="1700" b="0">
                <a:solidFill>
                  <a:srgbClr val="1F2D3A"/>
                </a:solidFill>
              </a:rPr>
              <a:t>Kök: saldırganın </a:t>
            </a:r>
            <a:r>
              <a:rPr sz="1700" b="1">
                <a:solidFill>
                  <a:srgbClr val="1F2D3A"/>
                </a:solidFill>
              </a:rPr>
              <a:t>hedefi</a:t>
            </a:r>
            <a:r>
              <a:rPr sz="1700" b="0">
                <a:solidFill>
                  <a:srgbClr val="1F2D3A"/>
                </a:solidFill>
              </a:rPr>
              <a:t> · Dallar: ona ulaşma yolları.</a:t>
            </a:r>
          </a:p>
          <a:p>
            <a:pPr>
              <a:spcAft>
                <a:spcPts val="300"/>
              </a:spcAft>
            </a:pPr>
            <a:r>
              <a:rPr sz="1700" b="1">
                <a:solidFill>
                  <a:srgbClr val="006D77"/>
                </a:solidFill>
              </a:rPr>
              <a:t>• </a:t>
            </a:r>
            <a:r>
              <a:rPr sz="1700" b="1">
                <a:solidFill>
                  <a:srgbClr val="1F2D3A"/>
                </a:solidFill>
              </a:rPr>
              <a:t>VEYA:</a:t>
            </a:r>
            <a:r>
              <a:rPr sz="1700" b="0">
                <a:solidFill>
                  <a:srgbClr val="1F2D3A"/>
                </a:solidFill>
              </a:rPr>
              <a:t> en ucuz çocuk yeter · </a:t>
            </a:r>
            <a:r>
              <a:rPr sz="1700" b="1">
                <a:solidFill>
                  <a:srgbClr val="1F2D3A"/>
                </a:solidFill>
              </a:rPr>
              <a:t>VE:</a:t>
            </a:r>
            <a:r>
              <a:rPr sz="1700" b="0">
                <a:solidFill>
                  <a:srgbClr val="1F2D3A"/>
                </a:solidFill>
              </a:rPr>
              <a:t> çocukların toplamı gerekir.</a:t>
            </a:r>
          </a:p>
          <a:p>
            <a:pPr>
              <a:spcAft>
                <a:spcPts val="300"/>
              </a:spcAft>
            </a:pPr>
            <a:r>
              <a:rPr sz="1700" b="1">
                <a:solidFill>
                  <a:srgbClr val="006D77"/>
                </a:solidFill>
              </a:rPr>
              <a:t>• </a:t>
            </a:r>
            <a:r>
              <a:rPr sz="1700" b="0">
                <a:solidFill>
                  <a:srgbClr val="1F2D3A"/>
                </a:solidFill>
              </a:rPr>
              <a:t>Yapraklara </a:t>
            </a:r>
            <a:r>
              <a:rPr sz="1700" b="1">
                <a:solidFill>
                  <a:srgbClr val="1F2D3A"/>
                </a:solidFill>
              </a:rPr>
              <a:t>maliyet</a:t>
            </a:r>
            <a:r>
              <a:rPr sz="1700" b="0">
                <a:solidFill>
                  <a:srgbClr val="1F2D3A"/>
                </a:solidFill>
              </a:rPr>
              <a:t> yazarsak en ucuz saldırıyı buluruz.</a:t>
            </a:r>
          </a:p>
        </p:txBody>
      </p:sp>
      <p:pic>
        <p:nvPicPr>
          <p:cNvPr id="8" name="Picture 7" descr="h02-07-saldiri-agaci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59761" y="2506218"/>
            <a:ext cx="7672173" cy="3637035"/>
          </a:xfrm>
          <a:prstGeom prst="rect">
            <a:avLst/>
          </a:prstGeom>
        </p:spPr>
      </p:pic>
    </p:spTree>
  </p:cSld>
  <p:clrMapOvr>
    <a:masterClrMapping/>
  </p:clrMapOvr>
</p:sld>
</file>

<file path=ppt/slides/slide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Saldırı ağacı kurma adımları — şema</a:t>
            </a:r>
          </a:p>
        </p:txBody>
      </p:sp>
      <p:pic>
        <p:nvPicPr>
          <p:cNvPr id="7" name="Picture 6" descr="h02-12-saldiri-agaci-kurulu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59761" y="1325880"/>
            <a:ext cx="7672173" cy="3685158"/>
          </a:xfrm>
          <a:prstGeom prst="rect">
            <a:avLst/>
          </a:prstGeom>
        </p:spPr>
      </p:pic>
    </p:spTree>
  </p:cSld>
  <p:clrMapOvr>
    <a:masterClrMapping/>
  </p:clrMapOvr>
</p:sld>
</file>

<file path=ppt/slides/slide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Demo 04 — Savunma maliyeti artırır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A1123F"/>
                </a:solidFill>
                <a:latin typeface="Consolas"/>
              </a:rPr>
              <a:t>code/week-02/04-saldiri-agaci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875536"/>
            <a:ext cx="10911535" cy="652272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ONCE:   EN UCUZ SALDIRI = 2  (bellekten oku)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SONRA:  EN UCUZ SALDIRI = 8  (RASP eklendi)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637536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"Bellekten oku" dalına </a:t>
            </a:r>
            <a:r>
              <a:rPr sz="2000" b="1">
                <a:solidFill>
                  <a:srgbClr val="1F2D3A"/>
                </a:solidFill>
              </a:rPr>
              <a:t>RASP</a:t>
            </a:r>
            <a:r>
              <a:rPr sz="2000" b="0">
                <a:solidFill>
                  <a:srgbClr val="1F2D3A"/>
                </a:solidFill>
              </a:rPr>
              <a:t> (anti-debug, anti-hook) eklendi.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En ucuz saldırı </a:t>
            </a:r>
            <a:r>
              <a:rPr sz="2000" b="1">
                <a:solidFill>
                  <a:srgbClr val="1F2D3A"/>
                </a:solidFill>
              </a:rPr>
              <a:t>2 → 8</a:t>
            </a:r>
            <a:r>
              <a:rPr sz="2000" b="0">
                <a:solidFill>
                  <a:srgbClr val="1F2D3A"/>
                </a:solidFill>
              </a:rPr>
              <a:t> birime çıktı; en zayıf nokta </a:t>
            </a:r>
            <a:r>
              <a:rPr sz="2000" b="1">
                <a:solidFill>
                  <a:srgbClr val="1F2D3A"/>
                </a:solidFill>
              </a:rPr>
              <a:t>değişti.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Güvenlik yatırımını </a:t>
            </a:r>
            <a:r>
              <a:rPr sz="2000" b="1">
                <a:solidFill>
                  <a:srgbClr val="1F2D3A"/>
                </a:solidFill>
              </a:rPr>
              <a:t>sayıyla</a:t>
            </a:r>
            <a:r>
              <a:rPr sz="2000" b="0">
                <a:solidFill>
                  <a:srgbClr val="1F2D3A"/>
                </a:solidFill>
              </a:rPr>
              <a:t> gerekçelendirmenin yolu budur.</a:t>
            </a:r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Yanılgı: "VE ile VEYA fark etmez"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Yanılgı:</a:t>
            </a:r>
            <a:r>
              <a:rPr sz="2000" b="0">
                <a:solidFill>
                  <a:srgbClr val="1F2D3A"/>
                </a:solidFill>
              </a:rPr>
              <a:t> Saldırı ağacında düğüm türü önemli değil.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Gerçek:</a:t>
            </a:r>
            <a:r>
              <a:rPr sz="2000" b="0">
                <a:solidFill>
                  <a:srgbClr val="1F2D3A"/>
                </a:solidFill>
              </a:rPr>
              <a:t> </a:t>
            </a:r>
            <a:r>
              <a:rPr sz="2000" b="1">
                <a:solidFill>
                  <a:srgbClr val="1F2D3A"/>
                </a:solidFill>
              </a:rPr>
              <a:t>VEYA</a:t>
            </a:r>
            <a:r>
              <a:rPr sz="2000" b="0">
                <a:solidFill>
                  <a:srgbClr val="1F2D3A"/>
                </a:solidFill>
              </a:rPr>
              <a:t> düğümünde en ucuz çocuk yeter; </a:t>
            </a:r>
            <a:r>
              <a:rPr sz="2000" b="1">
                <a:solidFill>
                  <a:srgbClr val="1F2D3A"/>
                </a:solidFill>
              </a:rPr>
              <a:t>VE</a:t>
            </a:r>
            <a:r>
              <a:rPr sz="2000" b="0">
                <a:solidFill>
                  <a:srgbClr val="1F2D3A"/>
                </a:solidFill>
              </a:rPr>
              <a:t> düğümünde çocukların </a:t>
            </a:r>
            <a:r>
              <a:rPr sz="2000" b="1">
                <a:solidFill>
                  <a:srgbClr val="1F2D3A"/>
                </a:solidFill>
              </a:rPr>
              <a:t>toplamı</a:t>
            </a:r>
            <a:r>
              <a:rPr sz="2000" b="0">
                <a:solidFill>
                  <a:srgbClr val="1F2D3A"/>
                </a:solidFill>
              </a:rPr>
              <a:t> gerekir.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755392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Karıştırmak en ucuz yolu </a:t>
            </a:r>
            <a:r>
              <a:rPr sz="2000" b="1">
                <a:solidFill>
                  <a:srgbClr val="1F2D3A"/>
                </a:solidFill>
              </a:rPr>
              <a:t>yanlış buldurur</a:t>
            </a:r>
            <a:r>
              <a:rPr sz="2000" b="0">
                <a:solidFill>
                  <a:srgbClr val="1F2D3A"/>
                </a:solidFill>
              </a:rPr>
              <a:t> ve savunma parası </a:t>
            </a:r>
            <a:r>
              <a:rPr sz="2000" b="1">
                <a:solidFill>
                  <a:srgbClr val="1F2D3A"/>
                </a:solidFill>
              </a:rPr>
              <a:t>yanlış dala</a:t>
            </a:r>
            <a:r>
              <a:rPr sz="2000" b="0">
                <a:solidFill>
                  <a:srgbClr val="1F2D3A"/>
                </a:solidFill>
              </a:rPr>
              <a:t> gider.</a:t>
            </a:r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Yanılgı: "En pahalı dalı güçlendirelim"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Yanılgı:</a:t>
            </a:r>
            <a:r>
              <a:rPr sz="2000" b="0">
                <a:solidFill>
                  <a:srgbClr val="1F2D3A"/>
                </a:solidFill>
              </a:rPr>
              <a:t> Görünüşte en tehlikeli/karmaşık saldırı yolunu güçlendirmek en iyisidir.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Gerçek:</a:t>
            </a:r>
            <a:r>
              <a:rPr sz="2000" b="0">
                <a:solidFill>
                  <a:srgbClr val="1F2D3A"/>
                </a:solidFill>
              </a:rPr>
              <a:t> Saldırgan her zaman </a:t>
            </a:r>
            <a:r>
              <a:rPr sz="2000" b="1">
                <a:solidFill>
                  <a:srgbClr val="1F2D3A"/>
                </a:solidFill>
              </a:rPr>
              <a:t>en ucuz</a:t>
            </a:r>
            <a:r>
              <a:rPr sz="2000" b="0">
                <a:solidFill>
                  <a:srgbClr val="1F2D3A"/>
                </a:solidFill>
              </a:rPr>
              <a:t> yolu seçer. Savunma köke giden </a:t>
            </a:r>
            <a:r>
              <a:rPr sz="2000" b="1">
                <a:solidFill>
                  <a:srgbClr val="1F2D3A"/>
                </a:solidFill>
              </a:rPr>
              <a:t>en ucuz yolu</a:t>
            </a:r>
            <a:r>
              <a:rPr sz="2000" b="0">
                <a:solidFill>
                  <a:srgbClr val="1F2D3A"/>
                </a:solidFill>
              </a:rPr>
              <a:t> pahalılaştırmıyorsa, en ucuz saldırının maliyeti hiç </a:t>
            </a:r>
            <a:r>
              <a:rPr sz="2000" b="1">
                <a:solidFill>
                  <a:srgbClr val="1F2D3A"/>
                </a:solidFill>
              </a:rPr>
              <a:t>değişmez</a:t>
            </a:r>
            <a:r>
              <a:rPr sz="2000" b="0">
                <a:solidFill>
                  <a:srgbClr val="1F2D3A"/>
                </a:solidFill>
              </a:rPr>
              <a:t> (Demo 04).</a:t>
            </a:r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Yanılgı: "Önlem eklemek yeter"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Yanılgı:</a:t>
            </a:r>
            <a:r>
              <a:rPr sz="2000" b="0">
                <a:solidFill>
                  <a:srgbClr val="1F2D3A"/>
                </a:solidFill>
              </a:rPr>
              <a:t> Ağaca bir savunma düğümü eklemek riski kapatır.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Gerçek:</a:t>
            </a:r>
            <a:r>
              <a:rPr sz="2000" b="0">
                <a:solidFill>
                  <a:srgbClr val="1F2D3A"/>
                </a:solidFill>
              </a:rPr>
              <a:t> Her önlemin kendisi de </a:t>
            </a:r>
            <a:r>
              <a:rPr sz="2000" b="1">
                <a:solidFill>
                  <a:srgbClr val="1F2D3A"/>
                </a:solidFill>
              </a:rPr>
              <a:t>atlatılabilir</a:t>
            </a:r>
            <a:r>
              <a:rPr sz="2000" b="0">
                <a:solidFill>
                  <a:srgbClr val="1F2D3A"/>
                </a:solidFill>
              </a:rPr>
              <a:t>. Önlem düğümünün altına onu aşma yollarını (</a:t>
            </a:r>
            <a:r>
              <a:rPr sz="2000" b="1">
                <a:solidFill>
                  <a:srgbClr val="1F2D3A"/>
                </a:solidFill>
              </a:rPr>
              <a:t>karşı-karşı önlem</a:t>
            </a:r>
            <a:r>
              <a:rPr sz="2000" b="0">
                <a:solidFill>
                  <a:srgbClr val="1F2D3A"/>
                </a:solidFill>
              </a:rPr>
              <a:t>) yazmadan hesap </a:t>
            </a:r>
            <a:r>
              <a:rPr sz="2000" b="1">
                <a:solidFill>
                  <a:srgbClr val="1F2D3A"/>
                </a:solidFill>
              </a:rPr>
              <a:t>iyimser</a:t>
            </a:r>
            <a:r>
              <a:rPr sz="2000" b="0">
                <a:solidFill>
                  <a:srgbClr val="1F2D3A"/>
                </a:solidFill>
              </a:rPr>
              <a:t> çıkar.</a:t>
            </a:r>
          </a:p>
        </p:txBody>
      </p:sp>
    </p:spTree>
  </p:cSld>
  <p:clrMapOvr>
    <a:masterClrMapping/>
  </p:clrMapOvr>
</p:sld>
</file>

<file path=ppt/slides/slide9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Saldırı ağacı vs denetim kaydı: iki soru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2255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Saldırı ağacı:</a:t>
            </a:r>
            <a:r>
              <a:rPr sz="2000" b="0">
                <a:solidFill>
                  <a:srgbClr val="1F2D3A"/>
                </a:solidFill>
              </a:rPr>
              <a:t> "Saldırgan </a:t>
            </a:r>
            <a:r>
              <a:rPr sz="2000" b="1">
                <a:solidFill>
                  <a:srgbClr val="1F2D3A"/>
                </a:solidFill>
              </a:rPr>
              <a:t>nereden</a:t>
            </a:r>
            <a:r>
              <a:rPr sz="2000" b="0">
                <a:solidFill>
                  <a:srgbClr val="1F2D3A"/>
                </a:solidFill>
              </a:rPr>
              <a:t> gelir?" — önceden, planlama sorusu.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Denetim kaydı (audit log):</a:t>
            </a:r>
            <a:r>
              <a:rPr sz="2000" b="0">
                <a:solidFill>
                  <a:srgbClr val="1F2D3A"/>
                </a:solidFill>
              </a:rPr>
              <a:t> "</a:t>
            </a:r>
            <a:r>
              <a:rPr sz="2000" b="1">
                <a:solidFill>
                  <a:srgbClr val="1F2D3A"/>
                </a:solidFill>
              </a:rPr>
              <a:t>Geldi mi</a:t>
            </a:r>
            <a:r>
              <a:rPr sz="2000" b="0">
                <a:solidFill>
                  <a:srgbClr val="1F2D3A"/>
                </a:solidFill>
              </a:rPr>
              <a:t>, ne yaptı?" — sonradan, kanıt sorusu.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Bir olaydan sonra ne olduğunu anlamanın, sorumluyu bulmanın tek yolu </a:t>
            </a:r>
            <a:r>
              <a:rPr sz="2000" b="1">
                <a:solidFill>
                  <a:srgbClr val="1F2D3A"/>
                </a:solidFill>
              </a:rPr>
              <a:t>güvenilir kayıttır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Kitap bunu Tarif 13.11'de işler; öneriler bugün de geçerli, yalnız araçlar güncellendi.</a:t>
            </a:r>
          </a:p>
        </p:txBody>
      </p:sp>
    </p:spTree>
  </p:cSld>
  <p:clrMapOvr>
    <a:masterClrMapping/>
  </p:clrMapOvr>
</p:sld>
</file>

<file path=ppt/slides/slide9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Denetim kaydı: ne yazılır, ne yazılmaz?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4" cy="187451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827751"/>
                <a:gridCol w="5083783"/>
              </a:tblGrid>
              <a:tr h="374903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✅ Kaydet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❌ Asla kaydetme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74903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Giriş denemeleri (kim, ne zaman, nereden)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Parola, PIN, belirteç, özel anahtar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74903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Yetki ve ayar değişiklikleri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Kart numarasının tamamı, kişisel veri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74903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Hassas işlemler (onay, dışa aktarma, silme)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Çözülmüş gizli veri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74907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Güvenlik denetimi sonuçları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Sürümde hata ayıklama çıktısı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0080" y="331012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Tarif 13.11 · günlüğü </a:t>
            </a:r>
            <a:r>
              <a:rPr sz="2000" b="1">
                <a:solidFill>
                  <a:srgbClr val="1F2D3A"/>
                </a:solidFill>
              </a:rPr>
              <a:t>saldırganın da okuyacağını</a:t>
            </a:r>
            <a:r>
              <a:rPr sz="2000" b="0">
                <a:solidFill>
                  <a:srgbClr val="1F2D3A"/>
                </a:solidFill>
              </a:rPr>
              <a:t> varsayarak tasarla</a:t>
            </a:r>
          </a:p>
        </p:txBody>
      </p:sp>
    </p:spTree>
  </p:cSld>
  <p:clrMapOvr>
    <a:masterClrMapping/>
  </p:clrMapOvr>
</p:sld>
</file>

<file path=ppt/slides/slide9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Demo 10 — Günlük enjeksiyonu (CWE-117)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0690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0">
                <a:solidFill>
                  <a:srgbClr val="A1123F"/>
                </a:solidFill>
                <a:latin typeface="Consolas"/>
              </a:rPr>
              <a:t>code/week-02/10-gunluk-enjeksiyonu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842515"/>
            <a:ext cx="10911535" cy="1464868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GUVENSIZ: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  DENETIM giris kullanici=kayra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  DENETIM giris kullanici=admin sonuc=BASARILI ...  &lt;- SAHTE satir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  DENETIM giris kullanici=deniz^[[2K^Mgizli ...     &lt;- ekran silme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GUVENLI: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  DENETIM giris kullanici=kayra\x0A2026-... (tek satir)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  sahte 'admin BASARILI' satiri: 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417111"/>
            <a:ext cx="10911535" cy="70408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0">
                <a:solidFill>
                  <a:srgbClr val="1F2D3A"/>
                </a:solidFill>
              </a:rPr>
              <a:t>✅ Kaçışla (</a:t>
            </a:r>
            <a:r>
              <a:rPr sz="1800" b="0">
                <a:solidFill>
                  <a:srgbClr val="A1123F"/>
                </a:solidFill>
                <a:latin typeface="Consolas"/>
              </a:rPr>
              <a:t>xNN</a:t>
            </a:r>
            <a:r>
              <a:rPr sz="1800" b="0">
                <a:solidFill>
                  <a:srgbClr val="1F2D3A"/>
                </a:solidFill>
              </a:rPr>
              <a:t>) · ✅ uzunluğu sınırla · ✅ </a:t>
            </a:r>
            <a:r>
              <a:rPr sz="1800" b="0">
                <a:solidFill>
                  <a:srgbClr val="A1123F"/>
                </a:solidFill>
                <a:latin typeface="Consolas"/>
              </a:rPr>
              <a:t>syslog(LOG_INFO, "%s", girdi)</a:t>
            </a:r>
            <a:r>
              <a:rPr sz="1800" b="0">
                <a:solidFill>
                  <a:srgbClr val="1F2D3A"/>
                </a:solidFill>
              </a:rPr>
              <a:t> — girdi asla biçim dizgesi değil</a:t>
            </a:r>
          </a:p>
        </p:txBody>
      </p:sp>
    </p:spTree>
  </p:cSld>
  <p:clrMapOvr>
    <a:masterClrMapping/>
  </p:clrMapOvr>
</p:sld>
</file>

<file path=ppt/slides/slide10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Özet zinciri: basit ama kırılabilir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Fikir: her kayıt, </a:t>
            </a:r>
            <a:r>
              <a:rPr sz="2000" b="1">
                <a:solidFill>
                  <a:srgbClr val="1F2D3A"/>
                </a:solidFill>
              </a:rPr>
              <a:t>bir önceki kaydın özetini</a:t>
            </a:r>
            <a:r>
              <a:rPr sz="2000" b="0">
                <a:solidFill>
                  <a:srgbClr val="1F2D3A"/>
                </a:solidFill>
              </a:rPr>
              <a:t> içerir.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Ortadan bir kaydı değiştirmek, sonraki </a:t>
            </a:r>
            <a:r>
              <a:rPr sz="2000" b="1">
                <a:solidFill>
                  <a:srgbClr val="1F2D3A"/>
                </a:solidFill>
              </a:rPr>
              <a:t>tüm zinciri</a:t>
            </a:r>
            <a:r>
              <a:rPr sz="2000" b="0">
                <a:solidFill>
                  <a:srgbClr val="1F2D3A"/>
                </a:solidFill>
              </a:rPr>
              <a:t> bozar.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Sorun: saldırgan </a:t>
            </a:r>
            <a:r>
              <a:rPr sz="2000" b="1">
                <a:solidFill>
                  <a:srgbClr val="1F2D3A"/>
                </a:solidFill>
              </a:rPr>
              <a:t>anahtarsız</a:t>
            </a:r>
            <a:r>
              <a:rPr sz="2000" b="0">
                <a:solidFill>
                  <a:srgbClr val="1F2D3A"/>
                </a:solidFill>
              </a:rPr>
              <a:t> — bütün zinciri baştan yeniden hesaplayabilir.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Çözüm: özeti </a:t>
            </a:r>
            <a:r>
              <a:rPr sz="2000" b="1">
                <a:solidFill>
                  <a:srgbClr val="1F2D3A"/>
                </a:solidFill>
              </a:rPr>
              <a:t>anahtarlı</a:t>
            </a:r>
            <a:r>
              <a:rPr sz="2000" b="0">
                <a:solidFill>
                  <a:srgbClr val="1F2D3A"/>
                </a:solidFill>
              </a:rPr>
              <a:t> yapmak → HMAC zinciri (bir sonraki slayt).</a:t>
            </a:r>
          </a:p>
        </p:txBody>
      </p:sp>
    </p:spTree>
  </p:cSld>
  <p:clrMapOvr>
    <a:masterClrMapping/>
  </p:clrMapOvr>
</p:sld>
</file>

<file path=ppt/slides/slide10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Sürüm derlemesinde günlük neden kaldırılır?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925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Kayıt, bir </a:t>
            </a:r>
            <a:r>
              <a:rPr sz="2000" b="1">
                <a:solidFill>
                  <a:srgbClr val="1F2D3A"/>
                </a:solidFill>
              </a:rPr>
              <a:t>saldırganın da okuyabileceği</a:t>
            </a:r>
            <a:r>
              <a:rPr sz="2000" b="0">
                <a:solidFill>
                  <a:srgbClr val="1F2D3A"/>
                </a:solidFill>
              </a:rPr>
              <a:t> varsayılarak tasarlanır.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Günlüğe yazılan her sır, günlük dosyasına erişen </a:t>
            </a:r>
            <a:r>
              <a:rPr sz="2000" b="1">
                <a:solidFill>
                  <a:srgbClr val="1F2D3A"/>
                </a:solidFill>
              </a:rPr>
              <a:t>herkese</a:t>
            </a:r>
            <a:r>
              <a:rPr sz="2000" b="0">
                <a:solidFill>
                  <a:srgbClr val="1F2D3A"/>
                </a:solidFill>
              </a:rPr>
              <a:t> verilmiş demektir.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Kapalı bir bayrakla </a:t>
            </a:r>
            <a:r>
              <a:rPr sz="2000" b="1">
                <a:solidFill>
                  <a:srgbClr val="1F2D3A"/>
                </a:solidFill>
              </a:rPr>
              <a:t>susturulmuş</a:t>
            </a:r>
            <a:r>
              <a:rPr sz="2000" b="0">
                <a:solidFill>
                  <a:srgbClr val="1F2D3A"/>
                </a:solidFill>
              </a:rPr>
              <a:t> hata ayıklama kodu, ikili dosyada </a:t>
            </a:r>
            <a:r>
              <a:rPr sz="2000" b="1">
                <a:solidFill>
                  <a:srgbClr val="1F2D3A"/>
                </a:solidFill>
              </a:rPr>
              <a:t>kalır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Hem dizgeleriyle bilgi sızdırır hem de </a:t>
            </a:r>
            <a:r>
              <a:rPr sz="2000" b="1">
                <a:solidFill>
                  <a:srgbClr val="1F2D3A"/>
                </a:solidFill>
              </a:rPr>
              <a:t>yeniden açılabilir</a:t>
            </a:r>
            <a:r>
              <a:rPr sz="2000" b="0">
                <a:solidFill>
                  <a:srgbClr val="1F2D3A"/>
                </a:solidFill>
              </a:rPr>
              <a:t> — bu yüzden sürüm derlemesinde tamamen </a:t>
            </a:r>
            <a:r>
              <a:rPr sz="2000" b="1">
                <a:solidFill>
                  <a:srgbClr val="1F2D3A"/>
                </a:solidFill>
              </a:rPr>
              <a:t>çıkarılmalıdır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10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Demo 11 — Kurcalamaya dayanıklı günlük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0690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0">
                <a:solidFill>
                  <a:srgbClr val="A1123F"/>
                </a:solidFill>
                <a:latin typeface="Consolas"/>
              </a:rPr>
              <a:t>code/week-02/11-kurcalamaya-dayanikli-gunluk</a:t>
            </a:r>
            <a:r>
              <a:rPr sz="1800" b="0">
                <a:solidFill>
                  <a:srgbClr val="1F2D3A"/>
                </a:solidFill>
              </a:rPr>
              <a:t> · HMAC zinciri + </a:t>
            </a:r>
            <a:r>
              <a:rPr sz="1800" b="1">
                <a:solidFill>
                  <a:srgbClr val="1F2D3A"/>
                </a:solidFill>
              </a:rPr>
              <a:t>anahtar evrimi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1842515"/>
          <a:ext cx="10911534" cy="164591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55767"/>
                <a:gridCol w="2338186"/>
                <a:gridCol w="3117581"/>
              </a:tblGrid>
              <a:tr h="411479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Saldırı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Anahtar evrimli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Statik anahtar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411479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Kayıt değiştirme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✅ MAC:BOZUK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✅ yakalanır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11479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Kayıt silme / sıra değiştirme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✅ SIRA:BOZUK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✅ yakalanır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411482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Ele geçirilen anahtarla geçmişi yeniden yazma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✅ </a:t>
                      </a:r>
                      <a:r>
                        <a:rPr sz="1296" b="1">
                          <a:solidFill>
                            <a:srgbClr val="1F2D3A"/>
                          </a:solidFill>
                        </a:rPr>
                        <a:t>KURCALANMIŞ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❌ </a:t>
                      </a:r>
                      <a:r>
                        <a:rPr sz="1296" b="1">
                          <a:solidFill>
                            <a:srgbClr val="1F2D3A"/>
                          </a:solidFill>
                        </a:rPr>
                        <a:t>BÜTÜNLÜKLÜ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 görünür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40080" y="3598163"/>
            <a:ext cx="10911535" cy="70408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0">
                <a:solidFill>
                  <a:srgbClr val="1F2D3A"/>
                </a:solidFill>
              </a:rPr>
              <a:t>Anahtar her kayıtta tek yönlü evrilir, eski anahtar silinir → ele geçirmeden </a:t>
            </a:r>
            <a:r>
              <a:rPr sz="1800" b="1">
                <a:solidFill>
                  <a:srgbClr val="1F2D3A"/>
                </a:solidFill>
              </a:rPr>
              <a:t>önceki</a:t>
            </a:r>
            <a:r>
              <a:rPr sz="1800" b="0">
                <a:solidFill>
                  <a:srgbClr val="1F2D3A"/>
                </a:solidFill>
              </a:rPr>
              <a:t> kayıtlar korunur</a:t>
            </a:r>
          </a:p>
        </p:txBody>
      </p:sp>
    </p:spTree>
  </p:cSld>
  <p:clrMapOvr>
    <a:masterClrMapping/>
  </p:clrMapOvr>
</p:sld>
</file>

<file path=ppt/slides/slide10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İleriye güvenlik: anahtar neden evrilir?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925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Her kayıttan sonra anahtar </a:t>
            </a:r>
            <a:r>
              <a:rPr sz="2000" b="1">
                <a:solidFill>
                  <a:srgbClr val="1F2D3A"/>
                </a:solidFill>
              </a:rPr>
              <a:t>tek yönlü</a:t>
            </a:r>
            <a:r>
              <a:rPr sz="2000" b="0">
                <a:solidFill>
                  <a:srgbClr val="1F2D3A"/>
                </a:solidFill>
              </a:rPr>
              <a:t> bir fonksiyonla değişir; eski anahtar </a:t>
            </a:r>
            <a:r>
              <a:rPr sz="2000" b="1">
                <a:solidFill>
                  <a:srgbClr val="1F2D3A"/>
                </a:solidFill>
              </a:rPr>
              <a:t>silinir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Saldırgan makineyi ele geçirdiğinde yalnız </a:t>
            </a:r>
            <a:r>
              <a:rPr sz="2000" b="1">
                <a:solidFill>
                  <a:srgbClr val="1F2D3A"/>
                </a:solidFill>
              </a:rPr>
              <a:t>o anki</a:t>
            </a:r>
            <a:r>
              <a:rPr sz="2000" b="0">
                <a:solidFill>
                  <a:srgbClr val="1F2D3A"/>
                </a:solidFill>
              </a:rPr>
              <a:t> anahtarı bulur.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O andan </a:t>
            </a:r>
            <a:r>
              <a:rPr sz="2000" b="1">
                <a:solidFill>
                  <a:srgbClr val="1F2D3A"/>
                </a:solidFill>
              </a:rPr>
              <a:t>geriye</a:t>
            </a:r>
            <a:r>
              <a:rPr sz="2000" b="0">
                <a:solidFill>
                  <a:srgbClr val="1F2D3A"/>
                </a:solidFill>
              </a:rPr>
              <a:t>, önceki kayıtları mühürleyen anahtarlara </a:t>
            </a:r>
            <a:r>
              <a:rPr sz="2000" b="1">
                <a:solidFill>
                  <a:srgbClr val="1F2D3A"/>
                </a:solidFill>
              </a:rPr>
              <a:t>dönemez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Sonuç: ele geçirmeden </a:t>
            </a:r>
            <a:r>
              <a:rPr sz="2000" b="1">
                <a:solidFill>
                  <a:srgbClr val="1F2D3A"/>
                </a:solidFill>
              </a:rPr>
              <a:t>önceki</a:t>
            </a:r>
            <a:r>
              <a:rPr sz="2000" b="0">
                <a:solidFill>
                  <a:srgbClr val="1F2D3A"/>
                </a:solidFill>
              </a:rPr>
              <a:t> kayıtlar korunur (Schneier–Kelsey, 1999).</a:t>
            </a:r>
          </a:p>
        </p:txBody>
      </p:sp>
    </p:spTree>
  </p:cSld>
  <p:clrMapOvr>
    <a:masterClrMapping/>
  </p:clrMapOvr>
</p:sld>
</file>

<file path=ppt/slides/slide10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Soru — sondan kesme yakalanır mı?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Demo 11'in ürettiği zincirden </a:t>
            </a:r>
            <a:r>
              <a:rPr sz="2000" b="1">
                <a:solidFill>
                  <a:srgbClr val="1F2D3A"/>
                </a:solidFill>
              </a:rPr>
              <a:t>son üç satırı silin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Soru:</a:t>
            </a:r>
            <a:r>
              <a:rPr sz="2000" b="0">
                <a:solidFill>
                  <a:srgbClr val="1F2D3A"/>
                </a:solidFill>
              </a:rPr>
              <a:t> Doğrulayıcı bunu fark eder mi? Neden?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425192"/>
            <a:ext cx="10911535" cy="1430527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Cevap:</a:t>
            </a:r>
            <a:r>
              <a:rPr sz="2000" b="0">
                <a:solidFill>
                  <a:srgbClr val="1F2D3A"/>
                </a:solidFill>
              </a:rPr>
              <a:t> Yalnızca zincirin </a:t>
            </a:r>
            <a:r>
              <a:rPr sz="2000" b="1">
                <a:solidFill>
                  <a:srgbClr val="1F2D3A"/>
                </a:solidFill>
              </a:rPr>
              <a:t>son değeri</a:t>
            </a:r>
            <a:r>
              <a:rPr sz="2000" b="0">
                <a:solidFill>
                  <a:srgbClr val="1F2D3A"/>
                </a:solidFill>
              </a:rPr>
              <a:t> ya da </a:t>
            </a:r>
            <a:r>
              <a:rPr sz="2000" b="1">
                <a:solidFill>
                  <a:srgbClr val="1F2D3A"/>
                </a:solidFill>
              </a:rPr>
              <a:t>kayıt sayısı</a:t>
            </a:r>
            <a:r>
              <a:rPr sz="2000" b="0">
                <a:solidFill>
                  <a:srgbClr val="1F2D3A"/>
                </a:solidFill>
              </a:rPr>
              <a:t> ayrıca (uzak bir sunucuda) tutuluyorsa fark eder. Zincirin kendisi yalnız dosyada tutulursa, sondan kesme </a:t>
            </a:r>
            <a:r>
              <a:rPr sz="2000" b="1">
                <a:solidFill>
                  <a:srgbClr val="1F2D3A"/>
                </a:solidFill>
              </a:rPr>
              <a:t>iç tutarlılığı bozmaz</a:t>
            </a:r>
            <a:r>
              <a:rPr sz="2000" b="0">
                <a:solidFill>
                  <a:srgbClr val="1F2D3A"/>
                </a:solidFill>
              </a:rPr>
              <a:t> — çünkü silinen kayıtlardan sonra gelen hiçbir kayıt yoktur ki tutarsızlık göstersin.</a:t>
            </a:r>
          </a:p>
        </p:txBody>
      </p:sp>
    </p:spTree>
  </p:cSld>
  <p:clrMapOvr>
    <a:masterClrMapping/>
  </p:clrMapOvr>
</p:sld>
</file>

<file path=ppt/slides/slide10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Kural (özet): denetim kaydı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971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Kullanıcı verisini </a:t>
            </a:r>
            <a:r>
              <a:rPr sz="2000" b="1">
                <a:solidFill>
                  <a:srgbClr val="1F2D3A"/>
                </a:solidFill>
              </a:rPr>
              <a:t>kaçışlayarak ve sınırlayarak</a:t>
            </a:r>
            <a:r>
              <a:rPr sz="2000" b="0">
                <a:solidFill>
                  <a:srgbClr val="1F2D3A"/>
                </a:solidFill>
              </a:rPr>
              <a:t> yazın.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Sırları (parola, anahtar) </a:t>
            </a:r>
            <a:r>
              <a:rPr sz="2000" b="1">
                <a:solidFill>
                  <a:srgbClr val="1F2D3A"/>
                </a:solidFill>
              </a:rPr>
              <a:t>asla</a:t>
            </a:r>
            <a:r>
              <a:rPr sz="2000" b="0">
                <a:solidFill>
                  <a:srgbClr val="1F2D3A"/>
                </a:solidFill>
              </a:rPr>
              <a:t> yazmayın.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Günlüğü </a:t>
            </a:r>
            <a:r>
              <a:rPr sz="2000" b="1">
                <a:solidFill>
                  <a:srgbClr val="1F2D3A"/>
                </a:solidFill>
              </a:rPr>
              <a:t>anahtarlı bir zincirle</a:t>
            </a:r>
            <a:r>
              <a:rPr sz="2000" b="0">
                <a:solidFill>
                  <a:srgbClr val="1F2D3A"/>
                </a:solidFill>
              </a:rPr>
              <a:t> mühürleyin; anahtarı her kayıtta </a:t>
            </a:r>
            <a:r>
              <a:rPr sz="2000" b="1">
                <a:solidFill>
                  <a:srgbClr val="1F2D3A"/>
                </a:solidFill>
              </a:rPr>
              <a:t>evriltin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Doğrulama anahtarını günlüğün bulunduğu </a:t>
            </a:r>
            <a:r>
              <a:rPr sz="2000" b="1">
                <a:solidFill>
                  <a:srgbClr val="1F2D3A"/>
                </a:solidFill>
              </a:rPr>
              <a:t>makinede tutmayın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Mümkünse kayıtları </a:t>
            </a:r>
            <a:r>
              <a:rPr sz="2000" b="1">
                <a:solidFill>
                  <a:srgbClr val="1F2D3A"/>
                </a:solidFill>
              </a:rPr>
              <a:t>anında</a:t>
            </a:r>
            <a:r>
              <a:rPr sz="2000" b="0">
                <a:solidFill>
                  <a:srgbClr val="1F2D3A"/>
                </a:solidFill>
              </a:rPr>
              <a:t> ayrı bir sunucuya gönderin.</a:t>
            </a:r>
          </a:p>
        </p:txBody>
      </p:sp>
    </p:spTree>
  </p:cSld>
  <p:clrMapOvr>
    <a:masterClrMapping/>
  </p:clrMapOvr>
</p:sld>
</file>

<file path=ppt/slides/slide10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Sahada nasıl uygulanır? — mobil günlük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925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Mobil uygulamalarda </a:t>
            </a:r>
            <a:r>
              <a:rPr sz="2000" b="1">
                <a:solidFill>
                  <a:srgbClr val="1F2D3A"/>
                </a:solidFill>
              </a:rPr>
              <a:t>cihaz üzerindeki</a:t>
            </a:r>
            <a:r>
              <a:rPr sz="2000" b="0">
                <a:solidFill>
                  <a:srgbClr val="1F2D3A"/>
                </a:solidFill>
              </a:rPr>
              <a:t> günlük en az tutulur, hassas alan içermez.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Güvenlik olayları (bütünlük hatası, hata ayıklayıcı algılama) </a:t>
            </a:r>
            <a:r>
              <a:rPr sz="2000" b="1">
                <a:solidFill>
                  <a:srgbClr val="1F2D3A"/>
                </a:solidFill>
              </a:rPr>
              <a:t>sunucuya raporlanır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Bu, 6. haftada göreceğimiz </a:t>
            </a:r>
            <a:r>
              <a:rPr sz="2000" b="1">
                <a:solidFill>
                  <a:srgbClr val="1F2D3A"/>
                </a:solidFill>
              </a:rPr>
              <a:t>RASP</a:t>
            </a:r>
            <a:r>
              <a:rPr sz="2000" b="0">
                <a:solidFill>
                  <a:srgbClr val="1F2D3A"/>
                </a:solidFill>
              </a:rPr>
              <a:t> önlemlerinin "raporlama" ayağıdır.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Cihazdaki günlük saldırganın elindedir; asıl kanıt </a:t>
            </a:r>
            <a:r>
              <a:rPr sz="2000" b="1">
                <a:solidFill>
                  <a:srgbClr val="1F2D3A"/>
                </a:solidFill>
              </a:rPr>
              <a:t>uzaktaki</a:t>
            </a:r>
            <a:r>
              <a:rPr sz="2000" b="0">
                <a:solidFill>
                  <a:srgbClr val="1F2D3A"/>
                </a:solidFill>
              </a:rPr>
              <a:t> kopyadır.</a:t>
            </a:r>
          </a:p>
        </p:txBody>
      </p:sp>
    </p:spTree>
  </p:cSld>
  <p:clrMapOvr>
    <a:masterClrMapping/>
  </p:clrMapOvr>
</p:sld>
</file>

<file path=ppt/slides/slide10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Yanılgı: "Denetim kaydına her şeyi yazalım"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Yanılgı:</a:t>
            </a:r>
            <a:r>
              <a:rPr sz="2000" b="0">
                <a:solidFill>
                  <a:srgbClr val="1F2D3A"/>
                </a:solidFill>
              </a:rPr>
              <a:t> Daha çok bilgi, daha iyi kanıt demektir.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Gerçek:</a:t>
            </a:r>
            <a:r>
              <a:rPr sz="2000" b="0">
                <a:solidFill>
                  <a:srgbClr val="1F2D3A"/>
                </a:solidFill>
              </a:rPr>
              <a:t> Parola, PIN, anahtar ve </a:t>
            </a:r>
            <a:r>
              <a:rPr sz="2000" b="1">
                <a:solidFill>
                  <a:srgbClr val="1F2D3A"/>
                </a:solidFill>
              </a:rPr>
              <a:t>tam kart numarası</a:t>
            </a:r>
            <a:r>
              <a:rPr sz="2000" b="0">
                <a:solidFill>
                  <a:srgbClr val="1F2D3A"/>
                </a:solidFill>
              </a:rPr>
              <a:t> kayda </a:t>
            </a:r>
            <a:r>
              <a:rPr sz="2000" b="1">
                <a:solidFill>
                  <a:srgbClr val="1F2D3A"/>
                </a:solidFill>
              </a:rPr>
              <a:t>asla</a:t>
            </a:r>
            <a:r>
              <a:rPr sz="2000" b="0">
                <a:solidFill>
                  <a:srgbClr val="1F2D3A"/>
                </a:solidFill>
              </a:rPr>
              <a:t> girmez (CWE-532).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425192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Kayıt, olayı yeniden kurmaya </a:t>
            </a:r>
            <a:r>
              <a:rPr sz="2000" b="1">
                <a:solidFill>
                  <a:srgbClr val="1F2D3A"/>
                </a:solidFill>
              </a:rPr>
              <a:t>yetecek kadar</a:t>
            </a:r>
            <a:r>
              <a:rPr sz="2000" b="0">
                <a:solidFill>
                  <a:srgbClr val="1F2D3A"/>
                </a:solidFill>
              </a:rPr>
              <a:t> bilgi taşır: kim, ne, ne zaman, nerede, sonuç.</a:t>
            </a:r>
          </a:p>
        </p:txBody>
      </p:sp>
    </p:spTree>
  </p:cSld>
  <p:clrMapOvr>
    <a:masterClrMapping/>
  </p:clrMapOvr>
</p:sld>
</file>

<file path=ppt/slides/slide10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Yanılgı: "Kullanıcı adını olduğu gibi yazdım"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Yanılgı:</a:t>
            </a:r>
            <a:r>
              <a:rPr sz="2000" b="0">
                <a:solidFill>
                  <a:srgbClr val="1F2D3A"/>
                </a:solidFill>
              </a:rPr>
              <a:t> Kullanıcıdan gelen alan doğrudan günlüğe yazılabilir.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Gerçek:</a:t>
            </a:r>
            <a:r>
              <a:rPr sz="2000" b="0">
                <a:solidFill>
                  <a:srgbClr val="1F2D3A"/>
                </a:solidFill>
              </a:rPr>
              <a:t> İçinde satır sonu olan bir girdi </a:t>
            </a:r>
            <a:r>
              <a:rPr sz="2000" b="1">
                <a:solidFill>
                  <a:srgbClr val="1F2D3A"/>
                </a:solidFill>
              </a:rPr>
              <a:t>sahte kayıt satırı</a:t>
            </a:r>
            <a:r>
              <a:rPr sz="2000" b="0">
                <a:solidFill>
                  <a:srgbClr val="1F2D3A"/>
                </a:solidFill>
              </a:rPr>
              <a:t> üretir (CWE-117, Demo 10).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755392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Denetim karakterleri </a:t>
            </a:r>
            <a:r>
              <a:rPr sz="2000" b="1">
                <a:solidFill>
                  <a:srgbClr val="1F2D3A"/>
                </a:solidFill>
              </a:rPr>
              <a:t>kaçışlanmalı</a:t>
            </a:r>
            <a:r>
              <a:rPr sz="2000" b="0">
                <a:solidFill>
                  <a:srgbClr val="1F2D3A"/>
                </a:solidFill>
              </a:rPr>
              <a:t> ya da yapılandırılmış (alan alan) kayıt kullanılmalıdır.</a:t>
            </a:r>
          </a:p>
        </p:txBody>
      </p:sp>
    </p:spTree>
  </p:cSld>
  <p:clrMapOvr>
    <a:masterClrMapping/>
  </p:clrMapOvr>
</p:sld>
</file>

<file path=ppt/slides/slide10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Yanılgı: "Kayıt sonuna özet ekledim, kurcalama anlaşılır"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Yanılgı:</a:t>
            </a:r>
            <a:r>
              <a:rPr sz="2000" b="0">
                <a:solidFill>
                  <a:srgbClr val="1F2D3A"/>
                </a:solidFill>
              </a:rPr>
              <a:t> Dosyanın sonuna bir özet eklemek yeterli korumadır.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Gerçek:</a:t>
            </a:r>
            <a:r>
              <a:rPr sz="2000" b="0">
                <a:solidFill>
                  <a:srgbClr val="1F2D3A"/>
                </a:solidFill>
              </a:rPr>
              <a:t> Anahtarsız özeti saldırgan </a:t>
            </a:r>
            <a:r>
              <a:rPr sz="2000" b="1">
                <a:solidFill>
                  <a:srgbClr val="1F2D3A"/>
                </a:solidFill>
              </a:rPr>
              <a:t>yeniden hesaplar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425192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HMAC zinciri araya ekleme/değiştirmeyi yakalar; </a:t>
            </a:r>
            <a:r>
              <a:rPr sz="2000" b="1">
                <a:solidFill>
                  <a:srgbClr val="1F2D3A"/>
                </a:solidFill>
              </a:rPr>
              <a:t>sondan kesmeyi</a:t>
            </a:r>
            <a:r>
              <a:rPr sz="2000" b="0">
                <a:solidFill>
                  <a:srgbClr val="1F2D3A"/>
                </a:solidFill>
              </a:rPr>
              <a:t> yakalamak için son zincir değeri ayrıca (</a:t>
            </a:r>
            <a:r>
              <a:rPr sz="2000" b="1">
                <a:solidFill>
                  <a:srgbClr val="1F2D3A"/>
                </a:solidFill>
              </a:rPr>
              <a:t>uzak sunucuda</a:t>
            </a:r>
            <a:r>
              <a:rPr sz="2000" b="0">
                <a:solidFill>
                  <a:srgbClr val="1F2D3A"/>
                </a:solidFill>
              </a:rPr>
              <a:t>) tutulmalıdır (Demo 11).</a:t>
            </a:r>
          </a:p>
        </p:txBody>
      </p:sp>
    </p:spTree>
  </p:cSld>
  <p:clrMapOvr>
    <a:masterClrMapping/>
  </p:clrMapOvr>
</p:sld>
</file>

<file path=ppt/slides/slide1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Kontrol listesi — saldırı ağacı ve denetim kaydı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24003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1F2D3A"/>
                </a:solidFill>
              </a:rPr>
              <a:t> </a:t>
            </a:r>
            <a:r>
              <a:rPr sz="1800" b="1">
                <a:solidFill>
                  <a:srgbClr val="1F2D3A"/>
                </a:solidFill>
              </a:rPr>
              <a:t>VE/VEYA</a:t>
            </a:r>
            <a:r>
              <a:rPr sz="1800" b="0">
                <a:solidFill>
                  <a:srgbClr val="1F2D3A"/>
                </a:solidFill>
              </a:rPr>
              <a:t> kurallarıyla aşağıdan yukarı çözüp en ucuz yolu bulabiliyorum.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1F2D3A"/>
                </a:solidFill>
              </a:rPr>
              <a:t> </a:t>
            </a:r>
            <a:r>
              <a:rPr sz="1800" b="1">
                <a:solidFill>
                  <a:srgbClr val="1F2D3A"/>
                </a:solidFill>
              </a:rPr>
              <a:t>nasıl değiştirdiğini</a:t>
            </a:r>
            <a:r>
              <a:rPr sz="1800" b="0">
                <a:solidFill>
                  <a:srgbClr val="1F2D3A"/>
                </a:solidFill>
              </a:rPr>
              <a:t> sayıyla gösterebiliyorum (Demo 04).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1F2D3A"/>
                </a:solidFill>
              </a:rPr>
              <a:t> </a:t>
            </a:r>
            <a:r>
              <a:rPr sz="1800" b="1">
                <a:solidFill>
                  <a:srgbClr val="1F2D3A"/>
                </a:solidFill>
              </a:rPr>
              <a:t>olması ve olmaması</a:t>
            </a:r>
            <a:r>
              <a:rPr sz="1800" b="0">
                <a:solidFill>
                  <a:srgbClr val="1F2D3A"/>
                </a:solidFill>
              </a:rPr>
              <a:t> gerekenleri sayabiliyorum.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1F2D3A"/>
                </a:solidFill>
              </a:rPr>
              <a:t> 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1F2D3A"/>
                </a:solidFill>
              </a:rPr>
              <a:t> </a:t>
            </a:r>
            <a:r>
              <a:rPr sz="1800" b="1">
                <a:solidFill>
                  <a:srgbClr val="1F2D3A"/>
                </a:solidFill>
              </a:rPr>
              <a:t>neyi yakalayamadığını</a:t>
            </a:r>
            <a:r>
              <a:rPr sz="1800" b="0">
                <a:solidFill>
                  <a:srgbClr val="1F2D3A"/>
                </a:solidFill>
              </a:rPr>
              <a:t> söyleyebiliyorum.</a:t>
            </a:r>
          </a:p>
        </p:txBody>
      </p:sp>
    </p:spTree>
  </p:cSld>
  <p:clrMapOvr>
    <a:masterClrMapping/>
  </p:clrMapOvr>
</p:sld>
</file>

<file path=ppt/slides/slide1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111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Erişim denetimi ve modeller</a:t>
            </a:r>
          </a:p>
        </p:txBody>
      </p:sp>
    </p:spTree>
  </p:cSld>
  <p:clrMapOvr>
    <a:masterClrMapping/>
  </p:clrMapOvr>
</p:sld>
</file>

<file path=ppt/slides/slide1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Özne, nesne, hak — ve matris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67359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Özne</a:t>
            </a:r>
            <a:r>
              <a:rPr sz="2000" b="0">
                <a:solidFill>
                  <a:srgbClr val="1F2D3A"/>
                </a:solidFill>
              </a:rPr>
              <a:t> (kullanıcı/süreç) · </a:t>
            </a:r>
            <a:r>
              <a:rPr sz="2000" b="1">
                <a:solidFill>
                  <a:srgbClr val="1F2D3A"/>
                </a:solidFill>
              </a:rPr>
              <a:t>Nesne</a:t>
            </a:r>
            <a:r>
              <a:rPr sz="2000" b="0">
                <a:solidFill>
                  <a:srgbClr val="1F2D3A"/>
                </a:solidFill>
              </a:rPr>
              <a:t> (dosya/kayıt) · </a:t>
            </a:r>
            <a:r>
              <a:rPr sz="2000" b="1">
                <a:solidFill>
                  <a:srgbClr val="1F2D3A"/>
                </a:solidFill>
              </a:rPr>
              <a:t>Hak</a:t>
            </a:r>
            <a:r>
              <a:rPr sz="2000" b="0">
                <a:solidFill>
                  <a:srgbClr val="1F2D3A"/>
                </a:solidFill>
              </a:rPr>
              <a:t> (oku/yaz/çalıştır).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1902968"/>
          <a:ext cx="8911084" cy="15270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91601"/>
                <a:gridCol w="3637177"/>
                <a:gridCol w="2182306"/>
              </a:tblGrid>
              <a:tr h="381762">
                <a:tc>
                  <a:txBody>
                    <a:bodyPr wrap="square"/>
                    <a:lstStyle/>
                    <a:p/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  <a:latin typeface="Consolas"/>
                        </a:rPr>
                        <a:t>odeme_anahtari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  <a:latin typeface="Consolas"/>
                        </a:rPr>
                        <a:t>gunluk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81762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1F2D3A"/>
                          </a:solidFill>
                        </a:rPr>
                        <a:t>uygulama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—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yaz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81762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1F2D3A"/>
                          </a:solidFill>
                        </a:rPr>
                        <a:t>kutuphane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oku, yaz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yaz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81762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1F2D3A"/>
                          </a:solidFill>
                        </a:rPr>
                        <a:t>saldirgan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—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—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40080" y="3539744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Matris iki biçimde saklanır: </a:t>
            </a:r>
            <a:r>
              <a:rPr sz="2000" b="1">
                <a:solidFill>
                  <a:srgbClr val="1F2D3A"/>
                </a:solidFill>
              </a:rPr>
              <a:t>ACL</a:t>
            </a:r>
            <a:r>
              <a:rPr sz="2000" b="0">
                <a:solidFill>
                  <a:srgbClr val="1F2D3A"/>
                </a:solidFill>
              </a:rPr>
              <a:t> (sütun: nesne kimin erişeceğini tutar) · </a:t>
            </a:r>
            <a:r>
              <a:rPr sz="2000" b="1">
                <a:solidFill>
                  <a:srgbClr val="1F2D3A"/>
                </a:solidFill>
              </a:rPr>
              <a:t>Yetenek</a:t>
            </a:r>
            <a:r>
              <a:rPr sz="2000" b="0">
                <a:solidFill>
                  <a:srgbClr val="1F2D3A"/>
                </a:solidFill>
              </a:rPr>
              <a:t> (satır: özne biletleri).</a:t>
            </a:r>
          </a:p>
        </p:txBody>
      </p:sp>
    </p:spTree>
  </p:cSld>
  <p:clrMapOvr>
    <a:masterClrMapping/>
  </p:clrMapOvr>
</p:sld>
</file>

<file path=ppt/slides/slide1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DAC · MAC · RBAC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3" cy="143195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87936"/>
                <a:gridCol w="5703756"/>
                <a:gridCol w="3719841"/>
              </a:tblGrid>
              <a:tr h="357987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Model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Kararı kim verir?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Örnek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57987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1F2D3A"/>
                          </a:solidFill>
                        </a:rPr>
                        <a:t>DAC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Nesnenin </a:t>
                      </a:r>
                      <a:r>
                        <a:rPr sz="1296" b="1">
                          <a:solidFill>
                            <a:srgbClr val="1F2D3A"/>
                          </a:solidFill>
                        </a:rPr>
                        <a:t>sahibi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Unix </a:t>
                      </a:r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chmod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, Windows DACL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57987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1F2D3A"/>
                          </a:solidFill>
                        </a:rPr>
                        <a:t>MAC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1F2D3A"/>
                          </a:solidFill>
                        </a:rPr>
                        <a:t>Sistem/politika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 (sahip değiştiremez)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Bell–LaPadula, SELinux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57989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1F2D3A"/>
                          </a:solidFill>
                        </a:rPr>
                        <a:t>RBAC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İzinler </a:t>
                      </a:r>
                      <a:r>
                        <a:rPr sz="1296" b="1">
                          <a:solidFill>
                            <a:srgbClr val="1F2D3A"/>
                          </a:solidFill>
                        </a:rPr>
                        <a:t>rollere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, kullanıcı role atanır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"Muhasebeci" rolü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0080" y="2867558"/>
            <a:ext cx="10911535" cy="40690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0">
                <a:solidFill>
                  <a:srgbClr val="1F2D3A"/>
                </a:solidFill>
              </a:rPr>
              <a:t>Gerçek sistemler üçünü </a:t>
            </a:r>
            <a:r>
              <a:rPr sz="1800" b="1">
                <a:solidFill>
                  <a:srgbClr val="1F2D3A"/>
                </a:solidFill>
              </a:rPr>
              <a:t>birlikte</a:t>
            </a:r>
            <a:r>
              <a:rPr sz="1800" b="0">
                <a:solidFill>
                  <a:srgbClr val="1F2D3A"/>
                </a:solidFill>
              </a:rPr>
              <a:t> kullanır; etkin karar çoğu zaman </a:t>
            </a:r>
            <a:r>
              <a:rPr sz="1800" b="1">
                <a:solidFill>
                  <a:srgbClr val="1F2D3A"/>
                </a:solidFill>
              </a:rPr>
              <a:t>kesişimdir.</a:t>
            </a:r>
          </a:p>
        </p:txBody>
      </p:sp>
    </p:spTree>
  </p:cSld>
  <p:clrMapOvr>
    <a:masterClrMapping/>
  </p:clrMapOvr>
</p:sld>
</file>

<file path=ppt/slides/slide1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Demo 03 — Salt DAC (matris)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A1123F"/>
                </a:solidFill>
                <a:latin typeface="Consolas"/>
              </a:rPr>
              <a:t>code/week-02/03-erisim-modeli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875536"/>
            <a:ext cx="10911535" cy="1030224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kutuphane OKU odeme_anahtari   =&gt; IZIN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uygulama  OKU odeme_anahtari   =&gt; RED  (matriste yok)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saldirgan OKU odeme_anahtari   =&gt; RED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saldirgan YAZ gunluk           =&gt; RED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01548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Uygulamanın bile ödeme anahtarına </a:t>
            </a:r>
            <a:r>
              <a:rPr sz="2000" b="1">
                <a:solidFill>
                  <a:srgbClr val="1F2D3A"/>
                </a:solidFill>
              </a:rPr>
              <a:t>doğrudan erişimi yok</a:t>
            </a:r>
            <a:r>
              <a:rPr sz="2000" b="0">
                <a:solidFill>
                  <a:srgbClr val="1F2D3A"/>
                </a:solidFill>
              </a:rPr>
              <a:t> → </a:t>
            </a:r>
            <a:r>
              <a:rPr sz="2000" b="1">
                <a:solidFill>
                  <a:srgbClr val="1F2D3A"/>
                </a:solidFill>
              </a:rPr>
              <a:t>en az ayrıcalık.</a:t>
            </a:r>
          </a:p>
        </p:txBody>
      </p:sp>
    </p:spTree>
  </p:cSld>
  <p:clrMapOvr>
    <a:masterClrMapping/>
  </p:clrMapOvr>
</p:sld>
</file>

<file path=ppt/slides/slide1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Bell–LaPadula: gizlilik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Seviyeler: Genel &lt; Gizli &lt; Çok Gizli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Yukarı okuma yok:</a:t>
            </a:r>
            <a:r>
              <a:rPr sz="2000" b="0">
                <a:solidFill>
                  <a:srgbClr val="1F2D3A"/>
                </a:solidFill>
              </a:rPr>
              <a:t> kendinden gizli olanı okuyamaz.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*</a:t>
            </a:r>
            <a:r>
              <a:rPr sz="2000" b="0" i="1">
                <a:solidFill>
                  <a:srgbClr val="1F2D3A"/>
                </a:solidFill>
              </a:rPr>
              <a:t>Aşağı yazma yok (</a:t>
            </a:r>
            <a:r>
              <a:rPr sz="2000" b="0">
                <a:solidFill>
                  <a:srgbClr val="1F2D3A"/>
                </a:solidFill>
              </a:rPr>
              <a:t>-özellik):** kendinden az gizli olana yazamaz.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2828544"/>
            <a:ext cx="10911535" cy="604520"/>
          </a:xfrm>
          <a:prstGeom prst="rect">
            <a:avLst/>
          </a:prstGeom>
          <a:solidFill>
            <a:srgbClr val="EEF7F8"/>
          </a:solidFill>
          <a:ln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2000" b="1">
                <a:solidFill>
                  <a:srgbClr val="1F2D3A"/>
                </a:solidFill>
              </a:rPr>
              <a:t>"Read down, write up"</a:t>
            </a:r>
            <a:r>
              <a:rPr sz="2000" b="0">
                <a:solidFill>
                  <a:srgbClr val="1F2D3A"/>
                </a:solidFill>
              </a:rPr>
              <a:t> — gizli bilgi </a:t>
            </a:r>
            <a:r>
              <a:rPr sz="2000" b="1">
                <a:solidFill>
                  <a:srgbClr val="1F2D3A"/>
                </a:solidFill>
              </a:rPr>
              <a:t>aşağı sızamaz.</a:t>
            </a:r>
          </a:p>
        </p:txBody>
      </p:sp>
    </p:spTree>
  </p:cSld>
  <p:clrMapOvr>
    <a:masterClrMapping/>
  </p:clrMapOvr>
</p:sld>
</file>

<file path=ppt/slides/slide1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Biba: bütünlük (BLP'nin tersi)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Seviyeler: Dış &lt; Uygulama &lt; Çekirdek (güvenilirlik)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Aşağı okuma yok:</a:t>
            </a:r>
            <a:r>
              <a:rPr sz="2000" b="0">
                <a:solidFill>
                  <a:srgbClr val="1F2D3A"/>
                </a:solidFill>
              </a:rPr>
              <a:t> kendinden az güvenilir veriyi okuyamaz.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Yukarı yazma yok:</a:t>
            </a:r>
            <a:r>
              <a:rPr sz="2000" b="0">
                <a:solidFill>
                  <a:srgbClr val="1F2D3A"/>
                </a:solidFill>
              </a:rPr>
              <a:t> kendinden güvenilir veriye yazamaz.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2828544"/>
            <a:ext cx="10911535" cy="604520"/>
          </a:xfrm>
          <a:prstGeom prst="rect">
            <a:avLst/>
          </a:prstGeom>
          <a:solidFill>
            <a:srgbClr val="EEF7F8"/>
          </a:solidFill>
          <a:ln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2000" b="1">
                <a:solidFill>
                  <a:srgbClr val="1F2D3A"/>
                </a:solidFill>
              </a:rPr>
              <a:t>"Read up, write down"</a:t>
            </a:r>
            <a:r>
              <a:rPr sz="2000" b="0">
                <a:solidFill>
                  <a:srgbClr val="1F2D3A"/>
                </a:solidFill>
              </a:rPr>
              <a:t> — kirli bilgi </a:t>
            </a:r>
            <a:r>
              <a:rPr sz="2000" b="1">
                <a:solidFill>
                  <a:srgbClr val="1F2D3A"/>
                </a:solidFill>
              </a:rPr>
              <a:t>yukarı çıkamaz</a:t>
            </a:r>
            <a:r>
              <a:rPr sz="2000" b="0">
                <a:solidFill>
                  <a:srgbClr val="1F2D3A"/>
                </a:solidFill>
              </a:rPr>
              <a:t>, temizi bozamaz.</a:t>
            </a:r>
          </a:p>
        </p:txBody>
      </p:sp>
    </p:spTree>
  </p:cSld>
  <p:clrMapOvr>
    <a:masterClrMapping/>
  </p:clrMapOvr>
</p:sld>
</file>

<file path=ppt/slides/slide1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BLP ve Biba: ters yönler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1975104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    BELL-LaPADULA (gizlilik)      BIBA (butunluk)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    Cok Gizli  ^  oku             Cekirdek  ^  yaz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        |       |  yaz gonderme        |     |  oku gonderme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    Gizli      |                   Uygulama  |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        |      v                       |     v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    Genel                           Dis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BLP: yukari OKUMA yok, asagi YAZMA yok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Biba: asagi OKUMA yok, yukari YAZMA yok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410712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Bir veri hem gizli hem güvenilir olmalıysa → yalnız </a:t>
            </a:r>
            <a:r>
              <a:rPr sz="2000" b="1">
                <a:solidFill>
                  <a:srgbClr val="1F2D3A"/>
                </a:solidFill>
              </a:rPr>
              <a:t>kendi seviyesinde</a:t>
            </a:r>
            <a:r>
              <a:rPr sz="2000" b="0">
                <a:solidFill>
                  <a:srgbClr val="1F2D3A"/>
                </a:solidFill>
              </a:rPr>
              <a:t> işlenir.</a:t>
            </a:r>
          </a:p>
        </p:txBody>
      </p:sp>
    </p:spTree>
  </p:cSld>
  <p:clrMapOvr>
    <a:masterClrMapping/>
  </p:clrMapOvr>
</p:sld>
</file>

<file path=ppt/slides/slide1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BLP ↔ Biba — şema</a:t>
            </a:r>
          </a:p>
        </p:txBody>
      </p:sp>
      <p:pic>
        <p:nvPicPr>
          <p:cNvPr id="7" name="Picture 6" descr="h02-05-blp-bib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33529" y="1325880"/>
            <a:ext cx="8524636" cy="3929289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" y="5364897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Ters yönler:</a:t>
            </a:r>
            <a:r>
              <a:rPr sz="2000" b="0">
                <a:solidFill>
                  <a:srgbClr val="1F2D3A"/>
                </a:solidFill>
              </a:rPr>
              <a:t> BLP gizliliği (yukarı okuma + aşağı yazma yok), Biba bütünlüğü (aşağı okuma + yukarı yazma yok) korur.</a:t>
            </a:r>
          </a:p>
        </p:txBody>
      </p:sp>
    </p:spTree>
  </p:cSld>
  <p:clrMapOvr>
    <a:masterClrMapping/>
  </p:clrMapOvr>
</p:sld>
</file>

<file path=ppt/slides/slide1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Clark–Wilson: ticari bütünlük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Askeri seviye yerine </a:t>
            </a:r>
            <a:r>
              <a:rPr sz="2000" b="1">
                <a:solidFill>
                  <a:srgbClr val="1F2D3A"/>
                </a:solidFill>
              </a:rPr>
              <a:t>iyi biçimli işlem + görev ayrılığı</a:t>
            </a:r>
            <a:r>
              <a:rPr sz="2000" b="0">
                <a:solidFill>
                  <a:srgbClr val="1F2D3A"/>
                </a:solidFill>
              </a:rPr>
              <a:t> (1987, banka):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CDI:</a:t>
            </a:r>
            <a:r>
              <a:rPr sz="2000" b="0">
                <a:solidFill>
                  <a:srgbClr val="1F2D3A"/>
                </a:solidFill>
              </a:rPr>
              <a:t> bütünlüğü korunacak veri (bakiye).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TP:</a:t>
            </a:r>
            <a:r>
              <a:rPr sz="2000" b="0">
                <a:solidFill>
                  <a:srgbClr val="1F2D3A"/>
                </a:solidFill>
              </a:rPr>
              <a:t> CDI'ye yalnız </a:t>
            </a:r>
            <a:r>
              <a:rPr sz="2000" b="1">
                <a:solidFill>
                  <a:srgbClr val="1F2D3A"/>
                </a:solidFill>
              </a:rPr>
              <a:t>onaylı işlemler</a:t>
            </a:r>
            <a:r>
              <a:rPr sz="2000" b="0">
                <a:solidFill>
                  <a:srgbClr val="1F2D3A"/>
                </a:solidFill>
              </a:rPr>
              <a:t> dokunur (doğrudan yazma yok).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IVP:</a:t>
            </a:r>
            <a:r>
              <a:rPr sz="2000" b="0">
                <a:solidFill>
                  <a:srgbClr val="1F2D3A"/>
                </a:solidFill>
              </a:rPr>
              <a:t> tutarlılığı düzenli denetler ("borç = alacak").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Görev ayrılığı:</a:t>
            </a:r>
            <a:r>
              <a:rPr sz="2000" b="0">
                <a:solidFill>
                  <a:srgbClr val="1F2D3A"/>
                </a:solidFill>
              </a:rPr>
              <a:t> başlatan ≠ onaylayan.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3580384"/>
            <a:ext cx="10911535" cy="604520"/>
          </a:xfrm>
          <a:prstGeom prst="rect">
            <a:avLst/>
          </a:prstGeom>
          <a:solidFill>
            <a:srgbClr val="EEF7F8"/>
          </a:solidFill>
          <a:ln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2000" b="0">
                <a:solidFill>
                  <a:srgbClr val="1F2D3A"/>
                </a:solidFill>
              </a:rPr>
              <a:t>"Veriye doğrudan değil, </a:t>
            </a:r>
            <a:r>
              <a:rPr sz="2000" b="1">
                <a:solidFill>
                  <a:srgbClr val="1F2D3A"/>
                </a:solidFill>
              </a:rPr>
              <a:t>doğrulanmış işlemlerle</a:t>
            </a:r>
            <a:r>
              <a:rPr sz="2000" b="0">
                <a:solidFill>
                  <a:srgbClr val="1F2D3A"/>
                </a:solidFill>
              </a:rPr>
              <a:t> dokun."</a:t>
            </a:r>
          </a:p>
        </p:txBody>
      </p:sp>
    </p:spTree>
  </p:cSld>
  <p:clrMapOvr>
    <a:masterClrMapping/>
  </p:clrMapOvr>
</p:sld>
</file>

<file path=ppt/slides/slide1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Demo 03 — BLP ve Biba çıktısı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BLP:  memur   OKU operasyon  BLP:RED  =&gt; RED  (yukari okuma)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  general YAZ ilan       BLP:RED  =&gt; RED  (asagi yazma)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Biba: aglayici YAZ kayit     BIBA:RED =&gt; RED  (yukari yazma)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  islemci  OKU gelen     BIBA:RED =&gt; RED  (asagi okuma)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654807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DAC her ikisinde </a:t>
            </a:r>
            <a:r>
              <a:rPr sz="2000" b="1">
                <a:solidFill>
                  <a:srgbClr val="1F2D3A"/>
                </a:solidFill>
              </a:rPr>
              <a:t>VAR</a:t>
            </a:r>
            <a:r>
              <a:rPr sz="2000" b="0">
                <a:solidFill>
                  <a:srgbClr val="1F2D3A"/>
                </a:solidFill>
              </a:rPr>
              <a:t>; reddi getiren </a:t>
            </a:r>
            <a:r>
              <a:rPr sz="2000" b="1">
                <a:solidFill>
                  <a:srgbClr val="1F2D3A"/>
                </a:solidFill>
              </a:rPr>
              <a:t>sistem (MAC)</a:t>
            </a:r>
            <a:r>
              <a:rPr sz="2000" b="0">
                <a:solidFill>
                  <a:srgbClr val="1F2D3A"/>
                </a:solidFill>
              </a:rPr>
              <a:t> kuralıdır.</a:t>
            </a:r>
          </a:p>
        </p:txBody>
      </p:sp>
    </p:spTree>
  </p:cSld>
  <p:clrMapOvr>
    <a:masterClrMapping/>
  </p:clrMapOvr>
</p:sld>
</file>

<file path=ppt/slides/slide1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Unix erişim modeli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A1123F"/>
                </a:solidFill>
                <a:latin typeface="Consolas"/>
              </a:rPr>
              <a:t>-rwxr-x---</a:t>
            </a:r>
            <a:r>
              <a:rPr sz="2000" b="0">
                <a:solidFill>
                  <a:srgbClr val="1F2D3A"/>
                </a:solidFill>
              </a:rPr>
              <a:t> → sahip / grup / diğerleri, her biri </a:t>
            </a:r>
            <a:r>
              <a:rPr sz="2000" b="1">
                <a:solidFill>
                  <a:srgbClr val="1F2D3A"/>
                </a:solidFill>
              </a:rPr>
              <a:t>oku-yaz-çalıştır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1549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Üç kimlik: </a:t>
            </a:r>
            <a:r>
              <a:rPr sz="2000" b="1">
                <a:solidFill>
                  <a:srgbClr val="1F2D3A"/>
                </a:solidFill>
              </a:rPr>
              <a:t>effective / real / saved</a:t>
            </a:r>
            <a:r>
              <a:rPr sz="2000" b="0">
                <a:solidFill>
                  <a:srgbClr val="1F2D3A"/>
                </a:solidFill>
              </a:rPr>
              <a:t> UID.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setuid:</a:t>
            </a:r>
            <a:r>
              <a:rPr sz="2000" b="0">
                <a:solidFill>
                  <a:srgbClr val="1F2D3A"/>
                </a:solidFill>
              </a:rPr>
              <a:t> program </a:t>
            </a:r>
            <a:r>
              <a:rPr sz="2000" b="1">
                <a:solidFill>
                  <a:srgbClr val="1F2D3A"/>
                </a:solidFill>
              </a:rPr>
              <a:t>sahibinin</a:t>
            </a:r>
            <a:r>
              <a:rPr sz="2000" b="0">
                <a:solidFill>
                  <a:srgbClr val="1F2D3A"/>
                </a:solidFill>
              </a:rPr>
              <a:t> (çoğu zaman root) yetkisiyle çalışır — güçlü ama tehlikeli.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sticky bit:</a:t>
            </a:r>
            <a:r>
              <a:rPr sz="2000" b="0">
                <a:solidFill>
                  <a:srgbClr val="1F2D3A"/>
                </a:solidFill>
              </a:rPr>
              <a:t> </a:t>
            </a:r>
            <a:r>
              <a:rPr sz="2000" b="0">
                <a:solidFill>
                  <a:srgbClr val="A1123F"/>
                </a:solidFill>
                <a:latin typeface="Consolas"/>
              </a:rPr>
              <a:t>/tmp</a:t>
            </a:r>
            <a:r>
              <a:rPr sz="2000" b="0">
                <a:solidFill>
                  <a:srgbClr val="1F2D3A"/>
                </a:solidFill>
              </a:rPr>
              <a:t>'te başkasının dosyasını silememe.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534664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Kitap: Tarif 2.1</a:t>
            </a:r>
          </a:p>
        </p:txBody>
      </p:sp>
    </p:spTree>
  </p:cSld>
  <p:clrMapOvr>
    <a:masterClrMapping/>
  </p:clrMapOvr>
</p:sld>
</file>

<file path=ppt/slides/slide1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Unix izin bitleri — şema</a:t>
            </a:r>
          </a:p>
        </p:txBody>
      </p:sp>
      <p:pic>
        <p:nvPicPr>
          <p:cNvPr id="7" name="Picture 6" descr="h02-08-unix-izinleri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46645" y="1325880"/>
            <a:ext cx="8098404" cy="3345570"/>
          </a:xfrm>
          <a:prstGeom prst="rect">
            <a:avLst/>
          </a:prstGeom>
        </p:spPr>
      </p:pic>
    </p:spTree>
  </p:cSld>
  <p:clrMapOvr>
    <a:masterClrMapping/>
  </p:clrMapOvr>
</p:sld>
</file>

<file path=ppt/slides/slide1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Windows erişim modeli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4" cy="17556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75873"/>
                <a:gridCol w="3141199"/>
                <a:gridCol w="4794462"/>
              </a:tblGrid>
              <a:tr h="351129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Kavram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Unix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Windows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51129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Kimlik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UID/GID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SID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51129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İzin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Mod bitleri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1F2D3A"/>
                          </a:solidFill>
                        </a:rPr>
                        <a:t>DACL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 içindeki ACE'ler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51129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Denetim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syslog (harici)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1F2D3A"/>
                          </a:solidFill>
                        </a:rPr>
                        <a:t>SACL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 (yerleşik)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51132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"Herkese açık"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chmod 777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1F2D3A"/>
                          </a:solidFill>
                        </a:rPr>
                        <a:t>NULL DACL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0080" y="3191256"/>
            <a:ext cx="10911535" cy="7772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1">
                <a:solidFill>
                  <a:srgbClr val="1F2D3A"/>
                </a:solidFill>
              </a:rPr>
              <a:t>DACL:</a:t>
            </a:r>
            <a:r>
              <a:rPr sz="1800" b="0">
                <a:solidFill>
                  <a:srgbClr val="1F2D3A"/>
                </a:solidFill>
              </a:rPr>
              <a:t> kim ne yapabilir (ACE = SID + hak + izin/reddet).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1F2D3A"/>
                </a:solidFill>
              </a:rPr>
              <a:t>Modern Windows: </a:t>
            </a:r>
            <a:r>
              <a:rPr sz="1800" b="1">
                <a:solidFill>
                  <a:srgbClr val="1F2D3A"/>
                </a:solidFill>
              </a:rPr>
              <a:t>MIC</a:t>
            </a:r>
            <a:r>
              <a:rPr sz="1800" b="0">
                <a:solidFill>
                  <a:srgbClr val="1F2D3A"/>
                </a:solidFill>
              </a:rPr>
              <a:t> ve </a:t>
            </a:r>
            <a:r>
              <a:rPr sz="1800" b="1">
                <a:solidFill>
                  <a:srgbClr val="1F2D3A"/>
                </a:solidFill>
              </a:rPr>
              <a:t>AppContainer</a:t>
            </a:r>
            <a:r>
              <a:rPr sz="1800" b="0">
                <a:solidFill>
                  <a:srgbClr val="1F2D3A"/>
                </a:solidFill>
              </a:rPr>
              <a:t> (Biba benzeri). Kitap: Tarif 2.2</a:t>
            </a:r>
          </a:p>
        </p:txBody>
      </p:sp>
    </p:spTree>
  </p:cSld>
  <p:clrMapOvr>
    <a:masterClrMapping/>
  </p:clrMapOvr>
</p:sld>
</file>

<file path=ppt/slides/slide1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Demo 06 — TOCTOU yarışı (CWE-367)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A1123F"/>
                </a:solidFill>
                <a:latin typeface="Consolas"/>
              </a:rPr>
              <a:t>code/week-02/06-toctou</a:t>
            </a:r>
            <a:r>
              <a:rPr sz="2000" b="0">
                <a:solidFill>
                  <a:srgbClr val="1F2D3A"/>
                </a:solidFill>
              </a:rPr>
              <a:t> (yalnız WSL/Linux) · Kitap: Tarif 2.3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875536"/>
            <a:ext cx="10911535" cy="1030224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GUVENSIZ (once lstat, sonra fopen):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&gt;&gt;&gt; SALDIRI BASARILI: yazi gizli_hedef.txt'e yonlendirildi!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GUVENLI (O_NOFOLLOW ile tek adim):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reddedildi: hedef sembolik bag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015488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Denetim ile kullanım arasındaki boşluk</a:t>
            </a:r>
            <a:r>
              <a:rPr sz="2000" b="0">
                <a:solidFill>
                  <a:srgbClr val="1F2D3A"/>
                </a:solidFill>
              </a:rPr>
              <a:t> bir yarıştır. Çözüm: tek atomik adım (</a:t>
            </a:r>
            <a:r>
              <a:rPr sz="2000" b="0">
                <a:solidFill>
                  <a:srgbClr val="A1123F"/>
                </a:solidFill>
                <a:latin typeface="Consolas"/>
              </a:rPr>
              <a:t>O_NOFOLLOW</a:t>
            </a:r>
            <a:r>
              <a:rPr sz="2000" b="0">
                <a:solidFill>
                  <a:srgbClr val="1F2D3A"/>
                </a:solidFill>
              </a:rPr>
              <a:t>, </a:t>
            </a:r>
            <a:r>
              <a:rPr sz="2000" b="0">
                <a:solidFill>
                  <a:srgbClr val="A1123F"/>
                </a:solidFill>
                <a:latin typeface="Consolas"/>
              </a:rPr>
              <a:t>O_EXCL</a:t>
            </a:r>
            <a:r>
              <a:rPr sz="2000" b="0">
                <a:solidFill>
                  <a:srgbClr val="1F2D3A"/>
                </a:solidFill>
              </a:rPr>
              <a:t>), fd üzerinden çalış.</a:t>
            </a:r>
          </a:p>
        </p:txBody>
      </p:sp>
    </p:spTree>
  </p:cSld>
  <p:clrMapOvr>
    <a:masterClrMapping/>
  </p:clrMapOvr>
</p:sld>
</file>

<file path=ppt/slides/slide1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Demo 12 — ACE değerlendirme algoritması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0690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0">
                <a:solidFill>
                  <a:srgbClr val="A1123F"/>
                </a:solidFill>
                <a:latin typeface="Consolas"/>
              </a:rPr>
              <a:t>code/week-02/12-ace-degerlendirme</a:t>
            </a:r>
            <a:r>
              <a:rPr sz="1800" b="0">
                <a:solidFill>
                  <a:srgbClr val="1F2D3A"/>
                </a:solidFill>
              </a:rPr>
              <a:t> · Tarif 2.2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842515"/>
            <a:ext cx="10911535" cy="1124712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1a kanonik:  RET Herkes TAM | IZIN Pazarlama YAZ  =&gt; RED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1b bozuk:    IZIN Pazarlama YAZ | ... RET Herkes  =&gt; IZIN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2a NULL DACL (yabanci hesap) =&gt; IZIN (SAHIP_AL, IZIN_YAZ dahil!)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2b BOS DACL  (ayni hesap)    =&gt; RED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3b kalitim kesildi           =&gt; RED (liste bitti)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076955"/>
            <a:ext cx="10911535" cy="11201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1F2D3A"/>
                </a:solidFill>
              </a:rPr>
              <a:t>Sıra önemli: </a:t>
            </a:r>
            <a:r>
              <a:rPr sz="1800" b="1">
                <a:solidFill>
                  <a:srgbClr val="1F2D3A"/>
                </a:solidFill>
              </a:rPr>
              <a:t>açık RET → açık İZİN → miras RET → miras İZİN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1F2D3A"/>
                </a:solidFill>
              </a:rPr>
              <a:t>❌ NULL DACL = herkese </a:t>
            </a:r>
            <a:r>
              <a:rPr sz="1800" b="1">
                <a:solidFill>
                  <a:srgbClr val="1F2D3A"/>
                </a:solidFill>
              </a:rPr>
              <a:t>her</a:t>
            </a:r>
            <a:r>
              <a:rPr sz="1800" b="0">
                <a:solidFill>
                  <a:srgbClr val="1F2D3A"/>
                </a:solidFill>
              </a:rPr>
              <a:t> hak · ✅ gerekli hakları açıkça ver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1F2D3A"/>
                </a:solidFill>
              </a:rPr>
              <a:t>Sahip, DACL ne derse desin izinleri değiştirebilir</a:t>
            </a:r>
          </a:p>
        </p:txBody>
      </p:sp>
    </p:spTree>
  </p:cSld>
  <p:clrMapOvr>
    <a:masterClrMapping/>
  </p:clrMapOvr>
</p:sld>
</file>

<file path=ppt/slides/slide1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Demo 13 — Unix izinleri, umask, setuid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0690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0">
                <a:solidFill>
                  <a:srgbClr val="A1123F"/>
                </a:solidFill>
                <a:latin typeface="Consolas"/>
              </a:rPr>
              <a:t>code/week-02/13-unix-izin-umask</a:t>
            </a:r>
            <a:r>
              <a:rPr sz="1800" b="0">
                <a:solidFill>
                  <a:srgbClr val="1F2D3A"/>
                </a:solidFill>
              </a:rPr>
              <a:t> · Tarif 2.1, 2.7, 1.3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842515"/>
            <a:ext cx="10911535" cy="954633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ayse   oku paradoks.txt ---rwxrwx  sahip -&gt; RED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zeynep oku paradoks.txt ---rwxrwx  diger -&gt; IZIN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0666 &amp; ~umask:  000 -&gt; rw-rw-rw-   022 -&gt; rw-r--r--   077 -&gt; rw-------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seteuid(1001)  r/e/s = 1001/1001/0   &lt;- sakli UID hala 0!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906876"/>
            <a:ext cx="10911535" cy="11201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1">
                <a:solidFill>
                  <a:srgbClr val="1F2D3A"/>
                </a:solidFill>
              </a:rPr>
              <a:t>İlk eşleşen sınıf</a:t>
            </a:r>
            <a:r>
              <a:rPr sz="1800" b="0">
                <a:solidFill>
                  <a:srgbClr val="1F2D3A"/>
                </a:solidFill>
              </a:rPr>
              <a:t> karar verir (sahip → grup → diğerleri)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A1123F"/>
                </a:solidFill>
                <a:latin typeface="Consolas"/>
              </a:rPr>
              <a:t>fopen()</a:t>
            </a:r>
            <a:r>
              <a:rPr sz="1800" b="0">
                <a:solidFill>
                  <a:srgbClr val="1F2D3A"/>
                </a:solidFill>
              </a:rPr>
              <a:t> 0666 ister → hassas dosya: </a:t>
            </a:r>
            <a:r>
              <a:rPr sz="1800" b="0">
                <a:solidFill>
                  <a:srgbClr val="A1123F"/>
                </a:solidFill>
                <a:latin typeface="Consolas"/>
              </a:rPr>
              <a:t>open(..., 0600)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1F2D3A"/>
                </a:solidFill>
              </a:rPr>
              <a:t>Kalıcı bırakma: </a:t>
            </a:r>
            <a:r>
              <a:rPr sz="1800" b="0">
                <a:solidFill>
                  <a:srgbClr val="A1123F"/>
                </a:solidFill>
                <a:latin typeface="Consolas"/>
              </a:rPr>
              <a:t>setresuid()</a:t>
            </a:r>
            <a:r>
              <a:rPr sz="1800" b="0">
                <a:solidFill>
                  <a:srgbClr val="1F2D3A"/>
                </a:solidFill>
              </a:rPr>
              <a:t> + doğrula</a:t>
            </a:r>
          </a:p>
        </p:txBody>
      </p:sp>
    </p:spTree>
  </p:cSld>
  <p:clrMapOvr>
    <a:masterClrMapping/>
  </p:clrMapOvr>
</p:sld>
</file>

<file path=ppt/slides/slide1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Demo 14 — RBAC, görev ayrılığı, Clark–Wilson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0690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0">
                <a:solidFill>
                  <a:srgbClr val="A1123F"/>
                </a:solidFill>
                <a:latin typeface="Consolas"/>
              </a:rPr>
              <a:t>code/week-02/14-rbac-clark-wilson</a:t>
            </a:r>
            <a:r>
              <a:rPr sz="1800" b="0">
                <a:solidFill>
                  <a:srgbClr val="1F2D3A"/>
                </a:solidFill>
              </a:rPr>
              <a:t> · banka benzetimi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842515"/>
            <a:ext cx="10911535" cy="954633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ATA cem GISE                 SSD(GISE,ONAYCI)  -&gt; RED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OTURUM deniz GISE,DENETCI    DSD(GISE,DENETCI) -&gt; RED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OTURUM deniz DENETCI         -&gt; TAMAM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deniz IVP: beklenen 20250, bulunan 20250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906876"/>
            <a:ext cx="10911535" cy="11201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1">
                <a:solidFill>
                  <a:srgbClr val="1F2D3A"/>
                </a:solidFill>
              </a:rPr>
              <a:t>SSD:</a:t>
            </a:r>
            <a:r>
              <a:rPr sz="1800" b="0">
                <a:solidFill>
                  <a:srgbClr val="1F2D3A"/>
                </a:solidFill>
              </a:rPr>
              <a:t> çelişen iki role atanamaz · </a:t>
            </a:r>
            <a:r>
              <a:rPr sz="1800" b="1">
                <a:solidFill>
                  <a:srgbClr val="1F2D3A"/>
                </a:solidFill>
              </a:rPr>
              <a:t>DSD:</a:t>
            </a:r>
            <a:r>
              <a:rPr sz="1800" b="0">
                <a:solidFill>
                  <a:srgbClr val="1F2D3A"/>
                </a:solidFill>
              </a:rPr>
              <a:t> aynı oturumda ikisi etkin olamaz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1F2D3A"/>
                </a:solidFill>
              </a:rPr>
              <a:t>CDI'ya yalnız </a:t>
            </a:r>
            <a:r>
              <a:rPr sz="1800" b="1">
                <a:solidFill>
                  <a:srgbClr val="1F2D3A"/>
                </a:solidFill>
              </a:rPr>
              <a:t>sertifikalı TP</a:t>
            </a:r>
            <a:r>
              <a:rPr sz="1800" b="0">
                <a:solidFill>
                  <a:srgbClr val="1F2D3A"/>
                </a:solidFill>
              </a:rPr>
              <a:t> dokunur; büyük havale → </a:t>
            </a:r>
            <a:r>
              <a:rPr sz="1800" b="1">
                <a:solidFill>
                  <a:srgbClr val="1F2D3A"/>
                </a:solidFill>
              </a:rPr>
              <a:t>ikinci kişi onayı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1F2D3A"/>
                </a:solidFill>
              </a:rPr>
              <a:t>⚠️ Hatalı TP sertifikalanırsa kurallar görmez, </a:t>
            </a:r>
            <a:r>
              <a:rPr sz="1800" b="1">
                <a:solidFill>
                  <a:srgbClr val="1F2D3A"/>
                </a:solidFill>
              </a:rPr>
              <a:t>IVP yakalar</a:t>
            </a:r>
          </a:p>
        </p:txBody>
      </p:sp>
    </p:spTree>
  </p:cSld>
  <p:clrMapOvr>
    <a:masterClrMapping/>
  </p:clrMapOvr>
</p:sld>
</file>

<file path=ppt/slides/slide1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Yanılgı: "Kimliği doğruladık, yetkiyi de doğrulamış olduk"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Yanılgı:</a:t>
            </a:r>
            <a:r>
              <a:rPr sz="2000" b="0">
                <a:solidFill>
                  <a:srgbClr val="1F2D3A"/>
                </a:solidFill>
              </a:rPr>
              <a:t> Giriş yapabilen kullanıcı, her şeyi yapabilir.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Gerçek:</a:t>
            </a:r>
            <a:r>
              <a:rPr sz="2000" b="0">
                <a:solidFill>
                  <a:srgbClr val="1F2D3A"/>
                </a:solidFill>
              </a:rPr>
              <a:t> </a:t>
            </a:r>
            <a:r>
              <a:rPr sz="2000" b="1">
                <a:solidFill>
                  <a:srgbClr val="1F2D3A"/>
                </a:solidFill>
              </a:rPr>
              <a:t>Kimlik doğrulama</a:t>
            </a:r>
            <a:r>
              <a:rPr sz="2000" b="0">
                <a:solidFill>
                  <a:srgbClr val="1F2D3A"/>
                </a:solidFill>
              </a:rPr>
              <a:t> "sen kimsin?" sorusudur; </a:t>
            </a:r>
            <a:r>
              <a:rPr sz="2000" b="1">
                <a:solidFill>
                  <a:srgbClr val="1F2D3A"/>
                </a:solidFill>
              </a:rPr>
              <a:t>yetkilendirme</a:t>
            </a:r>
            <a:r>
              <a:rPr sz="2000" b="0">
                <a:solidFill>
                  <a:srgbClr val="1F2D3A"/>
                </a:solidFill>
              </a:rPr>
              <a:t> "bunu yapabilir misin?" sorusudur — ayrı adımlardır.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755392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2025 CWE Top 25'te dördüncü sıradaki </a:t>
            </a:r>
            <a:r>
              <a:rPr sz="2000" b="1">
                <a:solidFill>
                  <a:srgbClr val="1F2D3A"/>
                </a:solidFill>
              </a:rPr>
              <a:t>CWE-862</a:t>
            </a:r>
            <a:r>
              <a:rPr sz="2000" b="0">
                <a:solidFill>
                  <a:srgbClr val="1F2D3A"/>
                </a:solidFill>
              </a:rPr>
              <a:t> (eksik yetkilendirme) tam bu hatadır.</a:t>
            </a:r>
          </a:p>
        </p:txBody>
      </p:sp>
    </p:spTree>
  </p:cSld>
  <p:clrMapOvr>
    <a:masterClrMapping/>
  </p:clrMapOvr>
</p:sld>
</file>

<file path=ppt/slides/slide1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Yanılgı: "Hata olursa izin verelim"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Yanılgı:</a:t>
            </a:r>
            <a:r>
              <a:rPr sz="2000" b="0">
                <a:solidFill>
                  <a:srgbClr val="1F2D3A"/>
                </a:solidFill>
              </a:rPr>
              <a:t> Politika okunamıyorsa ya da belirsizse, kullanıcı mağdur olmasın diye </a:t>
            </a:r>
            <a:r>
              <a:rPr sz="2000" b="1">
                <a:solidFill>
                  <a:srgbClr val="1F2D3A"/>
                </a:solidFill>
              </a:rPr>
              <a:t>izin verilmeli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20573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Gerçek:</a:t>
            </a:r>
            <a:r>
              <a:rPr sz="2000" b="0">
                <a:solidFill>
                  <a:srgbClr val="1F2D3A"/>
                </a:solidFill>
              </a:rPr>
              <a:t> </a:t>
            </a:r>
            <a:r>
              <a:rPr sz="2000" b="1">
                <a:solidFill>
                  <a:srgbClr val="1F2D3A"/>
                </a:solidFill>
              </a:rPr>
              <a:t>Güvenli varsayılan</a:t>
            </a:r>
            <a:r>
              <a:rPr sz="2000" b="0">
                <a:solidFill>
                  <a:srgbClr val="1F2D3A"/>
                </a:solidFill>
              </a:rPr>
              <a:t> ilkesi tam tersini söyler: politika okunamıyorsa cevap </a:t>
            </a:r>
            <a:r>
              <a:rPr sz="2000" b="1">
                <a:solidFill>
                  <a:srgbClr val="1F2D3A"/>
                </a:solidFill>
              </a:rPr>
              <a:t>ret</a:t>
            </a:r>
            <a:r>
              <a:rPr sz="2000" b="0">
                <a:solidFill>
                  <a:srgbClr val="1F2D3A"/>
                </a:solidFill>
              </a:rPr>
              <a:t> olmalıdır (CWE-636, "fail-open" hatası).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085592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"Fail-closed" (hata olunca kapat) güvenli sistemlerin varsayılanıdır.</a:t>
            </a:r>
          </a:p>
        </p:txBody>
      </p:sp>
    </p:spTree>
  </p:cSld>
  <p:clrMapOvr>
    <a:masterClrMapping/>
  </p:clrMapOvr>
</p:sld>
</file>

<file path=ppt/slides/slide1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Yanılgı: "NULL DACL ile boş DACL aynı"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Yanılgı:</a:t>
            </a:r>
            <a:r>
              <a:rPr sz="2000" b="0">
                <a:solidFill>
                  <a:srgbClr val="1F2D3A"/>
                </a:solidFill>
              </a:rPr>
              <a:t> İkisi de "izin yok" gibi görünür.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Gerçek:</a:t>
            </a:r>
            <a:r>
              <a:rPr sz="2000" b="0">
                <a:solidFill>
                  <a:srgbClr val="1F2D3A"/>
                </a:solidFill>
              </a:rPr>
              <a:t> </a:t>
            </a:r>
            <a:r>
              <a:rPr sz="2000" b="1">
                <a:solidFill>
                  <a:srgbClr val="1F2D3A"/>
                </a:solidFill>
              </a:rPr>
              <a:t>NULL DACL</a:t>
            </a:r>
            <a:r>
              <a:rPr sz="2000" b="0">
                <a:solidFill>
                  <a:srgbClr val="1F2D3A"/>
                </a:solidFill>
              </a:rPr>
              <a:t> (hiç DACL yok) </a:t>
            </a:r>
            <a:r>
              <a:rPr sz="2000" b="1">
                <a:solidFill>
                  <a:srgbClr val="1F2D3A"/>
                </a:solidFill>
              </a:rPr>
              <a:t>herkese tam erişim</a:t>
            </a:r>
            <a:r>
              <a:rPr sz="2000" b="0">
                <a:solidFill>
                  <a:srgbClr val="1F2D3A"/>
                </a:solidFill>
              </a:rPr>
              <a:t> verir — sahiplik alma dahil. </a:t>
            </a:r>
            <a:r>
              <a:rPr sz="2000" b="1">
                <a:solidFill>
                  <a:srgbClr val="1F2D3A"/>
                </a:solidFill>
              </a:rPr>
              <a:t>Boş DACL</a:t>
            </a:r>
            <a:r>
              <a:rPr sz="2000" b="0">
                <a:solidFill>
                  <a:srgbClr val="1F2D3A"/>
                </a:solidFill>
              </a:rPr>
              <a:t> (ACE'siz liste) ise </a:t>
            </a:r>
            <a:r>
              <a:rPr sz="2000" b="1">
                <a:solidFill>
                  <a:srgbClr val="1F2D3A"/>
                </a:solidFill>
              </a:rPr>
              <a:t>kimseye hiçbir hak vermez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755392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İlki ciddi bir zafiyettir (CWE-732); ikisini karıştırmak tehlikelidir (Demo 12).</a:t>
            </a:r>
          </a:p>
        </p:txBody>
      </p:sp>
    </p:spTree>
  </p:cSld>
  <p:clrMapOvr>
    <a:masterClrMapping/>
  </p:clrMapOvr>
</p:sld>
</file>

<file path=ppt/slides/slide1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Yanılgı: "ACE sırası önemli değil"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Yanılgı:</a:t>
            </a:r>
            <a:r>
              <a:rPr sz="2000" b="0">
                <a:solidFill>
                  <a:srgbClr val="1F2D3A"/>
                </a:solidFill>
              </a:rPr>
              <a:t> Aynı ACE'ler farklı sırada yazılsa da sonuç aynıdır.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Gerçek:</a:t>
            </a:r>
            <a:r>
              <a:rPr sz="2000" b="0">
                <a:solidFill>
                  <a:srgbClr val="1F2D3A"/>
                </a:solidFill>
              </a:rPr>
              <a:t> Windows ACE'leri </a:t>
            </a:r>
            <a:r>
              <a:rPr sz="2000" b="1">
                <a:solidFill>
                  <a:srgbClr val="1F2D3A"/>
                </a:solidFill>
              </a:rPr>
              <a:t>sırayla</a:t>
            </a:r>
            <a:r>
              <a:rPr sz="2000" b="0">
                <a:solidFill>
                  <a:srgbClr val="1F2D3A"/>
                </a:solidFill>
              </a:rPr>
              <a:t> değerlendirir ve </a:t>
            </a:r>
            <a:r>
              <a:rPr sz="2000" b="1">
                <a:solidFill>
                  <a:srgbClr val="1F2D3A"/>
                </a:solidFill>
              </a:rPr>
              <a:t>ilk belirleyici</a:t>
            </a:r>
            <a:r>
              <a:rPr sz="2000" b="0">
                <a:solidFill>
                  <a:srgbClr val="1F2D3A"/>
                </a:solidFill>
              </a:rPr>
              <a:t> girdide durur.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425192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Kanonik sırada açık ret girdileri izinlerden önce gelir; elle yanlış sıralanmış bir DACL, niyet edilen reddi </a:t>
            </a:r>
            <a:r>
              <a:rPr sz="2000" b="1">
                <a:solidFill>
                  <a:srgbClr val="1F2D3A"/>
                </a:solidFill>
              </a:rPr>
              <a:t>etkisiz bırakabilir</a:t>
            </a:r>
            <a:r>
              <a:rPr sz="2000" b="0">
                <a:solidFill>
                  <a:srgbClr val="1F2D3A"/>
                </a:solidFill>
              </a:rPr>
              <a:t> (Demo 12).</a:t>
            </a:r>
          </a:p>
        </p:txBody>
      </p:sp>
    </p:spTree>
  </p:cSld>
  <p:clrMapOvr>
    <a:masterClrMapping/>
  </p:clrMapOvr>
</p:sld>
</file>

<file path=ppt/slides/slide1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Yanılgı: "chmod 777 ile sorun çözüldü"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Yanılgı:</a:t>
            </a:r>
            <a:r>
              <a:rPr sz="2000" b="0">
                <a:solidFill>
                  <a:srgbClr val="1F2D3A"/>
                </a:solidFill>
              </a:rPr>
              <a:t> "Erişim reddedildi" hatasını </a:t>
            </a:r>
            <a:r>
              <a:rPr sz="2000" b="0">
                <a:solidFill>
                  <a:srgbClr val="A1123F"/>
                </a:solidFill>
                <a:latin typeface="Consolas"/>
              </a:rPr>
              <a:t>chmod 777</a:t>
            </a:r>
            <a:r>
              <a:rPr sz="2000" b="0">
                <a:solidFill>
                  <a:srgbClr val="1F2D3A"/>
                </a:solidFill>
              </a:rPr>
              <a:t> ile geçiştirmek pratik bir çözümdür.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20573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Gerçek:</a:t>
            </a:r>
            <a:r>
              <a:rPr sz="2000" b="0">
                <a:solidFill>
                  <a:srgbClr val="1F2D3A"/>
                </a:solidFill>
              </a:rPr>
              <a:t> Sorun izinlerin herkese açılmasıyla </a:t>
            </a:r>
            <a:r>
              <a:rPr sz="2000" b="1">
                <a:solidFill>
                  <a:srgbClr val="1F2D3A"/>
                </a:solidFill>
              </a:rPr>
              <a:t>çözülmez, büyütülür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755392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Sırlar </a:t>
            </a:r>
            <a:r>
              <a:rPr sz="2000" b="0">
                <a:solidFill>
                  <a:srgbClr val="A1123F"/>
                </a:solidFill>
                <a:latin typeface="Consolas"/>
              </a:rPr>
              <a:t>0600</a:t>
            </a:r>
            <a:r>
              <a:rPr sz="2000" b="0">
                <a:solidFill>
                  <a:srgbClr val="1F2D3A"/>
                </a:solidFill>
              </a:rPr>
              <a:t> ile oluşturulmalı, </a:t>
            </a:r>
            <a:r>
              <a:rPr sz="2000" b="0">
                <a:solidFill>
                  <a:srgbClr val="A1123F"/>
                </a:solidFill>
                <a:latin typeface="Consolas"/>
              </a:rPr>
              <a:t>umask</a:t>
            </a:r>
            <a:r>
              <a:rPr sz="2000" b="0">
                <a:solidFill>
                  <a:srgbClr val="1F2D3A"/>
                </a:solidFill>
              </a:rPr>
              <a:t> programın başında </a:t>
            </a:r>
            <a:r>
              <a:rPr sz="2000" b="1">
                <a:solidFill>
                  <a:srgbClr val="1F2D3A"/>
                </a:solidFill>
              </a:rPr>
              <a:t>bilinçli</a:t>
            </a:r>
            <a:r>
              <a:rPr sz="2000" b="0">
                <a:solidFill>
                  <a:srgbClr val="1F2D3A"/>
                </a:solidFill>
              </a:rPr>
              <a:t> ayarlanmalıdır (Demo 13).</a:t>
            </a:r>
          </a:p>
        </p:txBody>
      </p:sp>
    </p:spTree>
  </p:cSld>
  <p:clrMapOvr>
    <a:masterClrMapping/>
  </p:clrMapOvr>
</p:sld>
</file>

<file path=ppt/slides/slide1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Yanılgı: "RBAC kurduk, görev ayrılığı kendiliğinden gelir"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Yanılgı:</a:t>
            </a:r>
            <a:r>
              <a:rPr sz="2000" b="0">
                <a:solidFill>
                  <a:srgbClr val="1F2D3A"/>
                </a:solidFill>
              </a:rPr>
              <a:t> Rol tabanlı erişim denetimi kurmak, görev ayrılığını otomatik sağlar.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Gerçek:</a:t>
            </a:r>
            <a:r>
              <a:rPr sz="2000" b="0">
                <a:solidFill>
                  <a:srgbClr val="1F2D3A"/>
                </a:solidFill>
              </a:rPr>
              <a:t> Aynı kişiye hem "iade başlat" hem "iade onayla" rolü verilirse RBAC görev ayrılığını </a:t>
            </a:r>
            <a:r>
              <a:rPr sz="2000" b="1">
                <a:solidFill>
                  <a:srgbClr val="1F2D3A"/>
                </a:solidFill>
              </a:rPr>
              <a:t>sağlamaz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755392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Statik (</a:t>
            </a:r>
            <a:r>
              <a:rPr sz="2000" b="1">
                <a:solidFill>
                  <a:srgbClr val="1F2D3A"/>
                </a:solidFill>
              </a:rPr>
              <a:t>SSD</a:t>
            </a:r>
            <a:r>
              <a:rPr sz="2000" b="0">
                <a:solidFill>
                  <a:srgbClr val="1F2D3A"/>
                </a:solidFill>
              </a:rPr>
              <a:t>) ya da dinamik (</a:t>
            </a:r>
            <a:r>
              <a:rPr sz="2000" b="1">
                <a:solidFill>
                  <a:srgbClr val="1F2D3A"/>
                </a:solidFill>
              </a:rPr>
              <a:t>DSD</a:t>
            </a:r>
            <a:r>
              <a:rPr sz="2000" b="0">
                <a:solidFill>
                  <a:srgbClr val="1F2D3A"/>
                </a:solidFill>
              </a:rPr>
              <a:t>) görev ayrılığı kısıtı </a:t>
            </a:r>
            <a:r>
              <a:rPr sz="2000" b="1">
                <a:solidFill>
                  <a:srgbClr val="1F2D3A"/>
                </a:solidFill>
              </a:rPr>
              <a:t>ayrıca</a:t>
            </a:r>
            <a:r>
              <a:rPr sz="2000" b="0">
                <a:solidFill>
                  <a:srgbClr val="1F2D3A"/>
                </a:solidFill>
              </a:rPr>
              <a:t> tanımlanmalıdır (Demo 14).</a:t>
            </a:r>
          </a:p>
        </p:txBody>
      </p:sp>
    </p:spTree>
  </p:cSld>
  <p:clrMapOvr>
    <a:masterClrMapping/>
  </p:clrMapOvr>
</p:sld>
</file>

<file path=ppt/slides/slide1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Mobil izin modeli ve en az ayrıcalık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2915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Her uygulama kendi </a:t>
            </a:r>
            <a:r>
              <a:rPr sz="2000" b="1">
                <a:solidFill>
                  <a:srgbClr val="1F2D3A"/>
                </a:solidFill>
              </a:rPr>
              <a:t>kum havuzunda</a:t>
            </a:r>
            <a:r>
              <a:rPr sz="2000" b="0">
                <a:solidFill>
                  <a:srgbClr val="1F2D3A"/>
                </a:solidFill>
              </a:rPr>
              <a:t> çalışır — diğer uygulamaların verisine varsayılan olarak erişemez.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Hassas kaynaklar (kamera, konum, kişiler) </a:t>
            </a:r>
            <a:r>
              <a:rPr sz="2000" b="1">
                <a:solidFill>
                  <a:srgbClr val="1F2D3A"/>
                </a:solidFill>
              </a:rPr>
              <a:t>çalışma anı izni</a:t>
            </a:r>
            <a:r>
              <a:rPr sz="2000" b="0">
                <a:solidFill>
                  <a:srgbClr val="1F2D3A"/>
                </a:solidFill>
              </a:rPr>
              <a:t> ister; kullanıcı onaylamadan erişilmez.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Bu, DAC (kullanıcı onayı) ile MAC'e (sistemin zorunlu kum havuzu sınırı) benzer bir </a:t>
            </a:r>
            <a:r>
              <a:rPr sz="2000" b="1">
                <a:solidFill>
                  <a:srgbClr val="1F2D3A"/>
                </a:solidFill>
              </a:rPr>
              <a:t>karma modeldir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En az ayrıcalık ilkesinin (Hafta 1) günümüz mobil işletim sistemlerindeki </a:t>
            </a:r>
            <a:r>
              <a:rPr sz="2000" b="1">
                <a:solidFill>
                  <a:srgbClr val="1F2D3A"/>
                </a:solidFill>
              </a:rPr>
              <a:t>somut hâlidir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1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Kontrol listesi — erişim denetimi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21488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1F2D3A"/>
                </a:solidFill>
              </a:rPr>
              <a:t> </a:t>
            </a:r>
            <a:r>
              <a:rPr sz="1800" b="1">
                <a:solidFill>
                  <a:srgbClr val="1F2D3A"/>
                </a:solidFill>
              </a:rPr>
              <a:t>kararı kim verir?</a:t>
            </a:r>
            <a:r>
              <a:rPr sz="1800" b="0">
                <a:solidFill>
                  <a:srgbClr val="1F2D3A"/>
                </a:solidFill>
              </a:rPr>
              <a:t>" sorusuyla ayırabiliyorum.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1F2D3A"/>
                </a:solidFill>
              </a:rPr>
              <a:t> 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1F2D3A"/>
                </a:solidFill>
              </a:rPr>
              <a:t> </a:t>
            </a:r>
            <a:r>
              <a:rPr sz="1800" b="1">
                <a:solidFill>
                  <a:srgbClr val="1F2D3A"/>
                </a:solidFill>
              </a:rPr>
              <a:t>farkını</a:t>
            </a:r>
            <a:r>
              <a:rPr sz="1800" b="0">
                <a:solidFill>
                  <a:srgbClr val="1F2D3A"/>
                </a:solidFill>
              </a:rPr>
              <a:t> bir örnekle açıklayabiliyorum.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1F2D3A"/>
                </a:solidFill>
              </a:rPr>
              <a:t> </a:t>
            </a:r>
            <a:r>
              <a:rPr sz="1800" b="0">
                <a:solidFill>
                  <a:srgbClr val="A1123F"/>
                </a:solidFill>
                <a:latin typeface="Consolas"/>
              </a:rPr>
              <a:t>ls -l</a:t>
            </a:r>
            <a:r>
              <a:rPr sz="1800" b="0">
                <a:solidFill>
                  <a:srgbClr val="1F2D3A"/>
                </a:solidFill>
              </a:rPr>
              <a:t> çıktısını, setuid/sticky bitlerini ve umask hesabını yorumlayabiliyorum.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1F2D3A"/>
                </a:solidFill>
              </a:rPr>
              <a:t> </a:t>
            </a:r>
            <a:r>
              <a:rPr sz="1800" b="1">
                <a:solidFill>
                  <a:srgbClr val="1F2D3A"/>
                </a:solidFill>
              </a:rPr>
              <a:t>kritik</a:t>
            </a:r>
            <a:r>
              <a:rPr sz="1800" b="0">
                <a:solidFill>
                  <a:srgbClr val="1F2D3A"/>
                </a:solidFill>
              </a:rPr>
              <a:t> olduğunu gösterebiliyorum.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1F2D3A"/>
                </a:solidFill>
              </a:rPr>
              <a:t> </a:t>
            </a:r>
            <a:r>
              <a:rPr sz="1800" b="1">
                <a:solidFill>
                  <a:srgbClr val="1F2D3A"/>
                </a:solidFill>
              </a:rPr>
              <a:t>ayrıca</a:t>
            </a:r>
            <a:r>
              <a:rPr sz="1800" b="0">
                <a:solidFill>
                  <a:srgbClr val="1F2D3A"/>
                </a:solidFill>
              </a:rPr>
              <a:t> kurulduğunu açıklayabiliyorum.</a:t>
            </a:r>
          </a:p>
        </p:txBody>
      </p:sp>
    </p:spTree>
  </p:cSld>
  <p:clrMapOvr>
    <a:masterClrMapping/>
  </p:clrMapOvr>
</p:sld>
</file>

<file path=ppt/slides/slide1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136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Zafiyet sınıflandırma</a:t>
            </a:r>
          </a:p>
        </p:txBody>
      </p:sp>
    </p:spTree>
  </p:cSld>
  <p:clrMapOvr>
    <a:masterClrMapping/>
  </p:clrMapOvr>
</p:sld>
</file>

<file path=ppt/slides/slide1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CWE: zayıflık türleri kataloğu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CWE</a:t>
            </a:r>
            <a:r>
              <a:rPr sz="2000" b="0">
                <a:solidFill>
                  <a:srgbClr val="1F2D3A"/>
                </a:solidFill>
              </a:rPr>
              <a:t> = zayıflığın </a:t>
            </a:r>
            <a:r>
              <a:rPr sz="2000" b="1">
                <a:solidFill>
                  <a:srgbClr val="1F2D3A"/>
                </a:solidFill>
              </a:rPr>
              <a:t>türü</a:t>
            </a:r>
            <a:r>
              <a:rPr sz="2000" b="0">
                <a:solidFill>
                  <a:srgbClr val="1F2D3A"/>
                </a:solidFill>
              </a:rPr>
              <a:t> (SQL enjeksiyonu → CWE-89).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CWE Top 25:</a:t>
            </a:r>
            <a:r>
              <a:rPr sz="2000" b="0">
                <a:solidFill>
                  <a:srgbClr val="1F2D3A"/>
                </a:solidFill>
              </a:rPr>
              <a:t> o yıl en çok görülen/tehlikeli 25 zayıflık.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2278888"/>
          <a:ext cx="6546920" cy="222199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00448"/>
                <a:gridCol w="4546472"/>
              </a:tblGrid>
              <a:tr h="370331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CWE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Zayıflık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70331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CWE-787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Sınır dışına yazma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70331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CWE-79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XSS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70331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CWE-89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SQL enjeksiyonu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70331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CWE-367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TOCTOU (Demo 06)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70336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CWE-798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Gömülü kimlik/anahtar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40080" y="461060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Hiyerarşik: pillar → class → base → variant. </a:t>
            </a:r>
            <a:r>
              <a:rPr sz="2000" b="1">
                <a:solidFill>
                  <a:srgbClr val="1F2D3A"/>
                </a:solidFill>
              </a:rPr>
              <a:t>En somut</a:t>
            </a:r>
            <a:r>
              <a:rPr sz="2000" b="0">
                <a:solidFill>
                  <a:srgbClr val="1F2D3A"/>
                </a:solidFill>
              </a:rPr>
              <a:t> CWE'yi seç.</a:t>
            </a:r>
          </a:p>
        </p:txBody>
      </p:sp>
    </p:spTree>
  </p:cSld>
  <p:clrMapOvr>
    <a:masterClrMapping/>
  </p:clrMapOvr>
</p:sld>
</file>

<file path=ppt/slides/slide1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Yanılgı: "CWE ile CVE aynı şey"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Yanılgı:</a:t>
            </a:r>
            <a:r>
              <a:rPr sz="2000" b="0">
                <a:solidFill>
                  <a:srgbClr val="1F2D3A"/>
                </a:solidFill>
              </a:rPr>
              <a:t> İkisi de aynı anlama gelir, birbirinin yerine kullanılabilir.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Gerçek:</a:t>
            </a:r>
            <a:r>
              <a:rPr sz="2000" b="0">
                <a:solidFill>
                  <a:srgbClr val="1F2D3A"/>
                </a:solidFill>
              </a:rPr>
              <a:t> </a:t>
            </a:r>
            <a:r>
              <a:rPr sz="2000" b="1">
                <a:solidFill>
                  <a:srgbClr val="1F2D3A"/>
                </a:solidFill>
              </a:rPr>
              <a:t>CWE</a:t>
            </a:r>
            <a:r>
              <a:rPr sz="2000" b="0">
                <a:solidFill>
                  <a:srgbClr val="1F2D3A"/>
                </a:solidFill>
              </a:rPr>
              <a:t> zayıflığın </a:t>
            </a:r>
            <a:r>
              <a:rPr sz="2000" b="1">
                <a:solidFill>
                  <a:srgbClr val="1F2D3A"/>
                </a:solidFill>
              </a:rPr>
              <a:t>türüdür</a:t>
            </a:r>
            <a:r>
              <a:rPr sz="2000" b="0">
                <a:solidFill>
                  <a:srgbClr val="1F2D3A"/>
                </a:solidFill>
              </a:rPr>
              <a:t> (SQL enjeksiyonu → CWE-89). </a:t>
            </a:r>
            <a:r>
              <a:rPr sz="2000" b="1">
                <a:solidFill>
                  <a:srgbClr val="1F2D3A"/>
                </a:solidFill>
              </a:rPr>
              <a:t>CVE</a:t>
            </a:r>
            <a:r>
              <a:rPr sz="2000" b="0">
                <a:solidFill>
                  <a:srgbClr val="1F2D3A"/>
                </a:solidFill>
              </a:rPr>
              <a:t> belirli bir üründeki belirli açığın </a:t>
            </a:r>
            <a:r>
              <a:rPr sz="2000" b="1">
                <a:solidFill>
                  <a:srgbClr val="1F2D3A"/>
                </a:solidFill>
              </a:rPr>
              <a:t>kimliğidir</a:t>
            </a:r>
            <a:r>
              <a:rPr sz="2000" b="0">
                <a:solidFill>
                  <a:srgbClr val="1F2D3A"/>
                </a:solidFill>
              </a:rPr>
              <a:t> (Heartbleed → CVE-2014-0160).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755392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Bir CVE, bir ya da birden çok CWE türüne </a:t>
            </a:r>
            <a:r>
              <a:rPr sz="2000" b="1">
                <a:solidFill>
                  <a:srgbClr val="1F2D3A"/>
                </a:solidFill>
              </a:rPr>
              <a:t>aittir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1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Yanılgı: "En genel CWE'yi seçmek güvenlidir"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Yanılgı:</a:t>
            </a:r>
            <a:r>
              <a:rPr sz="2000" b="0">
                <a:solidFill>
                  <a:srgbClr val="1F2D3A"/>
                </a:solidFill>
              </a:rPr>
              <a:t> Emin olmadığımda en üst düzey (genel) CWE'yi yazmak daha güvenlidir.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Gerçek:</a:t>
            </a:r>
            <a:r>
              <a:rPr sz="2000" b="0">
                <a:solidFill>
                  <a:srgbClr val="1F2D3A"/>
                </a:solidFill>
              </a:rPr>
              <a:t> CWE-20 (girdi doğrulama) gibi üst düzey girdiler </a:t>
            </a:r>
            <a:r>
              <a:rPr sz="2000" b="1">
                <a:solidFill>
                  <a:srgbClr val="1F2D3A"/>
                </a:solidFill>
              </a:rPr>
              <a:t>düzeltmeyi anlatmaz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425192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Kural: mümkün olan </a:t>
            </a:r>
            <a:r>
              <a:rPr sz="2000" b="1">
                <a:solidFill>
                  <a:srgbClr val="1F2D3A"/>
                </a:solidFill>
              </a:rPr>
              <a:t>en somut</a:t>
            </a:r>
            <a:r>
              <a:rPr sz="2000" b="0">
                <a:solidFill>
                  <a:srgbClr val="1F2D3A"/>
                </a:solidFill>
              </a:rPr>
              <a:t> (tercihen base düzeyi) CWE'yi seçin.</a:t>
            </a:r>
          </a:p>
        </p:txBody>
      </p:sp>
    </p:spTree>
  </p:cSld>
  <p:clrMapOvr>
    <a:masterClrMapping/>
  </p:clrMapOvr>
</p:sld>
</file>

<file path=ppt/slides/slide1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140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OWASP Top 10 ve MASVS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3" cy="187451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397185"/>
                <a:gridCol w="2442880"/>
                <a:gridCol w="4071468"/>
              </a:tblGrid>
              <a:tr h="374903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Belge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Kapsam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Türü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74903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CWE / Top 25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Tüm yazılım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Katalog / öncelik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74903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OWASP Top 10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Web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Farkındalık / öncelik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74903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OWASP ASVS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Web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Doğrulama standardı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74907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OWASP </a:t>
                      </a:r>
                      <a:r>
                        <a:rPr sz="1439" b="1">
                          <a:solidFill>
                            <a:srgbClr val="1F2D3A"/>
                          </a:solidFill>
                        </a:rPr>
                        <a:t>MASVS</a:t>
                      </a:r>
                      <a:r>
                        <a:rPr sz="1439" b="0">
                          <a:solidFill>
                            <a:srgbClr val="1F2D3A"/>
                          </a:solidFill>
                        </a:rPr>
                        <a:t> + MASTG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1F2D3A"/>
                          </a:solidFill>
                        </a:rPr>
                        <a:t>Mobil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Doğrulama + test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0080" y="3310128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MASVS-RESILIENCE</a:t>
            </a:r>
            <a:r>
              <a:rPr sz="2000" b="0">
                <a:solidFill>
                  <a:srgbClr val="1F2D3A"/>
                </a:solidFill>
              </a:rPr>
              <a:t> = tersine mühendisliğe direnç → bu dersin kod gizleme (H9, H14), RASP (H6), whitebox (H11) konuları.</a:t>
            </a:r>
          </a:p>
        </p:txBody>
      </p:sp>
    </p:spTree>
  </p:cSld>
  <p:clrMapOvr>
    <a:masterClrMapping/>
  </p:clrMapOvr>
</p:sld>
</file>

<file path=ppt/slides/slide1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141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Yanılgı: "OWASP Top 10 bir kontrol listesidir"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Yanılgı:</a:t>
            </a:r>
            <a:r>
              <a:rPr sz="2000" b="0">
                <a:solidFill>
                  <a:srgbClr val="1F2D3A"/>
                </a:solidFill>
              </a:rPr>
              <a:t> Top 10'daki 10 maddeyi karşılıyorsam güvenliyim demektir.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Gerçek:</a:t>
            </a:r>
            <a:r>
              <a:rPr sz="2000" b="0">
                <a:solidFill>
                  <a:srgbClr val="1F2D3A"/>
                </a:solidFill>
              </a:rPr>
              <a:t> Top 10 bir </a:t>
            </a:r>
            <a:r>
              <a:rPr sz="2000" b="1">
                <a:solidFill>
                  <a:srgbClr val="1F2D3A"/>
                </a:solidFill>
              </a:rPr>
              <a:t>farkındalık</a:t>
            </a:r>
            <a:r>
              <a:rPr sz="2000" b="0">
                <a:solidFill>
                  <a:srgbClr val="1F2D3A"/>
                </a:solidFill>
              </a:rPr>
              <a:t> belgesidir, doğrulama standardı değil.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425192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Doğrulanabilir gereksinimler web için </a:t>
            </a:r>
            <a:r>
              <a:rPr sz="2000" b="1">
                <a:solidFill>
                  <a:srgbClr val="1F2D3A"/>
                </a:solidFill>
              </a:rPr>
              <a:t>ASVS'de</a:t>
            </a:r>
            <a:r>
              <a:rPr sz="2000" b="0">
                <a:solidFill>
                  <a:srgbClr val="1F2D3A"/>
                </a:solidFill>
              </a:rPr>
              <a:t>, mobil için </a:t>
            </a:r>
            <a:r>
              <a:rPr sz="2000" b="1">
                <a:solidFill>
                  <a:srgbClr val="1F2D3A"/>
                </a:solidFill>
              </a:rPr>
              <a:t>MASVS ve MASTG'dedir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1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142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CVE ve CVSS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1734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CVE:</a:t>
            </a:r>
            <a:r>
              <a:rPr sz="2000" b="0">
                <a:solidFill>
                  <a:srgbClr val="1F2D3A"/>
                </a:solidFill>
              </a:rPr>
              <a:t> belirli üründeki belirli açığın </a:t>
            </a:r>
            <a:r>
              <a:rPr sz="2000" b="1">
                <a:solidFill>
                  <a:srgbClr val="1F2D3A"/>
                </a:solidFill>
              </a:rPr>
              <a:t>kimliği</a:t>
            </a:r>
            <a:r>
              <a:rPr sz="2000" b="0">
                <a:solidFill>
                  <a:srgbClr val="1F2D3A"/>
                </a:solidFill>
              </a:rPr>
              <a:t> (CVE-2014-0160 = Heartbleed). Bir </a:t>
            </a:r>
            <a:r>
              <a:rPr sz="2000" b="1">
                <a:solidFill>
                  <a:srgbClr val="1F2D3A"/>
                </a:solidFill>
              </a:rPr>
              <a:t>isim</a:t>
            </a:r>
            <a:r>
              <a:rPr sz="2000" b="0">
                <a:solidFill>
                  <a:srgbClr val="1F2D3A"/>
                </a:solidFill>
              </a:rPr>
              <a:t>, ciddiyet değil.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CVSS:</a:t>
            </a:r>
            <a:r>
              <a:rPr sz="2000" b="0">
                <a:solidFill>
                  <a:srgbClr val="1F2D3A"/>
                </a:solidFill>
              </a:rPr>
              <a:t> açığın </a:t>
            </a:r>
            <a:r>
              <a:rPr sz="2000" b="1">
                <a:solidFill>
                  <a:srgbClr val="1F2D3A"/>
                </a:solidFill>
              </a:rPr>
              <a:t>ciddiyeti</a:t>
            </a:r>
            <a:r>
              <a:rPr sz="2000" b="0">
                <a:solidFill>
                  <a:srgbClr val="1F2D3A"/>
                </a:solidFill>
              </a:rPr>
              <a:t> 0.0–10.0. Üç grup: </a:t>
            </a:r>
            <a:r>
              <a:rPr sz="2000" b="1">
                <a:solidFill>
                  <a:srgbClr val="1F2D3A"/>
                </a:solidFill>
              </a:rPr>
              <a:t>Temel</a:t>
            </a:r>
            <a:r>
              <a:rPr sz="2000" b="0">
                <a:solidFill>
                  <a:srgbClr val="1F2D3A"/>
                </a:solidFill>
              </a:rPr>
              <a:t> (değişmez), Zamansal, Çevresel.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60908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Bir CVE bir ya da birden çok </a:t>
            </a:r>
            <a:r>
              <a:rPr sz="2000" b="1">
                <a:solidFill>
                  <a:srgbClr val="1F2D3A"/>
                </a:solidFill>
              </a:rPr>
              <a:t>CWE türüne</a:t>
            </a:r>
            <a:r>
              <a:rPr sz="2000" b="0">
                <a:solidFill>
                  <a:srgbClr val="1F2D3A"/>
                </a:solidFill>
              </a:rPr>
              <a:t> aittir.</a:t>
            </a:r>
          </a:p>
        </p:txBody>
      </p:sp>
    </p:spTree>
  </p:cSld>
  <p:clrMapOvr>
    <a:masterClrMapping/>
  </p:clrMapOvr>
</p:sld>
</file>

<file path=ppt/slides/slide1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143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CVSS v3.1 Temel puan metrikleri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3" cy="240304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97886"/>
                <a:gridCol w="3534722"/>
                <a:gridCol w="5378925"/>
              </a:tblGrid>
              <a:tr h="343291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Metrik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Sorusu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Değerler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43291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1F2D3A"/>
                          </a:solidFill>
                        </a:rPr>
                        <a:t>AV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Nereden?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Ağ / Bitişik / Yerel / Fiziksel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3291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1F2D3A"/>
                          </a:solidFill>
                        </a:rPr>
                        <a:t>AC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Ne kadar zor?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Düşük / Yüksek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43291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1F2D3A"/>
                          </a:solidFill>
                        </a:rPr>
                        <a:t>PR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Yetki gerekir mi?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Yok / Düşük / Yüksek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3291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1F2D3A"/>
                          </a:solidFill>
                        </a:rPr>
                        <a:t>UI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Kurban gerekir mi?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Yok / Gerekli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43291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1F2D3A"/>
                          </a:solidFill>
                        </a:rPr>
                        <a:t>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Kapsam aşılıyor mu?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Değişmedi / Değişti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3297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1F2D3A"/>
                          </a:solidFill>
                        </a:rPr>
                        <a:t>C/I/A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Etki?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Yüksek / Düşük / Yok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0080" y="3838651"/>
            <a:ext cx="10911535" cy="40690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1">
                <a:solidFill>
                  <a:srgbClr val="1F2D3A"/>
                </a:solidFill>
              </a:rPr>
              <a:t>v4.0:</a:t>
            </a:r>
            <a:r>
              <a:rPr sz="1800" b="0">
                <a:solidFill>
                  <a:srgbClr val="1F2D3A"/>
                </a:solidFill>
              </a:rPr>
              <a:t> kapsam yerine ayrı VC/VI/VA + SC/SI/SA; temel puan = CVSS-B.</a:t>
            </a:r>
          </a:p>
        </p:txBody>
      </p:sp>
    </p:spTree>
  </p:cSld>
  <p:clrMapOvr>
    <a:masterClrMapping/>
  </p:clrMapOvr>
</p:sld>
</file>

<file path=ppt/slides/slide1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144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Demo 05 — CVSS hesaplayıcı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A1123F"/>
                </a:solidFill>
                <a:latin typeface="Consolas"/>
              </a:rPr>
              <a:t>code/week-02/05-cvss</a:t>
            </a:r>
            <a:r>
              <a:rPr sz="2000" b="0">
                <a:solidFill>
                  <a:srgbClr val="1F2D3A"/>
                </a:solidFill>
              </a:rPr>
              <a:t> (Python)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875536"/>
            <a:ext cx="10911535" cy="841247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AV:N/AC:L/PR:N/UI:N/S:U/C:H/I:H/A:H  = 9.8  Kritik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          ... S:U -&gt; S:C          = 10.0 Kritik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AV:L (yerel) /PR:L/... C:H/I:H/A:H    = 7.8  Yuksek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826512"/>
            <a:ext cx="10911535" cy="11734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Uzaktan + kimliksiz</a:t>
            </a:r>
            <a:r>
              <a:rPr sz="2000" b="0">
                <a:solidFill>
                  <a:srgbClr val="1F2D3A"/>
                </a:solidFill>
              </a:rPr>
              <a:t> en yüksek; kapsam değişince 10.0.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⚠️ Temel puan </a:t>
            </a:r>
            <a:r>
              <a:rPr sz="2000" b="1">
                <a:solidFill>
                  <a:srgbClr val="1F2D3A"/>
                </a:solidFill>
              </a:rPr>
              <a:t>bağlamı bilmez</a:t>
            </a:r>
            <a:r>
              <a:rPr sz="2000" b="0">
                <a:solidFill>
                  <a:srgbClr val="1F2D3A"/>
                </a:solidFill>
              </a:rPr>
              <a:t>: 4.0'lık açık tam sizin varlığınızı vuruyorsa sizin için 9.8'den önemli olabilir.</a:t>
            </a:r>
          </a:p>
        </p:txBody>
      </p:sp>
    </p:spTree>
  </p:cSld>
  <p:clrMapOvr>
    <a:masterClrMapping/>
  </p:clrMapOvr>
</p:sld>
</file>

<file path=ppt/slides/slide1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145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CVSS puanı → ciddiyet bandı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6001343" cy="207934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73460"/>
                <a:gridCol w="2727883"/>
              </a:tblGrid>
              <a:tr h="346557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Puan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Bant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4655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0.0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Yok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655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0.1–3.9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Düşük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4655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4.0–6.9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Orta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655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7.0–8.9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Yüksek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46560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9.0–10.0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Kritik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0080" y="3514953"/>
            <a:ext cx="10911535" cy="70408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0">
                <a:solidFill>
                  <a:srgbClr val="1F2D3A"/>
                </a:solidFill>
              </a:rPr>
              <a:t>Aynı etki (C:H/I:H/A:H) olsa bile </a:t>
            </a:r>
            <a:r>
              <a:rPr sz="1800" b="1">
                <a:solidFill>
                  <a:srgbClr val="1F2D3A"/>
                </a:solidFill>
              </a:rPr>
              <a:t>uzaktan + kimliksiz</a:t>
            </a:r>
            <a:r>
              <a:rPr sz="1800" b="0">
                <a:solidFill>
                  <a:srgbClr val="1F2D3A"/>
                </a:solidFill>
              </a:rPr>
              <a:t> açık, </a:t>
            </a:r>
            <a:r>
              <a:rPr sz="1800" b="1">
                <a:solidFill>
                  <a:srgbClr val="1F2D3A"/>
                </a:solidFill>
              </a:rPr>
              <a:t>yerel + yetkili</a:t>
            </a:r>
            <a:r>
              <a:rPr sz="1800" b="0">
                <a:solidFill>
                  <a:srgbClr val="1F2D3A"/>
                </a:solidFill>
              </a:rPr>
              <a:t> açıktan daha yüksek bant alır.</a:t>
            </a:r>
          </a:p>
        </p:txBody>
      </p:sp>
    </p:spTree>
  </p:cSld>
  <p:clrMapOvr>
    <a:masterClrMapping/>
  </p:clrMapOvr>
</p:sld>
</file>

<file path=ppt/slides/slide1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146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CVSS v4.0 kısaca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23012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2023'te geldi; v3.1'in bazı zayıflıklarını giderir.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Temel puan artık </a:t>
            </a:r>
            <a:r>
              <a:rPr sz="2000" b="1">
                <a:solidFill>
                  <a:srgbClr val="1F2D3A"/>
                </a:solidFill>
              </a:rPr>
              <a:t>CVSS-B</a:t>
            </a:r>
            <a:r>
              <a:rPr sz="2000" b="0">
                <a:solidFill>
                  <a:srgbClr val="1F2D3A"/>
                </a:solidFill>
              </a:rPr>
              <a:t> olarak anılır.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Kapsam (S)</a:t>
            </a:r>
            <a:r>
              <a:rPr sz="2000" b="0">
                <a:solidFill>
                  <a:srgbClr val="1F2D3A"/>
                </a:solidFill>
              </a:rPr>
              <a:t> metriği kaldırıldı; yerine ayrı </a:t>
            </a:r>
            <a:r>
              <a:rPr sz="2000" b="1">
                <a:solidFill>
                  <a:srgbClr val="1F2D3A"/>
                </a:solidFill>
              </a:rPr>
              <a:t>Zafiyet Etkisi</a:t>
            </a:r>
            <a:r>
              <a:rPr sz="2000" b="0">
                <a:solidFill>
                  <a:srgbClr val="1F2D3A"/>
                </a:solidFill>
              </a:rPr>
              <a:t> (VC/VI/VA) ve </a:t>
            </a:r>
            <a:r>
              <a:rPr sz="2000" b="1">
                <a:solidFill>
                  <a:srgbClr val="1F2D3A"/>
                </a:solidFill>
              </a:rPr>
              <a:t>Sonraki Sistem Etkisi</a:t>
            </a:r>
            <a:r>
              <a:rPr sz="2000" b="0">
                <a:solidFill>
                  <a:srgbClr val="1F2D3A"/>
                </a:solidFill>
              </a:rPr>
              <a:t> (SC/SI/SA).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Sömürü olgunluğu (E) ve tehdit/çevre metrikleriyle </a:t>
            </a:r>
            <a:r>
              <a:rPr sz="2000" b="1">
                <a:solidFill>
                  <a:srgbClr val="1F2D3A"/>
                </a:solidFill>
              </a:rPr>
              <a:t>CVSS-BTE</a:t>
            </a:r>
            <a:r>
              <a:rPr sz="2000" b="0">
                <a:solidFill>
                  <a:srgbClr val="1F2D3A"/>
                </a:solidFill>
              </a:rPr>
              <a:t> hesaplanabiliyor.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Bu derste hesap makinesi v3.1 için yazıldı; sahada hâlâ en yaygın odur.</a:t>
            </a:r>
          </a:p>
        </p:txBody>
      </p:sp>
    </p:spTree>
  </p:cSld>
  <p:clrMapOvr>
    <a:masterClrMapping/>
  </p:clrMapOvr>
</p:sld>
</file>

<file path=ppt/slides/slide1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147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Yanılgı: "v3.1 vektörünü v4.0'a girerim"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Yanılgı:</a:t>
            </a:r>
            <a:r>
              <a:rPr sz="2000" b="0">
                <a:solidFill>
                  <a:srgbClr val="1F2D3A"/>
                </a:solidFill>
              </a:rPr>
              <a:t> CVSS v3.1 vektörü, v4.0 hesap makinesinde de doğrudan çalışır.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Gerçek:</a:t>
            </a:r>
            <a:r>
              <a:rPr sz="2000" b="0">
                <a:solidFill>
                  <a:srgbClr val="1F2D3A"/>
                </a:solidFill>
              </a:rPr>
              <a:t> v4.0'da </a:t>
            </a:r>
            <a:r>
              <a:rPr sz="2000" b="1">
                <a:solidFill>
                  <a:srgbClr val="1F2D3A"/>
                </a:solidFill>
              </a:rPr>
              <a:t>Kapsam (S)</a:t>
            </a:r>
            <a:r>
              <a:rPr sz="2000" b="0">
                <a:solidFill>
                  <a:srgbClr val="1F2D3A"/>
                </a:solidFill>
              </a:rPr>
              <a:t> yoktur; </a:t>
            </a:r>
            <a:r>
              <a:rPr sz="2000" b="1">
                <a:solidFill>
                  <a:srgbClr val="1F2D3A"/>
                </a:solidFill>
              </a:rPr>
              <a:t>AT, VC/VI/VA, SC/SI/SA</a:t>
            </a:r>
            <a:r>
              <a:rPr sz="2000" b="0">
                <a:solidFill>
                  <a:srgbClr val="1F2D3A"/>
                </a:solidFill>
              </a:rPr>
              <a:t> metrikleri vardır ve UI üç değer alır (N/P/A).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755392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Vektörler birbirine </a:t>
            </a:r>
            <a:r>
              <a:rPr sz="2000" b="1">
                <a:solidFill>
                  <a:srgbClr val="1F2D3A"/>
                </a:solidFill>
              </a:rPr>
              <a:t>çevrilmez</a:t>
            </a:r>
            <a:r>
              <a:rPr sz="2000" b="0">
                <a:solidFill>
                  <a:srgbClr val="1F2D3A"/>
                </a:solidFill>
              </a:rPr>
              <a:t>, yeniden </a:t>
            </a:r>
            <a:r>
              <a:rPr sz="2000" b="1">
                <a:solidFill>
                  <a:srgbClr val="1F2D3A"/>
                </a:solidFill>
              </a:rPr>
              <a:t>kurulur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1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148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CVSS'in sık yapılan hatası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Yanılgı:</a:t>
            </a:r>
            <a:r>
              <a:rPr sz="2000" b="0">
                <a:solidFill>
                  <a:srgbClr val="1F2D3A"/>
                </a:solidFill>
              </a:rPr>
              <a:t> "CVSS 9.8, hemen yamalayalım; 4.0, beklesin."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1925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Temel puan </a:t>
            </a:r>
            <a:r>
              <a:rPr sz="2000" b="1">
                <a:solidFill>
                  <a:srgbClr val="1F2D3A"/>
                </a:solidFill>
              </a:rPr>
              <a:t>bağlamı bilmez</a:t>
            </a:r>
            <a:r>
              <a:rPr sz="2000" b="0">
                <a:solidFill>
                  <a:srgbClr val="1F2D3A"/>
                </a:solidFill>
              </a:rPr>
              <a:t>: açığın kendi özelliklerini ölçer.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4.0'lık bir açık, tam sizin </a:t>
            </a:r>
            <a:r>
              <a:rPr sz="2000" b="1">
                <a:solidFill>
                  <a:srgbClr val="1F2D3A"/>
                </a:solidFill>
              </a:rPr>
              <a:t>en değerli varlığınızın</a:t>
            </a:r>
            <a:r>
              <a:rPr sz="2000" b="0">
                <a:solidFill>
                  <a:srgbClr val="1F2D3A"/>
                </a:solidFill>
              </a:rPr>
              <a:t> kapısıysa sizin için 9.8'den önemli olabilir.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Bunun için </a:t>
            </a:r>
            <a:r>
              <a:rPr sz="2000" b="1">
                <a:solidFill>
                  <a:srgbClr val="1F2D3A"/>
                </a:solidFill>
              </a:rPr>
              <a:t>Çevresel</a:t>
            </a:r>
            <a:r>
              <a:rPr sz="2000" b="0">
                <a:solidFill>
                  <a:srgbClr val="1F2D3A"/>
                </a:solidFill>
              </a:rPr>
              <a:t> metrikler ve </a:t>
            </a:r>
            <a:r>
              <a:rPr sz="2000" b="1">
                <a:solidFill>
                  <a:srgbClr val="1F2D3A"/>
                </a:solidFill>
              </a:rPr>
              <a:t>varlık tablonuz</a:t>
            </a:r>
            <a:r>
              <a:rPr sz="2000" b="0">
                <a:solidFill>
                  <a:srgbClr val="1F2D3A"/>
                </a:solidFill>
              </a:rPr>
              <a:t> (S5) vardır.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Puan önceliklendirmeye </a:t>
            </a:r>
            <a:r>
              <a:rPr sz="2000" b="1">
                <a:solidFill>
                  <a:srgbClr val="1F2D3A"/>
                </a:solidFill>
              </a:rPr>
              <a:t>başlangıçtır</a:t>
            </a:r>
            <a:r>
              <a:rPr sz="2000" b="0">
                <a:solidFill>
                  <a:srgbClr val="1F2D3A"/>
                </a:solidFill>
              </a:rPr>
              <a:t>, son söz değildir.</a:t>
            </a:r>
          </a:p>
        </p:txBody>
      </p:sp>
    </p:spTree>
  </p:cSld>
  <p:clrMapOvr>
    <a:masterClrMapping/>
  </p:clrMapOvr>
</p:sld>
</file>

<file path=ppt/slides/slide1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149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Değerlendirici: bulgudan puana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0690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0">
                <a:solidFill>
                  <a:srgbClr val="1F2D3A"/>
                </a:solidFill>
              </a:rPr>
              <a:t>Bir bulguyu </a:t>
            </a:r>
            <a:r>
              <a:rPr sz="1800" b="1">
                <a:solidFill>
                  <a:srgbClr val="1F2D3A"/>
                </a:solidFill>
              </a:rPr>
              <a:t>tekrarlanabilir</a:t>
            </a:r>
            <a:r>
              <a:rPr sz="1800" b="0">
                <a:solidFill>
                  <a:srgbClr val="1F2D3A"/>
                </a:solidFill>
              </a:rPr>
              <a:t> biçimde derecelendirmenin somut soruları: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42515"/>
            <a:ext cx="10911535" cy="11201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1F2D3A"/>
                </a:solidFill>
              </a:rPr>
              <a:t>Saldırgan bunu </a:t>
            </a:r>
            <a:r>
              <a:rPr sz="1800" b="1">
                <a:solidFill>
                  <a:srgbClr val="1F2D3A"/>
                </a:solidFill>
              </a:rPr>
              <a:t>ağdan</a:t>
            </a:r>
            <a:r>
              <a:rPr sz="1800" b="0">
                <a:solidFill>
                  <a:srgbClr val="1F2D3A"/>
                </a:solidFill>
              </a:rPr>
              <a:t> mı, yoksa yalnız </a:t>
            </a:r>
            <a:r>
              <a:rPr sz="1800" b="1">
                <a:solidFill>
                  <a:srgbClr val="1F2D3A"/>
                </a:solidFill>
              </a:rPr>
              <a:t>cihaz elindeyken</a:t>
            </a:r>
            <a:r>
              <a:rPr sz="1800" b="0">
                <a:solidFill>
                  <a:srgbClr val="1F2D3A"/>
                </a:solidFill>
              </a:rPr>
              <a:t> mi kullanabiliyor (AV)?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1F2D3A"/>
                </a:solidFill>
              </a:rPr>
              <a:t>Önceden bir </a:t>
            </a:r>
            <a:r>
              <a:rPr sz="1800" b="1">
                <a:solidFill>
                  <a:srgbClr val="1F2D3A"/>
                </a:solidFill>
              </a:rPr>
              <a:t>yetki</a:t>
            </a:r>
            <a:r>
              <a:rPr sz="1800" b="0">
                <a:solidFill>
                  <a:srgbClr val="1F2D3A"/>
                </a:solidFill>
              </a:rPr>
              <a:t> ya da </a:t>
            </a:r>
            <a:r>
              <a:rPr sz="1800" b="1">
                <a:solidFill>
                  <a:srgbClr val="1F2D3A"/>
                </a:solidFill>
              </a:rPr>
              <a:t>kullanıcı etkileşimi</a:t>
            </a:r>
            <a:r>
              <a:rPr sz="1800" b="0">
                <a:solidFill>
                  <a:srgbClr val="1F2D3A"/>
                </a:solidFill>
              </a:rPr>
              <a:t> gerekiyor mu (PR, UI)?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1F2D3A"/>
                </a:solidFill>
              </a:rPr>
              <a:t>Etki açığın olduğu bileşende mi kalıyor, dışına mı taşıyor (S)?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072383"/>
            <a:ext cx="10911535" cy="70408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0">
                <a:solidFill>
                  <a:srgbClr val="1F2D3A"/>
                </a:solidFill>
              </a:rPr>
              <a:t>Bu dersin bağlamında (program saldırganın cihazında) çoğu bulgu </a:t>
            </a:r>
            <a:r>
              <a:rPr sz="1800" b="1">
                <a:solidFill>
                  <a:srgbClr val="1F2D3A"/>
                </a:solidFill>
              </a:rPr>
              <a:t>yerel (AV:L)</a:t>
            </a:r>
            <a:r>
              <a:rPr sz="1800" b="0">
                <a:solidFill>
                  <a:srgbClr val="1F2D3A"/>
                </a:solidFill>
              </a:rPr>
              <a:t> çıkar; puan düşse de risk düşmez.</a:t>
            </a:r>
          </a:p>
        </p:txBody>
      </p:sp>
    </p:spTree>
  </p:cSld>
  <p:clrMapOvr>
    <a:masterClrMapping/>
  </p:clrMapOvr>
</p:sld>
</file>

<file path=ppt/slides/slide1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150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CVSS'in ötesi: EPSS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2255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EPSS</a:t>
            </a:r>
            <a:r>
              <a:rPr sz="2000" b="0">
                <a:solidFill>
                  <a:srgbClr val="1F2D3A"/>
                </a:solidFill>
              </a:rPr>
              <a:t> (Exploit Prediction Scoring System): bir açığın </a:t>
            </a:r>
            <a:r>
              <a:rPr sz="2000" b="1">
                <a:solidFill>
                  <a:srgbClr val="1F2D3A"/>
                </a:solidFill>
              </a:rPr>
              <a:t>30 gün içinde istismar edilme olasılığı</a:t>
            </a:r>
            <a:r>
              <a:rPr sz="2000" b="0">
                <a:solidFill>
                  <a:srgbClr val="1F2D3A"/>
                </a:solidFill>
              </a:rPr>
              <a:t> (0–1 arası).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CVSS ciddiyeti</a:t>
            </a:r>
            <a:r>
              <a:rPr sz="2000" b="0">
                <a:solidFill>
                  <a:srgbClr val="1F2D3A"/>
                </a:solidFill>
              </a:rPr>
              <a:t> ölçer, </a:t>
            </a:r>
            <a:r>
              <a:rPr sz="2000" b="1">
                <a:solidFill>
                  <a:srgbClr val="1F2D3A"/>
                </a:solidFill>
              </a:rPr>
              <a:t>EPSS olasılığı</a:t>
            </a:r>
            <a:r>
              <a:rPr sz="2000" b="0">
                <a:solidFill>
                  <a:srgbClr val="1F2D3A"/>
                </a:solidFill>
              </a:rPr>
              <a:t> ölçer — ikisi </a:t>
            </a:r>
            <a:r>
              <a:rPr sz="2000" b="1">
                <a:solidFill>
                  <a:srgbClr val="1F2D3A"/>
                </a:solidFill>
              </a:rPr>
              <a:t>farklı sorulara</a:t>
            </a:r>
            <a:r>
              <a:rPr sz="2000" b="0">
                <a:solidFill>
                  <a:srgbClr val="1F2D3A"/>
                </a:solidFill>
              </a:rPr>
              <a:t> cevap verir.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"EPSS yüksek, o hâlde CVSS de yüksektir" </a:t>
            </a:r>
            <a:r>
              <a:rPr sz="2000" b="1">
                <a:solidFill>
                  <a:srgbClr val="1F2D3A"/>
                </a:solidFill>
              </a:rPr>
              <a:t>yanlıştır</a:t>
            </a:r>
            <a:r>
              <a:rPr sz="2000" b="0">
                <a:solidFill>
                  <a:srgbClr val="1F2D3A"/>
                </a:solidFill>
              </a:rPr>
              <a:t>; ikisi birbirinden bağımsız ölçülür.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İkisi </a:t>
            </a:r>
            <a:r>
              <a:rPr sz="2000" b="1">
                <a:solidFill>
                  <a:srgbClr val="1F2D3A"/>
                </a:solidFill>
              </a:rPr>
              <a:t>birlikte</a:t>
            </a:r>
            <a:r>
              <a:rPr sz="2000" b="0">
                <a:solidFill>
                  <a:srgbClr val="1F2D3A"/>
                </a:solidFill>
              </a:rPr>
              <a:t> okunduğunda öncelik sırası netleşir.</a:t>
            </a:r>
          </a:p>
        </p:txBody>
      </p:sp>
    </p:spTree>
  </p:cSld>
  <p:clrMapOvr>
    <a:masterClrMapping/>
  </p:clrMapOvr>
</p:sld>
</file>

<file path=ppt/slides/slide1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CVSS'in ötesi: KEV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2255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KEV</a:t>
            </a:r>
            <a:r>
              <a:rPr sz="2000" b="0">
                <a:solidFill>
                  <a:srgbClr val="1F2D3A"/>
                </a:solidFill>
              </a:rPr>
              <a:t> (Known Exploited Vulnerabilities): </a:t>
            </a:r>
            <a:r>
              <a:rPr sz="2000" b="1">
                <a:solidFill>
                  <a:srgbClr val="1F2D3A"/>
                </a:solidFill>
              </a:rPr>
              <a:t>kanıtlanmış</a:t>
            </a:r>
            <a:r>
              <a:rPr sz="2000" b="0">
                <a:solidFill>
                  <a:srgbClr val="1F2D3A"/>
                </a:solidFill>
              </a:rPr>
              <a:t> biçimde istismar edilen açıkların kataloğu.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Her kayıt: CVE kimliği, istismar kanıtı, açık düzeltme yönergesi.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"KEV'de yoksa istismar edilmiyordur" </a:t>
            </a:r>
            <a:r>
              <a:rPr sz="2000" b="1">
                <a:solidFill>
                  <a:srgbClr val="1F2D3A"/>
                </a:solidFill>
              </a:rPr>
              <a:t>yanlıştır</a:t>
            </a:r>
            <a:r>
              <a:rPr sz="2000" b="0">
                <a:solidFill>
                  <a:srgbClr val="1F2D3A"/>
                </a:solidFill>
              </a:rPr>
              <a:t> — listede olmamak güvenlik kanıtı değildir.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KEV'deki bir açık, düşük CVSS puanı alsa bile </a:t>
            </a:r>
            <a:r>
              <a:rPr sz="2000" b="1">
                <a:solidFill>
                  <a:srgbClr val="1F2D3A"/>
                </a:solidFill>
              </a:rPr>
              <a:t>öncelikli</a:t>
            </a:r>
            <a:r>
              <a:rPr sz="2000" b="0">
                <a:solidFill>
                  <a:srgbClr val="1F2D3A"/>
                </a:solidFill>
              </a:rPr>
              <a:t> ele alınmalıdır.</a:t>
            </a:r>
          </a:p>
        </p:txBody>
      </p:sp>
    </p:spTree>
  </p:cSld>
  <p:clrMapOvr>
    <a:masterClrMapping/>
  </p:clrMapOvr>
</p:sld>
</file>

<file path=ppt/slides/slide1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152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SSVC: karar noktaları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0690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0">
                <a:solidFill>
                  <a:srgbClr val="1F2D3A"/>
                </a:solidFill>
              </a:rPr>
              <a:t>Bir bulguyu </a:t>
            </a:r>
            <a:r>
              <a:rPr sz="1800" b="1">
                <a:solidFill>
                  <a:srgbClr val="1F2D3A"/>
                </a:solidFill>
              </a:rPr>
              <a:t>karara</a:t>
            </a:r>
            <a:r>
              <a:rPr sz="1800" b="0">
                <a:solidFill>
                  <a:srgbClr val="1F2D3A"/>
                </a:solidFill>
              </a:rPr>
              <a:t> çeviren beş soru: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42515"/>
            <a:ext cx="10911535" cy="11201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1F2D3A"/>
                </a:solidFill>
              </a:rPr>
              <a:t>İstismar var mı? · Otomatikleştirilebilir mi?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1F2D3A"/>
                </a:solidFill>
              </a:rPr>
              <a:t>Teknik etki nedir? · Görev ne kadar yaygın etkilenir?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1F2D3A"/>
                </a:solidFill>
              </a:rPr>
              <a:t>Kamu esenliği nasıl etkilenir?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072383"/>
            <a:ext cx="10911535" cy="40690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0">
                <a:solidFill>
                  <a:srgbClr val="1F2D3A"/>
                </a:solidFill>
              </a:rPr>
              <a:t>Sonuç dört karardan biri: *</a:t>
            </a:r>
            <a:r>
              <a:rPr sz="1800" b="0" i="1">
                <a:solidFill>
                  <a:srgbClr val="1F2D3A"/>
                </a:solidFill>
              </a:rPr>
              <a:t>Track / Track</a:t>
            </a:r>
            <a:r>
              <a:rPr sz="1800" b="0">
                <a:solidFill>
                  <a:srgbClr val="1F2D3A"/>
                </a:solidFill>
              </a:rPr>
              <a:t> / Attend / Act**</a:t>
            </a:r>
          </a:p>
        </p:txBody>
      </p:sp>
    </p:spTree>
  </p:cSld>
  <p:clrMapOvr>
    <a:masterClrMapping/>
  </p:clrMapOvr>
</p:sld>
</file>

<file path=ppt/slides/slide1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153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Örnek: beş bulgu, iki sıralama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3" cy="247802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89812"/>
                <a:gridCol w="6094731"/>
                <a:gridCol w="2555855"/>
                <a:gridCol w="786416"/>
                <a:gridCol w="884719"/>
              </a:tblGrid>
              <a:tr h="619506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No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Bulgu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Sistem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EPSS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KEV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619506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B1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Ayrıştırıcıda uzunluk denetimi yok, uzaktan kod çalıştırma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İnternete açık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0,62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Evet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619506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B5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Sürücüde yerel yetki yükseltme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Çalışan bilgisayarları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0,41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Evet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619506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B4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Çerezde </a:t>
                      </a:r>
                      <a:r>
                        <a:rPr sz="1439" b="0">
                          <a:solidFill>
                            <a:srgbClr val="A1123F"/>
                          </a:solidFill>
                          <a:latin typeface="Consolas"/>
                        </a:rPr>
                        <a:t>Secure</a:t>
                      </a:r>
                      <a:r>
                        <a:rPr sz="1439" b="0">
                          <a:solidFill>
                            <a:srgbClr val="1F2D3A"/>
                          </a:solidFill>
                        </a:rPr>
                        <a:t> bayrağı yok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İnternete açık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0,08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Hayır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0080" y="3913632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Yalnız CVSS'e göre sıralama ile EPSS+KEV eklenmiş sıralama </a:t>
            </a:r>
            <a:r>
              <a:rPr sz="2000" b="1">
                <a:solidFill>
                  <a:srgbClr val="1F2D3A"/>
                </a:solidFill>
              </a:rPr>
              <a:t>farklı</a:t>
            </a:r>
            <a:r>
              <a:rPr sz="2000" b="0">
                <a:solidFill>
                  <a:srgbClr val="1F2D3A"/>
                </a:solidFill>
              </a:rPr>
              <a:t> çıkabilir; B5, CVSS'te ortalarda kalsa da KEV'de olduğu için </a:t>
            </a:r>
            <a:r>
              <a:rPr sz="2000" b="1">
                <a:solidFill>
                  <a:srgbClr val="1F2D3A"/>
                </a:solidFill>
              </a:rPr>
              <a:t>öne çıkar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1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154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Yanılgı: "Cihazdaki açıklar düşük puan alıyor, önemsiz"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Yanılgı:</a:t>
            </a:r>
            <a:r>
              <a:rPr sz="2000" b="0">
                <a:solidFill>
                  <a:srgbClr val="1F2D3A"/>
                </a:solidFill>
              </a:rPr>
              <a:t> </a:t>
            </a:r>
            <a:r>
              <a:rPr sz="2000" b="0">
                <a:solidFill>
                  <a:srgbClr val="A1123F"/>
                </a:solidFill>
                <a:latin typeface="Consolas"/>
              </a:rPr>
              <a:t>AV:L</a:t>
            </a:r>
            <a:r>
              <a:rPr sz="2000" b="0">
                <a:solidFill>
                  <a:srgbClr val="1F2D3A"/>
                </a:solidFill>
              </a:rPr>
              <a:t> (yerel erişim) çıkan bir açık, düşük puanlıysa göz ardı edilebilir.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Gerçek:</a:t>
            </a:r>
            <a:r>
              <a:rPr sz="2000" b="0">
                <a:solidFill>
                  <a:srgbClr val="1F2D3A"/>
                </a:solidFill>
              </a:rPr>
              <a:t> Bu dersin saldırgan modelinde </a:t>
            </a:r>
            <a:r>
              <a:rPr sz="2000" b="1">
                <a:solidFill>
                  <a:srgbClr val="1F2D3A"/>
                </a:solidFill>
              </a:rPr>
              <a:t>cihaz zaten saldırganın elindedir</a:t>
            </a:r>
            <a:r>
              <a:rPr sz="2000" b="0">
                <a:solidFill>
                  <a:srgbClr val="1F2D3A"/>
                </a:solidFill>
              </a:rPr>
              <a:t> (beyaz kutu).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755392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Puan düşse bile risk </a:t>
            </a:r>
            <a:r>
              <a:rPr sz="2000" b="1">
                <a:solidFill>
                  <a:srgbClr val="1F2D3A"/>
                </a:solidFill>
              </a:rPr>
              <a:t>azalmaz</a:t>
            </a:r>
            <a:r>
              <a:rPr sz="2000" b="0">
                <a:solidFill>
                  <a:srgbClr val="1F2D3A"/>
                </a:solidFill>
              </a:rPr>
              <a:t>; puanın yanına </a:t>
            </a:r>
            <a:r>
              <a:rPr sz="2000" b="1">
                <a:solidFill>
                  <a:srgbClr val="1F2D3A"/>
                </a:solidFill>
              </a:rPr>
              <a:t>saldırı potansiyeli</a:t>
            </a:r>
            <a:r>
              <a:rPr sz="2000" b="0">
                <a:solidFill>
                  <a:srgbClr val="1F2D3A"/>
                </a:solidFill>
              </a:rPr>
              <a:t> (süre, uzmanlık, ekipman) de yazılmalıdır.</a:t>
            </a:r>
          </a:p>
        </p:txBody>
      </p:sp>
    </p:spTree>
  </p:cSld>
  <p:clrMapOvr>
    <a:masterClrMapping/>
  </p:clrMapOvr>
</p:sld>
</file>

<file path=ppt/slides/slide1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155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Pratik: vektörü siz kurun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100327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Soru:</a:t>
            </a:r>
            <a:r>
              <a:rPr sz="2000" b="0">
                <a:solidFill>
                  <a:srgbClr val="1F2D3A"/>
                </a:solidFill>
              </a:rPr>
              <a:t> Bir saldırgan </a:t>
            </a:r>
            <a:r>
              <a:rPr sz="2000" b="1">
                <a:solidFill>
                  <a:srgbClr val="1F2D3A"/>
                </a:solidFill>
              </a:rPr>
              <a:t>ağdan</a:t>
            </a:r>
            <a:r>
              <a:rPr sz="2000" b="0">
                <a:solidFill>
                  <a:srgbClr val="1F2D3A"/>
                </a:solidFill>
              </a:rPr>
              <a:t>, </a:t>
            </a:r>
            <a:r>
              <a:rPr sz="2000" b="1">
                <a:solidFill>
                  <a:srgbClr val="1F2D3A"/>
                </a:solidFill>
              </a:rPr>
              <a:t>kimlik doğrulamadan</a:t>
            </a:r>
            <a:r>
              <a:rPr sz="2000" b="0">
                <a:solidFill>
                  <a:srgbClr val="1F2D3A"/>
                </a:solidFill>
              </a:rPr>
              <a:t>, </a:t>
            </a:r>
            <a:r>
              <a:rPr sz="2000" b="1">
                <a:solidFill>
                  <a:srgbClr val="1F2D3A"/>
                </a:solidFill>
              </a:rPr>
              <a:t>kullanıcı etkileşimi olmadan</a:t>
            </a:r>
            <a:r>
              <a:rPr sz="2000" b="0">
                <a:solidFill>
                  <a:srgbClr val="1F2D3A"/>
                </a:solidFill>
              </a:rPr>
              <a:t> bir sistemi tamamen ele geçiriyor (gizlilik, bütünlük, erişilebilirlik hepsi tam bozuluyor). CVSS v3.1 vektörü ve puanı nedir?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53593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Cevap:</a:t>
            </a:r>
            <a:r>
              <a:rPr sz="2000" b="0">
                <a:solidFill>
                  <a:srgbClr val="1F2D3A"/>
                </a:solidFill>
              </a:rPr>
              <a:t> </a:t>
            </a:r>
            <a:r>
              <a:rPr sz="2000" b="0">
                <a:solidFill>
                  <a:srgbClr val="A1123F"/>
                </a:solidFill>
                <a:latin typeface="Consolas"/>
              </a:rPr>
              <a:t>AV:N/AC:L/PR:N/UI:N/S:U/C:H/I:H/A:H</a:t>
            </a:r>
            <a:r>
              <a:rPr sz="2000" b="0">
                <a:solidFill>
                  <a:srgbClr val="1F2D3A"/>
                </a:solidFill>
              </a:rPr>
              <a:t> → </a:t>
            </a:r>
            <a:r>
              <a:rPr sz="2000" b="1">
                <a:solidFill>
                  <a:srgbClr val="1F2D3A"/>
                </a:solidFill>
              </a:rPr>
              <a:t>9.8 (Kritik)</a:t>
            </a:r>
            <a:r>
              <a:rPr sz="2000" b="0">
                <a:solidFill>
                  <a:srgbClr val="1F2D3A"/>
                </a:solidFill>
              </a:rPr>
              <a:t>. Kapsam da değişseydi (S:C) puan </a:t>
            </a:r>
            <a:r>
              <a:rPr sz="2000" b="1">
                <a:solidFill>
                  <a:srgbClr val="1F2D3A"/>
                </a:solidFill>
              </a:rPr>
              <a:t>10.0</a:t>
            </a:r>
            <a:r>
              <a:rPr sz="2000" b="0">
                <a:solidFill>
                  <a:srgbClr val="1F2D3A"/>
                </a:solidFill>
              </a:rPr>
              <a:t>'a çıkardı.</a:t>
            </a:r>
          </a:p>
        </p:txBody>
      </p:sp>
    </p:spTree>
  </p:cSld>
  <p:clrMapOvr>
    <a:masterClrMapping/>
  </p:clrMapOvr>
</p:sld>
</file>

<file path=ppt/slides/slide1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156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Kontrol listesi — zafiyet sınıflandırma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24003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1F2D3A"/>
                </a:solidFill>
              </a:rPr>
              <a:t> 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1F2D3A"/>
                </a:solidFill>
              </a:rPr>
              <a:t> </a:t>
            </a:r>
            <a:r>
              <a:rPr sz="1800" b="1">
                <a:solidFill>
                  <a:srgbClr val="1F2D3A"/>
                </a:solidFill>
              </a:rPr>
              <a:t>ayırabiliyorum</a:t>
            </a:r>
            <a:r>
              <a:rPr sz="18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1F2D3A"/>
                </a:solidFill>
              </a:rPr>
              <a:t> </a:t>
            </a:r>
            <a:r>
              <a:rPr sz="1800" b="1">
                <a:solidFill>
                  <a:srgbClr val="1F2D3A"/>
                </a:solidFill>
              </a:rPr>
              <a:t>elle</a:t>
            </a:r>
            <a:r>
              <a:rPr sz="1800" b="0">
                <a:solidFill>
                  <a:srgbClr val="1F2D3A"/>
                </a:solidFill>
              </a:rPr>
              <a:t> hesaplayabiliyorum.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1F2D3A"/>
                </a:solidFill>
              </a:rPr>
              <a:t> </a:t>
            </a:r>
            <a:r>
              <a:rPr sz="1800" b="1">
                <a:solidFill>
                  <a:srgbClr val="1F2D3A"/>
                </a:solidFill>
              </a:rPr>
              <a:t>farklı sorulara</a:t>
            </a:r>
            <a:r>
              <a:rPr sz="1800" b="0">
                <a:solidFill>
                  <a:srgbClr val="1F2D3A"/>
                </a:solidFill>
              </a:rPr>
              <a:t> cevap verdiğini açıklayabiliyorum.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1F2D3A"/>
                </a:solidFill>
              </a:rPr>
              <a:t> </a:t>
            </a:r>
          </a:p>
        </p:txBody>
      </p:sp>
    </p:spTree>
  </p:cSld>
  <p:clrMapOvr>
    <a:masterClrMapping/>
  </p:clrMapOvr>
</p:sld>
</file>

<file path=ppt/slides/slide1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157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Zafiyet yaşam döngüsü</a:t>
            </a:r>
          </a:p>
        </p:txBody>
      </p:sp>
      <p:pic>
        <p:nvPicPr>
          <p:cNvPr id="7" name="Picture 6" descr="h02-06-zafiyet-yasam-dongusu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59761" y="1325880"/>
            <a:ext cx="7672173" cy="366107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" y="5096686"/>
            <a:ext cx="10911535" cy="10210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1600" b="1">
                <a:solidFill>
                  <a:srgbClr val="006D77"/>
                </a:solidFill>
              </a:rPr>
              <a:t>• </a:t>
            </a:r>
            <a:r>
              <a:rPr sz="1600" b="1">
                <a:solidFill>
                  <a:srgbClr val="1F2D3A"/>
                </a:solidFill>
              </a:rPr>
              <a:t>Zero-day:</a:t>
            </a:r>
            <a:r>
              <a:rPr sz="1600" b="0">
                <a:solidFill>
                  <a:srgbClr val="1F2D3A"/>
                </a:solidFill>
              </a:rPr>
              <a:t> satıcının bilmediği/yamasının olmadığı açık.</a:t>
            </a:r>
          </a:p>
          <a:p>
            <a:pPr>
              <a:spcAft>
                <a:spcPts val="300"/>
              </a:spcAft>
            </a:pPr>
            <a:r>
              <a:rPr sz="1600" b="1">
                <a:solidFill>
                  <a:srgbClr val="006D77"/>
                </a:solidFill>
              </a:rPr>
              <a:t>• </a:t>
            </a:r>
            <a:r>
              <a:rPr sz="1600" b="1">
                <a:solidFill>
                  <a:srgbClr val="1F2D3A"/>
                </a:solidFill>
              </a:rPr>
              <a:t>Sorumlu ifşa:</a:t>
            </a:r>
            <a:r>
              <a:rPr sz="1600" b="0">
                <a:solidFill>
                  <a:srgbClr val="1F2D3A"/>
                </a:solidFill>
              </a:rPr>
              <a:t> önce satıcıya bildir, ~90 gün bekle, sonra açıkla.</a:t>
            </a:r>
          </a:p>
          <a:p>
            <a:pPr>
              <a:spcAft>
                <a:spcPts val="300"/>
              </a:spcAft>
            </a:pPr>
            <a:r>
              <a:rPr sz="1600" b="1">
                <a:solidFill>
                  <a:srgbClr val="006D77"/>
                </a:solidFill>
              </a:rPr>
              <a:t>• </a:t>
            </a:r>
            <a:r>
              <a:rPr sz="1600" b="1">
                <a:solidFill>
                  <a:srgbClr val="1F2D3A"/>
                </a:solidFill>
              </a:rPr>
              <a:t>Yama boşluğu:</a:t>
            </a:r>
            <a:r>
              <a:rPr sz="1600" b="0">
                <a:solidFill>
                  <a:srgbClr val="1F2D3A"/>
                </a:solidFill>
              </a:rPr>
              <a:t> yama çıkınca açık kamuya açılır; güncellemeyen savunmasız (WannaCry).</a:t>
            </a:r>
          </a:p>
        </p:txBody>
      </p:sp>
    </p:spTree>
  </p:cSld>
  <p:clrMapOvr>
    <a:masterClrMapping/>
  </p:clrMapOvr>
</p:sld>
</file>

<file path=ppt/slides/slide1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158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Yaşam döngüsü: dört aşama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1">
                <a:solidFill>
                  <a:srgbClr val="1F2D3A"/>
                </a:solidFill>
              </a:rPr>
              <a:t>Keşif:</a:t>
            </a:r>
            <a:r>
              <a:rPr sz="2000" b="0">
                <a:solidFill>
                  <a:srgbClr val="1F2D3A"/>
                </a:solidFill>
              </a:rPr>
              <a:t> açık bulunur (araştırmacı, saldırgan ya da satıcı).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1">
                <a:solidFill>
                  <a:srgbClr val="1F2D3A"/>
                </a:solidFill>
              </a:rPr>
              <a:t>Bildirim:</a:t>
            </a:r>
            <a:r>
              <a:rPr sz="2000" b="0">
                <a:solidFill>
                  <a:srgbClr val="1F2D3A"/>
                </a:solidFill>
              </a:rPr>
              <a:t> araştırmacı satıcıya bildirir (ya da saldırgan sessizce kullanır).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1">
                <a:solidFill>
                  <a:srgbClr val="1F2D3A"/>
                </a:solidFill>
              </a:rPr>
              <a:t>Yama:</a:t>
            </a:r>
            <a:r>
              <a:rPr sz="2000" b="0">
                <a:solidFill>
                  <a:srgbClr val="1F2D3A"/>
                </a:solidFill>
              </a:rPr>
              <a:t> satıcı düzeltmeyi yazıp yayımlar.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4. </a:t>
            </a:r>
            <a:r>
              <a:rPr sz="2000" b="1">
                <a:solidFill>
                  <a:srgbClr val="1F2D3A"/>
                </a:solidFill>
              </a:rPr>
              <a:t>Yayın:</a:t>
            </a:r>
            <a:r>
              <a:rPr sz="2000" b="0">
                <a:solidFill>
                  <a:srgbClr val="1F2D3A"/>
                </a:solidFill>
              </a:rPr>
              <a:t> yama kullanıcıya ulaşır, </a:t>
            </a:r>
            <a:r>
              <a:rPr sz="2000" b="1">
                <a:solidFill>
                  <a:srgbClr val="1F2D3A"/>
                </a:solidFill>
              </a:rPr>
              <a:t>uygulanırsa</a:t>
            </a:r>
            <a:r>
              <a:rPr sz="2000" b="0">
                <a:solidFill>
                  <a:srgbClr val="1F2D3A"/>
                </a:solidFill>
              </a:rPr>
              <a:t> risk biter.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03072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Her ok arasında geçen süre, saldırgana verilen </a:t>
            </a:r>
            <a:r>
              <a:rPr sz="2000" b="1">
                <a:solidFill>
                  <a:srgbClr val="1F2D3A"/>
                </a:solidFill>
              </a:rPr>
              <a:t>zaman penceresidir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1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159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Sorumlu ifşa vs tam ifşa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4" cy="196961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37562"/>
                <a:gridCol w="5200825"/>
                <a:gridCol w="3773147"/>
              </a:tblGrid>
              <a:tr h="393923">
                <a:tc>
                  <a:txBody>
                    <a:bodyPr wrap="square"/>
                    <a:lstStyle/>
                    <a:p/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Sorumlu ifşa (coordinated)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Tam ifşa (full)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93923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Kim önce bilir?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Satıcı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Herkes aynı anda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93923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Bekleme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~90 gün (yama için)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Yok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93923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Amaç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Kullanıcıyı korurken satıcıyı harekete geçirmek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Satıcıyı zorlamak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93925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Risk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Düşük (yama varken açıklanır)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Yüksek (yama yokken açık bilinir)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0080" y="3405225"/>
            <a:ext cx="10911535" cy="40690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0">
                <a:solidFill>
                  <a:srgbClr val="1F2D3A"/>
                </a:solidFill>
              </a:rPr>
              <a:t>Sektörde tartışmalı olan </a:t>
            </a:r>
            <a:r>
              <a:rPr sz="1800" b="1">
                <a:solidFill>
                  <a:srgbClr val="1F2D3A"/>
                </a:solidFill>
              </a:rPr>
              <a:t>tam ifşadır</a:t>
            </a:r>
            <a:r>
              <a:rPr sz="1800" b="0">
                <a:solidFill>
                  <a:srgbClr val="1F2D3A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1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160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Hata ödül programları (bug bounty)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925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Şirketlerin, açığı </a:t>
            </a:r>
            <a:r>
              <a:rPr sz="2000" b="1">
                <a:solidFill>
                  <a:srgbClr val="1F2D3A"/>
                </a:solidFill>
              </a:rPr>
              <a:t>sorumlu biçimde</a:t>
            </a:r>
            <a:r>
              <a:rPr sz="2000" b="0">
                <a:solidFill>
                  <a:srgbClr val="1F2D3A"/>
                </a:solidFill>
              </a:rPr>
              <a:t> bildiren araştırmacılara </a:t>
            </a:r>
            <a:r>
              <a:rPr sz="2000" b="1">
                <a:solidFill>
                  <a:srgbClr val="1F2D3A"/>
                </a:solidFill>
              </a:rPr>
              <a:t>ödül</a:t>
            </a:r>
            <a:r>
              <a:rPr sz="2000" b="0">
                <a:solidFill>
                  <a:srgbClr val="1F2D3A"/>
                </a:solidFill>
              </a:rPr>
              <a:t> verdiği programlar.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Amaç: araştırmacıyı tam ifşa yerine </a:t>
            </a:r>
            <a:r>
              <a:rPr sz="2000" b="1">
                <a:solidFill>
                  <a:srgbClr val="1F2D3A"/>
                </a:solidFill>
              </a:rPr>
              <a:t>sorumlu ifşaya</a:t>
            </a:r>
            <a:r>
              <a:rPr sz="2000" b="0">
                <a:solidFill>
                  <a:srgbClr val="1F2D3A"/>
                </a:solidFill>
              </a:rPr>
              <a:t> yönlendirmek.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Araştırmacı için kazanç; şirket için </a:t>
            </a:r>
            <a:r>
              <a:rPr sz="2000" b="1">
                <a:solidFill>
                  <a:srgbClr val="1F2D3A"/>
                </a:solidFill>
              </a:rPr>
              <a:t>erken uyarı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Büyük teknoloji şirketlerinin çoğunda artık standart bir uygulamadır.</a:t>
            </a:r>
          </a:p>
        </p:txBody>
      </p:sp>
    </p:spTree>
  </p:cSld>
  <p:clrMapOvr>
    <a:masterClrMapping/>
  </p:clrMapOvr>
</p:sld>
</file>

<file path=ppt/slides/slide1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161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Sahada süreç: bir açık bildirilirse ne olur?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Bir ürün ekibi için yaşam döngüsü bir </a:t>
            </a:r>
            <a:r>
              <a:rPr sz="2000" b="1">
                <a:solidFill>
                  <a:srgbClr val="1F2D3A"/>
                </a:solidFill>
              </a:rPr>
              <a:t>süreçtir</a:t>
            </a:r>
            <a:r>
              <a:rPr sz="2000" b="0">
                <a:solidFill>
                  <a:srgbClr val="1F2D3A"/>
                </a:solidFill>
              </a:rPr>
              <a:t>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Bildirim </a:t>
            </a:r>
            <a:r>
              <a:rPr sz="2000" b="1">
                <a:solidFill>
                  <a:srgbClr val="1F2D3A"/>
                </a:solidFill>
              </a:rPr>
              <a:t>kanalı:</a:t>
            </a:r>
            <a:r>
              <a:rPr sz="2000" b="0">
                <a:solidFill>
                  <a:srgbClr val="1F2D3A"/>
                </a:solidFill>
              </a:rPr>
              <a:t> </a:t>
            </a:r>
            <a:r>
              <a:rPr sz="2000" b="0">
                <a:solidFill>
                  <a:srgbClr val="A1123F"/>
                </a:solidFill>
                <a:latin typeface="Consolas"/>
              </a:rPr>
              <a:t>security.txt</a:t>
            </a:r>
            <a:r>
              <a:rPr sz="2000" b="0">
                <a:solidFill>
                  <a:srgbClr val="1F2D3A"/>
                </a:solidFill>
              </a:rPr>
              <a:t>, güvenlik e-postası.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Bir </a:t>
            </a:r>
            <a:r>
              <a:rPr sz="2000" b="1">
                <a:solidFill>
                  <a:srgbClr val="1F2D3A"/>
                </a:solidFill>
              </a:rPr>
              <a:t>sorumlu</a:t>
            </a:r>
            <a:r>
              <a:rPr sz="2000" b="0">
                <a:solidFill>
                  <a:srgbClr val="1F2D3A"/>
                </a:solidFill>
              </a:rPr>
              <a:t> kişi/ekip.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Yama </a:t>
            </a:r>
            <a:r>
              <a:rPr sz="2000" b="1">
                <a:solidFill>
                  <a:srgbClr val="1F2D3A"/>
                </a:solidFill>
              </a:rPr>
              <a:t>SLA'sı:</a:t>
            </a:r>
            <a:r>
              <a:rPr sz="2000" b="0">
                <a:solidFill>
                  <a:srgbClr val="1F2D3A"/>
                </a:solidFill>
              </a:rPr>
              <a:t> ne kadar sürede düzeltilecek?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Sürüm/yama </a:t>
            </a:r>
            <a:r>
              <a:rPr sz="2000" b="1">
                <a:solidFill>
                  <a:srgbClr val="1F2D3A"/>
                </a:solidFill>
              </a:rPr>
              <a:t>duyuru</a:t>
            </a:r>
            <a:r>
              <a:rPr sz="2000" b="0">
                <a:solidFill>
                  <a:srgbClr val="1F2D3A"/>
                </a:solidFill>
              </a:rPr>
              <a:t> mekanizması.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580384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Bir değerlendirme yalnız kodu değil, bu </a:t>
            </a:r>
            <a:r>
              <a:rPr sz="2000" b="1">
                <a:solidFill>
                  <a:srgbClr val="1F2D3A"/>
                </a:solidFill>
              </a:rPr>
              <a:t>süreci</a:t>
            </a:r>
            <a:r>
              <a:rPr sz="2000" b="0">
                <a:solidFill>
                  <a:srgbClr val="1F2D3A"/>
                </a:solidFill>
              </a:rPr>
              <a:t> de sorar.</a:t>
            </a:r>
          </a:p>
        </p:txBody>
      </p:sp>
    </p:spTree>
  </p:cSld>
  <p:clrMapOvr>
    <a:masterClrMapping/>
  </p:clrMapOvr>
</p:sld>
</file>

<file path=ppt/slides/slide1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Tam ifşa neden tartışmalı?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Soru:</a:t>
            </a:r>
            <a:r>
              <a:rPr sz="2000" b="0">
                <a:solidFill>
                  <a:srgbClr val="1F2D3A"/>
                </a:solidFill>
              </a:rPr>
              <a:t> Tam ifşa (full disclosure) neden riskli kabul edilir?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1100327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Cevap:</a:t>
            </a:r>
            <a:r>
              <a:rPr sz="2000" b="0">
                <a:solidFill>
                  <a:srgbClr val="1F2D3A"/>
                </a:solidFill>
              </a:rPr>
              <a:t> Açık, </a:t>
            </a:r>
            <a:r>
              <a:rPr sz="2000" b="1">
                <a:solidFill>
                  <a:srgbClr val="1F2D3A"/>
                </a:solidFill>
              </a:rPr>
              <a:t>yama yokken</a:t>
            </a:r>
            <a:r>
              <a:rPr sz="2000" b="0">
                <a:solidFill>
                  <a:srgbClr val="1F2D3A"/>
                </a:solidFill>
              </a:rPr>
              <a:t> herkese duyurulur. Satıcıyı harekete geçirmeye zorlar, ama aynı zamanda saldırganlara da </a:t>
            </a:r>
            <a:r>
              <a:rPr sz="2000" b="1">
                <a:solidFill>
                  <a:srgbClr val="1F2D3A"/>
                </a:solidFill>
              </a:rPr>
              <a:t>hazır bir yol haritası</a:t>
            </a:r>
            <a:r>
              <a:rPr sz="2000" b="0">
                <a:solidFill>
                  <a:srgbClr val="1F2D3A"/>
                </a:solidFill>
              </a:rPr>
              <a:t> verir — kullanıcılar savunmasızken.</a:t>
            </a:r>
          </a:p>
        </p:txBody>
      </p:sp>
    </p:spTree>
  </p:cSld>
  <p:clrMapOvr>
    <a:masterClrMapping/>
  </p:clrMapOvr>
</p:sld>
</file>

<file path=ppt/slides/slide1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163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Sözlük eki — bu genişletmede eklenenler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5" cy="240304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364614"/>
                <a:gridCol w="6546921"/>
              </a:tblGrid>
              <a:tr h="343291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Terim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Anlam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43291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EPSS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Açığın 30 gün içinde istismar edilme </a:t>
                      </a:r>
                      <a:r>
                        <a:rPr sz="1296" b="1">
                          <a:solidFill>
                            <a:srgbClr val="1F2D3A"/>
                          </a:solidFill>
                        </a:rPr>
                        <a:t>olasılığı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3291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KEV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1F2D3A"/>
                          </a:solidFill>
                        </a:rPr>
                        <a:t>Kanıtlanmış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 istismar edilen açıklar kataloğu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43291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SSVC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İstismar/etki/yaygınlık ile Track–Act kararı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3291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Sorumlu / tam ifşa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Önce satıcıya bildirme / hemen kamuya açma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43291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Kimlik doğrulama / yetkilendirme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"Sen kimsin?" / "Bunu yapabilir misin?"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329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Güvenli varsayılan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Politika belirsizse cevap </a:t>
                      </a:r>
                      <a:r>
                        <a:rPr sz="1296" b="1">
                          <a:solidFill>
                            <a:srgbClr val="1F2D3A"/>
                          </a:solidFill>
                        </a:rPr>
                        <a:t>ret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 (fail-closed)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164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Dönem projesi: bu hafta (S4)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925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 </a:t>
            </a:r>
            <a:r>
              <a:rPr sz="2000" b="1">
                <a:solidFill>
                  <a:srgbClr val="1F2D3A"/>
                </a:solidFill>
              </a:rPr>
              <a:t>her satıra bir CWE</a:t>
            </a:r>
            <a:r>
              <a:rPr sz="2000" b="0">
                <a:solidFill>
                  <a:srgbClr val="1F2D3A"/>
                </a:solidFill>
              </a:rPr>
              <a:t> ekleyin.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 </a:t>
            </a:r>
            <a:r>
              <a:rPr sz="2000" b="1">
                <a:solidFill>
                  <a:srgbClr val="1F2D3A"/>
                </a:solidFill>
              </a:rPr>
              <a:t>saldırı ağacı</a:t>
            </a:r>
            <a:r>
              <a:rPr sz="2000" b="0">
                <a:solidFill>
                  <a:srgbClr val="1F2D3A"/>
                </a:solidFill>
              </a:rPr>
              <a:t> (Demo 04 biçimi); en ucuz yol + en etkili önlem.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 </a:t>
            </a:r>
            <a:r>
              <a:rPr sz="2000" b="1">
                <a:solidFill>
                  <a:srgbClr val="1F2D3A"/>
                </a:solidFill>
              </a:rPr>
              <a:t>CVE</a:t>
            </a:r>
            <a:r>
              <a:rPr sz="2000" b="0">
                <a:solidFill>
                  <a:srgbClr val="1F2D3A"/>
                </a:solidFill>
              </a:rPr>
              <a:t>'lerini bulup </a:t>
            </a:r>
            <a:r>
              <a:rPr sz="2000" b="1">
                <a:solidFill>
                  <a:srgbClr val="1F2D3A"/>
                </a:solidFill>
              </a:rPr>
              <a:t>CVSS</a:t>
            </a:r>
            <a:r>
              <a:rPr sz="2000" b="0">
                <a:solidFill>
                  <a:srgbClr val="1F2D3A"/>
                </a:solidFill>
              </a:rPr>
              <a:t> puanlayın.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 </a:t>
            </a:r>
            <a:r>
              <a:rPr sz="2000" b="1">
                <a:solidFill>
                  <a:srgbClr val="1F2D3A"/>
                </a:solidFill>
              </a:rPr>
              <a:t>erişim modelini</a:t>
            </a:r>
            <a:r>
              <a:rPr sz="2000" b="0">
                <a:solidFill>
                  <a:srgbClr val="1F2D3A"/>
                </a:solidFill>
              </a:rPr>
              <a:t> (DAC / MAC / RBAC) gerekçelendirin.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3360928"/>
            <a:ext cx="10911535" cy="463295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| ID | Tehdit | Varlik | Yol | CWE | Onlem | Bolum |</a:t>
            </a:r>
          </a:p>
        </p:txBody>
      </p:sp>
    </p:spTree>
  </p:cSld>
  <p:clrMapOvr>
    <a:masterClrMapping/>
  </p:clrMapOvr>
</p:sld>
</file>

<file path=ppt/slides/slide1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165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Kendini sınama (seçme)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30988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0">
                <a:solidFill>
                  <a:srgbClr val="1F2D3A"/>
                </a:solidFill>
              </a:rPr>
              <a:t>Virüs, solucan, truva atı farkı?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0">
                <a:solidFill>
                  <a:srgbClr val="1F2D3A"/>
                </a:solidFill>
              </a:rPr>
              <a:t>Polimorfizm ≠ metamorfizm: fark?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0">
                <a:solidFill>
                  <a:srgbClr val="1F2D3A"/>
                </a:solidFill>
              </a:rPr>
              <a:t>Yüksek entropi zararlıyı </a:t>
            </a:r>
            <a:r>
              <a:rPr sz="2000" b="1">
                <a:solidFill>
                  <a:srgbClr val="1F2D3A"/>
                </a:solidFill>
              </a:rPr>
              <a:t>kanıtlar</a:t>
            </a:r>
            <a:r>
              <a:rPr sz="2000" b="0">
                <a:solidFill>
                  <a:srgbClr val="1F2D3A"/>
                </a:solidFill>
              </a:rPr>
              <a:t> mı?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4. </a:t>
            </a:r>
            <a:r>
              <a:rPr sz="2000" b="0">
                <a:solidFill>
                  <a:srgbClr val="1F2D3A"/>
                </a:solidFill>
              </a:rPr>
              <a:t>BLP iki kuralı ve neyi korur?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5. </a:t>
            </a:r>
            <a:r>
              <a:rPr sz="2000" b="0">
                <a:solidFill>
                  <a:srgbClr val="1F2D3A"/>
                </a:solidFill>
              </a:rPr>
              <a:t>Biba, BLP'den nasıl ayrılır?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6. </a:t>
            </a:r>
            <a:r>
              <a:rPr sz="2000" b="0">
                <a:solidFill>
                  <a:srgbClr val="1F2D3A"/>
                </a:solidFill>
              </a:rPr>
              <a:t>DAC ile MAC farkı?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7. </a:t>
            </a:r>
            <a:r>
              <a:rPr sz="2000" b="0">
                <a:solidFill>
                  <a:srgbClr val="1F2D3A"/>
                </a:solidFill>
              </a:rPr>
              <a:t>CWE ile CVE farkı?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8. </a:t>
            </a:r>
            <a:r>
              <a:rPr sz="2000" b="0">
                <a:solidFill>
                  <a:srgbClr val="1F2D3A"/>
                </a:solidFill>
              </a:rPr>
              <a:t>CVSS Temel puan neyi ölçmez?</a:t>
            </a:r>
          </a:p>
        </p:txBody>
      </p:sp>
    </p:spTree>
  </p:cSld>
  <p:clrMapOvr>
    <a:masterClrMapping/>
  </p:clrMapOvr>
</p:sld>
</file>

<file path=ppt/slides/slide1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166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Kendini sınama — cevaplar (1–4)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2057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1. </a:t>
            </a:r>
            <a:r>
              <a:rPr sz="1800" b="1">
                <a:solidFill>
                  <a:srgbClr val="1F2D3A"/>
                </a:solidFill>
              </a:rPr>
              <a:t>Virüs</a:t>
            </a:r>
            <a:r>
              <a:rPr sz="1800" b="0">
                <a:solidFill>
                  <a:srgbClr val="1F2D3A"/>
                </a:solidFill>
              </a:rPr>
              <a:t> başka programa bulaşır; </a:t>
            </a:r>
            <a:r>
              <a:rPr sz="1800" b="1">
                <a:solidFill>
                  <a:srgbClr val="1F2D3A"/>
                </a:solidFill>
              </a:rPr>
              <a:t>solucan</a:t>
            </a:r>
            <a:r>
              <a:rPr sz="1800" b="0">
                <a:solidFill>
                  <a:srgbClr val="1F2D3A"/>
                </a:solidFill>
              </a:rPr>
              <a:t> kendi başına ağdan kopyalar; </a:t>
            </a:r>
            <a:r>
              <a:rPr sz="1800" b="1">
                <a:solidFill>
                  <a:srgbClr val="1F2D3A"/>
                </a:solidFill>
              </a:rPr>
              <a:t>truva atı</a:t>
            </a:r>
            <a:r>
              <a:rPr sz="1800" b="0">
                <a:solidFill>
                  <a:srgbClr val="1F2D3A"/>
                </a:solidFill>
              </a:rPr>
              <a:t> faydalı görünüp gizli zararlı taşır.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2. </a:t>
            </a:r>
            <a:r>
              <a:rPr sz="1800" b="1">
                <a:solidFill>
                  <a:srgbClr val="1F2D3A"/>
                </a:solidFill>
              </a:rPr>
              <a:t>Polimorfik</a:t>
            </a:r>
            <a:r>
              <a:rPr sz="1800" b="0">
                <a:solidFill>
                  <a:srgbClr val="1F2D3A"/>
                </a:solidFill>
              </a:rPr>
              <a:t> her kopyada kendini farklı </a:t>
            </a:r>
            <a:r>
              <a:rPr sz="1800" b="1">
                <a:solidFill>
                  <a:srgbClr val="1F2D3A"/>
                </a:solidFill>
              </a:rPr>
              <a:t>şifreler</a:t>
            </a:r>
            <a:r>
              <a:rPr sz="1800" b="0">
                <a:solidFill>
                  <a:srgbClr val="1F2D3A"/>
                </a:solidFill>
              </a:rPr>
              <a:t>; </a:t>
            </a:r>
            <a:r>
              <a:rPr sz="1800" b="1">
                <a:solidFill>
                  <a:srgbClr val="1F2D3A"/>
                </a:solidFill>
              </a:rPr>
              <a:t>metamorfik</a:t>
            </a:r>
            <a:r>
              <a:rPr sz="1800" b="0">
                <a:solidFill>
                  <a:srgbClr val="1F2D3A"/>
                </a:solidFill>
              </a:rPr>
              <a:t> kodunu </a:t>
            </a:r>
            <a:r>
              <a:rPr sz="1800" b="1">
                <a:solidFill>
                  <a:srgbClr val="1F2D3A"/>
                </a:solidFill>
              </a:rPr>
              <a:t>yeniden yazar</a:t>
            </a:r>
            <a:r>
              <a:rPr sz="18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3. </a:t>
            </a:r>
            <a:r>
              <a:rPr sz="1800" b="1">
                <a:solidFill>
                  <a:srgbClr val="1F2D3A"/>
                </a:solidFill>
              </a:rPr>
              <a:t>Hayır.</a:t>
            </a:r>
            <a:r>
              <a:rPr sz="1800" b="0">
                <a:solidFill>
                  <a:srgbClr val="1F2D3A"/>
                </a:solidFill>
              </a:rPr>
              <a:t> Yüksek entropi bir </a:t>
            </a:r>
            <a:r>
              <a:rPr sz="1800" b="1">
                <a:solidFill>
                  <a:srgbClr val="1F2D3A"/>
                </a:solidFill>
              </a:rPr>
              <a:t>ipucudur</a:t>
            </a:r>
            <a:r>
              <a:rPr sz="1800" b="0">
                <a:solidFill>
                  <a:srgbClr val="1F2D3A"/>
                </a:solidFill>
              </a:rPr>
              <a:t> (şifreli/paketli); tek başına zararlıyı kanıtlamaz (meşru sıkıştırma da yüksek entropili).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4. </a:t>
            </a:r>
            <a:r>
              <a:rPr sz="1800" b="1">
                <a:solidFill>
                  <a:srgbClr val="1F2D3A"/>
                </a:solidFill>
              </a:rPr>
              <a:t>BLP:</a:t>
            </a:r>
            <a:r>
              <a:rPr sz="1800" b="0">
                <a:solidFill>
                  <a:srgbClr val="1F2D3A"/>
                </a:solidFill>
              </a:rPr>
              <a:t> yukarı okuma yok + aşağı yazma yok → </a:t>
            </a:r>
            <a:r>
              <a:rPr sz="1800" b="1">
                <a:solidFill>
                  <a:srgbClr val="1F2D3A"/>
                </a:solidFill>
              </a:rPr>
              <a:t>gizliliği</a:t>
            </a:r>
            <a:r>
              <a:rPr sz="1800" b="0">
                <a:solidFill>
                  <a:srgbClr val="1F2D3A"/>
                </a:solidFill>
              </a:rPr>
              <a:t> korur.</a:t>
            </a:r>
          </a:p>
        </p:txBody>
      </p:sp>
    </p:spTree>
  </p:cSld>
  <p:clrMapOvr>
    <a:masterClrMapping/>
  </p:clrMapOvr>
</p:sld>
</file>

<file path=ppt/slides/slide1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167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Kendini sınama — cevaplar (5–8)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2057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1. </a:t>
            </a:r>
            <a:r>
              <a:rPr sz="1800" b="1">
                <a:solidFill>
                  <a:srgbClr val="1F2D3A"/>
                </a:solidFill>
              </a:rPr>
              <a:t>Biba</a:t>
            </a:r>
            <a:r>
              <a:rPr sz="1800" b="0">
                <a:solidFill>
                  <a:srgbClr val="1F2D3A"/>
                </a:solidFill>
              </a:rPr>
              <a:t> BLP'nin tersidir: aşağı okuma yok + yukarı yazma yok → </a:t>
            </a:r>
            <a:r>
              <a:rPr sz="1800" b="1">
                <a:solidFill>
                  <a:srgbClr val="1F2D3A"/>
                </a:solidFill>
              </a:rPr>
              <a:t>bütünlüğü</a:t>
            </a:r>
            <a:r>
              <a:rPr sz="1800" b="0">
                <a:solidFill>
                  <a:srgbClr val="1F2D3A"/>
                </a:solidFill>
              </a:rPr>
              <a:t> korur.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2. </a:t>
            </a:r>
            <a:r>
              <a:rPr sz="1800" b="1">
                <a:solidFill>
                  <a:srgbClr val="1F2D3A"/>
                </a:solidFill>
              </a:rPr>
              <a:t>DAC</a:t>
            </a:r>
            <a:r>
              <a:rPr sz="1800" b="0">
                <a:solidFill>
                  <a:srgbClr val="1F2D3A"/>
                </a:solidFill>
              </a:rPr>
              <a:t> izinleri sahibi belirler (esnek, sızıntıya açık); </a:t>
            </a:r>
            <a:r>
              <a:rPr sz="1800" b="1">
                <a:solidFill>
                  <a:srgbClr val="1F2D3A"/>
                </a:solidFill>
              </a:rPr>
              <a:t>MAC</a:t>
            </a:r>
            <a:r>
              <a:rPr sz="1800" b="0">
                <a:solidFill>
                  <a:srgbClr val="1F2D3A"/>
                </a:solidFill>
              </a:rPr>
              <a:t> sistemin zorunlu etiketli kuralları (katı).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3. </a:t>
            </a:r>
            <a:r>
              <a:rPr sz="1800" b="1">
                <a:solidFill>
                  <a:srgbClr val="1F2D3A"/>
                </a:solidFill>
              </a:rPr>
              <a:t>CWE</a:t>
            </a:r>
            <a:r>
              <a:rPr sz="1800" b="0">
                <a:solidFill>
                  <a:srgbClr val="1F2D3A"/>
                </a:solidFill>
              </a:rPr>
              <a:t> zayıflık </a:t>
            </a:r>
            <a:r>
              <a:rPr sz="1800" b="1">
                <a:solidFill>
                  <a:srgbClr val="1F2D3A"/>
                </a:solidFill>
              </a:rPr>
              <a:t>türü</a:t>
            </a:r>
            <a:r>
              <a:rPr sz="1800" b="0">
                <a:solidFill>
                  <a:srgbClr val="1F2D3A"/>
                </a:solidFill>
              </a:rPr>
              <a:t> (ör. CWE-416); </a:t>
            </a:r>
            <a:r>
              <a:rPr sz="1800" b="1">
                <a:solidFill>
                  <a:srgbClr val="1F2D3A"/>
                </a:solidFill>
              </a:rPr>
              <a:t>CVE</a:t>
            </a:r>
            <a:r>
              <a:rPr sz="1800" b="0">
                <a:solidFill>
                  <a:srgbClr val="1F2D3A"/>
                </a:solidFill>
              </a:rPr>
              <a:t> belirli bir üründeki </a:t>
            </a:r>
            <a:r>
              <a:rPr sz="1800" b="1">
                <a:solidFill>
                  <a:srgbClr val="1F2D3A"/>
                </a:solidFill>
              </a:rPr>
              <a:t>somut</a:t>
            </a:r>
            <a:r>
              <a:rPr sz="1800" b="0">
                <a:solidFill>
                  <a:srgbClr val="1F2D3A"/>
                </a:solidFill>
              </a:rPr>
              <a:t> açık.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4. </a:t>
            </a:r>
            <a:r>
              <a:rPr sz="1800" b="1">
                <a:solidFill>
                  <a:srgbClr val="1F2D3A"/>
                </a:solidFill>
              </a:rPr>
              <a:t>CVSS Temel puan</a:t>
            </a:r>
            <a:r>
              <a:rPr sz="1800" b="0">
                <a:solidFill>
                  <a:srgbClr val="1F2D3A"/>
                </a:solidFill>
              </a:rPr>
              <a:t> olabilirliği/etkiyi ölçer ama </a:t>
            </a:r>
            <a:r>
              <a:rPr sz="1800" b="1">
                <a:solidFill>
                  <a:srgbClr val="1F2D3A"/>
                </a:solidFill>
              </a:rPr>
              <a:t>istismarın sahada gerçekleşme olasılığını</a:t>
            </a:r>
            <a:r>
              <a:rPr sz="1800" b="0">
                <a:solidFill>
                  <a:srgbClr val="1F2D3A"/>
                </a:solidFill>
              </a:rPr>
              <a:t> (tehdit/ortam) tek başına ölçmez.</a:t>
            </a:r>
          </a:p>
        </p:txBody>
      </p:sp>
    </p:spTree>
  </p:cSld>
  <p:clrMapOvr>
    <a:masterClrMapping/>
  </p:clrMapOvr>
</p:sld>
</file>

<file path=ppt/slides/slide1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168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19456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4000" b="1">
                <a:solidFill>
                  <a:srgbClr val="006D77"/>
                </a:solidFill>
              </a:rPr>
              <a:t>Gelecek hafta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356616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2000" b="1">
                <a:solidFill>
                  <a:srgbClr val="1F2D3A"/>
                </a:solidFill>
              </a:rPr>
              <a:t>Hafta 3 — Veri Güvenliği: Aktarımda, Beklemede, Kullanımda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4051808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2000" b="0">
                <a:solidFill>
                  <a:srgbClr val="1F2D3A"/>
                </a:solidFill>
              </a:rPr>
              <a:t>Şifreleme temelleri · TLS 1.3 ve sertifika sabitleme · AES-GCM ile yerel şifreleme · güvenli silme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486765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2000" b="0">
                <a:solidFill>
                  <a:srgbClr val="1F2D3A"/>
                </a:solidFill>
              </a:rPr>
              <a:t>Kaynak: Viega &amp; Messier, Tarif 9.1–9.3, 10.7–10.9, 4.9–4.11, 13.2</a:t>
            </a:r>
          </a:p>
        </p:txBody>
      </p:sp>
    </p:spTree>
  </p:cSld>
  <p:clrMapOvr>
    <a:masterClrMapping/>
  </p:clrMapOvr>
</p:sld>
</file>

<file path=ppt/slides/slide1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169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Ek · Erişim modelleri karşılaştırma</a:t>
            </a:r>
          </a:p>
        </p:txBody>
      </p:sp>
    </p:spTree>
  </p:cSld>
  <p:clrMapOvr>
    <a:masterClrMapping/>
  </p:clrMapOvr>
</p:sld>
</file>

<file path=ppt/slides/slide1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170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BLP · gizlilik kuralı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"Yukarı yazma, aşağı okuma yok"</a:t>
            </a:r>
            <a:r>
              <a:rPr sz="2000" b="0">
                <a:solidFill>
                  <a:srgbClr val="1F2D3A"/>
                </a:solidFill>
              </a:rPr>
              <a:t> değil — tersi: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Yukarı okuma yok</a:t>
            </a:r>
            <a:r>
              <a:rPr sz="2000" b="0">
                <a:solidFill>
                  <a:srgbClr val="1F2D3A"/>
                </a:solidFill>
              </a:rPr>
              <a:t> (no read up): düşük yetkili, yüksek gizli veriyi okuyamaz.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Aşağı yazma yok</a:t>
            </a:r>
            <a:r>
              <a:rPr sz="2000" b="0">
                <a:solidFill>
                  <a:srgbClr val="1F2D3A"/>
                </a:solidFill>
              </a:rPr>
              <a:t> (no write down): yüksek yetkili, düşük seviyeye sızdıramaz.</a:t>
            </a:r>
          </a:p>
        </p:txBody>
      </p:sp>
    </p:spTree>
  </p:cSld>
  <p:clrMapOvr>
    <a:masterClrMapping/>
  </p:clrMapOvr>
</p:sld>
</file>

<file path=ppt/slides/slide1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171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BLP · örnek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"Gizli" etiketli bir kullanıcı "Çok Gizli" belgeyi </a:t>
            </a:r>
            <a:r>
              <a:rPr sz="2000" b="1">
                <a:solidFill>
                  <a:srgbClr val="1F2D3A"/>
                </a:solidFill>
              </a:rPr>
              <a:t>okuyamaz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"Çok Gizli" bir süreç "Genel" dosyaya </a:t>
            </a:r>
            <a:r>
              <a:rPr sz="2000" b="1">
                <a:solidFill>
                  <a:srgbClr val="1F2D3A"/>
                </a:solidFill>
              </a:rPr>
              <a:t>yazamaz</a:t>
            </a:r>
            <a:r>
              <a:rPr sz="2000" b="0">
                <a:solidFill>
                  <a:srgbClr val="1F2D3A"/>
                </a:solidFill>
              </a:rPr>
              <a:t> (sızıntı önlenir).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27888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Amaç: </a:t>
            </a:r>
            <a:r>
              <a:rPr sz="2000" b="1">
                <a:solidFill>
                  <a:srgbClr val="1F2D3A"/>
                </a:solidFill>
              </a:rPr>
              <a:t>gizlilik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1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172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Biba · bütünlük kuralı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BLP'nin </a:t>
            </a:r>
            <a:r>
              <a:rPr sz="2000" b="1">
                <a:solidFill>
                  <a:srgbClr val="1F2D3A"/>
                </a:solidFill>
              </a:rPr>
              <a:t>tersi</a:t>
            </a:r>
            <a:r>
              <a:rPr sz="2000" b="0">
                <a:solidFill>
                  <a:srgbClr val="1F2D3A"/>
                </a:solidFill>
              </a:rPr>
              <a:t>: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Aşağı okuma yok</a:t>
            </a:r>
            <a:r>
              <a:rPr sz="2000" b="0">
                <a:solidFill>
                  <a:srgbClr val="1F2D3A"/>
                </a:solidFill>
              </a:rPr>
              <a:t>: yüksek bütünlüklü, düşük güvenilir veriyi okumaz.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Yukarı yazma yok</a:t>
            </a:r>
            <a:r>
              <a:rPr sz="2000" b="0">
                <a:solidFill>
                  <a:srgbClr val="1F2D3A"/>
                </a:solidFill>
              </a:rPr>
              <a:t>: düşük güvenilir, yüksek bütünlüğe yazamaz.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65480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Amaç: </a:t>
            </a:r>
            <a:r>
              <a:rPr sz="2000" b="1">
                <a:solidFill>
                  <a:srgbClr val="1F2D3A"/>
                </a:solidFill>
              </a:rPr>
              <a:t>bütünlük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1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173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BLP vs Biba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6728778" cy="15270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36730"/>
                <a:gridCol w="2546024"/>
                <a:gridCol w="2546024"/>
              </a:tblGrid>
              <a:tr h="381762">
                <a:tc>
                  <a:txBody>
                    <a:bodyPr wrap="square"/>
                    <a:lstStyle/>
                    <a:p/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BLP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Biba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81762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Korur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Gizlilik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Bütünlük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81762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Okuma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Yukarı yok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Aşağı yok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81762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Yazma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Aşağı yok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Yukarı yok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0080" y="296265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Aynı sistemde ikisi </a:t>
            </a:r>
            <a:r>
              <a:rPr sz="2000" b="1">
                <a:solidFill>
                  <a:srgbClr val="1F2D3A"/>
                </a:solidFill>
              </a:rPr>
              <a:t>çelişebilir</a:t>
            </a:r>
            <a:r>
              <a:rPr sz="2000" b="0">
                <a:solidFill>
                  <a:srgbClr val="1F2D3A"/>
                </a:solidFill>
              </a:rPr>
              <a:t>; dikkatle birleştirilir.</a:t>
            </a:r>
          </a:p>
        </p:txBody>
      </p:sp>
    </p:spTree>
  </p:cSld>
  <p:clrMapOvr>
    <a:masterClrMapping/>
  </p:clrMapOvr>
</p:sld>
</file>

<file path=ppt/slides/slide1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174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Clark–Wilson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Ticari bütünlük: iyi biçimli işlemler + görev ayrımı.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Veriye yalnız </a:t>
            </a:r>
            <a:r>
              <a:rPr sz="2000" b="1">
                <a:solidFill>
                  <a:srgbClr val="1F2D3A"/>
                </a:solidFill>
              </a:rPr>
              <a:t>onaylı</a:t>
            </a:r>
            <a:r>
              <a:rPr sz="2000" b="0">
                <a:solidFill>
                  <a:srgbClr val="1F2D3A"/>
                </a:solidFill>
              </a:rPr>
              <a:t> yordamlarla erişilir.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Örnek: muhasebe kayıtları.</a:t>
            </a:r>
          </a:p>
        </p:txBody>
      </p:sp>
    </p:spTree>
  </p:cSld>
  <p:clrMapOvr>
    <a:masterClrMapping/>
  </p:clrMapOvr>
</p:sld>
</file>

<file path=ppt/slides/slide1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175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DAC / MAC / RBAC · seçim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DAC:</a:t>
            </a:r>
            <a:r>
              <a:rPr sz="2000" b="0">
                <a:solidFill>
                  <a:srgbClr val="1F2D3A"/>
                </a:solidFill>
              </a:rPr>
              <a:t> esnek ama sızıntıya açık (sahibi paylaşır).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MAC:</a:t>
            </a:r>
            <a:r>
              <a:rPr sz="2000" b="0">
                <a:solidFill>
                  <a:srgbClr val="1F2D3A"/>
                </a:solidFill>
              </a:rPr>
              <a:t> katı, askeri/etiketli ortam.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RBAC:</a:t>
            </a:r>
            <a:r>
              <a:rPr sz="2000" b="0">
                <a:solidFill>
                  <a:srgbClr val="1F2D3A"/>
                </a:solidFill>
              </a:rPr>
              <a:t> kurumsal; rol bazlı, yönetimi kolay.</a:t>
            </a:r>
          </a:p>
        </p:txBody>
      </p:sp>
    </p:spTree>
  </p:cSld>
  <p:clrMapOvr>
    <a:masterClrMapping/>
  </p:clrMapOvr>
</p:sld>
</file>

<file path=ppt/slides/slide1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176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Ek · Zafiyeti bul (kod okuma)</a:t>
            </a:r>
          </a:p>
        </p:txBody>
      </p:sp>
    </p:spTree>
  </p:cSld>
  <p:clrMapOvr>
    <a:masterClrMapping/>
  </p:clrMapOvr>
</p:sld>
</file>

<file path=ppt/slides/slide1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177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Örnek 1 · günlük enjeksiyonu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463295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fprintf(log, "giris: %s\n", kullanici_adi);  /* CWE-117 */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98903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Kullanıcı adı </a:t>
            </a:r>
            <a:r>
              <a:rPr sz="2000" b="0">
                <a:solidFill>
                  <a:srgbClr val="A1123F"/>
                </a:solidFill>
                <a:latin typeface="Consolas"/>
              </a:rPr>
              <a:t>n</a:t>
            </a:r>
            <a:r>
              <a:rPr sz="2000" b="0">
                <a:solidFill>
                  <a:srgbClr val="1F2D3A"/>
                </a:solidFill>
              </a:rPr>
              <a:t> içerirse </a:t>
            </a:r>
            <a:r>
              <a:rPr sz="2000" b="1">
                <a:solidFill>
                  <a:srgbClr val="1F2D3A"/>
                </a:solidFill>
              </a:rPr>
              <a:t>sahte</a:t>
            </a:r>
            <a:r>
              <a:rPr sz="2000" b="0">
                <a:solidFill>
                  <a:srgbClr val="1F2D3A"/>
                </a:solidFill>
              </a:rPr>
              <a:t> günlük satırı ekler. Doğrusu: kaçış/temizleme.</a:t>
            </a:r>
          </a:p>
        </p:txBody>
      </p:sp>
    </p:spTree>
  </p:cSld>
  <p:clrMapOvr>
    <a:masterClrMapping/>
  </p:clrMapOvr>
</p:sld>
</file>

<file path=ppt/slides/slide1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178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Örnek 2 · biçim dizisi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463295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syslog(LOG_INFO, kullanici_girdisi);  /* CWE-134 */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98903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Biçim dizgesi sabit olmalı: </a:t>
            </a:r>
            <a:r>
              <a:rPr sz="2000" b="0">
                <a:solidFill>
                  <a:srgbClr val="A1123F"/>
                </a:solidFill>
                <a:latin typeface="Consolas"/>
              </a:rPr>
              <a:t>syslog(LOG_INFO, "%s", girdi)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1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179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Örnek 3 · zayıf tespit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Yalnız </a:t>
            </a:r>
            <a:r>
              <a:rPr sz="2000" b="1">
                <a:solidFill>
                  <a:srgbClr val="1F2D3A"/>
                </a:solidFill>
              </a:rPr>
              <a:t>imza</a:t>
            </a:r>
            <a:r>
              <a:rPr sz="2000" b="0">
                <a:solidFill>
                  <a:srgbClr val="1F2D3A"/>
                </a:solidFill>
              </a:rPr>
              <a:t> ile tarama, polimorfik virüsü kaçırır.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Ek: sezgisel + davranış + entropi.</a:t>
            </a:r>
          </a:p>
        </p:txBody>
      </p:sp>
    </p:spTree>
  </p:cSld>
  <p:clrMapOvr>
    <a:masterClrMapping/>
  </p:clrMapOvr>
</p:sld>
</file>

<file path=ppt/slides/slide1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180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Ek · Çözümlü kendini sınama</a:t>
            </a:r>
          </a:p>
        </p:txBody>
      </p:sp>
    </p:spTree>
  </p:cSld>
  <p:clrMapOvr>
    <a:masterClrMapping/>
  </p:clrMapOvr>
</p:sld>
</file>

<file path=ppt/slides/slide1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181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Soru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Virüs ile solucan farkı?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Cevap:</a:t>
            </a:r>
            <a:r>
              <a:rPr sz="2000" b="0">
                <a:solidFill>
                  <a:srgbClr val="1F2D3A"/>
                </a:solidFill>
              </a:rPr>
              <a:t> Virüs başka programa bulaşarak yayılır; solucan kendi başına ağ üzerinden kendini kopyalar.</a:t>
            </a:r>
          </a:p>
        </p:txBody>
      </p:sp>
    </p:spTree>
  </p:cSld>
  <p:clrMapOvr>
    <a:masterClrMapping/>
  </p:clrMapOvr>
</p:sld>
</file>

<file path=ppt/slides/slide1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182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Soru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Polimorfik virüs neden imza tespitini zorlar?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Cevap:</a:t>
            </a:r>
            <a:r>
              <a:rPr sz="2000" b="0">
                <a:solidFill>
                  <a:srgbClr val="1F2D3A"/>
                </a:solidFill>
              </a:rPr>
              <a:t> Her kopyada kendini farklı şifreler; sabit bir imza kalmaz. Sezgisel/emülasyon gerekir.</a:t>
            </a:r>
          </a:p>
        </p:txBody>
      </p:sp>
    </p:spTree>
  </p:cSld>
  <p:clrMapOvr>
    <a:masterClrMapping/>
  </p:clrMapOvr>
</p:sld>
</file>

<file path=ppt/slides/slide1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183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Soru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İmza ve sezgisel tespitin güçlü/zayıf yanı?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Cevap:</a:t>
            </a:r>
            <a:r>
              <a:rPr sz="2000" b="0">
                <a:solidFill>
                  <a:srgbClr val="1F2D3A"/>
                </a:solidFill>
              </a:rPr>
              <a:t> İmza hızlı ama yeniyi kaçırır; sezgisel yeniyi bulur ama yanlış alarm üretir.</a:t>
            </a:r>
          </a:p>
        </p:txBody>
      </p:sp>
    </p:spTree>
  </p:cSld>
  <p:clrMapOvr>
    <a:masterClrMapping/>
  </p:clrMapOvr>
</p:sld>
</file>

<file path=ppt/slides/slide1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184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Soru 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BLP ile Biba neyi korur, kuralları ters mi?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Cevap:</a:t>
            </a:r>
            <a:r>
              <a:rPr sz="2000" b="0">
                <a:solidFill>
                  <a:srgbClr val="1F2D3A"/>
                </a:solidFill>
              </a:rPr>
              <a:t> BLP gizliliği (yukarı okuma yok), Biba bütünlüğü (aşağı okuma yok). Evet, yönleri terstir.</a:t>
            </a:r>
          </a:p>
        </p:txBody>
      </p:sp>
    </p:spTree>
  </p:cSld>
  <p:clrMapOvr>
    <a:masterClrMapping/>
  </p:clrMapOvr>
</p:sld>
</file>

<file path=ppt/slides/slide1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185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Soru 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CWE ile CVE farkı?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Cevap:</a:t>
            </a:r>
            <a:r>
              <a:rPr sz="2000" b="0">
                <a:solidFill>
                  <a:srgbClr val="1F2D3A"/>
                </a:solidFill>
              </a:rPr>
              <a:t> CWE zayıflık </a:t>
            </a:r>
            <a:r>
              <a:rPr sz="2000" b="1">
                <a:solidFill>
                  <a:srgbClr val="1F2D3A"/>
                </a:solidFill>
              </a:rPr>
              <a:t>türü</a:t>
            </a:r>
            <a:r>
              <a:rPr sz="2000" b="0">
                <a:solidFill>
                  <a:srgbClr val="1F2D3A"/>
                </a:solidFill>
              </a:rPr>
              <a:t> (örn. use-after-free); CVE belirli bir üründeki </a:t>
            </a:r>
            <a:r>
              <a:rPr sz="2000" b="1">
                <a:solidFill>
                  <a:srgbClr val="1F2D3A"/>
                </a:solidFill>
              </a:rPr>
              <a:t>somut</a:t>
            </a:r>
            <a:r>
              <a:rPr sz="2000" b="0">
                <a:solidFill>
                  <a:srgbClr val="1F2D3A"/>
                </a:solidFill>
              </a:rPr>
              <a:t> açık.</a:t>
            </a:r>
          </a:p>
        </p:txBody>
      </p:sp>
    </p:spTree>
  </p:cSld>
  <p:clrMapOvr>
    <a:masterClrMapping/>
  </p:clrMapOvr>
</p:sld>
</file>

<file path=ppt/slides/slide1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186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Soru 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CVSS ne söyler?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Cevap:</a:t>
            </a:r>
            <a:r>
              <a:rPr sz="2000" b="0">
                <a:solidFill>
                  <a:srgbClr val="1F2D3A"/>
                </a:solidFill>
              </a:rPr>
              <a:t> Bir açığın ciddiyetini standart bir puanla (0–10); önceliklendirmede kullanılır.</a:t>
            </a:r>
          </a:p>
        </p:txBody>
      </p:sp>
    </p:spTree>
  </p:cSld>
  <p:clrMapOvr>
    <a:masterClrMapping/>
  </p:clrMapOvr>
</p:sld>
</file>

<file path=ppt/slides/slide1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187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Soru 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Günlük enjeksiyonu (CWE-117) nasıl önlenir?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Cevap:</a:t>
            </a:r>
            <a:r>
              <a:rPr sz="2000" b="0">
                <a:solidFill>
                  <a:srgbClr val="1F2D3A"/>
                </a:solidFill>
              </a:rPr>
              <a:t> Günlüğe yazılan kullanıcı verisindeki satır sonu/kontrol karakterlerini temizle/kaçır; yapılandırılmış günlük kullan.</a:t>
            </a:r>
          </a:p>
        </p:txBody>
      </p:sp>
    </p:spTree>
  </p:cSld>
  <p:clrMapOvr>
    <a:masterClrMapping/>
  </p:clrMapOvr>
</p:sld>
</file>

<file path=ppt/slides/slide1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188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Soru 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Sorumlu ifşa nedir?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Cevap:</a:t>
            </a:r>
            <a:r>
              <a:rPr sz="2000" b="0">
                <a:solidFill>
                  <a:srgbClr val="1F2D3A"/>
                </a:solidFill>
              </a:rPr>
              <a:t> Açığı önce üreticiye bildirip yama için süre tanımak, sonra kamuya açıklamak.</a:t>
            </a:r>
          </a:p>
        </p:txBody>
      </p:sp>
    </p:spTree>
  </p:cSld>
  <p:clrMapOvr>
    <a:masterClrMapping/>
  </p:clrMapOvr>
</p:sld>
</file>

<file path=ppt/slides/slide1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189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Sözlük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9092944" cy="240304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91601"/>
                <a:gridCol w="6001343"/>
              </a:tblGrid>
              <a:tr h="343291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Terim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Anlam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43291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Polimorfik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Her kopyada farklı şifreli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3291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İmza/sezgisel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Bilinen iz / şüpheli davranış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43291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Entropi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Rastgelelik ölçüsü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3291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DAC/MAC/RBAC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Erişim denetim modelleri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43291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BLP/Biba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Gizlilik / bütünlük modeli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329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CWE/CVE/CVSS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Tür / somut açık / puan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190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Son söz (2. hafta)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934719"/>
          </a:xfrm>
          <a:prstGeom prst="rect">
            <a:avLst/>
          </a:prstGeom>
          <a:solidFill>
            <a:srgbClr val="EEF7F8"/>
          </a:solidFill>
          <a:ln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2000" b="0">
                <a:solidFill>
                  <a:srgbClr val="1F2D3A"/>
                </a:solidFill>
              </a:rPr>
              <a:t>Tehdidi </a:t>
            </a:r>
            <a:r>
              <a:rPr sz="2000" b="1">
                <a:solidFill>
                  <a:srgbClr val="1F2D3A"/>
                </a:solidFill>
              </a:rPr>
              <a:t>sınıflandır</a:t>
            </a:r>
            <a:r>
              <a:rPr sz="2000" b="0">
                <a:solidFill>
                  <a:srgbClr val="1F2D3A"/>
                </a:solidFill>
              </a:rPr>
              <a:t>, erişimi </a:t>
            </a:r>
            <a:r>
              <a:rPr sz="2000" b="1">
                <a:solidFill>
                  <a:srgbClr val="1F2D3A"/>
                </a:solidFill>
              </a:rPr>
              <a:t>modelle</a:t>
            </a:r>
            <a:r>
              <a:rPr sz="2000" b="0">
                <a:solidFill>
                  <a:srgbClr val="1F2D3A"/>
                </a:solidFill>
              </a:rPr>
              <a:t>, açığı </a:t>
            </a:r>
            <a:r>
              <a:rPr sz="2000" b="1">
                <a:solidFill>
                  <a:srgbClr val="1F2D3A"/>
                </a:solidFill>
              </a:rPr>
              <a:t>kataloglar</a:t>
            </a:r>
            <a:r>
              <a:rPr sz="2000" b="0">
                <a:solidFill>
                  <a:srgbClr val="1F2D3A"/>
                </a:solidFill>
              </a:rPr>
              <a:t>la (CWE/CVE) izle ve ciddiyetini (CVSS) ölç.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37032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Bu çerçeve, sonraki haftalardaki teknik korumaların zeminidir.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CEN429 Hafta 2 — Bilgisayar Virüsleri ve Güvenlik Modelleri</dc:title>
  <dc:subject/>
  <dc:creator>Dr. Öğr. Üyesi Uğur CORUH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