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Hafta 1-2 programı korudu; bu hafta odak veride. Aynı derinlemesine savunma fikri burada da geçerli.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 soru bugünün demolarının tam olarak cevapladığı sorulardır.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 genelde "şifreledim = güvende" sanır. Bu bölüm bu yanılgıyı baştan kırar.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aynı düz metnin iki kez şifrelendiğinde farklı şifreli metin verdiğini (nonce tekrarı yok) de kontrol eder.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Debian olayı derste en çok hatırlanan örneklerden biridir; "iki satır sildim, iki yıl boyunca kırık anahtar üretildi" anlatısı etkili.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Debian olayının bir başka versiyonu budur; kontrolsüz dönüş değeri de benzer bir felakete yol açabilir.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üç kavram sınavda en çok karıştırılanlardan; "gizli mi, benzersiz mi" ayrımını pekiştirin.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Argon2id ek olarak bellek de ister; GPU/ASIC ile paralel kaba kuvveti PBKDF2'den daha çok zorlaştırır.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"Tek bir anahtarı her işe koşmayın" — bu bölümün tek cümlelik özeti.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Önceki haftalardan gelenler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saldırgan modeli</a:t>
            </a:r>
            <a:r>
              <a:rPr sz="2000" b="0">
                <a:solidFill>
                  <a:srgbClr val="1F2D3A"/>
                </a:solidFill>
              </a:rPr>
              <a:t> — cihazın/sunucunun sahibi aynı zamanda olası saldırgandır; belleği okuyabilir, hata ayıklayıcı bağlayabilir </a:t>
            </a:r>
            <a:r>
              <a:rPr sz="2000" b="1">
                <a:solidFill>
                  <a:srgbClr val="1F2D3A"/>
                </a:solidFill>
              </a:rPr>
              <a:t>(Hafta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Bellekten güvenli silme</a:t>
            </a:r>
            <a:r>
              <a:rPr sz="2000" b="0">
                <a:solidFill>
                  <a:srgbClr val="1F2D3A"/>
                </a:solidFill>
              </a:rPr>
              <a:t> — bir sırrı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OPENSSL_cleanse</a:t>
            </a:r>
            <a:r>
              <a:rPr sz="2000" b="0">
                <a:solidFill>
                  <a:srgbClr val="1F2D3A"/>
                </a:solidFill>
              </a:rPr>
              <a:t> ile, derleyicinin kaldıramayacağı biçimde silmek </a:t>
            </a:r>
            <a:r>
              <a:rPr sz="2000" b="1">
                <a:solidFill>
                  <a:srgbClr val="1F2D3A"/>
                </a:solidFill>
              </a:rPr>
              <a:t>(Hafta 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ölçümü</a:t>
            </a:r>
            <a:r>
              <a:rPr sz="2000" b="0">
                <a:solidFill>
                  <a:srgbClr val="1F2D3A"/>
                </a:solidFill>
              </a:rPr>
              <a:t> — bir dosyanın baytlarındaki düzensizliği ölçüp şifreli/paketli içeriği ayırt etmek </a:t>
            </a:r>
            <a:r>
              <a:rPr sz="2000" b="1">
                <a:solidFill>
                  <a:srgbClr val="1F2D3A"/>
                </a:solidFill>
              </a:rPr>
              <a:t>(Hafta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454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hafta: beyaz kutu modeli → </a:t>
            </a:r>
            <a:r>
              <a:rPr sz="2000" b="1">
                <a:solidFill>
                  <a:srgbClr val="1F2D3A"/>
                </a:solidFill>
              </a:rPr>
              <a:t>kullanımda veri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; entropi → </a:t>
            </a:r>
            <a:r>
              <a:rPr sz="2000" b="1">
                <a:solidFill>
                  <a:srgbClr val="1F2D3A"/>
                </a:solidFill>
              </a:rPr>
              <a:t>rastgele üretecin girdisi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Bu haftanın kavramları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03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>
                <a:solidFill>
                  <a:srgbClr val="1F2D3A"/>
                </a:solidFill>
              </a:rPr>
              <a:t>Her terim, gövdede ilk geçtiği yerde tanımlanır; burada yalnız </a:t>
            </a:r>
            <a:r>
              <a:rPr sz="1700" b="1">
                <a:solidFill>
                  <a:srgbClr val="1F2D3A"/>
                </a:solidFill>
              </a:rPr>
              <a:t>nerede</a:t>
            </a:r>
            <a:r>
              <a:rPr sz="1700" b="0">
                <a:solidFill>
                  <a:srgbClr val="1F2D3A"/>
                </a:solidFill>
              </a:rPr>
              <a:t> olduğunu işaretliyoruz.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26006"/>
          <a:ext cx="9456662" cy="4190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2497"/>
                <a:gridCol w="2364165"/>
              </a:tblGrid>
              <a:tr h="322361"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Verinin üç hâli (+ güvenlik kabuğu)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Simetrik / asimetrik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MAC ve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Rastgelelik / 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IV / nonce / tuz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Anahtar türetme (KDF)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5–6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22361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Anahtar hiyerarşisi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363"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24" b="0">
                          <a:solidFill>
                            <a:srgbClr val="1F2D3A"/>
                          </a:solidFill>
                        </a:rPr>
                        <a:t>Bölüm 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veriye odaklanıyoruz?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iki hafta "hata → saldırı → düzeltme" ile </a:t>
            </a:r>
            <a:r>
              <a:rPr sz="2000" b="1">
                <a:solidFill>
                  <a:srgbClr val="1F2D3A"/>
                </a:solidFill>
              </a:rPr>
              <a:t>programın kendisini</a:t>
            </a:r>
            <a:r>
              <a:rPr sz="2000" b="0">
                <a:solidFill>
                  <a:srgbClr val="1F2D3A"/>
                </a:solidFill>
              </a:rPr>
              <a:t> koruduk.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 odak </a:t>
            </a:r>
            <a:r>
              <a:rPr sz="2000" b="1">
                <a:solidFill>
                  <a:srgbClr val="1F2D3A"/>
                </a:solidFill>
              </a:rPr>
              <a:t>veriye</a:t>
            </a:r>
            <a:r>
              <a:rPr sz="2000" b="0">
                <a:solidFill>
                  <a:srgbClr val="1F2D3A"/>
                </a:solidFill>
              </a:rPr>
              <a:t> kayıyor: parola, ödeme anahtarı, kişisel bilgi.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sır, yaşam döngüsü boyunca </a:t>
            </a:r>
            <a:r>
              <a:rPr sz="2000" b="1">
                <a:solidFill>
                  <a:srgbClr val="1F2D3A"/>
                </a:solidFill>
              </a:rPr>
              <a:t>üç ayrı hâlde</a:t>
            </a:r>
            <a:r>
              <a:rPr sz="2000" b="0">
                <a:solidFill>
                  <a:srgbClr val="1F2D3A"/>
                </a:solidFill>
              </a:rPr>
              <a:t>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veriyi korumanın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Diffie–Hellman (açık anahtar) · </a:t>
            </a:r>
            <a:r>
              <a:rPr sz="1800" b="1">
                <a:solidFill>
                  <a:srgbClr val="1F2D3A"/>
                </a:solidFill>
              </a:rPr>
              <a:t>1977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DES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AES</a:t>
            </a:r>
            <a:r>
              <a:rPr sz="1800" b="0">
                <a:solidFill>
                  <a:srgbClr val="1F2D3A"/>
                </a:solidFill>
              </a:rPr>
              <a:t> (Rijndael) DES'in yerini alır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GCM</a:t>
            </a:r>
            <a:r>
              <a:rPr sz="1800" b="0">
                <a:solidFill>
                  <a:srgbClr val="1F2D3A"/>
                </a:solidFill>
              </a:rPr>
              <a:t> standart olur: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çağı (gizlilik + bütünlük birlikte)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 → 2018</a:t>
            </a:r>
            <a:r>
              <a:rPr sz="1800" b="0">
                <a:solidFill>
                  <a:srgbClr val="1F2D3A"/>
                </a:solidFill>
              </a:rPr>
              <a:t> — SSL → TLS 1.0 → </a:t>
            </a:r>
            <a:r>
              <a:rPr sz="1800" b="1">
                <a:solidFill>
                  <a:srgbClr val="1F2D3A"/>
                </a:solidFill>
              </a:rPr>
              <a:t>TLS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buradan çıkar: kendi kriptonu yazma,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kullan, </a:t>
            </a:r>
            <a:r>
              <a:rPr sz="1800" b="1">
                <a:solidFill>
                  <a:srgbClr val="1F2D3A"/>
                </a:solidFill>
              </a:rPr>
              <a:t>anahtarı</a:t>
            </a:r>
            <a:r>
              <a:rPr sz="1800" b="0">
                <a:solidFill>
                  <a:srgbClr val="1F2D3A"/>
                </a:solidFill>
              </a:rPr>
              <a:t> doğru yönet.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pic>
        <p:nvPicPr>
          <p:cNvPr id="7" name="Picture 6" descr="h03-01-verinin-uc-h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759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pic>
        <p:nvPicPr>
          <p:cNvPr id="7" name="Picture 6" descr="h03-08-guvenlik-kabuk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696" y="1325880"/>
            <a:ext cx="4168302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sırra ulaşmak için </a:t>
            </a:r>
            <a:r>
              <a:rPr sz="2000" b="1">
                <a:solidFill>
                  <a:srgbClr val="1F2D3A"/>
                </a:solidFill>
              </a:rPr>
              <a:t>hepsini sırayla</a:t>
            </a:r>
            <a:r>
              <a:rPr sz="20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mimari: telefon ↔ sunucu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Telefon:</a:t>
            </a:r>
            <a:r>
              <a:rPr sz="2000" b="0">
                <a:solidFill>
                  <a:srgbClr val="1F2D3A"/>
                </a:solidFill>
              </a:rPr>
              <a:t> güvenilmez ortam — kullanıcı (yani olası saldırgan) cihazın sahibi; root/hata ayıklayıcı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Sunucu:</a:t>
            </a:r>
            <a:r>
              <a:rPr sz="2000" b="0">
                <a:solidFill>
                  <a:srgbClr val="1F2D3A"/>
                </a:solidFill>
              </a:rPr>
              <a:t>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arayüzde sorulur: hangi veri, hangi hâlde, kimlik nasıl doğrulanıyor, gizlilik mi bütünlük mü?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Kriptografinin dört ailesi — şema</a:t>
            </a:r>
          </a:p>
        </p:txBody>
      </p:sp>
      <p:pic>
        <p:nvPicPr>
          <p:cNvPr id="7" name="Picture 6" descr="h03-12-kripto-aile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693" y="1325880"/>
            <a:ext cx="1083030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Kriptografi tek şey değildir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Şifreleme, kısaca:</a:t>
            </a:r>
            <a:r>
              <a:rPr sz="2000" b="0">
                <a:solidFill>
                  <a:srgbClr val="1F2D3A"/>
                </a:solidFill>
              </a:rPr>
              <a:t> açık metni bir anahtarla okunamaz şifreli metne çevirmek; çözme aynı/eşleşen anahtarla tersine çevirir; güvenlik anahtarın gizliliğine dayanır.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Farklı hedefler için </a:t>
            </a:r>
            <a:r>
              <a:rPr sz="2000" b="1">
                <a:solidFill>
                  <a:srgbClr val="1F2D3A"/>
                </a:solidFill>
              </a:rPr>
              <a:t>farklı araçlar</a:t>
            </a:r>
            <a:r>
              <a:rPr sz="2000" b="0">
                <a:solidFill>
                  <a:srgbClr val="1F2D3A"/>
                </a:solidFill>
              </a:rPr>
              <a:t> vardır.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sık karıştırılan dört aile: şifreleme, özet, MAC, imza.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Hangisi </a:t>
            </a:r>
            <a:r>
              <a:rPr sz="2000" b="1">
                <a:solidFill>
                  <a:srgbClr val="1F2D3A"/>
                </a:solidFill>
              </a:rPr>
              <a:t>gizlilik</a:t>
            </a:r>
            <a:r>
              <a:rPr sz="2000" b="0">
                <a:solidFill>
                  <a:srgbClr val="1F2D3A"/>
                </a:solidFill>
              </a:rPr>
              <a:t>, hangisi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, hangisi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verir?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sık yapılan iki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Yalnız şifrelemek, bütünlüğü unutmak.</a:t>
            </a:r>
            <a:r>
              <a:rPr sz="2000" b="0">
                <a:solidFill>
                  <a:srgbClr val="1F2D3A"/>
                </a:solidFill>
              </a:rPr>
              <a:t> Şifreli metin (ör. AES-CTR) saldırganın </a:t>
            </a:r>
            <a:r>
              <a:rPr sz="2000" b="1">
                <a:solidFill>
                  <a:srgbClr val="1F2D3A"/>
                </a:solidFill>
              </a:rPr>
              <a:t>fark edilmeden</a:t>
            </a:r>
            <a:r>
              <a:rPr sz="2000" b="0">
                <a:solidFill>
                  <a:srgbClr val="1F2D3A"/>
                </a:solidFill>
              </a:rPr>
              <a:t> bit değiştirmesini engellemez.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Kendi şifreni/kipini yazmak.</a:t>
            </a:r>
            <a:r>
              <a:rPr sz="2000" b="0">
                <a:solidFill>
                  <a:srgbClr val="1F2D3A"/>
                </a:solidFill>
              </a:rPr>
              <a:t> Kerckhoffs ilkesi: güvenlik algoritmanın değil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dayanır.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3928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Standart, denenmiş yapıları kullanın; ev yapımı kripto neredeyse her zaman kırılır.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neden tek başına yetmez?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çok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iki tarafın </a:t>
            </a:r>
            <a:r>
              <a:rPr sz="2000" b="1">
                <a:solidFill>
                  <a:srgbClr val="1F2D3A"/>
                </a:solidFill>
              </a:rPr>
              <a:t>aynı gizli anahtarı</a:t>
            </a:r>
            <a:r>
              <a:rPr sz="2000" b="0">
                <a:solidFill>
                  <a:srgbClr val="1F2D3A"/>
                </a:solidFill>
              </a:rPr>
              <a:t> bilmesi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anahtarı güvensiz bir ağdan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paylaşırsınız?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Cevap bir sonraki slaytta.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Asimetrik neyi çözer, neye mal olur?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herkesin bir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(dağıtılır) ve bir </a:t>
            </a:r>
            <a:r>
              <a:rPr sz="2000" b="1">
                <a:solidFill>
                  <a:srgbClr val="1F2D3A"/>
                </a:solidFill>
              </a:rPr>
              <a:t>özel</a:t>
            </a:r>
            <a:r>
              <a:rPr sz="2000" b="0">
                <a:solidFill>
                  <a:srgbClr val="1F2D3A"/>
                </a:solidFill>
              </a:rPr>
              <a:t> (gizli) anahtarı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dağıtımı sorununu çözer.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işlemler </a:t>
            </a:r>
            <a:r>
              <a:rPr sz="2000" b="1">
                <a:solidFill>
                  <a:srgbClr val="1F2D3A"/>
                </a:solidFill>
              </a:rPr>
              <a:t>yavaştır</a:t>
            </a:r>
            <a:r>
              <a:rPr sz="2000" b="0">
                <a:solidFill>
                  <a:srgbClr val="1F2D3A"/>
                </a:solidFill>
              </a:rPr>
              <a:t>; büyük veriye uygun değil (100–1000× yavaş).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Hibrit: ikisi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sistemler hep böyle çalışır.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Simetrik vs Asimetrik —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934"/>
                <a:gridCol w="3953454"/>
                <a:gridCol w="4744145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Özellik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Simetrik (AES)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Asimetrik (RSA/EC)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hızlı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Yavaş (100–1000×)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Tek, paylaşılan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Açık/özel çift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Büyük veri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taşıma, imza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 haftada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Dosya/DB/oturum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anahtar kurulumu (H10)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veriyi sabit boyutlu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halinde şifreleyen algoritma.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tek seferde </a:t>
            </a:r>
            <a:r>
              <a:rPr sz="2000" b="1">
                <a:solidFill>
                  <a:srgbClr val="1F2D3A"/>
                </a:solidFill>
              </a:rPr>
              <a:t>16 baytlık</a:t>
            </a:r>
            <a:r>
              <a:rPr sz="2000" b="0">
                <a:solidFill>
                  <a:srgbClr val="1F2D3A"/>
                </a:solidFill>
              </a:rPr>
              <a:t> bir bloğu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Bloktan </a:t>
            </a:r>
            <a:r>
              <a:rPr sz="2000" b="1">
                <a:solidFill>
                  <a:srgbClr val="1F2D3A"/>
                </a:solidFill>
              </a:rPr>
              <a:t>uzun</a:t>
            </a:r>
            <a:r>
              <a:rPr sz="2000" b="0">
                <a:solidFill>
                  <a:srgbClr val="1F2D3A"/>
                </a:solidFill>
              </a:rPr>
              <a:t> veri için bir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(mode of operation) gerekir.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ChaCha20: akış şifre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Akış şifresi:</a:t>
            </a:r>
            <a:r>
              <a:rPr sz="2000" b="0">
                <a:solidFill>
                  <a:srgbClr val="1F2D3A"/>
                </a:solidFill>
              </a:rPr>
              <a:t> blok kavramı yok; veriyle aynı uzunlukta bir </a:t>
            </a:r>
            <a:r>
              <a:rPr sz="2000" b="1">
                <a:solidFill>
                  <a:srgbClr val="1F2D3A"/>
                </a:solidFill>
              </a:rPr>
              <a:t>anahtar akışı</a:t>
            </a:r>
            <a:r>
              <a:rPr sz="2000" b="0">
                <a:solidFill>
                  <a:srgbClr val="1F2D3A"/>
                </a:solidFill>
              </a:rPr>
              <a:t> üretip XOR'lar.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ChaCha20 zaten akış şifresidir.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+ Poly1305 MAC</a:t>
            </a:r>
            <a:r>
              <a:rPr sz="2000" b="0">
                <a:solidFill>
                  <a:srgbClr val="1F2D3A"/>
                </a:solidFill>
              </a:rPr>
              <a:t> = AEAD (ChaCha20-Poly1305, RFC 8439).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aynı: </a:t>
            </a:r>
            <a:r>
              <a:rPr sz="2000" b="1">
                <a:solidFill>
                  <a:srgbClr val="1F2D3A"/>
                </a:solidFill>
              </a:rPr>
              <a:t>gizlilik + bütünlük tek pakette.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(hash): tek yönlü parmak 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Anahtarsızdır.</a:t>
            </a:r>
            <a:r>
              <a:rPr sz="2000" b="0">
                <a:solidFill>
                  <a:srgbClr val="1F2D3A"/>
                </a:solidFill>
              </a:rPr>
              <a:t> Yalnız verinin </a:t>
            </a:r>
            <a:r>
              <a:rPr sz="2000" b="1">
                <a:solidFill>
                  <a:srgbClr val="1F2D3A"/>
                </a:solidFill>
              </a:rPr>
              <a:t>değişip değişmediğini</a:t>
            </a:r>
            <a:r>
              <a:rPr sz="2000" b="0">
                <a:solidFill>
                  <a:srgbClr val="1F2D3A"/>
                </a:solidFill>
              </a:rPr>
              <a:t> gösterir.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veriyi değiştirip </a:t>
            </a:r>
            <a:r>
              <a:rPr sz="2000" b="1">
                <a:solidFill>
                  <a:srgbClr val="1F2D3A"/>
                </a:solidFill>
              </a:rPr>
              <a:t>özeti de yeniden hesaplayabilir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MD5/SHA-1 çakışmaya açık; </a:t>
            </a:r>
            <a:r>
              <a:rPr sz="2000" b="1">
                <a:solidFill>
                  <a:srgbClr val="1F2D3A"/>
                </a:solidFill>
              </a:rPr>
              <a:t>SHA-256/SHA-3</a:t>
            </a:r>
            <a:r>
              <a:rPr sz="2000" b="0">
                <a:solidFill>
                  <a:srgbClr val="1F2D3A"/>
                </a:solidFill>
              </a:rPr>
              <a:t> kullanın.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MAC: paylaşılan anahtarla 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</a:t>
            </a:r>
            <a:r>
              <a:rPr sz="2000" b="0">
                <a:solidFill>
                  <a:srgbClr val="1F2D3A"/>
                </a:solidFill>
              </a:rPr>
              <a:t> (ör. HMAC-SHA-256): </a:t>
            </a:r>
            <a:r>
              <a:rPr sz="2000" b="1">
                <a:solidFill>
                  <a:srgbClr val="1F2D3A"/>
                </a:solidFill>
              </a:rPr>
              <a:t>paylaşılan gizli anahtar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mesajı, anahtarı bilen biri gönderdi ve değişmedi"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 da anahtarı bildiği için MAC </a:t>
            </a:r>
            <a:r>
              <a:rPr sz="2000" b="1">
                <a:solidFill>
                  <a:srgbClr val="1F2D3A"/>
                </a:solidFill>
              </a:rPr>
              <a:t>inkâr edilemezlik sağlamaz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karşılaştırması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olmalı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),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İmza: inkâr edilemezlik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Dijital imza</a:t>
            </a:r>
            <a:r>
              <a:rPr sz="2000" b="0">
                <a:solidFill>
                  <a:srgbClr val="1F2D3A"/>
                </a:solidFill>
              </a:rPr>
              <a:t> (Ed25519, RSA-PSS): </a:t>
            </a:r>
            <a:r>
              <a:rPr sz="2000" b="1">
                <a:solidFill>
                  <a:srgbClr val="1F2D3A"/>
                </a:solidFill>
              </a:rPr>
              <a:t>açık/özel</a:t>
            </a:r>
            <a:r>
              <a:rPr sz="2000" b="0">
                <a:solidFill>
                  <a:srgbClr val="1F2D3A"/>
                </a:solidFill>
              </a:rPr>
              <a:t> anahtar çiftiyle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özel anahtar sahibi imza üretebilir; herkes açık anahtarla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ve sürüm imzalama (Hafta 10) bununla çalışır.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çoğu zaman doğru cevaptır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ayrı "şifrele + MAC ekle" kurmak yerine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işi </a:t>
            </a:r>
            <a:r>
              <a:rPr sz="2000" b="1">
                <a:solidFill>
                  <a:srgbClr val="1F2D3A"/>
                </a:solidFill>
              </a:rPr>
              <a:t>tek çağrıda</a:t>
            </a:r>
            <a:r>
              <a:rPr sz="2000" b="0">
                <a:solidFill>
                  <a:srgbClr val="1F2D3A"/>
                </a:solidFill>
              </a:rPr>
              <a:t>, doğru sırada (encrypt-then-MAC) ve daha az hatayla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yalnız şifrelenmeyecek ama bütünlüğü gereken veriler için (ya da AEAD'nin AAD alanıyla) gerekir.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Demo 1 · `code/week-03/01-aes-gcm-dosya`</a:t>
            </a:r>
            <a:r>
              <a:rPr sz="2000" b="0">
                <a:solidFill>
                  <a:srgbClr val="1F2D3A"/>
                </a:solidFill>
              </a:rPr>
              <a:t> — AEAD, NIST SP 800-38D.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dosyayı AES-256-GCM ile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 biçimi: </a:t>
            </a:r>
            <a:r>
              <a:rPr sz="2000" b="0">
                <a:solidFill>
                  <a:srgbClr val="A1123F"/>
                </a:solidFill>
                <a:latin typeface="Consolas"/>
              </a:rPr>
              <a:t>[12 bayt nonce][şifreli metin][16 bayt etiket]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Sonra şifreli metnin ve yalnız etiketin bir baytını bozup çözmenin </a:t>
            </a:r>
            <a:r>
              <a:rPr sz="2000" b="1">
                <a:solidFill>
                  <a:srgbClr val="1F2D3A"/>
                </a:solidFill>
              </a:rPr>
              <a:t>reddedildiğini</a:t>
            </a:r>
            <a:r>
              <a:rPr sz="2000" b="0">
                <a:solidFill>
                  <a:srgbClr val="1F2D3A"/>
                </a:solidFill>
              </a:rPr>
              <a:t> görüyoruz.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gerçek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ADIM 2 ve 3: nonce, doğru çözme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2:</a:t>
            </a:r>
            <a:r>
              <a:rPr sz="2000" b="0">
                <a:solidFill>
                  <a:srgbClr val="1F2D3A"/>
                </a:solidFill>
              </a:rPr>
              <a:t> Rastgele 12 baytlık bir nonce üretildi, dosyanın başına yazıldı.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gizli değildir</a:t>
            </a:r>
            <a:r>
              <a:rPr sz="2000" b="0">
                <a:solidFill>
                  <a:srgbClr val="1F2D3A"/>
                </a:solidFill>
              </a:rPr>
              <a:t> (dosyada açık durur); yalnız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olması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3:</a:t>
            </a:r>
            <a:r>
              <a:rPr sz="2000" b="0">
                <a:solidFill>
                  <a:srgbClr val="1F2D3A"/>
                </a:solidFill>
              </a:rPr>
              <a:t> Aynı anahtar ve nonce ile çözüldü, etiket tuttu, düz metin geri geldi.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Tuz, IV, nonce — şema</a:t>
            </a:r>
          </a:p>
        </p:txBody>
      </p:sp>
      <p:pic>
        <p:nvPicPr>
          <p:cNvPr id="7" name="Picture 6" descr="h03-14-tuz-iv-no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ADIM 4 ve 5: kurcalama →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4:</a:t>
            </a:r>
            <a:r>
              <a:rPr sz="2000" b="0">
                <a:solidFill>
                  <a:srgbClr val="1F2D3A"/>
                </a:solidFill>
              </a:rPr>
              <a:t> Şifreli metnin 20. baytı XOR ile değiştirildi. GCM etiketi bütün şifreli metin üzerinde hesaplandığı için </a:t>
            </a:r>
            <a:r>
              <a:rPr sz="2000" b="1">
                <a:solidFill>
                  <a:srgbClr val="1F2D3A"/>
                </a:solidFill>
              </a:rPr>
              <a:t>tek bayt bile</a:t>
            </a:r>
            <a:r>
              <a:rPr sz="2000" b="0">
                <a:solidFill>
                  <a:srgbClr val="1F2D3A"/>
                </a:solidFill>
              </a:rPr>
              <a:t> etiketi bozar → çözme reddedildi.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ADIM 5:</a:t>
            </a:r>
            <a:r>
              <a:rPr sz="2000" b="0">
                <a:solidFill>
                  <a:srgbClr val="1F2D3A"/>
                </a:solidFill>
              </a:rPr>
              <a:t> Bu kez yalnız </a:t>
            </a:r>
            <a:r>
              <a:rPr sz="2000" b="1">
                <a:solidFill>
                  <a:srgbClr val="1F2D3A"/>
                </a:solidFill>
              </a:rPr>
              <a:t>etikete</a:t>
            </a:r>
            <a:r>
              <a:rPr sz="2000" b="0">
                <a:solidFill>
                  <a:srgbClr val="1F2D3A"/>
                </a:solidFill>
              </a:rPr>
              <a:t> dokunuldu; yine reddedildi.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Etiket, veriyle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anahtarla birlikte hesaplanır; saldırgan onu anahtarsız üretemez.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Demo 1 — sık hatalar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rastgelelik — şema</a:t>
            </a:r>
          </a:p>
        </p:txBody>
      </p:sp>
      <p:pic>
        <p:nvPicPr>
          <p:cNvPr id="7" name="Picture 6" descr="h03-13-rastgelelik-tur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097153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rastgelelik bu kadar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IV, nonce, tuz, oturum kimliği — hepsi tek bir varsayıma dayanır: </a:t>
            </a:r>
            <a:r>
              <a:rPr sz="2000" b="1">
                <a:solidFill>
                  <a:srgbClr val="1F2D3A"/>
                </a:solidFill>
              </a:rPr>
              <a:t>tahmin edilemezlik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Dünyanın en iyi şifreleme algoritması, anahtarı tahmin edilebilir bir üreteçle oluşturulmuşsa </a:t>
            </a:r>
            <a:r>
              <a:rPr sz="2000" b="1">
                <a:solidFill>
                  <a:srgbClr val="1F2D3A"/>
                </a:solidFill>
              </a:rPr>
              <a:t>hiçbir şey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bölümde önce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 yollara, sonra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yola bakacağız.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— zamanla tohumlamak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srand(time(NULL));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anahtar[16];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(int i = 0; i &lt; 16;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anahtar[i] = rand() &amp; 0xFF;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anahtarın hangi gün üretildiğini biliyorsa, olası tohum sayısı bir günde yalnız </a:t>
            </a:r>
            <a:r>
              <a:rPr sz="2000" b="1">
                <a:solidFill>
                  <a:srgbClr val="1F2D3A"/>
                </a:solidFill>
              </a:rPr>
              <a:t>86.400</a:t>
            </a:r>
            <a:r>
              <a:rPr sz="2000" b="0">
                <a:solidFill>
                  <a:srgbClr val="1F2D3A"/>
                </a:solidFill>
              </a:rPr>
              <a:t>. Bir dizüstü bilgisayar hepsini saniyeler içinde dener.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— entropiyi yanlışlıkla silmek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Debian OpenSSL felaketi (2008):</a:t>
            </a:r>
            <a:r>
              <a:rPr sz="2000" b="0">
                <a:solidFill>
                  <a:srgbClr val="1F2D3A"/>
                </a:solidFill>
              </a:rPr>
              <a:t> bir paketleyici, bir uyarıyı susturmak için OpenSSL'in rastgele sayı havuzuna entropi ekleyen iki satırı kaldırdı.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yıl boyunca tek entropi kaynağı </a:t>
            </a:r>
            <a:r>
              <a:rPr sz="2000" b="1">
                <a:solidFill>
                  <a:srgbClr val="1F2D3A"/>
                </a:solidFill>
              </a:rPr>
              <a:t>süreç kimliği</a:t>
            </a:r>
            <a:r>
              <a:rPr sz="2000" b="0">
                <a:solidFill>
                  <a:srgbClr val="1F2D3A"/>
                </a:solidFill>
              </a:rPr>
              <a:t> (≤ 32.768 değer) oldu.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Saldırganlar bütün olası anahtarları önceden üretip listeledi (</a:t>
            </a:r>
            <a:r>
              <a:rPr sz="2000" b="1">
                <a:solidFill>
                  <a:srgbClr val="1F2D3A"/>
                </a:solidFill>
              </a:rPr>
              <a:t>CVE-2008-0166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yaygın yanlış anlama — şema</a:t>
            </a:r>
          </a:p>
        </p:txBody>
      </p:sp>
      <p:pic>
        <p:nvPicPr>
          <p:cNvPr id="7" name="Picture 6" descr="h03-20-yanlis-anlama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7946" y="1325880"/>
            <a:ext cx="701580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—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Kriptografik koda </a:t>
            </a:r>
            <a:r>
              <a:rPr sz="2000" b="1">
                <a:solidFill>
                  <a:srgbClr val="1F2D3A"/>
                </a:solidFill>
              </a:rPr>
              <a:t>anlamadan dokunmayın.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Rastgele üretecin çıktısını </a:t>
            </a:r>
            <a:r>
              <a:rPr sz="2000" b="1">
                <a:solidFill>
                  <a:srgbClr val="1F2D3A"/>
                </a:solidFill>
              </a:rPr>
              <a:t>istatistiksel olarak test etmek</a:t>
            </a:r>
            <a:r>
              <a:rPr sz="2000" b="0">
                <a:solidFill>
                  <a:srgbClr val="1F2D3A"/>
                </a:solidFill>
              </a:rPr>
              <a:t>, tahmin edilemezliğini </a:t>
            </a:r>
            <a:r>
              <a:rPr sz="2000" b="1">
                <a:solidFill>
                  <a:srgbClr val="1F2D3A"/>
                </a:solidFill>
              </a:rPr>
              <a:t>kanıtlamaz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— aralığa indirgerken sapma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masum görünür. </a:t>
            </a:r>
            <a:r>
              <a:rPr sz="2000" b="0">
                <a:solidFill>
                  <a:srgbClr val="A1123F"/>
                </a:solidFill>
                <a:latin typeface="Consolas"/>
              </a:rPr>
              <a:t>r</a:t>
            </a:r>
            <a:r>
              <a:rPr sz="2000" b="0">
                <a:solidFill>
                  <a:srgbClr val="1F2D3A"/>
                </a:solidFill>
              </a:rPr>
              <a:t> 0–255 tekdüze ise: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256 = 42*6 + 4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0–3 değerleri </a:t>
            </a:r>
            <a:r>
              <a:rPr sz="2000" b="1">
                <a:solidFill>
                  <a:srgbClr val="1F2D3A"/>
                </a:solidFill>
              </a:rPr>
              <a:t>43'er</a:t>
            </a:r>
            <a:r>
              <a:rPr sz="2000" b="0">
                <a:solidFill>
                  <a:srgbClr val="1F2D3A"/>
                </a:solidFill>
              </a:rPr>
              <a:t> kez, 4–5 değerleri </a:t>
            </a:r>
            <a:r>
              <a:rPr sz="2000" b="1">
                <a:solidFill>
                  <a:srgbClr val="1F2D3A"/>
                </a:solidFill>
              </a:rPr>
              <a:t>42'şer</a:t>
            </a:r>
            <a:r>
              <a:rPr sz="2000" b="0">
                <a:solidFill>
                  <a:srgbClr val="1F2D3A"/>
                </a:solidFill>
              </a:rPr>
              <a:t> kez çıkar.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Zar için önemsiz; parola/OTP üretirken tahmin edilebilirliği artırır.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yöntem: </a:t>
            </a:r>
            <a:r>
              <a:rPr sz="2000" b="1">
                <a:solidFill>
                  <a:srgbClr val="1F2D3A"/>
                </a:solidFill>
              </a:rPr>
              <a:t>reddetme</a:t>
            </a:r>
            <a:r>
              <a:rPr sz="2000" b="0">
                <a:solidFill>
                  <a:srgbClr val="1F2D3A"/>
                </a:solidFill>
              </a:rPr>
              <a:t> (rejection sampling) — sonraki slaytta.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Dönüş değerini neden denetlemeli?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üreteç </a:t>
            </a:r>
            <a:r>
              <a:rPr sz="2000" b="1">
                <a:solidFill>
                  <a:srgbClr val="1F2D3A"/>
                </a:solidFill>
              </a:rPr>
              <a:t>başarısız olabilir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Denetlenmezse tampon </a:t>
            </a:r>
            <a:r>
              <a:rPr sz="2000" b="1">
                <a:solidFill>
                  <a:srgbClr val="1F2D3A"/>
                </a:solidFill>
              </a:rPr>
              <a:t>ilklendirilmemiş</a:t>
            </a:r>
            <a:r>
              <a:rPr sz="2000" b="0">
                <a:solidFill>
                  <a:srgbClr val="1F2D3A"/>
                </a:solidFill>
              </a:rPr>
              <a:t> (ya da sıfır) kalır.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"rastgele" sandığı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 bir anahtarla çalışmaya devam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tek doğru davranış: </a:t>
            </a:r>
            <a:r>
              <a:rPr sz="2000" b="1">
                <a:solidFill>
                  <a:srgbClr val="1F2D3A"/>
                </a:solidFill>
              </a:rPr>
              <a:t>işlemi durdurmak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Reddetme yöntemiyle sapmasız aralık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Fikir: 2³² değerin, </a:t>
            </a:r>
            <a:r>
              <a:rPr sz="2000" b="0">
                <a:solidFill>
                  <a:srgbClr val="A1123F"/>
                </a:solidFill>
                <a:latin typeface="Consolas"/>
              </a:rPr>
              <a:t>ust</a:t>
            </a:r>
            <a:r>
              <a:rPr sz="2000" b="0">
                <a:solidFill>
                  <a:srgbClr val="1F2D3A"/>
                </a:solidFill>
              </a:rPr>
              <a:t>'e </a:t>
            </a:r>
            <a:r>
              <a:rPr sz="2000" b="1">
                <a:solidFill>
                  <a:srgbClr val="1F2D3A"/>
                </a:solidFill>
              </a:rPr>
              <a:t>tam bölünen</a:t>
            </a:r>
            <a:r>
              <a:rPr sz="2000" b="0">
                <a:solidFill>
                  <a:srgbClr val="1F2D3A"/>
                </a:solidFill>
              </a:rPr>
              <a:t> en büyük kısmını kullan, kalanı at.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Rastgele değerler — kullanım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pic>
        <p:nvPicPr>
          <p:cNvPr id="7" name="Picture 6" descr="h03-02-a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175" y="1325880"/>
            <a:ext cx="5165345" cy="3398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34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AAD:</a:t>
            </a:r>
            <a:r>
              <a:rPr sz="20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kripto API'sinin içini açıyoruz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Demo 1'de işi hazır yardımcı fonksiyonlara bıraktık.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Şimdi OpenSSL'in </a:t>
            </a:r>
            <a:r>
              <a:rPr sz="2000" b="1">
                <a:solidFill>
                  <a:srgbClr val="1F2D3A"/>
                </a:solidFill>
              </a:rPr>
              <a:t>EVP</a:t>
            </a:r>
            <a:r>
              <a:rPr sz="2000" b="0">
                <a:solidFill>
                  <a:srgbClr val="1F2D3A"/>
                </a:solidFill>
              </a:rPr>
              <a:t> arayüzünü satır satır yazıyoruz.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kütüphaneyi kullanırken nerede hata yapılabileceğini görmek.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 hâlâ geçerli: </a:t>
            </a:r>
            <a:r>
              <a:rPr sz="2000" b="1">
                <a:solidFill>
                  <a:srgbClr val="1F2D3A"/>
                </a:solidFill>
              </a:rPr>
              <a:t>kendi algoritmanı yazmazsın</a:t>
            </a:r>
            <a:r>
              <a:rPr sz="2000" b="0">
                <a:solidFill>
                  <a:srgbClr val="1F2D3A"/>
                </a:solidFill>
              </a:rPr>
              <a:t>, ama hazır algoritmayı </a:t>
            </a:r>
            <a:r>
              <a:rPr sz="2000" b="1">
                <a:solidFill>
                  <a:srgbClr val="1F2D3A"/>
                </a:solidFill>
              </a:rPr>
              <a:t>doğru çağırmak</a:t>
            </a:r>
            <a:r>
              <a:rPr sz="2000" b="0">
                <a:solidFill>
                  <a:srgbClr val="1F2D3A"/>
                </a:solidFill>
              </a:rPr>
              <a:t> da bir beceridir.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1: algoritmayı seç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EVP_EncryptInit_ex(ctx, EVP_aes_256_gcm(), NULL, NULL,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Algoritmayı seç (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ve nonce'u </a:t>
            </a:r>
            <a:r>
              <a:rPr sz="2000" b="1">
                <a:solidFill>
                  <a:srgbClr val="1F2D3A"/>
                </a:solidFill>
              </a:rPr>
              <a:t>henüz verme</a:t>
            </a:r>
            <a:r>
              <a:rPr sz="2000" b="0">
                <a:solidFill>
                  <a:srgbClr val="1F2D3A"/>
                </a:solidFill>
              </a:rPr>
              <a:t> — sıradaki adımda.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2: nonce boyu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EVP_CTRL_GCM_SET_IVLEN, 12,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(IV) uzunluğunu ayarla.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 için önerilen </a:t>
            </a:r>
            <a:r>
              <a:rPr sz="2000" b="1">
                <a:solidFill>
                  <a:srgbClr val="1F2D3A"/>
                </a:solidFill>
              </a:rPr>
              <a:t>12 bayt</a:t>
            </a:r>
            <a:r>
              <a:rPr sz="2000" b="0">
                <a:solidFill>
                  <a:srgbClr val="1F2D3A"/>
                </a:solidFill>
              </a:rPr>
              <a:t>; varsayılan da budur ama açık yazmak iyi bir alışkanlıktır.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3: anahtar + nonce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EVP_EncryptInit_ex(ctx, NULL, NULL, anahtar, nonce);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ve nonce'u </a:t>
            </a:r>
            <a:r>
              <a:rPr sz="2000" b="1">
                <a:solidFill>
                  <a:srgbClr val="1F2D3A"/>
                </a:solidFill>
              </a:rPr>
              <a:t>şimdi</a:t>
            </a:r>
            <a:r>
              <a:rPr sz="2000" b="0">
                <a:solidFill>
                  <a:srgbClr val="1F2D3A"/>
                </a:solidFill>
              </a:rPr>
              <a:t> ver.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</a:t>
            </a:r>
            <a:r>
              <a:rPr sz="2000" b="0">
                <a:solidFill>
                  <a:srgbClr val="A1123F"/>
                </a:solidFill>
                <a:latin typeface="Consolas"/>
              </a:rPr>
              <a:t>Init</a:t>
            </a:r>
            <a:r>
              <a:rPr sz="2000" b="0">
                <a:solidFill>
                  <a:srgbClr val="1F2D3A"/>
                </a:solidFill>
              </a:rPr>
              <a:t> çağrısında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NULL</a:t>
            </a:r>
            <a:r>
              <a:rPr sz="2000" b="0">
                <a:solidFill>
                  <a:srgbClr val="1F2D3A"/>
                </a:solidFill>
              </a:rPr>
              <a:t> bırakılan yerler burada doldu.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4: AAD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EVP_EncryptUpdate(ctx, NULL, &amp;n, aad, aad_n);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AAD'yi ver: çıktı tamponu </a:t>
            </a:r>
            <a:r>
              <a:rPr sz="2000" b="1">
                <a:solidFill>
                  <a:srgbClr val="1F2D3A"/>
                </a:solidFill>
              </a:rPr>
              <a:t>`NULL`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AAD </a:t>
            </a:r>
            <a:r>
              <a:rPr sz="2000" b="1">
                <a:solidFill>
                  <a:srgbClr val="1F2D3A"/>
                </a:solidFill>
              </a:rPr>
              <a:t>şifrelenmez</a:t>
            </a:r>
            <a:r>
              <a:rPr sz="2000" b="0">
                <a:solidFill>
                  <a:srgbClr val="1F2D3A"/>
                </a:solidFill>
              </a:rPr>
              <a:t>, yalnız etikete katılır (dosya başlığı, sürüm, kayıt kimliği).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5: veriyi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EVP_EncryptUpdate(ctx, sifreli, &amp;n, acik, acik_n);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Açık metni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veride bu adım </a:t>
            </a:r>
            <a:r>
              <a:rPr sz="2000" b="1">
                <a:solidFill>
                  <a:srgbClr val="1F2D3A"/>
                </a:solidFill>
              </a:rPr>
              <a:t>parça parça</a:t>
            </a:r>
            <a:r>
              <a:rPr sz="2000" b="0">
                <a:solidFill>
                  <a:srgbClr val="1F2D3A"/>
                </a:solidFill>
              </a:rPr>
              <a:t> tekrarlanabilir.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6: bitir (ZORUNLU)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EVP_EncryptFinal_ex(ctx, sifreli + n, &amp;n);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 akış kipinde çalıştığı için </a:t>
            </a:r>
            <a:r>
              <a:rPr sz="2000" b="1">
                <a:solidFill>
                  <a:srgbClr val="1F2D3A"/>
                </a:solidFill>
              </a:rPr>
              <a:t>dolgu yoktur</a:t>
            </a:r>
            <a:r>
              <a:rPr sz="2000" b="0">
                <a:solidFill>
                  <a:srgbClr val="1F2D3A"/>
                </a:solidFill>
              </a:rPr>
              <a:t>; bu çağrı genelde 0 bayt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çağrılması </a:t>
            </a:r>
            <a:r>
              <a:rPr sz="2000" b="1">
                <a:solidFill>
                  <a:srgbClr val="1F2D3A"/>
                </a:solidFill>
              </a:rPr>
              <a:t>zorunludur</a:t>
            </a:r>
            <a:r>
              <a:rPr sz="2000" b="0">
                <a:solidFill>
                  <a:srgbClr val="1F2D3A"/>
                </a:solidFill>
              </a:rPr>
              <a:t>: etiket burada hesaplanır.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EVP şifreleme — Adım 7: etiketi 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EVP_CTRL_GCM_GET_TAG, 16, etiket);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Etiketi al ve şifreli metinle birlikte sakla.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Yedi adım — bir arada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Çözme — adım 1-2: aç, etiketi ayarla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DecryptUpdate</a:t>
            </a:r>
            <a:r>
              <a:rPr sz="2000" b="0">
                <a:solidFill>
                  <a:srgbClr val="1F2D3A"/>
                </a:solidFill>
              </a:rPr>
              <a:t> açık metni </a:t>
            </a:r>
            <a:r>
              <a:rPr sz="2000" b="1">
                <a:solidFill>
                  <a:srgbClr val="1F2D3A"/>
                </a:solidFill>
              </a:rPr>
              <a:t>hemen</a:t>
            </a:r>
            <a:r>
              <a:rPr sz="2000" b="0">
                <a:solidFill>
                  <a:srgbClr val="1F2D3A"/>
                </a:solidFill>
              </a:rPr>
              <a:t> tampona yazar — henüz doğrulanmadı!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Beklenen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</a:t>
            </a:r>
            <a:r>
              <a:rPr sz="2000" b="0">
                <a:solidFill>
                  <a:srgbClr val="1F2D3A"/>
                </a:solidFill>
              </a:rPr>
              <a:t>'dan </a:t>
            </a:r>
            <a:r>
              <a:rPr sz="2000" b="1">
                <a:solidFill>
                  <a:srgbClr val="1F2D3A"/>
                </a:solidFill>
              </a:rPr>
              <a:t>önce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 — adım 3: Final ZORUNLU kontrolü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068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 zamanlı karşılaştırma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ilk farklı baytta durur; süre kaç baytın doğru olduğunu </a:t>
            </a:r>
            <a:r>
              <a:rPr sz="2000" b="1">
                <a:solidFill>
                  <a:srgbClr val="1F2D3A"/>
                </a:solidFill>
              </a:rPr>
              <a:t>sızdırır</a:t>
            </a:r>
            <a:r>
              <a:rPr sz="2000" b="0">
                <a:solidFill>
                  <a:srgbClr val="1F2D3A"/>
                </a:solidFill>
              </a:rPr>
              <a:t>. Hazır karşılıklar: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sodium_memcmp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kütüphanesi kullanırken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algoritma envanteri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ürün kılavuzlarında bir </a:t>
            </a:r>
            <a:r>
              <a:rPr sz="2000" b="1">
                <a:solidFill>
                  <a:srgbClr val="1F2D3A"/>
                </a:solidFill>
              </a:rPr>
              <a:t>algoritma envanteri</a:t>
            </a:r>
            <a:r>
              <a:rPr sz="2000" b="0">
                <a:solidFill>
                  <a:srgbClr val="1F2D3A"/>
                </a:solidFill>
              </a:rPr>
              <a:t> bulunur: her algoritma, hangi amaçla, hangi anahtar boyuyla.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eleştirel okuma malzemesi: eski envanterlerde </a:t>
            </a:r>
            <a:r>
              <a:rPr sz="2000" b="1">
                <a:solidFill>
                  <a:srgbClr val="1F2D3A"/>
                </a:solidFill>
              </a:rPr>
              <a:t>SHA-1</a:t>
            </a:r>
            <a:r>
              <a:rPr sz="2000" b="0">
                <a:solidFill>
                  <a:srgbClr val="1F2D3A"/>
                </a:solidFill>
              </a:rPr>
              <a:t> ya da </a:t>
            </a:r>
            <a:r>
              <a:rPr sz="2000" b="1">
                <a:solidFill>
                  <a:srgbClr val="1F2D3A"/>
                </a:solidFill>
              </a:rPr>
              <a:t>ayrı MAC'li CBC</a:t>
            </a:r>
            <a:r>
              <a:rPr sz="2000" b="0">
                <a:solidFill>
                  <a:srgbClr val="1F2D3A"/>
                </a:solidFill>
              </a:rPr>
              <a:t> görülür.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 yazılan bir envanterde yerini </a:t>
            </a:r>
            <a:r>
              <a:rPr sz="2000" b="1">
                <a:solidFill>
                  <a:srgbClr val="1F2D3A"/>
                </a:solidFill>
              </a:rPr>
              <a:t>SHA-256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almalı.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nasıl test eder?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envanterini kaynak kodla </a:t>
            </a:r>
            <a:r>
              <a:rPr sz="2000" b="1">
                <a:solidFill>
                  <a:srgbClr val="1F2D3A"/>
                </a:solidFill>
              </a:rPr>
              <a:t>karşılaştırır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üretimini ve tekrarını inceler.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Şifreli veriyi bir bit değiştirerek geri verir; uygulamanın </a:t>
            </a:r>
            <a:r>
              <a:rPr sz="2000" b="1">
                <a:solidFill>
                  <a:srgbClr val="1F2D3A"/>
                </a:solidFill>
              </a:rPr>
              <a:t>reddettiğini</a:t>
            </a:r>
            <a:r>
              <a:rPr sz="2000" b="0">
                <a:solidFill>
                  <a:srgbClr val="1F2D3A"/>
                </a:solidFill>
              </a:rPr>
              <a:t> ve ayrıntılı hata vermediğini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arar.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kural (devamı)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nonce </a:t>
            </a:r>
            <a:r>
              <a:rPr sz="2000" b="1">
                <a:solidFill>
                  <a:srgbClr val="1F2D3A"/>
                </a:solidFill>
              </a:rPr>
              <a:t>pratiktir</a:t>
            </a:r>
            <a:r>
              <a:rPr sz="2000" b="0">
                <a:solidFill>
                  <a:srgbClr val="1F2D3A"/>
                </a:solidFill>
              </a:rPr>
              <a:t>; ama aynı anahtarla çok mesaj varsa (NIST önerisi: ≤ 2³²) doğum günü olasılığı devreye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Alternatif: nonce'u </a:t>
            </a:r>
            <a:r>
              <a:rPr sz="2000" b="1">
                <a:solidFill>
                  <a:srgbClr val="1F2D3A"/>
                </a:solidFill>
              </a:rPr>
              <a:t>sayaç</a:t>
            </a:r>
            <a:r>
              <a:rPr sz="2000" b="0">
                <a:solidFill>
                  <a:srgbClr val="1F2D3A"/>
                </a:solidFill>
              </a:rPr>
              <a:t> yap — ama sayaç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saklanmalı (cihaz yeniden başlayınca sıfırlanmamalı).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olaylar: </a:t>
            </a:r>
            <a:r>
              <a:rPr sz="2000" b="1">
                <a:solidFill>
                  <a:srgbClr val="1F2D3A"/>
                </a:solidFill>
              </a:rPr>
              <a:t>WEP</a:t>
            </a:r>
            <a:r>
              <a:rPr sz="2000" b="0">
                <a:solidFill>
                  <a:srgbClr val="1F2D3A"/>
                </a:solidFill>
              </a:rPr>
              <a:t> kısa IV, </a:t>
            </a:r>
            <a:r>
              <a:rPr sz="2000" b="1">
                <a:solidFill>
                  <a:srgbClr val="1F2D3A"/>
                </a:solidFill>
              </a:rPr>
              <a:t>Sony PS3</a:t>
            </a:r>
            <a:r>
              <a:rPr sz="2000" b="0">
                <a:solidFill>
                  <a:srgbClr val="1F2D3A"/>
                </a:solidFill>
              </a:rPr>
              <a:t> ECDSA'da tekrar eden rastgele değer (özel anahtar çıkarıldı).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ECB kullanmayın.</a:t>
            </a:r>
            <a:r>
              <a:rPr sz="2000" b="0">
                <a:solidFill>
                  <a:srgbClr val="1F2D3A"/>
                </a:solidFill>
              </a:rPr>
              <a:t> Şifreleme için AEAD (GCM, ChaCha20-Poly1305); disk için XTS-AES.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incelemesinde </a:t>
            </a:r>
            <a:r>
              <a:rPr sz="2000" b="0">
                <a:solidFill>
                  <a:srgbClr val="A1123F"/>
                </a:solidFill>
                <a:latin typeface="Consolas"/>
              </a:rPr>
              <a:t>ecb</a:t>
            </a:r>
            <a:r>
              <a:rPr sz="2000" b="0">
                <a:solidFill>
                  <a:srgbClr val="1F2D3A"/>
                </a:solidFill>
              </a:rPr>
              <a:t> geçen her yer bir </a:t>
            </a:r>
            <a:r>
              <a:rPr sz="2000" b="1">
                <a:solidFill>
                  <a:srgbClr val="1F2D3A"/>
                </a:solidFill>
              </a:rPr>
              <a:t>bulgudur</a:t>
            </a:r>
            <a:r>
              <a:rPr sz="2000" b="0">
                <a:solidFill>
                  <a:srgbClr val="1F2D3A"/>
                </a:solidFill>
              </a:rPr>
              <a:t>. Değerlendirici aynı düz metnin tekrar eden 16 baytlık bloklarını arayarak ECB'yi otomatik yakalayabilir.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Tuz, IV, nonce</a:t>
            </a:r>
            <a:r>
              <a:rPr sz="2000" b="0">
                <a:solidFill>
                  <a:srgbClr val="1F2D3A"/>
                </a:solidFill>
              </a:rPr>
              <a:t>: hiçbiri gizli değil, ama </a:t>
            </a:r>
            <a:r>
              <a:rPr sz="2000" b="1">
                <a:solidFill>
                  <a:srgbClr val="1F2D3A"/>
                </a:solidFill>
              </a:rPr>
              <a:t>her biri farklı bir tekrarsızlık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aynı anahtarla tekrar etmesin.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 yasak.</a:t>
            </a:r>
            <a:r>
              <a:rPr sz="2000" b="0">
                <a:solidFill>
                  <a:srgbClr val="1F2D3A"/>
                </a:solidFill>
              </a:rPr>
              <a:t> Kip seçimi = güvenlik kararı.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Paroladan anahtar türetme — şema</a:t>
            </a:r>
          </a:p>
        </p:txBody>
      </p:sp>
      <p:pic>
        <p:nvPicPr>
          <p:cNvPr id="7" name="Picture 6" descr="h03-15-kdf-iki-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327418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neden doğrudan anahtar olamaz?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</a:t>
            </a:r>
            <a:r>
              <a:rPr sz="2000" b="1">
                <a:solidFill>
                  <a:srgbClr val="1F2D3A"/>
                </a:solidFill>
              </a:rPr>
              <a:t>kısa, düşük entropili ve tahmin edilebilir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Doğrudan anahtar yapılırsa kaba kuvvet ucuzlaşır.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paroladan anahtar türetme fonksiyonu (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Genel olarak KDF:</a:t>
            </a:r>
            <a:r>
              <a:rPr sz="2000" b="0">
                <a:solidFill>
                  <a:srgbClr val="1F2D3A"/>
                </a:solidFill>
              </a:rPr>
              <a:t> yalnız paroladan değil, bir </a:t>
            </a:r>
            <a:r>
              <a:rPr sz="2000" b="1">
                <a:solidFill>
                  <a:srgbClr val="1F2D3A"/>
                </a:solidFill>
              </a:rPr>
              <a:t>ana sırdan</a:t>
            </a:r>
            <a:r>
              <a:rPr sz="2000" b="0">
                <a:solidFill>
                  <a:srgbClr val="1F2D3A"/>
                </a:solidFill>
              </a:rPr>
              <a:t> da anahtar türetilebilir — bunu 6. bölümde (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) görüyoruz.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KDF iki iş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78888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tuzun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parola +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tuz → her seferinde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Tuz sabitse saldırgan bir kez tablo kurup herkesi arayabilir.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parola +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tuz → tamamen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anahtar.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Tuz her kayıt için </a:t>
            </a:r>
            <a:r>
              <a:rPr sz="2000" b="1">
                <a:solidFill>
                  <a:srgbClr val="1F2D3A"/>
                </a:solidFill>
              </a:rPr>
              <a:t>rastgele ve 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maliyetin etkisi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Tur sayısı 1.000 → 2.000.000 olunca süre ~0,4 ms → ~628 ms'ye 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doğrudan çarpandır</a:t>
            </a:r>
            <a:r>
              <a:rPr sz="2000" b="0">
                <a:solidFill>
                  <a:srgbClr val="1F2D3A"/>
                </a:solidFill>
              </a:rPr>
              <a:t>: saldırganın her denemesi de o kadar pahalılaşır.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"Kullanıcı girişinde 200 ms" kabul edilebilir; saldırgana </a:t>
            </a:r>
            <a:r>
              <a:rPr sz="2000" b="1">
                <a:solidFill>
                  <a:srgbClr val="1F2D3A"/>
                </a:solidFill>
              </a:rPr>
              <a:t>milyarlarca</a:t>
            </a:r>
            <a:r>
              <a:rPr sz="2000" b="0">
                <a:solidFill>
                  <a:srgbClr val="1F2D3A"/>
                </a:solidFill>
              </a:rPr>
              <a:t> deneme yerine </a:t>
            </a:r>
            <a:r>
              <a:rPr sz="2000" b="1">
                <a:solidFill>
                  <a:srgbClr val="1F2D3A"/>
                </a:solidFill>
              </a:rPr>
              <a:t>binlerce</a:t>
            </a:r>
            <a:r>
              <a:rPr sz="2000" b="0">
                <a:solidFill>
                  <a:srgbClr val="1F2D3A"/>
                </a:solidFill>
              </a:rPr>
              <a:t> deneme demektir.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İleri: biber (pepper)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Tuza ek olarak, veritabanında </a:t>
            </a:r>
            <a:r>
              <a:rPr sz="2000" b="1">
                <a:solidFill>
                  <a:srgbClr val="1F2D3A"/>
                </a:solidFill>
              </a:rPr>
              <a:t>saklanmayan</a:t>
            </a:r>
            <a:r>
              <a:rPr sz="2000" b="0">
                <a:solidFill>
                  <a:srgbClr val="1F2D3A"/>
                </a:solidFill>
              </a:rPr>
              <a:t>, yapılandırmada ya da HSM'de tutulan gizli bir </a:t>
            </a:r>
            <a:r>
              <a:rPr sz="2000" b="1">
                <a:solidFill>
                  <a:srgbClr val="1F2D3A"/>
                </a:solidFill>
              </a:rPr>
              <a:t>biber</a:t>
            </a:r>
            <a:r>
              <a:rPr sz="2000" b="0">
                <a:solidFill>
                  <a:srgbClr val="1F2D3A"/>
                </a:solidFill>
              </a:rPr>
              <a:t> eklenebilir.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DB çalınırsa (biber sızmadıkça) özetler bir kat daha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gizli değildir; biber gizlidir.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Parolayı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doğrudan anahtar yapma.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Rastgele </a:t>
            </a:r>
            <a:r>
              <a:rPr sz="2000" b="1">
                <a:solidFill>
                  <a:srgbClr val="1F2D3A"/>
                </a:solidFill>
              </a:rPr>
              <a:t>tuz</a:t>
            </a:r>
            <a:r>
              <a:rPr sz="2000" b="0">
                <a:solidFill>
                  <a:srgbClr val="1F2D3A"/>
                </a:solidFill>
              </a:rPr>
              <a:t> + yeterli maliyetli bir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(Argon2id öncelikli).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Maliyeti donanıma göre ayarla, yıllar içinde </a:t>
            </a:r>
            <a:r>
              <a:rPr sz="2000" b="1">
                <a:solidFill>
                  <a:srgbClr val="1F2D3A"/>
                </a:solidFill>
              </a:rPr>
              <a:t>artır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ana sırdan direkt kullanmıyoruz?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bir "ana sır"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Ondan, her amaç ve her oturum için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anahtarlar türetilir.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Araç: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(RFC 5869) — iki aşamalı bir KDF.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Adım 1: 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</a:t>
            </a:r>
            <a:r>
              <a:rPr sz="2000" b="1">
                <a:solidFill>
                  <a:srgbClr val="1F2D3A"/>
                </a:solidFill>
              </a:rPr>
              <a:t>ana sır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tuz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tekdüze bir </a:t>
            </a:r>
            <a:r>
              <a:rPr sz="2000" b="1">
                <a:solidFill>
                  <a:srgbClr val="1F2D3A"/>
                </a:solidFill>
              </a:rPr>
              <a:t>ara anahtar (PRK)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ham sırdaki düzensizliği tek biçim bir anahtara sıkıştırmak.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 Adım 2: 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Girdi: </a:t>
            </a:r>
            <a:r>
              <a:rPr sz="2000" b="1">
                <a:solidFill>
                  <a:srgbClr val="1F2D3A"/>
                </a:solidFill>
              </a:rPr>
              <a:t>PRK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`info`</a:t>
            </a:r>
            <a:r>
              <a:rPr sz="2000" b="0">
                <a:solidFill>
                  <a:srgbClr val="1F2D3A"/>
                </a:solidFill>
              </a:rPr>
              <a:t>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istenen boyda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Farklı `info` → farklı anahtar.</a:t>
            </a:r>
            <a:r>
              <a:rPr sz="2000" b="0">
                <a:solidFill>
                  <a:srgbClr val="1F2D3A"/>
                </a:solidFill>
              </a:rPr>
              <a:t> Aynı PRK'dan şifreleme anahtarı, MAC anahtarı, oturum anahtarı ayrı ayrı çıkar.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pic>
        <p:nvPicPr>
          <p:cNvPr id="7" name="Picture 6" descr="h03-03-hk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19" y="1325880"/>
            <a:ext cx="10816457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adımda </a:t>
            </a:r>
            <a:r>
              <a:rPr sz="2000" b="1">
                <a:solidFill>
                  <a:srgbClr val="1F2D3A"/>
                </a:solidFill>
              </a:rPr>
              <a:t>eskisini 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— şema</a:t>
            </a:r>
          </a:p>
        </p:txBody>
      </p:sp>
      <p:pic>
        <p:nvPicPr>
          <p:cNvPr id="7" name="Picture 6" descr="h03-11-ileri-gizli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649" y="1325880"/>
            <a:ext cx="9324397" cy="37835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5219192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 (geçici ECDHE ile).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açıklama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ana sırdan 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anahtarlar çıktı; bir amacın anahtarı başka amaca kullanılamaz.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İleri gizlilik zincirinde her adımda eski anahtar </a:t>
            </a:r>
            <a:r>
              <a:rPr sz="2000" b="1">
                <a:solidFill>
                  <a:srgbClr val="1F2D3A"/>
                </a:solidFill>
              </a:rPr>
              <a:t>silindi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Elde yalnız </a:t>
            </a:r>
            <a:r>
              <a:rPr sz="2000" b="1">
                <a:solidFill>
                  <a:srgbClr val="1F2D3A"/>
                </a:solidFill>
              </a:rPr>
              <a:t>K4</a:t>
            </a:r>
            <a:r>
              <a:rPr sz="2000" b="0">
                <a:solidFill>
                  <a:srgbClr val="1F2D3A"/>
                </a:solidFill>
              </a:rPr>
              <a:t> var; zincir tek yönlü olduğu için K4'ten </a:t>
            </a:r>
            <a:r>
              <a:rPr sz="2000" b="1">
                <a:solidFill>
                  <a:srgbClr val="1F2D3A"/>
                </a:solidFill>
              </a:rPr>
              <a:t>K3, K2, K1 geri hesaplanamaz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sırdan </a:t>
            </a:r>
            <a:r>
              <a:rPr sz="2000" b="1">
                <a:solidFill>
                  <a:srgbClr val="1F2D3A"/>
                </a:solidFill>
              </a:rPr>
              <a:t>amaca ve oturuma göre</a:t>
            </a:r>
            <a:r>
              <a:rPr sz="2000" b="0">
                <a:solidFill>
                  <a:srgbClr val="1F2D3A"/>
                </a:solidFill>
              </a:rPr>
              <a:t> ayrı anahtarlar türetin.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türetmeye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/label koyun.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Kısa ömürlü oturum anahtarlarını </a:t>
            </a:r>
            <a:r>
              <a:rPr sz="2000" b="1">
                <a:solidFill>
                  <a:srgbClr val="1F2D3A"/>
                </a:solidFill>
              </a:rPr>
              <a:t>kullanınca silin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Algoritma mı kırıldı, anahtar mı kötü yönetildi?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"Algoritma kırıldı" diye haber yapılan olayların çok küçük bir kısmı gerçekten algoritmanın kırılmasıdır.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çoğunluk </a:t>
            </a:r>
            <a:r>
              <a:rPr sz="2000" b="1">
                <a:solidFill>
                  <a:srgbClr val="1F2D3A"/>
                </a:solidFill>
              </a:rPr>
              <a:t>anahtar yönetimi</a:t>
            </a:r>
            <a:r>
              <a:rPr sz="2000" b="0">
                <a:solidFill>
                  <a:srgbClr val="1F2D3A"/>
                </a:solidFill>
              </a:rPr>
              <a:t> hatasıdır: koda gömülü anahtar, hiç değişmeyen anahtar, tek anahtarla her 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bölüm bu hataları önlemek için var.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Kripto-periyot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anahtarın </a:t>
            </a:r>
            <a:r>
              <a:rPr sz="2000" b="1">
                <a:solidFill>
                  <a:srgbClr val="1F2D3A"/>
                </a:solidFill>
              </a:rPr>
              <a:t>kullanılmasına izin verilen süre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 dolunca anahtar yeni veriyi </a:t>
            </a:r>
            <a:r>
              <a:rPr sz="2000" b="1">
                <a:solidFill>
                  <a:srgbClr val="1F2D3A"/>
                </a:solidFill>
              </a:rPr>
              <a:t>şifrelemek</a:t>
            </a:r>
            <a:r>
              <a:rPr sz="2000" b="0">
                <a:solidFill>
                  <a:srgbClr val="1F2D3A"/>
                </a:solidFill>
              </a:rPr>
              <a:t> için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veriyi </a:t>
            </a:r>
            <a:r>
              <a:rPr sz="2000" b="1">
                <a:solidFill>
                  <a:srgbClr val="1F2D3A"/>
                </a:solidFill>
              </a:rPr>
              <a:t>çözmek</a:t>
            </a:r>
            <a:r>
              <a:rPr sz="2000" b="0">
                <a:solidFill>
                  <a:srgbClr val="1F2D3A"/>
                </a:solidFill>
              </a:rPr>
              <a:t> için bir süre daha tutulabilir.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Etkenler: korunan verinin miktarı, gizli kalması gereken süre, anahtarın ne kadar açıkta durduğu.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Anahtarın hayatı — şema</a:t>
            </a:r>
          </a:p>
        </p:txBody>
      </p:sp>
      <p:pic>
        <p:nvPicPr>
          <p:cNvPr id="7" name="Picture 6" descr="h03-04-anahtar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78" y="1325880"/>
            <a:ext cx="1049053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hiyerarşisi: iki temel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farklı amaçlar için farklı anahtarlar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ile).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Zararın sınırlanması:</a:t>
            </a:r>
            <a:r>
              <a:rPr sz="2000" b="0">
                <a:solidFill>
                  <a:srgbClr val="1F2D3A"/>
                </a:solidFill>
              </a:rPr>
              <a:t> alt düzeydeki bir anahtarın ele geçirilmesi yalnız </a:t>
            </a:r>
            <a:r>
              <a:rPr sz="2000" b="1">
                <a:solidFill>
                  <a:srgbClr val="1F2D3A"/>
                </a:solidFill>
              </a:rPr>
              <a:t>o dalı</a:t>
            </a:r>
            <a:r>
              <a:rPr sz="2000" b="0">
                <a:solidFill>
                  <a:srgbClr val="1F2D3A"/>
                </a:solidFill>
              </a:rPr>
              <a:t> etkiler.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pic>
        <p:nvPicPr>
          <p:cNvPr id="7" name="Picture 6" descr="h03-05-anahtar-hiyerars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4888" y="1325880"/>
            <a:ext cx="5041918" cy="3875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106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Zarflama (envelope encryption) —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Büyük veriyi doğrudan ana anahtarla şifrelemek iki sorun yaratır: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</a:t>
            </a:r>
            <a:r>
              <a:rPr sz="2000" b="1">
                <a:solidFill>
                  <a:srgbClr val="1F2D3A"/>
                </a:solidFill>
              </a:rPr>
              <a:t>sık kullanılır</a:t>
            </a:r>
            <a:r>
              <a:rPr sz="2000" b="0">
                <a:solidFill>
                  <a:srgbClr val="1F2D3A"/>
                </a:solidFill>
              </a:rPr>
              <a:t> → açıkta kalma süresi 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değişince </a:t>
            </a:r>
            <a:r>
              <a:rPr sz="2000" b="1">
                <a:solidFill>
                  <a:srgbClr val="1F2D3A"/>
                </a:solidFill>
              </a:rPr>
              <a:t>bütün veri</a:t>
            </a:r>
            <a:r>
              <a:rPr sz="2000" b="0">
                <a:solidFill>
                  <a:srgbClr val="1F2D3A"/>
                </a:solidFill>
              </a:rPr>
              <a:t> yeniden şifrelenmelidir.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Zarflama — 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Her kayıt için rastgele bir </a:t>
            </a:r>
            <a:r>
              <a:rPr sz="2000" b="1">
                <a:solidFill>
                  <a:srgbClr val="1F2D3A"/>
                </a:solidFill>
              </a:rPr>
              <a:t>veri anahtarı (DEK)</a:t>
            </a:r>
            <a:r>
              <a:rPr sz="2000" b="0">
                <a:solidFill>
                  <a:srgbClr val="1F2D3A"/>
                </a:solidFill>
              </a:rPr>
              <a:t> üretilir; veri onunla şifrelenir.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DEK, bir </a:t>
            </a:r>
            <a:r>
              <a:rPr sz="2000" b="1">
                <a:solidFill>
                  <a:srgbClr val="1F2D3A"/>
                </a:solidFill>
              </a:rPr>
              <a:t>anahtar şifreleme anahtarıyla (KEK)</a:t>
            </a:r>
            <a:r>
              <a:rPr sz="2000" b="0">
                <a:solidFill>
                  <a:srgbClr val="1F2D3A"/>
                </a:solidFill>
              </a:rPr>
              <a:t> sarılır.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KEK güvenli bir yerde durur: TPM, HSM, bulut KMS.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KEK yenilendiğinde yalnız küçük </a:t>
            </a:r>
            <a:r>
              <a:rPr sz="2000" b="1">
                <a:solidFill>
                  <a:srgbClr val="1F2D3A"/>
                </a:solidFill>
              </a:rPr>
              <a:t>DEK'ler</a:t>
            </a:r>
            <a:r>
              <a:rPr sz="2000" b="0">
                <a:solidFill>
                  <a:srgbClr val="1F2D3A"/>
                </a:solidFill>
              </a:rPr>
              <a:t> yeniden sarılır — veri değil.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pic>
        <p:nvPicPr>
          <p:cNvPr id="7" name="Picture 6" descr="h03-09-zarf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818" y="1325880"/>
            <a:ext cx="6392058" cy="3941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76672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Kayıt biçimi ve AAD — şema</a:t>
            </a:r>
          </a:p>
        </p:txBody>
      </p:sp>
      <p:pic>
        <p:nvPicPr>
          <p:cNvPr id="7" name="Picture 6" descr="h03-10-kayit-bic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68113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Oturum anahtarı: bugünkü öneri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bir </a:t>
            </a:r>
            <a:r>
              <a:rPr sz="2000" b="1">
                <a:solidFill>
                  <a:srgbClr val="1F2D3A"/>
                </a:solidFill>
              </a:rPr>
              <a:t>hiyerarşi</a:t>
            </a:r>
            <a:r>
              <a:rPr sz="2000" b="0">
                <a:solidFill>
                  <a:srgbClr val="1F2D3A"/>
                </a:solidFill>
              </a:rPr>
              <a:t> içinde düzenleyin; her anahtarın </a:t>
            </a:r>
            <a:r>
              <a:rPr sz="2000" b="1">
                <a:solidFill>
                  <a:srgbClr val="1F2D3A"/>
                </a:solidFill>
              </a:rPr>
              <a:t>tek amacı</a:t>
            </a:r>
            <a:r>
              <a:rPr sz="2000" b="0">
                <a:solidFill>
                  <a:srgbClr val="1F2D3A"/>
                </a:solidFill>
              </a:rPr>
              <a:t> ve bir kripto-periyodu olsun.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zarflayın</a:t>
            </a:r>
            <a:r>
              <a:rPr sz="2000" b="0">
                <a:solidFill>
                  <a:srgbClr val="1F2D3A"/>
                </a:solidFill>
              </a:rPr>
              <a:t>; anahtar sürümünü AAD ile koruyun.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 cihazına yalnız </a:t>
            </a:r>
            <a:r>
              <a:rPr sz="2000" b="1">
                <a:solidFill>
                  <a:srgbClr val="1F2D3A"/>
                </a:solidFill>
              </a:rPr>
              <a:t>zararı sınırlı, kısa ömürlü</a:t>
            </a:r>
            <a:r>
              <a:rPr sz="2000" b="0">
                <a:solidFill>
                  <a:srgbClr val="1F2D3A"/>
                </a:solidFill>
              </a:rPr>
              <a:t> anahtarlar indirin.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pic>
        <p:nvPicPr>
          <p:cNvPr id="7" name="Picture 6" descr="h03-06-tl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648" y="1325880"/>
            <a:ext cx="5280399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gidiş-dönüş · her zaman geçici ECDHE → </a:t>
            </a:r>
            <a:r>
              <a:rPr sz="2000" b="1">
                <a:solidFill>
                  <a:srgbClr val="1F2D3A"/>
                </a:solidFill>
              </a:rPr>
              <a:t>ileri gizlilik varsayılan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adım 1–4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Sürümden bağımsız istemci bağlamı.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En düşük sürümü </a:t>
            </a:r>
            <a:r>
              <a:rPr sz="1800" b="1">
                <a:solidFill>
                  <a:srgbClr val="1F2D3A"/>
                </a:solidFill>
              </a:rPr>
              <a:t>TLS 1.2</a:t>
            </a:r>
            <a:r>
              <a:rPr sz="1800" b="0">
                <a:solidFill>
                  <a:srgbClr val="1F2D3A"/>
                </a:solidFill>
              </a:rPr>
              <a:t> yapar — atlanırsa sürüm düşürme saldırısına açık.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Karşı tarafın sertifikasını </a:t>
            </a:r>
            <a:r>
              <a:rPr sz="1800" b="1">
                <a:solidFill>
                  <a:srgbClr val="1F2D3A"/>
                </a:solidFill>
              </a:rPr>
              <a:t>doğrula</a:t>
            </a:r>
            <a:r>
              <a:rPr sz="1800" b="0">
                <a:solidFill>
                  <a:srgbClr val="1F2D3A"/>
                </a:solidFill>
              </a:rPr>
              <a:t> — atlanırsa OpenSSL herhangi bir sertifikayı kabul eder.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İşletim sisteminin güvenilir kök deposunu yükler.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istemcisinin adımları — şema</a:t>
            </a:r>
          </a:p>
        </p:txBody>
      </p:sp>
      <p:pic>
        <p:nvPicPr>
          <p:cNvPr id="7" name="Picture 6" descr="h03-16-tls-istemci-adim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132" y="1325880"/>
            <a:ext cx="944343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adım 5–7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7145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Sunucuya hangi adı istediğini söyler (SNI) — atlanırsa aynı IP'de yanlış sertifika gelebilir.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Sertifikadaki adın </a:t>
            </a:r>
            <a:r>
              <a:rPr sz="1800" b="1">
                <a:solidFill>
                  <a:srgbClr val="1F2D3A"/>
                </a:solidFill>
              </a:rPr>
              <a:t>bu</a:t>
            </a:r>
            <a:r>
              <a:rPr sz="1800" b="0">
                <a:solidFill>
                  <a:srgbClr val="1F2D3A"/>
                </a:solidFill>
              </a:rPr>
              <a:t> sunucu olduğunu denetler.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Doğrulama sonucunu açıkça sorar — bir yapılandırma hatası sessizce geçmesin (kemer + askı).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14469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İstemcide doğrulamayı </a:t>
            </a:r>
            <a:r>
              <a:rPr sz="2000" b="1">
                <a:solidFill>
                  <a:srgbClr val="1F2D3A"/>
                </a:solidFill>
              </a:rPr>
              <a:t>elle açın</a:t>
            </a:r>
            <a:r>
              <a:rPr sz="2000" b="0">
                <a:solidFill>
                  <a:srgbClr val="1F2D3A"/>
                </a:solidFill>
              </a:rPr>
              <a:t>: CA deposu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+ min. TLS 1.2.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riskte </a:t>
            </a:r>
            <a:r>
              <a:rPr sz="2000" b="1">
                <a:solidFill>
                  <a:srgbClr val="1F2D3A"/>
                </a:solidFill>
              </a:rPr>
              <a:t>SPKI sabitleme</a:t>
            </a:r>
            <a:r>
              <a:rPr sz="2000" b="0">
                <a:solidFill>
                  <a:srgbClr val="1F2D3A"/>
                </a:solidFill>
              </a:rPr>
              <a:t> ekleyin, her zaman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bulundurun.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kapalı kalın</a:t>
            </a:r>
            <a:r>
              <a:rPr sz="2000" b="0">
                <a:solidFill>
                  <a:srgbClr val="1F2D3A"/>
                </a:solidFill>
              </a:rPr>
              <a:t> (fail-closed): istisnayı yutup güven deposuna düşmeyin.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 katmanları — şema</a:t>
            </a:r>
          </a:p>
        </p:txBody>
      </p:sp>
      <p:pic>
        <p:nvPicPr>
          <p:cNvPr id="7" name="Picture 6" descr="h03-18-kullanimda-veri-katman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33" y="1325880"/>
            <a:ext cx="891862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iki düzey — şema</a:t>
            </a:r>
          </a:p>
        </p:txBody>
      </p:sp>
      <p:pic>
        <p:nvPicPr>
          <p:cNvPr id="7" name="Picture 6" descr="h03-17-beklemede-iki-duz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378" y="1325880"/>
            <a:ext cx="9392939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pic>
        <p:nvPicPr>
          <p:cNvPr id="7" name="Picture 6" descr="h03-07-tokeniz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7979" y="1325880"/>
            <a:ext cx="4195736" cy="3123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5587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raporlar, günlükler çalınsa bile </a:t>
            </a:r>
            <a:r>
              <a:rPr sz="20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PCI DSS kapsamı küçülür = 1. haftadaki "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ödemede telefona inen = cihaza özgü </a:t>
            </a:r>
            <a:r>
              <a:rPr sz="20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Beklemede: hassas alanları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ile şifrele, anahtarı koda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Maskeleme şifrelemenin </a:t>
            </a:r>
            <a:r>
              <a:rPr sz="2000" b="1">
                <a:solidFill>
                  <a:srgbClr val="1F2D3A"/>
                </a:solidFill>
              </a:rPr>
              <a:t>yerine geçmez</a:t>
            </a:r>
            <a:r>
              <a:rPr sz="2000" b="0">
                <a:solidFill>
                  <a:srgbClr val="1F2D3A"/>
                </a:solidFill>
              </a:rPr>
              <a:t>, tamamlar (log, ekran, test).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Kullanımda: sırrı </a:t>
            </a:r>
            <a:r>
              <a:rPr sz="2000" b="1">
                <a:solidFill>
                  <a:srgbClr val="1F2D3A"/>
                </a:solidFill>
              </a:rPr>
              <a:t>en son anda</a:t>
            </a:r>
            <a:r>
              <a:rPr sz="2000" b="0">
                <a:solidFill>
                  <a:srgbClr val="1F2D3A"/>
                </a:solidFill>
              </a:rPr>
              <a:t> aç, </a:t>
            </a:r>
            <a:r>
              <a:rPr sz="2000" b="1">
                <a:solidFill>
                  <a:srgbClr val="1F2D3A"/>
                </a:solidFill>
              </a:rPr>
              <a:t>en kısa süre</a:t>
            </a:r>
            <a:r>
              <a:rPr sz="2000" b="0">
                <a:solidFill>
                  <a:srgbClr val="1F2D3A"/>
                </a:solidFill>
              </a:rPr>
              <a:t> tut, kaldırılamaz biçimde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bir varlığı korurken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diye sorun.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aşamaya (taşıma, depolama, kullanım) bir kabuk koyun.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Kabukları </a:t>
            </a:r>
            <a:r>
              <a:rPr sz="2000" b="1">
                <a:solidFill>
                  <a:srgbClr val="1F2D3A"/>
                </a:solidFill>
              </a:rPr>
              <a:t>birbirinden bağımsız anahtarlarla</a:t>
            </a:r>
            <a:r>
              <a:rPr sz="2000" b="0">
                <a:solidFill>
                  <a:srgbClr val="1F2D3A"/>
                </a:solidFill>
              </a:rPr>
              <a:t> kurun; birinin kırılması diğerini vermesin.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Whitebox'a giden yol — şema</a:t>
            </a:r>
          </a:p>
        </p:txBody>
      </p:sp>
      <p:pic>
        <p:nvPicPr>
          <p:cNvPr id="7" name="Picture 6" descr="h03-19-whitebox-motiv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5529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bir notu üç hâlde de korumak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 kullanıcının "notunu" korur: sunucudan </a:t>
            </a:r>
            <a:r>
              <a:rPr sz="2000" b="1">
                <a:solidFill>
                  <a:srgbClr val="1F2D3A"/>
                </a:solidFill>
              </a:rPr>
              <a:t>gelir</a:t>
            </a:r>
            <a:r>
              <a:rPr sz="2000" b="0">
                <a:solidFill>
                  <a:srgbClr val="1F2D3A"/>
                </a:solidFill>
              </a:rPr>
              <a:t> (aktarımda), diskte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(beklemede), ekranda </a:t>
            </a:r>
            <a:r>
              <a:rPr sz="2000" b="1">
                <a:solidFill>
                  <a:srgbClr val="1F2D3A"/>
                </a:solidFill>
              </a:rPr>
              <a:t>gösterilir</a:t>
            </a:r>
            <a:r>
              <a:rPr sz="2000" b="0">
                <a:solidFill>
                  <a:srgbClr val="1F2D3A"/>
                </a:solidFill>
              </a:rPr>
              <a:t> (kullanımda).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05736"/>
          <a:ext cx="10911533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689"/>
                <a:gridCol w="7734758"/>
                <a:gridCol w="1243086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zincir/SAN + (varsa) SPKI pin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AES-256-GCM (AEAD), benzersiz nonce, anahtar KDF'den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5, 9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kısa süre bellekte tut, iş bitince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555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zinciri: parola →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→ 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veri/oturum anahtarı; her aşamada </a:t>
            </a:r>
            <a:r>
              <a:rPr sz="2000" b="1">
                <a:solidFill>
                  <a:srgbClr val="1F2D3A"/>
                </a:solidFill>
              </a:rPr>
              <a:t>AEAD bütünlüğü</a:t>
            </a:r>
            <a:r>
              <a:rPr sz="2000" b="0">
                <a:solidFill>
                  <a:srgbClr val="1F2D3A"/>
                </a:solidFill>
              </a:rPr>
              <a:t> de gelir.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Klasik kripto hataları —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839348"/>
                <a:gridCol w="6435007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 tekrarı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 asla tekrar etmesin; sayaç ya da yeterli rastgele 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Zayıf rastgelelik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değil,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CSPRNG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Parolayı doğrudan anahtar yapmak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KDF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ile türet (tuzlu, yavaş)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 kipi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Desen sızdırır ("penguen");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kullan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var, bütünlük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ya da encrypt-then-MAC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 zamanlı olmayan 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memcmp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değil, sabit zamanlı karşılaştır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Altı hatanın hepsi bu destede işlendi; burada tek bakışta toparlıyoruz.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(7–11)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(12–16)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Verinin üç hâli ve her birinin koruması?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Parola neden doğrudan anahtar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AEAD ne sağlar, hangi ayrı adımların yerine geçer?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demek?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IV/nonce/tuz gizli mi? Kuralı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CSPRNG neden gerekli?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Anahtar hiyerarşisi neden var?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(17–23)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73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Aktarımda</a:t>
            </a:r>
            <a:r>
              <a:rPr sz="2000" b="0">
                <a:solidFill>
                  <a:srgbClr val="1F2D3A"/>
                </a:solidFill>
              </a:rPr>
              <a:t> (TLS), </a:t>
            </a:r>
            <a:r>
              <a:rPr sz="2000" b="1">
                <a:solidFill>
                  <a:srgbClr val="1F2D3A"/>
                </a:solidFill>
              </a:rPr>
              <a:t>beklemede</a:t>
            </a:r>
            <a:r>
              <a:rPr sz="2000" b="0">
                <a:solidFill>
                  <a:srgbClr val="1F2D3A"/>
                </a:solidFill>
              </a:rPr>
              <a:t> (AEAD şifreleme), </a:t>
            </a:r>
            <a:r>
              <a:rPr sz="2000" b="1">
                <a:solidFill>
                  <a:srgbClr val="1F2D3A"/>
                </a:solidFill>
              </a:rPr>
              <a:t>kullanımda</a:t>
            </a:r>
            <a:r>
              <a:rPr sz="2000" b="0">
                <a:solidFill>
                  <a:srgbClr val="1F2D3A"/>
                </a:solidFill>
              </a:rPr>
              <a:t> (kısa ömür + silme).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entropili ve tahmin edilebilir;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(PBKDF2/Argon2) ile tuzlu, yavaş türetilir.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Gizlilik + bütünlüğü</a:t>
            </a:r>
            <a:r>
              <a:rPr sz="2000" b="0">
                <a:solidFill>
                  <a:srgbClr val="1F2D3A"/>
                </a:solidFill>
              </a:rPr>
              <a:t> birlikte verir; ayrı şifreleme + MAC adımlarının yerine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 anahtar</a:t>
            </a:r>
            <a:r>
              <a:rPr sz="2000" b="0">
                <a:solidFill>
                  <a:srgbClr val="1F2D3A"/>
                </a:solidFill>
              </a:rPr>
              <a:t>; uzun vadeli anahtar sızsa bile eski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Gizli değildir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(OS)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Tek anahtar her işte kullanılmaz; ana anahtardan türev anahtarlar gelir, her birinin ayrı görevi ve ömrü olur.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Bir sonraki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4. hafta — Kod Sağlamlaştırma (hardening):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Bu hafta veriyi (anahtarı, açık metni) doğru şifreleme ve anahtar yönetimiyle korumayı öğrendik; ama şifreleme kodunun kendisi de bir C/C++ programıdır — bir arabellek taşması, biçim dizesi (format string) açığı ya da tamsayı hatası, özenle korunan anahtarı ve açık metni belleğe sızdırabilir.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2805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4. haftada </a:t>
            </a:r>
            <a:r>
              <a:rPr sz="2000" b="1">
                <a:solidFill>
                  <a:srgbClr val="1F2D3A"/>
                </a:solidFill>
              </a:rPr>
              <a:t>SEI CERT C/C++</a:t>
            </a:r>
            <a:r>
              <a:rPr sz="2000" b="0">
                <a:solidFill>
                  <a:srgbClr val="1F2D3A"/>
                </a:solidFill>
              </a:rPr>
              <a:t> kurallarıyla tam olarak bu tür hataları önlemeyi, statik analiz ve sanitizer'larla yakalamayı işleyeceğiz.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4390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10. 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