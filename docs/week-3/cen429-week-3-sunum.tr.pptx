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programdan VERİYE kayıyor. Bir sırrın üç hâli var; her hâlin tehdidi ve savunması farklı. Ana fikir: güvenlik kabuğu (derinlemesine savunmanın somut hâli).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Kripto/veri güvenliği terimlerini sıfırdan tanımlıyoruz. Bu hafta kriptoya giriş; 10. hafta derinleşecek.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Laboratuvarı önceden derleyin. Windows'ta build.ps1, WSL'de build.sh. Kripto tek başlıktan gelir: Linux'ta OpenSSL, Windows'ta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telefonundaki bankacılık uygulamasında bir parola bu üç hâlden hangilerinde bulunur? Cevap: hepsinde.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Aktarımda</a:t>
            </a:r>
          </a:p>
          <a:p/>
          <a:p>
            <a:r>
              <a:t>Beklemede</a:t>
            </a:r>
          </a:p>
          <a:p/>
          <a:p>
            <a:r>
              <a:t>Kullanımda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 ile 1 GB dosya şifrelenmez. Asimetrik yalnız anahtarı taşır. Bu ayrımı netleştirin.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AAD'yi vurgulayın: sürüm no, kayıt kimliği gibi bağlanması gereken ama şifrelenmeyecek veriler oraya konur.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"Değerlendirici bir baytı değiştirip uygulamanın sessizce yanlış veri döndürüp döndürmediğine bakar." Kitap tarif 6.18 →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Şema gereksinimi: rastgele sayı kaynağına yapılan çağrı kancalanamamalı. Sahada ödeme için istemcide rastgele sayı üretilmez; native tarafta yalnız bellek doldurmada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kılavuzlarda algoritma envanteri tablosu bulunur. Birkaç yıl önceki envanterlerde SHA-1 ve CBC + ayrı MAC görülür; bugün SHA-256 ve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Ünlü "ECB penguen" örneğinin ASCII hâli. Kod incelemesinde 'ecb' geçen her yer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ms kullanıcıya kabul edilebilir; saldırgana milyar deneme yerine bin deneme demektir. İleri: pepper (gizli, DB'de tutulmaz).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Eleştirel okuma: tasarım dönemindeki gereksinimleri karşıladı; beceri, bugün neyin neden değişmesi gerektiğini gerekçesiyle söylemek.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SSL_set1_host satırını yoruma alıp yeniden derleyin; hangi saldırgan hâlâ yakalanır, hangisi kaçar? Sınıf etkinliği.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incelemesinde catch bloklarını ve "bulunamadı, devam ediliyor" günlüklerini ayrıca arayın.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aktarım: TLS + açık anahtar sabitleme + sunucu sertifika zinciri denetimi (dış kabuk) ve içinde oturum anahtarlı mesaj şifreleme. Sunucu adresi ve pin değerleri üst uygulamadan parametreyle geliyorsa korunmaları üst uygulamanın sorumluluğu olarak kılavuza yazılır.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ekranlarda, ağ yanıtlarında, günlüklerde, çökme raporlarında, yedeklerde tam kart/kimlik numarası ve parola arar; test ortamında gerçek veri olup olmadığını sorar.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DES yerine AES tabanlı whitebox ve AEAD tercih edilirdi; matris fikri zamansız. Proje S7'de bu tablo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yapın. Etkinlik 1 ve 3 tartışma için en verimlisi.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sırrı üç hâlinde de koruyarak haftayı özetliyoruz.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Veri Güvenliği: Aktarımda, Beklemede, Kullanımda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"şifreleme", "nonce", "anahtar türetme"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Verinin üç hâli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Aktarımda:</a:t>
            </a:r>
            <a:r>
              <a:rPr sz="2000" b="0">
                <a:solidFill>
                  <a:srgbClr val="1F2D3A"/>
                </a:solidFill>
              </a:rPr>
              <a:t> ağda giderken (TLS).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Beklemede:</a:t>
            </a:r>
            <a:r>
              <a:rPr sz="2000" b="0">
                <a:solidFill>
                  <a:srgbClr val="1F2D3A"/>
                </a:solidFill>
              </a:rPr>
              <a:t> diskte dururken (dosya şifreleme).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Kullanımda:</a:t>
            </a:r>
            <a:r>
              <a:rPr sz="2000" b="0">
                <a:solidFill>
                  <a:srgbClr val="1F2D3A"/>
                </a:solidFill>
              </a:rPr>
              <a:t> bellekte işlenirken (en zor).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 farklı koruma ister.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okunur veriyi (açık metin) bir </a:t>
            </a:r>
            <a:r>
              <a:rPr sz="2000" b="1">
                <a:solidFill>
                  <a:srgbClr val="1F2D3A"/>
                </a:solidFill>
              </a:rPr>
              <a:t>anahtarla</a:t>
            </a:r>
            <a:r>
              <a:rPr sz="2000" b="0">
                <a:solidFill>
                  <a:srgbClr val="1F2D3A"/>
                </a:solidFill>
              </a:rPr>
              <a:t> okunamaz hale (şifreli metin)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bağlı.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çift (RSA/ECC).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(hibrit).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yönlü; 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imzanın temeli.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simetrik; mesaj değişmedi + doğru taraftan.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kim imzaladı (inkâr edilemezlik).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(AES-GCM).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uğraşmadan ikisini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IV / nonce / tuz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IV/nonce:</a:t>
            </a:r>
            <a:r>
              <a:rPr sz="2000" b="0">
                <a:solidFill>
                  <a:srgbClr val="1F2D3A"/>
                </a:solidFill>
              </a:rPr>
              <a:t> her şifrelemede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başlangıç değeri.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(salt):</a:t>
            </a:r>
            <a:r>
              <a:rPr sz="2000" b="0">
                <a:solidFill>
                  <a:srgbClr val="1F2D3A"/>
                </a:solidFill>
              </a:rPr>
              <a:t> paroladan anahtar türetirken eklenen rastgele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Üçü de </a:t>
            </a:r>
            <a:r>
              <a:rPr sz="2000" b="1">
                <a:solidFill>
                  <a:srgbClr val="1F2D3A"/>
                </a:solidFill>
              </a:rPr>
              <a:t>gizli değil</a:t>
            </a:r>
            <a:r>
              <a:rPr sz="2000" b="0">
                <a:solidFill>
                  <a:srgbClr val="1F2D3A"/>
                </a:solidFill>
              </a:rPr>
              <a:t>, ama </a:t>
            </a:r>
            <a:r>
              <a:rPr sz="2000" b="1">
                <a:solidFill>
                  <a:srgbClr val="1F2D3A"/>
                </a:solidFill>
              </a:rPr>
              <a:t>tekrarsız/benzersiz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Rastgelelik ve CSPRNG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CSPRNG:</a:t>
            </a:r>
            <a:r>
              <a:rPr sz="2000" b="0">
                <a:solidFill>
                  <a:srgbClr val="1F2D3A"/>
                </a:solidFill>
              </a:rPr>
              <a:t> kriptografik olarak güvenli rastgele üreteç (işletim sisteminin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Anahtar/nonce/tuz bundan üretilir.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türetme (KDF)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KDF:</a:t>
            </a:r>
            <a:r>
              <a:rPr sz="2000" b="0">
                <a:solidFill>
                  <a:srgbClr val="1F2D3A"/>
                </a:solidFill>
              </a:rPr>
              <a:t> bir sırdan (parola ya da ana anahtar) </a:t>
            </a:r>
            <a:r>
              <a:rPr sz="2000" b="1">
                <a:solidFill>
                  <a:srgbClr val="1F2D3A"/>
                </a:solidFill>
              </a:rPr>
              <a:t>anahtar üretme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PBKDF2/Argon2:</a:t>
            </a:r>
            <a:r>
              <a:rPr sz="2000" b="0">
                <a:solidFill>
                  <a:srgbClr val="1F2D3A"/>
                </a:solidFill>
              </a:rPr>
              <a:t> paroladan (yavaş, tuzlu).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HKDF:</a:t>
            </a:r>
            <a:r>
              <a:rPr sz="2000" b="0">
                <a:solidFill>
                  <a:srgbClr val="1F2D3A"/>
                </a:solidFill>
              </a:rPr>
              <a:t> ana sırdan çok anahtar.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anahtar her işte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türev anahtarlar (veri, oturum).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Kripto-periyot:</a:t>
            </a:r>
            <a:r>
              <a:rPr sz="2000" b="0">
                <a:solidFill>
                  <a:srgbClr val="1F2D3A"/>
                </a:solidFill>
              </a:rPr>
              <a:t> her anahtarın ömrü.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her oturum için yeni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sağlar.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TLS:</a:t>
            </a:r>
            <a:r>
              <a:rPr sz="2000" b="0">
                <a:solidFill>
                  <a:srgbClr val="1F2D3A"/>
                </a:solidFill>
              </a:rPr>
              <a:t> ağda güvenli iletişim protokolü (HTTPS'in altında).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anlaşması + AEAD + sertifika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8. bölümde göreceğiz.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verinin üç hâli · şifreleme · simetrik/asimetrik · özet · MAC/imza · AEAD · IV/nonce/tuz · CSPRNG · KDF/HKDF · anahtar hiyerarşisi · ileri gizlilik · TLS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verinin üç hâli ve güvenlik kabuğu.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"/>
                <a:gridCol w="1018409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durumları · Şifreleme temelleri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Rastgele sayılar · Kripto API'leri · IV/nonce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 ve HKDF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4–5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Anahtar yönetimi · TLS 1.3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TLS'i kodda kurmak, fail-open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Maskeleme · Kullanımda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Kabuklar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Whitebox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ÖÇ.2 (şifreleme, güvenli iletişim) · ÖÇ.4 (güvenli kanal)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 platform: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ortak başlıktan: </a:t>
            </a:r>
            <a:r>
              <a:rPr sz="2000" b="1">
                <a:solidFill>
                  <a:srgbClr val="1F2D3A"/>
                </a:solidFill>
              </a:rPr>
              <a:t>Linux → OpenSSL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Windows → BCrypt (CNG)</a:t>
            </a:r>
            <a:r>
              <a:rPr sz="2000" b="0">
                <a:solidFill>
                  <a:srgbClr val="1F2D3A"/>
                </a:solidFill>
              </a:rPr>
              <a:t> — OpenSSL kurmaya gerek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dosyalar her demonun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binwindows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bin/linux</a:t>
            </a:r>
            <a:r>
              <a:rPr sz="2000" b="0">
                <a:solidFill>
                  <a:srgbClr val="1F2D3A"/>
                </a:solidFill>
              </a:rPr>
              <a:t> klasöründe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ağ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localhost</a:t>
            </a:r>
            <a:r>
              <a:rPr sz="2000" b="0">
                <a:solidFill>
                  <a:srgbClr val="1F2D3A"/>
                </a:solidFill>
              </a:rPr>
              <a:t>; sertifikalar bizim; teknikleri yalnız kendi bilgisayarınızda deneyin.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Verinin üç hâli ve güvenlik kabuğu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sırrın üç hâli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1538806"/>
                <a:gridCol w="2657938"/>
                <a:gridCol w="41967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Dinleme, MITM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+ mesaj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Disk/DB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çalınması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Alan şifreleme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ömür,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 Hepsini birden düşünmek gerekir.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hâl — tek bakışta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078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&lt;svg viewBox="0 0 960 300" style="width:97%;height:auto;display:block;margin:2px auto" font-family="sans-serif"&gt;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43456"/>
            <a:ext cx="10911535" cy="1100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&lt;rect x="20" y="60" width="290" height="180" rx="12" fill="#e8f6f7" stroke="#0a9396" stroke-width="2"/&gt; &lt;text x="165" y="92" text-anchor="middle" font-size="21" fill="#005f66" font-weight="bold"&gt;AKTARIMDA&lt;/text&gt; &lt;text x="165" y="120" text-anchor="middle" font-size="15" fill="#333"&gt;ağ üzerinde giderken&lt;/text&gt; &lt;text x="165" y="152" text-anchor="middle" font-size="15" fill="#c0392b"&gt;tehdit: dinleme / MITM&lt;/text&gt; &lt;text x="165" y="184" text-anchor="middle" font-size="17" fill="#006d77" font-weight="bold"&gt;savunma: TLS 1.3&lt;/text&gt; &lt;text x="165" y="210" text-anchor="middle" font-size="14" fill="#333"&gt;+ pinning · hostname&lt;/text&gt;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53512"/>
            <a:ext cx="10911535" cy="1100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&lt;rect x="335" y="60" width="290" height="180" rx="12" fill="#eaf4ea" stroke="#2e7d32" stroke-width="2"/&gt; &lt;text x="480" y="92" text-anchor="middle" font-size="21" fill="#1b5e20" font-weight="bold"&gt;BEKLEMEDE&lt;/text&gt; &lt;text x="480" y="120" text-anchor="middle" font-size="15" fill="#333"&gt;diskte / veritabanında&lt;/text&gt; &lt;text x="480" y="152" text-anchor="middle" font-size="15" fill="#c0392b"&gt;tehdit: hırsızlık / kopya&lt;/text&gt; &lt;text x="480" y="184" text-anchor="middle" font-size="17" fill="#2e7d32" font-weight="bold"&gt;savunma: AEAD&lt;/text&gt; &lt;text x="480" y="210" text-anchor="middle" font-size="14" fill="#333"&gt;AES-GCM · KDF · anahtar hiy.&lt;/text&gt;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63568"/>
            <a:ext cx="10911535" cy="12984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&lt;rect x="650" y="60" width="290" height="180" rx="12" fill="#fdf1e7" stroke="#b5651d" stroke-width="2"/&gt; &lt;text x="795" y="92" text-anchor="middle" font-size="21" fill="#8a4b12" font-weight="bold"&gt;KULLANIMDA&lt;/text&gt; &lt;text x="795" y="120" text-anchor="middle" font-size="15" fill="#333"&gt;RAM'de / işlenirken&lt;/text&gt; &lt;text x="795" y="152" text-anchor="middle" font-size="15" fill="#c0392b"&gt;tehdit: bellek dökümü&lt;/text&gt; &lt;text x="795" y="184" text-anchor="middle" font-size="17" fill="#b5651d" font-weight="bold"&gt;savunma: kısa ömür&lt;/text&gt; &lt;text x="795" y="210" text-anchor="middle" font-size="14" fill="#333"&gt;kullan → hemen sil&lt;/text&gt; &lt;text x="480" y="285" text-anchor="middle" font-size="15" fill="#555"&gt;Bir sır aynı anda üç hâlde de olabilir → her hâlin kendi kabuğu olmalı.&lt;/text&gt; &lt;/svg&gt;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fikir: güvenlik kabuğu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+----------------------------------------------+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Kabuk 4: Kanal (TLS 1.3 + pinning)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+----------------------------------------+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Kabuk 3: Oturum (mesaj AEAD + MAC)  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+----------------------------------+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Kabuk 2: Depolama (AES-GCM)   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+----------------------------+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| Kabuk 1: Cihaz baglama     |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|        [ SIR ]             |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|  +----------------------------+  |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|  +----------------------------------+  |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|  +----------------------------------------+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+----------------------------------------------+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sırra ulaşmak için </a:t>
            </a:r>
            <a:r>
              <a:rPr sz="2000" b="1">
                <a:solidFill>
                  <a:srgbClr val="1F2D3A"/>
                </a:solidFill>
              </a:rPr>
              <a:t>hepsini sırayla</a:t>
            </a:r>
            <a:r>
              <a:rPr sz="2000" b="0">
                <a:solidFill>
                  <a:srgbClr val="1F2D3A"/>
                </a:solidFill>
              </a:rPr>
              <a:t> kırmalı = derinlemesine savunma.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Şifreleme temelleri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araç neyi korur?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5588835"/>
                <a:gridCol w="226214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Sağlar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AES, ChaCha20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anahtar dağıtımı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RSA, 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Parmak izi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+ kimlik (paylaşılan 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Gizlilik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Yalnız şifrelemek bütünlük vermez · ❌ Kendi algoritmanı yazma (Kerckhoffs)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= Hibrit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 (AES):</a:t>
            </a:r>
            <a:r>
              <a:rPr sz="2000" b="0">
                <a:solidFill>
                  <a:srgbClr val="1F2D3A"/>
                </a:solidFill>
              </a:rPr>
              <a:t> hızlı, ama iki taraf aynı gizli anahtarı 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 (RSA/EC):</a:t>
            </a:r>
            <a:r>
              <a:rPr sz="2000" b="0">
                <a:solidFill>
                  <a:srgbClr val="1F2D3A"/>
                </a:solidFill>
              </a:rPr>
              <a:t> anahtar dağıtımını çözer, ama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Hibrit:</a:t>
            </a:r>
            <a:r>
              <a:rPr sz="2000" b="0">
                <a:solidFill>
                  <a:srgbClr val="1F2D3A"/>
                </a:solidFill>
              </a:rPr>
              <a:t> asimetrik ile küçük bir </a:t>
            </a:r>
            <a:r>
              <a:rPr sz="2000" b="1">
                <a:solidFill>
                  <a:srgbClr val="1F2D3A"/>
                </a:solidFill>
              </a:rPr>
              <a:t>simetrik anahtar</a:t>
            </a:r>
            <a:r>
              <a:rPr sz="2000" b="0">
                <a:solidFill>
                  <a:srgbClr val="1F2D3A"/>
                </a:solidFill>
              </a:rPr>
              <a:t> taşınır; veri onunla AEAD'le şifrelenir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TLS tam olarak budur: ECDHE ile oturum anahtarı → trafik AES-GCM ile.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mü, akış mı? Kip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şifresidir (16 bayt). Uzun veri için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567"/>
                <a:gridCol w="90649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desen sızdırır (Demo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 IV ister, tek başına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akışa çevirir, nonce tekrarına çok hassas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CTR + MAC =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5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ChaCha20 zaten akış şifresi; + Poly1305 = AEAD.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/ MAC / İmza: hangisi ne zaman?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495"/>
                <a:gridCol w="338103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"Dosya bozuldu mu?"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(SHA-256)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"Anahtarı bilen biri mi yolladı, değişti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 (HMAC)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"Kesinlikle şu kişi imzaladı, inkâr edemez"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(Ed25519)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"Hem gizle hem bütünlüğü kanıtla"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AEAD (AES-GCM)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 (saldırgan özeti de yeniler).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tek çağrıda gizlilik + bütünlük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78612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Anahtar (32) 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Nonce (12) ------+---&gt; [ AES-256-GCM ] ---&gt; Sifreli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Duz metin -------+                     ---&gt; Etiket (16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AAD (dogrulanir,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sifrelenmez) 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Cozerken: etiket DOGRULANIR.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Tek bit degistiyse -&gt; cozme REDDEDILIR.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AES-256-GCM ile dosya şifreleme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kripto_rastgele(nonce, 12);              // her mesaja YENI nonce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kripto_gcm_sifrele(anahtar, nonce, 12, NULL, 0,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duz, duz_boy, cik+12, etiket);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ok = kripto_gcm_coz(...);            // etiket dogrulanir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(!ok) { /* REDDET */ 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7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Cozuldu ve DOGRULANDI (53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1 bayt degistir -&gt; DOGRULAMA BASARISIZ,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yalniz etiketi degistir -&gt; yine REDDEDILDI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Bir şey şifreliyorsan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 (AES-GCM / ChaCha20-Poly1305) ✅ Her mesaja </a:t>
            </a:r>
            <a:r>
              <a:rPr sz="2000" b="1">
                <a:solidFill>
                  <a:srgbClr val="1F2D3A"/>
                </a:solidFill>
              </a:rPr>
              <a:t>benzersiz nonce</a:t>
            </a:r>
            <a:r>
              <a:rPr sz="2000" b="0">
                <a:solidFill>
                  <a:srgbClr val="1F2D3A"/>
                </a:solidFill>
              </a:rPr>
              <a:t> ✅ Etiketi </a:t>
            </a:r>
            <a:r>
              <a:rPr sz="2000" b="1">
                <a:solidFill>
                  <a:srgbClr val="1F2D3A"/>
                </a:solidFill>
              </a:rPr>
              <a:t>her zaman doğrula</a:t>
            </a:r>
            <a:r>
              <a:rPr sz="2000" b="0">
                <a:solidFill>
                  <a:srgbClr val="1F2D3A"/>
                </a:solidFill>
              </a:rPr>
              <a:t>; başarısızsa </a:t>
            </a:r>
            <a:r>
              <a:rPr sz="2000" b="1">
                <a:solidFill>
                  <a:srgbClr val="1F2D3A"/>
                </a:solidFill>
              </a:rPr>
              <a:t>hiçbir çıktı üretme</a:t>
            </a:r>
            <a:r>
              <a:rPr sz="2000" b="0">
                <a:solidFill>
                  <a:srgbClr val="1F2D3A"/>
                </a:solidFill>
              </a:rPr>
              <a:t> (fail-closed) ✅ Bütünlüğü ayrı adıma bırakma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Rastgele sayılar ve kripto API'leri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tür "rastgele"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654"/>
                <a:gridCol w="3879656"/>
                <a:gridCol w="2020654"/>
                <a:gridCol w="2990568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Tahmin edilebilir mi?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İstatistiksel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mt19937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Java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simülasyon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Kriptografik (CSPRNG)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Anahtar, IV, nonce, tuz, belirteç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(entropi)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gürültüsü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CSPRNG'yi tohumlamak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güvenlikle ilgili her rastgele değer </a:t>
            </a:r>
            <a:r>
              <a:rPr sz="1800" b="1">
                <a:solidFill>
                  <a:srgbClr val="1F2D3A"/>
                </a:solidFill>
              </a:rPr>
              <a:t>CSPRNG</a:t>
            </a:r>
            <a:r>
              <a:rPr sz="1800" b="0">
                <a:solidFill>
                  <a:srgbClr val="1F2D3A"/>
                </a:solidFill>
              </a:rPr>
              <a:t>'den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mt19937</a:t>
            </a:r>
            <a:r>
              <a:rPr sz="1800" b="0">
                <a:solidFill>
                  <a:srgbClr val="1F2D3A"/>
                </a:solidFill>
              </a:rPr>
              <a:t>'nin 624 çıktısını gören, sonraki bütün çıktıları hesaplar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klasik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Zamanla tohumlamak: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srand(time(NULL))</a:t>
            </a:r>
            <a:r>
              <a:rPr sz="2000" b="0">
                <a:solidFill>
                  <a:srgbClr val="1F2D3A"/>
                </a:solidFill>
              </a:rPr>
              <a:t> → bir günde yalnız 86.400 olası tohum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Entropiyi silmek:</a:t>
            </a:r>
            <a:r>
              <a:rPr sz="2000" b="0">
                <a:solidFill>
                  <a:srgbClr val="1F2D3A"/>
                </a:solidFill>
              </a:rPr>
              <a:t> Debian OpenSSL (2008) — tek entropi süreç kimliği, ≤ 32.768 anahtar (CVE-2008-0166)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Modulo sapması: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 % 6</a:t>
            </a:r>
            <a:r>
              <a:rPr sz="2000" b="0">
                <a:solidFill>
                  <a:srgbClr val="1F2D3A"/>
                </a:solidFill>
              </a:rPr>
              <a:t> → 256 = 42·6 + 4 → 0–3 daha sık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Ders: kripto koda </a:t>
            </a:r>
            <a:r>
              <a:rPr sz="2000" b="1">
                <a:solidFill>
                  <a:srgbClr val="1F2D3A"/>
                </a:solidFill>
              </a:rPr>
              <a:t>anlamadan dokunma</a:t>
            </a:r>
            <a:r>
              <a:rPr sz="2000" b="0">
                <a:solidFill>
                  <a:srgbClr val="1F2D3A"/>
                </a:solidFill>
              </a:rPr>
              <a:t>; istatistiksel test tahmin edilemezliği kanıtlamaz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yol: işletim sisteminin üreteci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1526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Linux (3.17+ / glibc 2.25+)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(n &gt; 0)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ssize_t r = getrandom(p, n, 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(r &lt; 0) { if (errno == EINTR) continue; return -1;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r; n -= (size_t)r;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Windows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BCryptGenRandom(NULL, buf, n, BCRYPT_USE_SYSTEM_PREFERRED_RNG);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OpenSSL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(RAND_bytes(buf, n) != 1) { /* ASLA devam etme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08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Dönüş değerini denetlemezsen "rastgele" sandığın </a:t>
            </a:r>
            <a:r>
              <a:rPr sz="1800" b="1">
                <a:solidFill>
                  <a:srgbClr val="1F2D3A"/>
                </a:solidFill>
              </a:rPr>
              <a:t>sıfır</a:t>
            </a:r>
            <a:r>
              <a:rPr sz="1800" b="0">
                <a:solidFill>
                  <a:srgbClr val="1F2D3A"/>
                </a:solidFill>
              </a:rPr>
              <a:t> anahtarla çalışırsın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Sapmasız aralık ve kullanım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uint32_t aralikta_rastgele(uint32_t ust) {        /* Tarif 11.11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uint32_t sinir = (uint32_t)(-ust) % ust, r;   /* 2^32 mod ust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do rastgele_bayt(&amp;r, sizeof r); while (r &lt; sinir);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r % ust;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6032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741"/>
                <a:gridCol w="2249801"/>
                <a:gridCol w="573699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Benzersiz?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 nonce (12 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Asla tekrar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(rastgele: ≤ 2³² mesaj/anahtar)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 IV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Tahmin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 · Oturum belirteci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dört girdi, iki çıktı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anahtar (32 B, gizli) ────┐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nonce   (12 B, benzersiz) ┤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AAD     (açık ama korunan)┼──▶ [ AES-256-GCM ] ──▶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açık metin ───────────────┘                    └─▶ etiket (16 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AAD:</a:t>
            </a:r>
            <a:r>
              <a:rPr sz="2000" b="0">
                <a:solidFill>
                  <a:srgbClr val="1F2D3A"/>
                </a:solidFill>
              </a:rPr>
              <a:t> şifrelenmez ama değiştirilirse etiket tutmaz — dosya başlığı, sürüm, kayıt kimliği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456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1. haftadaki "Kasa": türetme parametreleri AAD → yineleme sayısı değiştirilemez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OpenSSL EVP: şifreleme yedi adım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EVP_aes_256_gcm(), NULL, NULL, NULL);   /* 1 algoritma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EVP_CTRL_GCM_SET_IVLEN, 12, NULL);     /* 2 nonce boyu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NULL, NULL, anahtar, nonce);            /* 3 anahtar+nonce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NULL, &amp;n, aad, aad_n);                   /* 4 AAD (çıktı yok)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sifreli, &amp;n, acik, acik_n);              /* 5 veri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EVP_EncryptFinal_ex(ctx, sifreli + n, &amp;n);                      /* 6 bitir: ZORUNLU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EVP_CTRL_GCM_GET_TAG, 16, etiket);     /* 7 etiket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çağrının dönüşü denetlenir · tek çıkış noktası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goto son</a:t>
            </a:r>
            <a:r>
              <a:rPr sz="1800" b="0">
                <a:solidFill>
                  <a:srgbClr val="1F2D3A"/>
                </a:solidFill>
              </a:rPr>
              <a:t>)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EVP_CIPHER_CTX_free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Çözme: Final başarılı olmadan açık metin YOK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  /* açık metni YAZAR...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EVP_CTRL_GCM_SET_TAG, 16, etiket);  /* Final'dan ÖNCE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(EVP_DecryptFinal_ex(ctx, acik + n, &amp;n) != 1) {     /* ...etiket BURADA doğrulanır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OPENSSL_cleanse(acik, sifreli_n);                   /* yarı çözülmüş veriyi sil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Windows CNG: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BCryptDecrypt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STATUS_AUTH_TAG_MISMATCH</a:t>
            </a:r>
            <a:r>
              <a:rPr sz="1800" b="0">
                <a:solidFill>
                  <a:srgbClr val="1F2D3A"/>
                </a:solidFill>
              </a:rPr>
              <a:t> (0xC000A002)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🚨 En sık AEAD hatası: Final'ın dönüşüne bakmadan tampondakini kullanmak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 zamanlı karşılaştırma ve kontrol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(size_t i = 0; i &lt; n; i++) fark |= a[i] ^ b[i];   /* her baytı dolaş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fark == 0;                                     /* ≈ CRYPTO_memcmp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20163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önce</a:t>
            </a:r>
            <a:r>
              <a:rPr sz="1800" b="0">
                <a:solidFill>
                  <a:srgbClr val="1F2D3A"/>
                </a:solidFill>
              </a:rPr>
              <a:t> doğrulanıyor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1800" b="0">
                <a:solidFill>
                  <a:srgbClr val="1F2D3A"/>
                </a:solidFill>
              </a:rPr>
              <a:t> değil)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kâhin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IV / nonce / tuz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Üçü de gizli DEĞİL, ama...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110"/>
                <a:gridCol w="2546024"/>
                <a:gridCol w="4000896"/>
                <a:gridCol w="278850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Paroladan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kayıt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rainbow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öngörülemez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ilk blok sızar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CTR/GCM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 asla tekrar etmesin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akışı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olan tek şey </a:t>
            </a:r>
            <a:r>
              <a:rPr sz="2000" b="1">
                <a:solidFill>
                  <a:srgbClr val="1F2D3A"/>
                </a:solidFill>
              </a:rPr>
              <a:t>anahtardır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Nonce tekrarı neden felaket?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CTR/GCM: </a:t>
            </a:r>
            <a:r>
              <a:rPr sz="1800" b="0">
                <a:solidFill>
                  <a:srgbClr val="A1123F"/>
                </a:solidFill>
                <a:latin typeface="Consolas"/>
              </a:rPr>
              <a:t>C = P ⊕ AA(anahtar, nonce)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anahtar </a:t>
            </a:r>
            <a:r>
              <a:rPr sz="1800" b="1">
                <a:solidFill>
                  <a:srgbClr val="1F2D3A"/>
                </a:solidFill>
              </a:rPr>
              <a:t>ve</a:t>
            </a:r>
            <a:r>
              <a:rPr sz="1800" b="0">
                <a:solidFill>
                  <a:srgbClr val="1F2D3A"/>
                </a:solidFill>
              </a:rPr>
              <a:t> aynı nonce iki mesajda: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5915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= P1 ⊕ AA        C2 = P2 ⊕ AA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⊕ C2 = P1 ⊕ P2      &lt;-- anahtar akisi yok oldu!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335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Saldırgan </a:t>
            </a:r>
            <a:r>
              <a:rPr sz="1800" b="1">
                <a:solidFill>
                  <a:srgbClr val="1F2D3A"/>
                </a:solidFill>
              </a:rPr>
              <a:t>iki düz metnin XOR'unu</a:t>
            </a:r>
            <a:r>
              <a:rPr sz="1800" b="0">
                <a:solidFill>
                  <a:srgbClr val="1F2D3A"/>
                </a:solidFill>
              </a:rPr>
              <a:t> ele geçirir. Birini biliyorsa diğerini çözer.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99989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olaylar: WEP kısa IV, Sony PS3 tekrar eden imza değeri.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nonce tekrarı sızdırır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KOTU (ayni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= 070e1c08...5c1215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P1 xor P2 = 070e1c08...5c1215     &lt;-- AYNI = sizdi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P2 = (C1 xor C2) xor P1 = "Toplam bakiye 45000 TL..."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IYI (farkli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!= P1 xor P2            &lt;-- sizinti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Nonce'u rastgele ya da </a:t>
            </a:r>
            <a:r>
              <a:rPr sz="2000" b="1">
                <a:solidFill>
                  <a:srgbClr val="1F2D3A"/>
                </a:solidFill>
              </a:rPr>
              <a:t>kalıcı sayaç</a:t>
            </a:r>
            <a:r>
              <a:rPr sz="2000" b="0">
                <a:solidFill>
                  <a:srgbClr val="1F2D3A"/>
                </a:solidFill>
              </a:rPr>
              <a:t> olarak üret; asla tekrar etme.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ECB deseni sızdırır ("penguen")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Orijinal        AES-128-ECB          AES-256-GCM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: -..--+%%*-:*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  ##       =##==####====##      *.#*##:*%+###: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#####        =##=====##==###      :+ .- .% +.#%=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=%+## #:###%+%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❌ ECB: aynı blok → aynı şifreli blok, </a:t>
            </a:r>
            <a:r>
              <a:rPr sz="2000" b="1">
                <a:solidFill>
                  <a:srgbClr val="1F2D3A"/>
                </a:solidFill>
              </a:rPr>
              <a:t>şekil okunur kalır</a:t>
            </a:r>
            <a:r>
              <a:rPr sz="2000" b="0">
                <a:solidFill>
                  <a:srgbClr val="1F2D3A"/>
                </a:solidFill>
              </a:rPr>
              <a:t> ✅ GCM/CTR: her blok farklı → gürültü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Paroladan anahtar türetme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 doğrudan anahtar olamaz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KDF iki iş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Tuz:</a:t>
            </a:r>
            <a:r>
              <a:rPr sz="2000" b="0">
                <a:solidFill>
                  <a:srgbClr val="1F2D3A"/>
                </a:solidFill>
              </a:rPr>
              <a:t> rastgele → rainbow tablo işe yaramaz, aynı parola fark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Yavaşlık:</a:t>
            </a:r>
            <a:r>
              <a:rPr sz="2000" b="0">
                <a:solidFill>
                  <a:srgbClr val="1F2D3A"/>
                </a:solidFill>
              </a:rPr>
              <a:t> yüzbinlerce tur → her deneme pahalı, kaba kuvvet yavaşlar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739"/>
                <a:gridCol w="4722903"/>
                <a:gridCol w="35828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PBKDF2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(tur)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uyumluluk/FIPS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scrypt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bellek-zor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 + paralellik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birinci tercih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tur sayısı, süre, tuz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TUZ: ayni parola + ayni tuz -&gt; AYNI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ayni parola + FARKLI tuz -&gt; FARKLI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TUR vs SURE (WSL):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  1000  -&gt;    0.37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100000  -&gt;   39.05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600000  -&gt;  209.55 ms   &lt;-- OWASP 2023 asgari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=2000000  -&gt;  628.42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Rastgele tuz + Argon2id (ya da yüksek turlu PBKDF2). ❌ Düz/tuzsuz SHA-256.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HKDF, oturum anahtarları, ileri gizlilik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HKDF: ana sırdan türev anahtarlar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Ana sir --&gt; [Extract (+tuz)] --&gt; PRK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+----------------+----------+----------+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v                v                     v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info="sifreleme"  info="MAC"        info="oturum-42"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|                |                 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Sifreleme K.      MAC K.            Oturum-42 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→ farklı anahtar. Bir amacın anahtarı başka amaca kullanılmaz.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yönlü zincir: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K0 = ana sır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Kᵢ = HKDF(Kᵢ₋₁)</a:t>
            </a:r>
            <a:r>
              <a:rPr sz="2000" b="0">
                <a:solidFill>
                  <a:srgbClr val="1F2D3A"/>
                </a:solidFill>
              </a:rPr>
              <a:t>, her adımda eskisini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K1 -&gt; K2 -&gt; K3 -&gt; K4   (elde yalniz K4 var)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K4'ten K3, K2, K1 GERI HESAPLANAMAZ (tek yonlu)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güvende. TLS 1.3'te varsayılan.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HKDF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info='...sifreleme...' -&gt; 2b8b4684...0e577a55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info='...MAC...'       -&gt; 30a302d1...c55dfa84   (farkli)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ILERI GIZLILIK zinciri: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K1=0630f63f...  K2=def84847...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K3=54b13f0f...  K4=55524a8f...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^ her adimda eski anahtar silindi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Amaca/oturuma göre ayrı anahtar · her türetmeye benzersiz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· kullanınca sil.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anahtar yönetimi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anahtarın hayatı (NIST SP 800-57)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Üretim → Dağıtım → Saklama → Kullanım → Yenileme → İptal → İmha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448"/>
                <a:gridCol w="925408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sabit anahtar, istemcide üretilmemesi gereken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Dağıtım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metin; yalnız TLS'e güven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kodda / yapılandırma dosyasında düz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şifreleme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değişmemesi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Yedekte, günlükte, bellekte kalan kopya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5528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Kripto-periyot:</a:t>
            </a:r>
            <a:r>
              <a:rPr sz="1800" b="0">
                <a:solidFill>
                  <a:srgbClr val="1F2D3A"/>
                </a:solidFill>
              </a:rPr>
              <a:t> süre dolunca yeni veri şifrelenmez, eski veri çözülüp yeniden şifrelenir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Kök / ana anahtar (HSM, neredeyse hiç kullanılmaz)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├── KEK (müşteri/cihaz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├── DEK (dosya/kayıt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└── Oturum anahtarı (dakikalar)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│            └── Tek kullanımlık anahtar (işlem başına)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└── İmza anahtarı (güncelleme paketleri)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her amaca ayrı anahtar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 sınırlama:</a:t>
            </a:r>
            <a:r>
              <a:rPr sz="2000" b="0">
                <a:solidFill>
                  <a:srgbClr val="1F2D3A"/>
                </a:solidFill>
              </a:rPr>
              <a:t> tek kullanımlık anahtar çalınırsa kaybedilen = </a:t>
            </a:r>
            <a:r>
              <a:rPr sz="2000" b="1">
                <a:solidFill>
                  <a:srgbClr val="1F2D3A"/>
                </a:solidFill>
              </a:rPr>
              <a:t>tek işlem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Ödemede hiyerarşi ve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EMV tarzı zincir: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Kurum ana anahtarı</a:t>
            </a:r>
            <a:r>
              <a:rPr sz="2000" b="0">
                <a:solidFill>
                  <a:srgbClr val="1F2D3A"/>
                </a:solidFill>
              </a:rPr>
              <a:t> (HSM) → </a:t>
            </a:r>
            <a:r>
              <a:rPr sz="2000" b="1">
                <a:solidFill>
                  <a:srgbClr val="1F2D3A"/>
                </a:solidFill>
              </a:rPr>
              <a:t>kart ana anahtarı</a:t>
            </a:r>
            <a:r>
              <a:rPr sz="2000" b="0">
                <a:solidFill>
                  <a:srgbClr val="1F2D3A"/>
                </a:solidFill>
              </a:rPr>
              <a:t> (kart no + sıra no) →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 (işlem sayacı) → </a:t>
            </a:r>
            <a:r>
              <a:rPr sz="2000" b="1">
                <a:solidFill>
                  <a:srgbClr val="1F2D3A"/>
                </a:solidFill>
              </a:rPr>
              <a:t>tek kullanımlık anahtar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Telefona yalnız en alttaki </a:t>
            </a:r>
            <a:r>
              <a:rPr sz="2000" b="1">
                <a:solidFill>
                  <a:srgbClr val="1F2D3A"/>
                </a:solidFill>
              </a:rPr>
              <a:t>sınırlı kullanım</a:t>
            </a:r>
            <a:r>
              <a:rPr sz="2000" b="0">
                <a:solidFill>
                  <a:srgbClr val="1F2D3A"/>
                </a:solidFill>
              </a:rPr>
              <a:t> anahtarları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Tükenince sunucudan yenileri istenir (</a:t>
            </a:r>
            <a:r>
              <a:rPr sz="2000" b="1">
                <a:solidFill>
                  <a:srgbClr val="1F2D3A"/>
                </a:solidFill>
              </a:rPr>
              <a:t>replenishment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ele geçse bile: birkaç işlemlik anahtar, sunucuda kolayca iptal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Zarflama ve anahtar sürümü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veri ──AES-GCM(DEK)──▶ şifreli veri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DEK  ──sar(KEK)──────▶ sarılmış DEK   (başlıkta)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KEK yenilenince: yalnız sarılmış DEK'ler yeniden sarılır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biçim | anahtar_sürüm | nonce | şifreli metin | etiket |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└──────────── AAD 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Okuyucu sürüme bakar → doğru anahtarı bulur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 alanı AAD → saldırgan eski/zayıf anahtara </a:t>
            </a:r>
            <a:r>
              <a:rPr sz="1800" b="1">
                <a:solidFill>
                  <a:srgbClr val="1F2D3A"/>
                </a:solidFill>
              </a:rPr>
              <a:t>yönlendiremez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Anahtar nerede saklanır?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172"/>
                <a:gridCol w="46573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· yapılandırma · ortam değişkeni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Yok / zayıf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CryptProtectData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Kullanıcı/makine hesabına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Anahtarlık ·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OS, bazen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TPM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Donanım; anahtar çıkarılamaz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bulut KMS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HSM'den hiç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İstemciye yalnız </a:t>
            </a:r>
            <a:r>
              <a:rPr sz="1800" b="1">
                <a:solidFill>
                  <a:srgbClr val="1F2D3A"/>
                </a:solidFill>
              </a:rPr>
              <a:t>zararı sınırlı, kısa ömürlü</a:t>
            </a:r>
            <a:r>
              <a:rPr sz="1800" b="0">
                <a:solidFill>
                  <a:srgbClr val="1F2D3A"/>
                </a:solidFill>
              </a:rPr>
              <a:t> anahtarlar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Sahadan: şema gereksinimleri ve dört anahtar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26"/>
                <a:gridCol w="31963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 (Şema-A / Şema-B)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 algoritma,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güvenli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API kullanımı,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anahtar: hiyerarşi, kullanım,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kripto-periyot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tek amaç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Hiyerarşi, anahtar ayrımı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Kur, güncelle, iş bitince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sayı çağrısı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kancalanamamalı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Anahtarlar cihaza ve uygulamaya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bağlı,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Gruplar: dinamik cihaz anahtarları (whitebox) · dinamik ödeme anahtarları · </a:t>
            </a:r>
            <a:r>
              <a:rPr sz="1800" b="1">
                <a:solidFill>
                  <a:srgbClr val="1F2D3A"/>
                </a:solidFill>
              </a:rPr>
              <a:t>tek</a:t>
            </a:r>
            <a:r>
              <a:rPr sz="1800" b="0">
                <a:solidFill>
                  <a:srgbClr val="1F2D3A"/>
                </a:solidFill>
              </a:rPr>
              <a:t> statik anahtar (dize gizleme) · sunucu sertifikası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Oturum anahtarı: sahadan akış ve bugünkü öneri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 32 B oturum kimliği → yapılandırma anahtarıyla şifreli → bildirimle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İstemci whitebox AES ile çözer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Kimlik doğrulama kodu</a:t>
            </a:r>
            <a:r>
              <a:rPr sz="1800" b="0">
                <a:solidFill>
                  <a:srgbClr val="1F2D3A"/>
                </a:solidFill>
              </a:rPr>
              <a:t> = SHA-256(oturum kimliği parçası + cüzdan kimliği + parmak izi)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Oturum anahtarı</a:t>
            </a:r>
            <a:r>
              <a:rPr sz="1800" b="0">
                <a:solidFill>
                  <a:srgbClr val="1F2D3A"/>
                </a:solidFill>
              </a:rPr>
              <a:t> = HMAC(yapılandırma anahtarının özeti, oturum kimliği) → 16 B AES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Mesaj: AES-CTR + 256 bit MAC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1548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Tasarımda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CTR + ayrı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(GCM / CCM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 HMAC türetmesi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 + ayrı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info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 · ileri gizlilik için geçici (EC)DH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Aktarımda veri: TLS 1.3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Istemci                                   Sunucu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--- ClientHello + anahtar payi ---&gt;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&lt;-- ServerHello + anahtar payi -----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&lt;-- {Sertifika}+{Imza}+{Finished} --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[ DOGRULA: zincir + sure + ad + pin ]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--- {Finished} -------------------&gt;   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|  === Uygulama verisi (AEAD) =========   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gidiş-dönüş · her zaman geçici ECDHE → </a:t>
            </a:r>
            <a:r>
              <a:rPr sz="2000" b="1">
                <a:solidFill>
                  <a:srgbClr val="1F2D3A"/>
                </a:solidFill>
              </a:rPr>
              <a:t>ileri gizlilik varsayılan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Doğrulamanın üç katmanı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202"/>
                <a:gridCol w="738133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Güvenilir CA mı imzaladı, süresi/iptali?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Ana makine 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gerçekten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bu sunucu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için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Beklediğim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belirli anahtar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OpenSSL varsayılanı: doğrulamaz!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(pinning) ve TOFU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sunucunun </a:t>
            </a:r>
            <a:r>
              <a:rPr sz="2000" b="1">
                <a:solidFill>
                  <a:srgbClr val="1F2D3A"/>
                </a:solidFill>
              </a:rPr>
              <a:t>açık anahtarının (SPKI)</a:t>
            </a:r>
            <a:r>
              <a:rPr sz="2000" b="0">
                <a:solidFill>
                  <a:srgbClr val="1F2D3A"/>
                </a:solidFill>
              </a:rPr>
              <a:t> SHA-256'sını göm. Zincir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geçerli olsa bile anahtar tutmuyorsa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 (Mobilde yaygın.)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TOFU:</a:t>
            </a:r>
            <a:r>
              <a:rPr sz="2000" b="0">
                <a:solidFill>
                  <a:srgbClr val="1F2D3A"/>
                </a:solidFill>
              </a:rPr>
              <a:t> PKI yoksa ilk anahtarı hatırla, değişirse uyar (SSH modeli).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TLS 1.2 → 1.3:</a:t>
            </a:r>
            <a:r>
              <a:rPr sz="2000" b="0">
                <a:solidFill>
                  <a:srgbClr val="1F2D3A"/>
                </a:solidFill>
              </a:rPr>
              <a:t> tek RTT · yalnız güçlü AEAD takımları · zayıf özellikler kaldırıldı · downgrade'e karşı minimum sürüm zorla.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— MITM → hostname + pinning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 Guvensiz  -&gt; SALDIRGAN: KABUL (TEHLIKELI, MITM olurdu)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 Dogrula   -&gt; GERCEK   : DOGRULANDI,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 Dogrula   -&gt; SALDIRGAN: REDDEDILDI (kendi imzali)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 Pin       -&gt; GERCEK   : pin TUTTU,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5 Pin       -&gt; SALDIRGAN: pin TUTMADI,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127.0.0.1, kendi ürettiğimiz sertifikalar. (Windows: WSL'de çalıştırın.)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"Yalnız TLS'e güvenmeme"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kanalı korur ama </a:t>
            </a:r>
            <a:r>
              <a:rPr sz="2000" b="1">
                <a:solidFill>
                  <a:srgbClr val="1F2D3A"/>
                </a:solidFill>
              </a:rPr>
              <a:t>uç noktalar</a:t>
            </a:r>
            <a:r>
              <a:rPr sz="2000" b="0">
                <a:solidFill>
                  <a:srgbClr val="1F2D3A"/>
                </a:solidFill>
              </a:rPr>
              <a:t> güvenilmez olabilir (kök alınmış telefon,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hatalı pinning)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güvenlikte TLS'in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bir kat daha: mesaj düzeyi AEAD + MAC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TLS aşılsa bile gövde hâlâ şifreli → güvenlik kabuğunun en dış 2 katmanı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Sertifika hatasını </a:t>
            </a:r>
            <a:r>
              <a:rPr sz="2000" b="1">
                <a:solidFill>
                  <a:srgbClr val="1F2D3A"/>
                </a:solidFill>
              </a:rPr>
              <a:t>yutma</a:t>
            </a:r>
            <a:r>
              <a:rPr sz="2000" b="0">
                <a:solidFill>
                  <a:srgbClr val="1F2D3A"/>
                </a:solidFill>
              </a:rPr>
              <a:t>, güven deposuna düşme (fail-closed).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yedi adım (Tarif 9.1, 10.7, 10.8)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 *ctx = SSL_CTX_new(TLS_client_method());          /* 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SSL_CTX_set_min_proto_version(ctx, TLS1_2_VERSION);      /* 2 sürüm düşürmeye karşı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SSL_CTX_set_verify(ctx, SSL_VERIFY_PEER, NULL);           /* 3 DOĞRULA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SSL_CTX_set_default_verify_paths(ctx);                    /* 4 kök deposu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SSL_set_tlsext_host_name(ssl, ana_makine);                /* 5 SNI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SSL_set1_host(ssl, ana_makine);                           /* 6 AD denetimi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bağlan + el sıkış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SSL_get_verify_result(ssl) == X509_V_OK;                  /* 7 kemer + askı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Kitap: OpenSSL'in doğrulamayan varsayılanı "</a:t>
            </a:r>
            <a:r>
              <a:rPr sz="1800" b="1">
                <a:solidFill>
                  <a:srgbClr val="1F2D3A"/>
                </a:solidFill>
              </a:rPr>
              <a:t>olabilecek en kötü varsayılan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neden hayati?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doğrulaması yalnız "güvenilir CA mı imzaladı?" diye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alan adı için tamamen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bir sertifika alabilir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banka.ornek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saldirgan.ornek</a:t>
            </a:r>
            <a:r>
              <a:rPr sz="2000" b="0">
                <a:solidFill>
                  <a:srgbClr val="1F2D3A"/>
                </a:solidFill>
              </a:rPr>
              <a:t> sertifikası kabul edilir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2012 "dünyanın en tehlikeli kodu" çalışması: çok sayıda uygulama ve kütüphane bu adımı atlıyordu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SPKI sabitleme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 *sert = SSL_get_peer_certificate(ssl);         /* 3.x: SSL_get1_...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n = i2d_X509_PUBKEY(X509_get_X509_PUBKEY(sert), NULL);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DER'e çevir → SHA256 → pin listesiyle CRYPTO_memcmp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 = 0; i &lt; PIN_SAYISI;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(CRYPTO_memcmp(ozet, PINLER[i], 32) == 0) return 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0;                                            /* tutmadı: KES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30398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openssl s_client -connect s.ornek:443 -servername s.ornek &lt;/dev/null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x509 -pubkey -noout | openssl pkey -pubin -outform der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dgst -sha256 -binary | base64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Sabitlemeyi sürdürmek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1528"/>
                <a:gridCol w="50700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Sertifikayı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SPKI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'yi sabitle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yenilenen sertifika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yedek pin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Birincil kaybolursa uygulama "tuğlalaşmaz"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 anahtar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çevrimdışı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Birlikte ele geçmesin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pin, eskisi kaldırılmadan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dağıtılır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Pin hatasını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raporla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mı, yapılandırma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Bayrakla kapatılamaz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önce bayrağı değiştirir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Tarayıcılar HPKP'yi 2018'de bıraktı; mobil/masaüstünde sabitleme sürüyor (MASVS-NETWORK)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Windows: WinHTTP / Schannel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WinHTTP sertifikayı ve adı </a:t>
            </a:r>
            <a:r>
              <a:rPr sz="2000" b="1">
                <a:solidFill>
                  <a:srgbClr val="1F2D3A"/>
                </a:solidFill>
              </a:rPr>
              <a:t>varsayılan olarak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Tehlike: doğrulamayı kapatan bayraklar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DWORD b = SECURITY_FLAG_IGNORE_UNKNOWN_CA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SECURITY_FLAG_IGNORE_CERT_CN_INVALID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SECURITY_FLAG_IGNORE_CERT_DATE_INVALID;   /* ASLA sürümde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WinHttpSetOption(istek, WINHTTP_OPTION_SECURITY_FLAGS, &amp;b, sizeof b);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88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Test sunucusunun CA'sını geliştirme makinesinin güven deposuna ekle; kod aynı kalsın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Eleştirel okuma: sessizce açılan kapı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varsayilanDogrulayici.checkServerTrusted(zincir, tur);         // 1 zincir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PublicKey beklenen = depo.getCertificate("ca").getPublicKey();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(!Arrays.equals(beklenen.getEncoded(), zincir[0].getPublicKey().getEncoded()))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throw new CertificateException("pin tutmadi");          // 2 pin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 catch (KeyStoreException e)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e.printStackTrace();                                        // 3 ??? → bağlantı KABUL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yutuldu → sabitleme </a:t>
            </a:r>
            <a:r>
              <a:rPr sz="1800" b="1">
                <a:solidFill>
                  <a:srgbClr val="1F2D3A"/>
                </a:solidFill>
              </a:rPr>
              <a:t>atlandı</a:t>
            </a:r>
            <a:r>
              <a:rPr sz="1800" b="0">
                <a:solidFill>
                  <a:srgbClr val="1F2D3A"/>
                </a:solidFill>
              </a:rPr>
              <a:t> = </a:t>
            </a:r>
            <a:r>
              <a:rPr sz="1800" b="1">
                <a:solidFill>
                  <a:srgbClr val="1F2D3A"/>
                </a:solidFill>
              </a:rPr>
              <a:t>fail-open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Ayrıca: yedek doğrulamada iptal denetimi kapalı · dosya yoksa "devam" · tek pin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Fail-closed:</a:t>
            </a:r>
            <a:r>
              <a:rPr sz="1800" b="0">
                <a:solidFill>
                  <a:srgbClr val="1F2D3A"/>
                </a:solidFill>
              </a:rPr>
              <a:t> sonucu belirleyemiyorsan → </a:t>
            </a:r>
            <a:r>
              <a:rPr sz="1800" b="1">
                <a:solidFill>
                  <a:srgbClr val="1F2D3A"/>
                </a:solidFill>
              </a:rPr>
              <a:t>reddet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sık TLS hataları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4182755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 geri çağrısı hep "geçerli" / her şeye güvenen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TrustManager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sertifika kabul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kapalı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HostnameVerifier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hep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sitenin sertifikası kabul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hatasında "devam et" (web görünümü)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Araya giren fark edilmez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ayıklama bayrağı sürümde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Yedeksiz uç sertifika pini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Yenilemede uygulama çöker → pin kaldırılır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"Nasılsa TLS var"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Sunucuda/istemcide açık veri korunmaz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bağlantını test 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s.ornek:443 -servername s.ornek -verify_return_error -brief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s.ornek:443 -tls1_1      # reddedilmeli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Kendi imzalı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 (Demo 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Başka ad için geçerli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Cihaza kendi CA'nı kur + proxy → sabitleme yapan uygulama </a:t>
            </a:r>
            <a:r>
              <a:rPr sz="2000" b="1">
                <a:solidFill>
                  <a:srgbClr val="1F2D3A"/>
                </a:solidFill>
              </a:rPr>
              <a:t>reddetmeli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Pin hatası raporlanıyor mu?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Beklemede ve kullanımda veri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dosya/alan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Tüm disk/dosya:</a:t>
            </a:r>
            <a:r>
              <a:rPr sz="2000" b="0">
                <a:solidFill>
                  <a:srgbClr val="1F2D3A"/>
                </a:solidFill>
              </a:rPr>
              <a:t> LUKS, BitLocker, XTS-AES ya da uygulama AEAD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Alan/sütun:</a:t>
            </a:r>
            <a:r>
              <a:rPr sz="2000" b="0">
                <a:solidFill>
                  <a:srgbClr val="1F2D3A"/>
                </a:solidFill>
              </a:rPr>
              <a:t> yalnız hassas alanları uygulama katmanında AEAD ile şifrele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Maskeleme: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**** **** **** 4242</a:t>
            </a:r>
            <a:r>
              <a:rPr sz="2000" b="0">
                <a:solidFill>
                  <a:srgbClr val="1F2D3A"/>
                </a:solidFill>
              </a:rPr>
              <a:t> — şifreleme DEĞİL, maruz kalmayı azaltır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(log, ekran, test, tokenizasyon)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Maskeleme şifrelemenin yerine geçmez, tamamlar (farklı tehditler).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7 — SQLite'ta alanı AES-GCM ile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Saldirgan DB'yi acti: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Yilmaz|D1ED7A36...   &lt;- kart alani SIFRELI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Dogru anahtarla uygulama: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Yilmaz|4242-4242-4242-4242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Yanlis anahtar: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Yilmaz|(COZULEMEDI - etiket tutmadi)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0">
                <a:solidFill>
                  <a:srgbClr val="A1123F"/>
                </a:solidFill>
                <a:latin typeface="Consolas"/>
              </a:rPr>
              <a:t>kart</a:t>
            </a:r>
            <a:r>
              <a:rPr sz="2000" b="0">
                <a:solidFill>
                  <a:srgbClr val="1F2D3A"/>
                </a:solidFill>
              </a:rPr>
              <a:t> şifreli. Anahtar koda gömülü değil (cihaza bağlı KDF).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, Windows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winsqlite3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Veri maskeleme: dört teknik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7379"/>
                <a:gridCol w="3867379"/>
                <a:gridCol w="317677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Geri dönülür mü?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Gösterimde 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Ekran, fiş,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kasaya erişen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Kart saklama, 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Takma adlandırma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olan eşleştirir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Analiz,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Anonimleştirme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Takma adlı veri hâlâ </a:t>
            </a:r>
            <a:r>
              <a:rPr sz="1800" b="1">
                <a:solidFill>
                  <a:srgbClr val="1F2D3A"/>
                </a:solidFill>
              </a:rPr>
              <a:t>kişisel veri</a:t>
            </a:r>
            <a:r>
              <a:rPr sz="1800" b="0">
                <a:solidFill>
                  <a:srgbClr val="1F2D3A"/>
                </a:solidFill>
              </a:rPr>
              <a:t> (KVKK, GDPR) · "anonim" demek çok daha güçlü bir iddia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Gösterimde maskeleme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"1234567812345678" -&gt; "************5678"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pan_maskele(const char *pan, char *cikti, size_t boyut)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strnlen(pan, 19);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(boyut &lt; n + 1) { if (boyut) cikti[0] = '\0'; return;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for (size_t i = 0; i &lt; n;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cikti[i] = (i + 4 &lt; n) ? '*' : pan[i];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cikti[n] = '\0';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PCI DSS: en fazla ilk 6 (yeni sürümlerde 8) + son 4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Maskeleme </a:t>
            </a:r>
            <a:r>
              <a:rPr sz="1800" b="1">
                <a:solidFill>
                  <a:srgbClr val="1F2D3A"/>
                </a:solidFill>
              </a:rPr>
              <a:t>kaynağa yakın:</a:t>
            </a:r>
            <a:r>
              <a:rPr sz="1800" b="0">
                <a:solidFill>
                  <a:srgbClr val="1F2D3A"/>
                </a:solidFill>
              </a:rPr>
              <a:t> istemciye zaten maskeli gönder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Uygulama ──kart no──▶ [ Belirteç kasası ] ──belirteç──▶ Uygulama ──▶ Veritabanı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(küçük, çok iyi korunan)                    (yalnız belirteç)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Veritabanı, raporlar, günlükler çalınsa bile </a:t>
            </a:r>
            <a:r>
              <a:rPr sz="2000" b="1">
                <a:solidFill>
                  <a:srgbClr val="1F2D3A"/>
                </a:solidFill>
              </a:rPr>
              <a:t>kart numarası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PCI DSS kapsamı küçülür = 1. haftadaki "</a:t>
            </a:r>
            <a:r>
              <a:rPr sz="2000" b="1">
                <a:solidFill>
                  <a:srgbClr val="1F2D3A"/>
                </a:solidFill>
              </a:rPr>
              <a:t>aktar</a:t>
            </a:r>
            <a:r>
              <a:rPr sz="2000" b="0">
                <a:solidFill>
                  <a:srgbClr val="1F2D3A"/>
                </a:solidFill>
              </a:rPr>
              <a:t>" yanıtı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ödemede telefona inen = cihaza özgü </a:t>
            </a:r>
            <a:r>
              <a:rPr sz="2000" b="1">
                <a:solidFill>
                  <a:srgbClr val="1F2D3A"/>
                </a:solidFill>
              </a:rPr>
              <a:t>belirteç numarası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 korunabilir: FF1 (NIST SP 800-38G)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Takma ad ve test verisi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kripto_hmac_sha256(takma_anahtari, 32, kimlik_no, strlen(kimlik_no), takma_ad);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❌ Düz SHA-256: 11 haneli kimlik no → hepsi denenebilir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HMAC; anahtar veri kümesinden ayrı · anahtar imha = fiilen anonim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Test verisi tercihi: </a:t>
            </a:r>
            <a:r>
              <a:rPr sz="2000" b="1">
                <a:solidFill>
                  <a:srgbClr val="1F2D3A"/>
                </a:solidFill>
              </a:rPr>
              <a:t>1. sentetik</a:t>
            </a:r>
            <a:r>
              <a:rPr sz="2000" b="0">
                <a:solidFill>
                  <a:srgbClr val="1F2D3A"/>
                </a:solidFill>
              </a:rPr>
              <a:t> → 2. statik maskeleme → 3. dinamik maskeleme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Günlükte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Kaynakta önleme:</a:t>
            </a:r>
            <a:r>
              <a:rPr sz="1800" b="0">
                <a:solidFill>
                  <a:srgbClr val="1F2D3A"/>
                </a:solidFill>
              </a:rPr>
              <a:t> hassas tür, yazdırması hep maskeli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Çıkışta süzme:</a:t>
            </a:r>
            <a:r>
              <a:rPr sz="1800" b="0">
                <a:solidFill>
                  <a:srgbClr val="1F2D3A"/>
                </a:solidFill>
              </a:rPr>
              <a:t> 13–19 hane + Luhn, 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parola=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token=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((p = strstr(p, "parola=")) != NULL)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strlen("parola=");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while (*p &amp;&amp; !isspace((unsigned char)*p)) *p++ = '*';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7209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Süzgeç </a:t>
            </a:r>
            <a:r>
              <a:rPr sz="1800" b="1">
                <a:solidFill>
                  <a:srgbClr val="1F2D3A"/>
                </a:solidFill>
              </a:rPr>
              <a:t>ikinci</a:t>
            </a:r>
            <a:r>
              <a:rPr sz="1800" b="0">
                <a:solidFill>
                  <a:srgbClr val="1F2D3A"/>
                </a:solidFill>
              </a:rPr>
              <a:t> hat: JSON'u tanımaz, veri zaten bellekte · sahada sürümde günlük </a:t>
            </a:r>
            <a:r>
              <a:rPr sz="1800" b="1">
                <a:solidFill>
                  <a:srgbClr val="1F2D3A"/>
                </a:solidFill>
              </a:rPr>
              <a:t>tamamen kaldırılır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veri: 3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3695842"/>
                <a:gridCol w="387183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Döküm engelle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RLIMIT_CORE=0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SetErrorMode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Belleği kilitle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VirtualLock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kısa ömür</a:t>
            </a:r>
            <a:r>
              <a:rPr sz="2000" b="0">
                <a:solidFill>
                  <a:srgbClr val="1F2D3A"/>
                </a:solidFill>
              </a:rPr>
              <a:t>, kopyalama.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-O2'de silinebilir; cleanse </a:t>
            </a:r>
            <a:r>
              <a:rPr sz="2000" b="1">
                <a:solidFill>
                  <a:srgbClr val="1F2D3A"/>
                </a:solidFill>
              </a:rPr>
              <a:t>silinemez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8 — mlock + güvenli silme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1 - cokme dokumu kapatildi: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2 - mlock ile takasa yazma engellendi: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Sir kullaniliyor: dolu bayt = 20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3 - guvenli silme sonrasi dolu bayt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OPENSSL_cleanse cagrisi makine kodunda kaldi (memset gibi silinmez)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anahtarı cihaz parmak izinden </a:t>
            </a:r>
            <a:r>
              <a:rPr sz="2000" b="1">
                <a:solidFill>
                  <a:srgbClr val="1F2D3A"/>
                </a:solidFill>
              </a:rPr>
              <a:t>HKDF + AEAD</a:t>
            </a:r>
            <a:r>
              <a:rPr sz="2000" b="0">
                <a:solidFill>
                  <a:srgbClr val="1F2D3A"/>
                </a:solidFill>
              </a:rPr>
              <a:t> ile sar → başka cihazda açılamaz (Demo 9).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Güvenlik kabukları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9 — 4 kabukla sar, ters sırada 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SARMA: sir -&gt; K1(cihaz) -&gt; K2(depo) -&gt; K3(oturum) -&gt; K4(kanal)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Kabuk 4 = 128 bayt  &lt;- aktarilan paket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ACMA : K4 -&gt; K3 -&gt; K2 -&gt; K1 -&gt; sir   (hepsi TAMAM, sir DOGRU)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1: 1 bit kurcala -&gt; Kabuk 4 RED (etiket tutmadi)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2: baska cihaza kopyala -&gt; dis 3 kabuk acilir,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Kabuk 1 (cihaz) RED -&gt; sir ACILAMAZ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· bağımsız anahtarlar.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Sahadaki kabuk matrisi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267"/>
                <a:gridCol w="9967267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anahtarı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whitebox DES biçiminde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hiç açık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Cüzdan anahtarıyla WB-AES-CBC + cihaz + uygulama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Beklemede: WB-AES-CBC + SHA-256 MAC + cihaz + sürüm · Aktarımda: oturum anahtarlı AES +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açık anahtar sabitleme + sunucu sertifikası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kodu (oturum anahtarı + bağlama)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varlık, beş aşama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1273012"/>
                <a:gridCol w="1273012"/>
                <a:gridCol w="1273012"/>
                <a:gridCol w="1273012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K4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aktarım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Veritabanında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tarafında çözme / API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Java tarafı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native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taraf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içte bile </a:t>
            </a:r>
            <a:r>
              <a:rPr sz="1800" b="1">
                <a:solidFill>
                  <a:srgbClr val="1F2D3A"/>
                </a:solidFill>
              </a:rPr>
              <a:t>bir kabuk kalır</a:t>
            </a:r>
            <a:r>
              <a:rPr sz="1800" b="0">
                <a:solidFill>
                  <a:srgbClr val="1F2D3A"/>
                </a:solidFill>
              </a:rPr>
              <a:t> · o anki açıklığı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"Normal" varlık: beklemede 1, aktarımda 2 kabuk → maliyet dengesi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Saldırı algılanınca yerel veritabanı </a:t>
            </a:r>
            <a:r>
              <a:rPr sz="1800" b="1">
                <a:solidFill>
                  <a:srgbClr val="1F2D3A"/>
                </a:solidFill>
              </a:rPr>
              <a:t>tamamen silinir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Whitebox kriptografiye giriş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whitebox?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gizli varsayımı: anahtar kullanılırken </a:t>
            </a:r>
            <a:r>
              <a:rPr sz="2000" b="1">
                <a:solidFill>
                  <a:srgbClr val="1F2D3A"/>
                </a:solidFill>
              </a:rPr>
              <a:t>bellekte açık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"Cihazın sahibi saldırgan" belleği okuyabilir → o anı yakalar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silme pencereyi </a:t>
            </a:r>
            <a:r>
              <a:rPr sz="2000" b="1">
                <a:solidFill>
                  <a:srgbClr val="1F2D3A"/>
                </a:solidFill>
              </a:rPr>
              <a:t>daraltır</a:t>
            </a:r>
            <a:r>
              <a:rPr sz="2000" b="0">
                <a:solidFill>
                  <a:srgbClr val="1F2D3A"/>
                </a:solidFill>
              </a:rPr>
              <a:t>, kapatmaz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Whitebox:</a:t>
            </a:r>
            <a:r>
              <a:rPr sz="2000" b="0">
                <a:solidFill>
                  <a:srgbClr val="1F2D3A"/>
                </a:solidFill>
              </a:rPr>
              <a:t> anahtarı tablolara gömer, ham hâli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bellekte görünmez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Sihirli değnek değil: oracle/code-lifting'e açık → diğer kabuklarla birlikte. </a:t>
            </a:r>
            <a:r>
              <a:rPr sz="2000" b="1">
                <a:solidFill>
                  <a:srgbClr val="1F2D3A"/>
                </a:solidFill>
              </a:rPr>
              <a:t>Ayrıntı: Hafta 11.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Yaygın yanlış anlamalar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"Şifreledim, güvendeyim" → şifreleme yalnız gizlilik; bütünlük için AEAD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"TLS var, MITM imkânsız" → doğrulama yapılmazsa mümkün (Demo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"SHA-256 ile parola sakladım" → tuzsuz/hızlı; Argon2id + tuz gerekir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"Nonce gizli olmalı" → hayır, </a:t>
            </a:r>
            <a:r>
              <a:rPr sz="1800" b="1">
                <a:solidFill>
                  <a:srgbClr val="1F2D3A"/>
                </a:solidFill>
              </a:rPr>
              <a:t>benzersiz</a:t>
            </a:r>
            <a:r>
              <a:rPr sz="1800" b="0">
                <a:solidFill>
                  <a:srgbClr val="1F2D3A"/>
                </a:solidFill>
              </a:rPr>
              <a:t> olmalı; gizli olan anahtar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"Kendi şifremi yazarım" → Kerckhoffs: güvenlik anahtarda, algoritmada değil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(S5, S7)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S5 — Varlık listesi (taslak):</a:t>
            </a:r>
            <a:r>
              <a:rPr sz="2000" b="0">
                <a:solidFill>
                  <a:srgbClr val="1F2D3A"/>
                </a:solidFill>
              </a:rPr>
              <a:t> her hassas varlık; konum, ömür, C/I/I+, koruma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S7 — Veri güvenliği + kabuk matrisi:</a:t>
            </a:r>
            <a:r>
              <a:rPr sz="2000" b="0">
                <a:solidFill>
                  <a:srgbClr val="1F2D3A"/>
                </a:solidFill>
              </a:rPr>
              <a:t> her varlık × üç hâl × kabuklar; güvenli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silme politikası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aileleri: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CEN429-DT/DR/DU</a:t>
            </a:r>
            <a:r>
              <a:rPr sz="2000" b="0">
                <a:solidFill>
                  <a:srgbClr val="1F2D3A"/>
                </a:solidFill>
              </a:rPr>
              <a:t> (aktarım/beklemede/kullanımda),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7820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S17 uyum matrisine her gereksinim için satır ekleyin.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MITM'i durdur:</a:t>
            </a:r>
            <a:r>
              <a:rPr sz="2000" b="0">
                <a:solidFill>
                  <a:srgbClr val="1F2D3A"/>
                </a:solidFill>
              </a:rPr>
              <a:t> Demo 6'da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'u kapat → hangi saldırgan kaçar?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Nonce'u tekrarlat:</a:t>
            </a:r>
            <a:r>
              <a:rPr sz="2000" b="0">
                <a:solidFill>
                  <a:srgbClr val="1F2D3A"/>
                </a:solidFill>
              </a:rPr>
              <a:t> Demo 1'de sabit nonce → iki şifreli metni XOR'la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Üç veri hâli haritası:</a:t>
            </a:r>
            <a:r>
              <a:rPr sz="2000" b="0">
                <a:solidFill>
                  <a:srgbClr val="1F2D3A"/>
                </a:solidFill>
              </a:rPr>
              <a:t> sağlık uygulaması için tehdit/önlem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KDF maliyeti:</a:t>
            </a:r>
            <a:r>
              <a:rPr sz="2000" b="0">
                <a:solidFill>
                  <a:srgbClr val="1F2D3A"/>
                </a:solidFill>
              </a:rPr>
              <a:t> 100 ms veren tur sayısını bul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AEAD ile AES-CTR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Nonce tekrarı neden felaket?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OpenSSL istemcisinin en tehlikeli varsayılanı?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Pinning neyi, hostname doğrulama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Güvenlik kabuğu nedir, bir örnek?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825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Tam liste (20 soru) ve cevaplar ders sitesinde. Quiz-1 bu tarz + kod okuma.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(örnek 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58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AES-CTR</a:t>
            </a:r>
            <a:r>
              <a:rPr sz="2000" b="0">
                <a:solidFill>
                  <a:srgbClr val="1F2D3A"/>
                </a:solidFill>
              </a:rPr>
              <a:t> yalnız gizlilik verir; </a:t>
            </a:r>
            <a:r>
              <a:rPr sz="2000" b="1">
                <a:solidFill>
                  <a:srgbClr val="1F2D3A"/>
                </a:solidFill>
              </a:rPr>
              <a:t>AEAD (AES-GCM)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 bütünlük/kimlik</a:t>
            </a:r>
            <a:r>
              <a:rPr sz="2000" b="0">
                <a:solidFill>
                  <a:srgbClr val="1F2D3A"/>
                </a:solidFill>
              </a:rPr>
              <a:t> doğrulamayı bir </a:t>
            </a:r>
            <a:r>
              <a:rPr sz="2000" b="1">
                <a:solidFill>
                  <a:srgbClr val="1F2D3A"/>
                </a:solidFill>
              </a:rPr>
              <a:t>etiketle</a:t>
            </a:r>
            <a:r>
              <a:rPr sz="2000" b="0">
                <a:solidFill>
                  <a:srgbClr val="1F2D3A"/>
                </a:solidFill>
              </a:rPr>
              <a:t> birlikte verir. CTR'de değişiklik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 tekrarlar</a:t>
            </a:r>
            <a:r>
              <a:rPr sz="2000" b="0">
                <a:solidFill>
                  <a:srgbClr val="1F2D3A"/>
                </a:solidFill>
              </a:rPr>
              <a:t>; iki şifreli metnin XOR'u açık metni sızdırır, GCM'de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riske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bloğu aynı şifreli bloğa çevirir → </a:t>
            </a:r>
            <a:r>
              <a:rPr sz="2000" b="1">
                <a:solidFill>
                  <a:srgbClr val="1F2D3A"/>
                </a:solidFill>
              </a:rPr>
              <a:t>desenler görünür</a:t>
            </a:r>
            <a:r>
              <a:rPr sz="2000" b="0">
                <a:solidFill>
                  <a:srgbClr val="1F2D3A"/>
                </a:solidFill>
              </a:rPr>
              <a:t>;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İstemcinin </a:t>
            </a:r>
            <a:r>
              <a:rPr sz="2000" b="1">
                <a:solidFill>
                  <a:srgbClr val="1F2D3A"/>
                </a:solidFill>
              </a:rPr>
              <a:t>sertifika/hostname doğrulamasını kendiliğinden yapmaması</a:t>
            </a:r>
            <a:r>
              <a:rPr sz="2000" b="0">
                <a:solidFill>
                  <a:srgbClr val="1F2D3A"/>
                </a:solidFill>
              </a:rPr>
              <a:t>; elle açılmazsa </a:t>
            </a:r>
            <a:r>
              <a:rPr sz="2000" b="1">
                <a:solidFill>
                  <a:srgbClr val="1F2D3A"/>
                </a:solidFill>
              </a:rPr>
              <a:t>MITM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beklenen sunucu anahtarını (SPKI) sabitler → sahte-ama-"geçerli" sertifikayı yakalar. </a:t>
            </a:r>
            <a:r>
              <a:rPr sz="2000" b="1">
                <a:solidFill>
                  <a:srgbClr val="1F2D3A"/>
                </a:solidFill>
              </a:rPr>
              <a:t>Hostname doğrulama:</a:t>
            </a:r>
            <a:r>
              <a:rPr sz="2000" b="0">
                <a:solidFill>
                  <a:srgbClr val="1F2D3A"/>
                </a:solidFill>
              </a:rPr>
              <a:t> sertifikanın doğru </a:t>
            </a:r>
            <a:r>
              <a:rPr sz="2000" b="1">
                <a:solidFill>
                  <a:srgbClr val="1F2D3A"/>
                </a:solidFill>
              </a:rPr>
              <a:t>alan adına</a:t>
            </a:r>
            <a:r>
              <a:rPr sz="2000" b="0">
                <a:solidFill>
                  <a:srgbClr val="1F2D3A"/>
                </a:solidFill>
              </a:rPr>
              <a:t> ait olduğunu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Güvenlik kabuğu:</a:t>
            </a:r>
            <a:r>
              <a:rPr sz="2000" b="0">
                <a:solidFill>
                  <a:srgbClr val="1F2D3A"/>
                </a:solidFill>
              </a:rPr>
              <a:t> varlığı saran koruma (C=gizlilik, I=bütünlük). Örn. anahtar dosyası = AES-GCM (C) + etiket/HMAC (I).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neden güvenlik için kullanılamaz? Yerine?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EVP_DecryptFinal_ex</a:t>
            </a:r>
            <a:r>
              <a:rPr sz="2000" b="0">
                <a:solidFill>
                  <a:srgbClr val="1F2D3A"/>
                </a:solidFill>
              </a:rPr>
              <a:t> başarısız döndü; tampondaki açık metne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neden sakıncalı?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Kripto-periyodu dolan anahtar hemen silinir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Zarflamada KEK yenilenince neden veri yeniden şifrelenmez?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istatistikseldir, tahmin edilebilir</a:t>
            </a:r>
            <a:r>
              <a:rPr sz="2000" b="0">
                <a:solidFill>
                  <a:srgbClr val="1F2D3A"/>
                </a:solidFill>
              </a:rPr>
              <a:t> → CSPRNG kullanın (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Çözme başarısızsa tampondaki açık metni </a:t>
            </a:r>
            <a:r>
              <a:rPr sz="2000" b="1">
                <a:solidFill>
                  <a:srgbClr val="1F2D3A"/>
                </a:solidFill>
              </a:rPr>
              <a:t>güvenli silin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reddedin</a:t>
            </a:r>
            <a:r>
              <a:rPr sz="2000" b="0">
                <a:solidFill>
                  <a:srgbClr val="1F2D3A"/>
                </a:solidFill>
              </a:rPr>
              <a:t> — bütünlük doğrulanmadı, kullanmayın.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erken çıkar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zamanlama sızıntısı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 / sabit zamanlı karşılaştırma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Yeni şifrelemede kullanılmaz ama eski veri yeniden şifrelenene dek </a:t>
            </a:r>
            <a:r>
              <a:rPr sz="2000" b="1">
                <a:solidFill>
                  <a:srgbClr val="1F2D3A"/>
                </a:solidFill>
              </a:rPr>
              <a:t>yalnız çözmede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Veri </a:t>
            </a:r>
            <a:r>
              <a:rPr sz="2000" b="1">
                <a:solidFill>
                  <a:srgbClr val="1F2D3A"/>
                </a:solidFill>
              </a:rPr>
              <a:t>DEK</a:t>
            </a:r>
            <a:r>
              <a:rPr sz="2000" b="0">
                <a:solidFill>
                  <a:srgbClr val="1F2D3A"/>
                </a:solidFill>
              </a:rPr>
              <a:t> ile şifrelidir; KEK yenilenince yalnızca </a:t>
            </a:r>
            <a:r>
              <a:rPr sz="2000" b="1">
                <a:solidFill>
                  <a:srgbClr val="1F2D3A"/>
                </a:solidFill>
              </a:rPr>
              <a:t>DEK'ler yeniden sarılır</a:t>
            </a:r>
            <a:r>
              <a:rPr sz="2000" b="0">
                <a:solidFill>
                  <a:srgbClr val="1F2D3A"/>
                </a:solidFill>
              </a:rPr>
              <a:t> (rewrap), veri değil.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çağrılmazsa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Sabitlemede neden SPKI ve neden yedek pin?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"Fail-open" nedir? Bir örnek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numarasının düz SHA-256'sı neden takma ad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Tokenizasyon PCI DSS kapsamını neden küçültür?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yoksa </a:t>
            </a:r>
            <a:r>
              <a:rPr sz="2000" b="1">
                <a:solidFill>
                  <a:srgbClr val="1F2D3A"/>
                </a:solidFill>
              </a:rPr>
              <a:t>hostname doğrulanmaz</a:t>
            </a:r>
            <a:r>
              <a:rPr sz="2000" b="0">
                <a:solidFill>
                  <a:srgbClr val="1F2D3A"/>
                </a:solidFill>
              </a:rPr>
              <a:t>; başka ada ait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sertifika kabul edilir → MITM.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SPKI</a:t>
            </a:r>
            <a:r>
              <a:rPr sz="2000" b="0">
                <a:solidFill>
                  <a:srgbClr val="1F2D3A"/>
                </a:solidFill>
              </a:rPr>
              <a:t> sertifika yenilense de (anahtar aynıysa)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anahtar değişiminde uygulamanın </a:t>
            </a:r>
            <a:r>
              <a:rPr sz="2000" b="1">
                <a:solidFill>
                  <a:srgbClr val="1F2D3A"/>
                </a:solidFill>
              </a:rPr>
              <a:t>"tuğlalaşmasını"</a:t>
            </a:r>
            <a:r>
              <a:rPr sz="2000" b="0">
                <a:solidFill>
                  <a:srgbClr val="1F2D3A"/>
                </a:solidFill>
              </a:rPr>
              <a:t> önler.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 durumunda "geçti/izin ver" sayılması; örn. </a:t>
            </a:r>
            <a:r>
              <a:rPr sz="2000" b="1">
                <a:solidFill>
                  <a:srgbClr val="1F2D3A"/>
                </a:solidFill>
              </a:rPr>
              <a:t>yutulan `KeyStoreException`</a:t>
            </a:r>
            <a:r>
              <a:rPr sz="2000" b="0">
                <a:solidFill>
                  <a:srgbClr val="1F2D3A"/>
                </a:solidFill>
              </a:rPr>
              <a:t> ile doğrulamanın atlanması.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no'nun değer uzayı </a:t>
            </a:r>
            <a:r>
              <a:rPr sz="2000" b="1">
                <a:solidFill>
                  <a:srgbClr val="1F2D3A"/>
                </a:solidFill>
              </a:rPr>
              <a:t>küçük/tahmin edilebilir</a:t>
            </a:r>
            <a:r>
              <a:rPr sz="2000" b="0">
                <a:solidFill>
                  <a:srgbClr val="1F2D3A"/>
                </a:solidFill>
              </a:rPr>
              <a:t> → düz SHA-256 </a:t>
            </a:r>
            <a:r>
              <a:rPr sz="2000" b="1">
                <a:solidFill>
                  <a:srgbClr val="1F2D3A"/>
                </a:solidFill>
              </a:rPr>
              <a:t>kaba kuvvetle</a:t>
            </a:r>
            <a:r>
              <a:rPr sz="2000" b="0">
                <a:solidFill>
                  <a:srgbClr val="1F2D3A"/>
                </a:solidFill>
              </a:rPr>
              <a:t> geri döner; </a:t>
            </a:r>
            <a:r>
              <a:rPr sz="2000" b="1">
                <a:solidFill>
                  <a:srgbClr val="1F2D3A"/>
                </a:solidFill>
              </a:rPr>
              <a:t>anahtarlı HMAC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Tokenizasyon:</a:t>
            </a:r>
            <a:r>
              <a:rPr sz="2000" b="0">
                <a:solidFill>
                  <a:srgbClr val="1F2D3A"/>
                </a:solidFill>
              </a:rPr>
              <a:t> gerçek PAN yalnız </a:t>
            </a:r>
            <a:r>
              <a:rPr sz="2000" b="1">
                <a:solidFill>
                  <a:srgbClr val="1F2D3A"/>
                </a:solidFill>
              </a:rPr>
              <a:t>kasada</a:t>
            </a:r>
            <a:r>
              <a:rPr sz="2000" b="0">
                <a:solidFill>
                  <a:srgbClr val="1F2D3A"/>
                </a:solidFill>
              </a:rPr>
              <a:t> kalır; sistemin kalanı token tutar → </a:t>
            </a:r>
            <a:r>
              <a:rPr sz="2000" b="1">
                <a:solidFill>
                  <a:srgbClr val="1F2D3A"/>
                </a:solidFill>
              </a:rPr>
              <a:t>PCI DSS denetim kapsamı</a:t>
            </a:r>
            <a:r>
              <a:rPr sz="2000" b="0">
                <a:solidFill>
                  <a:srgbClr val="1F2D3A"/>
                </a:solidFill>
              </a:rPr>
              <a:t> daralır.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4 — Kod Sağlamlaştırma: C/C++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Güvenli bellek yönetimi · sanitizer'lar · derleyici/OS korumaları (stack canary, ASLR, DEP/NX, CFI) · kontrol akışı düzleştirme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3.1–3.5, 13.1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Bir veriyi baştan sona korumak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bir "notunu" korumalı: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sunucudan gelir (aktarımda)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diskte durur (beklemede)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ekranda gösterilir (kullanımda)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hâli de koruyalım.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Aktarımda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 ile taşı.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+ SAN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 SPKI pin + yedek pin.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ile şifrele (AEAD).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benzersiz.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 ya da paroladan KDF.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kısa süre bellekte tut.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bitince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benzeri).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kısa ömür.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nereden?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</a:t>
            </a:r>
            <a:r>
              <a:rPr sz="2000" b="1">
                <a:solidFill>
                  <a:srgbClr val="1F2D3A"/>
                </a:solidFill>
              </a:rPr>
              <a:t>PBKDF2/Argon2</a:t>
            </a:r>
            <a:r>
              <a:rPr sz="2000" b="0">
                <a:solidFill>
                  <a:srgbClr val="1F2D3A"/>
                </a:solidFill>
              </a:rPr>
              <a:t> (tuzlu, yavaş) → ana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→ veri anahtarı, oturum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anahtarın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görevi.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zaten bütünlük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Aktarımda TLS, beklemede GCM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→ çözme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1.3 + 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 + 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Klasik kripto hataları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aynı nonce iki kez →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yeterli rastgele nonce.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zayıf rastgelelik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ile anahtar/nonce → tahmin edilebilir.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</a:t>
            </a:r>
            <a:r>
              <a:rPr sz="2000" b="0">
                <a:solidFill>
                  <a:srgbClr val="1F2D3A"/>
                </a:solidFill>
              </a:rPr>
              <a:t> kullan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parolayı doğrudan anahtar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düşük entropili; doğrudan anahtar </a:t>
            </a:r>
            <a:r>
              <a:rPr sz="2000" b="1">
                <a:solidFill>
                  <a:srgbClr val="1F2D3A"/>
                </a:solidFill>
              </a:rPr>
              <a:t>zayıf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ile türet (tuzlu, yavaş).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Desen sızar ("penguen").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kullan.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gizlilik yetmez; kurcalanabilir.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ya da encrypt-then-MAC.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sabit zamanlı olmayan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MAC/parola karşılaştırması erken çıkarsa </a:t>
            </a:r>
            <a:r>
              <a:rPr sz="2000" b="1">
                <a:solidFill>
                  <a:srgbClr val="1F2D3A"/>
                </a:solidFill>
              </a:rPr>
              <a:t>zamanlama</a:t>
            </a:r>
            <a:r>
              <a:rPr sz="2000" b="0">
                <a:solidFill>
                  <a:srgbClr val="1F2D3A"/>
                </a:solidFill>
              </a:rPr>
              <a:t>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zamanlı karşılaştır.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Verinin üç hâli ve her birinin korumasi?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Aktarımda (TLS), beklemede (AEAD şifreleme), kullanımda (kısa ömür + silme).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GCM'de nonce tekrarı neden felaket?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anahtar+nonce altında gizlilik ve bütünlük çöker; anahtar akışı ve veri sızabilir. Nonce benzersiz olmalı.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 neden doğrudan anahtar olamaz?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Düşük entropili ve tahmin edilebilir. KDF (PBKDF2/Argon2) ile tuzlu, yavaş türetilir.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AEAD ne sağlar, hangi ayrı adımların yerine geçer?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+ bütünlüğü birlikte; ayrı şifreleme + MAC adımlarının yerine.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İleri gizlilik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oturum yeni anahtar; uzun vadeli anahtar sızsa bile eski oturumlar çözülemez.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IV/nonce/tuz gizli mi? Kuralı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 değildir ama </a:t>
            </a:r>
            <a:r>
              <a:rPr sz="2000" b="1">
                <a:solidFill>
                  <a:srgbClr val="1F2D3A"/>
                </a:solidFill>
              </a:rPr>
              <a:t>benzersiz/tekrarsız</a:t>
            </a:r>
            <a:r>
              <a:rPr sz="2000" b="0">
                <a:solidFill>
                  <a:srgbClr val="1F2D3A"/>
                </a:solidFill>
              </a:rPr>
              <a:t> olmalı; nonce tekrarı ve sabit tuz tehlikelidir.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CSPRNG neden gerekli?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tahmin edilebilir; anahtar/nonce/tuz için kriptografik güvenli üreteç (OS) gerekir.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hiyerarşisi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anahtar her işte kullanılmaz; ana anahtardan türev anahtarlar üretilir, her birinin ayrı görevi ve ömrü olur.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hâl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Aktarımda/beklemede/kullanımda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rastgele üreteç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KDF/HKDF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Nonce/tuz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Benzersiz/rastgele yardımcı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üç hâlinde de</a:t>
            </a:r>
            <a:r>
              <a:rPr sz="2000" b="0">
                <a:solidFill>
                  <a:srgbClr val="1F2D3A"/>
                </a:solidFill>
              </a:rPr>
              <a:t> koru; doğru kip (AEAD), güvenli rastgelelik, KDF ile anahtar, benzersiz nonce ve iyi yönetilen anahtar hiyerarşisi.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PKI ve sertifikalarla derinleşeceğiz.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3 — Veri Güvenliği: Aktarımda, Beklemede, Kullanımda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