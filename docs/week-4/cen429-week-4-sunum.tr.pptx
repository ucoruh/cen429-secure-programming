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kodun kendisini sağlamlaştırıyoruz: önce hatasız kod, sonra hata kaçarsa zararı sınırlayan korumalar, en son okumayı zorlaştıran gizleme.</a:t>
            </a:r>
          </a:p>
          <a:p/>
          <a:p>
            <a:r>
              <a:t>Bu hafta kodun kendisini sağlamlaştırıyoruz: önce hatasız kod, sonra hata kaçarsa zararı sınırlayan korumalar, en son okumayı zorlaştıran gizleme.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kodun kendisini sağlamlaştırıyoruz. Öğrenciler C'yi biliyor ama güvenlik terimlerini bilmiyor varsayıyoruz; her terimi tanımlayacağız. Demolar code/week-04 altında.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 sözdizimini bildiklerini varsayıyoruz ama bellek/güvenlik kavramlarını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biçim dizisi açığı.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 sonrası statik analiz, sanitizer, fuzzing.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derleyici ve OS korumaları.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Bunlar "hata kaçarsa zararı sınırla" katmanı. Hiçbiri hatayı kaldırmaz; istismarı zorlaştırır.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kod gizlemeye giriş.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Gizlemenin giriş katmanı. Derinlik 9 ve 14. haftada.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 bir taşmayı hatalı koddan saldırıya, oradan düzeltmeye kadar izliyoruz. Tahtada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Kod Sağlamlaştırma: C/C++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09.10.2026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9348"/>
                <a:gridCol w="944267"/>
                <a:gridCol w="9127918"/>
              </a:tblGrid>
              <a:tr h="67894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sağlamlaştırma katmanları · SEI CERT · girdi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Biçim dizisi · UAF · tamsayı/UB · hata/sinyal · statik analiz · sanitizer · fuzzing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5–7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Derleyici/OS korumaları · güvenli derleme hattı · kod gizlemeye giriş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bellek hataları ve savunmaların yarışı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1988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Morris Worm</a:t>
            </a:r>
            <a:r>
              <a:rPr sz="1800" b="0">
                <a:solidFill>
                  <a:srgbClr val="1F2D3A"/>
                </a:solidFill>
              </a:rPr>
              <a:t> tampon taşmasını dünyaya duyurur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1996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0" i="1">
                <a:solidFill>
                  <a:srgbClr val="1F2D3A"/>
                </a:solidFill>
              </a:rPr>
              <a:t>Smashing the Stack for Fun and Profit</a:t>
            </a:r>
            <a:r>
              <a:rPr sz="1800" b="0">
                <a:solidFill>
                  <a:srgbClr val="1F2D3A"/>
                </a:solidFill>
              </a:rPr>
              <a:t> sömürüyü herkese öğretir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1998 → 2004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kanarya</a:t>
            </a:r>
            <a:r>
              <a:rPr sz="1800" b="0">
                <a:solidFill>
                  <a:srgbClr val="1F2D3A"/>
                </a:solidFill>
              </a:rPr>
              <a:t> (StackGuard) · </a:t>
            </a:r>
            <a:r>
              <a:rPr sz="1800" b="1">
                <a:solidFill>
                  <a:srgbClr val="1F2D3A"/>
                </a:solidFill>
              </a:rPr>
              <a:t>ASLR</a:t>
            </a:r>
            <a:r>
              <a:rPr sz="1800" b="0">
                <a:solidFill>
                  <a:srgbClr val="1F2D3A"/>
                </a:solidFill>
              </a:rPr>
              <a:t> (PaX) · </a:t>
            </a:r>
            <a:r>
              <a:rPr sz="1800" b="1">
                <a:solidFill>
                  <a:srgbClr val="1F2D3A"/>
                </a:solidFill>
              </a:rPr>
              <a:t>DEP/NX</a:t>
            </a:r>
            <a:r>
              <a:rPr sz="1800" b="0">
                <a:solidFill>
                  <a:srgbClr val="1F2D3A"/>
                </a:solidFill>
              </a:rPr>
              <a:t> · FORTIFY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2012–13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AddressSanitizer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fuzzing</a:t>
            </a:r>
            <a:r>
              <a:rPr sz="1800" b="0">
                <a:solidFill>
                  <a:srgbClr val="1F2D3A"/>
                </a:solidFill>
              </a:rPr>
              <a:t> (AFL) hataları otomatik yakalar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Ders bu yarışı izler: hatayı yaz → araç yakalasın → derleyici/OS korusun.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1–3. hafta:</a:t>
            </a:r>
            <a:r>
              <a:rPr sz="2000" b="0">
                <a:solidFill>
                  <a:srgbClr val="1F2D3A"/>
                </a:solidFill>
              </a:rPr>
              <a:t> güvenlik ilkeleri, tehdit modeli, kripto.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(4):</a:t>
            </a:r>
            <a:r>
              <a:rPr sz="2000" b="0">
                <a:solidFill>
                  <a:srgbClr val="1F2D3A"/>
                </a:solidFill>
              </a:rPr>
              <a:t> C/C++ kodunu </a:t>
            </a:r>
            <a:r>
              <a:rPr sz="2000" b="1">
                <a:solidFill>
                  <a:srgbClr val="1F2D3A"/>
                </a:solidFill>
              </a:rPr>
              <a:t>sağlamlaştırmak</a:t>
            </a:r>
            <a:r>
              <a:rPr sz="2000" b="0">
                <a:solidFill>
                  <a:srgbClr val="1F2D3A"/>
                </a:solidFill>
              </a:rPr>
              <a:t> — hatasız yaz, hata kaçarsa zararı sınırla, okumayı zorlaştır.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5. hafta:</a:t>
            </a:r>
            <a:r>
              <a:rPr sz="2000" b="0">
                <a:solidFill>
                  <a:srgbClr val="1F2D3A"/>
                </a:solidFill>
              </a:rPr>
              <a:t> aynı konu Java/yorumlanan diller.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(ikili uygulama korumaları)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Yaygın C/C++ zafiyetlerini tanımak ve düzeltmek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analiz, sanitizer, fuzzing kullanmak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Derleyici/OS korumalarını açmak ve doğrulamak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katman, doğru sıra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 sağlamlaştırma üç katmandır. Sıra önemli: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Önce hatasız kod</a:t>
            </a:r>
            <a:r>
              <a:rPr sz="2000" b="0">
                <a:solidFill>
                  <a:srgbClr val="1F2D3A"/>
                </a:solidFill>
              </a:rPr>
              <a:t> (güvenli kodlama)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Sonra zararı sınırla</a:t>
            </a:r>
            <a:r>
              <a:rPr sz="2000" b="0">
                <a:solidFill>
                  <a:srgbClr val="1F2D3A"/>
                </a:solidFill>
              </a:rPr>
              <a:t> (derleyici/OS korumaları)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En son okumayı zorlaştır</a:t>
            </a:r>
            <a:r>
              <a:rPr sz="2000" b="0">
                <a:solidFill>
                  <a:srgbClr val="1F2D3A"/>
                </a:solidFill>
              </a:rPr>
              <a:t> (gizleme)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Gizleme, hatayı </a:t>
            </a:r>
            <a:r>
              <a:rPr sz="2000" b="1">
                <a:solidFill>
                  <a:srgbClr val="1F2D3A"/>
                </a:solidFill>
              </a:rPr>
              <a:t>düzeltmez.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sıra?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Hatalı koda koruma eklemek, çürük temele boya çekmek gibidir.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hatayı </a:t>
            </a:r>
            <a:r>
              <a:rPr sz="2000" b="1">
                <a:solidFill>
                  <a:srgbClr val="1F2D3A"/>
                </a:solidFill>
              </a:rPr>
              <a:t>kaldır</a:t>
            </a:r>
            <a:r>
              <a:rPr sz="2000" b="0">
                <a:solidFill>
                  <a:srgbClr val="1F2D3A"/>
                </a:solidFill>
              </a:rPr>
              <a:t>; sonra kaçanı </a:t>
            </a:r>
            <a:r>
              <a:rPr sz="2000" b="1">
                <a:solidFill>
                  <a:srgbClr val="1F2D3A"/>
                </a:solidFill>
              </a:rPr>
              <a:t>yakala</a:t>
            </a:r>
            <a:r>
              <a:rPr sz="2000" b="0">
                <a:solidFill>
                  <a:srgbClr val="1F2D3A"/>
                </a:solidFill>
              </a:rPr>
              <a:t>; en son tersine mühendisliği </a:t>
            </a:r>
            <a:r>
              <a:rPr sz="2000" b="1">
                <a:solidFill>
                  <a:srgbClr val="1F2D3A"/>
                </a:solidFill>
              </a:rPr>
              <a:t>yavaşlat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 üçünü de göreceğiz, bu sırayla.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Bellek: yığın ve öbek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Yığın (stack):</a:t>
            </a:r>
            <a:r>
              <a:rPr sz="2000" b="0">
                <a:solidFill>
                  <a:srgbClr val="1F2D3A"/>
                </a:solidFill>
              </a:rPr>
              <a:t> fonksiyon çağrılarının yerel değişkenlerini tuttuğu, otomatik yönetilen bellek.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Öbek (heap):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new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elle</a:t>
            </a:r>
            <a:r>
              <a:rPr sz="2000" b="0">
                <a:solidFill>
                  <a:srgbClr val="1F2D3A"/>
                </a:solidFill>
              </a:rPr>
              <a:t> ayrılan,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delete</a:t>
            </a:r>
            <a:r>
              <a:rPr sz="2000" b="0">
                <a:solidFill>
                  <a:srgbClr val="1F2D3A"/>
                </a:solidFill>
              </a:rPr>
              <a:t> ile bırakılan bellek.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 de taşma ve hata kaynağı olabilir.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İşaretçi (pointer)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İşaretçi:</a:t>
            </a:r>
            <a:r>
              <a:rPr sz="2000" b="0">
                <a:solidFill>
                  <a:srgbClr val="1F2D3A"/>
                </a:solidFill>
              </a:rPr>
              <a:t> bir bellek </a:t>
            </a:r>
            <a:r>
              <a:rPr sz="2000" b="1">
                <a:solidFill>
                  <a:srgbClr val="1F2D3A"/>
                </a:solidFill>
              </a:rPr>
              <a:t>adresini</a:t>
            </a:r>
            <a:r>
              <a:rPr sz="2000" b="0">
                <a:solidFill>
                  <a:srgbClr val="1F2D3A"/>
                </a:solidFill>
              </a:rPr>
              <a:t> tutan değişken.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p</a:t>
            </a:r>
            <a:r>
              <a:rPr sz="2000" b="0">
                <a:solidFill>
                  <a:srgbClr val="1F2D3A"/>
                </a:solidFill>
              </a:rPr>
              <a:t> bir adres; </a:t>
            </a:r>
            <a:r>
              <a:rPr sz="2000" b="0">
                <a:solidFill>
                  <a:srgbClr val="A1123F"/>
                </a:solidFill>
                <a:latin typeface="Consolas"/>
              </a:rPr>
              <a:t>*p</a:t>
            </a:r>
            <a:r>
              <a:rPr sz="2000" b="0">
                <a:solidFill>
                  <a:srgbClr val="1F2D3A"/>
                </a:solidFill>
              </a:rPr>
              <a:t> o adresteki değer.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adres → çökme ya da yanlış veri.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Tampon (buffer) ve taşma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Tampon:</a:t>
            </a:r>
            <a:r>
              <a:rPr sz="2000" b="0">
                <a:solidFill>
                  <a:srgbClr val="1F2D3A"/>
                </a:solidFill>
              </a:rPr>
              <a:t> ardışık bellek bloğu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char ad[16]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Taşma (buffer overflow):</a:t>
            </a:r>
            <a:r>
              <a:rPr sz="2000" b="0">
                <a:solidFill>
                  <a:srgbClr val="1F2D3A"/>
                </a:solidFill>
              </a:rPr>
              <a:t> tampona </a:t>
            </a:r>
            <a:r>
              <a:rPr sz="2000" b="1">
                <a:solidFill>
                  <a:srgbClr val="1F2D3A"/>
                </a:solidFill>
              </a:rPr>
              <a:t>sığmayan</a:t>
            </a:r>
            <a:r>
              <a:rPr sz="2000" b="0">
                <a:solidFill>
                  <a:srgbClr val="1F2D3A"/>
                </a:solidFill>
              </a:rPr>
              <a:t> kadar veri yazmak → komşu belleği bozar.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Klasik ve tehlikeli bir hata sınıfı.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taşma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Komşu değişkenleri, dönüş adresini bozabilir.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 </a:t>
            </a:r>
            <a:r>
              <a:rPr sz="2000" b="1">
                <a:solidFill>
                  <a:srgbClr val="1F2D3A"/>
                </a:solidFill>
              </a:rPr>
              <a:t>denetim akışını</a:t>
            </a:r>
            <a:r>
              <a:rPr sz="2000" b="0">
                <a:solidFill>
                  <a:srgbClr val="1F2D3A"/>
                </a:solidFill>
              </a:rPr>
              <a:t> ele geçirmek için kullanabilir.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</a:t>
            </a:r>
            <a:r>
              <a:rPr sz="2000" b="1">
                <a:solidFill>
                  <a:srgbClr val="1F2D3A"/>
                </a:solidFill>
              </a:rPr>
              <a:t>sınır denetimi</a:t>
            </a:r>
            <a:r>
              <a:rPr sz="2000" b="0">
                <a:solidFill>
                  <a:srgbClr val="1F2D3A"/>
                </a:solidFill>
              </a:rPr>
              <a:t> hayatidir.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Tanımsız davranış (UB)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Tanımsız davranış (undefined behavior):</a:t>
            </a:r>
            <a:r>
              <a:rPr sz="2000" b="0">
                <a:solidFill>
                  <a:srgbClr val="1F2D3A"/>
                </a:solidFill>
              </a:rPr>
              <a:t> C/C++ standardının "sonucu belirsiz" dediği durumlar.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işaretli tamsayı taşması, dizinin dışına erişim.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 bunu </a:t>
            </a:r>
            <a:r>
              <a:rPr sz="2000" b="1">
                <a:solidFill>
                  <a:srgbClr val="1F2D3A"/>
                </a:solidFill>
              </a:rPr>
              <a:t>istediği gibi</a:t>
            </a:r>
            <a:r>
              <a:rPr sz="2000" b="0">
                <a:solidFill>
                  <a:srgbClr val="1F2D3A"/>
                </a:solidFill>
              </a:rPr>
              <a:t> ele alabilir — hatta ilgili denetimi </a:t>
            </a:r>
            <a:r>
              <a:rPr sz="2000" b="1">
                <a:solidFill>
                  <a:srgbClr val="1F2D3A"/>
                </a:solidFill>
              </a:rPr>
              <a:t>silebilir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Derleyici bayrağı (flag)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Bayrak:</a:t>
            </a:r>
            <a:r>
              <a:rPr sz="2000" b="0">
                <a:solidFill>
                  <a:srgbClr val="1F2D3A"/>
                </a:solidFill>
              </a:rPr>
              <a:t> derleyiciye verilen seçenek.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-O2</a:t>
            </a:r>
            <a:r>
              <a:rPr sz="2000" b="0">
                <a:solidFill>
                  <a:srgbClr val="1F2D3A"/>
                </a:solidFill>
              </a:rPr>
              <a:t> (optimizasyon), </a:t>
            </a:r>
            <a:r>
              <a:rPr sz="2000" b="0">
                <a:solidFill>
                  <a:srgbClr val="A1123F"/>
                </a:solidFill>
                <a:latin typeface="Consolas"/>
              </a:rPr>
              <a:t>-Wall</a:t>
            </a:r>
            <a:r>
              <a:rPr sz="2000" b="0">
                <a:solidFill>
                  <a:srgbClr val="1F2D3A"/>
                </a:solidFill>
              </a:rPr>
              <a:t> (uyarılar),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-fsanitize=address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 bayraklar birçok hatayı </a:t>
            </a:r>
            <a:r>
              <a:rPr sz="2000" b="1">
                <a:solidFill>
                  <a:srgbClr val="1F2D3A"/>
                </a:solidFill>
              </a:rPr>
              <a:t>derleme anında</a:t>
            </a:r>
            <a:r>
              <a:rPr sz="2000" b="0">
                <a:solidFill>
                  <a:srgbClr val="1F2D3A"/>
                </a:solidFill>
              </a:rPr>
              <a:t> yakalar.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Uyarı (warning) vs hata (error)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Hata:</a:t>
            </a:r>
            <a:r>
              <a:rPr sz="2000" b="0">
                <a:solidFill>
                  <a:srgbClr val="1F2D3A"/>
                </a:solidFill>
              </a:rPr>
              <a:t> derleme 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Uyarı:</a:t>
            </a:r>
            <a:r>
              <a:rPr sz="2000" b="0">
                <a:solidFill>
                  <a:srgbClr val="1F2D3A"/>
                </a:solidFill>
              </a:rPr>
              <a:t> derleme sürer ama bir sorun bildirilir.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Kural: uyarıları </a:t>
            </a:r>
            <a:r>
              <a:rPr sz="2000" b="1">
                <a:solidFill>
                  <a:srgbClr val="1F2D3A"/>
                </a:solidFill>
              </a:rPr>
              <a:t>hataya çevir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-Werror</a:t>
            </a:r>
            <a:r>
              <a:rPr sz="2000" b="0">
                <a:solidFill>
                  <a:srgbClr val="1F2D3A"/>
                </a:solidFill>
              </a:rPr>
              <a:t>) — görmezden gelinen uyarı, gelecekteki açıktır.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 (Common Weakness Enumeration):</a:t>
            </a:r>
            <a:r>
              <a:rPr sz="2000" b="0">
                <a:solidFill>
                  <a:srgbClr val="1F2D3A"/>
                </a:solidFill>
              </a:rPr>
              <a:t> yazılım zayıflıklarının numaralı kataloğu.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CWE-416 = "use-after-free".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bulguyu CWE numarasıyla adlandırmak, onu </a:t>
            </a:r>
            <a:r>
              <a:rPr sz="2000" b="1">
                <a:solidFill>
                  <a:srgbClr val="1F2D3A"/>
                </a:solidFill>
              </a:rPr>
              <a:t>aranabilir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SEI CERT C/C++:</a:t>
            </a:r>
            <a:r>
              <a:rPr sz="2000" b="0">
                <a:solidFill>
                  <a:srgbClr val="1F2D3A"/>
                </a:solidFill>
              </a:rPr>
              <a:t> güvenli kodlamanın </a:t>
            </a:r>
            <a:r>
              <a:rPr sz="2000" b="1">
                <a:solidFill>
                  <a:srgbClr val="1F2D3A"/>
                </a:solidFill>
              </a:rPr>
              <a:t>kural kitabı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kural: hatalı örnek + uyumlu çözüm + risk + CWE bağı.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STR31-C</a:t>
            </a:r>
            <a:r>
              <a:rPr sz="2000" b="0">
                <a:solidFill>
                  <a:srgbClr val="1F2D3A"/>
                </a:solidFill>
              </a:rPr>
              <a:t> = dizgeye yeterli yer ayır.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Statik vs dinamik analiz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Statik analiz:</a:t>
            </a:r>
            <a:r>
              <a:rPr sz="2000" b="0">
                <a:solidFill>
                  <a:srgbClr val="1F2D3A"/>
                </a:solidFill>
              </a:rPr>
              <a:t> kodu </a:t>
            </a:r>
            <a:r>
              <a:rPr sz="2000" b="1">
                <a:solidFill>
                  <a:srgbClr val="1F2D3A"/>
                </a:solidFill>
              </a:rPr>
              <a:t>çalıştırmadan</a:t>
            </a:r>
            <a:r>
              <a:rPr sz="2000" b="0">
                <a:solidFill>
                  <a:srgbClr val="1F2D3A"/>
                </a:solidFill>
              </a:rPr>
              <a:t> inceleme (derleyici uyarıları, clang-tidy).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Dinamik analiz:</a:t>
            </a:r>
            <a:r>
              <a:rPr sz="2000" b="0">
                <a:solidFill>
                  <a:srgbClr val="1F2D3A"/>
                </a:solidFill>
              </a:rPr>
              <a:t> kodu </a:t>
            </a:r>
            <a:r>
              <a:rPr sz="2000" b="1">
                <a:solidFill>
                  <a:srgbClr val="1F2D3A"/>
                </a:solidFill>
              </a:rPr>
              <a:t>çalıştırırken</a:t>
            </a:r>
            <a:r>
              <a:rPr sz="2000" b="0">
                <a:solidFill>
                  <a:srgbClr val="1F2D3A"/>
                </a:solidFill>
              </a:rPr>
              <a:t> izleme (sanitizer'lar).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birbirini tamamlar.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Sanitizer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Sanitizer:</a:t>
            </a:r>
            <a:r>
              <a:rPr sz="2000" b="0">
                <a:solidFill>
                  <a:srgbClr val="1F2D3A"/>
                </a:solidFill>
              </a:rPr>
              <a:t> programı çalıştırırken bellek/UB hatalarını yakalayan derleyici aracı.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1">
                <a:solidFill>
                  <a:srgbClr val="1F2D3A"/>
                </a:solidFill>
              </a:rPr>
              <a:t>ASan</a:t>
            </a:r>
            <a:r>
              <a:rPr sz="2000" b="0">
                <a:solidFill>
                  <a:srgbClr val="1F2D3A"/>
                </a:solidFill>
              </a:rPr>
              <a:t> (adres), </a:t>
            </a:r>
            <a:r>
              <a:rPr sz="2000" b="1">
                <a:solidFill>
                  <a:srgbClr val="1F2D3A"/>
                </a:solidFill>
              </a:rPr>
              <a:t>UBSan</a:t>
            </a:r>
            <a:r>
              <a:rPr sz="2000" b="0">
                <a:solidFill>
                  <a:srgbClr val="1F2D3A"/>
                </a:solidFill>
              </a:rPr>
              <a:t> (tanımsız davranış).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Sürüme gitmez; </a:t>
            </a:r>
            <a:r>
              <a:rPr sz="2000" b="1">
                <a:solidFill>
                  <a:srgbClr val="1F2D3A"/>
                </a:solidFill>
              </a:rPr>
              <a:t>test/CI</a:t>
            </a:r>
            <a:r>
              <a:rPr sz="2000" b="0">
                <a:solidFill>
                  <a:srgbClr val="1F2D3A"/>
                </a:solidFill>
              </a:rPr>
              <a:t>'da kullanılır.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Fuzzing:</a:t>
            </a:r>
            <a:r>
              <a:rPr sz="2000" b="0">
                <a:solidFill>
                  <a:srgbClr val="1F2D3A"/>
                </a:solidFill>
              </a:rPr>
              <a:t> programa </a:t>
            </a:r>
            <a:r>
              <a:rPr sz="2000" b="1">
                <a:solidFill>
                  <a:srgbClr val="1F2D3A"/>
                </a:solidFill>
              </a:rPr>
              <a:t>rastgele/beklenmeyen</a:t>
            </a:r>
            <a:r>
              <a:rPr sz="2000" b="0">
                <a:solidFill>
                  <a:srgbClr val="1F2D3A"/>
                </a:solidFill>
              </a:rPr>
              <a:t> girdiler verip çökme aramak.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İnsanın düşünmediği girdileri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Sanitizer'la birlikte çok güçlü.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ASLR, NX/DEP, kanarya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ASLR:</a:t>
            </a:r>
            <a:r>
              <a:rPr sz="2000" b="0">
                <a:solidFill>
                  <a:srgbClr val="1F2D3A"/>
                </a:solidFill>
              </a:rPr>
              <a:t> bellek adreslerini </a:t>
            </a:r>
            <a:r>
              <a:rPr sz="2000" b="1">
                <a:solidFill>
                  <a:srgbClr val="1F2D3A"/>
                </a:solidFill>
              </a:rPr>
              <a:t>rastgeleleştirir</a:t>
            </a:r>
            <a:r>
              <a:rPr sz="2000" b="0">
                <a:solidFill>
                  <a:srgbClr val="1F2D3A"/>
                </a:solidFill>
              </a:rPr>
              <a:t> (saldırgan adresi tahmin edemesin).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NX/DEP:</a:t>
            </a:r>
            <a:r>
              <a:rPr sz="2000" b="0">
                <a:solidFill>
                  <a:srgbClr val="1F2D3A"/>
                </a:solidFill>
              </a:rPr>
              <a:t> veri bölgesindeki baytları </a:t>
            </a:r>
            <a:r>
              <a:rPr sz="2000" b="1">
                <a:solidFill>
                  <a:srgbClr val="1F2D3A"/>
                </a:solidFill>
              </a:rPr>
              <a:t>kod olarak çalıştırmayı</a:t>
            </a:r>
            <a:r>
              <a:rPr sz="2000" b="0">
                <a:solidFill>
                  <a:srgbClr val="1F2D3A"/>
                </a:solidFill>
              </a:rPr>
              <a:t> engeller.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Yığın kanaryası:</a:t>
            </a:r>
            <a:r>
              <a:rPr sz="2000" b="0">
                <a:solidFill>
                  <a:srgbClr val="1F2D3A"/>
                </a:solidFill>
              </a:rPr>
              <a:t> dönüş adresinden önce bir </a:t>
            </a:r>
            <a:r>
              <a:rPr sz="2000" b="1">
                <a:solidFill>
                  <a:srgbClr val="1F2D3A"/>
                </a:solidFill>
              </a:rPr>
              <a:t>nöbetçi değer</a:t>
            </a:r>
            <a:r>
              <a:rPr sz="2000" b="0">
                <a:solidFill>
                  <a:srgbClr val="1F2D3A"/>
                </a:solidFill>
              </a:rPr>
              <a:t>; taşma onu bozarsa program durur.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 saldırgan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Programa sahip saldırgan (1. hafta MATE).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Dizgeleri okur, fonksiyonları adıyla bulur, denetimi atlar.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bölümünde (bugün sonunda) buna döneceğiz.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saldırgan modeli — şema</a:t>
            </a:r>
          </a:p>
        </p:txBody>
      </p:sp>
      <p:pic>
        <p:nvPicPr>
          <p:cNvPr id="7" name="Picture 6" descr="h04-17-iki-saldirgan-mode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29419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 (sürekli entegrasyon)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 (Continuous Integration):</a:t>
            </a:r>
            <a:r>
              <a:rPr sz="2000" b="0">
                <a:solidFill>
                  <a:srgbClr val="1F2D3A"/>
                </a:solidFill>
              </a:rPr>
              <a:t> her kod değişikliğinde otomatik derleme + test çalıştıran sistem.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araçlarını (uyarı, statik analiz, sanitizer, fuzzing) </a:t>
            </a:r>
            <a:r>
              <a:rPr sz="2000" b="1">
                <a:solidFill>
                  <a:srgbClr val="1F2D3A"/>
                </a:solidFill>
              </a:rPr>
              <a:t>her birleştirmede</a:t>
            </a:r>
            <a:r>
              <a:rPr sz="2000" b="0">
                <a:solidFill>
                  <a:srgbClr val="1F2D3A"/>
                </a:solidFill>
              </a:rPr>
              <a:t> koşturur.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yığın/öbek · işaretçi · tampon/taşma · UB · bayrak · uyarı/hata · CWE · CERT · statik/dinamik · sanitizer · fuzzing · ASLR/NX/kanarya · 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kod sağlamlaştırmanın katmanları.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Katmanlar ve SEI CERT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kuralının anatomisi — şema</a:t>
            </a:r>
          </a:p>
        </p:txBody>
      </p:sp>
      <p:pic>
        <p:nvPicPr>
          <p:cNvPr id="7" name="Picture 6" descr="h04-15-cert-kural-anatom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041511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katman — şema</a:t>
            </a:r>
          </a:p>
        </p:txBody>
      </p:sp>
      <p:pic>
        <p:nvPicPr>
          <p:cNvPr id="7" name="Picture 6" descr="h04-05-uc-katm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34931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2 · Güvenli kodlama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kodumda hata var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Araçlar:</a:t>
            </a:r>
            <a:r>
              <a:rPr sz="2000" b="0">
                <a:solidFill>
                  <a:srgbClr val="1F2D3A"/>
                </a:solidFill>
              </a:rPr>
              <a:t> CERT kuralları, sanitizer, fuzzing.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hatayı en baştan </a:t>
            </a:r>
            <a:r>
              <a:rPr sz="2000" b="1">
                <a:solidFill>
                  <a:srgbClr val="1F2D3A"/>
                </a:solidFill>
              </a:rPr>
              <a:t>yazmamak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3 · Derleyici/OS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hata kaçarsa sömürü zor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Araçlar:</a:t>
            </a:r>
            <a:r>
              <a:rPr sz="2000" b="0">
                <a:solidFill>
                  <a:srgbClr val="1F2D3A"/>
                </a:solidFill>
              </a:rPr>
              <a:t> kanarya, FORTIFY, ASLR, NX, RELRO, CFI.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kalan hatanın </a:t>
            </a:r>
            <a:r>
              <a:rPr sz="2000" b="1">
                <a:solidFill>
                  <a:srgbClr val="1F2D3A"/>
                </a:solidFill>
              </a:rPr>
              <a:t>istismarını</a:t>
            </a:r>
            <a:r>
              <a:rPr sz="2000" b="0">
                <a:solidFill>
                  <a:srgbClr val="1F2D3A"/>
                </a:solidFill>
              </a:rPr>
              <a:t> pahalı kılmak.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4 ·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kodu okuyan anlıyor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Araçlar:</a:t>
            </a:r>
            <a:r>
              <a:rPr sz="2000" b="0">
                <a:solidFill>
                  <a:srgbClr val="1F2D3A"/>
                </a:solidFill>
              </a:rPr>
              <a:t> sembol/dize gizleme, günlük kaldırma, düzleştirme.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tersine mühendisliği </a:t>
            </a:r>
            <a:r>
              <a:rPr sz="2000" b="1">
                <a:solidFill>
                  <a:srgbClr val="1F2D3A"/>
                </a:solidFill>
              </a:rPr>
              <a:t>yavaşlatmak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Sahadan: şema gereksinimleri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Sertifikalı bir üründe: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"Yaygın zafiyetler ele alınmalı: hassas veri, enjeksiyon, taşma, dile özgü zayıflıklar"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"Savunmacı programlama </a:t>
            </a:r>
            <a:r>
              <a:rPr sz="2000" b="1">
                <a:solidFill>
                  <a:srgbClr val="1F2D3A"/>
                </a:solidFill>
              </a:rPr>
              <a:t>kodun tamamında tutarlı</a:t>
            </a:r>
            <a:r>
              <a:rPr sz="2000" b="0">
                <a:solidFill>
                  <a:srgbClr val="1F2D3A"/>
                </a:solidFill>
              </a:rPr>
              <a:t>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"Statik ve dinamik tersine mühendisliğe karşı koruma"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34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Yalnız native tarafta </a:t>
            </a:r>
            <a:r>
              <a:rPr sz="2000" b="1">
                <a:solidFill>
                  <a:srgbClr val="1F2D3A"/>
                </a:solidFill>
              </a:rPr>
              <a:t>18 sağlamlaştırma önlemi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SEI CERT: bir kural neye benzer?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CERT kuralının parçaları: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Kimlik: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STR31-C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MEM50-CPP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Başlık:</a:t>
            </a:r>
            <a:r>
              <a:rPr sz="2000" b="0">
                <a:solidFill>
                  <a:srgbClr val="1F2D3A"/>
                </a:solidFill>
              </a:rPr>
              <a:t> tek cümle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Hatalı örnek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uyumlu çözüm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Risk düzeyi</a:t>
            </a:r>
            <a:r>
              <a:rPr sz="2000" b="0">
                <a:solidFill>
                  <a:srgbClr val="1F2D3A"/>
                </a:solidFill>
              </a:rPr>
              <a:t> (L1/L2/L3) ve </a:t>
            </a:r>
            <a:r>
              <a:rPr sz="2000" b="1">
                <a:solidFill>
                  <a:srgbClr val="1F2D3A"/>
                </a:solidFill>
              </a:rPr>
              <a:t>CWE</a:t>
            </a:r>
            <a:r>
              <a:rPr sz="2000" b="0">
                <a:solidFill>
                  <a:srgbClr val="1F2D3A"/>
                </a:solidFill>
              </a:rPr>
              <a:t> bağı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mı, öneri mi?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Kural (rule):</a:t>
            </a:r>
            <a:r>
              <a:rPr sz="2000" b="0">
                <a:solidFill>
                  <a:srgbClr val="1F2D3A"/>
                </a:solidFill>
              </a:rPr>
              <a:t> ihlali bir </a:t>
            </a:r>
            <a:r>
              <a:rPr sz="2000" b="1">
                <a:solidFill>
                  <a:srgbClr val="1F2D3A"/>
                </a:solidFill>
              </a:rPr>
              <a:t>zafiyettir</a:t>
            </a:r>
            <a:r>
              <a:rPr sz="2000" b="0">
                <a:solidFill>
                  <a:srgbClr val="1F2D3A"/>
                </a:solidFill>
              </a:rPr>
              <a:t>, denetlenebilir.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Öneri (recommendation):</a:t>
            </a:r>
            <a:r>
              <a:rPr sz="2000" b="0">
                <a:solidFill>
                  <a:srgbClr val="1F2D3A"/>
                </a:solidFill>
              </a:rPr>
              <a:t> iyi uygulama.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İncelemeye </a:t>
            </a:r>
            <a:r>
              <a:rPr sz="2000" b="1">
                <a:solidFill>
                  <a:srgbClr val="1F2D3A"/>
                </a:solidFill>
              </a:rPr>
              <a:t>L1</a:t>
            </a:r>
            <a:r>
              <a:rPr sz="2000" b="0">
                <a:solidFill>
                  <a:srgbClr val="1F2D3A"/>
                </a:solidFill>
              </a:rPr>
              <a:t> (en yüksek risk) kurallarından başla.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Risk düzeyi nasıl belirlenir?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Risk = </a:t>
            </a:r>
            <a:r>
              <a:rPr sz="2000" b="1">
                <a:solidFill>
                  <a:srgbClr val="1F2D3A"/>
                </a:solidFill>
              </a:rPr>
              <a:t>önem × olasılık × düzeltme maliyeti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L1:</a:t>
            </a:r>
            <a:r>
              <a:rPr sz="2000" b="0">
                <a:solidFill>
                  <a:srgbClr val="1F2D3A"/>
                </a:solidFill>
              </a:rPr>
              <a:t> yüksek risk, önce bunlar.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L2 / L3:</a:t>
            </a:r>
            <a:r>
              <a:rPr sz="2000" b="0">
                <a:solidFill>
                  <a:srgbClr val="1F2D3A"/>
                </a:solidFill>
              </a:rPr>
              <a:t> giderek düşer.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CERT kategorileri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0548"/>
                <a:gridCol w="2182307"/>
                <a:gridCol w="685867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Kısaltma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Kategori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Tamsayılar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INT32-C: işaretli taşmaya izin verme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ARR/STR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Dizi/dizge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STR31-C: yeterli yer 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MEM30-C: bırakılmış belleğe erişme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Dosya G/Ç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FIO30-C: girdiyi biçim dizgesinden dışla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CERT kategorileri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8697"/>
                <a:gridCol w="3357395"/>
                <a:gridCol w="5875441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Kısaltma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Kategori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ENV33-C: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system()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çağırma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Sinyaller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SIG30-C: işleyicide yalnız güvenli fn.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işleme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ERR33-C: kütüphane hatasını algıla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CON/MSC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Eşzamanlılık/çeşitli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CON43-C, MSC32-C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C++: MEM50-CPP, CTR50-CPP, STR50-CPP, EXP53-CPP, ERR50-CPP.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Otomatik CERT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Uyarılar: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-Wall -Wextra -Wformat=2 -Wconversion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clang-tidy cert-*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cppcheck --addon=cert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MSVC </a:t>
            </a:r>
            <a:r>
              <a:rPr sz="2000" b="0">
                <a:solidFill>
                  <a:srgbClr val="A1123F"/>
                </a:solidFill>
                <a:latin typeface="Consolas"/>
              </a:rPr>
              <a:t>/analyze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07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önce bu taramayı çalıştırır, sonra elle okur.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Girdi doğrulama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Girdi doğrulama — şema</a:t>
            </a:r>
          </a:p>
        </p:txBody>
      </p:sp>
      <p:pic>
        <p:nvPicPr>
          <p:cNvPr id="7" name="Picture 6" descr="h04-06-girdi-dogru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Girdi nereden gelir?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Sandığınızdan çok yerden. Ve </a:t>
            </a:r>
            <a:r>
              <a:rPr sz="2000" b="1">
                <a:solidFill>
                  <a:srgbClr val="1F2D3A"/>
                </a:solidFill>
              </a:rPr>
              <a:t>hepsi güvenilmez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satırı, ortam değişkenleri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Dosya, ağ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IPC (aynı makinedeki başka süreç)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Veritabanı, kütüphane arayüzü (JNI)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unutulan girdiler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argv[0]</a:t>
            </a:r>
            <a:r>
              <a:rPr sz="2000" b="0">
                <a:solidFill>
                  <a:srgbClr val="1F2D3A"/>
                </a:solidFill>
              </a:rPr>
              <a:t> bile saldırganın olabilir; </a:t>
            </a:r>
            <a:r>
              <a:rPr sz="2000" b="0">
                <a:solidFill>
                  <a:srgbClr val="A1123F"/>
                </a:solidFill>
                <a:latin typeface="Consolas"/>
              </a:rPr>
              <a:t>PATH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LANG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 biçimindeki </a:t>
            </a:r>
            <a:r>
              <a:rPr sz="2000" b="1">
                <a:solidFill>
                  <a:srgbClr val="1F2D3A"/>
                </a:solidFill>
              </a:rPr>
              <a:t>uzunluk alanları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Ağ: "16 bayt" der, 1 bayt gönderir.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"Kendi verimiz" sonradan değişmiş olabilir.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Girdi doğrulamanın beş ilkesi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Beyaz liste</a:t>
            </a:r>
            <a:r>
              <a:rPr sz="2000" b="0">
                <a:solidFill>
                  <a:srgbClr val="1F2D3A"/>
                </a:solidFill>
              </a:rPr>
              <a:t> (izin verilenleri say), kara liste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kanonikleştir</a:t>
            </a:r>
            <a:r>
              <a:rPr sz="2000" b="0">
                <a:solidFill>
                  <a:srgbClr val="1F2D3A"/>
                </a:solidFill>
              </a:rPr>
              <a:t>, sonra doğrula.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Uzunluk → tür → aralık → biçim</a:t>
            </a:r>
            <a:r>
              <a:rPr sz="2000" b="0">
                <a:solidFill>
                  <a:srgbClr val="1F2D3A"/>
                </a:solidFill>
              </a:rPr>
              <a:t> sırasıyla.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Güven sınırında</a:t>
            </a:r>
            <a:r>
              <a:rPr sz="2000" b="0">
                <a:solidFill>
                  <a:srgbClr val="1F2D3A"/>
                </a:solidFill>
              </a:rPr>
              <a:t>, en erken noktada.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, "temizleyip" kullanma.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1 · Beyaz liste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 liste:</a:t>
            </a:r>
            <a:r>
              <a:rPr sz="2000" b="0">
                <a:solidFill>
                  <a:srgbClr val="1F2D3A"/>
                </a:solidFill>
              </a:rPr>
              <a:t> "şunlar yasak" — hep bir şey unutulur.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liste:</a:t>
            </a:r>
            <a:r>
              <a:rPr sz="2000" b="0">
                <a:solidFill>
                  <a:srgbClr val="1F2D3A"/>
                </a:solidFill>
              </a:rPr>
              <a:t> "yalnız şunlar serbest" — güvenli varsayılan.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Örnek: kullanıcı adı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[a-z0-9_]</a:t>
            </a:r>
            <a:r>
              <a:rPr sz="2000" b="0">
                <a:solidFill>
                  <a:srgbClr val="1F2D3A"/>
                </a:solidFill>
              </a:rPr>
              <a:t> olsun.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2 · Kanonikleştir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şeyin farklı yazımları: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/tmp/../etc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%2e%2e/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tek biçime</a:t>
            </a:r>
            <a:r>
              <a:rPr sz="2000" b="0">
                <a:solidFill>
                  <a:srgbClr val="1F2D3A"/>
                </a:solidFill>
              </a:rPr>
              <a:t> indir (kanonikleştir), sonra denetle.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Yoksa denetim atlatılır.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3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atoi</a:t>
            </a:r>
            <a:r>
              <a:rPr sz="3000" b="1">
                <a:solidFill>
                  <a:srgbClr val="006D77"/>
                </a:solidFill>
              </a:rPr>
              <a:t> değil </a:t>
            </a:r>
            <a:r>
              <a:rPr sz="3000" b="1">
                <a:solidFill>
                  <a:srgbClr val="006D77"/>
                </a:solidFill>
                <a:latin typeface="Consolas"/>
              </a:rPr>
              <a:t>strtol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errno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long v = strtol(s, &amp;son, 10);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(son == s)        return -1;  /* rakam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(*son != '\0')    return -1;  /* "12abc"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(errno == ERANGE) return -1;  /* taştı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(v &lt; en_az || v &gt; en_cok) return -1;  /* iş kuralı */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</a:t>
            </a:r>
            <a:r>
              <a:rPr sz="3000" b="1">
                <a:solidFill>
                  <a:srgbClr val="006D77"/>
                </a:solidFill>
                <a:latin typeface="Consolas"/>
              </a:rPr>
              <a:t>atoi</a:t>
            </a:r>
            <a:r>
              <a:rPr sz="3000" b="1">
                <a:solidFill>
                  <a:srgbClr val="006D77"/>
                </a:solidFill>
              </a:rPr>
              <a:t>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atoi("abc")</a:t>
            </a:r>
            <a:r>
              <a:rPr sz="2000" b="0">
                <a:solidFill>
                  <a:srgbClr val="1F2D3A"/>
                </a:solidFill>
              </a:rPr>
              <a:t> = 0 (hata sessiz)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atoi("99999999999")</a:t>
            </a:r>
            <a:r>
              <a:rPr sz="2000" b="0">
                <a:solidFill>
                  <a:srgbClr val="1F2D3A"/>
                </a:solidFill>
              </a:rPr>
              <a:t> = </a:t>
            </a:r>
            <a:r>
              <a:rPr sz="2000" b="1">
                <a:solidFill>
                  <a:srgbClr val="1F2D3A"/>
                </a:solidFill>
              </a:rPr>
              <a:t>tanımsız</a:t>
            </a:r>
            <a:r>
              <a:rPr sz="2000" b="0">
                <a:solidFill>
                  <a:srgbClr val="1F2D3A"/>
                </a:solidFill>
              </a:rPr>
              <a:t> (taşma)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atoi("12abc")</a:t>
            </a:r>
            <a:r>
              <a:rPr sz="2000" b="0">
                <a:solidFill>
                  <a:srgbClr val="1F2D3A"/>
                </a:solidFill>
              </a:rPr>
              <a:t> = 12 (fazlalık yok sayılır)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her hatayı </a:t>
            </a:r>
            <a:r>
              <a:rPr sz="2000" b="1">
                <a:solidFill>
                  <a:srgbClr val="1F2D3A"/>
                </a:solidFill>
              </a:rPr>
              <a:t>size bildirir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</a:t>
            </a:r>
            <a:r>
              <a:rPr sz="2000" b="0">
                <a:solidFill>
                  <a:srgbClr val="1F2D3A"/>
                </a:solidFill>
              </a:rPr>
              <a:t> bildirmez.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3 · uzunluk önekli kayıt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(kalan &lt; 3) return -1;                  /* başlık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uint16_t uzunluk = tampon[1] &lt;&lt; 8 | tampon[2];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kalan - 3)      return -1;   /* KAYNAK: bildirilen &gt; gelen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sizeof k-&gt;veri) return -1;   /* HEDEF: sığmıyor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memcpy(k-&gt;veri, tampon + 3, uzunluk);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ayrı denetim, doğru sıra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Kaynak denetimi:</a:t>
            </a:r>
            <a:r>
              <a:rPr sz="2000" b="0">
                <a:solidFill>
                  <a:srgbClr val="1F2D3A"/>
                </a:solidFill>
              </a:rPr>
              <a:t> bildirilen uzunluk, gelen veriden büyük mü?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Hedef denetimi:</a:t>
            </a:r>
            <a:r>
              <a:rPr sz="2000" b="0">
                <a:solidFill>
                  <a:srgbClr val="1F2D3A"/>
                </a:solidFill>
              </a:rPr>
              <a:t> hedef tampona sığıyor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Sıra: </a:t>
            </a:r>
            <a:r>
              <a:rPr sz="2000" b="0">
                <a:solidFill>
                  <a:srgbClr val="A1123F"/>
                </a:solidFill>
                <a:latin typeface="Consolas"/>
              </a:rPr>
              <a:t>kalan - 3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sarmasın</a:t>
            </a:r>
            <a:r>
              <a:rPr sz="2000" b="0">
                <a:solidFill>
                  <a:srgbClr val="1F2D3A"/>
                </a:solidFill>
              </a:rPr>
              <a:t> diye önce </a:t>
            </a:r>
            <a:r>
              <a:rPr sz="2000" b="0">
                <a:solidFill>
                  <a:srgbClr val="A1123F"/>
                </a:solidFill>
                <a:latin typeface="Consolas"/>
              </a:rPr>
              <a:t>kalan &lt; 3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Sahada: JNI'den gelen her dizi native tarafta </a:t>
            </a:r>
            <a:r>
              <a:rPr sz="2000" b="1">
                <a:solidFill>
                  <a:srgbClr val="1F2D3A"/>
                </a:solidFill>
              </a:rPr>
              <a:t>yeniden</a:t>
            </a:r>
            <a:r>
              <a:rPr sz="2000" b="0">
                <a:solidFill>
                  <a:srgbClr val="1F2D3A"/>
                </a:solidFill>
              </a:rPr>
              <a:t> doğrulanır.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STR31-C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strcpy(kopya, ad);                       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n = snprintf(kopya, sizeof kopya, "%s", ad);/* UYUMLU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(n &lt; 0 || (size_t)n &gt;= sizeof kopya) { /* kesildi */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sınır bilmez; </a:t>
            </a:r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 boyutu bilir ve </a:t>
            </a:r>
            <a:r>
              <a:rPr sz="2000" b="1">
                <a:solidFill>
                  <a:srgbClr val="1F2D3A"/>
                </a:solidFill>
              </a:rPr>
              <a:t>kesilmeyi</a:t>
            </a:r>
            <a:r>
              <a:rPr sz="2000" b="0">
                <a:solidFill>
                  <a:srgbClr val="1F2D3A"/>
                </a:solidFill>
              </a:rPr>
              <a:t> bildirir.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INT30-C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kalan = toplam - okunan;   /* HATALI: okunan&gt;toplam → dev sayı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(okunan &gt; toplam) return HATA; /* UYUMLU: önce sırala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kalan = toplam - okunan;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İşaretsiz çıkarma </a:t>
            </a:r>
            <a:r>
              <a:rPr sz="2000" b="1">
                <a:solidFill>
                  <a:srgbClr val="1F2D3A"/>
                </a:solidFill>
              </a:rPr>
              <a:t>sarar</a:t>
            </a:r>
            <a:r>
              <a:rPr sz="2000" b="0">
                <a:solidFill>
                  <a:srgbClr val="1F2D3A"/>
                </a:solidFill>
              </a:rPr>
              <a:t>; önce mantığı denetle.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MEM30-C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(d = bas; d; d = d-&gt;sonraki) free(d);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(d) { Dugum *s = d-&gt;sonraki; free(d); d = s; }  /* UYUMLU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free(d)</a:t>
            </a:r>
            <a:r>
              <a:rPr sz="2000" b="0">
                <a:solidFill>
                  <a:srgbClr val="1F2D3A"/>
                </a:solidFill>
              </a:rPr>
              <a:t>'den sonra </a:t>
            </a:r>
            <a:r>
              <a:rPr sz="2000" b="0">
                <a:solidFill>
                  <a:srgbClr val="A1123F"/>
                </a:solidFill>
                <a:latin typeface="Consolas"/>
              </a:rPr>
              <a:t>d-&gt;sonraki</a:t>
            </a:r>
            <a:r>
              <a:rPr sz="2000" b="0">
                <a:solidFill>
                  <a:srgbClr val="1F2D3A"/>
                </a:solidFill>
              </a:rPr>
              <a:t> okumak = bırakılmış belleğe erişim.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ERR33-C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FILE *f = fopen(yol,"rb"); fread(t,1,n,f);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(!f) return HATA;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(fread(t,1,n,f) &lt; n &amp;&amp; ferror(f)) return HATA;/* UYUMLU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dönüş değerini </a:t>
            </a:r>
            <a:r>
              <a:rPr sz="2000" b="1">
                <a:solidFill>
                  <a:srgbClr val="1F2D3A"/>
                </a:solidFill>
              </a:rPr>
              <a:t>denetle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fopen</a:t>
            </a:r>
            <a:r>
              <a:rPr sz="2000" b="0">
                <a:solidFill>
                  <a:srgbClr val="1F2D3A"/>
                </a:solidFill>
              </a:rPr>
              <a:t> NULL dönebilir.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Kural: bulguyu kimliğe bağla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bulguyu bir CERT kimliğiyle eşleştir: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"Bu satır MEM30-C ihlali (CWE-416)."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Böylece bulgu </a:t>
            </a:r>
            <a:r>
              <a:rPr sz="2000" b="1">
                <a:solidFill>
                  <a:srgbClr val="1F2D3A"/>
                </a:solidFill>
              </a:rPr>
              <a:t>nesnel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aranabilir</a:t>
            </a:r>
            <a:r>
              <a:rPr sz="2000" b="0">
                <a:solidFill>
                  <a:srgbClr val="1F2D3A"/>
                </a:solidFill>
              </a:rPr>
              <a:t> olur.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Üç katman ve doğru sıra?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Kural ile öneri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</a:t>
            </a:r>
            <a:r>
              <a:rPr sz="2000" b="0">
                <a:solidFill>
                  <a:srgbClr val="1F2D3A"/>
                </a:solidFill>
              </a:rPr>
              <a:t> 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'a göre tehlikeli?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Sıra:</a:t>
            </a:r>
            <a:r>
              <a:rPr sz="2000" b="0">
                <a:solidFill>
                  <a:srgbClr val="1F2D3A"/>
                </a:solidFill>
              </a:rPr>
              <a:t> güvenli kod (kaynak) → </a:t>
            </a:r>
            <a:r>
              <a:rPr sz="2000" b="1">
                <a:solidFill>
                  <a:srgbClr val="1F2D3A"/>
                </a:solidFill>
              </a:rPr>
              <a:t>derleyici/araç</a:t>
            </a:r>
            <a:r>
              <a:rPr sz="2000" b="0">
                <a:solidFill>
                  <a:srgbClr val="1F2D3A"/>
                </a:solidFill>
              </a:rPr>
              <a:t> korumaları → </a:t>
            </a:r>
            <a:r>
              <a:rPr sz="2000" b="1">
                <a:solidFill>
                  <a:srgbClr val="1F2D3A"/>
                </a:solidFill>
              </a:rPr>
              <a:t>OS/çalışma zamanı</a:t>
            </a:r>
            <a:r>
              <a:rPr sz="2000" b="0">
                <a:solidFill>
                  <a:srgbClr val="1F2D3A"/>
                </a:solidFill>
              </a:rPr>
              <a:t> korumaları. Önce doğru yaz, sonra sertleştir, sonra çalışma anında savun.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Kural</a:t>
            </a:r>
            <a:r>
              <a:rPr sz="2000" b="0">
                <a:solidFill>
                  <a:srgbClr val="1F2D3A"/>
                </a:solidFill>
              </a:rPr>
              <a:t> her zaman uygulanır, ihlali kusurdur; </a:t>
            </a:r>
            <a:r>
              <a:rPr sz="2000" b="1">
                <a:solidFill>
                  <a:srgbClr val="1F2D3A"/>
                </a:solidFill>
              </a:rPr>
              <a:t>öneri</a:t>
            </a:r>
            <a:r>
              <a:rPr sz="2000" b="0">
                <a:solidFill>
                  <a:srgbClr val="1F2D3A"/>
                </a:solidFill>
              </a:rPr>
              <a:t> bağlama göre iyi uygulamadır.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</a:t>
            </a:r>
            <a:r>
              <a:rPr sz="2000" b="0">
                <a:solidFill>
                  <a:srgbClr val="1F2D3A"/>
                </a:solidFill>
              </a:rPr>
              <a:t> hatayı </a:t>
            </a:r>
            <a:r>
              <a:rPr sz="2000" b="1">
                <a:solidFill>
                  <a:srgbClr val="1F2D3A"/>
                </a:solidFill>
              </a:rPr>
              <a:t>bildirmez</a:t>
            </a:r>
            <a:r>
              <a:rPr sz="2000" b="0">
                <a:solidFill>
                  <a:srgbClr val="1F2D3A"/>
                </a:solidFill>
              </a:rPr>
              <a:t> (taşma/geçersiz girdide tanımsız/0);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endptr</a:t>
            </a:r>
            <a:r>
              <a:rPr sz="2000" b="0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A1123F"/>
                </a:solidFill>
                <a:latin typeface="Consolas"/>
              </a:rPr>
              <a:t>ERANGE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hatayı ve sınırı</a:t>
            </a:r>
            <a:r>
              <a:rPr sz="2000" b="0">
                <a:solidFill>
                  <a:srgbClr val="1F2D3A"/>
                </a:solidFill>
              </a:rPr>
              <a:t> kontrol ettirir.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Biçim dizisi açığı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Biçim dizisi açığı — şema</a:t>
            </a:r>
          </a:p>
        </p:txBody>
      </p:sp>
      <p:pic>
        <p:nvPicPr>
          <p:cNvPr id="7" name="Picture 6" descr="h04-07-bicim-diz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printf(girdi)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printf(kullanici_girdisi); 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printf("%s", kullanici_girdisi);  /* DOĞRU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İlkinde kullanıcı girdisi bir </a:t>
            </a:r>
            <a:r>
              <a:rPr sz="2000" b="1">
                <a:solidFill>
                  <a:srgbClr val="1F2D3A"/>
                </a:solidFill>
              </a:rPr>
              <a:t>biçim dizgesi</a:t>
            </a:r>
            <a:r>
              <a:rPr sz="2000" b="0">
                <a:solidFill>
                  <a:srgbClr val="1F2D3A"/>
                </a:solidFill>
              </a:rPr>
              <a:t> olarak yorumlanır.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biçim dizgesindeki </a:t>
            </a:r>
            <a:r>
              <a:rPr sz="2000" b="0">
                <a:solidFill>
                  <a:srgbClr val="A1123F"/>
                </a:solidFill>
                <a:latin typeface="Consolas"/>
              </a:rPr>
              <a:t>%</a:t>
            </a:r>
            <a:r>
              <a:rPr sz="2000" b="0">
                <a:solidFill>
                  <a:srgbClr val="1F2D3A"/>
                </a:solidFill>
              </a:rPr>
              <a:t> belirteçlerini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sayar.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</a:t>
            </a:r>
            <a:r>
              <a:rPr sz="2000" b="0">
                <a:solidFill>
                  <a:srgbClr val="A1123F"/>
                </a:solidFill>
                <a:latin typeface="Consolas"/>
              </a:rPr>
              <a:t>%x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%s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gönderirse programa iş yaptırır.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Belirteç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%x</a:t>
            </a:r>
            <a:r>
              <a:rPr sz="3000" b="1">
                <a:solidFill>
                  <a:srgbClr val="006D77"/>
                </a:solidFill>
              </a:rPr>
              <a:t>, </a:t>
            </a:r>
            <a:r>
              <a:rPr sz="3000" b="1">
                <a:solidFill>
                  <a:srgbClr val="006D77"/>
                </a:solidFill>
                <a:latin typeface="Consolas"/>
              </a:rPr>
              <a:t>%p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Yığındaki değerleri </a:t>
            </a:r>
            <a:r>
              <a:rPr sz="2000" b="1">
                <a:solidFill>
                  <a:srgbClr val="1F2D3A"/>
                </a:solidFill>
              </a:rPr>
              <a:t>okur</a:t>
            </a:r>
            <a:r>
              <a:rPr sz="2000" b="0">
                <a:solidFill>
                  <a:srgbClr val="1F2D3A"/>
                </a:solidFill>
              </a:rPr>
              <a:t> ve yazdırır.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</a:t>
            </a:r>
            <a:r>
              <a:rPr sz="2000" b="1">
                <a:solidFill>
                  <a:srgbClr val="1F2D3A"/>
                </a:solidFill>
              </a:rPr>
              <a:t>bilgi sızıntısı</a:t>
            </a:r>
            <a:r>
              <a:rPr sz="2000" b="0">
                <a:solidFill>
                  <a:srgbClr val="1F2D3A"/>
                </a:solidFill>
              </a:rPr>
              <a:t> (adresler, gizli değerler).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ASLR'yi zayıflatır (adres sızarsa).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Belirteç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%s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Yığındaki bir değeri </a:t>
            </a:r>
            <a:r>
              <a:rPr sz="2000" b="1">
                <a:solidFill>
                  <a:srgbClr val="1F2D3A"/>
                </a:solidFill>
              </a:rPr>
              <a:t>işaretçi</a:t>
            </a:r>
            <a:r>
              <a:rPr sz="2000" b="0">
                <a:solidFill>
                  <a:srgbClr val="1F2D3A"/>
                </a:solidFill>
              </a:rPr>
              <a:t> sanar ve o adresteki dizgeyi okur.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Rastgele adres → çökme ya da bellek okuma.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Belirteç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%n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Şimdiye kadar yazılan karakter sayısını bir adrese </a:t>
            </a:r>
            <a:r>
              <a:rPr sz="2000" b="1">
                <a:solidFill>
                  <a:srgbClr val="1F2D3A"/>
                </a:solidFill>
              </a:rPr>
              <a:t>yazar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belleğe </a:t>
            </a:r>
            <a:r>
              <a:rPr sz="2000" b="1">
                <a:solidFill>
                  <a:srgbClr val="1F2D3A"/>
                </a:solidFill>
              </a:rPr>
              <a:t>yazma</a:t>
            </a:r>
            <a:r>
              <a:rPr sz="2000" b="0">
                <a:solidFill>
                  <a:srgbClr val="1F2D3A"/>
                </a:solidFill>
              </a:rPr>
              <a:t> → bozulma, denetim ele geçirme.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tehlikelisi.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hata başka yerlerde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Sadece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değil: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syslog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fprintf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err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warn</a:t>
            </a:r>
            <a:r>
              <a:rPr sz="2000" b="0">
                <a:solidFill>
                  <a:srgbClr val="1F2D3A"/>
                </a:solidFill>
              </a:rPr>
              <a:t> — hepsi biçim dizgesi alır.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Kural: biçim dizgesi </a:t>
            </a:r>
            <a:r>
              <a:rPr sz="2000" b="1">
                <a:solidFill>
                  <a:srgbClr val="1F2D3A"/>
                </a:solidFill>
              </a:rPr>
              <a:t>her zaman sabit</a:t>
            </a:r>
            <a:r>
              <a:rPr sz="2000" b="0">
                <a:solidFill>
                  <a:srgbClr val="1F2D3A"/>
                </a:solidFill>
              </a:rPr>
              <a:t> (FIO30-C).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 — biçim dizisi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code/week-04/01-format-string</a:t>
            </a:r>
            <a:r>
              <a:rPr sz="1800" b="0">
                <a:solidFill>
                  <a:srgbClr val="1F2D3A"/>
                </a:solidFill>
              </a:rPr>
              <a:t> · CWE-134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2623"/>
                <a:gridCol w="8818911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görülür?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GCC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-Wformat-security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uyarır; MSVC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yakalar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%x.%x…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Yığın dökülür,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gizli (sentetik) değer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görünür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AAAA%n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 korumasız çöker; Windows CRT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%n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'i reddeder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_FORTIFY_SOURCE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: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%n in writable segment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Belirteçler yalnız metin olarak görünür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· katman katman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Biçim dizgesi hep </a:t>
            </a:r>
            <a:r>
              <a:rPr sz="2000" b="1">
                <a:solidFill>
                  <a:srgbClr val="1F2D3A"/>
                </a:solidFill>
              </a:rPr>
              <a:t>sabit</a:t>
            </a:r>
            <a:r>
              <a:rPr sz="2000" b="0">
                <a:solidFill>
                  <a:srgbClr val="1F2D3A"/>
                </a:solidFill>
              </a:rPr>
              <a:t> (FIO30-C).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Uyarı: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-Wformat -Wformat-security -Werror=format-security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Kendi fonksiyonunuzu derleyiciye </a:t>
            </a:r>
            <a:r>
              <a:rPr sz="2000" b="1">
                <a:solidFill>
                  <a:srgbClr val="1F2D3A"/>
                </a:solidFill>
              </a:rPr>
              <a:t>denetlettirin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gunluk_yaz(int duzey, const char *bicim, ...)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__attribute__((format(printf, 2, 3)));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680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Çalışma anı: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_FORTIFY_SOURCE=2</a:t>
            </a:r>
            <a:r>
              <a:rPr sz="2000" b="0">
                <a:solidFill>
                  <a:srgbClr val="1F2D3A"/>
                </a:solidFill>
              </a:rPr>
              <a:t>; MS CRT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kapalı.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Bellek: use-after-free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Yığın ve öbek — şema</a:t>
            </a:r>
          </a:p>
        </p:txBody>
      </p:sp>
      <p:pic>
        <p:nvPicPr>
          <p:cNvPr id="7" name="Picture 6" descr="h04-13-yigin-ob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Use-after-free — şema</a:t>
            </a:r>
          </a:p>
        </p:txBody>
      </p:sp>
      <p:pic>
        <p:nvPicPr>
          <p:cNvPr id="7" name="Picture 6" descr="h04-08-u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nedir? · adım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nesne öbekte.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 işaretçi</a:t>
            </a:r>
            <a:r>
              <a:rPr sz="2000" b="0">
                <a:solidFill>
                  <a:srgbClr val="1F2D3A"/>
                </a:solidFill>
              </a:rPr>
              <a:t> aynı nesneyi gösteriyor.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· adım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ediyor.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Diğeri hâlâ o adresi tutuyor → </a:t>
            </a:r>
            <a:r>
              <a:rPr sz="2000" b="1">
                <a:solidFill>
                  <a:srgbClr val="1F2D3A"/>
                </a:solidFill>
              </a:rPr>
              <a:t>askıda (dangling)</a:t>
            </a:r>
            <a:r>
              <a:rPr sz="2000" b="0">
                <a:solidFill>
                  <a:srgbClr val="1F2D3A"/>
                </a:solidFill>
              </a:rPr>
              <a:t> işaretçi.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· adım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Ayırıcı aynı bloğu </a:t>
            </a:r>
            <a:r>
              <a:rPr sz="2000" b="1">
                <a:solidFill>
                  <a:srgbClr val="1F2D3A"/>
                </a:solidFill>
              </a:rPr>
              <a:t>başka nesneye</a:t>
            </a:r>
            <a:r>
              <a:rPr sz="2000" b="0">
                <a:solidFill>
                  <a:srgbClr val="1F2D3A"/>
                </a:solidFill>
              </a:rPr>
              <a:t> veriyor.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Askıdaki işaretçi artık </a:t>
            </a:r>
            <a:r>
              <a:rPr sz="2000" b="1">
                <a:solidFill>
                  <a:srgbClr val="1F2D3A"/>
                </a:solidFill>
              </a:rPr>
              <a:t>yabancı veriyi</a:t>
            </a:r>
            <a:r>
              <a:rPr sz="2000" b="0">
                <a:solidFill>
                  <a:srgbClr val="1F2D3A"/>
                </a:solidFill>
              </a:rPr>
              <a:t> okur/yazar.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Nesnede </a:t>
            </a:r>
            <a:r>
              <a:rPr sz="2000" b="1">
                <a:solidFill>
                  <a:srgbClr val="1F2D3A"/>
                </a:solidFill>
              </a:rPr>
              <a:t>fonksiyon işaretçisi</a:t>
            </a:r>
            <a:r>
              <a:rPr sz="2000" b="0">
                <a:solidFill>
                  <a:srgbClr val="1F2D3A"/>
                </a:solidFill>
              </a:rPr>
              <a:t> varsa (C++ sanal tablo) risk büyür.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neden çok yaygın?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Tarayıcı/OS güncellemelerindeki "bellek bozulması düzeltildi" notlarının büyük kısmı bu sınıftır.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Karmaşık sahiplik → askıda işaretçi.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2 — UAF ve çift bırakma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code/week-04/02-kullanim-sonrasi</a:t>
            </a:r>
            <a:r>
              <a:rPr sz="1800" b="0">
                <a:solidFill>
                  <a:srgbClr val="1F2D3A"/>
                </a:solidFill>
              </a:rPr>
              <a:t> · CWE-416/415 · MEM30-C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002239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589"/>
                <a:gridCol w="8183650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görülür?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Serbest blok dolar → rol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user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admin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ASan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heap-use-after-free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yerler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Çift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tanımsız davranış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 ASan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attempting double-free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NULL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tek sahip → güvenli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 raporu · üç yığın izi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ERROR: heap-use-after-free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#0 oturum_kullan uaf.c:48   &lt;- 1. KULLANIM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freed here: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#1 oturum_kapat  uaf.c:31   &lt;- 2. SERBEST BIRAKMA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allocated here: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#1 oturum_ac     uaf.c:22   &lt;- 3. AYIRMA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Düzeltme çoğunlukla </a:t>
            </a:r>
            <a:r>
              <a:rPr sz="2000" b="1">
                <a:solidFill>
                  <a:srgbClr val="1F2D3A"/>
                </a:solidFill>
              </a:rPr>
              <a:t>2. konumda</a:t>
            </a:r>
            <a:r>
              <a:rPr sz="2000" b="0">
                <a:solidFill>
                  <a:srgbClr val="1F2D3A"/>
                </a:solidFill>
              </a:rPr>
              <a:t>: sahiplik kararı orada yanlış.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 · C tarafı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'den sonra işaretçiyi </a:t>
            </a:r>
            <a:r>
              <a:rPr sz="2000" b="1">
                <a:solidFill>
                  <a:srgbClr val="1F2D3A"/>
                </a:solidFill>
              </a:rPr>
              <a:t>`NULL`</a:t>
            </a:r>
            <a:r>
              <a:rPr sz="2000" b="0">
                <a:solidFill>
                  <a:srgbClr val="1F2D3A"/>
                </a:solidFill>
              </a:rPr>
              <a:t> yap.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 sahip</a:t>
            </a:r>
            <a:r>
              <a:rPr sz="2000" b="0">
                <a:solidFill>
                  <a:srgbClr val="1F2D3A"/>
                </a:solidFill>
              </a:rPr>
              <a:t>, tek bırakma noktası belirle.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Sahiplik kuralını yaz: "bu belleği kim bırakır?"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Çözüm · C++ akıllı işaretçiler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09294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5637625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İhtiyaç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C++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sahip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std::unique_ptr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Paylaşılan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std::shared_ptr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Sahipsiz gözlem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std::weak_ptr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lock()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std::vector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std::array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3191256"/>
            <a:ext cx="10911535" cy="44439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(auto o = onbellek.lock()) kullan(*o);  // yoksa eski belleğe erişilmez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4538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</a:t>
            </a:r>
            <a:r>
              <a:rPr sz="1800" b="0">
                <a:solidFill>
                  <a:srgbClr val="A1123F"/>
                </a:solidFill>
                <a:latin typeface="Consolas"/>
              </a:rPr>
              <a:t>get()</a:t>
            </a:r>
            <a:r>
              <a:rPr sz="1800" b="0">
                <a:solidFill>
                  <a:srgbClr val="1F2D3A"/>
                </a:solidFill>
              </a:rPr>
              <a:t> ham işaretçi; </a:t>
            </a:r>
            <a:r>
              <a:rPr sz="1800" b="0">
                <a:solidFill>
                  <a:srgbClr val="A1123F"/>
                </a:solidFill>
                <a:latin typeface="Consolas"/>
              </a:rPr>
              <a:t>vector</a:t>
            </a:r>
            <a:r>
              <a:rPr sz="1800" b="0">
                <a:solidFill>
                  <a:srgbClr val="1F2D3A"/>
                </a:solidFill>
              </a:rPr>
              <a:t> büyüyünce yineleyici geçersizleşir.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Tamsayılar ve UB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Tamsayı taşması — şema</a:t>
            </a:r>
          </a:p>
        </p:txBody>
      </p:sp>
      <p:pic>
        <p:nvPicPr>
          <p:cNvPr id="7" name="Picture 6" descr="h04-09-tamsay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tamsayı hatası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9361"/>
                <a:gridCol w="4773796"/>
                <a:gridCol w="2898376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İşaretsiz sarma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0u - 1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= 4.294.967.295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Mantık hatası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İşaretli taşma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INT_MAX + 1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Tanımsız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 kaybı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long long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→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Kesilme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Kaydırma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1 &lt;&lt; 31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Tanımsız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önemli? · çarpım taşması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uint32_t boyut = adet * 4;   /* adet = 0x40000001 → boyut = 4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dizi = malloc(boyut);        /* küçük blok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döngü adet kez yazar → öbek taşması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Küçük ayrılan bloğa çok yazmak = taşma.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UB · derleyici denetimi silebilir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(x + 100 &lt; x)   /* "taşarsa küçülür" sanısı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-1;     /* işaretli taşma UB → derleyici bu dalı SİLEBİLİR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-O0</a:t>
            </a:r>
            <a:r>
              <a:rPr sz="2000" b="0">
                <a:solidFill>
                  <a:srgbClr val="1F2D3A"/>
                </a:solidFill>
              </a:rPr>
              <a:t>'da "çalışır", </a:t>
            </a:r>
            <a:r>
              <a:rPr sz="2000" b="0">
                <a:solidFill>
                  <a:srgbClr val="A1123F"/>
                </a:solidFill>
                <a:latin typeface="Consolas"/>
              </a:rPr>
              <a:t>-O2</a:t>
            </a:r>
            <a:r>
              <a:rPr sz="2000" b="0">
                <a:solidFill>
                  <a:srgbClr val="1F2D3A"/>
                </a:solidFill>
              </a:rPr>
              <a:t>'de denetim </a:t>
            </a:r>
            <a:r>
              <a:rPr sz="2000" b="1">
                <a:solidFill>
                  <a:srgbClr val="1F2D3A"/>
                </a:solidFill>
              </a:rPr>
              <a:t>yok olur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UB'ye güvenilmez.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Doğru: önce denetle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((b &gt; 0 &amp;&amp; a &gt; INT_MAX - b) ||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(b &lt; 0 &amp;&amp; a &lt; INT_MIN - b)) return false;   /* taşma öncesi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(__builtin_mul_overflow(a, b, &amp;sonuc)) return false;  /* GCC/Clang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C23: &lt;stdckdint.h&gt; ckd_add/ckd_mul · MSVC: &lt;intsafe.h&gt;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Taşmayı </a:t>
            </a:r>
            <a:r>
              <a:rPr sz="2000" b="1">
                <a:solidFill>
                  <a:srgbClr val="1F2D3A"/>
                </a:solidFill>
              </a:rPr>
              <a:t>olmadan önce</a:t>
            </a:r>
            <a:r>
              <a:rPr sz="2000" b="0">
                <a:solidFill>
                  <a:srgbClr val="1F2D3A"/>
                </a:solidFill>
              </a:rPr>
              <a:t> yakala.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3 — UB ve UBSan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code/week-04/03-tanimsiz-davranis</a:t>
            </a:r>
            <a:r>
              <a:rPr sz="1800" b="0">
                <a:solidFill>
                  <a:srgbClr val="1F2D3A"/>
                </a:solidFill>
              </a:rPr>
              <a:t> · CWE-190/758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İşaretli taşma, geçersiz kaydırma, hizasız erişim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x86'da çoğu </a:t>
            </a:r>
            <a:r>
              <a:rPr sz="1800" b="1">
                <a:solidFill>
                  <a:srgbClr val="1F2D3A"/>
                </a:solidFill>
              </a:rPr>
              <a:t>sessizce</a:t>
            </a:r>
            <a:r>
              <a:rPr sz="1800" b="0">
                <a:solidFill>
                  <a:srgbClr val="1F2D3A"/>
                </a:solidFill>
              </a:rPr>
              <a:t> yanlış sonuç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-fsanitize=undefined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signed integer overflow: 2147483647 + 1 ...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UBSan yok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/RTC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/analyze</a:t>
            </a:r>
            <a:r>
              <a:rPr sz="1800" b="0">
                <a:solidFill>
                  <a:srgbClr val="1F2D3A"/>
                </a:solidFill>
              </a:rPr>
              <a:t>, CERT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</a:t>
            </a:r>
            <a:r>
              <a:rPr sz="1800" b="0">
                <a:solidFill>
                  <a:srgbClr val="A1123F"/>
                </a:solidFill>
                <a:latin typeface="Consolas"/>
              </a:rPr>
              <a:t>-fwrapv</a:t>
            </a:r>
            <a:r>
              <a:rPr sz="1800" b="0">
                <a:solidFill>
                  <a:srgbClr val="1F2D3A"/>
                </a:solidFill>
              </a:rPr>
              <a:t> mantık hatasını </a:t>
            </a:r>
            <a:r>
              <a:rPr sz="1800" b="1">
                <a:solidFill>
                  <a:srgbClr val="1F2D3A"/>
                </a:solidFill>
              </a:rPr>
              <a:t>gizler</a:t>
            </a:r>
            <a:r>
              <a:rPr sz="1800" b="0">
                <a:solidFill>
                  <a:srgbClr val="1F2D3A"/>
                </a:solidFill>
              </a:rPr>
              <a:t>; tanı için kullanma.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Hata işleme ve sinyaller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Sinyal işleyici — şema</a:t>
            </a:r>
          </a:p>
        </p:txBody>
      </p:sp>
      <p:pic>
        <p:nvPicPr>
          <p:cNvPr id="7" name="Picture 6" descr="h04-12-siny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Denetlenmeyen dönüş değeri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6744"/>
                <a:gridCol w="6714790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Çağrı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Denetlenmezse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NULL'a 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setresuid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Yetkili kalır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RAND_bytes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"Rastgele" anahtar sıfır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EVP_DecryptFinal_ex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Kurcalanmış veri doğrulanmış sanılır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işleme kuralları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Her dönüşü denetle (ERR33-C); </a:t>
            </a:r>
            <a:r>
              <a:rPr sz="2000" b="0">
                <a:solidFill>
                  <a:srgbClr val="A1123F"/>
                </a:solidFill>
                <a:latin typeface="Consolas"/>
              </a:rPr>
              <a:t>[[nodiscard]]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Hatada </a:t>
            </a:r>
            <a:r>
              <a:rPr sz="2000" b="1">
                <a:solidFill>
                  <a:srgbClr val="1F2D3A"/>
                </a:solidFill>
              </a:rPr>
              <a:t>güvenli duruma</a:t>
            </a:r>
            <a:r>
              <a:rPr sz="2000" b="0">
                <a:solidFill>
                  <a:srgbClr val="1F2D3A"/>
                </a:solidFill>
              </a:rPr>
              <a:t> dön (</a:t>
            </a:r>
            <a:r>
              <a:rPr sz="2000" b="0">
                <a:solidFill>
                  <a:srgbClr val="A1123F"/>
                </a:solidFill>
                <a:latin typeface="Consolas"/>
              </a:rPr>
              <a:t>goto temizle</a:t>
            </a:r>
            <a:r>
              <a:rPr sz="2000" b="0">
                <a:solidFill>
                  <a:srgbClr val="1F2D3A"/>
                </a:solidFill>
              </a:rPr>
              <a:t>) — </a:t>
            </a:r>
            <a:r>
              <a:rPr sz="2000" b="1">
                <a:solidFill>
                  <a:srgbClr val="1F2D3A"/>
                </a:solidFill>
              </a:rPr>
              <a:t>fail-closed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İleti ipucu vermesin: "kullanıcı yok" ≠ "parola yanlış".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Sahadan: opak dönüş değerleri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fonksiyonlar ayrıntılı </a:t>
            </a:r>
            <a:r>
              <a:rPr sz="2000" b="1">
                <a:solidFill>
                  <a:srgbClr val="1F2D3A"/>
                </a:solidFill>
              </a:rPr>
              <a:t>hata kodu döndürmez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başarılı/başarısız, üstelik </a:t>
            </a:r>
            <a:r>
              <a:rPr sz="2000" b="1">
                <a:solidFill>
                  <a:srgbClr val="1F2D3A"/>
                </a:solidFill>
              </a:rPr>
              <a:t>opak</a:t>
            </a:r>
            <a:r>
              <a:rPr sz="2000" b="0">
                <a:solidFill>
                  <a:srgbClr val="1F2D3A"/>
                </a:solidFill>
              </a:rPr>
              <a:t> (9.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Ayrıntılı kod = saldırgana "hangi denetimde takıldın" haritası.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 için ayrı, güvenli kanal → ödünleşim kaydı.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Sinyal işleyici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volatile sig_atomic_t durdur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void isleyici(int s){ (void)s; durdur = 1; }  /* YALNIZ bayrak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İşleyicide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 (SIG30-C).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Eşzamansız-güvenli olmayan fonksiyon çağırma.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signal()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sigaction()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Gerçek olay: regreSSHion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2024 CVE-2024-6387: zaman aşımı </a:t>
            </a:r>
            <a:r>
              <a:rPr sz="2000" b="1">
                <a:solidFill>
                  <a:srgbClr val="1F2D3A"/>
                </a:solidFill>
              </a:rPr>
              <a:t>sinyal işleyicisi</a:t>
            </a:r>
            <a:r>
              <a:rPr sz="2000" b="0">
                <a:solidFill>
                  <a:srgbClr val="1F2D3A"/>
                </a:solidFill>
              </a:rPr>
              <a:t> güvensiz bir günlük fonksiyonu çağırıyordu.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uzaktan kod çalıştırma riski.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Ders: işleyicide yalnız bayrak set et.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neden en tehlikelisi?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UAF raporundaki üç iz? Düzeltme hangisinde?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(x+100 &lt; x)</a:t>
            </a:r>
            <a:r>
              <a:rPr sz="2000" b="0">
                <a:solidFill>
                  <a:srgbClr val="1F2D3A"/>
                </a:solidFill>
              </a:rPr>
              <a:t> neden silinebilir?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Sinyal işleyicide 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yok?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biçim belirtecinin yazdığı </a:t>
            </a:r>
            <a:r>
              <a:rPr sz="2000" b="1">
                <a:solidFill>
                  <a:srgbClr val="1F2D3A"/>
                </a:solidFill>
              </a:rPr>
              <a:t>bayt sayısını belleğe YAZAR</a:t>
            </a:r>
            <a:r>
              <a:rPr sz="2000" b="0">
                <a:solidFill>
                  <a:srgbClr val="1F2D3A"/>
                </a:solidFill>
              </a:rPr>
              <a:t> → saldırgan seçtiği adrese yazıp akışı ele geçirebilir.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allocated-by · freed-by · use-here.</a:t>
            </a:r>
            <a:r>
              <a:rPr sz="2000" b="0">
                <a:solidFill>
                  <a:srgbClr val="1F2D3A"/>
                </a:solidFill>
              </a:rPr>
              <a:t> Düzeltme </a:t>
            </a:r>
            <a:r>
              <a:rPr sz="2000" b="1">
                <a:solidFill>
                  <a:srgbClr val="1F2D3A"/>
                </a:solidFill>
              </a:rPr>
              <a:t>freed↔use</a:t>
            </a:r>
            <a:r>
              <a:rPr sz="2000" b="0">
                <a:solidFill>
                  <a:srgbClr val="1F2D3A"/>
                </a:solidFill>
              </a:rPr>
              <a:t> arasında: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sonrası işaretçiyi </a:t>
            </a:r>
            <a:r>
              <a:rPr sz="2000" b="0">
                <a:solidFill>
                  <a:srgbClr val="A1123F"/>
                </a:solidFill>
                <a:latin typeface="Consolas"/>
              </a:rPr>
              <a:t>NULL</a:t>
            </a:r>
            <a:r>
              <a:rPr sz="2000" b="0">
                <a:solidFill>
                  <a:srgbClr val="1F2D3A"/>
                </a:solidFill>
              </a:rPr>
              <a:t> yap / yaşam süresini düzelt.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İmzalı taşma </a:t>
            </a:r>
            <a:r>
              <a:rPr sz="2000" b="1">
                <a:solidFill>
                  <a:srgbClr val="1F2D3A"/>
                </a:solidFill>
              </a:rPr>
              <a:t>tanımsız davranıştır</a:t>
            </a:r>
            <a:r>
              <a:rPr sz="2000" b="0">
                <a:solidFill>
                  <a:srgbClr val="1F2D3A"/>
                </a:solidFill>
              </a:rPr>
              <a:t>; derleyici "taşma olmaz" varsayar → koşul hep </a:t>
            </a:r>
            <a:r>
              <a:rPr sz="2000" b="0">
                <a:solidFill>
                  <a:srgbClr val="A1123F"/>
                </a:solidFill>
                <a:latin typeface="Consolas"/>
              </a:rPr>
              <a:t>false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siler</a:t>
            </a:r>
            <a:r>
              <a:rPr sz="2000" b="0">
                <a:solidFill>
                  <a:srgbClr val="1F2D3A"/>
                </a:solidFill>
              </a:rPr>
              <a:t>. Kontrolü </a:t>
            </a:r>
            <a:r>
              <a:rPr sz="2000" b="0">
                <a:solidFill>
                  <a:srgbClr val="A1123F"/>
                </a:solidFill>
                <a:latin typeface="Consolas"/>
              </a:rPr>
              <a:t>__builtin_add_overflow</a:t>
            </a:r>
            <a:r>
              <a:rPr sz="2000" b="0">
                <a:solidFill>
                  <a:srgbClr val="1F2D3A"/>
                </a:solidFill>
              </a:rPr>
              <a:t> ile yapın.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async-signal-safe değil</a:t>
            </a:r>
            <a:r>
              <a:rPr sz="2000" b="0">
                <a:solidFill>
                  <a:srgbClr val="1F2D3A"/>
                </a:solidFill>
              </a:rPr>
              <a:t>; işleyicide yeniden girişte kilit/durum bozulur → kilitlenme/çökme.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write</a:t>
            </a:r>
            <a:r>
              <a:rPr sz="2000" b="0">
                <a:solidFill>
                  <a:srgbClr val="1F2D3A"/>
                </a:solidFill>
              </a:rPr>
              <a:t> gibi güvenli çağrılar.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Statik analiz, sanitizer, fuzzing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 redzone — şema</a:t>
            </a:r>
          </a:p>
        </p:txBody>
      </p:sp>
      <p:pic>
        <p:nvPicPr>
          <p:cNvPr id="7" name="Picture 6" descr="h04-11-as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08384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Statik ↔ dinamik — şema</a:t>
            </a:r>
          </a:p>
        </p:txBody>
      </p:sp>
      <p:pic>
        <p:nvPicPr>
          <p:cNvPr id="7" name="Picture 6" descr="h04-10-statik-dinam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Statik analiz nedir?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Kodu </a:t>
            </a:r>
            <a:r>
              <a:rPr sz="2000" b="1">
                <a:solidFill>
                  <a:srgbClr val="1F2D3A"/>
                </a:solidFill>
              </a:rPr>
              <a:t>çalıştırmadan</a:t>
            </a:r>
            <a:r>
              <a:rPr sz="2000" b="0">
                <a:solidFill>
                  <a:srgbClr val="1F2D3A"/>
                </a:solidFill>
              </a:rPr>
              <a:t> inceleyip hata arama.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Avantaj: çalışmayan yolları da görür. Dezavantaj: </a:t>
            </a:r>
            <a:r>
              <a:rPr sz="2000" b="1">
                <a:solidFill>
                  <a:srgbClr val="1F2D3A"/>
                </a:solidFill>
              </a:rPr>
              <a:t>yanlış alarm</a:t>
            </a:r>
            <a:r>
              <a:rPr sz="2000" b="0">
                <a:solidFill>
                  <a:srgbClr val="1F2D3A"/>
                </a:solidFill>
              </a:rPr>
              <a:t> üretir.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Statik analiz · katman katman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498"/>
                <a:gridCol w="6660287"/>
                <a:gridCol w="255074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Düzey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Bulduğu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Uyarılar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-Wconversion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Dönüşüm, biçim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Analizci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-fanalyzer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 --analyze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NULL, sızıntı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clang-tidy cert-*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cppcheck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CERT ihlali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Anlamsal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CodeQL, Semgrep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akışı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Ticari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Coverity, Klocwork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Derin analiz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Kirli veri: kaynak → hedef</a:t>
            </a:r>
          </a:p>
        </p:txBody>
      </p:sp>
      <p:pic>
        <p:nvPicPr>
          <p:cNvPr id="7" name="Picture 6" descr="h04-14-kirli-v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1662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60183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Araç, </a:t>
            </a:r>
            <a:r>
              <a:rPr sz="2000" b="1">
                <a:solidFill>
                  <a:srgbClr val="1F2D3A"/>
                </a:solidFill>
              </a:rPr>
              <a:t>doğrulanmamış</a:t>
            </a:r>
            <a:r>
              <a:rPr sz="2000" b="0">
                <a:solidFill>
                  <a:srgbClr val="1F2D3A"/>
                </a:solidFill>
              </a:rPr>
              <a:t> verinin tehlikeli bir yere aktığını görür.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Yanlış alarmla yaşamak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yüksek güvenilirlikli</a:t>
            </a:r>
            <a:r>
              <a:rPr sz="2000" b="0">
                <a:solidFill>
                  <a:srgbClr val="1F2D3A"/>
                </a:solidFill>
              </a:rPr>
              <a:t> kurallar.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Her bastırma </a:t>
            </a:r>
            <a:r>
              <a:rPr sz="2000" b="1">
                <a:solidFill>
                  <a:srgbClr val="1F2D3A"/>
                </a:solidFill>
              </a:rPr>
              <a:t>gerekçeli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// NOLINT(cert-err33-c): neden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Yeni kodda </a:t>
            </a:r>
            <a:r>
              <a:rPr sz="2000" b="1">
                <a:solidFill>
                  <a:srgbClr val="1F2D3A"/>
                </a:solidFill>
              </a:rPr>
              <a:t>sıfır uyarı</a:t>
            </a:r>
            <a:r>
              <a:rPr sz="2000" b="0">
                <a:solidFill>
                  <a:srgbClr val="1F2D3A"/>
                </a:solidFill>
              </a:rPr>
              <a:t> (CI zorlar).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geliştiricinin kendi tarama raporunu ister.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Sanitizer nedir?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Programı </a:t>
            </a:r>
            <a:r>
              <a:rPr sz="2000" b="1">
                <a:solidFill>
                  <a:srgbClr val="1F2D3A"/>
                </a:solidFill>
              </a:rPr>
              <a:t>çalıştırırken</a:t>
            </a:r>
            <a:r>
              <a:rPr sz="2000" b="0">
                <a:solidFill>
                  <a:srgbClr val="1F2D3A"/>
                </a:solidFill>
              </a:rPr>
              <a:t> bellek/UB hatalarını yakalayan araç.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Yanlış alarm neredeyse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ama yalnız </a:t>
            </a:r>
            <a:r>
              <a:rPr sz="2000" b="1">
                <a:solidFill>
                  <a:srgbClr val="1F2D3A"/>
                </a:solidFill>
              </a:rPr>
              <a:t>çalışan yoldaki</a:t>
            </a:r>
            <a:r>
              <a:rPr sz="2000" b="0">
                <a:solidFill>
                  <a:srgbClr val="1F2D3A"/>
                </a:solidFill>
              </a:rPr>
              <a:t> hatayı bulur.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→ test + fuzzing ile birlikte.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Sanitizer ailesi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7163"/>
                <a:gridCol w="4560044"/>
                <a:gridCol w="4234327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Bulduğu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Bayrak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Taşma, UAF, çift bırakma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LSan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 ile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UBSan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Taşma, kaydırma, NULL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-fsanitize=undefined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İlklendirilmemiş okuma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yarışı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-fsanitize=thread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 nasıl çalışır? · gölge bellek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8 bayt için 1 </a:t>
            </a:r>
            <a:r>
              <a:rPr sz="2000" b="1">
                <a:solidFill>
                  <a:srgbClr val="1F2D3A"/>
                </a:solidFill>
              </a:rPr>
              <a:t>gölge bayt</a:t>
            </a:r>
            <a:r>
              <a:rPr sz="2000" b="0">
                <a:solidFill>
                  <a:srgbClr val="1F2D3A"/>
                </a:solidFill>
              </a:rPr>
              <a:t>: ne kadarı geçerli?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Dizilerin önüne/arkasına </a:t>
            </a:r>
            <a:r>
              <a:rPr sz="2000" b="1">
                <a:solidFill>
                  <a:srgbClr val="1F2D3A"/>
                </a:solidFill>
              </a:rPr>
              <a:t>zehirli bölge</a:t>
            </a:r>
            <a:r>
              <a:rPr sz="2000" b="0">
                <a:solidFill>
                  <a:srgbClr val="1F2D3A"/>
                </a:solidFill>
              </a:rPr>
              <a:t> (redzone).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Serbest bloklar </a:t>
            </a:r>
            <a:r>
              <a:rPr sz="2000" b="1">
                <a:solidFill>
                  <a:srgbClr val="1F2D3A"/>
                </a:solidFill>
              </a:rPr>
              <a:t>karantinada</a:t>
            </a:r>
            <a:r>
              <a:rPr sz="2000" b="0">
                <a:solidFill>
                  <a:srgbClr val="1F2D3A"/>
                </a:solidFill>
              </a:rPr>
              <a:t> bekler.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erişimden önce gölge denetimi.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ASan'ın kör noktası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{ char ad[8]; long yetki; } 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strcpy(k.ad, uzun_girdi);   /* ad → yetki taşar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yapının </a:t>
            </a:r>
            <a:r>
              <a:rPr sz="2000" b="1">
                <a:solidFill>
                  <a:srgbClr val="1F2D3A"/>
                </a:solidFill>
              </a:rPr>
              <a:t>içinde</a:t>
            </a:r>
            <a:r>
              <a:rPr sz="2000" b="0">
                <a:solidFill>
                  <a:srgbClr val="1F2D3A"/>
                </a:solidFill>
              </a:rPr>
              <a:t> alandan alana taşma → arada zehirli bölge yok → ASan </a:t>
            </a:r>
            <a:r>
              <a:rPr sz="2000" b="1">
                <a:solidFill>
                  <a:srgbClr val="1F2D3A"/>
                </a:solidFill>
              </a:rPr>
              <a:t>görmez</a:t>
            </a:r>
            <a:r>
              <a:rPr sz="2000" b="0">
                <a:solidFill>
                  <a:srgbClr val="1F2D3A"/>
                </a:solidFill>
              </a:rPr>
              <a:t> (1. hafta Demo 3).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Sanitizer sürüme gitmez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gcc -g -O1 -fno-omit-frame-pointer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-fsanitize=address,undefined p.c -o p_test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Yavaşlatır (~2×), bellek kullanır.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test/CI</a:t>
            </a:r>
            <a:r>
              <a:rPr sz="2000" b="0">
                <a:solidFill>
                  <a:srgbClr val="1F2D3A"/>
                </a:solidFill>
              </a:rPr>
              <a:t>'da; sürümde kapalı.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nedir? · kapsam güdümlü</a:t>
            </a:r>
          </a:p>
        </p:txBody>
      </p:sp>
      <p:pic>
        <p:nvPicPr>
          <p:cNvPr id="7" name="Picture 6" descr="h04-01-fuzzing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116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84725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Yeni kod yolu açan girdi </a:t>
            </a:r>
            <a:r>
              <a:rPr sz="2000" b="1">
                <a:solidFill>
                  <a:srgbClr val="1F2D3A"/>
                </a:solidFill>
              </a:rPr>
              <a:t>saklanır</a:t>
            </a:r>
            <a:r>
              <a:rPr sz="2000" b="0">
                <a:solidFill>
                  <a:srgbClr val="1F2D3A"/>
                </a:solidFill>
              </a:rPr>
              <a:t> ve üzerinde çalışılır.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ne bulur?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Sihirli baytları, doğru uzunluk alanını </a:t>
            </a:r>
            <a:r>
              <a:rPr sz="2000" b="1">
                <a:solidFill>
                  <a:srgbClr val="1F2D3A"/>
                </a:solidFill>
              </a:rPr>
              <a:t>kendiliğinden</a:t>
            </a:r>
            <a:r>
              <a:rPr sz="2000" b="0">
                <a:solidFill>
                  <a:srgbClr val="1F2D3A"/>
                </a:solidFill>
              </a:rPr>
              <a:t>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İnsanın düşünmediği girdileri.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Araçlar: libFuzzer, AFL++, honggfuzz, OSS-Fuzz (on binlerce hata).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 hedefi yazmak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LLVMFuzzerTestOneInput(const uint8_t *veri, size_t boyut)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ayristir(veri, boyut);   /* sınanacak fonksiyon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465832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clang -g -O1 -fsanitize=fuzzer,address fuzz.c ayristir.c -o 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./f corpus/ -max_total_time=10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fuzz hedefi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Dört özellik: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 (ağ/disk yok)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Deterministik</a:t>
            </a:r>
            <a:r>
              <a:rPr sz="2000" b="0">
                <a:solidFill>
                  <a:srgbClr val="1F2D3A"/>
                </a:solidFill>
              </a:rPr>
              <a:t> (aynı girdi → aynı sonuç)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Durumsuz</a:t>
            </a:r>
            <a:r>
              <a:rPr sz="2000" b="0">
                <a:solidFill>
                  <a:srgbClr val="1F2D3A"/>
                </a:solidFill>
              </a:rPr>
              <a:t> (önceki çağrıdan etkilenmez)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 iş</a:t>
            </a:r>
            <a:r>
              <a:rPr sz="2000" b="0">
                <a:solidFill>
                  <a:srgbClr val="1F2D3A"/>
                </a:solidFill>
              </a:rPr>
              <a:t> (bir fonksiyonu sınar)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4 — fuzzing ile hata bulmak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code/week-04/04-fuzzing</a:t>
            </a:r>
            <a:r>
              <a:rPr sz="1800" b="0">
                <a:solidFill>
                  <a:srgbClr val="1F2D3A"/>
                </a:solidFill>
              </a:rPr>
              <a:t> · CWE-125/787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8365509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691063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olur?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tohum/normal.bin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sorunsuz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libFuzzer ≤ 10 sn → çökerten girdi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 ile yeniden oynat → tam rapor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Düzeltilmiş sürüm → çökme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cokerten.bin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güvenle reddedilir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03158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"Şu fonksiyon şu süre fuzzlandı" = güçlü kanıt (S16).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Statik ve dinamik analizin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ASan hangi taşmayı göremez?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İyi fuzz hedefinin dört özelliği?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Statik:</a:t>
            </a:r>
            <a:r>
              <a:rPr sz="2000" b="0">
                <a:solidFill>
                  <a:srgbClr val="1F2D3A"/>
                </a:solidFill>
              </a:rPr>
              <a:t> kodu çalıştırmadan tüm yolları inceler (yanlış pozitif olabilir). </a:t>
            </a:r>
            <a:r>
              <a:rPr sz="2000" b="1">
                <a:solidFill>
                  <a:srgbClr val="1F2D3A"/>
                </a:solidFill>
              </a:rPr>
              <a:t>Dinamik:</a:t>
            </a:r>
            <a:r>
              <a:rPr sz="2000" b="0">
                <a:solidFill>
                  <a:srgbClr val="1F2D3A"/>
                </a:solidFill>
              </a:rPr>
              <a:t> çalıştırırken yalnız yürütülen yolda </a:t>
            </a:r>
            <a:r>
              <a:rPr sz="2000" b="1">
                <a:solidFill>
                  <a:srgbClr val="1F2D3A"/>
                </a:solidFill>
              </a:rPr>
              <a:t>gerçek</a:t>
            </a:r>
            <a:r>
              <a:rPr sz="2000" b="0">
                <a:solidFill>
                  <a:srgbClr val="1F2D3A"/>
                </a:solidFill>
              </a:rPr>
              <a:t> hatayı gözler.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ASan </a:t>
            </a:r>
            <a:r>
              <a:rPr sz="2000" b="1">
                <a:solidFill>
                  <a:srgbClr val="1F2D3A"/>
                </a:solidFill>
              </a:rPr>
              <a:t>redzone</a:t>
            </a:r>
            <a:r>
              <a:rPr sz="2000" b="0">
                <a:solidFill>
                  <a:srgbClr val="1F2D3A"/>
                </a:solidFill>
              </a:rPr>
              <a:t> koyduğu yerleri görür; bir nesnenin </a:t>
            </a:r>
            <a:r>
              <a:rPr sz="2000" b="1">
                <a:solidFill>
                  <a:srgbClr val="1F2D3A"/>
                </a:solidFill>
              </a:rPr>
              <a:t>içindeki</a:t>
            </a:r>
            <a:r>
              <a:rPr sz="2000" b="0">
                <a:solidFill>
                  <a:srgbClr val="1F2D3A"/>
                </a:solidFill>
              </a:rPr>
              <a:t> alanlar arası taşmayı ve </a:t>
            </a:r>
            <a:r>
              <a:rPr sz="2000" b="1">
                <a:solidFill>
                  <a:srgbClr val="1F2D3A"/>
                </a:solidFill>
              </a:rPr>
              <a:t>hiç çalışmayan</a:t>
            </a:r>
            <a:r>
              <a:rPr sz="2000" b="0">
                <a:solidFill>
                  <a:srgbClr val="1F2D3A"/>
                </a:solidFill>
              </a:rPr>
              <a:t> yolları göremez.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deterministik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kendine yeterli</a:t>
            </a:r>
            <a:r>
              <a:rPr sz="2000" b="0">
                <a:solidFill>
                  <a:srgbClr val="1F2D3A"/>
                </a:solidFill>
              </a:rPr>
              <a:t> (dış duruma bağlı değil), </a:t>
            </a:r>
            <a:r>
              <a:rPr sz="2000" b="1">
                <a:solidFill>
                  <a:srgbClr val="1F2D3A"/>
                </a:solidFill>
              </a:rPr>
              <a:t>dar bir girdi yüzeyi</a:t>
            </a:r>
            <a:r>
              <a:rPr sz="2000" b="0">
                <a:solidFill>
                  <a:srgbClr val="1F2D3A"/>
                </a:solidFill>
              </a:rPr>
              <a:t> işleyen; çökmede net başarısızlık veren hedef.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Derleyici ve OS korumaları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Derleyici/OS korumaları — şema</a:t>
            </a:r>
          </a:p>
        </p:txBody>
      </p:sp>
      <p:pic>
        <p:nvPicPr>
          <p:cNvPr id="7" name="Picture 6" descr="h04-02-derleyici-os-koruma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917539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3 ·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Hata kaçtı diyelim.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Sömürüyü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kılan otomatik korumalar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bir </a:t>
            </a:r>
            <a:r>
              <a:rPr sz="2000" b="1">
                <a:solidFill>
                  <a:srgbClr val="1F2D3A"/>
                </a:solidFill>
              </a:rPr>
              <a:t>derleme bayrağıyla</a:t>
            </a:r>
            <a:r>
              <a:rPr sz="2000" b="0">
                <a:solidFill>
                  <a:srgbClr val="1F2D3A"/>
                </a:solidFill>
              </a:rPr>
              <a:t> açılır.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Bedava değil ama ucuz.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Yığın kanaryası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 adresinden önce bir </a:t>
            </a:r>
            <a:r>
              <a:rPr sz="2000" b="1">
                <a:solidFill>
                  <a:srgbClr val="1F2D3A"/>
                </a:solidFill>
              </a:rPr>
              <a:t>nöbetçi değer</a:t>
            </a:r>
            <a:r>
              <a:rPr sz="2000" b="0">
                <a:solidFill>
                  <a:srgbClr val="1F2D3A"/>
                </a:solidFill>
              </a:rPr>
              <a:t> konur.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Taşma bu değeri bozarsa, dönüşten önce fark edilir ve program </a:t>
            </a:r>
            <a:r>
              <a:rPr sz="2000" b="1">
                <a:solidFill>
                  <a:srgbClr val="1F2D3A"/>
                </a:solidFill>
              </a:rPr>
              <a:t>durur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-fstack-protector-strong</a:t>
            </a:r>
            <a:r>
              <a:rPr sz="2000" b="0">
                <a:solidFill>
                  <a:srgbClr val="1F2D3A"/>
                </a:solidFill>
              </a:rPr>
              <a:t> / MSVC </a:t>
            </a:r>
            <a:r>
              <a:rPr sz="2000" b="0">
                <a:solidFill>
                  <a:srgbClr val="A1123F"/>
                </a:solidFill>
                <a:latin typeface="Consolas"/>
              </a:rPr>
              <a:t>/GS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Yığın taşması ve kanarya — şema</a:t>
            </a:r>
          </a:p>
        </p:txBody>
      </p:sp>
      <p:pic>
        <p:nvPicPr>
          <p:cNvPr id="7" name="Picture 6" descr="h04-04-yigin-kanary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4094620"/>
          </a:xfrm>
          <a:prstGeom prst="rect">
            <a:avLst/>
          </a:prstGeom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_FORTIFY_SOURCE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Boyutu bilinen tampona fazla yazan </a:t>
            </a:r>
            <a:r>
              <a:rPr sz="2000" b="1">
                <a:solidFill>
                  <a:srgbClr val="1F2D3A"/>
                </a:solidFill>
              </a:rPr>
              <a:t>kütüphane çağrılarını</a:t>
            </a:r>
            <a:r>
              <a:rPr sz="2000" b="0">
                <a:solidFill>
                  <a:srgbClr val="1F2D3A"/>
                </a:solidFill>
              </a:rPr>
              <a:t> yakalar.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-D_FORTIFY_SOURCE=2</a:t>
            </a:r>
            <a:r>
              <a:rPr sz="2000" b="0">
                <a:solidFill>
                  <a:srgbClr val="1F2D3A"/>
                </a:solidFill>
              </a:rPr>
              <a:t> (+ en az </a:t>
            </a:r>
            <a:r>
              <a:rPr sz="2000" b="0">
                <a:solidFill>
                  <a:srgbClr val="A1123F"/>
                </a:solidFill>
                <a:latin typeface="Consolas"/>
              </a:rPr>
              <a:t>-O1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döngülerinizi </a:t>
            </a:r>
            <a:r>
              <a:rPr sz="2000" b="1">
                <a:solidFill>
                  <a:srgbClr val="1F2D3A"/>
                </a:solidFill>
              </a:rPr>
              <a:t>korumaz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PIE + ASLR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ASLR:</a:t>
            </a:r>
            <a:r>
              <a:rPr sz="2000" b="0">
                <a:solidFill>
                  <a:srgbClr val="1F2D3A"/>
                </a:solidFill>
              </a:rPr>
              <a:t> adresleri rastgeleleştirir.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PIE:</a:t>
            </a:r>
            <a:r>
              <a:rPr sz="2000" b="0">
                <a:solidFill>
                  <a:srgbClr val="1F2D3A"/>
                </a:solidFill>
              </a:rPr>
              <a:t> programın da rastgele yüklenmesini sağlar.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-fPIE -pie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/DYNAMICBASE /HIGHENTROPYVA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DEP/NX ve RELRO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DEP/NX:</a:t>
            </a:r>
            <a:r>
              <a:rPr sz="2000" b="0">
                <a:solidFill>
                  <a:srgbClr val="1F2D3A"/>
                </a:solidFill>
              </a:rPr>
              <a:t> veri bölgesini çalıştırılamaz yapar (varsayılan).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RELRO:</a:t>
            </a:r>
            <a:r>
              <a:rPr sz="2000" b="0">
                <a:solidFill>
                  <a:srgbClr val="1F2D3A"/>
                </a:solidFill>
              </a:rPr>
              <a:t> GOT gibi tabloları salt-okunur yapar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-Wl,-z,relro,-z,now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CFI / CFG ve gölge yığın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CFI/CFG:</a:t>
            </a:r>
            <a:r>
              <a:rPr sz="2000" b="0">
                <a:solidFill>
                  <a:srgbClr val="1F2D3A"/>
                </a:solidFill>
              </a:rPr>
              <a:t> dolaylı çağrıların yalnız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hedeflere gitmesini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-fcf-protection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-fsanitize=cfi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/guard:cf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Gölge yığın:</a:t>
            </a:r>
            <a:r>
              <a:rPr sz="2000" b="0">
                <a:solidFill>
                  <a:srgbClr val="1F2D3A"/>
                </a:solidFill>
              </a:rPr>
              <a:t> dönüş adreslerinin ikinci kopyası (CET).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Korumalar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07"/>
                <a:gridCol w="5455767"/>
                <a:gridCol w="3273460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GCC/Clang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MSVC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-fstack-protector-strong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FORTIFY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-D_FORTIFY_SOURCE=2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CRT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PIE/ASLR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-fPIE -pie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/DYNAMICBASE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varsayılan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/NXCOMPAT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RELRO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-Wl,-z,relro,-z,now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-fcf-protection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/guard:cf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Her koruma sınırlıdır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0519"/>
                <a:gridCol w="4456824"/>
                <a:gridCol w="476419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Durdurur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Durdurmaz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Kanarya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 adresine taşma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Öbek taşması, sızan kanarya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FORTIFY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Kütüphane çağrısı taşması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 döngüleriniz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ASLR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Sabit adres varsayımı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Adres sızıntısı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bölgesinde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Kod yeniden kullanımı (ROP)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Her koruma bir </a:t>
            </a:r>
            <a:r>
              <a:rPr sz="2000" b="1">
                <a:solidFill>
                  <a:srgbClr val="1F2D3A"/>
                </a:solidFill>
              </a:rPr>
              <a:t>tekniği</a:t>
            </a:r>
            <a:r>
              <a:rPr sz="2000" b="0">
                <a:solidFill>
                  <a:srgbClr val="1F2D3A"/>
                </a:solidFill>
              </a:rPr>
              <a:t> zorlaştırır, bir </a:t>
            </a:r>
            <a:r>
              <a:rPr sz="2000" b="1">
                <a:solidFill>
                  <a:srgbClr val="1F2D3A"/>
                </a:solidFill>
              </a:rPr>
              <a:t>hata sınıfını</a:t>
            </a:r>
            <a:r>
              <a:rPr sz="2000" b="0">
                <a:solidFill>
                  <a:srgbClr val="1F2D3A"/>
                </a:solidFill>
              </a:rPr>
              <a:t> kaldırmaz.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Mantık hatasına </a:t>
            </a:r>
            <a:r>
              <a:rPr sz="2000" b="1">
                <a:solidFill>
                  <a:srgbClr val="1F2D3A"/>
                </a:solidFill>
              </a:rPr>
              <a:t>hiçbiri</a:t>
            </a:r>
            <a:r>
              <a:rPr sz="2000" b="0">
                <a:solidFill>
                  <a:srgbClr val="1F2D3A"/>
                </a:solidFill>
              </a:rPr>
              <a:t> yetmez → önce güvenli kodlama.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5 — korumaları açıp kapatmak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code/week-04/05-derleyici-korumalari</a:t>
            </a:r>
            <a:r>
              <a:rPr sz="1800" b="0">
                <a:solidFill>
                  <a:srgbClr val="1F2D3A"/>
                </a:solidFill>
              </a:rPr>
              <a:t> · CWE-121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Aynı taşma: </a:t>
            </a:r>
            <a:r>
              <a:rPr sz="1800" b="0">
                <a:solidFill>
                  <a:srgbClr val="A1123F"/>
                </a:solidFill>
                <a:latin typeface="Consolas"/>
              </a:rPr>
              <a:t>giris_zayif</a:t>
            </a:r>
            <a:r>
              <a:rPr sz="1800" b="0">
                <a:solidFill>
                  <a:srgbClr val="1F2D3A"/>
                </a:solidFill>
              </a:rPr>
              <a:t> (kapalı) vs </a:t>
            </a:r>
            <a:r>
              <a:rPr sz="1800" b="0">
                <a:solidFill>
                  <a:srgbClr val="A1123F"/>
                </a:solidFill>
                <a:latin typeface="Consolas"/>
              </a:rPr>
              <a:t>giris_sert</a:t>
            </a:r>
            <a:r>
              <a:rPr sz="1800" b="0">
                <a:solidFill>
                  <a:srgbClr val="1F2D3A"/>
                </a:solidFill>
              </a:rPr>
              <a:t> (açık).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Sert: </a:t>
            </a:r>
            <a:r>
              <a:rPr sz="1800" b="0">
                <a:solidFill>
                  <a:srgbClr val="A1123F"/>
                </a:solidFill>
                <a:latin typeface="Consolas"/>
              </a:rPr>
              <a:t>*** stack smashing detected ***</a:t>
            </a:r>
            <a:r>
              <a:rPr sz="1800" b="0">
                <a:solidFill>
                  <a:srgbClr val="1F2D3A"/>
                </a:solidFill>
              </a:rPr>
              <a:t> / Windows </a:t>
            </a:r>
            <a:r>
              <a:rPr sz="1800" b="0">
                <a:solidFill>
                  <a:srgbClr val="A1123F"/>
                </a:solidFill>
                <a:latin typeface="Consolas"/>
              </a:rPr>
              <a:t>0xC0000409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Zayıf: sessiz bozulma ya da çökme.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72383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readelf -h p | grep Type          # DYN = PIE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readelf -d p | grep BIND_NOW      # tam RELRO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readelf -s p | grep __stack_chk   # kanarya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Önerilen sürüm bayrakları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GCC/Clang: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-O2 -D_FORTIFY_SOURCE=2 -fstack-protector-strong -fPIE -pie -Wl,-z,relro,-z,now -fcf-protection -Wall -Wextra -Wformat=2 -Werror=format-security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MSVC: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050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/O2 /GS /sdl /guard:cf /DYNAMICBASE /HIGHENTROPYVA /NXCOMPAT /CETCOMPAT /W4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Koruma tablosu = kanıt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her ikili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.so</a:t>
            </a:r>
            <a:r>
              <a:rPr sz="2000" b="0">
                <a:solidFill>
                  <a:srgbClr val="1F2D3A"/>
                </a:solidFill>
              </a:rPr>
              <a:t> için </a:t>
            </a:r>
            <a:r>
              <a:rPr sz="2000" b="1">
                <a:solidFill>
                  <a:srgbClr val="1F2D3A"/>
                </a:solidFill>
              </a:rPr>
              <a:t>koruma tablosu</a:t>
            </a:r>
            <a:r>
              <a:rPr sz="2000" b="0">
                <a:solidFill>
                  <a:srgbClr val="1F2D3A"/>
                </a:solidFill>
              </a:rPr>
              <a:t>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Kapalı koruma bir </a:t>
            </a:r>
            <a:r>
              <a:rPr sz="2000" b="1">
                <a:solidFill>
                  <a:srgbClr val="1F2D3A"/>
                </a:solidFill>
              </a:rPr>
              <a:t>bulgudur</a:t>
            </a:r>
            <a:r>
              <a:rPr sz="2000" b="0">
                <a:solidFill>
                  <a:srgbClr val="1F2D3A"/>
                </a:solidFill>
              </a:rPr>
              <a:t>; gerekçesi ödünleşim kaydında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Şema: uygulama, korumaların açık olduğunu </a:t>
            </a:r>
            <a:r>
              <a:rPr sz="2000" b="1">
                <a:solidFill>
                  <a:srgbClr val="1F2D3A"/>
                </a:solidFill>
              </a:rPr>
              <a:t>kendisi</a:t>
            </a:r>
            <a:r>
              <a:rPr sz="2000" b="0">
                <a:solidFill>
                  <a:srgbClr val="1F2D3A"/>
                </a:solidFill>
              </a:rPr>
              <a:t> de denetleyebilir.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derleme hattı (CI)</a:t>
            </a:r>
          </a:p>
        </p:txBody>
      </p:sp>
      <p:pic>
        <p:nvPicPr>
          <p:cNvPr id="7" name="Picture 6" descr="h04-03-ci-hat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610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09668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hatalı adım birleştirmeyi </a:t>
            </a:r>
            <a:r>
              <a:rPr sz="2000" b="1">
                <a:solidFill>
                  <a:srgbClr val="1F2D3A"/>
                </a:solidFill>
              </a:rPr>
              <a:t>durdurur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CI · başarısızlık ölçütü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5842"/>
                <a:gridCol w="7215692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Başarısızlık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uyarı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Sanitizer'lı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Herhangi bir rapor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 çökme (eski corpus = regresyon)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İkili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Günlük dizgesi, sembol, kapalı koruma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Dersin CMake kipleri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183650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5455767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Bayraklar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korumasiz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optimize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-O1 -fsanitize=address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denetimli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-O2 -D_FORTIFY_SOURCE=2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guvenli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-O2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düzeltilmiş kaynak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Koruma bayraklarının çoğu: Demo 5 </a:t>
            </a:r>
            <a:r>
              <a:rPr sz="1800" b="0">
                <a:solidFill>
                  <a:srgbClr val="A1123F"/>
                </a:solidFill>
                <a:latin typeface="Consolas"/>
              </a:rPr>
              <a:t>giris_sert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Derleme ortamı da hedeftir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Erişim kaydı; bağımlılık </a:t>
            </a:r>
            <a:r>
              <a:rPr sz="2000" b="1">
                <a:solidFill>
                  <a:srgbClr val="1F2D3A"/>
                </a:solidFill>
              </a:rPr>
              <a:t>sabitleme</a:t>
            </a:r>
            <a:r>
              <a:rPr sz="2000" b="0">
                <a:solidFill>
                  <a:srgbClr val="1F2D3A"/>
                </a:solidFill>
              </a:rPr>
              <a:t> (5. hafta SBOM).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İmzalı sürüm; </a:t>
            </a:r>
            <a:r>
              <a:rPr sz="2000" b="1">
                <a:solidFill>
                  <a:srgbClr val="1F2D3A"/>
                </a:solidFill>
              </a:rPr>
              <a:t>yeniden üretilebilir</a:t>
            </a:r>
            <a:r>
              <a:rPr sz="2000" b="0">
                <a:solidFill>
                  <a:srgbClr val="1F2D3A"/>
                </a:solidFill>
              </a:rPr>
              <a:t> derleme.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makinesi ele geçerse tüm ürün etkilenir.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Kanarya neyi durdurur, neyi durdurmaz?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ASLR neden bir bilgi sızıntısıyla zayıflar?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Neden "hiçbir koruma mantık hatasına yetmez"?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Durdurur:</a:t>
            </a:r>
            <a:r>
              <a:rPr sz="2000" b="0">
                <a:solidFill>
                  <a:srgbClr val="1F2D3A"/>
                </a:solidFill>
              </a:rPr>
              <a:t> dönüş adresini ezen </a:t>
            </a:r>
            <a:r>
              <a:rPr sz="2000" b="1">
                <a:solidFill>
                  <a:srgbClr val="1F2D3A"/>
                </a:solidFill>
              </a:rPr>
              <a:t>ardışık</a:t>
            </a:r>
            <a:r>
              <a:rPr sz="2000" b="0">
                <a:solidFill>
                  <a:srgbClr val="1F2D3A"/>
                </a:solidFill>
              </a:rPr>
              <a:t> yığın taşmasını (kanarya bozulur). </a:t>
            </a:r>
            <a:r>
              <a:rPr sz="2000" b="1">
                <a:solidFill>
                  <a:srgbClr val="1F2D3A"/>
                </a:solidFill>
              </a:rPr>
              <a:t>Durdurmaz:</a:t>
            </a:r>
            <a:r>
              <a:rPr sz="2000" b="0">
                <a:solidFill>
                  <a:srgbClr val="1F2D3A"/>
                </a:solidFill>
              </a:rPr>
              <a:t> hedefli yazma, heap taşması, bilgi sızıntısı.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Tek bir </a:t>
            </a:r>
            <a:r>
              <a:rPr sz="2000" b="1">
                <a:solidFill>
                  <a:srgbClr val="1F2D3A"/>
                </a:solidFill>
              </a:rPr>
              <a:t>sızan adres</a:t>
            </a:r>
            <a:r>
              <a:rPr sz="2000" b="0">
                <a:solidFill>
                  <a:srgbClr val="1F2D3A"/>
                </a:solidFill>
              </a:rPr>
              <a:t> modülün taban adresini açığa çıkarır (offset sabit) → tüm rastgelelik çöker.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Korumalar </a:t>
            </a:r>
            <a:r>
              <a:rPr sz="2000" b="1">
                <a:solidFill>
                  <a:srgbClr val="1F2D3A"/>
                </a:solidFill>
              </a:rPr>
              <a:t>bellek</a:t>
            </a:r>
            <a:r>
              <a:rPr sz="2000" b="0">
                <a:solidFill>
                  <a:srgbClr val="1F2D3A"/>
                </a:solidFill>
              </a:rPr>
              <a:t> ihlalini yakalar; yanlış yetkilendirme/iş kuralı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bellek erişimidir → hiçbir koruma tetiklenmez. Doğru tasarım + inceleme gerekir.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Kod gizlemeye giriş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4 · neden?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kutu saldırgan: dizgeleri okur, fonksiyonları adıyla bulur, denetimi atlar.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Gizleme: davranış aynı, </a:t>
            </a:r>
            <a:r>
              <a:rPr sz="2000" b="1">
                <a:solidFill>
                  <a:srgbClr val="1F2D3A"/>
                </a:solidFill>
              </a:rPr>
              <a:t>anlaşılması zor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Gizlemenin amacı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İmkânsız kılmak değil,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kılmak (Cookbook 12.1):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 &gt; korunan değer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otomasyonu zorlaştır (çeşitlendirme, 14.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 katmanlara </a:t>
            </a:r>
            <a:r>
              <a:rPr sz="2000" b="1">
                <a:solidFill>
                  <a:srgbClr val="1F2D3A"/>
                </a:solidFill>
              </a:rPr>
              <a:t>zaman</a:t>
            </a:r>
            <a:r>
              <a:rPr sz="2000" b="0">
                <a:solidFill>
                  <a:srgbClr val="1F2D3A"/>
                </a:solidFill>
              </a:rPr>
              <a:t> kazandır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Tek gelişmiş teknik yerine </a:t>
            </a:r>
            <a:r>
              <a:rPr sz="2000" b="1">
                <a:solidFill>
                  <a:srgbClr val="1F2D3A"/>
                </a:solidFill>
              </a:rPr>
              <a:t>birkaç basit teknik + veri gizleme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Gizleme haritası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27480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546472"/>
                <a:gridCol w="1636730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Neyi gizler?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Adlar, yapı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Sabit, dize, değişken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Kontrol akışı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Algoritma yapısı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Analiz aracı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9, 14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Sahadan: native tarafta 18 önlem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Sembol görünürlüğü kapalı · ad anlamsızlaştırma · sabit aritmetik gizleme · dize şifreleme (kullanınca çöz, </a:t>
            </a:r>
            <a:r>
              <a:rPr sz="2000" b="1">
                <a:solidFill>
                  <a:srgbClr val="1F2D3A"/>
                </a:solidFill>
              </a:rPr>
              <a:t>hemen sil</a:t>
            </a:r>
            <a:r>
              <a:rPr sz="2000" b="0">
                <a:solidFill>
                  <a:srgbClr val="1F2D3A"/>
                </a:solidFill>
              </a:rPr>
              <a:t>) · opak boolean · kendi kütüphane fonksiyonları · sahte işlem/ölü dal · düzleştirme + rastgele çıkış · sürümde günlük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359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Güç </a:t>
            </a:r>
            <a:r>
              <a:rPr sz="2000" b="1">
                <a:solidFill>
                  <a:srgbClr val="1F2D3A"/>
                </a:solidFill>
              </a:rPr>
              <a:t>birliktelikten</a:t>
            </a:r>
            <a:r>
              <a:rPr sz="2000" b="0">
                <a:solidFill>
                  <a:srgbClr val="1F2D3A"/>
                </a:solidFill>
              </a:rPr>
              <a:t> ve RASP'tan.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ucuz önlem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9275"/>
                <a:gridCol w="770226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Nasıl?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Sembolleri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static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-fvisibility=hidden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strip -s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Günlüğü kaldır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Makroyu derlemede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boşalt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Dizgeleri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Derlemede şifrele, kullanınca çöz, hemen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Günlük makrosu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#ifdef GUNLUK_ACIK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define GUNLUK(...) fprintf(stderr, __VA_ARGS__)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#else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define GUNLUK(...) ((void)0)   /* dizge de çağrı da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#endif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Sürümde </a:t>
            </a:r>
            <a:r>
              <a:rPr sz="2000" b="0">
                <a:solidFill>
                  <a:srgbClr val="A1123F"/>
                </a:solidFill>
                <a:latin typeface="Consolas"/>
              </a:rPr>
              <a:t>GUNLUK_ACIK</a:t>
            </a:r>
            <a:r>
              <a:rPr sz="2000" b="0">
                <a:solidFill>
                  <a:srgbClr val="1F2D3A"/>
                </a:solidFill>
              </a:rPr>
              <a:t> tanımlı değil → günlük </a:t>
            </a:r>
            <a:r>
              <a:rPr sz="2000" b="1">
                <a:solidFill>
                  <a:srgbClr val="1F2D3A"/>
                </a:solidFill>
              </a:rPr>
              <a:t>hiç derlenmez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Çalışma anı bayrağı yetmez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(hata_ayikla) printf("...");  /* KÖTÜ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Dizge ikili dosyada </a:t>
            </a:r>
            <a:r>
              <a:rPr sz="2000" b="1">
                <a:solidFill>
                  <a:srgbClr val="1F2D3A"/>
                </a:solidFill>
              </a:rPr>
              <a:t>kalır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bayrağı değiştirip günlüğü </a:t>
            </a:r>
            <a:r>
              <a:rPr sz="2000" b="1">
                <a:solidFill>
                  <a:srgbClr val="1F2D3A"/>
                </a:solidFill>
              </a:rPr>
              <a:t>yeniden açar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derleme anında </a:t>
            </a:r>
            <a:r>
              <a:rPr sz="2000" b="1">
                <a:solidFill>
                  <a:srgbClr val="1F2D3A"/>
                </a:solidFill>
              </a:rPr>
              <a:t>çıkar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Dize gizleme ≠ anahtar saklama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Çözülen dizge kullanım anında </a:t>
            </a:r>
            <a:r>
              <a:rPr sz="2000" b="1">
                <a:solidFill>
                  <a:srgbClr val="1F2D3A"/>
                </a:solidFill>
              </a:rPr>
              <a:t>bellekte açık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anahtarı </a:t>
            </a:r>
            <a:r>
              <a:rPr sz="2000" b="1">
                <a:solidFill>
                  <a:srgbClr val="1F2D3A"/>
                </a:solidFill>
              </a:rPr>
              <a:t>programın içinde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Durdurduğu: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gibi </a:t>
            </a:r>
            <a:r>
              <a:rPr sz="2000" b="1">
                <a:solidFill>
                  <a:srgbClr val="1F2D3A"/>
                </a:solidFill>
              </a:rPr>
              <a:t>statik</a:t>
            </a:r>
            <a:r>
              <a:rPr sz="2000" b="0">
                <a:solidFill>
                  <a:srgbClr val="1F2D3A"/>
                </a:solidFill>
              </a:rPr>
              <a:t> taramalar.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inceleyene → RASP (6). Gerçek anahtar → whitebox (11).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6 — sembol ve dize sızıntısı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code/week-04/06-sembol-dize</a:t>
            </a:r>
            <a:r>
              <a:rPr sz="1800" b="0">
                <a:solidFill>
                  <a:srgbClr val="1F2D3A"/>
                </a:solidFill>
              </a:rPr>
              <a:t> · CWE-200/215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046"/>
                <a:gridCol w="8393488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olur?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gizli_acik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ve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gizli_kapali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aynı sonuç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strings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Açıkta lisans dizgesi ve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[LOG]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kapalıda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Açıkta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lisans_dogrula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kapalıda sembol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Windows: adlar PDB'de; kapalı PDB üretmez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Sembol ve dize gizleme — şema</a:t>
            </a:r>
          </a:p>
        </p:txBody>
      </p:sp>
      <p:pic>
        <p:nvPicPr>
          <p:cNvPr id="7" name="Picture 6" descr="h04-18-sembol-dize-gizl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041511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düzleştirme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(;;) switch (durum)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1: durum = 2;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2: durum = (kosul ? 3 : 4);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3: durum = 5;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4: return BASARISIZ;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5: return BASARILI;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21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Blokların doğal komşuluğu kaybolur; sıra yalnız </a:t>
            </a:r>
            <a:r>
              <a:rPr sz="2000" b="1">
                <a:solidFill>
                  <a:srgbClr val="1F2D3A"/>
                </a:solidFill>
              </a:rPr>
              <a:t>durum değişkeninde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Düzleştirme: önce/sonra — şema</a:t>
            </a:r>
          </a:p>
        </p:txBody>
      </p:sp>
      <p:pic>
        <p:nvPicPr>
          <p:cNvPr id="7" name="Picture 6" descr="h04-19-duzlestirme-gir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29419"/>
          </a:xfrm>
          <a:prstGeom prst="rect">
            <a:avLst/>
          </a:prstGeom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Düzleştirmeyi güçlendirenler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Durum değerlerini gizle</a:t>
            </a:r>
            <a:r>
              <a:rPr sz="2000" b="0">
                <a:solidFill>
                  <a:srgbClr val="1F2D3A"/>
                </a:solidFill>
              </a:rPr>
              <a:t> (aritmetik dönüşüm)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Sahte/ölü bloklar</a:t>
            </a:r>
            <a:r>
              <a:rPr sz="2000" b="0">
                <a:solidFill>
                  <a:srgbClr val="1F2D3A"/>
                </a:solidFill>
              </a:rPr>
              <a:t> (hangisi gerçek?)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Rastgele çıkış</a:t>
            </a:r>
            <a:r>
              <a:rPr sz="2000" b="0">
                <a:solidFill>
                  <a:srgbClr val="1F2D3A"/>
                </a:solidFill>
              </a:rPr>
              <a:t> (hata nerede yakalandı, okunmaz)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Opak değerler</a:t>
            </a:r>
            <a:r>
              <a:rPr sz="2000" b="0">
                <a:solidFill>
                  <a:srgbClr val="1F2D3A"/>
                </a:solidFill>
              </a:rPr>
              <a:t> (tek bayt çeviremez)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başına şablon kısa sürede çözülür → 9. hafta derinlik.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7 — düzleştirme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code/week-04/07-akis-duzlestirme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9456663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olur?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pin.c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ve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pin_duz.c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aynı sonuç (PIN sentetik)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objdump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: düzleştirilmişte çok daha fazla dal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Süre: düzleştirmenin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maliyeti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38419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➡️ 14. hafta Tigress </a:t>
            </a:r>
            <a:r>
              <a:rPr sz="1800" b="0">
                <a:solidFill>
                  <a:srgbClr val="A1123F"/>
                </a:solidFill>
                <a:latin typeface="Consolas"/>
              </a:rPr>
              <a:t>Flatten</a:t>
            </a:r>
            <a:r>
              <a:rPr sz="1800" b="0">
                <a:solidFill>
                  <a:srgbClr val="1F2D3A"/>
                </a:solidFill>
              </a:rPr>
              <a:t> ile otomatik; 9. hafta etkinliği ölçmek.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Kavram: 9. haftaya bağlanan üç teknik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Fonksiyon adı gizleme:</a:t>
            </a:r>
            <a:r>
              <a:rPr sz="2000" b="0">
                <a:solidFill>
                  <a:srgbClr val="1F2D3A"/>
                </a:solidFill>
              </a:rPr>
              <a:t> dışa açık adlar anlamsız; okunabilirlik makroyla.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Bellek ayırma gizleme:</a:t>
            </a:r>
            <a:r>
              <a:rPr sz="2000" b="0">
                <a:solidFill>
                  <a:srgbClr val="1F2D3A"/>
                </a:solidFill>
              </a:rPr>
              <a:t> "32 bayt = anahtar" izini bulanıklaştır.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Dinamik şifreleme:</a:t>
            </a:r>
            <a:r>
              <a:rPr sz="2000" b="0">
                <a:solidFill>
                  <a:srgbClr val="1F2D3A"/>
                </a:solidFill>
              </a:rPr>
              <a:t> hassas kod ikilide şifreli; DEP/NX ile çatışır, seçici.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Gizleme hatayı düzeltir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Günlüğü çalışma anı bayrağıyla susturmak neden yetmez?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Düzleştirmeyi güçlendiren üç teknik?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Hayır.</a:t>
            </a:r>
            <a:r>
              <a:rPr sz="2000" b="0">
                <a:solidFill>
                  <a:srgbClr val="1F2D3A"/>
                </a:solidFill>
              </a:rPr>
              <a:t> Gizleme yalnız tersine mühendisliği zorlaştırır; açık yerinde durur. </a:t>
            </a:r>
            <a:r>
              <a:rPr sz="2000" b="1">
                <a:solidFill>
                  <a:srgbClr val="1F2D3A"/>
                </a:solidFill>
              </a:rPr>
              <a:t>Önce düzelt, sonra gizle.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Dize/kod ikili dosyada kalır; saldırgan bayrağı çevirir/dizeleri okur. Sürümde log'u </a:t>
            </a:r>
            <a:r>
              <a:rPr sz="2000" b="1">
                <a:solidFill>
                  <a:srgbClr val="1F2D3A"/>
                </a:solidFill>
              </a:rPr>
              <a:t>derleme zamanında</a:t>
            </a:r>
            <a:r>
              <a:rPr sz="2000" b="0">
                <a:solidFill>
                  <a:srgbClr val="1F2D3A"/>
                </a:solidFill>
              </a:rPr>
              <a:t> çıkarın (makro/ölü kod eleme).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Opak yüklemler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sahte bloklar/ölü dallar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durum değişkeni şifreleme &amp; rastgele çıkış</a:t>
            </a:r>
            <a:r>
              <a:rPr sz="2000" b="0">
                <a:solidFill>
                  <a:srgbClr val="1F2D3A"/>
                </a:solidFill>
              </a:rPr>
              <a:t> (ayrıca ad/dize gizleme).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Proje ve kapanış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"Kod sağlamlaştırma"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checksec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dumpbin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clang-tidy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cppcheck</a:t>
            </a:r>
            <a:r>
              <a:rPr sz="2000" b="0">
                <a:solidFill>
                  <a:srgbClr val="1F2D3A"/>
                </a:solidFill>
              </a:rPr>
              <a:t> ile CERT taraması; ≥ 5 bulguyu düzelt (kural kimliğiyle).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çıktısında yok.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Önlem kartı:</a:t>
            </a:r>
            <a:r>
              <a:rPr sz="2000" b="0">
                <a:solidFill>
                  <a:srgbClr val="1F2D3A"/>
                </a:solidFill>
              </a:rPr>
              <a:t> Açıklama → Uygulama → Doğrulama → Kalan risk.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Üç katmandan hangisi hatayı gerçekten kaldırır?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Yalnız </a:t>
            </a:r>
            <a:r>
              <a:rPr sz="2000" b="1">
                <a:solidFill>
                  <a:srgbClr val="1F2D3A"/>
                </a:solidFill>
              </a:rPr>
              <a:t>güvenli kodlama</a:t>
            </a:r>
            <a:r>
              <a:rPr sz="2000" b="0">
                <a:solidFill>
                  <a:srgbClr val="1F2D3A"/>
                </a:solidFill>
              </a:rPr>
              <a:t> (katman 2). Derleyici/OS korumaları istismarı zorlaştırır; gizleme okumayı yavaşlatır — ikisi de hatayı </a:t>
            </a:r>
            <a:r>
              <a:rPr sz="2000" b="1">
                <a:solidFill>
                  <a:srgbClr val="1F2D3A"/>
                </a:solidFill>
              </a:rPr>
              <a:t>kaldırmaz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`printf(girdi)`'nin en hafif sonucu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Bilgi sızıntısı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%x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%p</a:t>
            </a:r>
            <a:r>
              <a:rPr sz="2000" b="0">
                <a:solidFill>
                  <a:srgbClr val="1F2D3A"/>
                </a:solidFill>
              </a:rPr>
              <a:t> ile yığın okuma). En ağırı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ile belleğe yazma.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UAF raporundaki üç yığın izi? Düzeltme hangisinde?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Kullanım, serbest bırakma, ayırma. Düzeltme çoğunlukla </a:t>
            </a:r>
            <a:r>
              <a:rPr sz="2000" b="1">
                <a:solidFill>
                  <a:srgbClr val="1F2D3A"/>
                </a:solidFill>
              </a:rPr>
              <a:t>serbest bırakma</a:t>
            </a:r>
            <a:r>
              <a:rPr sz="2000" b="0">
                <a:solidFill>
                  <a:srgbClr val="1F2D3A"/>
                </a:solidFill>
              </a:rPr>
              <a:t> noktasında (sahiplik kararı).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`if (x + 100 &lt; x)` neden silinebilir?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İşaretli tamsayı taşması </a:t>
            </a:r>
            <a:r>
              <a:rPr sz="2000" b="1">
                <a:solidFill>
                  <a:srgbClr val="1F2D3A"/>
                </a:solidFill>
              </a:rPr>
              <a:t>tanımsız davranıştır</a:t>
            </a:r>
            <a:r>
              <a:rPr sz="2000" b="0">
                <a:solidFill>
                  <a:srgbClr val="1F2D3A"/>
                </a:solidFill>
              </a:rPr>
              <a:t>; derleyici "taşma olmaz" varsayıp denetimi optimize edip </a:t>
            </a:r>
            <a:r>
              <a:rPr sz="2000" b="1">
                <a:solidFill>
                  <a:srgbClr val="1F2D3A"/>
                </a:solidFill>
              </a:rPr>
              <a:t>silebilir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Sinyal işleyicide neden `printf` yok?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 eşzamansız-güvenli değildir; işleyici bunları kesintiye uğramış bir durumda çağırırsa bozulma olur. Yalnız bir bayrak set edilir (SIG30-C).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ASan hangi taşmayı göremez?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Aynı yapının </a:t>
            </a:r>
            <a:r>
              <a:rPr sz="2000" b="1">
                <a:solidFill>
                  <a:srgbClr val="1F2D3A"/>
                </a:solidFill>
              </a:rPr>
              <a:t>içinde</a:t>
            </a:r>
            <a:r>
              <a:rPr sz="2000" b="0">
                <a:solidFill>
                  <a:srgbClr val="1F2D3A"/>
                </a:solidFill>
              </a:rPr>
              <a:t> alandan alana taşmayı (aralarında zehirli bölge yoktur).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İyi bir fuzz hedefinin dört özelliği?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Hızlı, deterministik, durumsuz, tek iş.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Kanarya neyi durdurur, neyi durdurmaz?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Durdurur: dönüş adresine ulaşan yığın taşması. Durdurmaz: öbek taşması, önceki değişkenlerin bozulması, sızan kanarya.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ASLR neden bir bilgi sızıntısıyla zayıflar?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Bir adres sızarsa, saldırgan diğer adresleri ona göre </a:t>
            </a:r>
            <a:r>
              <a:rPr sz="2000" b="1">
                <a:solidFill>
                  <a:srgbClr val="1F2D3A"/>
                </a:solidFill>
              </a:rPr>
              <a:t>hesaplayabilir</a:t>
            </a:r>
            <a:r>
              <a:rPr sz="2000" b="0">
                <a:solidFill>
                  <a:srgbClr val="1F2D3A"/>
                </a:solidFill>
              </a:rPr>
              <a:t>; rastgelelik avantajı kaybolur.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Günlüğü çalışma anı bayrağıyla susturmak neden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Dizge ikili dosyada </a:t>
            </a:r>
            <a:r>
              <a:rPr sz="2000" b="1">
                <a:solidFill>
                  <a:srgbClr val="1F2D3A"/>
                </a:solidFill>
              </a:rPr>
              <a:t>kalır</a:t>
            </a:r>
            <a:r>
              <a:rPr sz="2000" b="0">
                <a:solidFill>
                  <a:srgbClr val="1F2D3A"/>
                </a:solidFill>
              </a:rPr>
              <a:t> ve saldırgan bayrağı değiştirip günlüğü yeniden açabilir. Derleme anında çıkarılmalı.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Düzleştirmeyi güçlendiren üç teknik?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Durum değerlerini gizleme, sahte/ölü bloklar, rastgele çıkış noktası (ve opak değerler).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Dize gizleme neden anahtar saklama değildir?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Çözülen dizge kullanımda bellekte açıktır ve çözme anahtarı programın içindedir; yalnız statik taramayı durdurur.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hatasız kod</a:t>
            </a:r>
            <a:r>
              <a:rPr sz="2000" b="0">
                <a:solidFill>
                  <a:srgbClr val="1F2D3A"/>
                </a:solidFill>
              </a:rPr>
              <a:t> (CERT + sanitizer + fuzzing), sonra </a:t>
            </a:r>
            <a:r>
              <a:rPr sz="2000" b="1">
                <a:solidFill>
                  <a:srgbClr val="1F2D3A"/>
                </a:solidFill>
              </a:rPr>
              <a:t>zararı sınırla</a:t>
            </a:r>
            <a:r>
              <a:rPr sz="2000" b="0">
                <a:solidFill>
                  <a:srgbClr val="1F2D3A"/>
                </a:solidFill>
              </a:rPr>
              <a:t> (derleyici/OS korumaları), en son </a:t>
            </a:r>
            <a:r>
              <a:rPr sz="2000" b="1">
                <a:solidFill>
                  <a:srgbClr val="1F2D3A"/>
                </a:solidFill>
              </a:rPr>
              <a:t>okumayı zorlaştır</a:t>
            </a:r>
            <a:r>
              <a:rPr sz="2000" b="0">
                <a:solidFill>
                  <a:srgbClr val="1F2D3A"/>
                </a:solidFill>
              </a:rPr>
              <a:t> (gizleme) — ve hiçbir koruma güvenli kodlamanın yerini tutmaz.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5. hafta — Kod sağlamlaştırma: Java ve yorumlanan diller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Enjeksiyon (SQL, komut, yol), ProGuard/R8 ile gizleme, bağımlılık güvenliği ve SBOM.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67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Hazırlık: JDK 17+, Maven · </a:t>
            </a:r>
            <a:r>
              <a:rPr sz="2000" b="0">
                <a:solidFill>
                  <a:srgbClr val="FFFFFF"/>
                </a:solidFill>
                <a:latin typeface="Consolas"/>
              </a:rPr>
              <a:t>code/week-05</a:t>
            </a:r>
            <a:r>
              <a:rPr sz="2000" b="0">
                <a:solidFill>
                  <a:srgbClr val="FFFFFF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Baştan sona bir açık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selamla(const char *ad)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strcpy(tampon, ad);          /* sınır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printf("Merhaba %s\n", tampon);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16 bayttan uzunsa ne olur?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oluyor?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tampon</a:t>
            </a:r>
            <a:r>
              <a:rPr sz="2000" b="0">
                <a:solidFill>
                  <a:srgbClr val="1F2D3A"/>
                </a:solidFill>
              </a:rPr>
              <a:t> yığında 16 bayt.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'ı </a:t>
            </a:r>
            <a:r>
              <a:rPr sz="2000" b="1">
                <a:solidFill>
                  <a:srgbClr val="1F2D3A"/>
                </a:solidFill>
              </a:rPr>
              <a:t>sonuna kadar</a:t>
            </a:r>
            <a:r>
              <a:rPr sz="2000" b="0">
                <a:solidFill>
                  <a:srgbClr val="1F2D3A"/>
                </a:solidFill>
              </a:rPr>
              <a:t> kopyalar, sınıra bakmaz.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16'dan uzun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→ komşu bellek (dönüş adresi dahil) bozulur.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sonuç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Kısa taşma: komşu değişken bozulur (mantık hatası).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taşma: </a:t>
            </a:r>
            <a:r>
              <a:rPr sz="2000" b="1">
                <a:solidFill>
                  <a:srgbClr val="1F2D3A"/>
                </a:solidFill>
              </a:rPr>
              <a:t>dönüş adresi</a:t>
            </a:r>
            <a:r>
              <a:rPr sz="2000" b="0">
                <a:solidFill>
                  <a:srgbClr val="1F2D3A"/>
                </a:solidFill>
              </a:rPr>
              <a:t> bozulur → çökme ya da denetim ele geçirme.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Korumasızsa: ciddi açık (CWE-121).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1 · sınırlı kopyalama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n = snprintf(tampon, sizeof tampon, "%s", ad);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(n &lt; 0 || (size_t)n &gt;= sizeof tampon)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ad kesildi: reddet ya da işaretle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 boyutu bilir ve </a:t>
            </a:r>
            <a:r>
              <a:rPr sz="2000" b="1">
                <a:solidFill>
                  <a:srgbClr val="1F2D3A"/>
                </a:solidFill>
              </a:rPr>
              <a:t>kesilmeyi bildirir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2 ·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Kodlama: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 (STR31-C).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Derleyici: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-fstack-protector-strong</a:t>
            </a:r>
            <a:r>
              <a:rPr sz="2000" b="0">
                <a:solidFill>
                  <a:srgbClr val="1F2D3A"/>
                </a:solidFill>
              </a:rPr>
              <a:t> (kanarya).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FORTIFY: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-D_FORTIFY_SOURCE=2</a:t>
            </a:r>
            <a:r>
              <a:rPr sz="2000" b="0">
                <a:solidFill>
                  <a:srgbClr val="1F2D3A"/>
                </a:solidFill>
              </a:rPr>
              <a:t> kütüphane çağrısını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Test:</a:t>
            </a:r>
            <a:r>
              <a:rPr sz="2000" b="0">
                <a:solidFill>
                  <a:srgbClr val="1F2D3A"/>
                </a:solidFill>
              </a:rPr>
              <a:t> ASan uzun girdiyle taşmayı yakalar.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Ders: tek satır, çok katman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hata: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Savunma: doğru fonksiyon + derleyici koruması + sanitizer testi.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asıl</a:t>
            </a:r>
            <a:r>
              <a:rPr sz="2000" b="0">
                <a:solidFill>
                  <a:srgbClr val="1F2D3A"/>
                </a:solidFill>
              </a:rPr>
              <a:t> çözüm ilk satırda: sınırlı kopyalama.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Sık yapılan hatalar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uyarıları görmezden gelmek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"Sadece uyarı" diye geçilen şey, yarınki açıktır.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-Werror</a:t>
            </a:r>
            <a:r>
              <a:rPr sz="2000" b="0">
                <a:solidFill>
                  <a:srgbClr val="1F2D3A"/>
                </a:solidFill>
              </a:rPr>
              <a:t> ile uyarıyı hataya çevir.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dönüş değerini denetlememek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fread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RAND_bytes</a:t>
            </a:r>
            <a:r>
              <a:rPr sz="2000" b="0">
                <a:solidFill>
                  <a:srgbClr val="1F2D3A"/>
                </a:solidFill>
              </a:rPr>
              <a:t> NULL/hata dönebilir.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Denetlenmezse sessiz felaket (ERR33-C).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sanitizer'ı sürüme koymak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Sanitizer test/CI içindir; yavaş ve bilgi sızdırır.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derlemesinde </a:t>
            </a:r>
            <a:r>
              <a:rPr sz="2000" b="1">
                <a:solidFill>
                  <a:srgbClr val="1F2D3A"/>
                </a:solidFill>
              </a:rPr>
              <a:t>kapalı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-fwrapv</a:t>
            </a:r>
            <a:r>
              <a:rPr sz="3000" b="1">
                <a:solidFill>
                  <a:srgbClr val="006D77"/>
                </a:solidFill>
              </a:rPr>
              <a:t> ile UB'yi gizlemek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Taşmayı "tanımlı" yapmak mantık hatasını </a:t>
            </a:r>
            <a:r>
              <a:rPr sz="2000" b="1">
                <a:solidFill>
                  <a:srgbClr val="1F2D3A"/>
                </a:solidFill>
              </a:rPr>
              <a:t>gizler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 için UBSan kullan, düzelt.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gizlemeyle hatayı örtmek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hatayı </a:t>
            </a:r>
            <a:r>
              <a:rPr sz="2000" b="1">
                <a:solidFill>
                  <a:srgbClr val="1F2D3A"/>
                </a:solidFill>
              </a:rPr>
              <a:t>düzeltmez</a:t>
            </a:r>
            <a:r>
              <a:rPr sz="2000" b="0">
                <a:solidFill>
                  <a:srgbClr val="1F2D3A"/>
                </a:solidFill>
              </a:rPr>
              <a:t>, sadece saklar.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düzelt, sonra gizle.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girdiyi "temizleyip" kullanmak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Tehlikeli girdiyi düzeltmeye çalışmak yerine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liste + reddetme en güvenlisi.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Hızlı başvuru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6546920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Tanımsız davranış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UAF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Kullanım-sonrası-serbest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CERT/CWE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Kural kitabı / zayıflık kataloğu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anı hata dedektörü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 girdiyle çökme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Kanarya/ASLR/NX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Derleyici/OS korumaları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Sağlamlaştırma 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-Werror</a:t>
            </a:r>
            <a:r>
              <a:rPr sz="1800" b="0">
                <a:solidFill>
                  <a:srgbClr val="1F2D3A"/>
                </a:solidFill>
              </a:rPr>
              <a:t> ve CERT taraması temiz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(4.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 kod bir kez yazılmaz; </a:t>
            </a:r>
            <a:r>
              <a:rPr sz="2000" b="1">
                <a:solidFill>
                  <a:srgbClr val="1F2D3A"/>
                </a:solidFill>
              </a:rPr>
              <a:t>her derlemede</a:t>
            </a:r>
            <a:r>
              <a:rPr sz="2000" b="0">
                <a:solidFill>
                  <a:srgbClr val="1F2D3A"/>
                </a:solidFill>
              </a:rPr>
              <a:t> araçlarla denetlenir.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doğru kod, sonra koruma, en son gizleme. Sıra önemlidir.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4 — Kod Sağlamlaştırma: C/C++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