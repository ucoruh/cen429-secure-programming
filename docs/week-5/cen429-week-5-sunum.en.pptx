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  <a:p/>
          <a:p>
            <a:r>
              <a:t>Bu hafta yönetilen dillere geçiyoruz: bellek güvenliği bedava gelir ama enjeksiyon, seri durumdan çıkarma, okunabilir bayt kodu ve bağımlılıklar yeni riskler getirir.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4. haftanın C/C++ karşılığını Java/yorumlanan dillerde işliyoruz. Sıfır ön bilgi varsayıyoruz;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Java/web temel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SQL enjeksiyonu.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seri durumdan çıkarma ve XML.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bayt kodu ve gizleme.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SBOM ve bağımlılık güvenliği.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Tek bir SQL enjeksiyonunu hatalı koddan saldırıya, düzeltmeye ve katmanlı savunmaya kadar izliyoruz.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6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9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0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1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Kod Sağlamlaştırma: Java ve Yorumlanan Diller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16.10.2026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829"/>
                <a:gridCol w="1067432"/>
                <a:gridCol w="8895273"/>
              </a:tblGrid>
              <a:tr h="560070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yönetilen diller · CERT Java · enjeksiyonun kökü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4–9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SQL/komut/yol enjeksiyonu · seri durumdan çıkarma · XML/XXE · Python/JS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10–16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Bayt kodu · ProGuard/R8 · dize gizleme · Android · SBOM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Kısa tarihçe — yönetilen diller ve kalan açıklar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1995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Java/JVM</a:t>
            </a:r>
            <a:r>
              <a:rPr sz="1800" b="0">
                <a:solidFill>
                  <a:srgbClr val="1F2D3A"/>
                </a:solidFill>
              </a:rPr>
              <a:t>: bellek hatalarının çoğu </a:t>
            </a:r>
            <a:r>
              <a:rPr sz="1800" b="1">
                <a:solidFill>
                  <a:srgbClr val="1F2D3A"/>
                </a:solidFill>
              </a:rPr>
              <a:t>dil düzeyinde</a:t>
            </a:r>
            <a:r>
              <a:rPr sz="1800" b="0">
                <a:solidFill>
                  <a:srgbClr val="1F2D3A"/>
                </a:solidFill>
              </a:rPr>
              <a:t> biter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1998</a:t>
            </a:r>
            <a:r>
              <a:rPr sz="1800" b="0">
                <a:solidFill>
                  <a:srgbClr val="1F2D3A"/>
                </a:solidFill>
              </a:rPr>
              <a:t> — SQL enjeksiyonu belgelenir · </a:t>
            </a:r>
            <a:r>
              <a:rPr sz="1800" b="1">
                <a:solidFill>
                  <a:srgbClr val="1F2D3A"/>
                </a:solidFill>
              </a:rPr>
              <a:t>2003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1">
                <a:solidFill>
                  <a:srgbClr val="1F2D3A"/>
                </a:solidFill>
              </a:rPr>
              <a:t>OWASP Top 10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2002</a:t>
            </a:r>
            <a:r>
              <a:rPr sz="1800" b="0">
                <a:solidFill>
                  <a:srgbClr val="1F2D3A"/>
                </a:solidFill>
              </a:rPr>
              <a:t> — </a:t>
            </a:r>
            <a:r>
              <a:rPr sz="1800" b="1">
                <a:solidFill>
                  <a:srgbClr val="1F2D3A"/>
                </a:solidFill>
              </a:rPr>
              <a:t>ProGuard</a:t>
            </a:r>
            <a:r>
              <a:rPr sz="1800" b="0">
                <a:solidFill>
                  <a:srgbClr val="1F2D3A"/>
                </a:solidFill>
              </a:rPr>
              <a:t> (sonra </a:t>
            </a:r>
            <a:r>
              <a:rPr sz="1800" b="1">
                <a:solidFill>
                  <a:srgbClr val="1F2D3A"/>
                </a:solidFill>
              </a:rPr>
              <a:t>R8</a:t>
            </a:r>
            <a:r>
              <a:rPr sz="1800" b="0">
                <a:solidFill>
                  <a:srgbClr val="1F2D3A"/>
                </a:solidFill>
              </a:rPr>
              <a:t>): bayt kod kolay geri çevrildiği için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1">
                <a:solidFill>
                  <a:srgbClr val="1F2D3A"/>
                </a:solidFill>
              </a:rPr>
              <a:t>2015</a:t>
            </a:r>
            <a:r>
              <a:rPr sz="1800" b="0">
                <a:solidFill>
                  <a:srgbClr val="1F2D3A"/>
                </a:solidFill>
              </a:rPr>
              <a:t> deserialization · </a:t>
            </a:r>
            <a:r>
              <a:rPr sz="1800" b="1">
                <a:solidFill>
                  <a:srgbClr val="1F2D3A"/>
                </a:solidFill>
              </a:rPr>
              <a:t>2020–21</a:t>
            </a:r>
            <a:r>
              <a:rPr sz="1800" b="0">
                <a:solidFill>
                  <a:srgbClr val="1F2D3A"/>
                </a:solidFill>
              </a:rPr>
              <a:t> SolarWinds ve </a:t>
            </a:r>
            <a:r>
              <a:rPr sz="1800" b="1">
                <a:solidFill>
                  <a:srgbClr val="1F2D3A"/>
                </a:solidFill>
              </a:rPr>
              <a:t>Log4Shell</a:t>
            </a:r>
            <a:r>
              <a:rPr sz="1800" b="0">
                <a:solidFill>
                  <a:srgbClr val="1F2D3A"/>
                </a:solidFill>
              </a:rPr>
              <a:t> → </a:t>
            </a:r>
            <a:r>
              <a:rPr sz="1800" b="1">
                <a:solidFill>
                  <a:srgbClr val="1F2D3A"/>
                </a:solidFill>
              </a:rPr>
              <a:t>SBOM</a:t>
            </a:r>
            <a:r>
              <a:rPr sz="1800" b="0">
                <a:solidFill>
                  <a:srgbClr val="1F2D3A"/>
                </a:solidFill>
              </a:rPr>
              <a:t> çağı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98648"/>
            <a:ext cx="10911535" cy="57150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>
                <a:solidFill>
                  <a:srgbClr val="1F2D3A"/>
                </a:solidFill>
              </a:rPr>
              <a:t>Dil </a:t>
            </a:r>
            <a:r>
              <a:rPr sz="1800" b="1">
                <a:solidFill>
                  <a:srgbClr val="1F2D3A"/>
                </a:solidFill>
              </a:rPr>
              <a:t>bellek hatasını</a:t>
            </a:r>
            <a:r>
              <a:rPr sz="1800" b="0">
                <a:solidFill>
                  <a:srgbClr val="1F2D3A"/>
                </a:solidFill>
              </a:rPr>
              <a:t> çözer; </a:t>
            </a:r>
            <a:r>
              <a:rPr sz="1800" b="1">
                <a:solidFill>
                  <a:srgbClr val="1F2D3A"/>
                </a:solidFill>
              </a:rPr>
              <a:t>enjeksiyonu ve bağımlılık riskini çözmez</a:t>
            </a:r>
            <a:r>
              <a:rPr sz="18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4. hafta:</a:t>
            </a:r>
            <a:r>
              <a:rPr sz="2000" b="0">
                <a:solidFill>
                  <a:srgbClr val="1F2D3A"/>
                </a:solidFill>
              </a:rPr>
              <a:t> C/C++ sağlamlaştırma (bellek hataları).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(5):</a:t>
            </a:r>
            <a:r>
              <a:rPr sz="2000" b="0">
                <a:solidFill>
                  <a:srgbClr val="1F2D3A"/>
                </a:solidFill>
              </a:rPr>
              <a:t> Java/yorumlanan diller — bellek hataları çoğu </a:t>
            </a:r>
            <a:r>
              <a:rPr sz="2000" b="1">
                <a:solidFill>
                  <a:srgbClr val="1F2D3A"/>
                </a:solidFill>
              </a:rPr>
              <a:t>çözülmüş</a:t>
            </a:r>
            <a:r>
              <a:rPr sz="2000" b="0">
                <a:solidFill>
                  <a:srgbClr val="1F2D3A"/>
                </a:solidFill>
              </a:rPr>
              <a:t>, ama yeni sınıf: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İkili koruma tarafı: </a:t>
            </a:r>
            <a:r>
              <a:rPr sz="2000" b="1">
                <a:solidFill>
                  <a:srgbClr val="1F2D3A"/>
                </a:solidFill>
              </a:rPr>
              <a:t>ProGuard/R8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ÖÇ.3 / ÖÇ.4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sınıfını tanımak ve önlemek (SQL, komut, yol, XML, seri durum)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ProGuard/R8 ile gizleme ve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kurallarını yazmak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üretip bağımlılık riskini yönetmek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büyük ölçüde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; ama </a:t>
            </a:r>
            <a:r>
              <a:rPr sz="2000" b="1">
                <a:solidFill>
                  <a:srgbClr val="1F2D3A"/>
                </a:solidFill>
              </a:rPr>
              <a:t>veri ile komutun karışması</a:t>
            </a:r>
            <a:r>
              <a:rPr sz="2000" b="0">
                <a:solidFill>
                  <a:srgbClr val="1F2D3A"/>
                </a:solidFill>
              </a:rPr>
              <a:t> (enjeksiyon) her dilde vardır.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ortak kökü ve dile özgü korumaları göreceğiz.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Yönetilen dil:</a:t>
            </a:r>
            <a:r>
              <a:rPr sz="2000" b="0">
                <a:solidFill>
                  <a:srgbClr val="1F2D3A"/>
                </a:solidFill>
              </a:rPr>
              <a:t> belleği </a:t>
            </a:r>
            <a:r>
              <a:rPr sz="2000" b="1">
                <a:solidFill>
                  <a:srgbClr val="1F2D3A"/>
                </a:solidFill>
              </a:rPr>
              <a:t>otomatik</a:t>
            </a:r>
            <a:r>
              <a:rPr sz="2000" b="0">
                <a:solidFill>
                  <a:srgbClr val="1F2D3A"/>
                </a:solidFill>
              </a:rPr>
              <a:t> yöneten dil (Java, C#, Python, JS).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malloc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free</a:t>
            </a:r>
            <a:r>
              <a:rPr sz="2000" b="0">
                <a:solidFill>
                  <a:srgbClr val="1F2D3A"/>
                </a:solidFill>
              </a:rPr>
              <a:t> yapmaz; </a:t>
            </a:r>
            <a:r>
              <a:rPr sz="2000" b="1">
                <a:solidFill>
                  <a:srgbClr val="1F2D3A"/>
                </a:solidFill>
              </a:rPr>
              <a:t>çöp toplayıcı</a:t>
            </a:r>
            <a:r>
              <a:rPr sz="2000" b="0">
                <a:solidFill>
                  <a:srgbClr val="1F2D3A"/>
                </a:solidFill>
              </a:rPr>
              <a:t> (GC) hallreder.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çoğu bellek hatası (taşma, UAF) </a:t>
            </a:r>
            <a:r>
              <a:rPr sz="2000" b="1">
                <a:solidFill>
                  <a:srgbClr val="1F2D3A"/>
                </a:solidFill>
              </a:rPr>
              <a:t>ortadan kalkar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JVM ve bayt kodu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JVM (Java Virtual Machine):</a:t>
            </a:r>
            <a:r>
              <a:rPr sz="2000" b="0">
                <a:solidFill>
                  <a:srgbClr val="1F2D3A"/>
                </a:solidFill>
              </a:rPr>
              <a:t> Java'yı çalıştıran sanal makine.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Bayt kodu:</a:t>
            </a:r>
            <a:r>
              <a:rPr sz="2000" b="0">
                <a:solidFill>
                  <a:srgbClr val="1F2D3A"/>
                </a:solidFill>
              </a:rPr>
              <a:t> Java kaynağının derlendiği ara biçim (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dosyaları).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makineden bağımsız; JVM onu çalıştırır.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Çöp toplayıcı (GC)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GC (Garbage Collector):</a:t>
            </a:r>
            <a:r>
              <a:rPr sz="2000" b="0">
                <a:solidFill>
                  <a:srgbClr val="1F2D3A"/>
                </a:solidFill>
              </a:rPr>
              <a:t> artık kullanılmayan nesneleri otomatik temizler.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Programcı belleği elle bırakmaz.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UAF/çift bırakma Java'da </a:t>
            </a:r>
            <a:r>
              <a:rPr sz="2000" b="1">
                <a:solidFill>
                  <a:srgbClr val="1F2D3A"/>
                </a:solidFill>
              </a:rPr>
              <a:t>yok denecek kadar 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Enjeksiyon:</a:t>
            </a:r>
            <a:r>
              <a:rPr sz="2000" b="0">
                <a:solidFill>
                  <a:srgbClr val="1F2D3A"/>
                </a:solidFill>
              </a:rPr>
              <a:t> kullanıcı </a:t>
            </a:r>
            <a:r>
              <a:rPr sz="2000" b="1">
                <a:solidFill>
                  <a:srgbClr val="1F2D3A"/>
                </a:solidFill>
              </a:rPr>
              <a:t>verisinin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yorumlanması.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kullanıcı adı diye girilen metnin SQL sorgusuna komut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haftanın ana teması.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ve veritabanı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SQL:</a:t>
            </a:r>
            <a:r>
              <a:rPr sz="2000" b="0">
                <a:solidFill>
                  <a:srgbClr val="1F2D3A"/>
                </a:solidFill>
              </a:rPr>
              <a:t> veritabanı sorgulama dili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 ... WHERE ...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Uygulama, kullanıcı girdisini sorguya koyar.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konursa → </a:t>
            </a:r>
            <a:r>
              <a:rPr sz="2000" b="1">
                <a:solidFill>
                  <a:srgbClr val="1F2D3A"/>
                </a:solidFill>
              </a:rPr>
              <a:t>SQL enjeksiyonu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Parametreli sorgu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Parametreli sorgu (prepared statement):</a:t>
            </a:r>
            <a:r>
              <a:rPr sz="2000" b="0">
                <a:solidFill>
                  <a:srgbClr val="1F2D3A"/>
                </a:solidFill>
              </a:rPr>
              <a:t> sorgu iskeleti sabit, veriler ayrı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 olarak verilir.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asla komut olarak yorumlanmaz.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enjeksiyonuna karşı </a:t>
            </a:r>
            <a:r>
              <a:rPr sz="2000" b="1">
                <a:solidFill>
                  <a:srgbClr val="1F2D3A"/>
                </a:solidFill>
              </a:rPr>
              <a:t>asıl</a:t>
            </a:r>
            <a:r>
              <a:rPr sz="2000" b="0">
                <a:solidFill>
                  <a:srgbClr val="1F2D3A"/>
                </a:solidFill>
              </a:rPr>
              <a:t> çözüm.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Seri durum (serialization)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Serileştirme:</a:t>
            </a:r>
            <a:r>
              <a:rPr sz="2000" b="0">
                <a:solidFill>
                  <a:srgbClr val="1F2D3A"/>
                </a:solidFill>
              </a:rPr>
              <a:t> bir nesneyi bayt dizisine çevirme (kaydetmek/göndermek için).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 (deserialization):</a:t>
            </a:r>
            <a:r>
              <a:rPr sz="2000" b="0">
                <a:solidFill>
                  <a:srgbClr val="1F2D3A"/>
                </a:solidFill>
              </a:rPr>
              <a:t> baytları geri nesneye çevirme.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çıkarmak </a:t>
            </a:r>
            <a:r>
              <a:rPr sz="2000" b="1">
                <a:solidFill>
                  <a:srgbClr val="1F2D3A"/>
                </a:solidFill>
              </a:rPr>
              <a:t>tehlikeli</a:t>
            </a:r>
            <a:r>
              <a:rPr sz="2000" b="0">
                <a:solidFill>
                  <a:srgbClr val="1F2D3A"/>
                </a:solidFill>
              </a:rPr>
              <a:t> (kod çalıştırma).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XML ve XXE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XML:</a:t>
            </a:r>
            <a:r>
              <a:rPr sz="2000" b="0">
                <a:solidFill>
                  <a:srgbClr val="1F2D3A"/>
                </a:solidFill>
              </a:rPr>
              <a:t> yapılandırılmış veri biçimi (etiketlerle).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XXE (XML External Entity):</a:t>
            </a:r>
            <a:r>
              <a:rPr sz="2000" b="0">
                <a:solidFill>
                  <a:srgbClr val="1F2D3A"/>
                </a:solidFill>
              </a:rPr>
              <a:t> XML'in "dış varlık" özelliğinin kötüye kullanımı → dosya okuma, SSRF.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 ayrıştırıcıda dış varlıklar </a:t>
            </a:r>
            <a:r>
              <a:rPr sz="2000" b="1">
                <a:solidFill>
                  <a:srgbClr val="1F2D3A"/>
                </a:solidFill>
              </a:rPr>
              <a:t>kapatılır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(path traversal)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Yol geçişi: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ile izin verilen klasörün </a:t>
            </a:r>
            <a:r>
              <a:rPr sz="2000" b="1">
                <a:solidFill>
                  <a:srgbClr val="1F2D3A"/>
                </a:solidFill>
              </a:rPr>
              <a:t>dışına</a:t>
            </a:r>
            <a:r>
              <a:rPr sz="2000" b="0">
                <a:solidFill>
                  <a:srgbClr val="1F2D3A"/>
                </a:solidFill>
              </a:rPr>
              <a:t> çıkma.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dosyalar/../../etc/passwd</a:t>
            </a:r>
            <a:r>
              <a:rPr sz="2000" b="0">
                <a:solidFill>
                  <a:srgbClr val="1F2D3A"/>
                </a:solidFill>
              </a:rPr>
              <a:t> gibi.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Kanonikleştirme + kök denetimiyle önlenir.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 ve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ProGuard / R8:</a:t>
            </a:r>
            <a:r>
              <a:rPr sz="2000" b="0">
                <a:solidFill>
                  <a:srgbClr val="1F2D3A"/>
                </a:solidFill>
              </a:rPr>
              <a:t> Java/Android bayt kodunu </a:t>
            </a:r>
            <a:r>
              <a:rPr sz="2000" b="1">
                <a:solidFill>
                  <a:srgbClr val="1F2D3A"/>
                </a:solidFill>
              </a:rPr>
              <a:t>küçülten, adları gizleyen</a:t>
            </a:r>
            <a:r>
              <a:rPr sz="2000" b="0">
                <a:solidFill>
                  <a:srgbClr val="1F2D3A"/>
                </a:solidFill>
              </a:rPr>
              <a:t> araçlar.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Android'in varsayılan aracı.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 gizleme + ölü kod eleme + küçültme.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kuralı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`-keep`:</a:t>
            </a:r>
            <a:r>
              <a:rPr sz="2000" b="0">
                <a:solidFill>
                  <a:srgbClr val="1F2D3A"/>
                </a:solidFill>
              </a:rPr>
              <a:t> ProGuard/R8'e "bu sınıf/metodun adını </a:t>
            </a:r>
            <a:r>
              <a:rPr sz="2000" b="1">
                <a:solidFill>
                  <a:srgbClr val="1F2D3A"/>
                </a:solidFill>
              </a:rPr>
              <a:t>değiştirme</a:t>
            </a:r>
            <a:r>
              <a:rPr sz="2000" b="0">
                <a:solidFill>
                  <a:srgbClr val="1F2D3A"/>
                </a:solidFill>
              </a:rPr>
              <a:t>" demek.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ada göre çağrılan kod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Yanlış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ya çökme ya zayıf gizleme.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Reflection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Reflection:</a:t>
            </a:r>
            <a:r>
              <a:rPr sz="2000" b="0">
                <a:solidFill>
                  <a:srgbClr val="1F2D3A"/>
                </a:solidFill>
              </a:rPr>
              <a:t> bir sınıfı/metodu </a:t>
            </a:r>
            <a:r>
              <a:rPr sz="2000" b="1">
                <a:solidFill>
                  <a:srgbClr val="1F2D3A"/>
                </a:solidFill>
              </a:rPr>
              <a:t>çalışma anında adıyla</a:t>
            </a:r>
            <a:r>
              <a:rPr sz="2000" b="0">
                <a:solidFill>
                  <a:srgbClr val="1F2D3A"/>
                </a:solidFill>
              </a:rPr>
              <a:t> bulup çağırma.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Class.forName("...")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getMethod("...")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bunu bozabilir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gerekir.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SBOM (Software Bill of Materials):</a:t>
            </a:r>
            <a:r>
              <a:rPr sz="2000" b="0">
                <a:solidFill>
                  <a:srgbClr val="1F2D3A"/>
                </a:solidFill>
              </a:rPr>
              <a:t> 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 — hangi kütüphaneler, hangi sürümler.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kütüphanede açık çıkınca "etkilendik mi?" sorusunu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Biçimler: CycloneDX, SPDX.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(dependency)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Bağımlılık:</a:t>
            </a:r>
            <a:r>
              <a:rPr sz="2000" b="0">
                <a:solidFill>
                  <a:srgbClr val="1F2D3A"/>
                </a:solidFill>
              </a:rPr>
              <a:t> projenizin kullandığı dış kütüphaneler.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güvenli olsa bile, bir bağımlılıktaki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Tedarik zinciri güvenliği.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· JVM/bayt kodu · GC · enjeksiyon · SQL/parametreli sorgu · serileştirme · XML/XXE · yol geçişi · ProGuard/R8 ·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· reflection · SBOM · bağımlılık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7553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yönetilen diller neyi çözer, neyi çözmez?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Yönetilen diller ve enjeksiyonun kökü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Otomatik bellek yönetimi (GC) → taşma, UAF, çift bırakma </a:t>
            </a:r>
            <a:r>
              <a:rPr sz="2000" b="1">
                <a:solidFill>
                  <a:srgbClr val="1F2D3A"/>
                </a:solidFill>
              </a:rPr>
              <a:t>büyük ölçüde yok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Dizi erişimi sınır denetimli → 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ArrayIndexOutOfBounds</a:t>
            </a:r>
            <a:r>
              <a:rPr sz="2000" b="0">
                <a:solidFill>
                  <a:srgbClr val="1F2D3A"/>
                </a:solidFill>
              </a:rPr>
              <a:t> (çökme, sömürü değil).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Tür güvenliği daha sıkı.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 neyi ÇÖZMEZ?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Enjeksiyon</a:t>
            </a:r>
            <a:r>
              <a:rPr sz="2000" b="0">
                <a:solidFill>
                  <a:srgbClr val="1F2D3A"/>
                </a:solidFill>
              </a:rPr>
              <a:t> (veri = komut) — her dilde var.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Mantık hataları</a:t>
            </a:r>
            <a:r>
              <a:rPr sz="2000" b="0">
                <a:solidFill>
                  <a:srgbClr val="1F2D3A"/>
                </a:solidFill>
              </a:rPr>
              <a:t>, yetki hataları.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Seri durumdan çıkarma</a:t>
            </a:r>
            <a:r>
              <a:rPr sz="2000" b="0">
                <a:solidFill>
                  <a:srgbClr val="1F2D3A"/>
                </a:solidFill>
              </a:rPr>
              <a:t> saldırıları.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30728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Bellek hatası azaldı; yeni cephe: enjeksiyon ve tedarik zinciri.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Yönetilen dil: çözer / çözmez — şema</a:t>
            </a:r>
          </a:p>
        </p:txBody>
      </p:sp>
      <p:pic>
        <p:nvPicPr>
          <p:cNvPr id="7" name="Picture 6" descr="h05-02-yonetilen-d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SEI CERT Oracle Java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için ayrı bir </a:t>
            </a:r>
            <a:r>
              <a:rPr sz="2000" b="1">
                <a:solidFill>
                  <a:srgbClr val="1F2D3A"/>
                </a:solidFill>
              </a:rPr>
              <a:t>kural kitabı</a:t>
            </a:r>
            <a:r>
              <a:rPr sz="2000" b="0">
                <a:solidFill>
                  <a:srgbClr val="1F2D3A"/>
                </a:solidFill>
              </a:rPr>
              <a:t> (CERT Oracle Coding Standard for Java).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Aynı yapı: hatalı örnek + uyumlu çözüm +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 alanlar: enjeksiyon, seri durum, eşzamanlılık, hassas veri.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hassas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değişmezdir</a:t>
            </a:r>
            <a:r>
              <a:rPr sz="2000" b="0">
                <a:solidFill>
                  <a:srgbClr val="1F2D3A"/>
                </a:solidFill>
              </a:rPr>
              <a:t> (immutable) → bellekten silinemez.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Parola/anahtar için </a:t>
            </a:r>
            <a:r>
              <a:rPr sz="2000" b="0">
                <a:solidFill>
                  <a:srgbClr val="A1123F"/>
                </a:solidFill>
                <a:latin typeface="Consolas"/>
              </a:rPr>
              <a:t>char[]</a:t>
            </a:r>
            <a:r>
              <a:rPr sz="2000" b="0">
                <a:solidFill>
                  <a:srgbClr val="1F2D3A"/>
                </a:solidFill>
              </a:rPr>
              <a:t> kullan, işi bitince </a:t>
            </a:r>
            <a:r>
              <a:rPr sz="2000" b="1">
                <a:solidFill>
                  <a:srgbClr val="1F2D3A"/>
                </a:solidFill>
              </a:rPr>
              <a:t>doldur</a:t>
            </a:r>
            <a:r>
              <a:rPr sz="2000" b="0">
                <a:solidFill>
                  <a:srgbClr val="1F2D3A"/>
                </a:solidFill>
              </a:rPr>
              <a:t> (</a:t>
            </a:r>
            <a:r>
              <a:rPr sz="2000" b="0">
                <a:solidFill>
                  <a:srgbClr val="A1123F"/>
                </a:solidFill>
                <a:latin typeface="Consolas"/>
              </a:rPr>
              <a:t>Arrays.fill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GC ne zaman toplayacağını </a:t>
            </a:r>
            <a:r>
              <a:rPr sz="2000" b="1">
                <a:solidFill>
                  <a:srgbClr val="1F2D3A"/>
                </a:solidFill>
              </a:rPr>
              <a:t>garanti etmez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ortak kökü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045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Enjeksiyon =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komutun</a:t>
            </a:r>
            <a:r>
              <a:rPr sz="2000" b="0">
                <a:solidFill>
                  <a:srgbClr val="1F2D3A"/>
                </a:solidFill>
              </a:rPr>
              <a:t> karışması.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40128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verisi bir yorumlayıcıya (SQL, kabuk, XML)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gider.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aynı; hedef (SQL/kabuk/XML) değişir.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Enjeksiyonun kökü — veri mi, kod mu?</a:t>
            </a:r>
          </a:p>
        </p:txBody>
      </p:sp>
      <p:pic>
        <p:nvPicPr>
          <p:cNvPr id="7" name="Picture 6" descr="h05-01-enjeksiyon-kok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3529" y="1325880"/>
            <a:ext cx="8524636" cy="3656608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Çözümün ortak kökü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enjeksiyon türünde aynı ilke: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Veriyi koddan ayır</a:t>
            </a:r>
            <a:r>
              <a:rPr sz="2000" b="0">
                <a:solidFill>
                  <a:srgbClr val="1F2D3A"/>
                </a:solidFill>
              </a:rPr>
              <a:t> (parametreli API).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Veriyi asla </a:t>
            </a:r>
            <a:r>
              <a:rPr sz="2000" b="1">
                <a:solidFill>
                  <a:srgbClr val="1F2D3A"/>
                </a:solidFill>
              </a:rPr>
              <a:t>string birleştirmeyle</a:t>
            </a:r>
            <a:r>
              <a:rPr sz="2000" b="0">
                <a:solidFill>
                  <a:srgbClr val="1F2D3A"/>
                </a:solidFill>
              </a:rPr>
              <a:t> komuta gömme.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bağlama uygun kaçış (son çare).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Enjeksiyon aileleri (bugün)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enjeksiyonu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Yol geçişi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Seri durumdan çıkarma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XML/XXE, şablon, XSS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0664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Hepsinin kökü ve çözümü </a:t>
            </a:r>
            <a:r>
              <a:rPr sz="2000" b="1">
                <a:solidFill>
                  <a:srgbClr val="1F2D3A"/>
                </a:solidFill>
              </a:rPr>
              <a:t>aynı mantık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Yönetilen dil hangi hata sınıfını büyük ölçüde çözer?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Neyi çözmez?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Enjeksiyonun ortak kökü nedir?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Bellek güvenliği</a:t>
            </a:r>
            <a:r>
              <a:rPr sz="2000" b="0">
                <a:solidFill>
                  <a:srgbClr val="1F2D3A"/>
                </a:solidFill>
              </a:rPr>
              <a:t> hatalarını (tampon taşması, use-after-free, çift/sarkan işaretçi) — GC + sınır denetimiyle.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Mantık/enjeksiyon/yetkilendirme</a:t>
            </a:r>
            <a:r>
              <a:rPr sz="2000" b="0">
                <a:solidFill>
                  <a:srgbClr val="1F2D3A"/>
                </a:solidFill>
              </a:rPr>
              <a:t>, güvensiz deserialization, zayıf kripto, </a:t>
            </a:r>
            <a:r>
              <a:rPr sz="2000" b="1">
                <a:solidFill>
                  <a:srgbClr val="1F2D3A"/>
                </a:solidFill>
              </a:rPr>
              <a:t>bağımlılık</a:t>
            </a:r>
            <a:r>
              <a:rPr sz="2000" b="0">
                <a:solidFill>
                  <a:srgbClr val="1F2D3A"/>
                </a:solidFill>
              </a:rPr>
              <a:t> açıkları — bunlar dil-üstü, çözülmez.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Güvenilmeyen </a:t>
            </a:r>
            <a:r>
              <a:rPr sz="2000" b="1">
                <a:solidFill>
                  <a:srgbClr val="1F2D3A"/>
                </a:solidFill>
              </a:rPr>
              <a:t>VERİ</a:t>
            </a:r>
            <a:r>
              <a:rPr sz="2000" b="0">
                <a:solidFill>
                  <a:srgbClr val="1F2D3A"/>
                </a:solidFill>
              </a:rPr>
              <a:t> ile </a:t>
            </a:r>
            <a:r>
              <a:rPr sz="2000" b="1">
                <a:solidFill>
                  <a:srgbClr val="1F2D3A"/>
                </a:solidFill>
              </a:rPr>
              <a:t>KOD/komutun</a:t>
            </a:r>
            <a:r>
              <a:rPr sz="2000" b="0">
                <a:solidFill>
                  <a:srgbClr val="1F2D3A"/>
                </a:solidFill>
              </a:rPr>
              <a:t> aynı kanalda karışması; yorumlayıcı veriyi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olarak ayrıştırır.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SQL enjeksiyonu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 = '" + ad + "'";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stmt.executeQuery(q);   // HATALI: ad komuta karışır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içine tırnak ve SQL koyulursa?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olarak şunu girer: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' OR '1'='1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Sorgu şuna döner: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998215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 = '' OR '1'='1'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7123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'1'='1'</a:t>
            </a:r>
            <a:r>
              <a:rPr sz="2000" b="0">
                <a:solidFill>
                  <a:srgbClr val="1F2D3A"/>
                </a:solidFill>
              </a:rPr>
              <a:t> her zaman doğru → </a:t>
            </a:r>
            <a:r>
              <a:rPr sz="2000" b="1">
                <a:solidFill>
                  <a:srgbClr val="1F2D3A"/>
                </a:solidFill>
              </a:rPr>
              <a:t>tüm satırlar</a:t>
            </a:r>
            <a:r>
              <a:rPr sz="2000" b="0">
                <a:solidFill>
                  <a:srgbClr val="1F2D3A"/>
                </a:solidFill>
              </a:rPr>
              <a:t> döner.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, sorgu </a:t>
            </a:r>
            <a:r>
              <a:rPr sz="2000" b="1">
                <a:solidFill>
                  <a:srgbClr val="1F2D3A"/>
                </a:solidFill>
              </a:rPr>
              <a:t>metnine</a:t>
            </a:r>
            <a:r>
              <a:rPr sz="2000" b="0">
                <a:solidFill>
                  <a:srgbClr val="1F2D3A"/>
                </a:solidFill>
              </a:rPr>
              <a:t> birleştirildi.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Tırnak, veriyi bitirip </a:t>
            </a:r>
            <a:r>
              <a:rPr sz="2000" b="1">
                <a:solidFill>
                  <a:srgbClr val="1F2D3A"/>
                </a:solidFill>
              </a:rPr>
              <a:t>komut</a:t>
            </a:r>
            <a:r>
              <a:rPr sz="2000" b="0">
                <a:solidFill>
                  <a:srgbClr val="1F2D3A"/>
                </a:solidFill>
              </a:rPr>
              <a:t> kısmına geçmeyi sağladı.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 ile komut </a:t>
            </a:r>
            <a:r>
              <a:rPr sz="2000" b="1">
                <a:solidFill>
                  <a:srgbClr val="1F2D3A"/>
                </a:solidFill>
              </a:rPr>
              <a:t>karıştı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SQL enjeksiyonu adım adım — şema</a:t>
            </a:r>
          </a:p>
        </p:txBody>
      </p:sp>
      <p:pic>
        <p:nvPicPr>
          <p:cNvPr id="7" name="Picture 6" descr="h05-03-sql-enjeksi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parametreli sorgu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con.prepareStatement("SELECT * FROM kul WHERE ad = 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    // ad yalnız VERİ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ps.executeQuery();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?</a:t>
            </a:r>
            <a:r>
              <a:rPr sz="2000" b="0">
                <a:solidFill>
                  <a:srgbClr val="1F2D3A"/>
                </a:solidFill>
              </a:rPr>
              <a:t> bir </a:t>
            </a:r>
            <a:r>
              <a:rPr sz="2000" b="1">
                <a:solidFill>
                  <a:srgbClr val="1F2D3A"/>
                </a:solidFill>
              </a:rPr>
              <a:t>parametre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asla komut olarak yorumlanmaz.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çalışır?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Sorgu iskeleti </a:t>
            </a:r>
            <a:r>
              <a:rPr sz="2000" b="1">
                <a:solidFill>
                  <a:srgbClr val="1F2D3A"/>
                </a:solidFill>
              </a:rPr>
              <a:t>önceden</a:t>
            </a:r>
            <a:r>
              <a:rPr sz="2000" b="0">
                <a:solidFill>
                  <a:srgbClr val="1F2D3A"/>
                </a:solidFill>
              </a:rPr>
              <a:t> veritabanına gönderilir (derlenir).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sonradan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 olarak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Tırnak koysa bile veri olarak kalır.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Diğer katmanlar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uygulamanın DB kullanıcısı yalnız gerekeni yapsın.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yine de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ORM</a:t>
            </a:r>
            <a:r>
              <a:rPr sz="2000" b="0">
                <a:solidFill>
                  <a:srgbClr val="1F2D3A"/>
                </a:solidFill>
              </a:rPr>
              <a:t> kullanıyorsanız da parametreli API'yi kullanın (string birleştirme değil).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Kaçış (escaping) son çaredir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Elle tırnak kaçırmak </a:t>
            </a:r>
            <a:r>
              <a:rPr sz="2000" b="1">
                <a:solidFill>
                  <a:srgbClr val="1F2D3A"/>
                </a:solidFill>
              </a:rPr>
              <a:t>hataya açık</a:t>
            </a:r>
            <a:r>
              <a:rPr sz="2000" b="0">
                <a:solidFill>
                  <a:srgbClr val="1F2D3A"/>
                </a:solidFill>
              </a:rPr>
              <a:t>; her DB farklı.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Öncelik </a:t>
            </a:r>
            <a:r>
              <a:rPr sz="2000" b="1">
                <a:solidFill>
                  <a:srgbClr val="1F2D3A"/>
                </a:solidFill>
              </a:rPr>
              <a:t>her zaman</a:t>
            </a:r>
            <a:r>
              <a:rPr sz="2000" b="0">
                <a:solidFill>
                  <a:srgbClr val="1F2D3A"/>
                </a:solidFill>
              </a:rPr>
              <a:t>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Kaçış yalnız parametrelenemeyen yerlerde, dikkatle.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Komut enjeksiyonu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Kabuk var mı yok mu — şema</a:t>
            </a:r>
          </a:p>
        </p:txBody>
      </p:sp>
      <p:pic>
        <p:nvPicPr>
          <p:cNvPr id="7" name="Picture 6" descr="h05-04-komut-enjeksiy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Runtime.getRuntime().exec("ping " + host);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içine kabuk metakarakteri koyulursa?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example.com; rm -rf veri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Kabuk bunu </a:t>
            </a:r>
            <a:r>
              <a:rPr sz="2000" b="1">
                <a:solidFill>
                  <a:srgbClr val="1F2D3A"/>
                </a:solidFill>
              </a:rPr>
              <a:t>iki komut</a:t>
            </a:r>
            <a:r>
              <a:rPr sz="2000" b="0">
                <a:solidFill>
                  <a:srgbClr val="1F2D3A"/>
                </a:solidFill>
              </a:rPr>
              <a:t> olarak çalıştırır: </a:t>
            </a:r>
            <a:r>
              <a:rPr sz="2000" b="0">
                <a:solidFill>
                  <a:srgbClr val="A1123F"/>
                </a:solidFill>
                <a:latin typeface="Consolas"/>
              </a:rPr>
              <a:t>ping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ve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rm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998215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 i="1">
                <a:solidFill>
                  <a:srgbClr val="1F2D3A"/>
                </a:solidFill>
              </a:rPr>
              <a:t>(Örnek sentetik; asla çalıştırmayın.)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oldu?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bir </a:t>
            </a:r>
            <a:r>
              <a:rPr sz="2000" b="1">
                <a:solidFill>
                  <a:srgbClr val="1F2D3A"/>
                </a:solidFill>
              </a:rPr>
              <a:t>kabuğa</a:t>
            </a:r>
            <a:r>
              <a:rPr sz="2000" b="0">
                <a:solidFill>
                  <a:srgbClr val="1F2D3A"/>
                </a:solidFill>
              </a:rPr>
              <a:t> metin olarak verildi.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&amp;&amp;</a:t>
            </a:r>
            <a:r>
              <a:rPr sz="2000" b="0">
                <a:solidFill>
                  <a:srgbClr val="1F2D3A"/>
                </a:solidFill>
              </a:rPr>
              <a:t> kabukta </a:t>
            </a:r>
            <a:r>
              <a:rPr sz="2000" b="1">
                <a:solidFill>
                  <a:srgbClr val="1F2D3A"/>
                </a:solidFill>
              </a:rPr>
              <a:t>komut ayırıcı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Veri, komut satırına karıştı.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argüman dizisi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new ProcessBuilder("ping", "-c", "1", host).start();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Kabuk </a:t>
            </a:r>
            <a:r>
              <a:rPr sz="2000" b="1">
                <a:solidFill>
                  <a:srgbClr val="1F2D3A"/>
                </a:solidFill>
              </a:rPr>
              <a:t>yok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host</a:t>
            </a:r>
            <a:r>
              <a:rPr sz="2000" b="0">
                <a:solidFill>
                  <a:srgbClr val="1F2D3A"/>
                </a:solidFill>
              </a:rPr>
              <a:t> tek bir </a:t>
            </a:r>
            <a:r>
              <a:rPr sz="2000" b="1">
                <a:solidFill>
                  <a:srgbClr val="1F2D3A"/>
                </a:solidFill>
              </a:rPr>
              <a:t>argüman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Metakarakterler yorumlanmaz.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kurallar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Mümkünse dış komut </a:t>
            </a:r>
            <a:r>
              <a:rPr sz="2000" b="1">
                <a:solidFill>
                  <a:srgbClr val="1F2D3A"/>
                </a:solidFill>
              </a:rPr>
              <a:t>hiç</a:t>
            </a:r>
            <a:r>
              <a:rPr sz="2000" b="0">
                <a:solidFill>
                  <a:srgbClr val="1F2D3A"/>
                </a:solidFill>
              </a:rPr>
              <a:t> çalıştırma; kütüphane API'si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Çalıştıracaksan: sabit yol, argüman dizisi,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ENV33-C</a:t>
            </a:r>
            <a:r>
              <a:rPr sz="2000" b="0">
                <a:solidFill>
                  <a:srgbClr val="1F2D3A"/>
                </a:solidFill>
              </a:rPr>
              <a:t> benzeri: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system()</a:t>
            </a:r>
            <a:r>
              <a:rPr sz="2000" b="0">
                <a:solidFill>
                  <a:srgbClr val="1F2D3A"/>
                </a:solidFill>
              </a:rPr>
              <a:t>/kabuk çağırma.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Yol geçişi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geçişini kapatan iki adım — şema</a:t>
            </a:r>
          </a:p>
        </p:txBody>
      </p:sp>
      <p:pic>
        <p:nvPicPr>
          <p:cNvPr id="7" name="Picture 6" descr="h05-05-yol-geci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Hatalı kod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File f = new File("yuklenen/" + adi);  // HATALI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içine </a:t>
            </a:r>
            <a:r>
              <a:rPr sz="2000" b="0">
                <a:solidFill>
                  <a:srgbClr val="A1123F"/>
                </a:solidFill>
                <a:latin typeface="Consolas"/>
              </a:rPr>
              <a:t>../</a:t>
            </a:r>
            <a:r>
              <a:rPr sz="2000" b="0">
                <a:solidFill>
                  <a:srgbClr val="1F2D3A"/>
                </a:solidFill>
              </a:rPr>
              <a:t> koyulursa?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Saldırı · örnek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adi</a:t>
            </a:r>
            <a:r>
              <a:rPr sz="2000" b="0">
                <a:solidFill>
                  <a:srgbClr val="1F2D3A"/>
                </a:solidFill>
              </a:rPr>
              <a:t> olarak: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../../etc/passwd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Sonuç: </a:t>
            </a:r>
            <a:r>
              <a:rPr sz="2000" b="0">
                <a:solidFill>
                  <a:srgbClr val="A1123F"/>
                </a:solidFill>
                <a:latin typeface="Consolas"/>
              </a:rPr>
              <a:t>yuklenen/../../etc/passwd</a:t>
            </a:r>
            <a:r>
              <a:rPr sz="2000" b="0">
                <a:solidFill>
                  <a:srgbClr val="1F2D3A"/>
                </a:solidFill>
              </a:rPr>
              <a:t> → izin verilen klasörün </a:t>
            </a:r>
            <a:r>
              <a:rPr sz="2000" b="1">
                <a:solidFill>
                  <a:srgbClr val="1F2D3A"/>
                </a:solidFill>
              </a:rPr>
              <a:t>dışı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kanonikleştir + kök denetimi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kok = Paths.get("yuklenen").toRealPath();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Path hedef = kok.resolve(adi).normalize().toRealPath();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if (!hedef.startsWith(kok)) throw new SecurityException();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Kanonik yol </a:t>
            </a:r>
            <a:r>
              <a:rPr sz="2000" b="1">
                <a:solidFill>
                  <a:srgbClr val="1F2D3A"/>
                </a:solidFill>
              </a:rPr>
              <a:t>kökün altında</a:t>
            </a:r>
            <a:r>
              <a:rPr sz="2000" b="0">
                <a:solidFill>
                  <a:srgbClr val="1F2D3A"/>
                </a:solidFill>
              </a:rPr>
              <a:t> mı? Değilse reddet.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Yol geçişi · 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Dosya adını </a:t>
            </a:r>
            <a:r>
              <a:rPr sz="2000" b="1">
                <a:solidFill>
                  <a:srgbClr val="1F2D3A"/>
                </a:solidFill>
              </a:rPr>
              <a:t>beyaz listeyle</a:t>
            </a:r>
            <a:r>
              <a:rPr sz="2000" b="0">
                <a:solidFill>
                  <a:srgbClr val="1F2D3A"/>
                </a:solidFill>
              </a:rPr>
              <a:t> sınırla (</a:t>
            </a:r>
            <a:r>
              <a:rPr sz="2000" b="0">
                <a:solidFill>
                  <a:srgbClr val="A1123F"/>
                </a:solidFill>
                <a:latin typeface="Consolas"/>
              </a:rPr>
              <a:t>[a-zA-Z0-9_.-]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Sembolik bağlantılar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symlink</a:t>
            </a:r>
            <a:r>
              <a:rPr sz="2000" b="0">
                <a:solidFill>
                  <a:srgbClr val="1F2D3A"/>
                </a:solidFill>
              </a:rPr>
              <a:t>) kanonikleştirmeyle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Kullanıcı adını </a:t>
            </a:r>
            <a:r>
              <a:rPr sz="2000" b="1">
                <a:solidFill>
                  <a:srgbClr val="1F2D3A"/>
                </a:solidFill>
              </a:rPr>
              <a:t>doğrudan</a:t>
            </a:r>
            <a:r>
              <a:rPr sz="2000" b="0">
                <a:solidFill>
                  <a:srgbClr val="1F2D3A"/>
                </a:solidFill>
              </a:rPr>
              <a:t> dosya adı yapma.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enjeksiyon · ortak ders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8790"/>
                <a:gridCol w="3810377"/>
                <a:gridCol w="5542366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Yanlış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SQL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String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Kabuğa metin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Argüman dizisi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Yol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A1123F"/>
                          </a:solidFill>
                          <a:latin typeface="Consolas"/>
                        </a:rPr>
                        <a:t>../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birleştirme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Kanonikleştir + kök denetimi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96265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Kök aynı: </a:t>
            </a:r>
            <a:r>
              <a:rPr sz="2000" b="1">
                <a:solidFill>
                  <a:srgbClr val="1F2D3A"/>
                </a:solidFill>
              </a:rPr>
              <a:t>veriyi koddan/komuttan ayır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A1123F"/>
                </a:solidFill>
                <a:latin typeface="Consolas"/>
              </a:rPr>
              <a:t>' OR '1'='1</a:t>
            </a:r>
            <a:r>
              <a:rPr sz="2000" b="0">
                <a:solidFill>
                  <a:srgbClr val="1F2D3A"/>
                </a:solidFill>
              </a:rPr>
              <a:t> neden tüm satırları döndürür?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ProcessBuilder</a:t>
            </a:r>
            <a:r>
              <a:rPr sz="2000" b="0">
                <a:solidFill>
                  <a:srgbClr val="1F2D3A"/>
                </a:solidFill>
              </a:rPr>
              <a:t> argüman dizisi neden güvenli?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Yol geçişini hangi iki adım kapatır?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2–4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Dizeye katılınca </a:t>
            </a:r>
            <a:r>
              <a:rPr sz="2000" b="0">
                <a:solidFill>
                  <a:srgbClr val="A1123F"/>
                </a:solidFill>
                <a:latin typeface="Consolas"/>
              </a:rPr>
              <a:t>WHERE</a:t>
            </a:r>
            <a:r>
              <a:rPr sz="2000" b="0">
                <a:solidFill>
                  <a:srgbClr val="1F2D3A"/>
                </a:solidFill>
              </a:rPr>
              <a:t> koşulunu </a:t>
            </a:r>
            <a:r>
              <a:rPr sz="2000" b="1">
                <a:solidFill>
                  <a:srgbClr val="1F2D3A"/>
                </a:solidFill>
              </a:rPr>
              <a:t>her zaman doğru</a:t>
            </a:r>
            <a:r>
              <a:rPr sz="2000" b="0">
                <a:solidFill>
                  <a:srgbClr val="1F2D3A"/>
                </a:solidFill>
              </a:rPr>
              <a:t> yapar → tüm satırlar (veri, kod olarak ayrıştırıldı).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Argümanlar </a:t>
            </a:r>
            <a:r>
              <a:rPr sz="2000" b="1">
                <a:solidFill>
                  <a:srgbClr val="1F2D3A"/>
                </a:solidFill>
              </a:rPr>
              <a:t>kabuğa değil</a:t>
            </a:r>
            <a:r>
              <a:rPr sz="2000" b="0">
                <a:solidFill>
                  <a:srgbClr val="1F2D3A"/>
                </a:solidFill>
              </a:rPr>
              <a:t> programa ayrı ayrı geçer; 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 gibi meta-karakter yorumu yok → komut enjeksiyonu kapanır.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Kanonik yola</a:t>
            </a:r>
            <a:r>
              <a:rPr sz="2000" b="0">
                <a:solidFill>
                  <a:srgbClr val="1F2D3A"/>
                </a:solidFill>
              </a:rPr>
              <a:t> çevir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realpath</a:t>
            </a:r>
            <a:r>
              <a:rPr sz="2000" b="0">
                <a:solidFill>
                  <a:srgbClr val="1F2D3A"/>
                </a:solidFill>
              </a:rPr>
              <a:t>/normalize), (2) izinli </a:t>
            </a:r>
            <a:r>
              <a:rPr sz="2000" b="1">
                <a:solidFill>
                  <a:srgbClr val="1F2D3A"/>
                </a:solidFill>
              </a:rPr>
              <a:t>kök dizin</a:t>
            </a:r>
            <a:r>
              <a:rPr sz="2000" b="0">
                <a:solidFill>
                  <a:srgbClr val="1F2D3A"/>
                </a:solidFill>
              </a:rPr>
              <a:t> içinde mi doğrula (allowlist). Kullanıcı girdisini yola doğrudan koyma.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Güvensiz seri durumdan çıkarma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Deserialization gadget zinciri — şema</a:t>
            </a:r>
          </a:p>
        </p:txBody>
      </p:sp>
      <p:pic>
        <p:nvPicPr>
          <p:cNvPr id="7" name="Picture 6" descr="h05-06-deserializ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baytları bir nesneye çevirmek </a:t>
            </a:r>
            <a:r>
              <a:rPr sz="2000" b="1">
                <a:solidFill>
                  <a:srgbClr val="1F2D3A"/>
                </a:solidFill>
              </a:rPr>
              <a:t>tehlikelidir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Java'da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ObjectInputStream.readObject()</a:t>
            </a:r>
            <a:r>
              <a:rPr sz="2000" b="0">
                <a:solidFill>
                  <a:srgbClr val="1F2D3A"/>
                </a:solidFill>
              </a:rPr>
              <a:t> çıkarken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çalıştırabilir (gadget zincirleri).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Sonuç: uzaktan kod çalıştırma.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bu kadar kötü?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nesnelerin </a:t>
            </a:r>
            <a:r>
              <a:rPr sz="2000" b="1">
                <a:solidFill>
                  <a:srgbClr val="1F2D3A"/>
                </a:solidFill>
              </a:rPr>
              <a:t>kurucuları/metotları</a:t>
            </a:r>
            <a:r>
              <a:rPr sz="2000" b="0">
                <a:solidFill>
                  <a:srgbClr val="1F2D3A"/>
                </a:solidFill>
              </a:rPr>
              <a:t> çalışır.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Uygun kütüphaneler varsa (gadget), zincirlenip komut çalıştırılabilir.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"sadece veri" sanılır ama </a:t>
            </a:r>
            <a:r>
              <a:rPr sz="2000" b="1">
                <a:solidFill>
                  <a:srgbClr val="1F2D3A"/>
                </a:solidFill>
              </a:rPr>
              <a:t>kod</a:t>
            </a:r>
            <a:r>
              <a:rPr sz="2000" b="0">
                <a:solidFill>
                  <a:srgbClr val="1F2D3A"/>
                </a:solidFill>
              </a:rPr>
              <a:t> gibi davranır.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Doğru · en iyisi: hiç yapma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</a:t>
            </a:r>
            <a:r>
              <a:rPr sz="2000" b="1">
                <a:solidFill>
                  <a:srgbClr val="1F2D3A"/>
                </a:solidFill>
              </a:rPr>
              <a:t>native serileştirmeyle</a:t>
            </a:r>
            <a:r>
              <a:rPr sz="2000" b="0">
                <a:solidFill>
                  <a:srgbClr val="1F2D3A"/>
                </a:solidFill>
              </a:rPr>
              <a:t> çıkarma.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Onun yerine </a:t>
            </a:r>
            <a:r>
              <a:rPr sz="2000" b="1">
                <a:solidFill>
                  <a:srgbClr val="1F2D3A"/>
                </a:solidFill>
              </a:rPr>
              <a:t>JSON/veri</a:t>
            </a:r>
            <a:r>
              <a:rPr sz="2000" b="0">
                <a:solidFill>
                  <a:srgbClr val="1F2D3A"/>
                </a:solidFill>
              </a:rPr>
              <a:t> biçimi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beklediğiniz alanları okuyun.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Zorundaysanız ·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ObjectInputFilter f = 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.createFilter("com.uygulama.*;!*");  // yalnız izinli sınıflar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ois.setObjectInputFilter(f);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Beyaz liste</a:t>
            </a:r>
            <a:r>
              <a:rPr sz="2000" b="0">
                <a:solidFill>
                  <a:srgbClr val="1F2D3A"/>
                </a:solidFill>
              </a:rPr>
              <a:t>: yalnız beklenen sınıflar.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Derinlik/boyut sınırı da koyun (DoS'a karşı).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XML, şablon, XSS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sorun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</a:t>
            </a:r>
            <a:r>
              <a:rPr sz="2000" b="1">
                <a:solidFill>
                  <a:srgbClr val="1F2D3A"/>
                </a:solidFill>
              </a:rPr>
              <a:t>dış varlık</a:t>
            </a:r>
            <a:r>
              <a:rPr sz="2000" b="0">
                <a:solidFill>
                  <a:srgbClr val="1F2D3A"/>
                </a:solidFill>
              </a:rPr>
              <a:t> tanımlanabilir; ayrıştırıcı onu </a:t>
            </a:r>
            <a:r>
              <a:rPr sz="2000" b="1">
                <a:solidFill>
                  <a:srgbClr val="1F2D3A"/>
                </a:solidFill>
              </a:rPr>
              <a:t>çözer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dosya okutabilir ya da sunucudan istek yaptırabilir (SSRF).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— şema</a:t>
            </a:r>
          </a:p>
        </p:txBody>
      </p:sp>
      <p:pic>
        <p:nvPicPr>
          <p:cNvPr id="7" name="Picture 6" descr="h05-07-xx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210484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XXE · doğru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841247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dbf.setFeature(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"http://apache.org/xml/features/disallow-doctype-decl", true);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// ya da dış varlıkları kapat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6856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Dış varlıkları kapat</a:t>
            </a:r>
            <a:r>
              <a:rPr sz="2000" b="0">
                <a:solidFill>
                  <a:srgbClr val="1F2D3A"/>
                </a:solidFill>
              </a:rPr>
              <a:t>, DOCTYPE'ı reddet.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Çoğu kütüphanede tek satırlık ayar.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Şablon enjeksiyonu (SSTI)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Şablon motoruna kullanıcı girdisini </a:t>
            </a:r>
            <a:r>
              <a:rPr sz="2000" b="1">
                <a:solidFill>
                  <a:srgbClr val="1F2D3A"/>
                </a:solidFill>
              </a:rPr>
              <a:t>şablon</a:t>
            </a:r>
            <a:r>
              <a:rPr sz="2000" b="0">
                <a:solidFill>
                  <a:srgbClr val="1F2D3A"/>
                </a:solidFill>
              </a:rPr>
              <a:t> olarak vermek.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Motor onu kod gibi çalıştırabilir.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Kural: kullanıcı girdisi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, şablon </a:t>
            </a:r>
            <a:r>
              <a:rPr sz="2000" b="1">
                <a:solidFill>
                  <a:srgbClr val="1F2D3A"/>
                </a:solidFill>
              </a:rPr>
              <a:t>sabit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XSS (kısaca)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XSS:</a:t>
            </a:r>
            <a:r>
              <a:rPr sz="2000" b="0">
                <a:solidFill>
                  <a:srgbClr val="1F2D3A"/>
                </a:solidFill>
              </a:rPr>
              <a:t> kullanıcı verisinin bir web sayfasına </a:t>
            </a:r>
            <a:r>
              <a:rPr sz="2000" b="1">
                <a:solidFill>
                  <a:srgbClr val="1F2D3A"/>
                </a:solidFill>
              </a:rPr>
              <a:t>HTML/JS</a:t>
            </a:r>
            <a:r>
              <a:rPr sz="2000" b="0">
                <a:solidFill>
                  <a:srgbClr val="1F2D3A"/>
                </a:solidFill>
              </a:rPr>
              <a:t> olarak sızması.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çıktı </a:t>
            </a:r>
            <a:r>
              <a:rPr sz="2000" b="1">
                <a:solidFill>
                  <a:srgbClr val="1F2D3A"/>
                </a:solidFill>
              </a:rPr>
              <a:t>bağlama uygun kodlama</a:t>
            </a:r>
            <a:r>
              <a:rPr sz="2000" b="0">
                <a:solidFill>
                  <a:srgbClr val="1F2D3A"/>
                </a:solidFill>
              </a:rPr>
              <a:t> (HTML-encode), CSP.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Kök yine aynı: veri ≠ kod.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Python ve JavaScript'te aynı hatalar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kök, farklı dil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her dilde: Python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</a:t>
            </a:r>
            <a:r>
              <a:rPr sz="2000" b="0">
                <a:solidFill>
                  <a:srgbClr val="1F2D3A"/>
                </a:solidFill>
              </a:rPr>
              <a:t>, JS </a:t>
            </a:r>
            <a:r>
              <a:rPr sz="2000" b="0">
                <a:solidFill>
                  <a:srgbClr val="A1123F"/>
                </a:solidFill>
                <a:latin typeface="Consolas"/>
              </a:rPr>
              <a:t>child_process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 aynı: argüman dizisi, parametreli sorgu.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Python ·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os.system("cmd " + x)</a:t>
            </a:r>
            <a:r>
              <a:rPr sz="2000" b="0">
                <a:solidFill>
                  <a:srgbClr val="1F2D3A"/>
                </a:solidFill>
              </a:rPr>
              <a:t> → komut enjeksiyonu; </a:t>
            </a:r>
            <a:r>
              <a:rPr sz="2000" b="0">
                <a:solidFill>
                  <a:srgbClr val="A1123F"/>
                </a:solidFill>
                <a:latin typeface="Consolas"/>
              </a:rPr>
              <a:t>subprocess.run([...])</a:t>
            </a:r>
            <a:r>
              <a:rPr sz="2000" b="0">
                <a:solidFill>
                  <a:srgbClr val="1F2D3A"/>
                </a:solidFill>
              </a:rPr>
              <a:t> kullan.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eval(girdi)</a:t>
            </a:r>
            <a:r>
              <a:rPr sz="2000" b="0">
                <a:solidFill>
                  <a:srgbClr val="1F2D3A"/>
                </a:solidFill>
              </a:rPr>
              <a:t> /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pickle.loads(güvenilmez)</a:t>
            </a:r>
            <a:r>
              <a:rPr sz="2000" b="0">
                <a:solidFill>
                  <a:srgbClr val="1F2D3A"/>
                </a:solidFill>
              </a:rPr>
              <a:t> →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 güvenilmez veriyle.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SQL: parametreli (</a:t>
            </a:r>
            <a:r>
              <a:rPr sz="2000" b="0">
                <a:solidFill>
                  <a:srgbClr val="A1123F"/>
                </a:solidFill>
                <a:latin typeface="Consolas"/>
              </a:rPr>
              <a:t>cursor.execute("... ?", (x,))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ReDoS (düzenli ifade 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bir </a:t>
            </a:r>
            <a:r>
              <a:rPr sz="2000" b="1">
                <a:solidFill>
                  <a:srgbClr val="1F2D3A"/>
                </a:solidFill>
              </a:rPr>
              <a:t>regex</a:t>
            </a:r>
            <a:r>
              <a:rPr sz="2000" b="0">
                <a:solidFill>
                  <a:srgbClr val="1F2D3A"/>
                </a:solidFill>
              </a:rPr>
              <a:t>, belirli girdilerde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harcayabilir.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 bununla CPU'yu kilitler.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regex, girdi uzunluğu sınırı, zaman aşımı.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JavaScript · prototype pollution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Prototype pollution:</a:t>
            </a:r>
            <a:r>
              <a:rPr sz="2000" b="0">
                <a:solidFill>
                  <a:srgbClr val="1F2D3A"/>
                </a:solidFill>
              </a:rPr>
              <a:t> saldırgan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nesnelerin </a:t>
            </a:r>
            <a:r>
              <a:rPr sz="2000" b="1">
                <a:solidFill>
                  <a:srgbClr val="1F2D3A"/>
                </a:solidFill>
              </a:rPr>
              <a:t>ortak</a:t>
            </a:r>
            <a:r>
              <a:rPr sz="2000" b="0">
                <a:solidFill>
                  <a:srgbClr val="1F2D3A"/>
                </a:solidFill>
              </a:rPr>
              <a:t> özelliğini bozar.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Beklenmedik davranış, yetki atlatma.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güvenli birleştirme,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Object.create(null)</a:t>
            </a:r>
            <a:r>
              <a:rPr sz="2000" b="0">
                <a:solidFill>
                  <a:srgbClr val="1F2D3A"/>
                </a:solidFill>
              </a:rPr>
              <a:t>, kütüphane güncelliği.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Yorumlanan diller · ortak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dinamik </a:t>
            </a:r>
            <a:r>
              <a:rPr sz="2000" b="0">
                <a:solidFill>
                  <a:srgbClr val="A1123F"/>
                </a:solidFill>
                <a:latin typeface="Consolas"/>
              </a:rPr>
              <a:t>require</a:t>
            </a:r>
            <a:r>
              <a:rPr sz="2000" b="0">
                <a:solidFill>
                  <a:srgbClr val="1F2D3A"/>
                </a:solidFill>
              </a:rPr>
              <a:t> → güvenilmez veriyle </a:t>
            </a:r>
            <a:r>
              <a:rPr sz="2000" b="1">
                <a:solidFill>
                  <a:srgbClr val="1F2D3A"/>
                </a:solidFill>
              </a:rPr>
              <a:t>kullanma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doğrulama + parametreli API + güncel bağımlılık.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Güvensiz deserialization neden kod çalıştırabilir?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XXE'yi hangi ayar kapatır?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ReDoS nedir, nasıl azaltılır?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5–9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540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Nesne kurulurken sınıfların yan etkili yöntemleri (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) tetiklenir → saldırgan nesne grafiğiyle akış kurar.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Dış varlıkları ve DOCTYPE'ı</a:t>
            </a:r>
            <a:r>
              <a:rPr sz="2000" b="0">
                <a:solidFill>
                  <a:srgbClr val="1F2D3A"/>
                </a:solidFill>
              </a:rPr>
              <a:t> kapatan ayrıştırıcı ayarı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disallow-doctype-decl</a:t>
            </a:r>
            <a:r>
              <a:rPr sz="2000" b="0">
                <a:solidFill>
                  <a:srgbClr val="1F2D3A"/>
                </a:solidFill>
              </a:rPr>
              <a:t>, external entities kapalı).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ReDoS:</a:t>
            </a:r>
            <a:r>
              <a:rPr sz="2000" b="0">
                <a:solidFill>
                  <a:srgbClr val="1F2D3A"/>
                </a:solidFill>
              </a:rPr>
              <a:t> katastrofik geri izlemeli regex; kötü girdi </a:t>
            </a:r>
            <a:r>
              <a:rPr sz="2000" b="1">
                <a:solidFill>
                  <a:srgbClr val="1F2D3A"/>
                </a:solidFill>
              </a:rPr>
              <a:t>üstel</a:t>
            </a:r>
            <a:r>
              <a:rPr sz="2000" b="0">
                <a:solidFill>
                  <a:srgbClr val="1F2D3A"/>
                </a:solidFill>
              </a:rPr>
              <a:t> zaman → CPU kilitlenir. Azaltma: doğrusal-zaman motoru (RE2), iç içe niceleyiciden kaçın, uzunluk/zaman sınırı.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Bayt kodu ve tersine derleme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Bayt kod vs makine kodu — şema</a:t>
            </a:r>
          </a:p>
        </p:txBody>
      </p:sp>
      <p:pic>
        <p:nvPicPr>
          <p:cNvPr id="7" name="Picture 6" descr="h05-08-bayt-k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bayt kodu kolay okunur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.jar</a:t>
            </a:r>
            <a:r>
              <a:rPr sz="2000" b="0">
                <a:solidFill>
                  <a:srgbClr val="1F2D3A"/>
                </a:solidFill>
              </a:rPr>
              <a:t> bayt kodu, kaynağa </a:t>
            </a:r>
            <a:r>
              <a:rPr sz="2000" b="1">
                <a:solidFill>
                  <a:srgbClr val="1F2D3A"/>
                </a:solidFill>
              </a:rPr>
              <a:t>çok yakın</a:t>
            </a:r>
            <a:r>
              <a:rPr sz="2000" b="0">
                <a:solidFill>
                  <a:srgbClr val="1F2D3A"/>
                </a:solidFill>
              </a:rPr>
              <a:t> geri çevrilebilir.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Araçlar: </a:t>
            </a:r>
            <a:r>
              <a:rPr sz="2000" b="0">
                <a:solidFill>
                  <a:srgbClr val="A1123F"/>
                </a:solidFill>
                <a:latin typeface="Consolas"/>
              </a:rPr>
              <a:t>javap</a:t>
            </a:r>
            <a:r>
              <a:rPr sz="2000" b="0">
                <a:solidFill>
                  <a:srgbClr val="1F2D3A"/>
                </a:solidFill>
              </a:rPr>
              <a:t> (sökme), JD-GUI/CFR/Procyon (tersine derleme).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Adlar, dizgeler, yapı büyük ölçüde </a:t>
            </a:r>
            <a:r>
              <a:rPr sz="2000" b="1">
                <a:solidFill>
                  <a:srgbClr val="1F2D3A"/>
                </a:solidFill>
              </a:rPr>
              <a:t>görünür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javap</a:t>
            </a:r>
            <a:r>
              <a:rPr sz="3000" b="1">
                <a:solidFill>
                  <a:srgbClr val="006D77"/>
                </a:solidFill>
              </a:rPr>
              <a:t>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javap -c -p Uygulama.class    # bayt kodunu sök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Metot adları, çağrılar, sabitler görünür.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yüzden Java'da gizleme </a:t>
            </a:r>
            <a:r>
              <a:rPr sz="2000" b="1">
                <a:solidFill>
                  <a:srgbClr val="1F2D3A"/>
                </a:solidFill>
              </a:rPr>
              <a:t>daha da</a:t>
            </a:r>
            <a:r>
              <a:rPr sz="2000" b="0">
                <a:solidFill>
                  <a:srgbClr val="1F2D3A"/>
                </a:solidFill>
              </a:rPr>
              <a:t> gerekli.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C'den daha kolay?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Bayt kodu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 ve tür bilgisi taşır.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Değişken/metot adları çoğunlukla korunur.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→ tersine mühendislik ucuz; gizleme şart.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ProGuard ve R8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ProGuard/R8 ne yapar?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Üç iş: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Küçültme (shrink):</a:t>
            </a:r>
            <a:r>
              <a:rPr sz="2000" b="0">
                <a:solidFill>
                  <a:srgbClr val="1F2D3A"/>
                </a:solidFill>
              </a:rPr>
              <a:t> kullanılmayan kodu atar.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İyileştirme (optimize):</a:t>
            </a:r>
            <a:r>
              <a:rPr sz="2000" b="0">
                <a:solidFill>
                  <a:srgbClr val="1F2D3A"/>
                </a:solidFill>
              </a:rPr>
              <a:t> kodu sadeleştirir.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Gizleme (obfuscate):</a:t>
            </a:r>
            <a:r>
              <a:rPr sz="2000" b="0">
                <a:solidFill>
                  <a:srgbClr val="1F2D3A"/>
                </a:solidFill>
              </a:rPr>
              <a:t> adları anlamsızlaştırır (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c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 gizleme örneği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LisansDenetleyici.dogrula()  →  a.b()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adlar kaybolur.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Tersine mühendis için harita zorlaşır.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Ölü kod atılınca ikili küçülür.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neden gerekir?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ile </a:t>
            </a:r>
            <a:r>
              <a:rPr sz="2000" b="1">
                <a:solidFill>
                  <a:srgbClr val="1F2D3A"/>
                </a:solidFill>
              </a:rPr>
              <a:t>adıyla</a:t>
            </a:r>
            <a:r>
              <a:rPr sz="2000" b="0">
                <a:solidFill>
                  <a:srgbClr val="1F2D3A"/>
                </a:solidFill>
              </a:rPr>
              <a:t> çağrılan kod (API, giriş noktaları, JNI) korunmalı.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adı değiştirirse çağrı </a:t>
            </a:r>
            <a:r>
              <a:rPr sz="2000" b="1">
                <a:solidFill>
                  <a:srgbClr val="1F2D3A"/>
                </a:solidFill>
              </a:rPr>
              <a:t>kırılır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78888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com.uygulama.Api { public *; }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-keep dengesi — şema</a:t>
            </a:r>
          </a:p>
        </p:txBody>
      </p:sp>
      <p:pic>
        <p:nvPicPr>
          <p:cNvPr id="7" name="Picture 6" descr="h05-09-keep-denge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6645" y="1325880"/>
            <a:ext cx="8098404" cy="3473778"/>
          </a:xfrm>
          <a:prstGeom prst="rect">
            <a:avLst/>
          </a:prstGeom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  <a:latin typeface="Consolas"/>
              </a:rPr>
              <a:t>-keep</a:t>
            </a:r>
            <a:r>
              <a:rPr sz="3000" b="1">
                <a:solidFill>
                  <a:srgbClr val="006D77"/>
                </a:solidFill>
              </a:rPr>
              <a:t> dengesi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az `-keep`:</a:t>
            </a:r>
            <a:r>
              <a:rPr sz="2000" b="0">
                <a:solidFill>
                  <a:srgbClr val="1F2D3A"/>
                </a:solidFill>
              </a:rPr>
              <a:t> uygulama çöker (reflection kırılır).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Çok fazla `-keep`:</a:t>
            </a:r>
            <a:r>
              <a:rPr sz="2000" b="0">
                <a:solidFill>
                  <a:srgbClr val="1F2D3A"/>
                </a:solidFill>
              </a:rPr>
              <a:t> gizleme zayıflar (her şey açık kalır).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gerçekten gereken</a:t>
            </a:r>
            <a:r>
              <a:rPr sz="2000" b="0">
                <a:solidFill>
                  <a:srgbClr val="1F2D3A"/>
                </a:solidFill>
              </a:rPr>
              <a:t> giriş noktalarını tut.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dosyası (mapping)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 üretir: gizli ad → gerçek ad.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Gizli tutulur</a:t>
            </a:r>
            <a:r>
              <a:rPr sz="2000" b="0">
                <a:solidFill>
                  <a:srgbClr val="1F2D3A"/>
                </a:solidFill>
              </a:rPr>
              <a:t> (dağıtılmaz), ama çökme izlerini çözmek için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 kimliğiyle birlikte arşivlenir.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10. Dize gizleme ve reflection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Java'da dizgeler açık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.class</a:t>
            </a:r>
            <a:r>
              <a:rPr sz="2000" b="0">
                <a:solidFill>
                  <a:srgbClr val="1F2D3A"/>
                </a:solidFill>
              </a:rPr>
              <a:t> içindeki sabit dizgeler </a:t>
            </a:r>
            <a:r>
              <a:rPr sz="2000" b="1">
                <a:solidFill>
                  <a:srgbClr val="1F2D3A"/>
                </a:solidFill>
              </a:rPr>
              <a:t>düz</a:t>
            </a:r>
            <a:r>
              <a:rPr sz="2000" b="0">
                <a:solidFill>
                  <a:srgbClr val="1F2D3A"/>
                </a:solidFill>
              </a:rPr>
              <a:t> görünür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tersine derleyici).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URL, anahtar parçası, mesajlar sızar.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Dize gizleme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Dizgeler derlemede </a:t>
            </a:r>
            <a:r>
              <a:rPr sz="2000" b="1">
                <a:solidFill>
                  <a:srgbClr val="1F2D3A"/>
                </a:solidFill>
              </a:rPr>
              <a:t>kodlanır</a:t>
            </a:r>
            <a:r>
              <a:rPr sz="2000" b="0">
                <a:solidFill>
                  <a:srgbClr val="1F2D3A"/>
                </a:solidFill>
              </a:rPr>
              <a:t>, kullanımda çözülür.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4. haftadaki kuralla aynı: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'i durdurur, </a:t>
            </a:r>
            <a:r>
              <a:rPr sz="2000" b="1">
                <a:solidFill>
                  <a:srgbClr val="1F2D3A"/>
                </a:solidFill>
              </a:rPr>
              <a:t>anahtar saklamaz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Çözme kodu da bytecode'da → sınırlı koruma.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Reflection ile gizleme çatışması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Ada göre çağrı (</a:t>
            </a:r>
            <a:r>
              <a:rPr sz="2000" b="0">
                <a:solidFill>
                  <a:srgbClr val="A1123F"/>
                </a:solidFill>
                <a:latin typeface="Consolas"/>
              </a:rPr>
              <a:t>getMethod("dogrula")</a:t>
            </a:r>
            <a:r>
              <a:rPr sz="2000" b="0">
                <a:solidFill>
                  <a:srgbClr val="1F2D3A"/>
                </a:solidFill>
              </a:rPr>
              <a:t>) gizlemeden </a:t>
            </a:r>
            <a:r>
              <a:rPr sz="2000" b="1">
                <a:solidFill>
                  <a:srgbClr val="1F2D3A"/>
                </a:solidFill>
              </a:rPr>
              <a:t>sonra</a:t>
            </a:r>
            <a:r>
              <a:rPr sz="2000" b="0">
                <a:solidFill>
                  <a:srgbClr val="1F2D3A"/>
                </a:solidFill>
              </a:rPr>
              <a:t> kırılır.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Çözüm: ya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 reflection'ı bırakıp doğrudan çağrı.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Reflection'ı azaltmak hem güvenlik hem gizleme için iyidir.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11. Android R8 ve ölçme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Android'de R8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R8, Android derlemesinin </a:t>
            </a:r>
            <a:r>
              <a:rPr sz="2000" b="1">
                <a:solidFill>
                  <a:srgbClr val="1F2D3A"/>
                </a:solidFill>
              </a:rPr>
              <a:t>varsayılan</a:t>
            </a:r>
            <a:r>
              <a:rPr sz="2000" b="0">
                <a:solidFill>
                  <a:srgbClr val="1F2D3A"/>
                </a:solidFill>
              </a:rPr>
              <a:t> küçültücü/gizleyicisi.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minifyEnabled true</a:t>
            </a:r>
            <a:r>
              <a:rPr sz="2000" b="0">
                <a:solidFill>
                  <a:srgbClr val="1F2D3A"/>
                </a:solidFill>
              </a:rPr>
              <a:t> + </a:t>
            </a:r>
            <a:r>
              <a:rPr sz="2000" b="0">
                <a:solidFill>
                  <a:srgbClr val="A1123F"/>
                </a:solidFill>
                <a:latin typeface="Consolas"/>
              </a:rPr>
              <a:t>proguard-rules.pro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DEX (Android bayt kodu) üretir.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Gizlemenin etkisini ölçmek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Gizleme öncesi/sonrası: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anlamlı ad oranı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düz metin hassas dize sayısı</a:t>
            </a:r>
          </a:p>
          <a:p>
            <a:pPr lvl="1"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    – </a:t>
            </a:r>
            <a:r>
              <a:rPr sz="2000" b="0">
                <a:solidFill>
                  <a:srgbClr val="1F2D3A"/>
                </a:solidFill>
              </a:rPr>
              <a:t>APK boyutu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Ölç ve S9'a yaz (9. haftadaki ölçme mantığı).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Java için statik analiz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SpotBugs, Error Prone, SonarQube.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CERT Java kurallarına yakın denetimler.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CI'da her birleştirmede.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Java bayt kodu neden C'den kolay okunur?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dengesi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gizlemeyle neden çatışır?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8–13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Bayt kod </a:t>
            </a:r>
            <a:r>
              <a:rPr sz="2000" b="1">
                <a:solidFill>
                  <a:srgbClr val="1F2D3A"/>
                </a:solidFill>
              </a:rPr>
              <a:t>yüksek seviyeli</a:t>
            </a:r>
            <a:r>
              <a:rPr sz="2000" b="0">
                <a:solidFill>
                  <a:srgbClr val="1F2D3A"/>
                </a:solidFill>
              </a:rPr>
              <a:t>; tip ve </a:t>
            </a:r>
            <a:r>
              <a:rPr sz="2000" b="1">
                <a:solidFill>
                  <a:srgbClr val="1F2D3A"/>
                </a:solidFill>
              </a:rPr>
              <a:t>ad meta verisi</a:t>
            </a:r>
            <a:r>
              <a:rPr sz="2000" b="0">
                <a:solidFill>
                  <a:srgbClr val="1F2D3A"/>
                </a:solidFill>
              </a:rPr>
              <a:t> (sınıf/alan/metot) korunur → decompiler neredeyse kaynağı verir. C, adları atarak makine koduna derlenir.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-keep dengesi:</a:t>
            </a:r>
            <a:r>
              <a:rPr sz="2000" b="0">
                <a:solidFill>
                  <a:srgbClr val="1F2D3A"/>
                </a:solidFill>
              </a:rPr>
              <a:t> çok keep → gizleme zayıflar; az keep → reflection/serileştirme kırılır. Yalnız </a:t>
            </a:r>
            <a:r>
              <a:rPr sz="2000" b="1">
                <a:solidFill>
                  <a:srgbClr val="1F2D3A"/>
                </a:solidFill>
              </a:rPr>
              <a:t>dış giriş noktalarını</a:t>
            </a:r>
            <a:r>
              <a:rPr sz="2000" b="0">
                <a:solidFill>
                  <a:srgbClr val="1F2D3A"/>
                </a:solidFill>
              </a:rPr>
              <a:t> keep 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Reflection adları </a:t>
            </a:r>
            <a:r>
              <a:rPr sz="2000" b="1">
                <a:solidFill>
                  <a:srgbClr val="1F2D3A"/>
                </a:solidFill>
              </a:rPr>
              <a:t>dizeyle</a:t>
            </a:r>
            <a:r>
              <a:rPr sz="2000" b="0">
                <a:solidFill>
                  <a:srgbClr val="1F2D3A"/>
                </a:solidFill>
              </a:rPr>
              <a:t> çağırır; gizleyici adı değiştirince dize eşleşmez → çalışma anında hata. O adları keep etmek gerekir (gizleme boşluğu).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12. Bağımlılık güvenliği ve SBOM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Sorun · tedarik zinciri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kodunuz kusursuz olsa bile, kullandığınız </a:t>
            </a:r>
            <a:r>
              <a:rPr sz="2000" b="1">
                <a:solidFill>
                  <a:srgbClr val="1F2D3A"/>
                </a:solidFill>
              </a:rPr>
              <a:t>kütüphanelerdeki</a:t>
            </a:r>
            <a:r>
              <a:rPr sz="2000" b="0">
                <a:solidFill>
                  <a:srgbClr val="1F2D3A"/>
                </a:solidFill>
              </a:rPr>
              <a:t> açık sizi etkiler.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Modern uygulama yüzlerce bağımlılık içerir.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"Hangi sürüm bende var?" sorusu kritik.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Gerçek örnekler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Log4Shell (Log4j): tek bir kütüphane açığı, milyonlarca sistemi etkiledi.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Kötü niyetli paket (typosquatting): benzer adlı sahte paket.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Bakımsız/terk edilmiş bağımlılık.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nedir? (hatırlatma)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Yazılımın </a:t>
            </a:r>
            <a:r>
              <a:rPr sz="2000" b="1">
                <a:solidFill>
                  <a:srgbClr val="1F2D3A"/>
                </a:solidFill>
              </a:rPr>
              <a:t>malzeme listesi</a:t>
            </a:r>
            <a:r>
              <a:rPr sz="2000" b="0">
                <a:solidFill>
                  <a:srgbClr val="1F2D3A"/>
                </a:solidFill>
              </a:rPr>
              <a:t>: hangi bileşen, hangi sürüm, hangi lisans.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açık duyurulunca "etkilendim mi?" </a:t>
            </a:r>
            <a:r>
              <a:rPr sz="2000" b="1">
                <a:solidFill>
                  <a:srgbClr val="1F2D3A"/>
                </a:solidFill>
              </a:rPr>
              <a:t>hızlı</a:t>
            </a:r>
            <a:r>
              <a:rPr sz="2000" b="0">
                <a:solidFill>
                  <a:srgbClr val="1F2D3A"/>
                </a:solidFill>
              </a:rPr>
              <a:t> yanıtlanır.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biçimleri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CycloneDX</a:t>
            </a:r>
            <a:r>
              <a:rPr sz="2000" b="0">
                <a:solidFill>
                  <a:srgbClr val="1F2D3A"/>
                </a:solidFill>
              </a:rPr>
              <a:t> (OWASP) — güvenlik odaklı, yaygın.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SPDX</a:t>
            </a:r>
            <a:r>
              <a:rPr sz="2000" b="0">
                <a:solidFill>
                  <a:srgbClr val="1F2D3A"/>
                </a:solidFill>
              </a:rPr>
              <a:t> (Linux Foundation) — lisans odaklı da güçlü.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Araçlarla otomatik üretilir (derleme adımında).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VEX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VEX (Vulnerability Exploitability eXchange):</a:t>
            </a:r>
            <a:r>
              <a:rPr sz="2000" b="0">
                <a:solidFill>
                  <a:srgbClr val="1F2D3A"/>
                </a:solidFill>
              </a:rPr>
              <a:t> "bu açık bende var ama </a:t>
            </a:r>
            <a:r>
              <a:rPr sz="2000" b="1">
                <a:solidFill>
                  <a:srgbClr val="1F2D3A"/>
                </a:solidFill>
              </a:rPr>
              <a:t>sömürülebilir değil</a:t>
            </a:r>
            <a:r>
              <a:rPr sz="2000" b="0">
                <a:solidFill>
                  <a:srgbClr val="1F2D3A"/>
                </a:solidFill>
              </a:rPr>
              <a:t>" bilgisini paylaşır.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Gürültüyü azaltır: her CVE panik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SBOM'a eşlik eder.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Bağımlılık yönetimi kuralları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</a:t>
            </a:r>
            <a:r>
              <a:rPr sz="2000" b="1">
                <a:solidFill>
                  <a:srgbClr val="1F2D3A"/>
                </a:solidFill>
              </a:rPr>
              <a:t>sabitle</a:t>
            </a:r>
            <a:r>
              <a:rPr sz="2000" b="0">
                <a:solidFill>
                  <a:srgbClr val="1F2D3A"/>
                </a:solidFill>
              </a:rPr>
              <a:t> (pin); rastgele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Bilinen açıkları tara (</a:t>
            </a:r>
            <a:r>
              <a:rPr sz="2000" b="0">
                <a:solidFill>
                  <a:srgbClr val="A1123F"/>
                </a:solidFill>
                <a:latin typeface="Consolas"/>
              </a:rPr>
              <a:t>dependency-check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npm audit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pip-audit</a:t>
            </a:r>
            <a:r>
              <a:rPr sz="2000" b="0">
                <a:solidFill>
                  <a:srgbClr val="1F2D3A"/>
                </a:solidFill>
              </a:rPr>
              <a:t>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 süreci; kritik yamaları hızlı uygula.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SBOM üretimi · örnek akış</a:t>
            </a:r>
          </a:p>
        </p:txBody>
      </p:sp>
      <p:pic>
        <p:nvPicPr>
          <p:cNvPr id="7" name="Picture 6" descr="h05-10-sb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9761" y="1325880"/>
            <a:ext cx="7672173" cy="30415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47711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sürümün SBOM'u sürüm kimliğiyle saklanır.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Projeye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S13:</a:t>
            </a:r>
            <a:r>
              <a:rPr sz="2000" b="0">
                <a:solidFill>
                  <a:srgbClr val="1F2D3A"/>
                </a:solidFill>
              </a:rPr>
              <a:t> güvenli geliştirme süreci + SBOM.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sürüm için güncel SBOM ve bağımlılık taraması.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 gereksinimler: "güvenli güncelleme" üst uygulamaya (13. hafta).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SBOM ne işe yarar?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VEX neden gürültüyü azaltır?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Bağımlılık sürümlerini neden sabitleriz?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14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SBOM</a:t>
            </a:r>
            <a:r>
              <a:rPr sz="2000" b="0">
                <a:solidFill>
                  <a:srgbClr val="1F2D3A"/>
                </a:solidFill>
              </a:rPr>
              <a:t> = bileşen/bağımlılık envanteri; yeni açık çıkınca "bende var mı?" sorusunu </a:t>
            </a:r>
            <a:r>
              <a:rPr sz="2000" b="1">
                <a:solidFill>
                  <a:srgbClr val="1F2D3A"/>
                </a:solidFill>
              </a:rPr>
              <a:t>hızla</a:t>
            </a:r>
            <a:r>
              <a:rPr sz="2000" b="0">
                <a:solidFill>
                  <a:srgbClr val="1F2D3A"/>
                </a:solidFill>
              </a:rPr>
              <a:t> yanıtlar.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VEX</a:t>
            </a:r>
            <a:r>
              <a:rPr sz="2000" b="0">
                <a:solidFill>
                  <a:srgbClr val="1F2D3A"/>
                </a:solidFill>
              </a:rPr>
              <a:t> açığın üründe gerçekten </a:t>
            </a:r>
            <a:r>
              <a:rPr sz="2000" b="1">
                <a:solidFill>
                  <a:srgbClr val="1F2D3A"/>
                </a:solidFill>
              </a:rPr>
              <a:t>sömürülebilir</a:t>
            </a:r>
            <a:r>
              <a:rPr sz="2000" b="0">
                <a:solidFill>
                  <a:srgbClr val="1F2D3A"/>
                </a:solidFill>
              </a:rPr>
              <a:t> olup olmadığını bildirir; etkilenmeyenler "not affected" → yanlış alarm azalır.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Sabit sürüm = </a:t>
            </a:r>
            <a:r>
              <a:rPr sz="2000" b="1">
                <a:solidFill>
                  <a:srgbClr val="1F2D3A"/>
                </a:solidFill>
              </a:rPr>
              <a:t>yeniden üretilebilir</a:t>
            </a:r>
            <a:r>
              <a:rPr sz="2000" b="0">
                <a:solidFill>
                  <a:srgbClr val="1F2D3A"/>
                </a:solidFill>
              </a:rPr>
              <a:t> derleme + tedarik zinciri güvenliği; beklenmedik/zararlı güncellemeyi engeller.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Proje ve kapanış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S9/S13 (Java tarafı)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yalnız gereken giriş noktaları.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yok.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Yönetilen dil hangi hata sınıfını çözer, neyi çözmez?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Bellek hatalarını (taşma, UAF) büyük ölçüde çözer. Enjeksiyon, mantık/yetki hataları, bağımlılık ve deserialization saldırılarını </a:t>
            </a:r>
            <a:r>
              <a:rPr sz="2000" b="1">
                <a:solidFill>
                  <a:srgbClr val="1F2D3A"/>
                </a:solidFill>
              </a:rPr>
              <a:t>çözmez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`' OR '1'='1` neden tüm satırları döndürür?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Girdi string birleştirmeyle sorguya girer; tırnak veriyi bitirir, </a:t>
            </a:r>
            <a:r>
              <a:rPr sz="2000" b="0">
                <a:solidFill>
                  <a:srgbClr val="A1123F"/>
                </a:solidFill>
                <a:latin typeface="Consolas"/>
              </a:rPr>
              <a:t>OR '1'='1'</a:t>
            </a:r>
            <a:r>
              <a:rPr sz="2000" b="0">
                <a:solidFill>
                  <a:srgbClr val="1F2D3A"/>
                </a:solidFill>
              </a:rPr>
              <a:t> her zaman doğru olur. Parametreli sorgu bunu engeller.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Komut enjeksiyonunu `ProcessBuilder` nasıl önler?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Kabuk kullanmadan argümanları </a:t>
            </a:r>
            <a:r>
              <a:rPr sz="2000" b="1">
                <a:solidFill>
                  <a:srgbClr val="1F2D3A"/>
                </a:solidFill>
              </a:rPr>
              <a:t>dizi</a:t>
            </a:r>
            <a:r>
              <a:rPr sz="2000" b="0">
                <a:solidFill>
                  <a:srgbClr val="1F2D3A"/>
                </a:solidFill>
              </a:rPr>
              <a:t> olarak verir; metakarakterler (</a:t>
            </a:r>
            <a:r>
              <a:rPr sz="2000" b="0">
                <a:solidFill>
                  <a:srgbClr val="A1123F"/>
                </a:solidFill>
                <a:latin typeface="Consolas"/>
              </a:rPr>
              <a:t>;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|</a:t>
            </a:r>
            <a:r>
              <a:rPr sz="2000" b="0">
                <a:solidFill>
                  <a:srgbClr val="1F2D3A"/>
                </a:solidFill>
              </a:rPr>
              <a:t>) yorumlanmaz, girdi tek argüman kalır.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Yol geçişini hangi iki adım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Kanonikleştirme (</a:t>
            </a:r>
            <a:r>
              <a:rPr sz="2000" b="0">
                <a:solidFill>
                  <a:srgbClr val="A1123F"/>
                </a:solidFill>
                <a:latin typeface="Consolas"/>
              </a:rPr>
              <a:t>normalize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toRealPath</a:t>
            </a:r>
            <a:r>
              <a:rPr sz="2000" b="0">
                <a:solidFill>
                  <a:srgbClr val="1F2D3A"/>
                </a:solidFill>
              </a:rPr>
              <a:t>) + kök denetimi (</a:t>
            </a:r>
            <a:r>
              <a:rPr sz="2000" b="0">
                <a:solidFill>
                  <a:srgbClr val="A1123F"/>
                </a:solidFill>
                <a:latin typeface="Consolas"/>
              </a:rPr>
              <a:t>startsWith(kok)</a:t>
            </a:r>
            <a:r>
              <a:rPr sz="2000" b="0">
                <a:solidFill>
                  <a:srgbClr val="1F2D3A"/>
                </a:solidFill>
              </a:rPr>
              <a:t>). Ayrıca dosya adı beyaz listesi.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Güvensiz deserialization neden tehlikelidir? Çözüm?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Çıkarma sırasında nesne metotları çalışır; gadget zinciriyle kod çalıştırılabilir. Çözüm: native serileştirme yerine veri biçimi + şema; zorunda kalınırsa </a:t>
            </a:r>
            <a:r>
              <a:rPr sz="2000" b="0">
                <a:solidFill>
                  <a:srgbClr val="A1123F"/>
                </a:solidFill>
                <a:latin typeface="Consolas"/>
              </a:rPr>
              <a:t>ObjectInputFilter</a:t>
            </a:r>
            <a:r>
              <a:rPr sz="2000" b="0">
                <a:solidFill>
                  <a:srgbClr val="1F2D3A"/>
                </a:solidFill>
              </a:rPr>
              <a:t> beyaz listesi.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XXE nedir, hangi ayar kapatır?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XML dış varlıklarının kötüye kullanımı (dosya okuma/SSRF). Dış varlıkları ve DOCTYPE'ı kapatan ayrıştırıcı ayarı kapatır.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ReDoS ve prototype pollution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ReDoS: kötü regex'in üstel zaman harcaması (DoS). Prototype pollution: JS'te </a:t>
            </a:r>
            <a:r>
              <a:rPr sz="2000" b="0">
                <a:solidFill>
                  <a:srgbClr val="A1123F"/>
                </a:solidFill>
                <a:latin typeface="Consolas"/>
              </a:rPr>
              <a:t>__proto__</a:t>
            </a:r>
            <a:r>
              <a:rPr sz="2000" b="0">
                <a:solidFill>
                  <a:srgbClr val="1F2D3A"/>
                </a:solidFill>
              </a:rPr>
              <a:t> üzerinden tüm nesneleri bozma. İkisi de girdi denetimi + güvenli API ister.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Java bayt kodu neden gizlemeye daha çok ihtiyaç duyar?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Bayt kodu yüksek seviyeli, tür ve ad bilgisi taşır; kaynağa çok yakın tersine derlenir. Adlar/dizgeler açık görünür.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`-keep` dengesi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Çok az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</a:t>
            </a:r>
            <a:r>
              <a:rPr sz="2000" b="0">
                <a:solidFill>
                  <a:srgbClr val="1F2D3A"/>
                </a:solidFill>
              </a:rPr>
              <a:t> → reflection kırılır, uygulama çöker. Çok fazla → gizleme zayıflar. Yalnız gerçekten reflection'la çağrılan giriş noktaları tutulur.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Dize gizleme Java'da anahtar saklar mı?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/statik taramayı durdurur ama çözülen dize bellekte açıktır ve çözme kodu bytecode'dadır. Anahtar için farklı koruma gerekir.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SBOM ve VEX ne işe yarar?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SBOM bileşen listesidir; açık duyurulunca etkilenip etkilenmediğinizi hızla söyler. VEX, açığın sömürülebilir olup olmadığını belirtir, gürültüyü azaltır.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Tüm enjeksiyon türlerinin ortak kökü ve çözümü?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Kök: veri ile komutun karışması. Çözüm: veriyi koddan </a:t>
            </a:r>
            <a:r>
              <a:rPr sz="2000" b="1">
                <a:solidFill>
                  <a:srgbClr val="1F2D3A"/>
                </a:solidFill>
              </a:rPr>
              <a:t>ayırmak</a:t>
            </a:r>
            <a:r>
              <a:rPr sz="2000" b="0">
                <a:solidFill>
                  <a:srgbClr val="1F2D3A"/>
                </a:solidFill>
              </a:rPr>
              <a:t> (parametreli/argüman dizisi API), string birleştirmeyle komut kurmamak.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64920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Yönetilen dil bellek hatalarını çözer ama </a:t>
            </a:r>
            <a:r>
              <a:rPr sz="2000" b="1">
                <a:solidFill>
                  <a:srgbClr val="1F2D3A"/>
                </a:solidFill>
              </a:rPr>
              <a:t>enjeksiyon her dilde vardır</a:t>
            </a:r>
            <a:r>
              <a:rPr sz="2000" b="0">
                <a:solidFill>
                  <a:srgbClr val="1F2D3A"/>
                </a:solidFill>
              </a:rPr>
              <a:t>; çözüm her zaman veriyi komuttan ayırmak, koruma tarafında ise gizleme (R8) ve </a:t>
            </a:r>
            <a:r>
              <a:rPr sz="2000" b="1">
                <a:solidFill>
                  <a:srgbClr val="1F2D3A"/>
                </a:solidFill>
              </a:rPr>
              <a:t>bağımlılık/SBOM</a:t>
            </a:r>
            <a:r>
              <a:rPr sz="2000" b="0">
                <a:solidFill>
                  <a:srgbClr val="1F2D3A"/>
                </a:solidFill>
              </a:rPr>
              <a:t> yönetimidir.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6. hafta — RASP ve çalışma anı korumaları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Kurcalama/hata ayıklama tespiti, bütünlük denetimi, tepki politikası ve katmanlı savunma.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Bir enjeksiyonu baştan sona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giriş formu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Kullanıcı adı ve parola ile giriş yapan bir uygulama.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String q = "SELECT * FROM kul WHERE ad='" + ad +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       "' AND parola='" + p + "'";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37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Nerede yanlış?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saldırgan girdisi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alanına: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yonetici' --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48559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SQL'de </a:t>
            </a:r>
            <a:r>
              <a:rPr sz="2000" b="1">
                <a:solidFill>
                  <a:srgbClr val="1F2D3A"/>
                </a:solidFill>
              </a:rPr>
              <a:t>yorum</a:t>
            </a:r>
            <a:r>
              <a:rPr sz="2000" b="0">
                <a:solidFill>
                  <a:srgbClr val="1F2D3A"/>
                </a:solidFill>
              </a:rPr>
              <a:t> başlatır; sonrası yok sayılır.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sorgu ne oluyor?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SELECT * FROM kul WHERE ad='yonetici' -- ' AND parola='...'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Parola denetimi </a:t>
            </a:r>
            <a:r>
              <a:rPr sz="2000" b="1">
                <a:solidFill>
                  <a:srgbClr val="1F2D3A"/>
                </a:solidFill>
              </a:rPr>
              <a:t>yorumda</a:t>
            </a:r>
            <a:r>
              <a:rPr sz="2000" b="0">
                <a:solidFill>
                  <a:srgbClr val="1F2D3A"/>
                </a:solidFill>
              </a:rPr>
              <a:t> kaldı → parolasız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yonetici</a:t>
            </a:r>
            <a:r>
              <a:rPr sz="2000" b="0">
                <a:solidFill>
                  <a:srgbClr val="1F2D3A"/>
                </a:solidFill>
              </a:rPr>
              <a:t> girişi.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etki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Kimlik doğrulama </a:t>
            </a:r>
            <a:r>
              <a:rPr sz="2000" b="1">
                <a:solidFill>
                  <a:srgbClr val="1F2D3A"/>
                </a:solidFill>
              </a:rPr>
              <a:t>atlatıldı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Daha ileri: </a:t>
            </a:r>
            <a:r>
              <a:rPr sz="2000" b="0">
                <a:solidFill>
                  <a:srgbClr val="A1123F"/>
                </a:solidFill>
                <a:latin typeface="Consolas"/>
              </a:rPr>
              <a:t>UNION SELECT</a:t>
            </a:r>
            <a:r>
              <a:rPr sz="2000" b="0">
                <a:solidFill>
                  <a:srgbClr val="1F2D3A"/>
                </a:solidFill>
              </a:rPr>
              <a:t> ile başka tabloları okuma.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; DROP TABLE</a:t>
            </a:r>
            <a:r>
              <a:rPr sz="2000" b="0">
                <a:solidFill>
                  <a:srgbClr val="1F2D3A"/>
                </a:solidFill>
              </a:rPr>
              <a:t> (yığın sorgu destekliyse) veri kaybı.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düzeltme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PreparedStatement ps = con.prepareStatement(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"SELECT * FROM kul WHERE ad=? AND parola_ozet=?");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ps.setString(1, ad);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ps.setString(2, ozetle(p));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ad</a:t>
            </a:r>
            <a:r>
              <a:rPr sz="2000" b="0">
                <a:solidFill>
                  <a:srgbClr val="1F2D3A"/>
                </a:solidFill>
              </a:rPr>
              <a:t> ve parola artık </a:t>
            </a:r>
            <a:r>
              <a:rPr sz="2000" b="1">
                <a:solidFill>
                  <a:srgbClr val="1F2D3A"/>
                </a:solidFill>
              </a:rPr>
              <a:t>veri</a:t>
            </a:r>
            <a:r>
              <a:rPr sz="2000" b="0">
                <a:solidFill>
                  <a:srgbClr val="1F2D3A"/>
                </a:solidFill>
              </a:rPr>
              <a:t>; </a:t>
            </a:r>
            <a:r>
              <a:rPr sz="2000" b="0">
                <a:solidFill>
                  <a:srgbClr val="A1123F"/>
                </a:solidFill>
                <a:latin typeface="Consolas"/>
              </a:rPr>
              <a:t>--</a:t>
            </a:r>
            <a:r>
              <a:rPr sz="2000" b="0">
                <a:solidFill>
                  <a:srgbClr val="1F2D3A"/>
                </a:solidFill>
              </a:rPr>
              <a:t> etkisiz.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katmanlı savunma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Parolayı düz saklama:</a:t>
            </a:r>
            <a:r>
              <a:rPr sz="2000" b="0">
                <a:solidFill>
                  <a:srgbClr val="1F2D3A"/>
                </a:solidFill>
              </a:rPr>
              <a:t> özet + tuz (3.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az yetki:</a:t>
            </a:r>
            <a:r>
              <a:rPr sz="2000" b="0">
                <a:solidFill>
                  <a:srgbClr val="1F2D3A"/>
                </a:solidFill>
              </a:rPr>
              <a:t> DB kullanıcısı yalnız </a:t>
            </a:r>
            <a:r>
              <a:rPr sz="2000" b="0">
                <a:solidFill>
                  <a:srgbClr val="A1123F"/>
                </a:solidFill>
                <a:latin typeface="Consolas"/>
              </a:rPr>
              <a:t>SELECT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Girdi doğrulama:</a:t>
            </a:r>
            <a:r>
              <a:rPr sz="2000" b="0">
                <a:solidFill>
                  <a:srgbClr val="1F2D3A"/>
                </a:solidFill>
              </a:rPr>
              <a:t> kullanıcı adı beyaz liste.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Günlük/izleme:</a:t>
            </a:r>
            <a:r>
              <a:rPr sz="2000" b="0">
                <a:solidFill>
                  <a:srgbClr val="1F2D3A"/>
                </a:solidFill>
              </a:rPr>
              <a:t> başarısız giriş denemeleri.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Tek kök: veri komuta karıştı.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Asıl çözüm: parametreli sorgu.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Ama derinlemesine savunma her katmanda.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Deserialization mini vaka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Kurgu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uygulama, kullanıcının gönderdiği "oturum nesnesini" native serileştirmeyle çıkarıyor: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205736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Object o = new ObjectInputStream(giris).readObject();  // TEHLİKELİ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 olabilir?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Saldırgan, sınıf yolunda bulunan kütüphanelerden bir </a:t>
            </a:r>
            <a:r>
              <a:rPr sz="2000" b="1">
                <a:solidFill>
                  <a:srgbClr val="1F2D3A"/>
                </a:solidFill>
              </a:rPr>
              <a:t>gadget zinciri</a:t>
            </a:r>
            <a:r>
              <a:rPr sz="2000" b="0">
                <a:solidFill>
                  <a:srgbClr val="1F2D3A"/>
                </a:solidFill>
              </a:rPr>
              <a:t> hazırlar.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Çıkarma sırasında bu zincir çalışır → komut çalıştırma.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"veri" sanıldı, ama kod gibi davrandı.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1 · biçim değiştir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Native serileştirme yerine </a:t>
            </a:r>
            <a:r>
              <a:rPr sz="2000" b="1">
                <a:solidFill>
                  <a:srgbClr val="1F2D3A"/>
                </a:solidFill>
              </a:rPr>
              <a:t>JSON</a:t>
            </a:r>
            <a:r>
              <a:rPr sz="2000" b="0">
                <a:solidFill>
                  <a:srgbClr val="1F2D3A"/>
                </a:solidFill>
              </a:rPr>
              <a:t> + katı şema.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beklenen alanlar okunur.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Nesne grafiği "canlanmaz".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Düzeltme 2 · zorundaysan filtre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ois.setObjectInputFilter(ObjectInputFilter.Config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.createFilter("com.uygulama.Oturum;!*"));  // yalnız bu sınıf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6735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Beyaz liste + derinlik/boyut sınırı.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Vaka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veriyi "canlı nesneye" çevirmek risklidir.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güvenlisi: hiç yapmamak (veri biçimi kullan).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Zorunda kalınca: katı beyaz liste.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Dil dil enjeksiyon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üç dil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5661"/>
                <a:gridCol w="3425714"/>
                <a:gridCol w="3425714"/>
                <a:gridCol w="2664444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Komut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Runtime.exec(str)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os.system(str)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exec(str)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ProcessBuilder([...])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subprocess.run([...])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execFile([...])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Aynı hata, veri çıkarma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5" cy="11082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5215"/>
                <a:gridCol w="2129080"/>
                <a:gridCol w="3459755"/>
                <a:gridCol w="2927485"/>
              </a:tblGrid>
              <a:tr h="36941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Tehlike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Java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Python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JS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6941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Kod çalıştırma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readObject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pickle.loads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eval</a:t>
                      </a:r>
                      <a:r>
                        <a:rPr sz="1296" b="0">
                          <a:solidFill>
                            <a:srgbClr val="1F2D3A"/>
                          </a:solidFill>
                        </a:rPr>
                        <a:t>, </a:t>
                      </a:r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Function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69418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JSON + şema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json.loads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A1123F"/>
                          </a:solidFill>
                          <a:latin typeface="Consolas"/>
                        </a:rPr>
                        <a:t>JSON.parse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2543860"/>
            <a:ext cx="10911535" cy="4069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0">
                <a:solidFill>
                  <a:srgbClr val="1F2D3A"/>
                </a:solidFill>
              </a:rPr>
              <a:t>Kök hep aynı: veri ≠ kod.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dil · tek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Dinamik "çalıştır" (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exec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) → güvenilmez veriyle </a:t>
            </a:r>
            <a:r>
              <a:rPr sz="2000" b="1">
                <a:solidFill>
                  <a:srgbClr val="1F2D3A"/>
                </a:solidFill>
              </a:rPr>
              <a:t>asla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Komut → argüman dizisi.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SQL → parametreli.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Girdi → beyaz liste + reddetme.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A–C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Enjeksiyon dile bağlı değil; </a:t>
            </a:r>
            <a:r>
              <a:rPr sz="2000" b="1">
                <a:solidFill>
                  <a:srgbClr val="1F2D3A"/>
                </a:solidFill>
              </a:rPr>
              <a:t>kalıba</a:t>
            </a:r>
            <a:r>
              <a:rPr sz="2000" b="0">
                <a:solidFill>
                  <a:srgbClr val="1F2D3A"/>
                </a:solidFill>
              </a:rPr>
              <a:t> bağlı.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Kalıbı tanı: "kullanıcı verisi bir yorumlayıcıya komut olarak mı gidiyor?"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Tanıdıysan çözüm hazır: ayır.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149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R8 gizleme adım adım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aç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A1123F"/>
                </a:solidFill>
                <a:latin typeface="Consolas"/>
              </a:rPr>
              <a:t>build.gradle</a:t>
            </a:r>
            <a:r>
              <a:rPr sz="2000" b="0">
                <a:solidFill>
                  <a:srgbClr val="1F2D3A"/>
                </a:solidFill>
              </a:rPr>
              <a:t>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buildTypes { release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minifyEnabled true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proguardFiles(..., 'proguard-rules.pro')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54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Sürüm derlemesinde küçültme + gizleme açılır.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giriş noktalarını koru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 class com.uygulama.PublicApi { public *; }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-keepclassmembers class * {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 @com.uygulama.Reflected *;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583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Yalnız reflection/JNI ile çağrılanları tut.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derle ve doğrula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APK'yı tersine derle; adların </a:t>
            </a:r>
            <a:r>
              <a:rPr sz="2000" b="0">
                <a:solidFill>
                  <a:srgbClr val="A1123F"/>
                </a:solidFill>
                <a:latin typeface="Consolas"/>
              </a:rPr>
              <a:t>a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0">
                <a:solidFill>
                  <a:srgbClr val="A1123F"/>
                </a:solidFill>
                <a:latin typeface="Consolas"/>
              </a:rPr>
              <a:t>b</a:t>
            </a:r>
            <a:r>
              <a:rPr sz="2000" b="0">
                <a:solidFill>
                  <a:srgbClr val="1F2D3A"/>
                </a:solidFill>
              </a:rPr>
              <a:t> olduğunu gör.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mapping.txt</a:t>
            </a:r>
            <a:r>
              <a:rPr sz="2000" b="0">
                <a:solidFill>
                  <a:srgbClr val="1F2D3A"/>
                </a:solidFill>
              </a:rPr>
              <a:t>'i </a:t>
            </a:r>
            <a:r>
              <a:rPr sz="2000" b="1">
                <a:solidFill>
                  <a:srgbClr val="1F2D3A"/>
                </a:solidFill>
              </a:rPr>
              <a:t>sakla</a:t>
            </a:r>
            <a:r>
              <a:rPr sz="2000" b="0">
                <a:solidFill>
                  <a:srgbClr val="1F2D3A"/>
                </a:solidFill>
              </a:rPr>
              <a:t> (dağıtma).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Reflection kullanan akışları </a:t>
            </a:r>
            <a:r>
              <a:rPr sz="2000" b="1">
                <a:solidFill>
                  <a:srgbClr val="1F2D3A"/>
                </a:solidFill>
              </a:rPr>
              <a:t>test et</a:t>
            </a:r>
            <a:r>
              <a:rPr sz="2000" b="0">
                <a:solidFill>
                  <a:srgbClr val="1F2D3A"/>
                </a:solidFill>
              </a:rPr>
              <a:t> (çökme yok mu?).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ölç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Anlamlı ad oranı: önce %90 → sonra %10.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 hassas dize sayısı: önce N → sonra 0.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APK boyutu: küçüldü mü?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Ölçümü S9'a yaz.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dize gizleme ekle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Hassas dizgeleri kodla, kullanımda çöz, hemen sil.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/tersine derlemede görünmemeli.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 değil; yalnız statik tarama önlemi.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E · SBOM adım adım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1 · üret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652272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# örnek: CycloneDX eklentisi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mvn org.cyclonedx:cyclonedx-maven-plugin:makeBom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87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Derlemede bir 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bom.json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bom.xml</a:t>
            </a:r>
            <a:r>
              <a:rPr sz="2000" b="0">
                <a:solidFill>
                  <a:srgbClr val="1F2D3A"/>
                </a:solidFill>
              </a:rPr>
              <a:t> üretilir.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2 · tara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dependency-check --scan . --format 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Bilinen açıkları (CVE) bağımlılıklara eşler.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3 · değerlendir (VEX)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açık için: bende </a:t>
            </a:r>
            <a:r>
              <a:rPr sz="2000" b="1">
                <a:solidFill>
                  <a:srgbClr val="1F2D3A"/>
                </a:solidFill>
              </a:rPr>
              <a:t>var mı</a:t>
            </a:r>
            <a:r>
              <a:rPr sz="2000" b="0">
                <a:solidFill>
                  <a:srgbClr val="1F2D3A"/>
                </a:solidFill>
              </a:rPr>
              <a:t>? </a:t>
            </a:r>
            <a:r>
              <a:rPr sz="2000" b="1">
                <a:solidFill>
                  <a:srgbClr val="1F2D3A"/>
                </a:solidFill>
              </a:rPr>
              <a:t>sömürülebilir mi</a:t>
            </a:r>
            <a:r>
              <a:rPr sz="2000" b="0">
                <a:solidFill>
                  <a:srgbClr val="1F2D3A"/>
                </a:solidFill>
              </a:rPr>
              <a:t>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Sömürülemezse VEX ile işaretle (gürültü azalır).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Sömürülebilirse: güncelle ya da azalt.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4 · arşivle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SBOM + tarama raporu, </a:t>
            </a:r>
            <a:r>
              <a:rPr sz="2000" b="1">
                <a:solidFill>
                  <a:srgbClr val="1F2D3A"/>
                </a:solidFill>
              </a:rPr>
              <a:t>sürüm kimliğiyle</a:t>
            </a:r>
            <a:r>
              <a:rPr sz="2000" b="0">
                <a:solidFill>
                  <a:srgbClr val="1F2D3A"/>
                </a:solidFill>
              </a:rPr>
              <a:t> saklanır.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Yeni açık çıkınca: "hangi sürümde bu bağımlılık vardı?" hızlı yanıt.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Adım 5 · 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Sürümleri sabitle; otomatik "en son" çekme.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Kritik yamaları hızlı uygula.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 güncellemeyi karşılayamıyorsan → </a:t>
            </a:r>
            <a:r>
              <a:rPr sz="2000" b="1">
                <a:solidFill>
                  <a:srgbClr val="1F2D3A"/>
                </a:solidFill>
              </a:rPr>
              <a:t>devret</a:t>
            </a:r>
            <a:r>
              <a:rPr sz="2000" b="0">
                <a:solidFill>
                  <a:srgbClr val="1F2D3A"/>
                </a:solidFill>
              </a:rPr>
              <a:t> (13. hafta).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161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F · Hızlı başvuru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Sık yapılan hatalar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String birleştirmeyle SQL/komut kurmak.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Güvenilmez veriyle </a:t>
            </a:r>
            <a:r>
              <a:rPr sz="2000" b="0">
                <a:solidFill>
                  <a:srgbClr val="A1123F"/>
                </a:solidFill>
                <a:latin typeface="Consolas"/>
              </a:rPr>
              <a:t>eval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pickle</a:t>
            </a:r>
            <a:r>
              <a:rPr sz="2000" b="0">
                <a:solidFill>
                  <a:srgbClr val="1F2D3A"/>
                </a:solidFill>
              </a:rPr>
              <a:t>/</a:t>
            </a:r>
            <a:r>
              <a:rPr sz="2000" b="0">
                <a:solidFill>
                  <a:srgbClr val="A1123F"/>
                </a:solidFill>
                <a:latin typeface="Consolas"/>
              </a:rPr>
              <a:t>readObject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XML'de dış varlıkları açık bırakmak.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A1123F"/>
                </a:solidFill>
                <a:latin typeface="Consolas"/>
              </a:rPr>
              <a:t>-keep *</a:t>
            </a:r>
            <a:r>
              <a:rPr sz="2000" b="0">
                <a:solidFill>
                  <a:srgbClr val="1F2D3A"/>
                </a:solidFill>
              </a:rPr>
              <a:t> ile her şeyi korumak (gizleme boşa).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Bağımlılıkları taramamak.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729675" cy="240304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9037"/>
                <a:gridCol w="6910638"/>
              </a:tblGrid>
              <a:tr h="343291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Enjeksiyon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= komut karışması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Parametreli sorgu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Veri ayrı bağlanır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Deserialization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Bayt → nesne (riskli)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XXE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XML dış varlık kötüye kullanımı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3291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R8/ProGuard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Küçültme + ad gizleme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329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SBOM/VEX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Bileşen listesi / sömürülebilirlik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  <a:r>
              <a:rPr sz="1800" b="0">
                <a:solidFill>
                  <a:srgbClr val="A1123F"/>
                </a:solidFill>
                <a:latin typeface="Consolas"/>
              </a:rPr>
              <a:t>-keep</a:t>
            </a:r>
            <a:r>
              <a:rPr sz="1800" b="0">
                <a:solidFill>
                  <a:srgbClr val="1F2D3A"/>
                </a:solidFill>
              </a:rPr>
              <a:t> minimal, ölçüldü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(5.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Dil bellek hatasını çözse de </a:t>
            </a:r>
            <a:r>
              <a:rPr sz="2000" b="1">
                <a:solidFill>
                  <a:srgbClr val="1F2D3A"/>
                </a:solidFill>
              </a:rPr>
              <a:t>enjeksiyon ve tedarik zinciri</a:t>
            </a:r>
            <a:r>
              <a:rPr sz="2000" b="0">
                <a:solidFill>
                  <a:srgbClr val="1F2D3A"/>
                </a:solidFill>
              </a:rPr>
              <a:t> sizin sorumluluğunuzdadır.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Veriyi koddan ayır; ikiliyi R8 ile gizle; bağımlılığı SBOM ile yönet.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5 — Kod Sağlamlaştırma: Java ve Yorumlanan Diller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