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move to managed languages: memory safety comes for free, but injection, deserialisation, readable bytecode and dependencies bring new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cover Week 4's C/C++ counterpart in Java/interpreted languages. We assume zero prior knowledge; every term will be 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SQL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first quote typed into the password field closes the string literal; every character after it is now read as SQL SYNTAX, not DATA. In a parameterized query the same characters stay a single VALUE. Show the "Edge case" examples from the picker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same dangerous character (a single quote) this time in a parameterized query: the query's STRUCTURE never changes, the quote stays just part of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shell tokenizes the text first; a bare ';'/'&amp;' token means "start a new command", not "another argument". In an argv list the same characters stay inside ONE argument, the shell never runs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`runSecure` runs `isAllowed(name)` first; this input is REJECTED right there, `buildSecureArgs`/`ProcessBuilder` is never even called. Two independent layers of defence: the allow-list, and the argv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request is processed segment by segment; a '..' while already at the root is an attempt to leave the root. The insecure path reads without ever checking; the secure path canonicalizes and checks against the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same '../secret.txt' request, this time through resolveSafely: the canonical path lands outside the root, so it returns null and the file is never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deserialisation and 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An unfiltered stream instantiates whatever class it names, no matter what. A filtered stream checks the class name against the allow-list pattern first; no match -&gt; InvalidClassException, the class is never built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time ObjectInputFilter IS active; the class name in the stream matches no part of the pattern, InvalidClassException is thrown, the object is NEVER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bytecode and obfuscation.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four bytecode instructions (ldc, aload_0, invokevirtual, ireturn) map one at a time onto source fragments; by the end, `return VALID_PIN.equals(entered);` is fully reconstructed.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same four bytecode instructions this time for `licenseValid`; the candidate does not match `LICENSE_KEY` exactly, so the logic read from the bytecode gives `false`.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Every member is either kept because it matches a -keep rule, or renamed to a short a/b/c-style name. In this edge case -keep covers EVERY member -- nothing gets renamed, obfuscation accomplishes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encrypted byte array is processed byte by byte, building the decrypted string live. In this edge case the key is 0x00 -- the "encrypted" bytes are already identical to the plain text; a "0" XOR key hides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SBOM and dependency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Every component is checked, one at a time, by name AND exact version against the known-vulnerable list. This example is Demo 6's real SBOM -- two components (log-core, json-tool) get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Same name, `log-core`, but the version is now 2.17.1 (the fixed release) -- `if record and version in record["versions"]` now gives `no`, no warning at all. This is why matching the EXACT version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the project and the solved self-check.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trace a single SQL injection from buggy code to the attack, the fix, and layered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1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1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19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20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Code Hardening: Java and Interpreted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16.10.2026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841"/>
                <a:gridCol w="740906"/>
                <a:gridCol w="9631787"/>
              </a:tblGrid>
              <a:tr h="6789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Managed languages and the root of injection, SEI CERT · SQL injection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1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Command injection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2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Path traversal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Unsafe deserialisation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7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XML/XXE, templates, XSS · Python and JavaScript (ReDoS)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8–12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Bytecode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4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ProGuard/R8 + string obfuscation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5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Android R8/measurement · SBOM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6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51376"/>
            <a:ext cx="10911535" cy="10012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Learning outcomes (LO.3 / LO.4):</a:t>
            </a:r>
            <a:r>
              <a:rPr sz="1800" b="0">
                <a:solidFill>
                  <a:srgbClr val="1F2D3A"/>
                </a:solidFill>
              </a:rPr>
              <a:t> recognise and prevent the injection class (SQL, command, path, XML, deserialisation) · obfuscate with ProGuard/R8 and write </a:t>
            </a:r>
            <a:r>
              <a:rPr sz="1800" b="0">
                <a:solidFill>
                  <a:srgbClr val="A1123F"/>
                </a:solidFill>
                <a:latin typeface="Consolas"/>
              </a:rPr>
              <a:t>-keep</a:t>
            </a:r>
            <a:r>
              <a:rPr sz="1800" b="0">
                <a:solidFill>
                  <a:srgbClr val="1F2D3A"/>
                </a:solidFill>
              </a:rPr>
              <a:t> rules · produce an SBOM and manage dependency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62372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A managed language largely solves memory bugs; but data mixing with commands (injection) exists in every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Memory bugs (overflow, use of freed memory, undefined behaviour)</a:t>
            </a:r>
            <a:r>
              <a:rPr sz="2000" b="0">
                <a:solidFill>
                  <a:srgbClr val="1F2D3A"/>
                </a:solidFill>
              </a:rPr>
              <a:t> — across the first four weeks we saw how these bugs arise in C/C++ and how they are prevented </a:t>
            </a:r>
            <a:r>
              <a:rPr sz="20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structure of the SEI CERT rule book</a:t>
            </a:r>
            <a:r>
              <a:rPr sz="2000" b="0">
                <a:solidFill>
                  <a:srgbClr val="1F2D3A"/>
                </a:solidFill>
              </a:rPr>
              <a:t> — identifier, non-compliant example, compliant solution and risk </a:t>
            </a:r>
            <a:r>
              <a:rPr sz="20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TOCTOU (time-of-check to time-of-use)</a:t>
            </a:r>
            <a:r>
              <a:rPr sz="2000" b="0">
                <a:solidFill>
                  <a:srgbClr val="1F2D3A"/>
                </a:solidFill>
              </a:rPr>
              <a:t> — the gap between checking a file's permissions and actually using it is a race-condition flaw </a:t>
            </a:r>
            <a:r>
              <a:rPr sz="2000" b="1">
                <a:solidFill>
                  <a:srgbClr val="1F2D3A"/>
                </a:solidFill>
              </a:rPr>
              <a:t>(Week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56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week: memory bugs → which ones disappear at the </a:t>
            </a:r>
            <a:r>
              <a:rPr sz="2000" b="1">
                <a:solidFill>
                  <a:srgbClr val="1F2D3A"/>
                </a:solidFill>
              </a:rPr>
              <a:t>language level</a:t>
            </a:r>
            <a:r>
              <a:rPr sz="2000" b="0">
                <a:solidFill>
                  <a:srgbClr val="1F2D3A"/>
                </a:solidFill>
              </a:rPr>
              <a:t> (Section 1); the SEI CERT structure → the </a:t>
            </a:r>
            <a:r>
              <a:rPr sz="2000" b="1">
                <a:solidFill>
                  <a:srgbClr val="1F2D3A"/>
                </a:solidFill>
              </a:rPr>
              <a:t>Oracle Java</a:t>
            </a:r>
            <a:r>
              <a:rPr sz="2000" b="0">
                <a:solidFill>
                  <a:srgbClr val="1F2D3A"/>
                </a:solidFill>
              </a:rPr>
              <a:t> standard (Section 1); TOCTOU → re-checking the root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the file is opened, in path traversal (Section 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6910637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613"/>
                <a:gridCol w="2546024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JVM and bytecode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Parameterised query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Deserialisation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XXE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Path traversal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ProGuard / R8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-keep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rule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Background: Managed Languages and Garbage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Managed language:</a:t>
            </a:r>
            <a:r>
              <a:rPr sz="2000" b="0">
                <a:solidFill>
                  <a:srgbClr val="1F2D3A"/>
                </a:solidFill>
              </a:rPr>
              <a:t> a language that manages memory </a:t>
            </a:r>
            <a:r>
              <a:rPr sz="2000" b="1">
                <a:solidFill>
                  <a:srgbClr val="1F2D3A"/>
                </a:solidFill>
              </a:rPr>
              <a:t>automatically</a:t>
            </a:r>
            <a:r>
              <a:rPr sz="2000" b="0">
                <a:solidFill>
                  <a:srgbClr val="1F2D3A"/>
                </a:solidFill>
              </a:rPr>
              <a:t> (Java, C#, Python, JS); the programmer never calls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GC (garbage collector):</a:t>
            </a:r>
            <a:r>
              <a:rPr sz="2000" b="0">
                <a:solidFill>
                  <a:srgbClr val="1F2D3A"/>
                </a:solidFill>
              </a:rPr>
              <a:t> automatically cleans up objects no longer used, in the background; the programmer never frees memory by hand.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single difference → most memory bugs (overflow, use-after-free) </a:t>
            </a:r>
            <a:r>
              <a:rPr sz="2000" b="1">
                <a:solidFill>
                  <a:srgbClr val="1F2D3A"/>
                </a:solidFill>
              </a:rPr>
              <a:t>disappear</a:t>
            </a:r>
            <a:r>
              <a:rPr sz="2000" b="0">
                <a:solidFill>
                  <a:srgbClr val="1F2D3A"/>
                </a:solidFill>
              </a:rPr>
              <a:t>; Section 1 shows this in detail.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Background: Databases and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SQL:</a:t>
            </a:r>
            <a:r>
              <a:rPr sz="2000" b="0">
                <a:solidFill>
                  <a:srgbClr val="1F2D3A"/>
                </a:solidFill>
              </a:rPr>
              <a:t> a database query language (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 ... WHERE ...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puts user input into the query.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put in wrong → </a:t>
            </a:r>
            <a:r>
              <a:rPr sz="2000" b="1">
                <a:solidFill>
                  <a:srgbClr val="1F2D3A"/>
                </a:solidFill>
              </a:rPr>
              <a:t>SQL injection</a:t>
            </a:r>
            <a:r>
              <a:rPr sz="2000" b="0">
                <a:solidFill>
                  <a:srgbClr val="1F2D3A"/>
                </a:solidFill>
              </a:rPr>
              <a:t> (Section 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Background: Reflection and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64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Reflection:</a:t>
            </a:r>
            <a:r>
              <a:rPr sz="2000" b="0">
                <a:solidFill>
                  <a:srgbClr val="1F2D3A"/>
                </a:solidFill>
              </a:rPr>
              <a:t> finding and calling a class/method </a:t>
            </a:r>
            <a:r>
              <a:rPr sz="2000" b="1">
                <a:solidFill>
                  <a:srgbClr val="1F2D3A"/>
                </a:solidFill>
              </a:rPr>
              <a:t>by its name, at run time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Class.forName("...")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getMethod("...")</a:t>
            </a:r>
            <a:r>
              <a:rPr sz="2000" b="0">
                <a:solidFill>
                  <a:srgbClr val="1F2D3A"/>
                </a:solidFill>
              </a:rPr>
              <a:t>); obfuscation can break this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is required (Section 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Dependency:</a:t>
            </a:r>
            <a:r>
              <a:rPr sz="2000" b="0">
                <a:solidFill>
                  <a:srgbClr val="1F2D3A"/>
                </a:solidFill>
              </a:rPr>
              <a:t> an external library your project uses that your own team did not write; even if your own code is secure, a flaw in a dependency affects you (Section 12).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 the Demos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7 demos, in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code/week-05</a:t>
            </a:r>
            <a:r>
              <a:rPr sz="2000" b="0">
                <a:solidFill>
                  <a:srgbClr val="1F2D3A"/>
                </a:solidFill>
              </a:rPr>
              <a:t> folder — need </a:t>
            </a:r>
            <a:r>
              <a:rPr sz="2000" b="1">
                <a:solidFill>
                  <a:srgbClr val="1F2D3A"/>
                </a:solidFill>
              </a:rPr>
              <a:t>Python 3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JDK 17+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main part of the SQL demo runs with Python's built-in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sqlite3</a:t>
            </a:r>
            <a:r>
              <a:rPr sz="2000" b="0">
                <a:solidFill>
                  <a:srgbClr val="1F2D3A"/>
                </a:solidFill>
              </a:rPr>
              <a:t> module, with nothing to download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the optional Java parts (JDBC, ProGuard) every demo folder has a </a:t>
            </a:r>
            <a:r>
              <a:rPr sz="2000" b="0">
                <a:solidFill>
                  <a:srgbClr val="A1123F"/>
                </a:solidFill>
                <a:latin typeface="Consolas"/>
              </a:rPr>
              <a:t>hazirla</a:t>
            </a:r>
            <a:r>
              <a:rPr sz="2000" b="0">
                <a:solidFill>
                  <a:srgbClr val="1F2D3A"/>
                </a:solidFill>
              </a:rPr>
              <a:t> (prepare) 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9112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Ethics:</a:t>
            </a:r>
            <a:r>
              <a:rPr sz="2000" b="0">
                <a:solidFill>
                  <a:srgbClr val="1F2D3A"/>
                </a:solidFill>
              </a:rPr>
              <a:t> the injection examples run only against the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 database/files in the demo folder; never apply these techniques to someone else's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Managed languages and the root of injection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Short history — managed languages and the gaps that remain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Java/JVM</a:t>
            </a:r>
            <a:r>
              <a:rPr sz="1800" b="0">
                <a:solidFill>
                  <a:srgbClr val="1F2D3A"/>
                </a:solidFill>
              </a:rPr>
              <a:t>: most memory bugs end at the </a:t>
            </a:r>
            <a:r>
              <a:rPr sz="1800" b="1">
                <a:solidFill>
                  <a:srgbClr val="1F2D3A"/>
                </a:solidFill>
              </a:rPr>
              <a:t>language level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1998</a:t>
            </a:r>
            <a:r>
              <a:rPr sz="1800" b="0">
                <a:solidFill>
                  <a:srgbClr val="1F2D3A"/>
                </a:solidFill>
              </a:rPr>
              <a:t> — SQL injection is documented · </a:t>
            </a:r>
            <a:r>
              <a:rPr sz="1800" b="1">
                <a:solidFill>
                  <a:srgbClr val="1F2D3A"/>
                </a:solidFill>
              </a:rPr>
              <a:t>2003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OWASP Top 10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ProGuard</a:t>
            </a:r>
            <a:r>
              <a:rPr sz="1800" b="0">
                <a:solidFill>
                  <a:srgbClr val="1F2D3A"/>
                </a:solidFill>
              </a:rPr>
              <a:t> (later </a:t>
            </a:r>
            <a:r>
              <a:rPr sz="1800" b="1">
                <a:solidFill>
                  <a:srgbClr val="1F2D3A"/>
                </a:solidFill>
              </a:rPr>
              <a:t>R8</a:t>
            </a:r>
            <a:r>
              <a:rPr sz="1800" b="0">
                <a:solidFill>
                  <a:srgbClr val="1F2D3A"/>
                </a:solidFill>
              </a:rPr>
              <a:t>): because bytecode is easy to reverse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2015</a:t>
            </a:r>
            <a:r>
              <a:rPr sz="1800" b="0">
                <a:solidFill>
                  <a:srgbClr val="1F2D3A"/>
                </a:solidFill>
              </a:rPr>
              <a:t> deserialisation · </a:t>
            </a:r>
            <a:r>
              <a:rPr sz="1800" b="1">
                <a:solidFill>
                  <a:srgbClr val="1F2D3A"/>
                </a:solidFill>
              </a:rPr>
              <a:t>2020–21</a:t>
            </a:r>
            <a:r>
              <a:rPr sz="1800" b="0">
                <a:solidFill>
                  <a:srgbClr val="1F2D3A"/>
                </a:solidFill>
              </a:rPr>
              <a:t> SolarWinds and </a:t>
            </a:r>
            <a:r>
              <a:rPr sz="1800" b="1">
                <a:solidFill>
                  <a:srgbClr val="1F2D3A"/>
                </a:solidFill>
              </a:rPr>
              <a:t>Log4Shell</a:t>
            </a:r>
            <a:r>
              <a:rPr sz="1800" b="0">
                <a:solidFill>
                  <a:srgbClr val="1F2D3A"/>
                </a:solidFill>
              </a:rPr>
              <a:t> → the </a:t>
            </a:r>
            <a:r>
              <a:rPr sz="1800" b="1">
                <a:solidFill>
                  <a:srgbClr val="1F2D3A"/>
                </a:solidFill>
              </a:rPr>
              <a:t>SBOM</a:t>
            </a:r>
            <a:r>
              <a:rPr sz="1800" b="0">
                <a:solidFill>
                  <a:srgbClr val="1F2D3A"/>
                </a:solidFill>
              </a:rPr>
              <a:t> 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The language solves </a:t>
            </a:r>
            <a:r>
              <a:rPr sz="1800" b="1">
                <a:solidFill>
                  <a:srgbClr val="1F2D3A"/>
                </a:solidFill>
              </a:rPr>
              <a:t>memory bugs</a:t>
            </a:r>
            <a:r>
              <a:rPr sz="1800" b="0">
                <a:solidFill>
                  <a:srgbClr val="1F2D3A"/>
                </a:solidFill>
              </a:rPr>
              <a:t>; it does </a:t>
            </a:r>
            <a:r>
              <a:rPr sz="1800" b="1">
                <a:solidFill>
                  <a:srgbClr val="1F2D3A"/>
                </a:solidFill>
              </a:rPr>
              <a:t>not solve injection or dependency risk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a managed language solve?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Automatic memory management (GC) → overflow, UAF, double free are </a:t>
            </a:r>
            <a:r>
              <a:rPr sz="2000" b="1">
                <a:solidFill>
                  <a:srgbClr val="1F2D3A"/>
                </a:solidFill>
              </a:rPr>
              <a:t>largely gone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Array access is bounds-checked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ArrayIndexOutOfBounds</a:t>
            </a:r>
            <a:r>
              <a:rPr sz="2000" b="0">
                <a:solidFill>
                  <a:srgbClr val="1F2D3A"/>
                </a:solidFill>
              </a:rPr>
              <a:t> (a crash, not exploitation).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Type safety is stricter.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a managed language NOT solve?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Injection</a:t>
            </a:r>
            <a:r>
              <a:rPr sz="2000" b="0">
                <a:solidFill>
                  <a:srgbClr val="1F2D3A"/>
                </a:solidFill>
              </a:rPr>
              <a:t> (data = command) — exists in every language.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Logic errors</a:t>
            </a:r>
            <a:r>
              <a:rPr sz="2000" b="0">
                <a:solidFill>
                  <a:srgbClr val="1F2D3A"/>
                </a:solidFill>
              </a:rPr>
              <a:t>, authorisation errors.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Dependency</a:t>
            </a:r>
            <a:r>
              <a:rPr sz="2000" b="0">
                <a:solidFill>
                  <a:srgbClr val="1F2D3A"/>
                </a:solidFill>
              </a:rPr>
              <a:t> vulnerabilities.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Deserialisation</a:t>
            </a:r>
            <a:r>
              <a:rPr sz="2000" b="0">
                <a:solidFill>
                  <a:srgbClr val="1F2D3A"/>
                </a:solidFill>
              </a:rPr>
              <a:t> attacks.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07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Memory bugs went down; the new front is injection and the supply chain.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Managed language: solves / does not solve — diagram</a:t>
            </a:r>
          </a:p>
        </p:txBody>
      </p:sp>
      <p:pic>
        <p:nvPicPr>
          <p:cNvPr id="7" name="Picture 6" descr="h05-02-yonetilen-d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16" y="1325880"/>
            <a:ext cx="1023486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SEI CERT Oracle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separate </a:t>
            </a:r>
            <a:r>
              <a:rPr sz="2000" b="1">
                <a:solidFill>
                  <a:srgbClr val="1F2D3A"/>
                </a:solidFill>
              </a:rPr>
              <a:t>rule book</a:t>
            </a:r>
            <a:r>
              <a:rPr sz="2000" b="0">
                <a:solidFill>
                  <a:srgbClr val="1F2D3A"/>
                </a:solidFill>
              </a:rPr>
              <a:t> for Java (CERT Oracle Coding Standard for Java).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structure: noncompliant example + compliant solution +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Sample areas: injection, serialisation, concurrency, sensitive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Oracle Java — diagram</a:t>
            </a:r>
          </a:p>
        </p:txBody>
      </p:sp>
      <p:pic>
        <p:nvPicPr>
          <p:cNvPr id="7" name="Picture 6" descr="h05-11-cert-ja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093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SEI CERT · rules touching this week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036"/>
                <a:gridCol w="2372072"/>
                <a:gridCol w="7353425"/>
              </a:tblGrid>
              <a:tr h="4535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Prefix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Rule (example)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IDS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 validation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IDS00-J SQL · IDS07-J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Runtime.exec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IDS16/17-J XML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FIO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Input/output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FIO16-J: canonicalise path names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Serialisation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SER12-J: do not deserialise untrusted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MSC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Miscellaneous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MSC03-J: do not embed sensitive information in 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ERR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Error handling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ERR01-J: do not leak sensitive information in an exception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5686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IDs end with the </a:t>
            </a:r>
            <a:r>
              <a:rPr sz="1800" b="0">
                <a:solidFill>
                  <a:srgbClr val="A1123F"/>
                </a:solidFill>
                <a:latin typeface="Consolas"/>
              </a:rPr>
              <a:t>-J</a:t>
            </a:r>
            <a:r>
              <a:rPr sz="1800" b="0">
                <a:solidFill>
                  <a:srgbClr val="1F2D3A"/>
                </a:solidFill>
              </a:rPr>
              <a:t> suffix.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Sensitive data in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</a:t>
            </a:r>
            <a:r>
              <a:rPr sz="2000" b="0">
                <a:solidFill>
                  <a:srgbClr val="1F2D3A"/>
                </a:solidFill>
              </a:rPr>
              <a:t> is </a:t>
            </a:r>
            <a:r>
              <a:rPr sz="2000" b="1">
                <a:solidFill>
                  <a:srgbClr val="1F2D3A"/>
                </a:solidFill>
              </a:rPr>
              <a:t>immutable</a:t>
            </a:r>
            <a:r>
              <a:rPr sz="2000" b="0">
                <a:solidFill>
                  <a:srgbClr val="1F2D3A"/>
                </a:solidFill>
              </a:rPr>
              <a:t> → it cannot be erased from memory.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a password/key use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char[]</a:t>
            </a:r>
            <a:r>
              <a:rPr sz="2000" b="0">
                <a:solidFill>
                  <a:srgbClr val="1F2D3A"/>
                </a:solidFill>
              </a:rPr>
              <a:t>, and </a:t>
            </a:r>
            <a:r>
              <a:rPr sz="2000" b="1">
                <a:solidFill>
                  <a:srgbClr val="1F2D3A"/>
                </a:solidFill>
              </a:rPr>
              <a:t>fill</a:t>
            </a:r>
            <a:r>
              <a:rPr sz="2000" b="0">
                <a:solidFill>
                  <a:srgbClr val="1F2D3A"/>
                </a:solidFill>
              </a:rPr>
              <a:t> it (</a:t>
            </a:r>
            <a:r>
              <a:rPr sz="2000" b="0">
                <a:solidFill>
                  <a:srgbClr val="A1123F"/>
                </a:solidFill>
                <a:latin typeface="Consolas"/>
              </a:rPr>
              <a:t>Arrays.fill</a:t>
            </a:r>
            <a:r>
              <a:rPr sz="2000" b="0">
                <a:solidFill>
                  <a:srgbClr val="1F2D3A"/>
                </a:solidFill>
              </a:rPr>
              <a:t>) once you are done.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GC does </a:t>
            </a:r>
            <a:r>
              <a:rPr sz="2000" b="1">
                <a:solidFill>
                  <a:srgbClr val="1F2D3A"/>
                </a:solidFill>
              </a:rPr>
              <a:t>not guarantee</a:t>
            </a:r>
            <a:r>
              <a:rPr sz="2000" b="0">
                <a:solidFill>
                  <a:srgbClr val="1F2D3A"/>
                </a:solidFill>
              </a:rPr>
              <a:t> when it will collect.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common root of injection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Injection =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 mixing with </a:t>
            </a:r>
            <a:r>
              <a:rPr sz="2000" b="1">
                <a:solidFill>
                  <a:srgbClr val="1F2D3A"/>
                </a:solidFill>
              </a:rPr>
              <a:t>command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User data goes to an interpreter (SQL, shell, XML) as a </a:t>
            </a:r>
            <a:r>
              <a:rPr sz="2000" b="1">
                <a:solidFill>
                  <a:srgbClr val="1F2D3A"/>
                </a:solidFill>
              </a:rPr>
              <a:t>command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root is the same; the target (SQL/shell/XML) changes.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root of injection — data or code? — diagram</a:t>
            </a:r>
          </a:p>
        </p:txBody>
      </p:sp>
      <p:pic>
        <p:nvPicPr>
          <p:cNvPr id="7" name="Picture 6" descr="h05-01-enjeksiyon-kok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83" y="1325880"/>
            <a:ext cx="991592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common root of the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same principle in every injection type: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Separate data from code</a:t>
            </a:r>
            <a:r>
              <a:rPr sz="2000" b="0">
                <a:solidFill>
                  <a:srgbClr val="1F2D3A"/>
                </a:solidFill>
              </a:rPr>
              <a:t> (a parameterised API).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embed data into a command via </a:t>
            </a:r>
            <a:r>
              <a:rPr sz="2000" b="1">
                <a:solidFill>
                  <a:srgbClr val="1F2D3A"/>
                </a:solidFill>
              </a:rPr>
              <a:t>string concatenation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Allow list + context-appropriate escaping (last resort).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One channel or two channels? —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927"/>
                <a:gridCol w="4546472"/>
                <a:gridCol w="466013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Interpreter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One channel (wrong)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Two channels (correct)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 engine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"...WHERE name='" + name + "'"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PreparedStatement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Shell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exec("sh -c '...' " + host)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ProcessBuilder(...)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no shell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File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new File(root, request)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Canonicalise + root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XML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XML by string concatenation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elements with a DOM/StAX API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Same principle, four different interpreters.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Injection families (today)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 injection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Command injection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Path traversal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Deserialisation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XML/XXE, templates, XSS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share the </a:t>
            </a:r>
            <a:r>
              <a:rPr sz="2000" b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root and the </a:t>
            </a:r>
            <a:r>
              <a:rPr sz="2000" b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fix logic.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of this 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managed language solves the </a:t>
            </a:r>
            <a:r>
              <a:rPr sz="2000" b="1">
                <a:solidFill>
                  <a:srgbClr val="1F2D3A"/>
                </a:solidFill>
              </a:rPr>
              <a:t>memory</a:t>
            </a:r>
            <a:r>
              <a:rPr sz="2000" b="0">
                <a:solidFill>
                  <a:srgbClr val="1F2D3A"/>
                </a:solidFill>
              </a:rPr>
              <a:t> bug; it does not solve </a:t>
            </a:r>
            <a:r>
              <a:rPr sz="2000" b="1">
                <a:solidFill>
                  <a:srgbClr val="1F2D3A"/>
                </a:solidFill>
              </a:rPr>
              <a:t>injection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root of injection is always the same: data = command.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fix is always the same: </a:t>
            </a:r>
            <a:r>
              <a:rPr sz="2000" b="1">
                <a:solidFill>
                  <a:srgbClr val="1F2D3A"/>
                </a:solidFill>
              </a:rPr>
              <a:t>separate</a:t>
            </a:r>
            <a:r>
              <a:rPr sz="2000" b="0">
                <a:solidFill>
                  <a:srgbClr val="1F2D3A"/>
                </a:solidFill>
              </a:rPr>
              <a:t> data from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 will now see this principle applied to each injection type in turn.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Which error class does a managed language largely solve?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does it not solve?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is the common root of injection?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Memory-safety</a:t>
            </a:r>
            <a:r>
              <a:rPr sz="2000" b="0">
                <a:solidFill>
                  <a:srgbClr val="1F2D3A"/>
                </a:solidFill>
              </a:rPr>
              <a:t> bugs (buffer overflow, use-after-free, double/dangling pointer) — through the GC + bounds checking.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Logic/injection/authorisation</a:t>
            </a:r>
            <a:r>
              <a:rPr sz="2000" b="0">
                <a:solidFill>
                  <a:srgbClr val="1F2D3A"/>
                </a:solidFill>
              </a:rPr>
              <a:t> bugs, unsafe deserialisation, weak cryptography, </a:t>
            </a:r>
            <a:r>
              <a:rPr sz="2000" b="1">
                <a:solidFill>
                  <a:srgbClr val="1F2D3A"/>
                </a:solidFill>
              </a:rPr>
              <a:t>dependency</a:t>
            </a:r>
            <a:r>
              <a:rPr sz="2000" b="0">
                <a:solidFill>
                  <a:srgbClr val="1F2D3A"/>
                </a:solidFill>
              </a:rPr>
              <a:t> flaws — these are above the language, unsolved.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Untrusted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 mixing with </a:t>
            </a:r>
            <a:r>
              <a:rPr sz="2000" b="1">
                <a:solidFill>
                  <a:srgbClr val="1F2D3A"/>
                </a:solidFill>
              </a:rPr>
              <a:t>CODE/command</a:t>
            </a:r>
            <a:r>
              <a:rPr sz="2000" b="0">
                <a:solidFill>
                  <a:srgbClr val="1F2D3A"/>
                </a:solidFill>
              </a:rPr>
              <a:t> in the same channel; the interpreter parses the data as a </a:t>
            </a:r>
            <a:r>
              <a:rPr sz="2000" b="1">
                <a:solidFill>
                  <a:srgbClr val="1F2D3A"/>
                </a:solidFill>
              </a:rPr>
              <a:t>command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SQL injection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Buggy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String q = "SELECT * FROM users WHERE name = '" + name + "'";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stmt.executeQuery(q);   // WRONG: name leaks into the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contains a quote and SQL?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·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user enters this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' OR '1'='1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query becomes: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8215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SELECT * FROM users WHERE name = '' OR '1'='1'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123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'1'='1'</a:t>
            </a:r>
            <a:r>
              <a:rPr sz="2000" b="0">
                <a:solidFill>
                  <a:srgbClr val="1F2D3A"/>
                </a:solidFill>
              </a:rPr>
              <a:t> is always true → </a:t>
            </a:r>
            <a:r>
              <a:rPr sz="2000" b="1">
                <a:solidFill>
                  <a:srgbClr val="1F2D3A"/>
                </a:solidFill>
              </a:rPr>
              <a:t>all rows</a:t>
            </a:r>
            <a:r>
              <a:rPr sz="2000" b="0">
                <a:solidFill>
                  <a:srgbClr val="1F2D3A"/>
                </a:solidFill>
              </a:rPr>
              <a:t> are returned.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did it happen?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was concatenated into the query </a:t>
            </a:r>
            <a:r>
              <a:rPr sz="2000" b="1">
                <a:solidFill>
                  <a:srgbClr val="1F2D3A"/>
                </a:solidFill>
              </a:rPr>
              <a:t>text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quote closed the data and moved into the </a:t>
            </a:r>
            <a:r>
              <a:rPr sz="2000" b="1">
                <a:solidFill>
                  <a:srgbClr val="1F2D3A"/>
                </a:solidFill>
              </a:rPr>
              <a:t>command</a:t>
            </a:r>
            <a:r>
              <a:rPr sz="2000" b="0">
                <a:solidFill>
                  <a:srgbClr val="1F2D3A"/>
                </a:solidFill>
              </a:rPr>
              <a:t> part.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 and command got </a:t>
            </a:r>
            <a:r>
              <a:rPr sz="2000" b="1">
                <a:solidFill>
                  <a:srgbClr val="1F2D3A"/>
                </a:solidFill>
              </a:rPr>
              <a:t>mixed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SQL injection step by step — diagram</a:t>
            </a:r>
          </a:p>
        </p:txBody>
      </p:sp>
      <p:pic>
        <p:nvPicPr>
          <p:cNvPr id="7" name="Picture 6" descr="h05-03-sql-enjeksiy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5320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Correct · parameterised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PreparedStatement ps =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con.prepareStatement("SELECT * FROM users WHERE name = ?");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ps.setString(1, name);    // name is only DATA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ps.executeQuery();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?</a:t>
            </a:r>
            <a:r>
              <a:rPr sz="2000" b="0">
                <a:solidFill>
                  <a:srgbClr val="1F2D3A"/>
                </a:solidFill>
              </a:rPr>
              <a:t> is a </a:t>
            </a:r>
            <a:r>
              <a:rPr sz="2000" b="1">
                <a:solidFill>
                  <a:srgbClr val="1F2D3A"/>
                </a:solidFill>
              </a:rPr>
              <a:t>parameter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is never interpreted as a command.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SQL injection — animation</a:t>
            </a:r>
          </a:p>
        </p:txBody>
      </p:sp>
      <p:pic>
        <p:nvPicPr>
          <p:cNvPr id="7" name="Picture 6" descr="sql-injection--hard-classic-bypas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05831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SQL injection — edge case: even a single quote is harmless in a parameterized query</a:t>
            </a:r>
          </a:p>
        </p:txBody>
      </p:sp>
      <p:pic>
        <p:nvPicPr>
          <p:cNvPr id="7" name="Picture 6" descr="sql-injection--edge-secure-any-quo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981" y="1325880"/>
            <a:ext cx="933773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does it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query skeleton is sent (compiled) to the database </a:t>
            </a:r>
            <a:r>
              <a:rPr sz="2000" b="1">
                <a:solidFill>
                  <a:srgbClr val="1F2D3A"/>
                </a:solidFill>
              </a:rPr>
              <a:t>beforehand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is bound afterwards as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if it contains a quote, it stays data.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Other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Least privilege:</a:t>
            </a:r>
            <a:r>
              <a:rPr sz="2000" b="0">
                <a:solidFill>
                  <a:srgbClr val="1F2D3A"/>
                </a:solidFill>
              </a:rPr>
              <a:t> the application's DB user should do only what is needed.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Input validation:</a:t>
            </a:r>
            <a:r>
              <a:rPr sz="2000" b="0">
                <a:solidFill>
                  <a:srgbClr val="1F2D3A"/>
                </a:solidFill>
              </a:rPr>
              <a:t> an allow list, regardless.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use an </a:t>
            </a:r>
            <a:r>
              <a:rPr sz="2000" b="1">
                <a:solidFill>
                  <a:srgbClr val="1F2D3A"/>
                </a:solidFill>
              </a:rPr>
              <a:t>ORM</a:t>
            </a:r>
            <a:r>
              <a:rPr sz="2000" b="0">
                <a:solidFill>
                  <a:srgbClr val="1F2D3A"/>
                </a:solidFill>
              </a:rPr>
              <a:t>, use its parameterised API too (not string concatenation).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Escaping is the last resort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Manually escaping quotes is </a:t>
            </a:r>
            <a:r>
              <a:rPr sz="2000" b="1">
                <a:solidFill>
                  <a:srgbClr val="1F2D3A"/>
                </a:solidFill>
              </a:rPr>
              <a:t>error-prone</a:t>
            </a:r>
            <a:r>
              <a:rPr sz="2000" b="0">
                <a:solidFill>
                  <a:srgbClr val="1F2D3A"/>
                </a:solidFill>
              </a:rPr>
              <a:t>; every DB is different.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always</a:t>
            </a:r>
            <a:r>
              <a:rPr sz="2000" b="0">
                <a:solidFill>
                  <a:srgbClr val="1F2D3A"/>
                </a:solidFill>
              </a:rPr>
              <a:t>-first priority is a parameterised query.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Escaping only where parameters are not possible, and carefully.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SQL injection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build a query with string concatenation.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Always</a:t>
            </a:r>
            <a:r>
              <a:rPr sz="2000" b="0">
                <a:solidFill>
                  <a:srgbClr val="1F2D3A"/>
                </a:solidFill>
              </a:rPr>
              <a:t> use a parameterised query (</a:t>
            </a:r>
            <a:r>
              <a:rPr sz="2000" b="0">
                <a:solidFill>
                  <a:srgbClr val="A1123F"/>
                </a:solidFill>
                <a:latin typeface="Consolas"/>
              </a:rPr>
              <a:t>PreparedStatement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?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an </a:t>
            </a:r>
            <a:r>
              <a:rPr sz="2000" b="1">
                <a:solidFill>
                  <a:srgbClr val="1F2D3A"/>
                </a:solidFill>
              </a:rPr>
              <a:t>allow list</a:t>
            </a:r>
            <a:r>
              <a:rPr sz="2000" b="0">
                <a:solidFill>
                  <a:srgbClr val="1F2D3A"/>
                </a:solidFill>
              </a:rPr>
              <a:t> for identifiers such as column/table names.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Escaping only as a last resort.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Command injection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Shell or no shell — diagram</a:t>
            </a:r>
          </a:p>
        </p:txBody>
      </p:sp>
      <p:pic>
        <p:nvPicPr>
          <p:cNvPr id="7" name="Picture 6" descr="h05-04-komut-enjeksiy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2582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Buggy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Runtime.getRuntime().exec("ping " + host);  // HATALI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host</a:t>
            </a:r>
            <a:r>
              <a:rPr sz="2000" b="0">
                <a:solidFill>
                  <a:srgbClr val="1F2D3A"/>
                </a:solidFill>
              </a:rPr>
              <a:t> contains a shell metacharacter?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·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As </a:t>
            </a:r>
            <a:r>
              <a:rPr sz="2000" b="0">
                <a:solidFill>
                  <a:srgbClr val="A1123F"/>
                </a:solidFill>
                <a:latin typeface="Consolas"/>
              </a:rPr>
              <a:t>host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example.com; rm -rf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shell runs this as </a:t>
            </a:r>
            <a:r>
              <a:rPr sz="2000" b="1">
                <a:solidFill>
                  <a:srgbClr val="1F2D3A"/>
                </a:solidFill>
              </a:rPr>
              <a:t>two commands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ping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rm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8215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(The example is synthetic; never run it.)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did it happen?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command was handed to a </a:t>
            </a:r>
            <a:r>
              <a:rPr sz="2000" b="1">
                <a:solidFill>
                  <a:srgbClr val="1F2D3A"/>
                </a:solidFill>
              </a:rPr>
              <a:t>shell</a:t>
            </a:r>
            <a:r>
              <a:rPr sz="2000" b="0">
                <a:solidFill>
                  <a:srgbClr val="1F2D3A"/>
                </a:solidFill>
              </a:rPr>
              <a:t> as 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|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&amp;&amp;</a:t>
            </a:r>
            <a:r>
              <a:rPr sz="2000" b="0">
                <a:solidFill>
                  <a:srgbClr val="1F2D3A"/>
                </a:solidFill>
              </a:rPr>
              <a:t> are </a:t>
            </a:r>
            <a:r>
              <a:rPr sz="2000" b="1">
                <a:solidFill>
                  <a:srgbClr val="1F2D3A"/>
                </a:solidFill>
              </a:rPr>
              <a:t>command separators</a:t>
            </a:r>
            <a:r>
              <a:rPr sz="2000" b="0">
                <a:solidFill>
                  <a:srgbClr val="1F2D3A"/>
                </a:solidFill>
              </a:rPr>
              <a:t> in the shell.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 got mixed into the command line.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Correct · argument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new ProcessBuilder("ping", "-c", "1", host).start();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shell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host</a:t>
            </a:r>
            <a:r>
              <a:rPr sz="2000" b="0">
                <a:solidFill>
                  <a:srgbClr val="1F2D3A"/>
                </a:solidFill>
              </a:rPr>
              <a:t> is a single </a:t>
            </a:r>
            <a:r>
              <a:rPr sz="2000" b="1">
                <a:solidFill>
                  <a:srgbClr val="1F2D3A"/>
                </a:solidFill>
              </a:rPr>
              <a:t>argument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Metacharacters are not interpreted.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Command injection — animation</a:t>
            </a:r>
          </a:p>
        </p:txBody>
      </p:sp>
      <p:pic>
        <p:nvPicPr>
          <p:cNvPr id="7" name="Picture 6" descr="command-injection--hard-semicol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28150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Command injection — edge case: the same attack hits the allow-list first</a:t>
            </a:r>
          </a:p>
        </p:txBody>
      </p:sp>
      <p:pic>
        <p:nvPicPr>
          <p:cNvPr id="7" name="Picture 6" descr="command-injection--edge-secure-semicol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50469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Additional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Where possible, do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run an external command at all; use a library API.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must: a fixed path, an argument array, an allow list.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Similar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ENV33-C</a:t>
            </a:r>
            <a:r>
              <a:rPr sz="2000" b="0">
                <a:solidFill>
                  <a:srgbClr val="1F2D3A"/>
                </a:solidFill>
              </a:rPr>
              <a:t>: calling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system()</a:t>
            </a:r>
            <a:r>
              <a:rPr sz="2000" b="0">
                <a:solidFill>
                  <a:srgbClr val="1F2D3A"/>
                </a:solidFill>
              </a:rPr>
              <a:t>/a shell.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Command injection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Where possible,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run an external command.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must: a shell-less </a:t>
            </a:r>
            <a:r>
              <a:rPr sz="2000" b="1">
                <a:solidFill>
                  <a:srgbClr val="1F2D3A"/>
                </a:solidFill>
              </a:rPr>
              <a:t>argument array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ProcessBuilder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fixed path + allow list; watch input starting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-</a:t>
            </a:r>
            <a:r>
              <a:rPr sz="2000" b="0">
                <a:solidFill>
                  <a:srgbClr val="1F2D3A"/>
                </a:solidFill>
              </a:rPr>
              <a:t> (argument injection).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Path traversal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traversal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Path traversal:</a:t>
            </a:r>
            <a:r>
              <a:rPr sz="2000" b="0">
                <a:solidFill>
                  <a:srgbClr val="1F2D3A"/>
                </a:solidFill>
              </a:rPr>
              <a:t> escaping </a:t>
            </a:r>
            <a:r>
              <a:rPr sz="2000" b="1">
                <a:solidFill>
                  <a:srgbClr val="1F2D3A"/>
                </a:solidFill>
              </a:rPr>
              <a:t>outside</a:t>
            </a:r>
            <a:r>
              <a:rPr sz="2000" b="0">
                <a:solidFill>
                  <a:srgbClr val="1F2D3A"/>
                </a:solidFill>
              </a:rPr>
              <a:t> the allowed folder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files/../../etc/passwd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Prevented with canonicalisation + a root check.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Two steps that close off path traversal — diagram</a:t>
            </a:r>
          </a:p>
        </p:txBody>
      </p:sp>
      <p:pic>
        <p:nvPicPr>
          <p:cNvPr id="7" name="Picture 6" descr="h05-05-yol-gec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133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Buggy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File f = new File("uploads/" + name);  //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contains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·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As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../../etc/passwd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Result: </a:t>
            </a:r>
            <a:r>
              <a:rPr sz="2000" b="0">
                <a:solidFill>
                  <a:srgbClr val="A1123F"/>
                </a:solidFill>
                <a:latin typeface="Consolas"/>
              </a:rPr>
              <a:t>uploads/../../etc/passwd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outside</a:t>
            </a:r>
            <a:r>
              <a:rPr sz="2000" b="0">
                <a:solidFill>
                  <a:srgbClr val="1F2D3A"/>
                </a:solidFill>
              </a:rPr>
              <a:t> the allowed folder.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did it happen?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was appended </a:t>
            </a:r>
            <a:r>
              <a:rPr sz="2000" b="1">
                <a:solidFill>
                  <a:srgbClr val="1F2D3A"/>
                </a:solidFill>
              </a:rPr>
              <a:t>directly</a:t>
            </a:r>
            <a:r>
              <a:rPr sz="2000" b="0">
                <a:solidFill>
                  <a:srgbClr val="1F2D3A"/>
                </a:solidFill>
              </a:rPr>
              <a:t> into the file path.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 sequence was read by the interpreter (the file system) as "go up a folder."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 was no check: whether the folder was left was never even asked.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Correct · canonicalise + root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Path root = Paths.get("uploads").toRealPath();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Path target = root.resolve(name).normalize().toRealPath();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(!target.startsWith(root)) throw new SecurityException();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the canonical path </a:t>
            </a:r>
            <a:r>
              <a:rPr sz="2000" b="1">
                <a:solidFill>
                  <a:srgbClr val="1F2D3A"/>
                </a:solidFill>
              </a:rPr>
              <a:t>inside the root</a:t>
            </a:r>
            <a:r>
              <a:rPr sz="2000" b="0">
                <a:solidFill>
                  <a:srgbClr val="1F2D3A"/>
                </a:solidFill>
              </a:rPr>
              <a:t>? If not, reject.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traversal — animation</a:t>
            </a:r>
          </a:p>
        </p:txBody>
      </p:sp>
      <p:pic>
        <p:nvPicPr>
          <p:cNvPr id="7" name="Picture 6" descr="path-traversal--hard-parent-escap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3304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traversal — edge case: the secure version rejects the same attack</a:t>
            </a:r>
          </a:p>
        </p:txBody>
      </p:sp>
      <p:pic>
        <p:nvPicPr>
          <p:cNvPr id="7" name="Picture 6" descr="path-traversal--edge-secure-reject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8023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does it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the path is turned </a:t>
            </a:r>
            <a:r>
              <a:rPr sz="2000" b="1">
                <a:solidFill>
                  <a:srgbClr val="1F2D3A"/>
                </a:solidFill>
              </a:rPr>
              <a:t>canonical</a:t>
            </a:r>
            <a:r>
              <a:rPr sz="2000" b="0">
                <a:solidFill>
                  <a:srgbClr val="1F2D3A"/>
                </a:solidFill>
              </a:rPr>
              <a:t> (single, definite).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we check whether the canonical path is </a:t>
            </a:r>
            <a:r>
              <a:rPr sz="2000" b="1">
                <a:solidFill>
                  <a:srgbClr val="1F2D3A"/>
                </a:solidFill>
              </a:rPr>
              <a:t>inside</a:t>
            </a:r>
            <a:r>
              <a:rPr sz="2000" b="0">
                <a:solidFill>
                  <a:srgbClr val="1F2D3A"/>
                </a:solidFill>
              </a:rPr>
              <a:t> the root.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, an encoded form (</a:t>
            </a:r>
            <a:r>
              <a:rPr sz="2000" b="0">
                <a:solidFill>
                  <a:srgbClr val="A1123F"/>
                </a:solidFill>
                <a:latin typeface="Consolas"/>
              </a:rPr>
              <a:t>..%2f</a:t>
            </a:r>
            <a:r>
              <a:rPr sz="2000" b="0">
                <a:solidFill>
                  <a:srgbClr val="1F2D3A"/>
                </a:solidFill>
              </a:rPr>
              <a:t>), or a symbolic link — all of them land on the same real path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canonicalisation; none of them can escape the check.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traversal · 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Restrict the file name to an </a:t>
            </a:r>
            <a:r>
              <a:rPr sz="2000" b="1">
                <a:solidFill>
                  <a:srgbClr val="1F2D3A"/>
                </a:solidFill>
              </a:rPr>
              <a:t>allow list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[a-zA-Z0-9_.-]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Symbolic links (</a:t>
            </a:r>
            <a:r>
              <a:rPr sz="2000" b="0">
                <a:solidFill>
                  <a:srgbClr val="A1123F"/>
                </a:solidFill>
                <a:latin typeface="Consolas"/>
              </a:rPr>
              <a:t>symlink</a:t>
            </a:r>
            <a:r>
              <a:rPr sz="2000" b="0">
                <a:solidFill>
                  <a:srgbClr val="1F2D3A"/>
                </a:solidFill>
              </a:rPr>
              <a:t>) are resolved by canonicalisation.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 not make a user name </a:t>
            </a:r>
            <a:r>
              <a:rPr sz="2000" b="1">
                <a:solidFill>
                  <a:srgbClr val="1F2D3A"/>
                </a:solidFill>
              </a:rPr>
              <a:t>directly</a:t>
            </a:r>
            <a:r>
              <a:rPr sz="2000" b="0">
                <a:solidFill>
                  <a:srgbClr val="1F2D3A"/>
                </a:solidFill>
              </a:rPr>
              <a:t> into a file name.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traversal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trust the raw string (</a:t>
            </a:r>
            <a:r>
              <a:rPr sz="2000" b="0">
                <a:solidFill>
                  <a:srgbClr val="A1123F"/>
                </a:solidFill>
                <a:latin typeface="Consolas"/>
              </a:rPr>
              <a:t>contains("..")</a:t>
            </a:r>
            <a:r>
              <a:rPr sz="2000" b="0">
                <a:solidFill>
                  <a:srgbClr val="1F2D3A"/>
                </a:solidFill>
              </a:rPr>
              <a:t> is not enough).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</a:t>
            </a:r>
            <a:r>
              <a:rPr sz="2000" b="1">
                <a:solidFill>
                  <a:srgbClr val="1F2D3A"/>
                </a:solidFill>
              </a:rPr>
              <a:t>canonicalise</a:t>
            </a:r>
            <a:r>
              <a:rPr sz="2000" b="0">
                <a:solidFill>
                  <a:srgbClr val="1F2D3A"/>
                </a:solidFill>
              </a:rPr>
              <a:t>, then check whether it is </a:t>
            </a:r>
            <a:r>
              <a:rPr sz="2000" b="1">
                <a:solidFill>
                  <a:srgbClr val="1F2D3A"/>
                </a:solidFill>
              </a:rPr>
              <a:t>inside the root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Resolve symbolic links too (</a:t>
            </a:r>
            <a:r>
              <a:rPr sz="2000" b="0">
                <a:solidFill>
                  <a:srgbClr val="A1123F"/>
                </a:solidFill>
                <a:latin typeface="Consolas"/>
              </a:rPr>
              <a:t>toRealPath()</a:t>
            </a:r>
            <a:r>
              <a:rPr sz="2000" b="0">
                <a:solidFill>
                  <a:srgbClr val="1F2D3A"/>
                </a:solidFill>
              </a:rPr>
              <a:t>); repeat the check after the file is opened as well.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injections · common lesson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420"/>
                <a:gridCol w="4091825"/>
                <a:gridCol w="494428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Wrong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Correct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SQL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String concatenation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Parameterised query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Command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Text to the shell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Argument array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Concatenating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../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Canonicalise + root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Same root: </a:t>
            </a:r>
            <a:r>
              <a:rPr sz="2000" b="1">
                <a:solidFill>
                  <a:srgbClr val="1F2D3A"/>
                </a:solidFill>
              </a:rPr>
              <a:t>separate data from code/command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2–4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' OR '1'='1</a:t>
            </a:r>
            <a:r>
              <a:rPr sz="2000" b="0">
                <a:solidFill>
                  <a:srgbClr val="1F2D3A"/>
                </a:solidFill>
              </a:rPr>
              <a:t> return all rows?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 a </a:t>
            </a:r>
            <a:r>
              <a:rPr sz="2000" b="0">
                <a:solidFill>
                  <a:srgbClr val="A1123F"/>
                </a:solidFill>
                <a:latin typeface="Consolas"/>
              </a:rPr>
              <a:t>ProcessBuilder</a:t>
            </a:r>
            <a:r>
              <a:rPr sz="2000" b="0">
                <a:solidFill>
                  <a:srgbClr val="1F2D3A"/>
                </a:solidFill>
              </a:rPr>
              <a:t> argument array safe?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Which two steps close off path traversal?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2–4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Once joined into the string it makes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WHERE</a:t>
            </a:r>
            <a:r>
              <a:rPr sz="2000" b="0">
                <a:solidFill>
                  <a:srgbClr val="1F2D3A"/>
                </a:solidFill>
              </a:rPr>
              <a:t> condition </a:t>
            </a:r>
            <a:r>
              <a:rPr sz="2000" b="1">
                <a:solidFill>
                  <a:srgbClr val="1F2D3A"/>
                </a:solidFill>
              </a:rPr>
              <a:t>always true</a:t>
            </a:r>
            <a:r>
              <a:rPr sz="2000" b="0">
                <a:solidFill>
                  <a:srgbClr val="1F2D3A"/>
                </a:solidFill>
              </a:rPr>
              <a:t> → all rows (data was parsed as code).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Arguments pass </a:t>
            </a:r>
            <a:r>
              <a:rPr sz="2000" b="1">
                <a:solidFill>
                  <a:srgbClr val="1F2D3A"/>
                </a:solidFill>
              </a:rPr>
              <a:t>to the program, not the shell</a:t>
            </a:r>
            <a:r>
              <a:rPr sz="2000" b="0">
                <a:solidFill>
                  <a:srgbClr val="1F2D3A"/>
                </a:solidFill>
              </a:rPr>
              <a:t>, one by one; there is no metacharacter interpretation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;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|</a:t>
            </a:r>
            <a:r>
              <a:rPr sz="2000" b="0">
                <a:solidFill>
                  <a:srgbClr val="1F2D3A"/>
                </a:solidFill>
              </a:rPr>
              <a:t>) → command injection is closed off.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(1) Convert to a </a:t>
            </a:r>
            <a:r>
              <a:rPr sz="2000" b="1">
                <a:solidFill>
                  <a:srgbClr val="1F2D3A"/>
                </a:solidFill>
              </a:rPr>
              <a:t>canonical path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realpath</a:t>
            </a:r>
            <a:r>
              <a:rPr sz="2000" b="0">
                <a:solidFill>
                  <a:srgbClr val="1F2D3A"/>
                </a:solidFill>
              </a:rPr>
              <a:t>/normalise), (2) verify it is inside the allowed </a:t>
            </a:r>
            <a:r>
              <a:rPr sz="2000" b="1">
                <a:solidFill>
                  <a:srgbClr val="1F2D3A"/>
                </a:solidFill>
              </a:rPr>
              <a:t>root directory</a:t>
            </a:r>
            <a:r>
              <a:rPr sz="2000" b="0">
                <a:solidFill>
                  <a:srgbClr val="1F2D3A"/>
                </a:solidFill>
              </a:rPr>
              <a:t> (an allow list). Never put user input directly into a path.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Unsafe deserialisation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Serialisation:</a:t>
            </a:r>
            <a:r>
              <a:rPr sz="2000" b="0">
                <a:solidFill>
                  <a:srgbClr val="1F2D3A"/>
                </a:solidFill>
              </a:rPr>
              <a:t> converting an object to a byte sequence (to save or send it).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Deserialisation:</a:t>
            </a:r>
            <a:r>
              <a:rPr sz="2000" b="0">
                <a:solidFill>
                  <a:srgbClr val="1F2D3A"/>
                </a:solidFill>
              </a:rPr>
              <a:t> converting the bytes back into an object.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Deserialising untrusted bytes is </a:t>
            </a:r>
            <a:r>
              <a:rPr sz="2000" b="1">
                <a:solidFill>
                  <a:srgbClr val="1F2D3A"/>
                </a:solidFill>
              </a:rPr>
              <a:t>dangerous</a:t>
            </a:r>
            <a:r>
              <a:rPr sz="2000" b="0">
                <a:solidFill>
                  <a:srgbClr val="1F2D3A"/>
                </a:solidFill>
              </a:rPr>
              <a:t> (code execution).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Buggy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Object o = new ObjectInputStream(giris).readObject();  // TEHLİKELİ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giris</a:t>
            </a:r>
            <a:r>
              <a:rPr sz="2000" b="0">
                <a:solidFill>
                  <a:srgbClr val="1F2D3A"/>
                </a:solidFill>
              </a:rPr>
              <a:t> comes from an untrusted source?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Deserialisation gadget chain — diagram</a:t>
            </a:r>
          </a:p>
        </p:txBody>
      </p:sp>
      <p:pic>
        <p:nvPicPr>
          <p:cNvPr id="7" name="Picture 6" descr="h05-06-deseri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0784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Turning untrusted bytes into an object is </a:t>
            </a:r>
            <a:r>
              <a:rPr sz="2000" b="1">
                <a:solidFill>
                  <a:srgbClr val="1F2D3A"/>
                </a:solidFill>
              </a:rPr>
              <a:t>dangerous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Java, </a:t>
            </a:r>
            <a:r>
              <a:rPr sz="2000" b="0">
                <a:solidFill>
                  <a:srgbClr val="A1123F"/>
                </a:solidFill>
                <a:latin typeface="Consolas"/>
              </a:rPr>
              <a:t>ObjectInputStream.readObject()</a:t>
            </a:r>
            <a:r>
              <a:rPr sz="2000" b="0">
                <a:solidFill>
                  <a:srgbClr val="1F2D3A"/>
                </a:solidFill>
              </a:rPr>
              <a:t> can run </a:t>
            </a:r>
            <a:r>
              <a:rPr sz="2000" b="1">
                <a:solidFill>
                  <a:srgbClr val="1F2D3A"/>
                </a:solidFill>
              </a:rPr>
              <a:t>code</a:t>
            </a:r>
            <a:r>
              <a:rPr sz="2000" b="0">
                <a:solidFill>
                  <a:srgbClr val="1F2D3A"/>
                </a:solidFill>
              </a:rPr>
              <a:t> while unpacking (gadget chains).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remote code execution.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this so bad?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Objects' </a:t>
            </a:r>
            <a:r>
              <a:rPr sz="2000" b="1">
                <a:solidFill>
                  <a:srgbClr val="1F2D3A"/>
                </a:solidFill>
              </a:rPr>
              <a:t>constructors/methods</a:t>
            </a:r>
            <a:r>
              <a:rPr sz="2000" b="0">
                <a:solidFill>
                  <a:srgbClr val="1F2D3A"/>
                </a:solidFill>
              </a:rPr>
              <a:t> run during unpacking.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suitable libraries (gadgets) are present, they can be chained to run commands.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 that looks like "just data" behaves like </a:t>
            </a:r>
            <a:r>
              <a:rPr sz="2000" b="1">
                <a:solidFill>
                  <a:srgbClr val="1F2D3A"/>
                </a:solidFill>
              </a:rPr>
              <a:t>code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Correct · best: do not do it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 not deserialise untrusted data with </a:t>
            </a:r>
            <a:r>
              <a:rPr sz="2000" b="1">
                <a:solidFill>
                  <a:srgbClr val="1F2D3A"/>
                </a:solidFill>
              </a:rPr>
              <a:t>native serialisation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a </a:t>
            </a:r>
            <a:r>
              <a:rPr sz="2000" b="1">
                <a:solidFill>
                  <a:srgbClr val="1F2D3A"/>
                </a:solidFill>
              </a:rPr>
              <a:t>JSON/data</a:t>
            </a:r>
            <a:r>
              <a:rPr sz="2000" b="0">
                <a:solidFill>
                  <a:srgbClr val="1F2D3A"/>
                </a:solidFill>
              </a:rPr>
              <a:t> format + a strict schema instead.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Read only the fields you expect.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If you must · filter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ObjectInputFilter f = ObjectInputFilter.Config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.createFilter("com.app.*;!*");  // allowed classes only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ois.setObjectInputFilter(f);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a single class is expected, a narrower pattern also works: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6512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ois.setObjectInputFilter(ObjectInputFilter.Config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.createFilter("com.app.Session;!*"));  // this class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8851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Allow list</a:t>
            </a:r>
            <a:r>
              <a:rPr sz="2000" b="0">
                <a:solidFill>
                  <a:srgbClr val="1F2D3A"/>
                </a:solidFill>
              </a:rPr>
              <a:t>: only the expected classes.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Also set a depth/size limit (against DoS).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Deserialization — animation</a:t>
            </a:r>
          </a:p>
        </p:txBody>
      </p:sp>
      <p:pic>
        <p:nvPicPr>
          <p:cNvPr id="7" name="Picture 6" descr="deserialization--hard-unfiltered-gadge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698" y="1325880"/>
            <a:ext cx="935829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Deserialization — edge case: the filter rejects an unexpected class</a:t>
            </a:r>
          </a:p>
        </p:txBody>
      </p:sp>
      <p:pic>
        <p:nvPicPr>
          <p:cNvPr id="7" name="Picture 6" descr="deserialization--edge-filtered-rejects-oth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3063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Deserialisation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Deserialising an untrusted byte stream hands the attacker the power to </a:t>
            </a:r>
            <a:r>
              <a:rPr sz="2000" b="1">
                <a:solidFill>
                  <a:srgbClr val="1F2D3A"/>
                </a:solidFill>
              </a:rPr>
              <a:t>choose a class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Best: </a:t>
            </a:r>
            <a:r>
              <a:rPr sz="2000" b="1">
                <a:solidFill>
                  <a:srgbClr val="1F2D3A"/>
                </a:solidFill>
              </a:rPr>
              <a:t>do not do it at all</a:t>
            </a:r>
            <a:r>
              <a:rPr sz="2000" b="0">
                <a:solidFill>
                  <a:srgbClr val="1F2D3A"/>
                </a:solidFill>
              </a:rPr>
              <a:t> (JSON + a strict schema).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must: an </a:t>
            </a:r>
            <a:r>
              <a:rPr sz="2000" b="1">
                <a:solidFill>
                  <a:srgbClr val="1F2D3A"/>
                </a:solidFill>
              </a:rPr>
              <a:t>allow-list filter</a:t>
            </a:r>
            <a:r>
              <a:rPr sz="2000" b="0">
                <a:solidFill>
                  <a:srgbClr val="1F2D3A"/>
                </a:solidFill>
              </a:rPr>
              <a:t>, a depth/size limit.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XML, templates, XSS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XML and XXE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XML:</a:t>
            </a:r>
            <a:r>
              <a:rPr sz="2000" b="0">
                <a:solidFill>
                  <a:srgbClr val="1F2D3A"/>
                </a:solidFill>
              </a:rPr>
              <a:t> a structured data format (built from tags).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XXE (XML External Entity):</a:t>
            </a:r>
            <a:r>
              <a:rPr sz="2000" b="0">
                <a:solidFill>
                  <a:srgbClr val="1F2D3A"/>
                </a:solidFill>
              </a:rPr>
              <a:t> abuse of XML's "external entity" feature → file reading, SSRF.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External entities are </a:t>
            </a:r>
            <a:r>
              <a:rPr sz="2000" b="1">
                <a:solidFill>
                  <a:srgbClr val="1F2D3A"/>
                </a:solidFill>
              </a:rPr>
              <a:t>disabled</a:t>
            </a:r>
            <a:r>
              <a:rPr sz="2000" b="0">
                <a:solidFill>
                  <a:srgbClr val="1F2D3A"/>
                </a:solidFill>
              </a:rPr>
              <a:t> in the XML parser.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XXE ·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 lets you define an </a:t>
            </a:r>
            <a:r>
              <a:rPr sz="2000" b="1">
                <a:solidFill>
                  <a:srgbClr val="1F2D3A"/>
                </a:solidFill>
              </a:rPr>
              <a:t>external entity</a:t>
            </a:r>
            <a:r>
              <a:rPr sz="2000" b="0">
                <a:solidFill>
                  <a:srgbClr val="1F2D3A"/>
                </a:solidFill>
              </a:rPr>
              <a:t>; the parser </a:t>
            </a:r>
            <a:r>
              <a:rPr sz="2000" b="1">
                <a:solidFill>
                  <a:srgbClr val="1F2D3A"/>
                </a:solidFill>
              </a:rPr>
              <a:t>resolves</a:t>
            </a:r>
            <a:r>
              <a:rPr sz="2000" b="0">
                <a:solidFill>
                  <a:srgbClr val="1F2D3A"/>
                </a:solidFill>
              </a:rPr>
              <a:t>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can use this to read files or make the server issue a request (SSRF).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XXE — diagram</a:t>
            </a:r>
          </a:p>
        </p:txBody>
      </p:sp>
      <p:pic>
        <p:nvPicPr>
          <p:cNvPr id="7" name="Picture 6" descr="h05-07-xx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0463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XXE · 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dbf.setFeature(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"http://apache.org/xml/features/disallow-doctype-decl", true);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// ya da dış varlıkları kapat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Disable external entities</a:t>
            </a:r>
            <a:r>
              <a:rPr sz="2000" b="0">
                <a:solidFill>
                  <a:srgbClr val="1F2D3A"/>
                </a:solidFill>
              </a:rPr>
              <a:t>, reject DOCTYPE.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one-line setting in most libraries.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Template injection (SSTI)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Handing user input to a template engine </a:t>
            </a:r>
            <a:r>
              <a:rPr sz="2000" b="1">
                <a:solidFill>
                  <a:srgbClr val="1F2D3A"/>
                </a:solidFill>
              </a:rPr>
              <a:t>as the template itself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engine can run it like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Rule: user input is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, the template is </a:t>
            </a:r>
            <a:r>
              <a:rPr sz="2000" b="1">
                <a:solidFill>
                  <a:srgbClr val="1F2D3A"/>
                </a:solidFill>
              </a:rPr>
              <a:t>fixed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XSS (briefly)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XSS:</a:t>
            </a:r>
            <a:r>
              <a:rPr sz="2000" b="0">
                <a:solidFill>
                  <a:srgbClr val="1F2D3A"/>
                </a:solidFill>
              </a:rPr>
              <a:t> user data leaking into a web page as </a:t>
            </a:r>
            <a:r>
              <a:rPr sz="2000" b="1">
                <a:solidFill>
                  <a:srgbClr val="1F2D3A"/>
                </a:solidFill>
              </a:rPr>
              <a:t>HTML/JS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</a:t>
            </a:r>
            <a:r>
              <a:rPr sz="2000" b="1">
                <a:solidFill>
                  <a:srgbClr val="1F2D3A"/>
                </a:solidFill>
              </a:rPr>
              <a:t>context-appropriate output encoding</a:t>
            </a:r>
            <a:r>
              <a:rPr sz="2000" b="0">
                <a:solidFill>
                  <a:srgbClr val="1F2D3A"/>
                </a:solidFill>
              </a:rPr>
              <a:t> (HTML-encode), CSP.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root again: data ≠ code.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XML/template/XSS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Know </a:t>
            </a:r>
            <a:r>
              <a:rPr sz="2000" b="1">
                <a:solidFill>
                  <a:srgbClr val="1F2D3A"/>
                </a:solidFill>
              </a:rPr>
              <a:t>which feature of the interpreter is turned on</a:t>
            </a:r>
            <a:r>
              <a:rPr sz="2000" b="0">
                <a:solidFill>
                  <a:srgbClr val="1F2D3A"/>
                </a:solidFill>
              </a:rPr>
              <a:t>, and disable what is not needed.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XML: external entities + DOCTYPE disabled.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Templates: user data is only a </a:t>
            </a:r>
            <a:r>
              <a:rPr sz="2000" b="1">
                <a:solidFill>
                  <a:srgbClr val="1F2D3A"/>
                </a:solidFill>
              </a:rPr>
              <a:t>variable</a:t>
            </a:r>
            <a:r>
              <a:rPr sz="2000" b="0">
                <a:solidFill>
                  <a:srgbClr val="1F2D3A"/>
                </a:solidFill>
              </a:rPr>
              <a:t>, never the template itself.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HTML: encode output </a:t>
            </a:r>
            <a:r>
              <a:rPr sz="2000" b="1">
                <a:solidFill>
                  <a:srgbClr val="1F2D3A"/>
                </a:solidFill>
              </a:rPr>
              <a:t>context-appropriately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The same bugs in Python and JavaScript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same bugs in interpreted languages — diagram</a:t>
            </a:r>
          </a:p>
        </p:txBody>
      </p:sp>
      <p:pic>
        <p:nvPicPr>
          <p:cNvPr id="7" name="Picture 6" descr="h05-12-yorumlanan-di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994" y="1325880"/>
            <a:ext cx="746770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Same root, different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Injection exists in every language: Python </a:t>
            </a:r>
            <a:r>
              <a:rPr sz="2000" b="0">
                <a:solidFill>
                  <a:srgbClr val="A1123F"/>
                </a:solidFill>
                <a:latin typeface="Consolas"/>
              </a:rPr>
              <a:t>os.system</a:t>
            </a:r>
            <a:r>
              <a:rPr sz="2000" b="0">
                <a:solidFill>
                  <a:srgbClr val="1F2D3A"/>
                </a:solidFill>
              </a:rPr>
              <a:t>, JS </a:t>
            </a:r>
            <a:r>
              <a:rPr sz="2000" b="0">
                <a:solidFill>
                  <a:srgbClr val="A1123F"/>
                </a:solidFill>
                <a:latin typeface="Consolas"/>
              </a:rPr>
              <a:t>child_process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fix is the same: an argument array, a parameterised query.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Python ·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os.system("cmd " + x)</a:t>
            </a:r>
            <a:r>
              <a:rPr sz="2000" b="0">
                <a:solidFill>
                  <a:srgbClr val="1F2D3A"/>
                </a:solidFill>
              </a:rPr>
              <a:t> → command injection; use </a:t>
            </a:r>
            <a:r>
              <a:rPr sz="2000" b="0">
                <a:solidFill>
                  <a:srgbClr val="A1123F"/>
                </a:solidFill>
                <a:latin typeface="Consolas"/>
              </a:rPr>
              <a:t>subprocess.run([...])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eval(input)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pickle.loads(untrusted)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with untrusted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SQL: parameterised (</a:t>
            </a:r>
            <a:r>
              <a:rPr sz="2000" b="0">
                <a:solidFill>
                  <a:srgbClr val="A1123F"/>
                </a:solidFill>
                <a:latin typeface="Consolas"/>
              </a:rPr>
              <a:t>cursor.execute("... ?", (x,))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Python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eval</a:t>
            </a:r>
            <a:r>
              <a:rPr sz="3000" b="1">
                <a:solidFill>
                  <a:srgbClr val="006D77"/>
                </a:solidFill>
              </a:rPr>
              <a:t> example (code)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value = eval(input_text)                 # WRONG: any Python expression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import ast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value = ast.literal_eval(input_text)     # Better: literals only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value = int(input_text)                  # Best: parse the expected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Rule: user data must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reach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ReDoS (regular expression 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bad </a:t>
            </a:r>
            <a:r>
              <a:rPr sz="2000" b="1">
                <a:solidFill>
                  <a:srgbClr val="1F2D3A"/>
                </a:solidFill>
              </a:rPr>
              <a:t>regex</a:t>
            </a:r>
            <a:r>
              <a:rPr sz="2000" b="0">
                <a:solidFill>
                  <a:srgbClr val="1F2D3A"/>
                </a:solidFill>
              </a:rPr>
              <a:t> can spend </a:t>
            </a:r>
            <a:r>
              <a:rPr sz="2000" b="1">
                <a:solidFill>
                  <a:srgbClr val="1F2D3A"/>
                </a:solidFill>
              </a:rPr>
              <a:t>exponential</a:t>
            </a:r>
            <a:r>
              <a:rPr sz="2000" b="0">
                <a:solidFill>
                  <a:srgbClr val="1F2D3A"/>
                </a:solidFill>
              </a:rPr>
              <a:t> time on certain input.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can use this to lock up the CPU.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a safe regex, an input-length limit, a timeout.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ReDoS · a concrete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Desen:  ^(a+)+$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Girdi:  "aaaaaaaaaaaaaaaaaaaaaaaaaaaaa!"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engine tries </a:t>
            </a:r>
            <a:r>
              <a:rPr sz="2000" b="1">
                <a:solidFill>
                  <a:srgbClr val="1F2D3A"/>
                </a:solidFill>
              </a:rPr>
              <a:t>millions</a:t>
            </a:r>
            <a:r>
              <a:rPr sz="2000" b="0">
                <a:solidFill>
                  <a:srgbClr val="1F2D3A"/>
                </a:solidFill>
              </a:rPr>
              <a:t> of paths to prove there is no match.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request locks the CPU for seconds/minutes (CWE-1333).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JavaScript · prototype pollution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Prototype pollution:</a:t>
            </a:r>
            <a:r>
              <a:rPr sz="2000" b="0">
                <a:solidFill>
                  <a:srgbClr val="1F2D3A"/>
                </a:solidFill>
              </a:rPr>
              <a:t> an attacker corrupts a property </a:t>
            </a:r>
            <a:r>
              <a:rPr sz="2000" b="1">
                <a:solidFill>
                  <a:srgbClr val="1F2D3A"/>
                </a:solidFill>
              </a:rPr>
              <a:t>shared</a:t>
            </a:r>
            <a:r>
              <a:rPr sz="2000" b="0">
                <a:solidFill>
                  <a:srgbClr val="1F2D3A"/>
                </a:solidFill>
              </a:rPr>
              <a:t> by all objects, through </a:t>
            </a:r>
            <a:r>
              <a:rPr sz="2000" b="0">
                <a:solidFill>
                  <a:srgbClr val="A1123F"/>
                </a:solidFill>
                <a:latin typeface="Consolas"/>
              </a:rPr>
              <a:t>__proto__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Unexpected behaviour, authorisation bypass.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safe merging, </a:t>
            </a:r>
            <a:r>
              <a:rPr sz="2000" b="0">
                <a:solidFill>
                  <a:srgbClr val="A1123F"/>
                </a:solidFill>
                <a:latin typeface="Consolas"/>
              </a:rPr>
              <a:t>Object.create(null)</a:t>
            </a:r>
            <a:r>
              <a:rPr sz="2000" b="0">
                <a:solidFill>
                  <a:srgbClr val="1F2D3A"/>
                </a:solidFill>
              </a:rPr>
              <a:t>, up-to-date libraries.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Interpreted languages · common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exec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</a:t>
            </a:r>
            <a:r>
              <a:rPr sz="2000" b="0">
                <a:solidFill>
                  <a:srgbClr val="1F2D3A"/>
                </a:solidFill>
              </a:rPr>
              <a:t>, dynamic </a:t>
            </a:r>
            <a:r>
              <a:rPr sz="2000" b="0">
                <a:solidFill>
                  <a:srgbClr val="A1123F"/>
                </a:solidFill>
                <a:latin typeface="Consolas"/>
              </a:rPr>
              <a:t>require</a:t>
            </a:r>
            <a:r>
              <a:rPr sz="2000" b="0">
                <a:solidFill>
                  <a:srgbClr val="1F2D3A"/>
                </a:solidFill>
              </a:rPr>
              <a:t> → do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use with untrusted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 validation + a parameterised API + up-to-date dependencies.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5–9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can unsafe deserialisation run code?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Which setting disables XXE?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is ReDoS, and how is it mitigated?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5–9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While an object is being constructed, classes' side-effecting methods (</a:t>
            </a:r>
            <a:r>
              <a:rPr sz="2000" b="0">
                <a:solidFill>
                  <a:srgbClr val="A1123F"/>
                </a:solidFill>
                <a:latin typeface="Consolas"/>
              </a:rPr>
              <a:t>readObject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1">
                <a:solidFill>
                  <a:srgbClr val="1F2D3A"/>
                </a:solidFill>
              </a:rPr>
              <a:t>gadget chain</a:t>
            </a:r>
            <a:r>
              <a:rPr sz="2000" b="0">
                <a:solidFill>
                  <a:srgbClr val="1F2D3A"/>
                </a:solidFill>
              </a:rPr>
              <a:t>) fire → an attacker builds a flow using the object graph.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parser setting that disables </a:t>
            </a:r>
            <a:r>
              <a:rPr sz="2000" b="1">
                <a:solidFill>
                  <a:srgbClr val="1F2D3A"/>
                </a:solidFill>
              </a:rPr>
              <a:t>external entities and DOCTYPE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disallow-doctype-decl</a:t>
            </a:r>
            <a:r>
              <a:rPr sz="2000" b="0">
                <a:solidFill>
                  <a:srgbClr val="1F2D3A"/>
                </a:solidFill>
              </a:rPr>
              <a:t>, external entities off).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ReDoS:</a:t>
            </a:r>
            <a:r>
              <a:rPr sz="2000" b="0">
                <a:solidFill>
                  <a:srgbClr val="1F2D3A"/>
                </a:solidFill>
              </a:rPr>
              <a:t> a catastrophic-backtracking regex; bad input → </a:t>
            </a:r>
            <a:r>
              <a:rPr sz="2000" b="1">
                <a:solidFill>
                  <a:srgbClr val="1F2D3A"/>
                </a:solidFill>
              </a:rPr>
              <a:t>exponential</a:t>
            </a:r>
            <a:r>
              <a:rPr sz="2000" b="0">
                <a:solidFill>
                  <a:srgbClr val="1F2D3A"/>
                </a:solidFill>
              </a:rPr>
              <a:t> time → the CPU locks up. Mitigation: a linear-time engine (RE2), avoid nested quantifiers, a length/time limit.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Bytecode and decompilation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JVM and bytecode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JVM (Java Virtual Machine):</a:t>
            </a:r>
            <a:r>
              <a:rPr sz="2000" b="0">
                <a:solidFill>
                  <a:srgbClr val="1F2D3A"/>
                </a:solidFill>
              </a:rPr>
              <a:t> the virtual machine that runs Java.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Bytecode:</a:t>
            </a:r>
            <a:r>
              <a:rPr sz="2000" b="0">
                <a:solidFill>
                  <a:srgbClr val="1F2D3A"/>
                </a:solidFill>
              </a:rPr>
              <a:t> the intermediate form Java source is compiled into (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 files).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Bytecode is machine-independent; the JVM executes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Bytecode vs machine code — diagram</a:t>
            </a:r>
          </a:p>
        </p:txBody>
      </p:sp>
      <p:pic>
        <p:nvPicPr>
          <p:cNvPr id="7" name="Picture 6" descr="h05-08-bayt-k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31" y="1325880"/>
            <a:ext cx="1090443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 bytecode is easy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.jar</a:t>
            </a:r>
            <a:r>
              <a:rPr sz="2000" b="0">
                <a:solidFill>
                  <a:srgbClr val="1F2D3A"/>
                </a:solidFill>
              </a:rPr>
              <a:t> bytecode decompiles back </a:t>
            </a:r>
            <a:r>
              <a:rPr sz="2000" b="1">
                <a:solidFill>
                  <a:srgbClr val="1F2D3A"/>
                </a:solidFill>
              </a:rPr>
              <a:t>very close</a:t>
            </a:r>
            <a:r>
              <a:rPr sz="2000" b="0">
                <a:solidFill>
                  <a:srgbClr val="1F2D3A"/>
                </a:solidFill>
              </a:rPr>
              <a:t> to the source.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Tools: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javap</a:t>
            </a:r>
            <a:r>
              <a:rPr sz="2000" b="0">
                <a:solidFill>
                  <a:srgbClr val="1F2D3A"/>
                </a:solidFill>
              </a:rPr>
              <a:t> (disassembly), JD-GUI/CFR/Procyon (decompilation).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Names, strings, structure are largely </a:t>
            </a:r>
            <a:r>
              <a:rPr sz="2000" b="1">
                <a:solidFill>
                  <a:srgbClr val="1F2D3A"/>
                </a:solidFill>
              </a:rPr>
              <a:t>visible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  <a:latin typeface="Consolas"/>
              </a:rPr>
              <a:t>javap</a:t>
            </a:r>
            <a:r>
              <a:rPr sz="3000" b="1">
                <a:solidFill>
                  <a:srgbClr val="006D77"/>
                </a:solidFill>
              </a:rPr>
              <a:t>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javap -c -p Application.class    # disassemble the bytecode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Method names, calls, constants are visible.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exactly why obfuscation is </a:t>
            </a:r>
            <a:r>
              <a:rPr sz="2000" b="1">
                <a:solidFill>
                  <a:srgbClr val="1F2D3A"/>
                </a:solidFill>
              </a:rPr>
              <a:t>even more</a:t>
            </a:r>
            <a:r>
              <a:rPr sz="2000" b="0">
                <a:solidFill>
                  <a:srgbClr val="1F2D3A"/>
                </a:solidFill>
              </a:rPr>
              <a:t> necessary in Java.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  <a:latin typeface="Consolas"/>
              </a:rPr>
              <a:t>javap</a:t>
            </a:r>
            <a:r>
              <a:rPr sz="3000" b="1">
                <a:solidFill>
                  <a:srgbClr val="006D77"/>
                </a:solidFill>
              </a:rPr>
              <a:t> output — what is visible?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private static final java.lang.String VALID_PIN;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boolean pinCorrect(java.lang.String);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Code: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0: ldc           #9    // String 4729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2: aload_0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3: invokevirtual #11   // String.equals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6: ireturn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is no source code, but the </a:t>
            </a:r>
            <a:r>
              <a:rPr sz="2000" b="1">
                <a:solidFill>
                  <a:srgbClr val="1F2D3A"/>
                </a:solidFill>
              </a:rPr>
              <a:t>constant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4729</a:t>
            </a:r>
            <a:r>
              <a:rPr sz="2000" b="0">
                <a:solidFill>
                  <a:srgbClr val="1F2D3A"/>
                </a:solidFill>
              </a:rPr>
              <a:t>), the </a:t>
            </a:r>
            <a:r>
              <a:rPr sz="2000" b="1">
                <a:solidFill>
                  <a:srgbClr val="1F2D3A"/>
                </a:solidFill>
              </a:rPr>
              <a:t>names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VALID_PIN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pinCorrect</a:t>
            </a:r>
            <a:r>
              <a:rPr sz="2000" b="0">
                <a:solidFill>
                  <a:srgbClr val="1F2D3A"/>
                </a:solidFill>
              </a:rPr>
              <a:t>) and the </a:t>
            </a:r>
            <a:r>
              <a:rPr sz="2000" b="1">
                <a:solidFill>
                  <a:srgbClr val="1F2D3A"/>
                </a:solidFill>
              </a:rPr>
              <a:t>logic</a:t>
            </a:r>
            <a:r>
              <a:rPr sz="2000" b="0">
                <a:solidFill>
                  <a:srgbClr val="1F2D3A"/>
                </a:solidFill>
              </a:rPr>
              <a:t> ("compare the input against this constant") are plainly visible.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From bytecode to source — animation</a:t>
            </a:r>
          </a:p>
        </p:txBody>
      </p:sp>
      <p:pic>
        <p:nvPicPr>
          <p:cNvPr id="7" name="Picture 6" descr="bytecode-decompile--hard-pin-correc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730" y="1325880"/>
            <a:ext cx="92362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From bytecode to source — edge case: the license check, wrong year</a:t>
            </a:r>
          </a:p>
        </p:txBody>
      </p:sp>
      <p:pic>
        <p:nvPicPr>
          <p:cNvPr id="7" name="Picture 6" descr="bytecode-decompile--edge-license-wrong-yea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07" y="1325880"/>
            <a:ext cx="983488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it easier than 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Bytecode is </a:t>
            </a:r>
            <a:r>
              <a:rPr sz="2000" b="1">
                <a:solidFill>
                  <a:srgbClr val="1F2D3A"/>
                </a:solidFill>
              </a:rPr>
              <a:t>high-level</a:t>
            </a:r>
            <a:r>
              <a:rPr sz="2000" b="0">
                <a:solidFill>
                  <a:srgbClr val="1F2D3A"/>
                </a:solidFill>
              </a:rPr>
              <a:t> and carries type information.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Variable/method names are mostly preserved.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reverse engineering is cheap; obfuscation is essential.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There are no secrets on the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</a:t>
            </a:r>
            <a:r>
              <a:rPr sz="2000" b="1">
                <a:solidFill>
                  <a:srgbClr val="1F2D3A"/>
                </a:solidFill>
              </a:rPr>
              <a:t>makes this harder</a:t>
            </a:r>
            <a:r>
              <a:rPr sz="2000" b="0">
                <a:solidFill>
                  <a:srgbClr val="1F2D3A"/>
                </a:solidFill>
              </a:rPr>
              <a:t>, but it does not really </a:t>
            </a:r>
            <a:r>
              <a:rPr sz="2000" b="1">
                <a:solidFill>
                  <a:srgbClr val="1F2D3A"/>
                </a:solidFill>
              </a:rPr>
              <a:t>hide</a:t>
            </a:r>
            <a:r>
              <a:rPr sz="2000" b="0">
                <a:solidFill>
                  <a:srgbClr val="1F2D3A"/>
                </a:solidFill>
              </a:rPr>
              <a:t> the secret.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key/password that does not have to live on the client → keep it </a:t>
            </a:r>
            <a:r>
              <a:rPr sz="2000" b="1">
                <a:solidFill>
                  <a:srgbClr val="1F2D3A"/>
                </a:solidFill>
              </a:rPr>
              <a:t>on the server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secret that </a:t>
            </a:r>
            <a:r>
              <a:rPr sz="2000" b="1">
                <a:solidFill>
                  <a:srgbClr val="1F2D3A"/>
                </a:solidFill>
              </a:rPr>
              <a:t>has to</a:t>
            </a:r>
            <a:r>
              <a:rPr sz="2000" b="0">
                <a:solidFill>
                  <a:srgbClr val="1F2D3A"/>
                </a:solidFill>
              </a:rPr>
              <a:t> live on the client needs whitebox cryptography (Week 11).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ProGuard and R8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R8 and the measurement steps — diagram</a:t>
            </a:r>
          </a:p>
        </p:txBody>
      </p:sp>
      <p:pic>
        <p:nvPicPr>
          <p:cNvPr id="7" name="Picture 6" descr="h05-14-r8-olc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32" y="1325880"/>
            <a:ext cx="838863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 ProGuard/R8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Three jobs: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Shrinking:</a:t>
            </a:r>
            <a:r>
              <a:rPr sz="2000" b="0">
                <a:solidFill>
                  <a:srgbClr val="1F2D3A"/>
                </a:solidFill>
              </a:rPr>
              <a:t> drops unused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Optimisation:</a:t>
            </a:r>
            <a:r>
              <a:rPr sz="2000" b="0">
                <a:solidFill>
                  <a:srgbClr val="1F2D3A"/>
                </a:solidFill>
              </a:rPr>
              <a:t> simplifies the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Obfuscation:</a:t>
            </a:r>
            <a:r>
              <a:rPr sz="2000" b="0">
                <a:solidFill>
                  <a:srgbClr val="1F2D3A"/>
                </a:solidFill>
              </a:rPr>
              <a:t> makes names meaningless (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ProGuard/R8 · four stages —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4134897"/>
                <a:gridCol w="4594330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Security contribution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Shrinking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Drops unused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Attack surface shrinks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Optimisation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Inlining, constant folding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Structure moves away from the source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Turns names into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b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Meaningful names disappear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Preverification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Verification info for older JVMs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Name obfuscation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LicenseChecker.verify()  →  a.b()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Meaningful names disappear.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map gets harder for a reverse engineer.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Removing dead code shrinks the binary.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</a:t>
            </a:r>
            <a:r>
              <a:rPr sz="3000" b="1">
                <a:solidFill>
                  <a:srgbClr val="006D77"/>
                </a:solidFill>
                <a:latin typeface="Consolas"/>
              </a:rPr>
              <a:t>-keep</a:t>
            </a:r>
            <a:r>
              <a:rPr sz="3000" b="1">
                <a:solidFill>
                  <a:srgbClr val="006D77"/>
                </a:solidFill>
              </a:rPr>
              <a:t> needed?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Code called </a:t>
            </a:r>
            <a:r>
              <a:rPr sz="2000" b="1">
                <a:solidFill>
                  <a:srgbClr val="1F2D3A"/>
                </a:solidFill>
              </a:rPr>
              <a:t>by name</a:t>
            </a:r>
            <a:r>
              <a:rPr sz="2000" b="0">
                <a:solidFill>
                  <a:srgbClr val="1F2D3A"/>
                </a:solidFill>
              </a:rPr>
              <a:t> through reflection (an API, entry points, JNI) must be kept.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obfuscation changes the name, the call </a:t>
            </a:r>
            <a:r>
              <a:rPr sz="2000" b="1">
                <a:solidFill>
                  <a:srgbClr val="1F2D3A"/>
                </a:solidFill>
              </a:rPr>
              <a:t>breaks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9088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-keep class com.app.Api { public *;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82111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multiple entry points and annotation-marked members: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31767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-keep class com.app.PublicApi { public *;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-keepclassmembers class *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@com.app.Reflected *;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</a:t>
            </a:r>
            <a:r>
              <a:rPr sz="3000" b="1">
                <a:solidFill>
                  <a:srgbClr val="006D77"/>
                </a:solidFill>
                <a:latin typeface="Consolas"/>
              </a:rPr>
              <a:t>-keep</a:t>
            </a:r>
            <a:r>
              <a:rPr sz="3000" b="1">
                <a:solidFill>
                  <a:srgbClr val="006D77"/>
                </a:solidFill>
              </a:rPr>
              <a:t> balance — diagram</a:t>
            </a:r>
          </a:p>
        </p:txBody>
      </p:sp>
      <p:pic>
        <p:nvPicPr>
          <p:cNvPr id="7" name="Picture 6" descr="h05-09-keep-deng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3" y="1325880"/>
            <a:ext cx="1087056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</a:t>
            </a:r>
            <a:r>
              <a:rPr sz="3000" b="1">
                <a:solidFill>
                  <a:srgbClr val="006D77"/>
                </a:solidFill>
                <a:latin typeface="Consolas"/>
              </a:rPr>
              <a:t>-keep</a:t>
            </a:r>
            <a:r>
              <a:rPr sz="3000" b="1">
                <a:solidFill>
                  <a:srgbClr val="006D77"/>
                </a:solidFill>
              </a:rPr>
              <a:t> 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Too little `-keep`:</a:t>
            </a:r>
            <a:r>
              <a:rPr sz="2000" b="0">
                <a:solidFill>
                  <a:srgbClr val="1F2D3A"/>
                </a:solidFill>
              </a:rPr>
              <a:t> the application crashes (reflection breaks).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Too much `-keep`:</a:t>
            </a:r>
            <a:r>
              <a:rPr sz="2000" b="0">
                <a:solidFill>
                  <a:srgbClr val="1F2D3A"/>
                </a:solidFill>
              </a:rPr>
              <a:t> obfuscation is weakened (everything stays exposed).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 </a:t>
            </a:r>
            <a:r>
              <a:rPr sz="2000" b="1">
                <a:solidFill>
                  <a:srgbClr val="1F2D3A"/>
                </a:solidFill>
              </a:rPr>
              <a:t>only the entry points that are genuinely required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</a:t>
            </a:r>
            <a:r>
              <a:rPr sz="2000" b="0">
                <a:solidFill>
                  <a:srgbClr val="1F2D3A"/>
                </a:solidFill>
              </a:rPr>
              <a:t> flows that use reflection — any crash after obfuscation?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ProGuard/R8 — animation</a:t>
            </a:r>
          </a:p>
        </p:txBody>
      </p:sp>
      <p:pic>
        <p:nvPicPr>
          <p:cNvPr id="7" name="Picture 6" descr="proguard-renaming--edge-keep-everyth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538" y="1325880"/>
            <a:ext cx="71406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mapping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R8 produces a </a:t>
            </a:r>
            <a:r>
              <a:rPr sz="2000" b="0">
                <a:solidFill>
                  <a:srgbClr val="A1123F"/>
                </a:solidFill>
                <a:latin typeface="Consolas"/>
              </a:rPr>
              <a:t>mapping.txt</a:t>
            </a:r>
            <a:r>
              <a:rPr sz="2000" b="0">
                <a:solidFill>
                  <a:srgbClr val="1F2D3A"/>
                </a:solidFill>
              </a:rPr>
              <a:t>: obfuscated name → real name.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</a:t>
            </a:r>
            <a:r>
              <a:rPr sz="2000" b="1">
                <a:solidFill>
                  <a:srgbClr val="1F2D3A"/>
                </a:solidFill>
              </a:rPr>
              <a:t>kept secret</a:t>
            </a:r>
            <a:r>
              <a:rPr sz="2000" b="0">
                <a:solidFill>
                  <a:srgbClr val="1F2D3A"/>
                </a:solidFill>
              </a:rPr>
              <a:t> (not shipped), but it is retained to decode crash traces.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Archived together with the version identifier.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Mapping file · example (</a:t>
            </a:r>
            <a:r>
              <a:rPr sz="3000" b="1">
                <a:solidFill>
                  <a:srgbClr val="006D77"/>
                </a:solidFill>
                <a:latin typeface="Consolas"/>
              </a:rPr>
              <a:t>mapping.txt</a:t>
            </a:r>
            <a:r>
              <a:rPr sz="3000" b="1">
                <a:solidFill>
                  <a:srgbClr val="006D77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com.example.payment.CardManager -&gt; com.example.a: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android.content.Context context -&gt; 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boolean setDefaultCard(java.lang.String) -&gt;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Old name → new name. This file </a:t>
            </a:r>
            <a:r>
              <a:rPr sz="2000" b="1">
                <a:solidFill>
                  <a:srgbClr val="1F2D3A"/>
                </a:solidFill>
              </a:rPr>
              <a:t>completely</a:t>
            </a:r>
            <a:r>
              <a:rPr sz="2000" b="0">
                <a:solidFill>
                  <a:srgbClr val="1F2D3A"/>
                </a:solidFill>
              </a:rPr>
              <a:t> undoes the obfuscation.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ProGuard/R8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Shrink + optimise + obfuscate; it does </a:t>
            </a:r>
            <a:r>
              <a:rPr sz="2000" b="1">
                <a:solidFill>
                  <a:srgbClr val="1F2D3A"/>
                </a:solidFill>
              </a:rPr>
              <a:t>not obfuscate strings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only for what is </a:t>
            </a:r>
            <a:r>
              <a:rPr sz="2000" b="1">
                <a:solidFill>
                  <a:srgbClr val="1F2D3A"/>
                </a:solidFill>
              </a:rPr>
              <a:t>genuinely</a:t>
            </a:r>
            <a:r>
              <a:rPr sz="2000" b="0">
                <a:solidFill>
                  <a:srgbClr val="1F2D3A"/>
                </a:solidFill>
              </a:rPr>
              <a:t> called through reflection/JNI.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mapping.txt</a:t>
            </a:r>
            <a:r>
              <a:rPr sz="2000" b="0">
                <a:solidFill>
                  <a:srgbClr val="1F2D3A"/>
                </a:solidFill>
              </a:rPr>
              <a:t> is a </a:t>
            </a:r>
            <a:r>
              <a:rPr sz="2000" b="1">
                <a:solidFill>
                  <a:srgbClr val="1F2D3A"/>
                </a:solidFill>
              </a:rPr>
              <a:t>secret</a:t>
            </a:r>
            <a:r>
              <a:rPr sz="2000" b="0">
                <a:solidFill>
                  <a:srgbClr val="1F2D3A"/>
                </a:solidFill>
              </a:rPr>
              <a:t>: keep it, do not distribute it.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String obfuscation and reflection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String obfuscation and dynamic invocation — diagram</a:t>
            </a:r>
          </a:p>
        </p:txBody>
      </p:sp>
      <p:pic>
        <p:nvPicPr>
          <p:cNvPr id="7" name="Picture 6" descr="h05-13-dize-giz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51524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Strings are exposed in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Constant strings inside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 appear </a:t>
            </a:r>
            <a:r>
              <a:rPr sz="2000" b="1">
                <a:solidFill>
                  <a:srgbClr val="1F2D3A"/>
                </a:solidFill>
              </a:rPr>
              <a:t>in the clear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a decompiler).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URLs, key fragments, messages leak.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String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Strings are </a:t>
            </a:r>
            <a:r>
              <a:rPr sz="2000" b="1">
                <a:solidFill>
                  <a:srgbClr val="1F2D3A"/>
                </a:solidFill>
              </a:rPr>
              <a:t>encoded</a:t>
            </a:r>
            <a:r>
              <a:rPr sz="2000" b="0">
                <a:solidFill>
                  <a:srgbClr val="1F2D3A"/>
                </a:solidFill>
              </a:rPr>
              <a:t> at build time, decoded at use.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rule as Week 4: it stops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it does </a:t>
            </a:r>
            <a:r>
              <a:rPr sz="2000" b="1">
                <a:solidFill>
                  <a:srgbClr val="1F2D3A"/>
                </a:solidFill>
              </a:rPr>
              <a:t>not keep a secret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decoding code is also in the bytecode → limited protection.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String obfuscation — animation</a:t>
            </a:r>
          </a:p>
        </p:txBody>
      </p:sp>
      <p:pic>
        <p:nvPicPr>
          <p:cNvPr id="7" name="Picture 6" descr="string-decryption--edge-zero-ke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25" y="1325880"/>
            <a:ext cx="106750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Reflection conflicts with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call by name (</a:t>
            </a:r>
            <a:r>
              <a:rPr sz="2000" b="0">
                <a:solidFill>
                  <a:srgbClr val="A1123F"/>
                </a:solidFill>
                <a:latin typeface="Consolas"/>
              </a:rPr>
              <a:t>getMethod("verify")</a:t>
            </a:r>
            <a:r>
              <a:rPr sz="2000" b="0">
                <a:solidFill>
                  <a:srgbClr val="1F2D3A"/>
                </a:solidFill>
              </a:rPr>
              <a:t>) breaks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obfuscation.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either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, or drop reflection and call directly.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Reducing reflection is good for both security and obfuscation.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Android R8 and measurement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R8 on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R8 is the </a:t>
            </a:r>
            <a:r>
              <a:rPr sz="2000" b="1">
                <a:solidFill>
                  <a:srgbClr val="1F2D3A"/>
                </a:solidFill>
              </a:rPr>
              <a:t>default</a:t>
            </a:r>
            <a:r>
              <a:rPr sz="2000" b="0">
                <a:solidFill>
                  <a:srgbClr val="1F2D3A"/>
                </a:solidFill>
              </a:rPr>
              <a:t> shrinker/obfuscator of the Android build.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minifyEnabled true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0">
                <a:solidFill>
                  <a:srgbClr val="A1123F"/>
                </a:solidFill>
                <a:latin typeface="Consolas"/>
              </a:rPr>
              <a:t>proguard-rules.pro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Produces DEX (Android bytecode).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Turning R8 on for the release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android { buildTypes { release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minifyEnabled true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shrinkResources true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proguardFiles getDefaultProguardFile('proguard-android-optimize.txt'),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'proguard-rules.pro'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debug build is </a:t>
            </a:r>
            <a:r>
              <a:rPr sz="2000" b="1">
                <a:solidFill>
                  <a:srgbClr val="1F2D3A"/>
                </a:solidFill>
              </a:rPr>
              <a:t>not obfuscated</a:t>
            </a:r>
            <a:r>
              <a:rPr sz="2000" b="0">
                <a:solidFill>
                  <a:srgbClr val="1F2D3A"/>
                </a:solidFill>
              </a:rPr>
              <a:t>; verify that the shipped build is the </a:t>
            </a:r>
            <a:r>
              <a:rPr sz="2000" b="1">
                <a:solidFill>
                  <a:srgbClr val="1F2D3A"/>
                </a:solidFill>
              </a:rPr>
              <a:t>release</a:t>
            </a:r>
            <a:r>
              <a:rPr sz="2000" b="0">
                <a:solidFill>
                  <a:srgbClr val="1F2D3A"/>
                </a:solidFill>
              </a:rPr>
              <a:t> one. A plain Java/Gradle project without Android needs only a simpler form: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2364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buildTypes { release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minifyEnabled true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proguardFiles(..., 'proguard-rules.pro')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}}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Measuring the effect of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Before/after obfuscation: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the ratio of meaningful names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the count of plain-text sensitive strings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APK 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Measure it and write it into S9 (the measurement logic from Week 9).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Measurement table — extended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9571"/>
                <a:gridCol w="6061963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Expected change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Number of classes/methods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Decreases with shrinking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Meaningful-name ratio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Drops sharply with obfuscation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Plain-text sensitive strings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Goes to zero with string obfuscation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Package size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Decreases with shrinking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Number of log calls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Zero in the 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Time to locate a check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Increases (human trial)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Static analysis for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SpotBugs, Error Prone, SonarQube.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Checks close to the CERT Java rules.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every merge, in CI.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8–13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Java bytecode easier to read than C?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is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balance?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does reflection conflict with obfuscation?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8–13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87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Bytecode is </a:t>
            </a:r>
            <a:r>
              <a:rPr sz="2000" b="1">
                <a:solidFill>
                  <a:srgbClr val="1F2D3A"/>
                </a:solidFill>
              </a:rPr>
              <a:t>high-level</a:t>
            </a:r>
            <a:r>
              <a:rPr sz="2000" b="0">
                <a:solidFill>
                  <a:srgbClr val="1F2D3A"/>
                </a:solidFill>
              </a:rPr>
              <a:t>; type and </a:t>
            </a:r>
            <a:r>
              <a:rPr sz="2000" b="1">
                <a:solidFill>
                  <a:srgbClr val="1F2D3A"/>
                </a:solidFill>
              </a:rPr>
              <a:t>name metadata</a:t>
            </a:r>
            <a:r>
              <a:rPr sz="2000" b="0">
                <a:solidFill>
                  <a:srgbClr val="1F2D3A"/>
                </a:solidFill>
              </a:rPr>
              <a:t> (class/field/method) are preserved → a decompiler produces near-source output. C compiles to machine code, discarding names.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The `-keep` balance:</a:t>
            </a:r>
            <a:r>
              <a:rPr sz="2000" b="0">
                <a:solidFill>
                  <a:srgbClr val="1F2D3A"/>
                </a:solidFill>
              </a:rPr>
              <a:t> too much keep → obfuscation is weak; too little keep → reflection/serialisation breaks. Keep only the </a:t>
            </a:r>
            <a:r>
              <a:rPr sz="2000" b="1">
                <a:solidFill>
                  <a:srgbClr val="1F2D3A"/>
                </a:solidFill>
              </a:rPr>
              <a:t>external entry points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Reflection calls </a:t>
            </a:r>
            <a:r>
              <a:rPr sz="2000" b="1">
                <a:solidFill>
                  <a:srgbClr val="1F2D3A"/>
                </a:solidFill>
              </a:rPr>
              <a:t>by string</a:t>
            </a:r>
            <a:r>
              <a:rPr sz="2000" b="0">
                <a:solidFill>
                  <a:srgbClr val="1F2D3A"/>
                </a:solidFill>
              </a:rPr>
              <a:t> name; once the obfuscator renames it, the string no longer matches → a run-time error. Those names need to be kept (a gap in the obfuscation).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Dependency security and SBOM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problem · 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if your own code is flawless, a flaw in a </a:t>
            </a:r>
            <a:r>
              <a:rPr sz="2000" b="1">
                <a:solidFill>
                  <a:srgbClr val="1F2D3A"/>
                </a:solidFill>
              </a:rPr>
              <a:t>library</a:t>
            </a:r>
            <a:r>
              <a:rPr sz="2000" b="0">
                <a:solidFill>
                  <a:srgbClr val="1F2D3A"/>
                </a:solidFill>
              </a:rPr>
              <a:t> you use affects you.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modern application contains hundreds of dependencies.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"Which version do I have?" is a critical question.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Real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Log4Shell (Log4j): a single library flaw affected millions of systems.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malicious package (typosquatting): a fake package with a similar name.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unmaintained/abandoned dependency.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Log4Shell · a concrete example (December 2021)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specific expression logged by Log4j 2 loaded and ran a class from a </a:t>
            </a:r>
            <a:r>
              <a:rPr sz="2000" b="1">
                <a:solidFill>
                  <a:srgbClr val="1F2D3A"/>
                </a:solidFill>
              </a:rPr>
              <a:t>remote</a:t>
            </a:r>
            <a:r>
              <a:rPr sz="2000" b="0">
                <a:solidFill>
                  <a:srgbClr val="1F2D3A"/>
                </a:solidFill>
              </a:rPr>
              <a:t> address.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CVE-2021-44228, CVSS </a:t>
            </a:r>
            <a:r>
              <a:rPr sz="2000" b="1">
                <a:solidFill>
                  <a:srgbClr val="1F2D3A"/>
                </a:solidFill>
              </a:rPr>
              <a:t>10.0</a:t>
            </a:r>
            <a:r>
              <a:rPr sz="2000" b="0">
                <a:solidFill>
                  <a:srgbClr val="1F2D3A"/>
                </a:solidFill>
              </a:rPr>
              <a:t> (the highest score).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real crisis was not applying the patch: it was the question of </a:t>
            </a:r>
            <a:r>
              <a:rPr sz="2000" b="1">
                <a:solidFill>
                  <a:srgbClr val="1F2D3A"/>
                </a:solidFill>
              </a:rPr>
              <a:t>which system had which version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an SBOM?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software's </a:t>
            </a:r>
            <a:r>
              <a:rPr sz="2000" b="1">
                <a:solidFill>
                  <a:srgbClr val="1F2D3A"/>
                </a:solidFill>
              </a:rPr>
              <a:t>bill of materials</a:t>
            </a:r>
            <a:r>
              <a:rPr sz="2000" b="0">
                <a:solidFill>
                  <a:srgbClr val="1F2D3A"/>
                </a:solidFill>
              </a:rPr>
              <a:t>: which component, which version, which licence.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a flaw is announced, "am I affected?" is answered </a:t>
            </a:r>
            <a:r>
              <a:rPr sz="2000" b="1">
                <a:solidFill>
                  <a:srgbClr val="1F2D3A"/>
                </a:solidFill>
              </a:rPr>
              <a:t>quickly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formats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CycloneDX</a:t>
            </a:r>
            <a:r>
              <a:rPr sz="2000" b="0">
                <a:solidFill>
                  <a:srgbClr val="1F2D3A"/>
                </a:solidFill>
              </a:rPr>
              <a:t> (OWASP) — security-focused, widely used.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SPDX</a:t>
            </a:r>
            <a:r>
              <a:rPr sz="2000" b="0">
                <a:solidFill>
                  <a:srgbClr val="1F2D3A"/>
                </a:solidFill>
              </a:rPr>
              <a:t> (Linux Foundation) — strong on licensing too.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Generated automatically by tools (during the build step).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CycloneDX example (JSON, synthetic)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"bomFormat": "CycloneDX",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"components": [{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"type": "library", "name": "example-json", "version": "1.2.0",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"purl": "pkg:maven/com.example/example-json@1.2.0"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}]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component: name, version, </a:t>
            </a:r>
            <a:r>
              <a:rPr sz="2000" b="1">
                <a:solidFill>
                  <a:srgbClr val="1F2D3A"/>
                </a:solidFill>
              </a:rPr>
              <a:t>purl</a:t>
            </a:r>
            <a:r>
              <a:rPr sz="2000" b="0">
                <a:solidFill>
                  <a:srgbClr val="1F2D3A"/>
                </a:solidFill>
              </a:rPr>
              <a:t> (an ecosystem-independent, uniform identifier), a hash value.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VEX?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VEX (Vulnerability Exploitability eXchange):</a:t>
            </a:r>
            <a:r>
              <a:rPr sz="2000" b="0">
                <a:solidFill>
                  <a:srgbClr val="1F2D3A"/>
                </a:solidFill>
              </a:rPr>
              <a:t> shares "I have this flaw, but it is </a:t>
            </a:r>
            <a:r>
              <a:rPr sz="2000" b="1">
                <a:solidFill>
                  <a:srgbClr val="1F2D3A"/>
                </a:solidFill>
              </a:rPr>
              <a:t>not exploitable</a:t>
            </a:r>
            <a:r>
              <a:rPr sz="2000" b="0">
                <a:solidFill>
                  <a:srgbClr val="1F2D3A"/>
                </a:solidFill>
              </a:rPr>
              <a:t>" information.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Reduces noise: not every CVE is a panic.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Accompanies the SBOM.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→ CVE matching — animation</a:t>
            </a:r>
          </a:p>
        </p:txBody>
      </p:sp>
      <p:pic>
        <p:nvPicPr>
          <p:cNvPr id="7" name="Picture 6" descr="sbom-cve-match--hard-real-sbom-two-hit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75405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→ CVE matching — edge case: the fixed version is no longer flagged</a:t>
            </a:r>
          </a:p>
        </p:txBody>
      </p:sp>
      <p:pic>
        <p:nvPicPr>
          <p:cNvPr id="7" name="Picture 6" descr="sbom-cve-match--edge-fixed-version-pass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75405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Dependency management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Pin</a:t>
            </a:r>
            <a:r>
              <a:rPr sz="2000" b="0">
                <a:solidFill>
                  <a:srgbClr val="1F2D3A"/>
                </a:solidFill>
              </a:rPr>
              <a:t> versions; do not pull "latest" at random.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 for known vulnerabilities (</a:t>
            </a:r>
            <a:r>
              <a:rPr sz="2000" b="0">
                <a:solidFill>
                  <a:srgbClr val="A1123F"/>
                </a:solidFill>
                <a:latin typeface="Consolas"/>
              </a:rPr>
              <a:t>dependency-check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npm audit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pip-audit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safe update process; apply critical patches fast.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generation · example flow</a:t>
            </a:r>
          </a:p>
        </p:txBody>
      </p:sp>
      <p:pic>
        <p:nvPicPr>
          <p:cNvPr id="7" name="Picture 6" descr="h05-10-s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699" y="1325880"/>
            <a:ext cx="8456297" cy="2943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3789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release's SBOM is stored with its release identifier.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2861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örnek: CycloneDX eklentisi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mvn org.cyclonedx:cyclonedx-maven-plugin:makeBom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69061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dependency-check --scan . --format HTML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Link to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S13:</a:t>
            </a:r>
            <a:r>
              <a:rPr sz="2000" b="0">
                <a:solidFill>
                  <a:srgbClr val="1F2D3A"/>
                </a:solidFill>
              </a:rPr>
              <a:t> a secure development process + SBOM.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up-to-date SBOM and dependency scan for every release.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Handed-off requirements: "safe updates" belong to the upstream application (Week 13).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if your own code is flawless, </a:t>
            </a:r>
            <a:r>
              <a:rPr sz="2000" b="1">
                <a:solidFill>
                  <a:srgbClr val="1F2D3A"/>
                </a:solidFill>
              </a:rPr>
              <a:t>your dependency's flaw affects you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SBOM = the bill of materials; VEX = the answer to "am I genuinely affected?"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Pin</a:t>
            </a:r>
            <a:r>
              <a:rPr sz="2000" b="0">
                <a:solidFill>
                  <a:srgbClr val="1F2D3A"/>
                </a:solidFill>
              </a:rPr>
              <a:t> the version, </a:t>
            </a:r>
            <a:r>
              <a:rPr sz="2000" b="1">
                <a:solidFill>
                  <a:srgbClr val="1F2D3A"/>
                </a:solidFill>
              </a:rPr>
              <a:t>scan</a:t>
            </a:r>
            <a:r>
              <a:rPr sz="2000" b="0">
                <a:solidFill>
                  <a:srgbClr val="1F2D3A"/>
                </a:solidFill>
              </a:rPr>
              <a:t> continuously, apply the critical patch fast.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is an SBOM good for?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does VEX reduce noise?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do we pin dependency versions?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SBOM</a:t>
            </a:r>
            <a:r>
              <a:rPr sz="2000" b="0">
                <a:solidFill>
                  <a:srgbClr val="1F2D3A"/>
                </a:solidFill>
              </a:rPr>
              <a:t> = a component/dependency inventory; when a new flaw appears it answers "do I have it?" </a:t>
            </a:r>
            <a:r>
              <a:rPr sz="2000" b="1">
                <a:solidFill>
                  <a:srgbClr val="1F2D3A"/>
                </a:solidFill>
              </a:rPr>
              <a:t>quickly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VEX</a:t>
            </a:r>
            <a:r>
              <a:rPr sz="2000" b="0">
                <a:solidFill>
                  <a:srgbClr val="1F2D3A"/>
                </a:solidFill>
              </a:rPr>
              <a:t> states whether the flaw is genuinely </a:t>
            </a:r>
            <a:r>
              <a:rPr sz="2000" b="1">
                <a:solidFill>
                  <a:srgbClr val="1F2D3A"/>
                </a:solidFill>
              </a:rPr>
              <a:t>exploitable</a:t>
            </a:r>
            <a:r>
              <a:rPr sz="2000" b="0">
                <a:solidFill>
                  <a:srgbClr val="1F2D3A"/>
                </a:solidFill>
              </a:rPr>
              <a:t> in the product; unaffected ones are marked "not affected" → false alarms drop.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 pinned version = a </a:t>
            </a:r>
            <a:r>
              <a:rPr sz="2000" b="1">
                <a:solidFill>
                  <a:srgbClr val="1F2D3A"/>
                </a:solidFill>
              </a:rPr>
              <a:t>reproducible</a:t>
            </a:r>
            <a:r>
              <a:rPr sz="2000" b="0">
                <a:solidFill>
                  <a:srgbClr val="1F2D3A"/>
                </a:solidFill>
              </a:rPr>
              <a:t> build + supply-chain security; it blocks an unexpected/malicious update.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Context · a login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application that logs a user in with a username and password.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String q = "SELECT * FROM users WHERE name='" + name 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"' AND password='" + p + "'";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Where is the mistake?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the attacker's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Into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field: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admin' 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--</a:t>
            </a:r>
            <a:r>
              <a:rPr sz="2000" b="0">
                <a:solidFill>
                  <a:srgbClr val="1F2D3A"/>
                </a:solidFill>
              </a:rPr>
              <a:t> starts a </a:t>
            </a:r>
            <a:r>
              <a:rPr sz="2000" b="1">
                <a:solidFill>
                  <a:srgbClr val="1F2D3A"/>
                </a:solidFill>
              </a:rPr>
              <a:t>comment</a:t>
            </a:r>
            <a:r>
              <a:rPr sz="2000" b="0">
                <a:solidFill>
                  <a:srgbClr val="1F2D3A"/>
                </a:solidFill>
              </a:rPr>
              <a:t> in SQL; everything after it is ignored.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what does the query become?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SELECT * FROM users WHERE name='admin' -- ' AND password='...'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password check stayed </a:t>
            </a:r>
            <a:r>
              <a:rPr sz="2000" b="1">
                <a:solidFill>
                  <a:srgbClr val="1F2D3A"/>
                </a:solidFill>
              </a:rPr>
              <a:t>inside the comment</a:t>
            </a:r>
            <a:r>
              <a:rPr sz="2000" b="0">
                <a:solidFill>
                  <a:srgbClr val="1F2D3A"/>
                </a:solidFill>
              </a:rPr>
              <a:t> →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admin</a:t>
            </a:r>
            <a:r>
              <a:rPr sz="2000" b="0">
                <a:solidFill>
                  <a:srgbClr val="1F2D3A"/>
                </a:solidFill>
              </a:rPr>
              <a:t> login with no password.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Authentication was </a:t>
            </a:r>
            <a:r>
              <a:rPr sz="2000" b="1">
                <a:solidFill>
                  <a:srgbClr val="1F2D3A"/>
                </a:solidFill>
              </a:rPr>
              <a:t>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Further: reading other tables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UNION SELECT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; DROP TABLE</a:t>
            </a:r>
            <a:r>
              <a:rPr sz="2000" b="0">
                <a:solidFill>
                  <a:srgbClr val="1F2D3A"/>
                </a:solidFill>
              </a:rPr>
              <a:t> (if stacked queries are supported) — data loss.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the 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PreparedStatement ps = con.prepareStatement(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"SELECT * FROM users WHERE name=? AND password_hash=?");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ps.setString(1, name);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ps.setString(2, hash(p));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and the password are now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--</a:t>
            </a:r>
            <a:r>
              <a:rPr sz="2000" b="0">
                <a:solidFill>
                  <a:srgbClr val="1F2D3A"/>
                </a:solidFill>
              </a:rPr>
              <a:t> has no effect.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layered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Never store a password in plain text:</a:t>
            </a:r>
            <a:r>
              <a:rPr sz="2000" b="0">
                <a:solidFill>
                  <a:srgbClr val="1F2D3A"/>
                </a:solidFill>
              </a:rPr>
              <a:t> a hash + salt (Week 3).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Least privilege:</a:t>
            </a:r>
            <a:r>
              <a:rPr sz="2000" b="0">
                <a:solidFill>
                  <a:srgbClr val="1F2D3A"/>
                </a:solidFill>
              </a:rPr>
              <a:t> the DB user only has 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Input validation:</a:t>
            </a:r>
            <a:r>
              <a:rPr sz="2000" b="0">
                <a:solidFill>
                  <a:srgbClr val="1F2D3A"/>
                </a:solidFill>
              </a:rPr>
              <a:t> an allow list for the username.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Logging/monitoring:</a:t>
            </a:r>
            <a:r>
              <a:rPr sz="2000" b="0">
                <a:solidFill>
                  <a:srgbClr val="1F2D3A"/>
                </a:solidFill>
              </a:rPr>
              <a:t> failed login attempts.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root: data got mixed with the command.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real fix: a parameterised query.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defence in depth at every layer.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same bug, three languages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661"/>
                <a:gridCol w="3425714"/>
                <a:gridCol w="3425714"/>
                <a:gridCol w="2664444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Danger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Java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Command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Runtime.exec(str)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os.system(str)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exec(str)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Safe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ProcessBuilder([...])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subprocess.run([...])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execFile([...])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same bug, extracting data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356"/>
                <a:gridCol w="2234892"/>
                <a:gridCol w="3418071"/>
                <a:gridCol w="2892214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Danger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Java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execution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readObject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pickle.loads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eval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Function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Safe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JSON + schema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json.loads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JSON.parse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54386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root is always the same: data ≠ code.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languages · one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dynamic "run" (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exec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readObject</a:t>
            </a:r>
            <a:r>
              <a:rPr sz="2000" b="0">
                <a:solidFill>
                  <a:srgbClr val="1F2D3A"/>
                </a:solidFill>
              </a:rPr>
              <a:t>) →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with untrusted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Command → an argument array.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 → parameterised.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 → an allow list + rejection.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Injection · the general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Injection is not tied to a language; it is tied to a </a:t>
            </a:r>
            <a:r>
              <a:rPr sz="2000" b="1">
                <a:solidFill>
                  <a:srgbClr val="1F2D3A"/>
                </a:solidFill>
              </a:rPr>
              <a:t>pattern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Recognise the pattern: "is user data going to an interpreter as a command?"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Once recognised, the fix is ready: separate.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Classic Mistakes —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254"/>
                <a:gridCol w="991957"/>
                <a:gridCol w="5230322"/>
              </a:tblGrid>
              <a:tr h="4535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SQL/commands with string concatenation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2, 3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Use a parameterised query / an argument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eval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pickle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readObject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with untrusted data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5, 7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Use a data format + schema, never execute 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Leaving external entities open in XML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Disable external entities and DOCTYPE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Protecting everything with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-keep *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Keep only the entry points that are genuinely required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scanning dependencies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Produce an SBOM, scan continuously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5686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All five were covered earlier in this deck; here they are gathered in one glance.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S9/S13 (the Java side)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72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only the entry points that are needed.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/a decompiler.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error class does a managed language solve, and which does it not?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largely solves memory bugs (overflow, UAF). It </a:t>
            </a:r>
            <a:r>
              <a:rPr sz="2000" b="1">
                <a:solidFill>
                  <a:srgbClr val="1F2D3A"/>
                </a:solidFill>
              </a:rPr>
              <a:t>does not</a:t>
            </a:r>
            <a:r>
              <a:rPr sz="2000" b="0">
                <a:solidFill>
                  <a:srgbClr val="1F2D3A"/>
                </a:solidFill>
              </a:rPr>
              <a:t> solve injection, logic/authorisation errors, dependency, and deserialisation attacks.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`' OR '1'='1` return all rows?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input enters the query through string concatenation; the quote closes the data,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OR '1'='1'</a:t>
            </a:r>
            <a:r>
              <a:rPr sz="2000" b="0">
                <a:solidFill>
                  <a:srgbClr val="1F2D3A"/>
                </a:solidFill>
              </a:rPr>
              <a:t> is always true. A parameterised query prevents this.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 does `ProcessBuilder` prevent command injection?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supplies arguments as an </a:t>
            </a:r>
            <a:r>
              <a:rPr sz="2000" b="1">
                <a:solidFill>
                  <a:srgbClr val="1F2D3A"/>
                </a:solidFill>
              </a:rPr>
              <a:t>array</a:t>
            </a:r>
            <a:r>
              <a:rPr sz="2000" b="0">
                <a:solidFill>
                  <a:srgbClr val="1F2D3A"/>
                </a:solidFill>
              </a:rPr>
              <a:t> without using a shell; metacharacters (</a:t>
            </a:r>
            <a:r>
              <a:rPr sz="2000" b="0">
                <a:solidFill>
                  <a:srgbClr val="A1123F"/>
                </a:solidFill>
                <a:latin typeface="Consolas"/>
              </a:rPr>
              <a:t>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|</a:t>
            </a:r>
            <a:r>
              <a:rPr sz="2000" b="0">
                <a:solidFill>
                  <a:srgbClr val="1F2D3A"/>
                </a:solidFill>
              </a:rPr>
              <a:t>) are not interpreted, and the input stays a single argument.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two steps close off path traversal?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Canonicalisation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normalize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toRealPath</a:t>
            </a:r>
            <a:r>
              <a:rPr sz="2000" b="0">
                <a:solidFill>
                  <a:srgbClr val="1F2D3A"/>
                </a:solidFill>
              </a:rPr>
              <a:t>) + a root check (</a:t>
            </a:r>
            <a:r>
              <a:rPr sz="2000" b="0">
                <a:solidFill>
                  <a:srgbClr val="A1123F"/>
                </a:solidFill>
                <a:latin typeface="Consolas"/>
              </a:rPr>
              <a:t>startsWith(root)</a:t>
            </a:r>
            <a:r>
              <a:rPr sz="2000" b="0">
                <a:solidFill>
                  <a:srgbClr val="1F2D3A"/>
                </a:solidFill>
              </a:rPr>
              <a:t>). Plus a file-name allow list.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unsafe deserialisation dangerous? The fix?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Object methods run while unpacking; code can be run through a gadget chain. Fix: a data format + schema instead of native serialisation; if you must,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ObjectInputFilter</a:t>
            </a:r>
            <a:r>
              <a:rPr sz="2000" b="0">
                <a:solidFill>
                  <a:srgbClr val="1F2D3A"/>
                </a:solidFill>
              </a:rPr>
              <a:t> allow list.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XXE, and which setting disables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Abuse of XML external entities (file reading/SSRF). The parser setting that disables external entities and DOCTYPE.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are ReDoS and prototype pollution?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ReDoS: a bad regex spending exponential time (DoS). Prototype pollution: corrupting all objects through </a:t>
            </a:r>
            <a:r>
              <a:rPr sz="2000" b="0">
                <a:solidFill>
                  <a:srgbClr val="A1123F"/>
                </a:solidFill>
                <a:latin typeface="Consolas"/>
              </a:rPr>
              <a:t>__proto__</a:t>
            </a:r>
            <a:r>
              <a:rPr sz="2000" b="0">
                <a:solidFill>
                  <a:srgbClr val="1F2D3A"/>
                </a:solidFill>
              </a:rPr>
              <a:t> in JS. Both need input validation + a safe API.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Java bytecode need obfuscation more than most?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Bytecode is high-level and carries type and name information; it decompiles very close to the source. Names/strings appear in the clear.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`-keep` balance?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Too little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→ reflection breaks, the application crashes. Too much → obfuscation is weakened. Only the entry points genuinely called through reflection are kept.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Does string obfuscation keep a key secret in Java?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No. It stops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/static scanning, but the decoded string is in the clear in memory, and the decoding code is in the bytecode. A key needs different protection.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are SBOM and VEX for?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An SBOM is the component list; when a flaw is announced it tells you quickly whether you are affected. VEX states whether the flaw is exploitable, reducing noise.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common root and fix of every injection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Root: data mixing with command. Fix: </a:t>
            </a:r>
            <a:r>
              <a:rPr sz="2000" b="1">
                <a:solidFill>
                  <a:srgbClr val="1F2D3A"/>
                </a:solidFill>
              </a:rPr>
              <a:t>separating</a:t>
            </a:r>
            <a:r>
              <a:rPr sz="2000" b="0">
                <a:solidFill>
                  <a:srgbClr val="1F2D3A"/>
                </a:solidFill>
              </a:rPr>
              <a:t> data from code (a parameterised/argument-array API), not building a command with string concatenation.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6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5"/>
                <a:gridCol w="6365061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= command mixing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Parameterised query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is bound separately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Deserialisation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Bytes → object (risky)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XXE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Abuse of an XML external entity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R8/ProGuard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Shrinking + name obfuscation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SBOM/VEX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Component list / exploitability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6 — RASP and Run-Time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This week we used obfuscation and shrinking to make bytecode harder to read </a:t>
            </a:r>
            <a:r>
              <a:rPr sz="2000" b="1">
                <a:solidFill>
                  <a:srgbClr val="1F2D3A"/>
                </a:solidFill>
              </a:rPr>
              <a:t>statically</a:t>
            </a:r>
            <a:r>
              <a:rPr sz="2000" b="0">
                <a:solidFill>
                  <a:srgbClr val="1F2D3A"/>
                </a:solidFill>
              </a:rPr>
              <a:t>; but an attacker can also examine an application </a:t>
            </a:r>
            <a:r>
              <a:rPr sz="2000" b="1">
                <a:solidFill>
                  <a:srgbClr val="1F2D3A"/>
                </a:solidFill>
              </a:rPr>
              <a:t>while it runs</a:t>
            </a:r>
            <a:r>
              <a:rPr sz="2000" b="0">
                <a:solidFill>
                  <a:srgbClr val="1F2D3A"/>
                </a:solidFill>
              </a:rPr>
              <a:t> (attaching a debugger, dumping memory, installing a hook).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97855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In Week 6 we will see how an application verifies itself at run time with RASP (Runtime Application Self-Protection), and how it detects debuggers and hooks — the next layer built on top of this week's static defences.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5 — Code Hardening: Java and Interpreted Languages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