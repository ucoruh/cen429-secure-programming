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the focus shifts from "hardening the program" to "the program protecting itself while it runs." Core assumption: the device's owner is the attacker (MATE). Core idea: don't rely on a single check — detection + response + device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cover runtime protections (RASP). Zero prior knowledge assumed; we will define every term. Core framework: RASP detects, defends, deters — but never alone, always layered.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integrity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bytes fold into a digest one at a time, then how the "golden" value is compared against the re-read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it doesn't matter WHERE in the file the patch is — the avalanche effect changes the whole digest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/proc/self/status being scanned line by line, and how the scan stops as soon as TracerPid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TracerPid and the parent process name both fire at once, giving "detected (2 signals)".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emulator and hook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hypervisor bit is read, then how the 12-byte vendor signature is assembled byte by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with the hypervisor bit PRESENT, the vendor signature can come back entirely blank — another reason it's not proof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load order of loaded objects, and the order the dynamic loader tries when resolving `time`.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it doesn't matter WHERE in the list the hook sits — ANY hook that loads before libc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root/signature, control-flow integrity,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scan of 14 known indicators, and how the privilege level adds to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 indicators pile up the signal count rises — still not "proof" alone, but a bigger contribution to the risk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build-time signing and pre-load verification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not just APPENDING a byte — REMOVING one also breaks the signature; length matters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stages build the golden chain, then compare it against the actual run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with every stage present, the wrong ORDER breaks the chain — the double counter alone can't catch this, the HMAC chain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checks collapse into a "failed count", then how that count turns into a state and a concrete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device mismatch jumps straight to LOCK, INDEPENDENTLY of how many checks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every call on a monitoring timeline gets classified into one of the four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with zero failed checks, a device mismatch ALWAYS leads to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limits, ethics,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build integrity + anti-debug + response step by step in a synthetic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For every check, we show the "what does the attacker do → what does the defence add" loop. This makes concrete why layered defence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8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2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gif"/><Relationship Id="rId4" Type="http://schemas.openxmlformats.org/officeDocument/2006/relationships/notesSlide" Target="../notesSlides/notesSlide2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2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Runtime Application Self-Protection (RASP)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23.10.2026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394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82"/>
                <a:gridCol w="759663"/>
                <a:gridCol w="9599388"/>
              </a:tblGrid>
              <a:tr h="598703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9870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What RASP is, RASP architecture · Integrity checking (self-hashing)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870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Debugger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Environment/emulator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3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Hook/instrumentation detection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98704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7–10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Memory protection · Root/signature verification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6-7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Control-flow integrity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Response policy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Demo 8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0421"/>
            <a:ext cx="10911535" cy="6710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2D3A"/>
                </a:solidFill>
              </a:rPr>
              <a:t>Learning outcome (LO.3):</a:t>
            </a:r>
            <a:r>
              <a:rPr sz="1700" b="0">
                <a:solidFill>
                  <a:srgbClr val="1F2D3A"/>
                </a:solidFill>
              </a:rPr>
              <a:t> recognise RASP checks (integrity, anti-debug, environment, hooking) · design a response policy and device binding · explain RASP's limits and its ethical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1217"/>
            <a:ext cx="10911535" cy="83566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700" b="0">
                <a:solidFill>
                  <a:srgbClr val="1F2D3A"/>
                </a:solidFill>
              </a:rPr>
              <a:t>RASP = </a:t>
            </a:r>
            <a:r>
              <a:rPr sz="1700" b="1">
                <a:solidFill>
                  <a:srgbClr val="1F2D3A"/>
                </a:solidFill>
              </a:rPr>
              <a:t>Runtime Application Self-Protection</a:t>
            </a:r>
            <a:r>
              <a:rPr sz="1700" b="0">
                <a:solidFill>
                  <a:srgbClr val="1F2D3A"/>
                </a:solidFill>
              </a:rPr>
              <a:t>: the application </a:t>
            </a:r>
            <a:r>
              <a:rPr sz="1700" b="1">
                <a:solidFill>
                  <a:srgbClr val="1F2D3A"/>
                </a:solidFill>
              </a:rPr>
              <a:t>monitoring</a:t>
            </a:r>
            <a:r>
              <a:rPr sz="1700" b="0">
                <a:solidFill>
                  <a:srgbClr val="1F2D3A"/>
                </a:solidFill>
              </a:rPr>
              <a:t> itself while it runs and </a:t>
            </a:r>
            <a:r>
              <a:rPr sz="1700" b="1">
                <a:solidFill>
                  <a:srgbClr val="1F2D3A"/>
                </a:solidFill>
              </a:rPr>
              <a:t>responding</a:t>
            </a:r>
            <a:r>
              <a:rPr sz="1700" b="0">
                <a:solidFill>
                  <a:srgbClr val="1F2D3A"/>
                </a:solidFill>
              </a:rPr>
              <a:t> to threats. Detect → defend → deter. But never a single check — a </a:t>
            </a:r>
            <a:r>
              <a:rPr sz="1700" b="1">
                <a:solidFill>
                  <a:srgbClr val="1F2D3A"/>
                </a:solidFill>
              </a:rPr>
              <a:t>layer</a:t>
            </a:r>
            <a:r>
              <a:rPr sz="17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white-box attacker model</a:t>
            </a:r>
            <a:r>
              <a:rPr sz="2000" b="0">
                <a:solidFill>
                  <a:srgbClr val="1F2D3A"/>
                </a:solidFill>
              </a:rPr>
              <a:t> — the user who owns the device may also be the attacker; they can read memory and attach a debugger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Digest, MAC, and HMAC</a:t>
            </a:r>
            <a:r>
              <a:rPr sz="2000" b="0">
                <a:solidFill>
                  <a:srgbClr val="1F2D3A"/>
                </a:solidFill>
              </a:rPr>
              <a:t> — a digest is a one-way fingerprint computed from data; HMAC proves a message hasn't changed using a shared secret key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Deriving keys from a master secret (HKDF)</a:t>
            </a:r>
            <a:r>
              <a:rPr sz="2000" b="0">
                <a:solidFill>
                  <a:srgbClr val="1F2D3A"/>
                </a:solidFill>
              </a:rPr>
              <a:t> — deriving new keys from a master secret through Extract and Expand steps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Device binding</a:t>
            </a:r>
            <a:r>
              <a:rPr sz="2000" b="0">
                <a:solidFill>
                  <a:srgbClr val="1F2D3A"/>
                </a:solidFill>
              </a:rPr>
              <a:t> — a secret being meaningful only on a specific device, the innermost layer of the security shell </a:t>
            </a:r>
            <a:r>
              <a:rPr sz="20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51528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the white-box model → the </a:t>
            </a:r>
            <a:r>
              <a:rPr sz="2000" b="1">
                <a:solidFill>
                  <a:srgbClr val="1F2D3A"/>
                </a:solidFill>
              </a:rPr>
              <a:t>MATE</a:t>
            </a:r>
            <a:r>
              <a:rPr sz="2000" b="0">
                <a:solidFill>
                  <a:srgbClr val="1F2D3A"/>
                </a:solidFill>
              </a:rPr>
              <a:t> attacker model (Section 1); HMAC → verifying the application's own code (Section 3); HKDF → deriving a key from a device fingerprint (Section 10); device binding → part of a RASP response policy (Section 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03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700" b="1">
                <a:solidFill>
                  <a:srgbClr val="1F2D3A"/>
                </a:solidFill>
              </a:rPr>
              <a:t>where</a:t>
            </a:r>
            <a:r>
              <a:rPr sz="17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6006"/>
          <a:ext cx="9456662" cy="4190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0638"/>
                <a:gridCol w="2546024"/>
              </a:tblGrid>
              <a:tr h="322361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RASP (detect/defend/deter)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The MATE attacker model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RASP architecture (when/where/how)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Integrity / self-hashing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Debugger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Emulator/VM detection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Hook / LD_PRELOAD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Dynamic memory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Root indicator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Component signature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22361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Control-flow counter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363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Response policy and device binding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Section 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What Is RASP?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the Application Protects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1980s</a:t>
            </a:r>
            <a:r>
              <a:rPr sz="1800" b="0">
                <a:solidFill>
                  <a:srgbClr val="1F2D3A"/>
                </a:solidFill>
              </a:rPr>
              <a:t> — the crack/anti-crack culture: the origin of </a:t>
            </a:r>
            <a:r>
              <a:rPr sz="1800" b="1">
                <a:solidFill>
                  <a:srgbClr val="1F2D3A"/>
                </a:solidFill>
              </a:rPr>
              <a:t>anti-debug</a:t>
            </a:r>
            <a:r>
              <a:rPr sz="1800" b="0">
                <a:solidFill>
                  <a:srgbClr val="1F2D3A"/>
                </a:solidFill>
              </a:rPr>
              <a:t> and self-checks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2000s</a:t>
            </a:r>
            <a:r>
              <a:rPr sz="1800" b="0">
                <a:solidFill>
                  <a:srgbClr val="1F2D3A"/>
                </a:solidFill>
              </a:rPr>
              <a:t> — DRM and mobile banking move protection </a:t>
            </a:r>
            <a:r>
              <a:rPr sz="1800" b="1">
                <a:solidFill>
                  <a:srgbClr val="1F2D3A"/>
                </a:solidFill>
              </a:rPr>
              <a:t>inside</a:t>
            </a:r>
            <a:r>
              <a:rPr sz="1800" b="0">
                <a:solidFill>
                  <a:srgbClr val="1F2D3A"/>
                </a:solidFill>
              </a:rPr>
              <a:t> the application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2012</a:t>
            </a:r>
            <a:r>
              <a:rPr sz="1800" b="0">
                <a:solidFill>
                  <a:srgbClr val="1F2D3A"/>
                </a:solidFill>
              </a:rPr>
              <a:t> — Gartner coins the term </a:t>
            </a:r>
            <a:r>
              <a:rPr sz="1800" b="1">
                <a:solidFill>
                  <a:srgbClr val="1F2D3A"/>
                </a:solidFill>
              </a:rPr>
              <a:t>RASP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today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OWASP MASVS-RESILIENCE</a:t>
            </a:r>
            <a:r>
              <a:rPr sz="1800" b="0">
                <a:solidFill>
                  <a:srgbClr val="1F2D3A"/>
                </a:solidFill>
              </a:rPr>
              <a:t> turns this into an auditable 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RASP is not a new idea: it is the name of the corporate answer to the </a:t>
            </a:r>
            <a:r>
              <a:rPr sz="1800" b="1">
                <a:solidFill>
                  <a:srgbClr val="1F2D3A"/>
                </a:solidFill>
              </a:rPr>
              <a:t>MATE attacker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WAF ↔ RASP — Diagram</a:t>
            </a:r>
          </a:p>
        </p:txBody>
      </p:sp>
      <p:pic>
        <p:nvPicPr>
          <p:cNvPr id="7" name="Picture 6" descr="h06-06-waf-ra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55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WAF ↔ RASP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897"/>
                <a:gridCol w="3896976"/>
                <a:gridCol w="411966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 It Stops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Sees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Network firewall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At the network 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Packets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WAF (Web App Firewall)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 front of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application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HTTP requests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Inside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application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Its own code, memory, 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WAF asks "is the incoming request malicious?"; RASP asks "have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 been tampered with?"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Attacker Model: 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MATE (Man-At-The-End):</a:t>
            </a:r>
            <a:r>
              <a:rPr sz="2000" b="0">
                <a:solidFill>
                  <a:srgbClr val="1F2D3A"/>
                </a:solidFill>
              </a:rPr>
              <a:t> an attacker who </a:t>
            </a:r>
            <a:r>
              <a:rPr sz="2000" b="1">
                <a:solidFill>
                  <a:srgbClr val="1F2D3A"/>
                </a:solidFill>
              </a:rPr>
              <a:t>owns the endpoint the application runs on</a:t>
            </a:r>
            <a:r>
              <a:rPr sz="2000" b="0">
                <a:solidFill>
                  <a:srgbClr val="1F2D3A"/>
                </a:solidFill>
              </a:rPr>
              <a:t>. They read memory, modify code, and trace it with a debugger. Identical to the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model from Week 11.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hard truth:</a:t>
            </a:r>
            <a:r>
              <a:rPr sz="2000" b="0">
                <a:solidFill>
                  <a:srgbClr val="1F2D3A"/>
                </a:solidFill>
              </a:rPr>
              <a:t> if the device's owner is the attacker, </a:t>
            </a:r>
            <a:r>
              <a:rPr sz="2000" b="1">
                <a:solidFill>
                  <a:srgbClr val="1F2D3A"/>
                </a:solidFill>
              </a:rPr>
              <a:t>no client-side protection is ultimately unbreakable.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why does RASP exist? The goal is not </a:t>
            </a:r>
            <a:r>
              <a:rPr sz="2000" b="1">
                <a:solidFill>
                  <a:srgbClr val="1F2D3A"/>
                </a:solidFill>
              </a:rPr>
              <a:t>unbreakability</a:t>
            </a:r>
            <a:r>
              <a:rPr sz="2000" b="0">
                <a:solidFill>
                  <a:srgbClr val="1F2D3A"/>
                </a:solidFill>
              </a:rPr>
              <a:t>; it's making the attack </a:t>
            </a:r>
            <a:r>
              <a:rPr sz="2000" b="1">
                <a:solidFill>
                  <a:srgbClr val="1F2D3A"/>
                </a:solidFill>
              </a:rPr>
              <a:t>unscalable and 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Jobs: Detect, Defend, Deter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Detect:</a:t>
            </a:r>
            <a:r>
              <a:rPr sz="2000" b="0">
                <a:solidFill>
                  <a:srgbClr val="1F2D3A"/>
                </a:solidFill>
              </a:rPr>
              <a:t> sense the abnormal environment/behaviour (debugger, emulator, tampering).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Defend:</a:t>
            </a:r>
            <a:r>
              <a:rPr sz="2000" b="0">
                <a:solidFill>
                  <a:srgbClr val="1F2D3A"/>
                </a:solidFill>
              </a:rPr>
              <a:t> if there's a threat, restrict/halt the feature.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Deter:</a:t>
            </a:r>
            <a:r>
              <a:rPr sz="2000" b="0">
                <a:solidFill>
                  <a:srgbClr val="1F2D3A"/>
                </a:solidFill>
              </a:rPr>
              <a:t> make the attack costly → the attacker gives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RASP Loop — Detect → Defend → Deter</a:t>
            </a:r>
          </a:p>
        </p:txBody>
      </p:sp>
      <p:pic>
        <p:nvPicPr>
          <p:cNvPr id="7" name="Picture 6" descr="h06-01-rasp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367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RASP Complete?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protections (Weeks 4–5) apply </a:t>
            </a:r>
            <a:r>
              <a:rPr sz="2000" b="1">
                <a:solidFill>
                  <a:srgbClr val="1F2D3A"/>
                </a:solidFill>
              </a:rPr>
              <a:t>without running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(Weeks 9/11/14) makes </a:t>
            </a:r>
            <a:r>
              <a:rPr sz="2000" b="1">
                <a:solidFill>
                  <a:srgbClr val="1F2D3A"/>
                </a:solidFill>
              </a:rPr>
              <a:t>understanding</a:t>
            </a:r>
            <a:r>
              <a:rPr sz="2000" b="0">
                <a:solidFill>
                  <a:srgbClr val="1F2D3A"/>
                </a:solidFill>
              </a:rPr>
              <a:t> harder.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adds active defence </a:t>
            </a:r>
            <a:r>
              <a:rPr sz="2000" b="1">
                <a:solidFill>
                  <a:srgbClr val="1F2D3A"/>
                </a:solidFill>
              </a:rPr>
              <a:t>while the program runs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hides RASP; RASP protects obfuscation while it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RASP Necessary?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white-box attacker </a:t>
            </a:r>
            <a:r>
              <a:rPr sz="2000" b="1">
                <a:solidFill>
                  <a:srgbClr val="1F2D3A"/>
                </a:solidFill>
              </a:rPr>
              <a:t>runs</a:t>
            </a:r>
            <a:r>
              <a:rPr sz="2000" b="0">
                <a:solidFill>
                  <a:srgbClr val="1F2D3A"/>
                </a:solidFill>
              </a:rPr>
              <a:t> the program and observes it (debugger, Frida).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obfuscation alone does not stop this.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"am I being watched?" and responds.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Main Rule (Up Front)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RASP is not unbreakable on its own; it gains strength from </a:t>
            </a:r>
            <a:r>
              <a:rPr sz="2000" b="1">
                <a:solidFill>
                  <a:srgbClr val="1F2D3A"/>
                </a:solidFill>
              </a:rPr>
              <a:t>layered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varied</a:t>
            </a:r>
            <a:r>
              <a:rPr sz="2000" b="0">
                <a:solidFill>
                  <a:srgbClr val="1F2D3A"/>
                </a:solidFill>
              </a:rPr>
              <a:t>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single "is it rooted?" check is easily bypassed; dozens of different checks together are hard.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RASP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When Does a Check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 startup:</a:t>
            </a:r>
            <a:r>
              <a:rPr sz="2000" b="0">
                <a:solidFill>
                  <a:srgbClr val="1F2D3A"/>
                </a:solidFill>
              </a:rPr>
              <a:t> environment check on launch.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Right before a critical operation:</a:t>
            </a:r>
            <a:r>
              <a:rPr sz="2000" b="0">
                <a:solidFill>
                  <a:srgbClr val="1F2D3A"/>
                </a:solidFill>
              </a:rPr>
              <a:t> immediately before payment/key use.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Periodically:</a:t>
            </a:r>
            <a:r>
              <a:rPr sz="2000" b="0">
                <a:solidFill>
                  <a:srgbClr val="1F2D3A"/>
                </a:solidFill>
              </a:rPr>
              <a:t> regularly, in the background.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Randomly:</a:t>
            </a:r>
            <a:r>
              <a:rPr sz="2000" b="0">
                <a:solidFill>
                  <a:srgbClr val="1F2D3A"/>
                </a:solidFill>
              </a:rPr>
              <a:t> at unpredictable moments (so the attacker can't time it).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a Check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 the native side</a:t>
            </a:r>
            <a:r>
              <a:rPr sz="2000" b="0">
                <a:solidFill>
                  <a:srgbClr val="1F2D3A"/>
                </a:solidFill>
              </a:rPr>
              <a:t> (C/C++): harder to reverse-engineer, preferred.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 the managed side</a:t>
            </a:r>
            <a:r>
              <a:rPr sz="2000" b="0">
                <a:solidFill>
                  <a:srgbClr val="1F2D3A"/>
                </a:solidFill>
              </a:rPr>
              <a:t> (Java): easier to read, but still necessary.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Cross-checking:</a:t>
            </a:r>
            <a:r>
              <a:rPr sz="2000" b="0">
                <a:solidFill>
                  <a:srgbClr val="1F2D3A"/>
                </a:solidFill>
              </a:rPr>
              <a:t> the two sides check each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Cross-Check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Java side checks the native library's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native side checks the Java side's </a:t>
            </a:r>
            <a:r>
              <a:rPr sz="2000" b="1">
                <a:solidFill>
                  <a:srgbClr val="1F2D3A"/>
                </a:solidFill>
              </a:rPr>
              <a:t>integrity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has to bypass </a:t>
            </a:r>
            <a:r>
              <a:rPr sz="2000" b="1">
                <a:solidFill>
                  <a:srgbClr val="1F2D3A"/>
                </a:solidFill>
              </a:rPr>
              <a:t>both at once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Multi-Point Placement and Decoy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Multi-point placement:</a:t>
            </a:r>
            <a:r>
              <a:rPr sz="2000" b="0">
                <a:solidFill>
                  <a:srgbClr val="1F2D3A"/>
                </a:solidFill>
              </a:rPr>
              <a:t> the same check done in </a:t>
            </a:r>
            <a:r>
              <a:rPr sz="2000" b="1">
                <a:solidFill>
                  <a:srgbClr val="1F2D3A"/>
                </a:solidFill>
              </a:rPr>
              <a:t>many places</a:t>
            </a:r>
            <a:r>
              <a:rPr sz="2000" b="0">
                <a:solidFill>
                  <a:srgbClr val="1F2D3A"/>
                </a:solidFill>
              </a:rPr>
              <a:t> in the code, each time in a slightly different form; when one point is patched, the others still run.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Inside the protected function itself:</a:t>
            </a:r>
            <a:r>
              <a:rPr sz="2000" b="0">
                <a:solidFill>
                  <a:srgbClr val="1F2D3A"/>
                </a:solidFill>
              </a:rPr>
              <a:t> a valuable function (e.g., key derivation) performs </a:t>
            </a:r>
            <a:r>
              <a:rPr sz="2000" b="1">
                <a:solidFill>
                  <a:srgbClr val="1F2D3A"/>
                </a:solidFill>
              </a:rPr>
              <a:t>several checks of its own</a:t>
            </a:r>
            <a:r>
              <a:rPr sz="2000" b="0">
                <a:solidFill>
                  <a:srgbClr val="1F2D3A"/>
                </a:solidFill>
              </a:rPr>
              <a:t> at its entry point — in the field this can reach </a:t>
            </a:r>
            <a:r>
              <a:rPr sz="2000" b="1">
                <a:solidFill>
                  <a:srgbClr val="1F2D3A"/>
                </a:solidFill>
              </a:rPr>
              <a:t>close to fifteen</a:t>
            </a:r>
            <a:r>
              <a:rPr sz="2000" b="0">
                <a:solidFill>
                  <a:srgbClr val="1F2D3A"/>
                </a:solidFill>
              </a:rPr>
              <a:t>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Decoy parameters:</a:t>
            </a:r>
            <a:r>
              <a:rPr sz="2000" b="0">
                <a:solidFill>
                  <a:srgbClr val="1F2D3A"/>
                </a:solidFill>
              </a:rPr>
              <a:t> at an entry point, there can be extra parameters, hidden for readability, that trigger an integrity check (Week 4).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a Check Run? (Hidden)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check code is </a:t>
            </a:r>
            <a:r>
              <a:rPr sz="2000" b="1">
                <a:solidFill>
                  <a:srgbClr val="1F2D3A"/>
                </a:solidFill>
              </a:rPr>
              <a:t>obfuscated</a:t>
            </a:r>
            <a:r>
              <a:rPr sz="2000" b="0">
                <a:solidFill>
                  <a:srgbClr val="1F2D3A"/>
                </a:solidFill>
              </a:rPr>
              <a:t> (Week 9): so the attacker can't easily find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</a:t>
            </a:r>
            <a:r>
              <a:rPr sz="2000" b="1">
                <a:solidFill>
                  <a:srgbClr val="1F2D3A"/>
                </a:solidFill>
              </a:rPr>
              <a:t>opaque</a:t>
            </a:r>
            <a:r>
              <a:rPr sz="2000" b="0">
                <a:solidFill>
                  <a:srgbClr val="1F2D3A"/>
                </a:solidFill>
              </a:rPr>
              <a:t> (not plain true/false).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response can be </a:t>
            </a:r>
            <a:r>
              <a:rPr sz="2000" b="1">
                <a:solidFill>
                  <a:srgbClr val="1F2D3A"/>
                </a:solidFill>
              </a:rPr>
              <a:t>delayed</a:t>
            </a:r>
            <a:r>
              <a:rPr sz="2000" b="0">
                <a:solidFill>
                  <a:srgbClr val="1F2D3A"/>
                </a:solidFill>
              </a:rPr>
              <a:t> (more on this shortly).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Weak Design — a Single Decision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(debugger_present() || is_rooted() || integrity_broken())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ERROR;         /* patching this one line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bypasses everything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decrypt_key();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attacker who flips a single comparison bypasses </a:t>
            </a:r>
            <a:r>
              <a:rPr sz="2000" b="1">
                <a:solidFill>
                  <a:srgbClr val="1F2D3A"/>
                </a:solidFill>
              </a:rPr>
              <a:t>the entire protection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Strong Design — Data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check result feeds into </a:t>
            </a:r>
            <a:r>
              <a:rPr sz="2000" b="1">
                <a:solidFill>
                  <a:srgbClr val="1F2D3A"/>
                </a:solidFill>
              </a:rPr>
              <a:t>the data of the next computation</a:t>
            </a:r>
            <a:r>
              <a:rPr sz="2000" b="0">
                <a:solidFill>
                  <a:srgbClr val="1F2D3A"/>
                </a:solidFill>
              </a:rPr>
              <a:t>, not into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results feed into </a:t>
            </a:r>
            <a:r>
              <a:rPr sz="2000" b="1">
                <a:solidFill>
                  <a:srgbClr val="1F2D3A"/>
                </a:solidFill>
              </a:rPr>
              <a:t>key derivation</a:t>
            </a:r>
            <a:r>
              <a:rPr sz="2000" b="0">
                <a:solidFill>
                  <a:srgbClr val="1F2D3A"/>
                </a:solidFill>
              </a:rPr>
              <a:t> (the correct key if clean, a different but plausible-looking key if not).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results are carried with </a:t>
            </a:r>
            <a:r>
              <a:rPr sz="2000" b="1">
                <a:solidFill>
                  <a:srgbClr val="1F2D3A"/>
                </a:solidFill>
              </a:rPr>
              <a:t>opaque values</a:t>
            </a:r>
            <a:r>
              <a:rPr sz="2000" b="0">
                <a:solidFill>
                  <a:srgbClr val="1F2D3A"/>
                </a:solidFill>
              </a:rPr>
              <a:t> (Week 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response happens </a:t>
            </a:r>
            <a:r>
              <a:rPr sz="2000" b="1">
                <a:solidFill>
                  <a:srgbClr val="1F2D3A"/>
                </a:solidFill>
              </a:rPr>
              <a:t>far in time and code</a:t>
            </a:r>
            <a:r>
              <a:rPr sz="2000" b="0">
                <a:solidFill>
                  <a:srgbClr val="1F2D3A"/>
                </a:solidFill>
              </a:rPr>
              <a:t> from the trigger.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Layered Network of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 single check, but </a:t>
            </a:r>
            <a:r>
              <a:rPr sz="2000" b="1">
                <a:solidFill>
                  <a:srgbClr val="1F2D3A"/>
                </a:solidFill>
              </a:rPr>
              <a:t>dozens</a:t>
            </a:r>
            <a:r>
              <a:rPr sz="2000" b="0">
                <a:solidFill>
                  <a:srgbClr val="1F2D3A"/>
                </a:solidFill>
              </a:rPr>
              <a:t> of different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network</a:t>
            </a:r>
            <a:r>
              <a:rPr sz="2000" b="0">
                <a:solidFill>
                  <a:srgbClr val="1F2D3A"/>
                </a:solidFill>
              </a:rPr>
              <a:t> that checks itself (a checker network).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Bypassing one triggers another.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Layers Protect Each Other — Diagram</a:t>
            </a:r>
          </a:p>
        </p:txBody>
      </p:sp>
      <p:pic>
        <p:nvPicPr>
          <p:cNvPr id="7" name="Picture 6" descr="h06-02-katman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79" y="1325880"/>
            <a:ext cx="65807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Architecture · Summary Diagram</a:t>
            </a:r>
          </a:p>
        </p:txBody>
      </p:sp>
      <p:pic>
        <p:nvPicPr>
          <p:cNvPr id="7" name="Picture 6" descr="h06-05-rasp-moto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911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(1–2)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do the check </a:t>
            </a:r>
            <a:r>
              <a:rPr sz="2000" b="1">
                <a:solidFill>
                  <a:srgbClr val="1F2D3A"/>
                </a:solidFill>
              </a:rPr>
              <a:t>in one place, at one moment, with one `if`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Multi-point, cross-checked, hidden, and data-dependent checks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build a RASP architecture.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RASP's three jobs?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cross-checking strong?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a network instead of a single check?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Detect</a:t>
            </a:r>
            <a:r>
              <a:rPr sz="2000" b="0">
                <a:solidFill>
                  <a:srgbClr val="1F2D3A"/>
                </a:solidFill>
              </a:rPr>
              <a:t> (tampering/debugging/emulator), </a:t>
            </a:r>
            <a:r>
              <a:rPr sz="2000" b="1">
                <a:solidFill>
                  <a:srgbClr val="1F2D3A"/>
                </a:solidFill>
              </a:rPr>
              <a:t>Defend</a:t>
            </a:r>
            <a:r>
              <a:rPr sz="2000" b="0">
                <a:solidFill>
                  <a:srgbClr val="1F2D3A"/>
                </a:solidFill>
              </a:rPr>
              <a:t> (protect the key/data, restrict the feature), </a:t>
            </a:r>
            <a:r>
              <a:rPr sz="2000" b="1">
                <a:solidFill>
                  <a:srgbClr val="1F2D3A"/>
                </a:solidFill>
              </a:rPr>
              <a:t>Deter</a:t>
            </a:r>
            <a:r>
              <a:rPr sz="2000" b="0">
                <a:solidFill>
                  <a:srgbClr val="1F2D3A"/>
                </a:solidFill>
              </a:rPr>
              <a:t> (response: shut down/break/notify).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Checks </a:t>
            </a:r>
            <a:r>
              <a:rPr sz="2000" b="1">
                <a:solidFill>
                  <a:srgbClr val="1F2D3A"/>
                </a:solidFill>
              </a:rPr>
              <a:t>watch each other</a:t>
            </a:r>
            <a:r>
              <a:rPr sz="2000" b="0">
                <a:solidFill>
                  <a:srgbClr val="1F2D3A"/>
                </a:solidFill>
              </a:rPr>
              <a:t>; when the attacker disables one, another notices → silencing a single point isn't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single check is bypassed with </a:t>
            </a:r>
            <a:r>
              <a:rPr sz="2000" b="1">
                <a:solidFill>
                  <a:srgbClr val="1F2D3A"/>
                </a:solidFill>
              </a:rPr>
              <a:t>a single patch</a:t>
            </a:r>
            <a:r>
              <a:rPr sz="2000" b="0">
                <a:solidFill>
                  <a:srgbClr val="1F2D3A"/>
                </a:solidFill>
              </a:rPr>
              <a:t>; an overlapping network requires breaking every node separately → it raises </a:t>
            </a:r>
            <a:r>
              <a:rPr sz="2000" b="1">
                <a:solidFill>
                  <a:srgbClr val="1F2D3A"/>
                </a:solidFill>
              </a:rPr>
              <a:t>the cost of the attack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Integrity Checking (Self-Hashing)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computes a digest of </a:t>
            </a:r>
            <a:r>
              <a:rPr sz="2000" b="1">
                <a:solidFill>
                  <a:srgbClr val="1F2D3A"/>
                </a:solidFill>
              </a:rPr>
              <a:t>its own code sections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compares it against the expected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been tampered with, the digest </a:t>
            </a:r>
            <a:r>
              <a:rPr sz="2000" b="1">
                <a:solidFill>
                  <a:srgbClr val="1F2D3A"/>
                </a:solidFill>
              </a:rPr>
              <a:t>won't match</a:t>
            </a:r>
            <a:r>
              <a:rPr sz="2000" b="0">
                <a:solidFill>
                  <a:srgbClr val="1F2D3A"/>
                </a:solidFill>
              </a:rPr>
              <a:t> → response.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It Work?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After compilation, the digest of the critical code blocks is </a:t>
            </a:r>
            <a:r>
              <a:rPr sz="2000" b="1">
                <a:solidFill>
                  <a:srgbClr val="1F2D3A"/>
                </a:solidFill>
              </a:rPr>
              <a:t>recorded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While running, the program </a:t>
            </a:r>
            <a:r>
              <a:rPr sz="2000" b="1">
                <a:solidFill>
                  <a:srgbClr val="1F2D3A"/>
                </a:solidFill>
              </a:rPr>
              <a:t>recomputes</a:t>
            </a:r>
            <a:r>
              <a:rPr sz="2000" b="0">
                <a:solidFill>
                  <a:srgbClr val="1F2D3A"/>
                </a:solidFill>
              </a:rPr>
              <a:t> the digest of the same blocks.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It compares it against the recorded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If there's a difference → tampering → response.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Record the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compilation finishes, the critical code/data region is identified.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region's digest is computed and stored as the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value is the signature of the "untampered" state.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Recompute While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While running</a:t>
            </a:r>
            <a:r>
              <a:rPr sz="2000" b="0">
                <a:solidFill>
                  <a:srgbClr val="1F2D3A"/>
                </a:solidFill>
              </a:rPr>
              <a:t>, the program </a:t>
            </a:r>
            <a:r>
              <a:rPr sz="2000" b="1">
                <a:solidFill>
                  <a:srgbClr val="1F2D3A"/>
                </a:solidFill>
              </a:rPr>
              <a:t>recomputes</a:t>
            </a:r>
            <a:r>
              <a:rPr sz="2000" b="0">
                <a:solidFill>
                  <a:srgbClr val="1F2D3A"/>
                </a:solidFill>
              </a:rPr>
              <a:t> the digest of the same recorded code/data region.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computation happens not at compile time, but at </a:t>
            </a:r>
            <a:r>
              <a:rPr sz="2000" b="1">
                <a:solidFill>
                  <a:srgbClr val="1F2D3A"/>
                </a:solidFill>
              </a:rPr>
              <a:t>runtime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can be done not just once, but </a:t>
            </a:r>
            <a:r>
              <a:rPr sz="2000" b="1">
                <a:solidFill>
                  <a:srgbClr val="1F2D3A"/>
                </a:solidFill>
              </a:rPr>
              <a:t>periodically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newly computed digest is compared against the recorded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comparison must be done in </a:t>
            </a:r>
            <a:r>
              <a:rPr sz="2000" b="1">
                <a:solidFill>
                  <a:srgbClr val="1F2D3A"/>
                </a:solidFill>
              </a:rPr>
              <a:t>constant time</a:t>
            </a:r>
            <a:r>
              <a:rPr sz="2000" b="0">
                <a:solidFill>
                  <a:srgbClr val="1F2D3A"/>
                </a:solidFill>
              </a:rPr>
              <a:t> (not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): a plain comparison stops at the first differing byte and leaks timing (Week 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equal: integrity is </a:t>
            </a:r>
            <a:r>
              <a:rPr sz="2000" b="1">
                <a:solidFill>
                  <a:srgbClr val="1F2D3A"/>
                </a:solidFill>
              </a:rPr>
              <a:t>fine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digest </a:t>
            </a:r>
            <a:r>
              <a:rPr sz="2000" b="1">
                <a:solidFill>
                  <a:srgbClr val="1F2D3A"/>
                </a:solidFill>
              </a:rPr>
              <a:t>doesn't match</a:t>
            </a:r>
            <a:r>
              <a:rPr sz="2000" b="0">
                <a:solidFill>
                  <a:srgbClr val="1F2D3A"/>
                </a:solidFill>
              </a:rPr>
              <a:t> → tampering (a patch) has been detected.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tied not directly to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, but to a </a:t>
            </a:r>
            <a:r>
              <a:rPr sz="2000" b="1">
                <a:solidFill>
                  <a:srgbClr val="1F2D3A"/>
                </a:solidFill>
              </a:rPr>
              <a:t>response</a:t>
            </a:r>
            <a:r>
              <a:rPr sz="2000" b="0">
                <a:solidFill>
                  <a:srgbClr val="1F2D3A"/>
                </a:solidFill>
              </a:rPr>
              <a:t> (Section 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smarter response is preferred over "crash immediately."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Self-Hashing — Diagram</a:t>
            </a:r>
          </a:p>
        </p:txBody>
      </p:sp>
      <p:pic>
        <p:nvPicPr>
          <p:cNvPr id="7" name="Picture 6" descr="h06-03-self-has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95" y="1325880"/>
            <a:ext cx="89273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It Catch?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patch</a:t>
            </a:r>
            <a:r>
              <a:rPr sz="2000" b="0">
                <a:solidFill>
                  <a:srgbClr val="1F2D3A"/>
                </a:solidFill>
              </a:rPr>
              <a:t> applied to the binary file.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Bytes changed to skip a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Injected code.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Runtime Integrity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code/week-06/01-integrity-hmac</a:t>
            </a:r>
            <a:r>
              <a:rPr sz="2000" b="0">
                <a:solidFill>
                  <a:srgbClr val="1F2D3A"/>
                </a:solidFill>
              </a:rPr>
              <a:t> — self-hashing, HMAC-SHA-256.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textbook (Viega &amp; Messier, Recipe 12.2) does this with </a:t>
            </a:r>
            <a:r>
              <a:rPr sz="2000" b="1">
                <a:solidFill>
                  <a:srgbClr val="1F2D3A"/>
                </a:solidFill>
              </a:rPr>
              <a:t>CRC32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CRC32 is not cryptographic</a:t>
            </a:r>
            <a:r>
              <a:rPr sz="2000" b="0">
                <a:solidFill>
                  <a:srgbClr val="1F2D3A"/>
                </a:solidFill>
              </a:rPr>
              <a:t>, an attacker can easily adjust bytes to make the CRC match. We use </a:t>
            </a:r>
            <a:r>
              <a:rPr sz="2000" b="1">
                <a:solidFill>
                  <a:srgbClr val="1F2D3A"/>
                </a:solidFill>
              </a:rPr>
              <a:t>HMAC-SHA-256</a:t>
            </a:r>
            <a:r>
              <a:rPr sz="2000" b="0">
                <a:solidFill>
                  <a:srgbClr val="1F2D3A"/>
                </a:solidFill>
              </a:rPr>
              <a:t> (needs a secret key).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computes its own binary file's digest and records it as the </a:t>
            </a:r>
            <a:r>
              <a:rPr sz="2000" b="1">
                <a:solidFill>
                  <a:srgbClr val="1F2D3A"/>
                </a:solidFill>
              </a:rPr>
              <a:t>golden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copy</a:t>
            </a:r>
            <a:r>
              <a:rPr sz="2000" b="0">
                <a:solidFill>
                  <a:srgbClr val="1F2D3A"/>
                </a:solidFill>
              </a:rPr>
              <a:t> of the binary file is made and one byte in it is changed (a patch simulation); the patched copy's digest is compared against the golden value.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The Core of the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Find own path, read the file, compute HMAC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self_path(path, sizeof(path));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read_file(path, &amp;data, &amp;size);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crypto_hmac_sha256(RASP_KEY, 32, data, size, digest);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constant-time comparison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unsigned char diff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32;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diff |= expected[i] ^ digest[i];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(diff == 0) { /* OK */ } else { /* PATCH */ 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Integrity check (animation)</a:t>
            </a:r>
          </a:p>
        </p:txBody>
      </p:sp>
      <p:pic>
        <p:nvPicPr>
          <p:cNvPr id="7" name="Picture 6" descr="integrity-hma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Integrity check — edge case: first byte patched</a:t>
            </a:r>
          </a:p>
        </p:txBody>
      </p:sp>
      <p:pic>
        <p:nvPicPr>
          <p:cNvPr id="7" name="Picture 6" descr="integrity-hmac--edge-first-by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09" y="1325880"/>
            <a:ext cx="1011587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·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2 - Normal run: integrity verifies OK (no patch)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Expected   : 5aeaf45226dbb29af7...b55115de4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Computed   : 5aeaf45226dbb29af7...b55115de4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INTEGRITY OK - target unchanged.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3 - Attack: 1 byte of the copy is changed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4 - The patched copy's HMAC is compared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Expected   : 5aeaf45226dbb29af7...b55115de4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Computed   : c47c35687dc205b93a...aca0ec8a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PATCH DETECTED - target was modified!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9968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Changing a single byte completely changed the digest (the avalanche effect).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Self-Hashing Alone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find the </a:t>
            </a:r>
            <a:r>
              <a:rPr sz="2000" b="1">
                <a:solidFill>
                  <a:srgbClr val="1F2D3A"/>
                </a:solidFill>
              </a:rPr>
              <a:t>digest function</a:t>
            </a:r>
            <a:r>
              <a:rPr sz="2000" b="0">
                <a:solidFill>
                  <a:srgbClr val="1F2D3A"/>
                </a:solidFill>
              </a:rPr>
              <a:t> and force it to always say "match."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 bypass the check with hardware breakpoints (van Oorschot et al.).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So: hide it, diversify it, cross-check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Strengthening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digest-checking code is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 (Week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Multiple</a:t>
            </a:r>
            <a:r>
              <a:rPr sz="2000" b="0">
                <a:solidFill>
                  <a:srgbClr val="1F2D3A"/>
                </a:solidFill>
              </a:rPr>
              <a:t> blocks, overlapping regions.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not a plain comparison, it </a:t>
            </a:r>
            <a:r>
              <a:rPr sz="2000" b="1">
                <a:solidFill>
                  <a:srgbClr val="1F2D3A"/>
                </a:solidFill>
              </a:rPr>
              <a:t>feeds into a computation</a:t>
            </a:r>
            <a:r>
              <a:rPr sz="2000" b="0">
                <a:solidFill>
                  <a:srgbClr val="1F2D3A"/>
                </a:solidFill>
              </a:rPr>
              <a:t> (the check result affects the program's behaviour).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Overlapping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check also covers another check's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the attacker disables one, the other </a:t>
            </a:r>
            <a:r>
              <a:rPr sz="2000" b="1">
                <a:solidFill>
                  <a:srgbClr val="1F2D3A"/>
                </a:solidFill>
              </a:rPr>
              <a:t>breaks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Bypassing from a single point becomes hard.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Verify the integrity of critical code/data regions at runtime with a </a:t>
            </a:r>
            <a:r>
              <a:rPr sz="2000" b="1">
                <a:solidFill>
                  <a:srgbClr val="1F2D3A"/>
                </a:solidFill>
              </a:rPr>
              <a:t>cryptographic</a:t>
            </a:r>
            <a:r>
              <a:rPr sz="2000" b="0">
                <a:solidFill>
                  <a:srgbClr val="1F2D3A"/>
                </a:solidFill>
              </a:rPr>
              <a:t> digest (HMAC/signature), not CRC.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do the check at a single point and only at startup; make it </a:t>
            </a:r>
            <a:r>
              <a:rPr sz="2000" b="1">
                <a:solidFill>
                  <a:srgbClr val="1F2D3A"/>
                </a:solidFill>
              </a:rPr>
              <a:t>periodic, multiple, and overlapping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Debugger Detection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Anti-Debug Approaches — Diagram</a:t>
            </a:r>
          </a:p>
        </p:txBody>
      </p:sp>
      <p:pic>
        <p:nvPicPr>
          <p:cNvPr id="7" name="Picture 6" descr="h06-07-antide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a Debugger Dangerous?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Debugger:</a:t>
            </a:r>
            <a:r>
              <a:rPr sz="2000" b="0">
                <a:solidFill>
                  <a:srgbClr val="1F2D3A"/>
                </a:solidFill>
              </a:rPr>
              <a:t> a tool that runs a program step by step, halting it and reading its memory (gdb, lldb, x64dbg, WinDbg).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halts</a:t>
            </a:r>
            <a:r>
              <a:rPr sz="2000" b="0">
                <a:solidFill>
                  <a:srgbClr val="1F2D3A"/>
                </a:solidFill>
              </a:rPr>
              <a:t> the program, reads memory, changes values.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bypass checks one by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"is a debugger attached to me?"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Approaches for a Debugger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Asking the operating system for "am I being traced?"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state of specific debugging interfaces.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Timing: if an operation took </a:t>
            </a:r>
            <a:r>
              <a:rPr sz="2000" b="1">
                <a:solidFill>
                  <a:srgbClr val="1F2D3A"/>
                </a:solidFill>
              </a:rPr>
              <a:t>much longer</a:t>
            </a:r>
            <a:r>
              <a:rPr sz="2000" b="0">
                <a:solidFill>
                  <a:srgbClr val="1F2D3A"/>
                </a:solidFill>
              </a:rPr>
              <a:t> than expected, someone may be single-stepping 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Indicators by Platform · What's Outdated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177"/>
                <a:gridCol w="9169357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Linux / WSL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/proc/self/status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TracerPid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(if &gt; 0, we're being traced); is the parent process gdb/strace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IsDebuggerPresent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(PEB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BeingDebugged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CheckRemoteDebuggerPresent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; PEB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NtGlobalFlag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9067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From 2003 to today:</a:t>
            </a:r>
            <a:r>
              <a:rPr sz="2000" b="0">
                <a:solidFill>
                  <a:srgbClr val="1F2D3A"/>
                </a:solidFill>
              </a:rPr>
              <a:t> SoftICE is dead, replaced by x64dbg/WinDbg/gdb/lldb/</a:t>
            </a:r>
            <a:r>
              <a:rPr sz="2000" b="1">
                <a:solidFill>
                  <a:srgbClr val="1F2D3A"/>
                </a:solidFill>
              </a:rPr>
              <a:t>Frida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1">
                <a:solidFill>
                  <a:srgbClr val="1F2D3A"/>
                </a:solidFill>
              </a:rPr>
              <a:t>TracerPid</a:t>
            </a:r>
            <a:r>
              <a:rPr sz="2000" b="0">
                <a:solidFill>
                  <a:srgbClr val="1F2D3A"/>
                </a:solidFill>
              </a:rPr>
              <a:t> is still valid.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Timing-Based Detection</a:t>
            </a:r>
          </a:p>
        </p:txBody>
      </p:sp>
      <p:pic>
        <p:nvPicPr>
          <p:cNvPr id="7" name="Picture 6" descr="h06-08-zaman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867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2231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Debugger single-stepping </a:t>
            </a:r>
            <a:r>
              <a:rPr sz="2000" b="1">
                <a:solidFill>
                  <a:srgbClr val="1F2D3A"/>
                </a:solidFill>
              </a:rPr>
              <a:t>slows down</a:t>
            </a:r>
            <a:r>
              <a:rPr sz="2000" b="0">
                <a:solidFill>
                  <a:srgbClr val="1F2D3A"/>
                </a:solidFill>
              </a:rPr>
              <a:t> the work.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· Debugger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code/week-06/02-debugger-detection</a:t>
            </a:r>
            <a:r>
              <a:rPr sz="2000" b="0">
                <a:solidFill>
                  <a:srgbClr val="1F2D3A"/>
                </a:solidFill>
              </a:rPr>
              <a:t> — anti-debug, read-only.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looks at several independent signals and </a:t>
            </a:r>
            <a:r>
              <a:rPr sz="2000" b="1">
                <a:solidFill>
                  <a:srgbClr val="1F2D3A"/>
                </a:solidFill>
              </a:rPr>
              <a:t>changes nothing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doesn't even self-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; it only </a:t>
            </a:r>
            <a:r>
              <a:rPr sz="2000" b="1">
                <a:solidFill>
                  <a:srgbClr val="1F2D3A"/>
                </a:solidFill>
              </a:rPr>
              <a:t>reads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/proc</a:t>
            </a:r>
            <a:r>
              <a:rPr sz="2000" b="0">
                <a:solidFill>
                  <a:srgbClr val="1F2D3A"/>
                </a:solidFill>
              </a:rPr>
              <a:t> and PEB fields.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demo.sh</a:t>
            </a:r>
            <a:r>
              <a:rPr sz="2000" b="0">
                <a:solidFill>
                  <a:srgbClr val="1F2D3A"/>
                </a:solidFill>
              </a:rPr>
              <a:t> runs the program first normally, then under </a:t>
            </a:r>
            <a:r>
              <a:rPr sz="2000" b="0">
                <a:solidFill>
                  <a:srgbClr val="A1123F"/>
                </a:solidFill>
                <a:latin typeface="Consolas"/>
              </a:rPr>
              <a:t>gdb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Read TracerPid from /proc/self/status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tp = tracer_pid();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(tp &gt; 0) suspicious++;   /* a process is watching us */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Debugger detection (animation)</a:t>
            </a:r>
          </a:p>
        </p:txBody>
      </p:sp>
      <p:pic>
        <p:nvPicPr>
          <p:cNvPr id="7" name="Picture 6" descr="debugger-presen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608" y="1325880"/>
            <a:ext cx="7600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Debugger detection — edge case: gdb attached</a:t>
            </a:r>
          </a:p>
        </p:txBody>
      </p:sp>
      <p:pic>
        <p:nvPicPr>
          <p:cNvPr id="7" name="Picture 6" descr="debugger-presence--gdb-attach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614" y="1325880"/>
            <a:ext cx="697646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· Actual Output (WSL)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1 - Normal run (NO debugger)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/proc/self/status TracerPid : 0 (no tracer)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2) Parent process name         : sh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clean - no tracing tool visible.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2 - Run under gdb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/proc/self/status TracerPid : 41885 (TRACED)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a debugger/tracing TOOL was detected (2 signal(s)).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Without a debugger, TracerPid is </a:t>
            </a:r>
            <a:r>
              <a:rPr sz="2000" b="1">
                <a:solidFill>
                  <a:srgbClr val="1F2D3A"/>
                </a:solidFill>
              </a:rPr>
              <a:t>0</a:t>
            </a:r>
            <a:r>
              <a:rPr sz="2000" b="0">
                <a:solidFill>
                  <a:srgbClr val="1F2D3A"/>
                </a:solidFill>
              </a:rPr>
              <a:t>; under gdb it came out </a:t>
            </a:r>
            <a:r>
              <a:rPr sz="2000" b="1">
                <a:solidFill>
                  <a:srgbClr val="1F2D3A"/>
                </a:solidFill>
              </a:rPr>
              <a:t>41885</a:t>
            </a:r>
            <a:r>
              <a:rPr sz="2000" b="0">
                <a:solidFill>
                  <a:srgbClr val="1F2D3A"/>
                </a:solidFill>
              </a:rPr>
              <a:t> (&gt;0).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Detection–Counter-Detection 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Anti-debug is a classic </a:t>
            </a:r>
            <a:r>
              <a:rPr sz="2000" b="1">
                <a:solidFill>
                  <a:srgbClr val="1F2D3A"/>
                </a:solidFill>
              </a:rPr>
              <a:t>arms race</a:t>
            </a:r>
            <a:r>
              <a:rPr sz="2000" b="0">
                <a:solidFill>
                  <a:srgbClr val="1F2D3A"/>
                </a:solidFill>
              </a:rPr>
              <a:t>: the attacker can 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ptrace</a:t>
            </a:r>
            <a:r>
              <a:rPr sz="2000" b="0">
                <a:solidFill>
                  <a:srgbClr val="1F2D3A"/>
                </a:solidFill>
              </a:rPr>
              <a:t> into a no-op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LD_PRELOAD</a:t>
            </a:r>
            <a:r>
              <a:rPr sz="2000" b="0">
                <a:solidFill>
                  <a:srgbClr val="1F2D3A"/>
                </a:solidFill>
              </a:rPr>
              <a:t>, patch </a:t>
            </a:r>
            <a:r>
              <a:rPr sz="2000" b="0">
                <a:solidFill>
                  <a:srgbClr val="A1123F"/>
                </a:solidFill>
                <a:latin typeface="Consolas"/>
              </a:rPr>
              <a:t>IsDebuggerPresent</a:t>
            </a:r>
            <a:r>
              <a:rPr sz="2000" b="0">
                <a:solidFill>
                  <a:srgbClr val="1F2D3A"/>
                </a:solidFill>
              </a:rPr>
              <a:t>'s return value, or clear the PEB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single method is known and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many</a:t>
            </a:r>
            <a:r>
              <a:rPr sz="2000" b="0">
                <a:solidFill>
                  <a:srgbClr val="1F2D3A"/>
                </a:solidFill>
              </a:rPr>
              <a:t> different methods + obfuscation + diversification.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goal is still </a:t>
            </a:r>
            <a:r>
              <a:rPr sz="2000" b="1">
                <a:solidFill>
                  <a:srgbClr val="1F2D3A"/>
                </a:solidFill>
              </a:rPr>
              <a:t>deterrence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About the Response?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Crashing immediately is not always good (it tells the attacker "there's a check here").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Better: a </a:t>
            </a:r>
            <a:r>
              <a:rPr sz="2000" b="1">
                <a:solidFill>
                  <a:srgbClr val="1F2D3A"/>
                </a:solidFill>
              </a:rPr>
              <a:t>delayed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indirect</a:t>
            </a:r>
            <a:r>
              <a:rPr sz="2000" b="0">
                <a:solidFill>
                  <a:srgbClr val="1F2D3A"/>
                </a:solidFill>
              </a:rPr>
              <a:t> response (Section 10, shortly).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write anti-debug as </a:t>
            </a:r>
            <a:r>
              <a:rPr sz="2000" b="1">
                <a:solidFill>
                  <a:srgbClr val="1F2D3A"/>
                </a:solidFill>
              </a:rPr>
              <a:t>a single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(IsDebuggerPresent()) exit();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Collect multiple independent signals, tie the result to a behaviour,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 the response.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does self-hashing catch?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isn't it enough alone?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How does timing give away a debugger?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Code/binary bytes being changed</a:t>
            </a:r>
            <a:r>
              <a:rPr sz="2000" b="0">
                <a:solidFill>
                  <a:srgbClr val="1F2D3A"/>
                </a:solidFill>
              </a:rPr>
              <a:t> (a patch, breakpoint/code injection) — it computes its own digest at runtime and compares it against the expected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attacker can find/bypass the hash routine or the expected value, or NOP out the comparison; it also only catches a </a:t>
            </a:r>
            <a:r>
              <a:rPr sz="2000" b="1">
                <a:solidFill>
                  <a:srgbClr val="1F2D3A"/>
                </a:solidFill>
              </a:rPr>
              <a:t>static</a:t>
            </a:r>
            <a:r>
              <a:rPr sz="2000" b="0">
                <a:solidFill>
                  <a:srgbClr val="1F2D3A"/>
                </a:solidFill>
              </a:rPr>
              <a:t> change. Overlapping checks are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debugger/breakpoint </a:t>
            </a:r>
            <a:r>
              <a:rPr sz="2000" b="1">
                <a:solidFill>
                  <a:srgbClr val="1F2D3A"/>
                </a:solidFill>
              </a:rPr>
              <a:t>slows down</a:t>
            </a:r>
            <a:r>
              <a:rPr sz="2000" b="0">
                <a:solidFill>
                  <a:srgbClr val="1F2D3A"/>
                </a:solidFill>
              </a:rPr>
              <a:t> the code; if the elapsed time between two points crosses a threshold, debugging is sensed.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Environment Detection: Emulator/VM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Emulator False Positive — Diagram</a:t>
            </a:r>
          </a:p>
        </p:txBody>
      </p:sp>
      <p:pic>
        <p:nvPicPr>
          <p:cNvPr id="7" name="Picture 6" descr="h06-09-e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1" y="1325880"/>
            <a:ext cx="108369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an Emulator?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Emulator/VM:</a:t>
            </a:r>
            <a:r>
              <a:rPr sz="2000" b="0">
                <a:solidFill>
                  <a:srgbClr val="1F2D3A"/>
                </a:solidFill>
              </a:rPr>
              <a:t> a software environment that </a:t>
            </a:r>
            <a:r>
              <a:rPr sz="2000" b="1">
                <a:solidFill>
                  <a:srgbClr val="1F2D3A"/>
                </a:solidFill>
              </a:rPr>
              <a:t>imitates</a:t>
            </a:r>
            <a:r>
              <a:rPr sz="2000" b="0">
                <a:solidFill>
                  <a:srgbClr val="1F2D3A"/>
                </a:solidFill>
              </a:rPr>
              <a:t> a device (an Android emulator, QEMU).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does their analysis </a:t>
            </a:r>
            <a:r>
              <a:rPr sz="2000" b="1">
                <a:solidFill>
                  <a:srgbClr val="1F2D3A"/>
                </a:solidFill>
              </a:rPr>
              <a:t>in an emulator</a:t>
            </a:r>
            <a:r>
              <a:rPr sz="2000" b="0">
                <a:solidFill>
                  <a:srgbClr val="1F2D3A"/>
                </a:solidFill>
              </a:rPr>
              <a:t> instead of a real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Halting, tracing, and resetting is easy in an emulator.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"am I on a real device?"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Clues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Hardware/sensor gaps specific to emulators.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fake identifiers.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absence of features expected on a real device.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Techniques (Concrete)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115"/>
                <a:gridCol w="5240973"/>
                <a:gridCol w="2663445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CPUID hypervisor bit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CPUID.1:ECX[31]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"hypervisor present"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 on bare metal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Hypervisor vendor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CPUID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leaf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0x40000000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12 characters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 hypervisors hide 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Measure an operation; heavy emulation slows it down a lot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Threshold varies by machine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· VM/Emulator and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code/week-06/03-environment-timing</a:t>
            </a:r>
            <a:r>
              <a:rPr sz="2000" b="0">
                <a:solidFill>
                  <a:srgbClr val="1F2D3A"/>
                </a:solidFill>
              </a:rPr>
              <a:t> — only reads a CPU instruction and the clock.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(A) CPUID.1:ECX[31] hypervisor bit    : PRESENT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Hypervisor vendor signature        : "Microsoft Hv"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(B) time for 2,000,000 iterations      : 0.662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a hypervisor was SEEN.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output was captured on a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Windows laptop (Hyper-V).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VM/emulator detection (animation)</a:t>
            </a:r>
          </a:p>
        </p:txBody>
      </p:sp>
      <p:pic>
        <p:nvPicPr>
          <p:cNvPr id="7" name="Picture 6" descr="environment-tim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16" y="1325880"/>
            <a:ext cx="856586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VM/emulator detection — edge case: blank vendor signature</a:t>
            </a:r>
          </a:p>
        </p:txBody>
      </p:sp>
      <p:pic>
        <p:nvPicPr>
          <p:cNvPr id="7" name="Picture 6" descr="environment-timing--edge-blank-vendo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63" y="1325880"/>
            <a:ext cx="92765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Most Important Lesson: False Positives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output above said the hypervisor </a:t>
            </a:r>
            <a:r>
              <a:rPr sz="2000" b="1">
                <a:solidFill>
                  <a:srgbClr val="1F2D3A"/>
                </a:solidFill>
              </a:rPr>
              <a:t>"IS PRESENT"</a:t>
            </a:r>
            <a:r>
              <a:rPr sz="2000" b="0">
                <a:solidFill>
                  <a:srgbClr val="1F2D3A"/>
                </a:solidFill>
              </a:rPr>
              <a:t> AND the vendor signature is </a:t>
            </a:r>
            <a:r>
              <a:rPr sz="2000" b="1">
                <a:solidFill>
                  <a:srgbClr val="1F2D3A"/>
                </a:solidFill>
              </a:rPr>
              <a:t>visible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"Microsoft Hv"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this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an analysis environment — it's an ordinary developer machine!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modern Windows, most machines report a hypervisor because of </a:t>
            </a:r>
            <a:r>
              <a:rPr sz="2000" b="1">
                <a:solidFill>
                  <a:srgbClr val="1F2D3A"/>
                </a:solidFill>
              </a:rPr>
              <a:t>Hyper-V, WSL2, VBS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Cost of a 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bit alone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mean "an attacker is analysing."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an application </a:t>
            </a:r>
            <a:r>
              <a:rPr sz="2000" b="1">
                <a:solidFill>
                  <a:srgbClr val="1F2D3A"/>
                </a:solidFill>
              </a:rPr>
              <a:t>refused</a:t>
            </a:r>
            <a:r>
              <a:rPr sz="2000" b="0">
                <a:solidFill>
                  <a:srgbClr val="1F2D3A"/>
                </a:solidFill>
              </a:rPr>
              <a:t> to run just because it saw a hypervisor, it would block millions of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 users.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Legitimate users: developers, enterprise VM users, ordinary Windows users with WSL2/Hyper-V/VBS.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always </a:t>
            </a:r>
            <a:r>
              <a:rPr sz="2000" b="1">
                <a:solidFill>
                  <a:srgbClr val="1F2D3A"/>
                </a:solidFill>
              </a:rPr>
              <a:t>weighs multiple indicators</a:t>
            </a:r>
            <a:r>
              <a:rPr sz="2000" b="0">
                <a:solidFill>
                  <a:srgbClr val="1F2D3A"/>
                </a:solidFill>
              </a:rPr>
              <a:t> and accepts that any single one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Rule: a Risk Score, Not a Binary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environment detection as a </a:t>
            </a:r>
            <a:r>
              <a:rPr sz="2000" b="1">
                <a:solidFill>
                  <a:srgbClr val="1F2D3A"/>
                </a:solidFill>
              </a:rPr>
              <a:t>risk score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Combine</a:t>
            </a:r>
            <a:r>
              <a:rPr sz="2000" b="0">
                <a:solidFill>
                  <a:srgbClr val="1F2D3A"/>
                </a:solidFill>
              </a:rPr>
              <a:t> multiple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the final decision together with a </a:t>
            </a:r>
            <a:r>
              <a:rPr sz="2000" b="1">
                <a:solidFill>
                  <a:srgbClr val="1F2D3A"/>
                </a:solidFill>
              </a:rPr>
              <a:t>server-side risk engine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Is This Applied in the Field?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the mobile world the equivalent is </a:t>
            </a:r>
            <a:r>
              <a:rPr sz="2000" b="1">
                <a:solidFill>
                  <a:srgbClr val="1F2D3A"/>
                </a:solidFill>
              </a:rPr>
              <a:t>emulator detection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ro.kernel.qemu</a:t>
            </a:r>
            <a:r>
              <a:rPr sz="2000" b="0">
                <a:solidFill>
                  <a:srgbClr val="1F2D3A"/>
                </a:solidFill>
              </a:rPr>
              <a:t>, fake sensors, typical IMEI/serial values.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principle applies: a signal, </a:t>
            </a:r>
            <a:r>
              <a:rPr sz="2000" b="1">
                <a:solidFill>
                  <a:srgbClr val="1F2D3A"/>
                </a:solidFill>
              </a:rPr>
              <a:t>not proof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Combination + server-side verification.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emulator/VM detection, </a:t>
            </a:r>
            <a:r>
              <a:rPr sz="2000" b="1">
                <a:solidFill>
                  <a:srgbClr val="1F2D3A"/>
                </a:solidFill>
              </a:rPr>
              <a:t>a single bit never means "attack."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Use a risk score instead of a harsh response; the result is evaluated together with server-side verification.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Hook and Instrumentation Detection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— From Static to Dynamic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1990s</a:t>
            </a:r>
            <a:r>
              <a:rPr sz="2000" b="0">
                <a:solidFill>
                  <a:srgbClr val="1F2D3A"/>
                </a:solidFill>
              </a:rPr>
              <a:t> — IAT/PLT-GOT hooks: hand-written, target-specific tools.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2000s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LD_PRELOAD</a:t>
            </a:r>
            <a:r>
              <a:rPr sz="2000" b="0">
                <a:solidFill>
                  <a:srgbClr val="1F2D3A"/>
                </a:solidFill>
              </a:rPr>
              <a:t> / DLL injection: general-purpose but </a:t>
            </a:r>
            <a:r>
              <a:rPr sz="2000" b="1">
                <a:solidFill>
                  <a:srgbClr val="1F2D3A"/>
                </a:solidFill>
              </a:rPr>
              <a:t>static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2013–2014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Frida</a:t>
            </a:r>
            <a:r>
              <a:rPr sz="2000" b="0">
                <a:solidFill>
                  <a:srgbClr val="1F2D3A"/>
                </a:solidFill>
              </a:rPr>
              <a:t> emerged: hook code is written </a:t>
            </a:r>
            <a:r>
              <a:rPr sz="2000" b="1">
                <a:solidFill>
                  <a:srgbClr val="1F2D3A"/>
                </a:solidFill>
              </a:rPr>
              <a:t>in JavaScript at runtime</a:t>
            </a:r>
            <a:r>
              <a:rPr sz="2000" b="0">
                <a:solidFill>
                  <a:srgbClr val="1F2D3A"/>
                </a:solidFill>
              </a:rPr>
              <a:t>, no compilation needed.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 Detection — Diagram</a:t>
            </a:r>
          </a:p>
        </p:txBody>
      </p:sp>
      <p:pic>
        <p:nvPicPr>
          <p:cNvPr id="7" name="Picture 6" descr="h06-10-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60" y="1325880"/>
            <a:ext cx="919717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Hook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hooks</a:t>
            </a:r>
            <a:r>
              <a:rPr sz="2000" b="0">
                <a:solidFill>
                  <a:srgbClr val="1F2D3A"/>
                </a:solidFill>
              </a:rPr>
              <a:t> a critical function: intercepts and changes the call.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making the "is the signature valid?" function always return "yes."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Tool: </a:t>
            </a:r>
            <a:r>
              <a:rPr sz="2000" b="1">
                <a:solidFill>
                  <a:srgbClr val="1F2D3A"/>
                </a:solidFill>
              </a:rPr>
              <a:t>Frida</a:t>
            </a:r>
            <a:r>
              <a:rPr sz="2000" b="0">
                <a:solidFill>
                  <a:srgbClr val="1F2D3A"/>
                </a:solidFill>
              </a:rPr>
              <a:t>, Xposed.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Instrumentation:</a:t>
            </a:r>
            <a:r>
              <a:rPr sz="2000" b="0">
                <a:solidFill>
                  <a:srgbClr val="1F2D3A"/>
                </a:solidFill>
              </a:rPr>
              <a:t> injecting code into a running program to observe/change its behaviour; Frida is the most common tool for this.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LD_PRELOAD Hooking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Linux, loading a library before the program to </a:t>
            </a:r>
            <a:r>
              <a:rPr sz="2000" b="1">
                <a:solidFill>
                  <a:srgbClr val="1F2D3A"/>
                </a:solidFill>
              </a:rPr>
              <a:t>replace</a:t>
            </a:r>
            <a:r>
              <a:rPr sz="2000" b="0">
                <a:solidFill>
                  <a:srgbClr val="1F2D3A"/>
                </a:solidFill>
              </a:rPr>
              <a:t> functions.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critical function is replaced with the attacker's version.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the loaded libraries.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Hooking Techniques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878"/>
                <a:gridCol w="5827751"/>
                <a:gridCol w="2231904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LD_PRELOAD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Preloading a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.so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and replacing a 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PLT/GOT hooking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Redirecting a call-table entry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Linux/ELF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Inline hooking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Overwriting the first bytes with a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jmp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Everywhere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Frida / Xposed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Dynamic binary instrumentation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Mobile/desktop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Detection Approaches for a Hook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Unexpected loaded libraries/modules.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Traces of known instrumentation tools (in memory, on ports).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Function addresses </a:t>
            </a:r>
            <a:r>
              <a:rPr sz="2000" b="1">
                <a:solidFill>
                  <a:srgbClr val="1F2D3A"/>
                </a:solidFill>
              </a:rPr>
              <a:t>deviating</a:t>
            </a:r>
            <a:r>
              <a:rPr sz="2000" b="0">
                <a:solidFill>
                  <a:srgbClr val="1F2D3A"/>
                </a:solidFill>
              </a:rPr>
              <a:t> from the expected.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A Weak Approach: getenv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(getenv("LD_PRELOAD") == NULL) printf("temiz\n");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2000" b="0">
                <a:solidFill>
                  <a:srgbClr val="1F2D3A"/>
                </a:solidFill>
              </a:rPr>
              <a:t> itself can also be </a:t>
            </a:r>
            <a:r>
              <a:rPr sz="2000" b="1">
                <a:solidFill>
                  <a:srgbClr val="1F2D3A"/>
                </a:solidFill>
              </a:rPr>
              <a:t>hooked</a:t>
            </a:r>
            <a:r>
              <a:rPr sz="2000" b="0">
                <a:solidFill>
                  <a:srgbClr val="1F2D3A"/>
                </a:solidFill>
              </a:rPr>
              <a:t> to return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. That's why you need to </a:t>
            </a:r>
            <a:r>
              <a:rPr sz="2000" b="1">
                <a:solidFill>
                  <a:srgbClr val="1F2D3A"/>
                </a:solidFill>
              </a:rPr>
              <a:t>verify the source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8759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Resolve</a:t>
            </a:r>
            <a:r>
              <a:rPr sz="2000" b="0">
                <a:solidFill>
                  <a:srgbClr val="1F2D3A"/>
                </a:solidFill>
              </a:rPr>
              <a:t> the critical function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) → 2. find </a:t>
            </a:r>
            <a:r>
              <a:rPr sz="2000" b="1">
                <a:solidFill>
                  <a:srgbClr val="1F2D3A"/>
                </a:solidFill>
              </a:rPr>
              <a:t>which module it comes from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) → 3. check whether it's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 → 4. </a:t>
            </a:r>
            <a:r>
              <a:rPr sz="2000" b="1">
                <a:solidFill>
                  <a:srgbClr val="1F2D3A"/>
                </a:solidFill>
              </a:rPr>
              <a:t>decide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Resolve the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*p = dlsym(RTLD_DEFAULT, "time");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 finds, at runtime, </a:t>
            </a:r>
            <a:r>
              <a:rPr sz="2000" b="1">
                <a:solidFill>
                  <a:srgbClr val="1F2D3A"/>
                </a:solidFill>
              </a:rPr>
              <a:t>which function</a:t>
            </a:r>
            <a:r>
              <a:rPr sz="2000" b="0">
                <a:solidFill>
                  <a:srgbClr val="1F2D3A"/>
                </a:solidFill>
              </a:rPr>
              <a:t> would actually be called.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preloaded hook exists, 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 returns </a:t>
            </a:r>
            <a:r>
              <a:rPr sz="2000" b="1">
                <a:solidFill>
                  <a:srgbClr val="1F2D3A"/>
                </a:solidFill>
              </a:rPr>
              <a:t>that one</a:t>
            </a:r>
            <a:r>
              <a:rPr sz="2000" b="0">
                <a:solidFill>
                  <a:srgbClr val="1F2D3A"/>
                </a:solidFill>
              </a:rPr>
              <a:t> (a manipulated result).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Find the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Dl_info info;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dladdr(p, &amp;info);   /* the .so that provides the function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 tells you </a:t>
            </a:r>
            <a:r>
              <a:rPr sz="2000" b="1">
                <a:solidFill>
                  <a:srgbClr val="1F2D3A"/>
                </a:solidFill>
              </a:rPr>
              <a:t>which shared object (.so)</a:t>
            </a:r>
            <a:r>
              <a:rPr sz="2000" b="0">
                <a:solidFill>
                  <a:srgbClr val="1F2D3A"/>
                </a:solidFill>
              </a:rPr>
              <a:t> an address comes from.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 </a:t>
            </a:r>
            <a:r>
              <a:rPr sz="2000" b="1">
                <a:solidFill>
                  <a:srgbClr val="1F2D3A"/>
                </a:solidFill>
              </a:rPr>
              <a:t>not rely on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2000" b="0">
                <a:solidFill>
                  <a:srgbClr val="1F2D3A"/>
                </a:solidFill>
              </a:rPr>
              <a:t>-style spoofing — it looks directly at the memory address.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Check Whether It's Legitimate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hook = !is_legitimate(info.dli_fname);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expected source is </a:t>
            </a:r>
            <a:r>
              <a:rPr sz="2000" b="1">
                <a:solidFill>
                  <a:srgbClr val="1F2D3A"/>
                </a:solidFill>
              </a:rPr>
              <a:t>libc</a:t>
            </a:r>
            <a:r>
              <a:rPr sz="2000" b="0">
                <a:solidFill>
                  <a:srgbClr val="1F2D3A"/>
                </a:solidFill>
              </a:rPr>
              <a:t>, the </a:t>
            </a:r>
            <a:r>
              <a:rPr sz="2000" b="1">
                <a:solidFill>
                  <a:srgbClr val="1F2D3A"/>
                </a:solidFill>
              </a:rPr>
              <a:t>vDSO</a:t>
            </a:r>
            <a:r>
              <a:rPr sz="2000" b="0">
                <a:solidFill>
                  <a:srgbClr val="1F2D3A"/>
                </a:solidFill>
              </a:rPr>
              <a:t>, or the dynamic loader.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 comes from a foreign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there's a hook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in the list of legitimate sources → the hook flag is raised.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isn't left alone; it's tied to the </a:t>
            </a:r>
            <a:r>
              <a:rPr sz="2000" b="1">
                <a:solidFill>
                  <a:srgbClr val="1F2D3A"/>
                </a:solidFill>
              </a:rPr>
              <a:t>response policy</a:t>
            </a:r>
            <a:r>
              <a:rPr sz="2000" b="0">
                <a:solidFill>
                  <a:srgbClr val="1F2D3A"/>
                </a:solidFill>
              </a:rPr>
              <a:t> (Section 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It's </a:t>
            </a:r>
            <a:r>
              <a:rPr sz="2000" b="1">
                <a:solidFill>
                  <a:srgbClr val="1F2D3A"/>
                </a:solidFill>
              </a:rPr>
              <a:t>repeated</a:t>
            </a:r>
            <a:r>
              <a:rPr sz="2000" b="0">
                <a:solidFill>
                  <a:srgbClr val="1F2D3A"/>
                </a:solidFill>
              </a:rPr>
              <a:t> for multiple functions (a single function isn't enough).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Function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Are the critical function's first bytes what's expected?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hook usually places a </a:t>
            </a:r>
            <a:r>
              <a:rPr sz="2000" b="1">
                <a:solidFill>
                  <a:srgbClr val="1F2D3A"/>
                </a:solidFill>
              </a:rPr>
              <a:t>jump</a:t>
            </a:r>
            <a:r>
              <a:rPr sz="2000" b="0">
                <a:solidFill>
                  <a:srgbClr val="1F2D3A"/>
                </a:solidFill>
              </a:rPr>
              <a:t> at the start → the bytes change.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they've changed → there's a hook.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LD_PRELOAD symbol resolution order (animation)</a:t>
            </a:r>
          </a:p>
        </p:txBody>
      </p:sp>
      <p:pic>
        <p:nvPicPr>
          <p:cNvPr id="7" name="Picture 6" descr="preload-hook-resolu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814" y="1325880"/>
            <a:ext cx="507606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LD_PRELOAD order — edge case: hook right after vDSO</a:t>
            </a:r>
          </a:p>
        </p:txBody>
      </p:sp>
      <p:pic>
        <p:nvPicPr>
          <p:cNvPr id="7" name="Picture 6" descr="preload-hook-resolution--edge-immediately-after-vds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71" y="1325880"/>
            <a:ext cx="5482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· LD_PRELOAD Hooking —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1 - Normal run (no LD_PRELOAD)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     -&gt; linux-vdso.so.1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getenv   -&gt; /lib/x86_64-linux-gnu/libc.so.6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clean - no preload/hook visible.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2 - Attack: the fake hook is loaded ONLY into this process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     -&gt; bin/linux/libfake_hook.so (HOOK!)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time(NULL) returned : 1234567890 (fixed fake value)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function hook / preload DETECTED (2 signal(s)).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clean run, </a:t>
            </a:r>
            <a:r>
              <a:rPr sz="2000" b="0">
                <a:solidFill>
                  <a:srgbClr val="A1123F"/>
                </a:solidFill>
                <a:latin typeface="Consolas"/>
              </a:rPr>
              <a:t>time</a:t>
            </a:r>
            <a:r>
              <a:rPr sz="2000" b="0">
                <a:solidFill>
                  <a:srgbClr val="1F2D3A"/>
                </a:solidFill>
              </a:rPr>
              <a:t> resolved from the kernel's </a:t>
            </a:r>
            <a:r>
              <a:rPr sz="2000" b="1">
                <a:solidFill>
                  <a:srgbClr val="1F2D3A"/>
                </a:solidFill>
              </a:rPr>
              <a:t>vDSO</a:t>
            </a:r>
            <a:r>
              <a:rPr sz="2000" b="0">
                <a:solidFill>
                  <a:srgbClr val="1F2D3A"/>
                </a:solidFill>
              </a:rPr>
              <a:t> — this is </a:t>
            </a:r>
            <a:r>
              <a:rPr sz="2000" b="1">
                <a:solidFill>
                  <a:srgbClr val="1F2D3A"/>
                </a:solidFill>
              </a:rPr>
              <a:t>legitimate</a:t>
            </a:r>
            <a:r>
              <a:rPr sz="2000" b="0">
                <a:solidFill>
                  <a:srgbClr val="1F2D3A"/>
                </a:solidFill>
              </a:rPr>
              <a:t>, not a hook.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Hook Detection Can Also Be Bypassed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Advanced tools hide their traces.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multiple methods + obfuscation + server-side verification.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hook detection, don't trust </a:t>
            </a:r>
            <a:r>
              <a:rPr sz="2000" b="1">
                <a:solidFill>
                  <a:srgbClr val="1F2D3A"/>
                </a:solidFill>
              </a:rPr>
              <a:t>manipulable</a:t>
            </a:r>
            <a:r>
              <a:rPr sz="2000" b="0">
                <a:solidFill>
                  <a:srgbClr val="1F2D3A"/>
                </a:solidFill>
              </a:rPr>
              <a:t> sources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getenv(LD_PRELOAD)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Verify the </a:t>
            </a:r>
            <a:r>
              <a:rPr sz="2000" b="1">
                <a:solidFill>
                  <a:srgbClr val="1F2D3A"/>
                </a:solidFill>
              </a:rPr>
              <a:t>source</a:t>
            </a:r>
            <a:r>
              <a:rPr sz="2000" b="0">
                <a:solidFill>
                  <a:srgbClr val="1F2D3A"/>
                </a:solidFill>
              </a:rPr>
              <a:t> of critical functions (</a:t>
            </a:r>
            <a:r>
              <a:rPr sz="2000" b="0">
                <a:solidFill>
                  <a:srgbClr val="A1123F"/>
                </a:solidFill>
                <a:latin typeface="Consolas"/>
              </a:rPr>
              <a:t>dlsym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A1123F"/>
                </a:solidFill>
                <a:latin typeface="Consolas"/>
              </a:rPr>
              <a:t>dladdr</a:t>
            </a:r>
            <a:r>
              <a:rPr sz="2000" b="0">
                <a:solidFill>
                  <a:srgbClr val="1F2D3A"/>
                </a:solidFill>
              </a:rPr>
              <a:t>); check multiple functions.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Dynamic Memory Protection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— "Only in RAM"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2008</a:t>
            </a:r>
            <a:r>
              <a:rPr sz="2000" b="0">
                <a:solidFill>
                  <a:srgbClr val="1F2D3A"/>
                </a:solidFill>
              </a:rPr>
              <a:t> — Halderman and co-authors, in </a:t>
            </a:r>
            <a:r>
              <a:rPr sz="2000" b="1">
                <a:solidFill>
                  <a:srgbClr val="1F2D3A"/>
                </a:solidFill>
              </a:rPr>
              <a:t>"Cold Boot Attacks,"</a:t>
            </a:r>
            <a:r>
              <a:rPr sz="2000" b="0">
                <a:solidFill>
                  <a:srgbClr val="1F2D3A"/>
                </a:solidFill>
              </a:rPr>
              <a:t> showed DRAM retains its contents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seconds to minutes</a:t>
            </a:r>
            <a:r>
              <a:rPr sz="2000" b="0">
                <a:solidFill>
                  <a:srgbClr val="1F2D3A"/>
                </a:solidFill>
              </a:rPr>
              <a:t> after power loss; they recovered full-disk-encryption keys from memory by cooling a laptop and rebooting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30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</a:t>
            </a:r>
            <a:r>
              <a:rPr sz="2000" b="1">
                <a:solidFill>
                  <a:srgbClr val="1F2D3A"/>
                </a:solidFill>
              </a:rPr>
              <a:t>direct</a:t>
            </a:r>
            <a:r>
              <a:rPr sz="2000" b="0">
                <a:solidFill>
                  <a:srgbClr val="1F2D3A"/>
                </a:solidFill>
              </a:rPr>
              <a:t> motivation for the "short lifetime" and "never leave it in the clear" countermeasures.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Memory Protection Layers — Diagram</a:t>
            </a:r>
          </a:p>
        </p:txBody>
      </p:sp>
      <p:pic>
        <p:nvPicPr>
          <p:cNvPr id="7" name="Picture 6" descr="h06-13-bellek-koruma-katman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501" y="1325880"/>
            <a:ext cx="653069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values (keys, counters) sit in memory.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read/change memory and bypass a check.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the Attacker Do With Memory?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631"/>
                <a:gridCol w="5608732"/>
                <a:gridCol w="3671170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Attack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Dumping process memory, searching for a known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Key, PIN, decrypted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Changing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Changing a counter/flag in 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Logic and checks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Watching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Tools that alert when a value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Discovering where variables live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of these require the attacker to </a:t>
            </a:r>
            <a:r>
              <a:rPr sz="2000" b="1">
                <a:solidFill>
                  <a:srgbClr val="1F2D3A"/>
                </a:solidFill>
              </a:rPr>
              <a:t>access</a:t>
            </a:r>
            <a:r>
              <a:rPr sz="2000" b="0">
                <a:solidFill>
                  <a:srgbClr val="1F2D3A"/>
                </a:solidFill>
              </a:rPr>
              <a:t> process memory (debugger, OS interface, injected library).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Protected Counter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keeping a critical counter in the plain: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keep it together with a </a:t>
            </a:r>
            <a:r>
              <a:rPr sz="2000" b="1">
                <a:solidFill>
                  <a:srgbClr val="1F2D3A"/>
                </a:solidFill>
              </a:rPr>
              <a:t>shadow copy</a:t>
            </a:r>
            <a:r>
              <a:rPr sz="2000" b="0">
                <a:solidFill>
                  <a:srgbClr val="1F2D3A"/>
                </a:solidFill>
              </a:rPr>
              <a:t> + a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check consistency on every read/write.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Protected Value · 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 uint32_t value; uint32_t shadow; uint32_t mac; } Protected;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read: is value == ~shadow, and is mac correct?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attacker changes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value</a:t>
            </a:r>
            <a:r>
              <a:rPr sz="2000" b="0">
                <a:solidFill>
                  <a:srgbClr val="1F2D3A"/>
                </a:solidFill>
              </a:rPr>
              <a:t>, the inconsistency is caught.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Memory-Scanning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there unexpected access to sensitive regions being watched?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Traces of a memory dump/scan.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raise the cost of live memory analysis.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Memory Protection Is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determined attacker can still get access.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, make the key short-lived (Week 10).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(7)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things in memory </a:t>
            </a:r>
            <a:r>
              <a:rPr sz="2000" b="1">
                <a:solidFill>
                  <a:srgbClr val="1F2D3A"/>
                </a:solidFill>
              </a:rPr>
              <a:t>briefly, minimally, and scattered</a:t>
            </a:r>
            <a:r>
              <a:rPr sz="2000" b="0">
                <a:solidFill>
                  <a:srgbClr val="1F2D3A"/>
                </a:solidFill>
              </a:rPr>
              <a:t>; protect a critical value with a </a:t>
            </a:r>
            <a:r>
              <a:rPr sz="2000" b="1">
                <a:solidFill>
                  <a:srgbClr val="1F2D3A"/>
                </a:solidFill>
              </a:rPr>
              <a:t>shadow copy + 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inconsistency must be tied to a response — silently ignoring it defeats the protection.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5–7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there a false-positive risk in emulator detection?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 hook change function bytes?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does a protected counter catch?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5–7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legitimate user may also use a </a:t>
            </a:r>
            <a:r>
              <a:rPr sz="2000" b="1">
                <a:solidFill>
                  <a:srgbClr val="1F2D3A"/>
                </a:solidFill>
              </a:rPr>
              <a:t>VM/emulator/CI</a:t>
            </a:r>
            <a:r>
              <a:rPr sz="2000" b="0">
                <a:solidFill>
                  <a:srgbClr val="1F2D3A"/>
                </a:solidFill>
              </a:rPr>
              <a:t>; weak signals also show up on real devices → the risk of </a:t>
            </a:r>
            <a:r>
              <a:rPr sz="2000" b="1">
                <a:solidFill>
                  <a:srgbClr val="1F2D3A"/>
                </a:solidFill>
              </a:rPr>
              <a:t>blocking the innocent</a:t>
            </a:r>
            <a:r>
              <a:rPr sz="2000" b="0">
                <a:solidFill>
                  <a:srgbClr val="1F2D3A"/>
                </a:solidFill>
              </a:rPr>
              <a:t>. Grade the severity of the response.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hook changes the target's </a:t>
            </a:r>
            <a:r>
              <a:rPr sz="2000" b="1">
                <a:solidFill>
                  <a:srgbClr val="1F2D3A"/>
                </a:solidFill>
              </a:rPr>
              <a:t>first bytes</a:t>
            </a:r>
            <a:r>
              <a:rPr sz="2000" b="0">
                <a:solidFill>
                  <a:srgbClr val="1F2D3A"/>
                </a:solidFill>
              </a:rPr>
              <a:t> with a jump (jmp/trampoline) so the call diverts into the attacker's code → </a:t>
            </a:r>
            <a:r>
              <a:rPr sz="2000" b="1">
                <a:solidFill>
                  <a:srgbClr val="1F2D3A"/>
                </a:solidFill>
              </a:rPr>
              <a:t>prologue bytes</a:t>
            </a:r>
            <a:r>
              <a:rPr sz="2000" b="0">
                <a:solidFill>
                  <a:srgbClr val="1F2D3A"/>
                </a:solidFill>
              </a:rPr>
              <a:t> differ from expected.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 check in the control flow being skipped:</a:t>
            </a:r>
            <a:r>
              <a:rPr sz="2000" b="0">
                <a:solidFill>
                  <a:srgbClr val="1F2D3A"/>
                </a:solidFill>
              </a:rPr>
              <a:t> the counter increases as critical checks run; if it doesn't reach the expected value, a check has been </a:t>
            </a:r>
            <a:r>
              <a:rPr sz="2000" b="1">
                <a:solidFill>
                  <a:srgbClr val="1F2D3A"/>
                </a:solidFill>
              </a:rPr>
              <a:t>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Root Environment and Signature Verification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— Package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Android 1.0 (2008)</a:t>
            </a:r>
            <a:r>
              <a:rPr sz="2000" b="0">
                <a:solidFill>
                  <a:srgbClr val="1F2D3A"/>
                </a:solidFill>
              </a:rPr>
              <a:t> — original APK signing (v1): a modified APK cannot carry the original signature.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Android 7.0 Nougat (2016)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APK Signature Scheme v2</a:t>
            </a:r>
            <a:r>
              <a:rPr sz="2000" b="0">
                <a:solidFill>
                  <a:srgbClr val="1F2D3A"/>
                </a:solidFill>
              </a:rPr>
              <a:t>: signs the whole APK, not file by file.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Android 9 Pie (2018)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v3</a:t>
            </a:r>
            <a:r>
              <a:rPr sz="2000" b="0">
                <a:solidFill>
                  <a:srgbClr val="1F2D3A"/>
                </a:solidFill>
              </a:rPr>
              <a:t> added </a:t>
            </a:r>
            <a:r>
              <a:rPr sz="2000" b="1">
                <a:solidFill>
                  <a:srgbClr val="1F2D3A"/>
                </a:solidFill>
              </a:rPr>
              <a:t>key rotation</a:t>
            </a:r>
            <a:r>
              <a:rPr sz="2000" b="0">
                <a:solidFill>
                  <a:srgbClr val="1F2D3A"/>
                </a:solidFill>
              </a:rPr>
              <a:t> support to the same principle.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Root Indicator to Decision — Diagram</a:t>
            </a:r>
          </a:p>
        </p:txBody>
      </p:sp>
      <p:pic>
        <p:nvPicPr>
          <p:cNvPr id="7" name="Picture 6" descr="h06-14-kok-gosterge-ka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6414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a Rooted Device a Risk?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 = full privilege.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Protections weaken; the attacker gains access to memory, files, the process.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checks "is the device rooted?"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Detection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presence of known root tools/files.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Being able to perform operations that are normally restricted.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System-integrity indicators.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Root Detection Can Be Bypassed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 hiding tools exist.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indicator isn't enough; </a:t>
            </a:r>
            <a:r>
              <a:rPr sz="2000" b="1">
                <a:solidFill>
                  <a:srgbClr val="1F2D3A"/>
                </a:solidFill>
              </a:rPr>
              <a:t>many</a:t>
            </a:r>
            <a:r>
              <a:rPr sz="2000" b="0">
                <a:solidFill>
                  <a:srgbClr val="1F2D3A"/>
                </a:solidFill>
              </a:rPr>
              <a:t> indicators + server-side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Response: restrict the critical feature, not block everything (don't hurt the user).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Component Signature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caller's/loaded component's </a:t>
            </a:r>
            <a:r>
              <a:rPr sz="2000" b="1">
                <a:solidFill>
                  <a:srgbClr val="1F2D3A"/>
                </a:solidFill>
              </a:rPr>
              <a:t>digital signature</a:t>
            </a:r>
            <a:r>
              <a:rPr sz="2000" b="0">
                <a:solidFill>
                  <a:srgbClr val="1F2D3A"/>
                </a:solidFill>
              </a:rPr>
              <a:t> the expected one?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Catch it if a fake/modified application is calling the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only the main application with the expected signature can use the SDK.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+ Digest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Signature: </a:t>
            </a:r>
            <a:r>
              <a:rPr sz="2000" b="1">
                <a:solidFill>
                  <a:srgbClr val="1F2D3A"/>
                </a:solidFill>
              </a:rPr>
              <a:t>who</a:t>
            </a:r>
            <a:r>
              <a:rPr sz="2000" b="0">
                <a:solidFill>
                  <a:srgbClr val="1F2D3A"/>
                </a:solidFill>
              </a:rPr>
              <a:t> published the component?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Digest: </a:t>
            </a:r>
            <a:r>
              <a:rPr sz="2000" b="1">
                <a:solidFill>
                  <a:srgbClr val="1F2D3A"/>
                </a:solidFill>
              </a:rPr>
              <a:t>has</a:t>
            </a:r>
            <a:r>
              <a:rPr sz="2000" b="0">
                <a:solidFill>
                  <a:srgbClr val="1F2D3A"/>
                </a:solidFill>
              </a:rPr>
              <a:t> the component changed?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Together they make forgery harder.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Root/Privilege Indicator Scan (animation)</a:t>
            </a:r>
          </a:p>
        </p:txBody>
      </p:sp>
      <p:pic>
        <p:nvPicPr>
          <p:cNvPr id="7" name="Picture 6" descr="root-indicator-sca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43" y="1325880"/>
            <a:ext cx="50700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Indicator — edge case: multiple marks + elevated</a:t>
            </a:r>
          </a:p>
        </p:txBody>
      </p:sp>
      <p:pic>
        <p:nvPicPr>
          <p:cNvPr id="7" name="Picture 6" descr="root-indicator-scan--edge-multiple-mark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43" y="1325880"/>
            <a:ext cx="50700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Component Signature Verification (animation)</a:t>
            </a:r>
          </a:p>
        </p:txBody>
      </p:sp>
      <p:pic>
        <p:nvPicPr>
          <p:cNvPr id="7" name="Picture 6" descr="component-signatu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77" y="1325880"/>
            <a:ext cx="1038794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Component Signature — edge case: truncated module</a:t>
            </a:r>
          </a:p>
        </p:txBody>
      </p:sp>
      <p:pic>
        <p:nvPicPr>
          <p:cNvPr id="7" name="Picture 6" descr="component-signature--edge-trunca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77" y="1325880"/>
            <a:ext cx="1038794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6 and 7 · Actual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Demo 7 (root/privilege indicator)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Privilege level : normal user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[FOUND] output\fake_su (extra indicator)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an elevated/risky environment INDICATOR is present.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Demo 6 (component signature)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Module signature DID NOT HOLD -&gt; REPACKAGED.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Loading REJECTED.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demos work by </a:t>
            </a:r>
            <a:r>
              <a:rPr sz="2000" b="1">
                <a:solidFill>
                  <a:srgbClr val="1F2D3A"/>
                </a:solidFill>
              </a:rPr>
              <a:t>only reading/verifying</a:t>
            </a:r>
            <a:r>
              <a:rPr sz="2000" b="0">
                <a:solidFill>
                  <a:srgbClr val="1F2D3A"/>
                </a:solidFill>
              </a:rPr>
              <a:t>; they don't change the system.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Root/privilege indicators are </a:t>
            </a:r>
            <a:r>
              <a:rPr sz="2000" b="1">
                <a:solidFill>
                  <a:srgbClr val="1F2D3A"/>
                </a:solidFill>
              </a:rPr>
              <a:t>a signal, not proof</a:t>
            </a:r>
            <a:r>
              <a:rPr sz="2000" b="0">
                <a:solidFill>
                  <a:srgbClr val="1F2D3A"/>
                </a:solidFill>
              </a:rPr>
              <a:t> — they're easily spoofed.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Cryptographically verify every dynamically loaded component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loading it; set up mutual verification where possible.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Control-Flow Integrity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— From Tamper-Resistance to CFI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1996</a:t>
            </a:r>
            <a:r>
              <a:rPr sz="2000" b="0">
                <a:solidFill>
                  <a:srgbClr val="1F2D3A"/>
                </a:solidFill>
              </a:rPr>
              <a:t> — Aucsmith: distributed integrity checks that </a:t>
            </a:r>
            <a:r>
              <a:rPr sz="2000" b="1">
                <a:solidFill>
                  <a:srgbClr val="1F2D3A"/>
                </a:solidFill>
              </a:rPr>
              <a:t>cross-check</a:t>
            </a:r>
            <a:r>
              <a:rPr sz="2000" b="0">
                <a:solidFill>
                  <a:srgbClr val="1F2D3A"/>
                </a:solidFill>
              </a:rPr>
              <a:t> each other.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2001</a:t>
            </a:r>
            <a:r>
              <a:rPr sz="2000" b="0">
                <a:solidFill>
                  <a:srgbClr val="1F2D3A"/>
                </a:solidFill>
              </a:rPr>
              <a:t> — the Collberg/Thomborson taxonomy; Chang/Atallah's </a:t>
            </a:r>
            <a:r>
              <a:rPr sz="2000" b="1">
                <a:solidFill>
                  <a:srgbClr val="1F2D3A"/>
                </a:solidFill>
              </a:rPr>
              <a:t>"guard"</a:t>
            </a:r>
            <a:r>
              <a:rPr sz="2000" b="0">
                <a:solidFill>
                  <a:srgbClr val="1F2D3A"/>
                </a:solidFill>
              </a:rPr>
              <a:t> idea — multiple checkers.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2005</a:t>
            </a:r>
            <a:r>
              <a:rPr sz="2000" b="0">
                <a:solidFill>
                  <a:srgbClr val="1F2D3A"/>
                </a:solidFill>
              </a:rPr>
              <a:t> — Abadi, Budiu, Erlingsson, Ligatti formally defined </a:t>
            </a:r>
            <a:r>
              <a:rPr sz="2000" b="1">
                <a:solidFill>
                  <a:srgbClr val="1F2D3A"/>
                </a:solidFill>
              </a:rPr>
              <a:t>Control-Flow Integrity (CFI)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Isn't a Single </a:t>
            </a:r>
            <a:r>
              <a:rPr sz="3000" b="1">
                <a:solidFill>
                  <a:srgbClr val="006D77"/>
                </a:solidFill>
                <a:latin typeface="Consolas"/>
              </a:rPr>
              <a:t>if</a:t>
            </a:r>
            <a:r>
              <a:rPr sz="3000" b="1">
                <a:solidFill>
                  <a:srgbClr val="006D77"/>
                </a:solidFill>
              </a:rPr>
              <a:t> Enough?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(signature_valid()) proceed();   /* single point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</a:t>
            </a:r>
            <a:r>
              <a:rPr sz="2000" b="1">
                <a:solidFill>
                  <a:srgbClr val="1F2D3A"/>
                </a:solidFill>
              </a:rPr>
              <a:t>patches</a:t>
            </a:r>
            <a:r>
              <a:rPr sz="2000" b="0">
                <a:solidFill>
                  <a:srgbClr val="1F2D3A"/>
                </a:solidFill>
              </a:rPr>
              <a:t> this single branch → the check is skipped.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9's opaque boolean + randomised exit is critical here.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Critical checks must pass in the correct </a:t>
            </a:r>
            <a:r>
              <a:rPr sz="2000" b="1">
                <a:solidFill>
                  <a:srgbClr val="1F2D3A"/>
                </a:solidFill>
              </a:rPr>
              <a:t>order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check updates a </a:t>
            </a:r>
            <a:r>
              <a:rPr sz="2000" b="1">
                <a:solidFill>
                  <a:srgbClr val="1F2D3A"/>
                </a:solidFill>
              </a:rPr>
              <a:t>counter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counter isn't the expected value at the end → one was skipped.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 — Diagram</a:t>
            </a:r>
          </a:p>
        </p:txBody>
      </p:sp>
      <p:pic>
        <p:nvPicPr>
          <p:cNvPr id="7" name="Picture 6" descr="h06-04-akis-say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573" y="1325880"/>
            <a:ext cx="931654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Dual 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  <a:r>
              <a:rPr sz="2000" b="0">
                <a:solidFill>
                  <a:srgbClr val="1F2D3A"/>
                </a:solidFill>
              </a:rPr>
              <a:t> (how many checkpoints ran) + </a:t>
            </a:r>
            <a:r>
              <a:rPr sz="2000" b="0">
                <a:solidFill>
                  <a:srgbClr val="A1123F"/>
                </a:solidFill>
                <a:latin typeface="Consolas"/>
              </a:rPr>
              <a:t>visited_mask</a:t>
            </a:r>
            <a:r>
              <a:rPr sz="2000" b="0">
                <a:solidFill>
                  <a:srgbClr val="1F2D3A"/>
                </a:solidFill>
              </a:rPr>
              <a:t> (which checkpoints ran, a bit set).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are </a:t>
            </a:r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from the HMAC chain and give a readable diagnostic — but neither decides alone.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the attacker patches these, the real key still comes only from the </a:t>
            </a:r>
            <a:r>
              <a:rPr sz="2000" b="1">
                <a:solidFill>
                  <a:srgbClr val="1F2D3A"/>
                </a:solidFill>
              </a:rPr>
              <a:t>HMAC chain</a:t>
            </a:r>
            <a:r>
              <a:rPr sz="2000" b="0">
                <a:solidFill>
                  <a:srgbClr val="1F2D3A"/>
                </a:solidFill>
              </a:rPr>
              <a:t> (Demo 5).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Tie the Result to a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check result is not 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feeds into </a:t>
            </a:r>
            <a:r>
              <a:rPr sz="2000" b="1">
                <a:solidFill>
                  <a:srgbClr val="1F2D3A"/>
                </a:solidFill>
              </a:rPr>
              <a:t>the computation</a:t>
            </a:r>
            <a:r>
              <a:rPr sz="2000" b="0">
                <a:solidFill>
                  <a:srgbClr val="1F2D3A"/>
                </a:solidFill>
              </a:rPr>
              <a:t> of the next step (e.g., a key derivation).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skipped, the program behaves </a:t>
            </a:r>
            <a:r>
              <a:rPr sz="2000" b="1">
                <a:solidFill>
                  <a:srgbClr val="1F2D3A"/>
                </a:solidFill>
              </a:rPr>
              <a:t>incorrectly</a:t>
            </a:r>
            <a:r>
              <a:rPr sz="2000" b="0">
                <a:solidFill>
                  <a:srgbClr val="1F2D3A"/>
                </a:solidFill>
              </a:rPr>
              <a:t> (breaks silently).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 (animation)</a:t>
            </a:r>
          </a:p>
        </p:txBody>
      </p:sp>
      <p:pic>
        <p:nvPicPr>
          <p:cNvPr id="7" name="Picture 6" descr="flow-count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00203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Counter — edge case: wrong order</a:t>
            </a:r>
          </a:p>
        </p:txBody>
      </p:sp>
      <p:pic>
        <p:nvPicPr>
          <p:cNvPr id="7" name="Picture 6" descr="flow-counter--edge-reorder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64614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5 · Skip Attack — Actual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1 - normal: every checkpoint runs in order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PAYMENT APPROVED -&gt; "PAYMENT-APPROVAL-TOKEN-4242"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2 - skip: the checks are SKIPPED entirely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(warning: count=0 visited_mask=0x0 expected=3/0x7)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PAYMENT DENIED (wrong chain key). a decoy is returned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4 - reorder: the checks run in the WRONG ORDER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PAYMENT DENIED (wrong chain key). a decoy is returned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checks are skipped or their order is broken, the chain comes out different; the </a:t>
            </a:r>
            <a:r>
              <a:rPr sz="2000" b="1">
                <a:solidFill>
                  <a:srgbClr val="1F2D3A"/>
                </a:solidFill>
              </a:rPr>
              <a:t>real result couldn't be produced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(9)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tie critical decisions to </a:t>
            </a:r>
            <a:r>
              <a:rPr sz="2000" b="1">
                <a:solidFill>
                  <a:srgbClr val="1F2D3A"/>
                </a:solidFill>
              </a:rPr>
              <a:t>a single boolean</a:t>
            </a:r>
            <a:r>
              <a:rPr sz="2000" b="0">
                <a:solidFill>
                  <a:srgbClr val="1F2D3A"/>
                </a:solidFill>
              </a:rPr>
              <a:t> (it gets patched).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Tie security checks to a </a:t>
            </a:r>
            <a:r>
              <a:rPr sz="2000" b="1">
                <a:solidFill>
                  <a:srgbClr val="1F2D3A"/>
                </a:solidFill>
              </a:rPr>
              <a:t>control-flow counter</a:t>
            </a:r>
            <a:r>
              <a:rPr sz="2000" b="0">
                <a:solidFill>
                  <a:srgbClr val="1F2D3A"/>
                </a:solidFill>
              </a:rPr>
              <a:t> and, where possible, to a </a:t>
            </a:r>
            <a:r>
              <a:rPr sz="2000" b="1">
                <a:solidFill>
                  <a:srgbClr val="1F2D3A"/>
                </a:solidFill>
              </a:rPr>
              <a:t>data dependency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Response Policy and Deterrence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"Crash Immediately" Bad?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Response policy:</a:t>
            </a:r>
            <a:r>
              <a:rPr sz="2000" b="0">
                <a:solidFill>
                  <a:srgbClr val="1F2D3A"/>
                </a:solidFill>
              </a:rPr>
              <a:t> deciding </a:t>
            </a:r>
            <a:r>
              <a:rPr sz="2000" b="1">
                <a:solidFill>
                  <a:srgbClr val="1F2D3A"/>
                </a:solidFill>
              </a:rPr>
              <a:t>what RASP does</a:t>
            </a:r>
            <a:r>
              <a:rPr sz="2000" b="0">
                <a:solidFill>
                  <a:srgbClr val="1F2D3A"/>
                </a:solidFill>
              </a:rPr>
              <a:t> once it sees a threat.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tells the attacker "the check is exactly here."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makes finding and bypassing the check easier.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Smarter responses are needed.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Examples of Good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Delayed:</a:t>
            </a:r>
            <a:r>
              <a:rPr sz="2000" b="0">
                <a:solidFill>
                  <a:srgbClr val="1F2D3A"/>
                </a:solidFill>
              </a:rPr>
              <a:t> trigger the response later, somewhere else (hide the source).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Indirect:</a:t>
            </a:r>
            <a:r>
              <a:rPr sz="2000" b="0">
                <a:solidFill>
                  <a:srgbClr val="1F2D3A"/>
                </a:solidFill>
              </a:rPr>
              <a:t> silently break the feature (produce a wrong result).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Notify the server:</a:t>
            </a:r>
            <a:r>
              <a:rPr sz="2000" b="0">
                <a:solidFill>
                  <a:srgbClr val="1F2D3A"/>
                </a:solidFill>
              </a:rPr>
              <a:t> raise the risk score, reject the operation server-side.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Response Strategies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8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7638074"/>
              </a:tblGrid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Reject the operation when in doubt, don't fall back to a trusting default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Erase the secret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Securely erase the valuable data the instant tampering is found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Decoy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 a random/fake result instead of crashing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Delayed/implicit response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Separate the response from the trigger, in time/distance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Device/version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Bind the secret to the device/version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6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Telemetry/attestation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Report the event to the server; let the server's risk engine decide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Designing the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break the user experience (false-positive risk).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harsh response only on a </a:t>
            </a:r>
            <a:r>
              <a:rPr sz="2000" b="1">
                <a:solidFill>
                  <a:srgbClr val="1F2D3A"/>
                </a:solidFill>
              </a:rPr>
              <a:t>high-confidence</a:t>
            </a:r>
            <a:r>
              <a:rPr sz="2000" b="0">
                <a:solidFill>
                  <a:srgbClr val="1F2D3A"/>
                </a:solidFill>
              </a:rPr>
              <a:t> indicator.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most cases: restrict + server-side verification.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Detect → Decide → Respond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Demo 8 (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code/week-06/08-tamper-response</a:t>
            </a:r>
            <a:r>
              <a:rPr sz="2000" b="0">
                <a:solidFill>
                  <a:srgbClr val="1F2D3A"/>
                </a:solidFill>
              </a:rPr>
              <a:t>) combines this loop into a single </a:t>
            </a:r>
            <a:r>
              <a:rPr sz="2000" b="1">
                <a:solidFill>
                  <a:srgbClr val="1F2D3A"/>
                </a:solidFill>
              </a:rPr>
              <a:t>self-protection engine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8795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series of checks </a:t>
            </a:r>
            <a:r>
              <a:rPr sz="2000" b="1">
                <a:solidFill>
                  <a:srgbClr val="1F2D3A"/>
                </a:solidFill>
              </a:rPr>
              <a:t>run</a:t>
            </a:r>
            <a:r>
              <a:rPr sz="2000" b="0">
                <a:solidFill>
                  <a:srgbClr val="1F2D3A"/>
                </a:solidFill>
              </a:rPr>
              <a:t> (integrity, anti-debug, environment...).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secret is </a:t>
            </a:r>
            <a:r>
              <a:rPr sz="2000" b="1">
                <a:solidFill>
                  <a:srgbClr val="1F2D3A"/>
                </a:solidFill>
              </a:rPr>
              <a:t>wrapped</a:t>
            </a:r>
            <a:r>
              <a:rPr sz="2000" b="0">
                <a:solidFill>
                  <a:srgbClr val="1F2D3A"/>
                </a:solidFill>
              </a:rPr>
              <a:t> with a device-bound key (HKDF + AES-GCM).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number of failed checks (and whether the device matches) is turned into a four-state </a:t>
            </a:r>
            <a:r>
              <a:rPr sz="2000" b="1">
                <a:solidFill>
                  <a:srgbClr val="1F2D3A"/>
                </a:solidFill>
              </a:rPr>
              <a:t>response policy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NORMAL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WARN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DEGRADE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LOCK</a:t>
            </a:r>
            <a:r>
              <a:rPr sz="2000" b="0">
                <a:solidFill>
                  <a:srgbClr val="1F2D3A"/>
                </a:solidFill>
              </a:rPr>
              <a:t>) — not a binary clean/tamper decision.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 Pipeline: Detect → Decide → Respond (animation)</a:t>
            </a:r>
          </a:p>
        </p:txBody>
      </p:sp>
      <p:pic>
        <p:nvPicPr>
          <p:cNvPr id="7" name="Picture 6" descr="rasp-pipeli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203" y="1325880"/>
            <a:ext cx="732528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 Pipeline — edge case: device mismatch despite passing checks</a:t>
            </a:r>
          </a:p>
        </p:txBody>
      </p:sp>
      <p:pic>
        <p:nvPicPr>
          <p:cNvPr id="7" name="Picture 6" descr="rasp-pipeline--edge-device-mismatch-all-pas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203" y="1325880"/>
            <a:ext cx="732528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A · Detect (Scenario 1 — Normal)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1 - normal: 0 failed checks, device matches -&gt; NORMAL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NORMAL. The secret opened and is in use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-&gt; "PAYMENT-KEY-7C4A"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(the secret was safely wiped from memory after 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Checks </a:t>
            </a:r>
            <a:r>
              <a:rPr sz="2000" b="1">
                <a:solidFill>
                  <a:srgbClr val="1F2D3A"/>
                </a:solidFill>
              </a:rPr>
              <a:t>passed</a:t>
            </a:r>
            <a:r>
              <a:rPr sz="2000" b="0">
                <a:solidFill>
                  <a:srgbClr val="1F2D3A"/>
                </a:solidFill>
              </a:rPr>
              <a:t>, the device was correct → the secret was opened, used, and immediately </a:t>
            </a:r>
            <a:r>
              <a:rPr sz="2000" b="1">
                <a:solidFill>
                  <a:srgbClr val="1F2D3A"/>
                </a:solidFill>
              </a:rPr>
              <a:t>erased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B · Decide (Scenario: warn/degrade)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2 - warn: 1 failed check -&gt; WARN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WARN. One weak signal is not worth degrading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service over. The secret still opened.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3 - degrade: 2 failed checks -&gt; DEGRADE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DEGRADE. Multiple signals -&gt; full trust withdrawn.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RESULT-VALUE: PAYM**** (redacted)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check failed → the engine </a:t>
            </a:r>
            <a:r>
              <a:rPr sz="2000" b="1">
                <a:solidFill>
                  <a:srgbClr val="1F2D3A"/>
                </a:solidFill>
              </a:rPr>
              <a:t>still</a:t>
            </a:r>
            <a:r>
              <a:rPr sz="2000" b="0">
                <a:solidFill>
                  <a:srgbClr val="1F2D3A"/>
                </a:solidFill>
              </a:rPr>
              <a:t> opened the secret, just logged it (</a:t>
            </a:r>
            <a:r>
              <a:rPr sz="2000" b="0">
                <a:solidFill>
                  <a:srgbClr val="A1123F"/>
                </a:solidFill>
                <a:latin typeface="Consolas"/>
              </a:rPr>
              <a:t>WARN</a:t>
            </a:r>
            <a:r>
              <a:rPr sz="2000" b="0">
                <a:solidFill>
                  <a:srgbClr val="1F2D3A"/>
                </a:solidFill>
              </a:rPr>
              <a:t>). Two checks failed → the secret was erased, a </a:t>
            </a:r>
            <a:r>
              <a:rPr sz="2000" b="1">
                <a:solidFill>
                  <a:srgbClr val="1F2D3A"/>
                </a:solidFill>
              </a:rPr>
              <a:t>redacted</a:t>
            </a:r>
            <a:r>
              <a:rPr sz="2000" b="0">
                <a:solidFill>
                  <a:srgbClr val="1F2D3A"/>
                </a:solidFill>
              </a:rPr>
              <a:t> result came back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DEGRADE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C · Respond (Scenario: lock / a different device)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4 - lock: 3 failed checks -&gt; LOCK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LOCK -&gt; detection checks failed (tamper)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SCENARIO 5 - other-device: checks pass, device 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does not hold -&gt; LOCK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LOCK -&gt; device/version binding failed (cloned?)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Even though</a:t>
            </a:r>
            <a:r>
              <a:rPr sz="2000" b="0">
                <a:solidFill>
                  <a:srgbClr val="1F2D3A"/>
                </a:solidFill>
              </a:rPr>
              <a:t> checks passed, the device-bound key didn't match → the secret </a:t>
            </a:r>
            <a:r>
              <a:rPr sz="2000" b="1">
                <a:solidFill>
                  <a:srgbClr val="1F2D3A"/>
                </a:solidFill>
              </a:rPr>
              <a:t>couldn't be opened</a:t>
            </a:r>
            <a:r>
              <a:rPr sz="2000" b="0">
                <a:solidFill>
                  <a:srgbClr val="1F2D3A"/>
                </a:solidFill>
              </a:rPr>
              <a:t>; three failed checks lead to the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LOCK</a:t>
            </a:r>
            <a:r>
              <a:rPr sz="2000" b="0">
                <a:solidFill>
                  <a:srgbClr val="1F2D3A"/>
                </a:solidFill>
              </a:rPr>
              <a:t> state. This is the innermost layer of Week 3's security shell.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Response Policy State Machine (animation)</a:t>
            </a:r>
          </a:p>
        </p:txBody>
      </p:sp>
      <p:pic>
        <p:nvPicPr>
          <p:cNvPr id="7" name="Picture 6" descr="tamper-response-polic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36262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State Machine — edge case: always LOCK</a:t>
            </a:r>
          </a:p>
        </p:txBody>
      </p:sp>
      <p:pic>
        <p:nvPicPr>
          <p:cNvPr id="7" name="Picture 6" descr="tamper-response-policy--edge-all-device-mismat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3626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Device Binding — Diagram</a:t>
            </a:r>
          </a:p>
        </p:txBody>
      </p:sp>
      <p:pic>
        <p:nvPicPr>
          <p:cNvPr id="7" name="Picture 6" descr="h06-12-cihaz-bag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84066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Device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key/data is meaningful only on a </a:t>
            </a:r>
            <a:r>
              <a:rPr sz="2000" b="1">
                <a:solidFill>
                  <a:srgbClr val="1F2D3A"/>
                </a:solidFill>
              </a:rPr>
              <a:t>specific device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copied (to another device), it's useless.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defence against code lifting (Weeks 9/11).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Device-Binding Flow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1 — read the fingerprint:</a:t>
            </a:r>
            <a:r>
              <a:rPr sz="2000" b="0">
                <a:solidFill>
                  <a:srgbClr val="1F2D3A"/>
                </a:solidFill>
              </a:rPr>
              <a:t> the device's hardware/OS fingerprint is read (Week 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2 — derive a key:</a:t>
            </a:r>
            <a:r>
              <a:rPr sz="2000" b="0">
                <a:solidFill>
                  <a:srgbClr val="1F2D3A"/>
                </a:solidFill>
              </a:rPr>
              <a:t> a key is derived from the fingerprint + version string with </a:t>
            </a:r>
            <a:r>
              <a:rPr sz="2000" b="1">
                <a:solidFill>
                  <a:srgbClr val="1F2D3A"/>
                </a:solidFill>
              </a:rPr>
              <a:t>HKDF</a:t>
            </a:r>
            <a:r>
              <a:rPr sz="2000" b="0">
                <a:solidFill>
                  <a:srgbClr val="1F2D3A"/>
                </a:solidFill>
              </a:rPr>
              <a:t>; the secret is wrapped with this key using </a:t>
            </a:r>
            <a:r>
              <a:rPr sz="2000" b="1">
                <a:solidFill>
                  <a:srgbClr val="1F2D3A"/>
                </a:solidFill>
              </a:rPr>
              <a:t>AES-GCM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Step 3 — if moved, try to open:</a:t>
            </a:r>
            <a:r>
              <a:rPr sz="2000" b="0">
                <a:solidFill>
                  <a:srgbClr val="1F2D3A"/>
                </a:solidFill>
              </a:rPr>
              <a:t> even if the file is copied to another device, that device's fingerprint is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, so the derived key won't match → the secret </a:t>
            </a:r>
            <a:r>
              <a:rPr sz="2000" b="1">
                <a:solidFill>
                  <a:srgbClr val="1F2D3A"/>
                </a:solidFill>
              </a:rPr>
              <a:t>cannot be opened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Deterrence · the Ultimate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RASP does not make the attack </a:t>
            </a:r>
            <a:r>
              <a:rPr sz="2000" b="1">
                <a:solidFill>
                  <a:srgbClr val="1F2D3A"/>
                </a:solidFill>
              </a:rPr>
              <a:t>impossible</a:t>
            </a:r>
            <a:r>
              <a:rPr sz="2000" b="0">
                <a:solidFill>
                  <a:srgbClr val="1F2D3A"/>
                </a:solidFill>
              </a:rPr>
              <a:t>; it makes it </a:t>
            </a:r>
            <a:r>
              <a:rPr sz="2000" b="1">
                <a:solidFill>
                  <a:srgbClr val="1F2D3A"/>
                </a:solidFill>
              </a:rPr>
              <a:t>costly and risky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Enough layers + server-side verification → the attacker gives up or gets caught.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Response: How Do You Decide?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How reliable is the indicator?</a:t>
            </a:r>
            <a:r>
              <a:rPr sz="2000" b="0">
                <a:solidFill>
                  <a:srgbClr val="1F2D3A"/>
                </a:solidFill>
              </a:rPr>
              <a:t> Highly reliable → reject + notify the server. Uncertain → continue, raise the risk score.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Will it affect the user experience?</a:t>
            </a:r>
            <a:r>
              <a:rPr sz="2000" b="0">
                <a:solidFill>
                  <a:srgbClr val="1F2D3A"/>
                </a:solidFill>
              </a:rPr>
              <a:t> If the false-positive risk is high, </a:t>
            </a:r>
            <a:r>
              <a:rPr sz="2000" b="1">
                <a:solidFill>
                  <a:srgbClr val="1F2D3A"/>
                </a:solidFill>
              </a:rPr>
              <a:t>don't respond harshly</a:t>
            </a:r>
            <a:r>
              <a:rPr sz="2000" b="0">
                <a:solidFill>
                  <a:srgbClr val="1F2D3A"/>
                </a:solidFill>
              </a:rPr>
              <a:t>; prefer silent restriction + server-side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Does the response give away the check?</a:t>
            </a:r>
            <a:r>
              <a:rPr sz="2000" b="0">
                <a:solidFill>
                  <a:srgbClr val="1F2D3A"/>
                </a:solidFill>
              </a:rPr>
              <a:t> Crashing immediately reveals the source; a </a:t>
            </a:r>
            <a:r>
              <a:rPr sz="2000" b="1">
                <a:solidFill>
                  <a:srgbClr val="1F2D3A"/>
                </a:solidFill>
              </a:rPr>
              <a:t>delayed/indirect</a:t>
            </a:r>
            <a:r>
              <a:rPr sz="2000" b="0">
                <a:solidFill>
                  <a:srgbClr val="1F2D3A"/>
                </a:solidFill>
              </a:rPr>
              <a:t> response hides it.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Response Flow · At a Glance</a:t>
            </a:r>
          </a:p>
        </p:txBody>
      </p:sp>
      <p:pic>
        <p:nvPicPr>
          <p:cNvPr id="7" name="Picture 6" descr="h06-11-tep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(10)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the response from the trigger: an immediate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exit()</a:t>
            </a:r>
            <a:r>
              <a:rPr sz="2000" b="0">
                <a:solidFill>
                  <a:srgbClr val="1F2D3A"/>
                </a:solidFill>
              </a:rPr>
              <a:t> hands the attacker a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instant tampering is found, </a:t>
            </a:r>
            <a:r>
              <a:rPr sz="2000" b="1">
                <a:solidFill>
                  <a:srgbClr val="1F2D3A"/>
                </a:solidFill>
              </a:rPr>
              <a:t>erase</a:t>
            </a:r>
            <a:r>
              <a:rPr sz="2000" b="0">
                <a:solidFill>
                  <a:srgbClr val="1F2D3A"/>
                </a:solidFill>
              </a:rPr>
              <a:t> the secret, return a </a:t>
            </a:r>
            <a:r>
              <a:rPr sz="2000" b="1">
                <a:solidFill>
                  <a:srgbClr val="1F2D3A"/>
                </a:solidFill>
              </a:rPr>
              <a:t>decoy</a:t>
            </a:r>
            <a:r>
              <a:rPr sz="2000" b="0">
                <a:solidFill>
                  <a:srgbClr val="1F2D3A"/>
                </a:solidFill>
              </a:rPr>
              <a:t> instead of crashing, report the event to the server, bind the secret to the device.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8–10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a rooted device a risk?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 counter strengthen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can "crash immediately" be a bad response?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8–10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Root/jailbreak</a:t>
            </a:r>
            <a:r>
              <a:rPr sz="2000" b="0">
                <a:solidFill>
                  <a:srgbClr val="1F2D3A"/>
                </a:solidFill>
              </a:rPr>
              <a:t> removes the barriers against reading/writing memory, hooking, and certificate injection → RASP's assumptions and isolation collapse.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is bypassed with a NOP/patch; the </a:t>
            </a:r>
            <a:r>
              <a:rPr sz="2000" b="1">
                <a:solidFill>
                  <a:srgbClr val="1F2D3A"/>
                </a:solidFill>
              </a:rPr>
              <a:t>counter</a:t>
            </a:r>
            <a:r>
              <a:rPr sz="2000" b="0">
                <a:solidFill>
                  <a:srgbClr val="1F2D3A"/>
                </a:solidFill>
              </a:rPr>
              <a:t> verifies after the fact that the check actually ran (distributed proof) → a single patch isn't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"Crash immediately" shows the attacker </a:t>
            </a:r>
            <a:r>
              <a:rPr sz="2000" b="1">
                <a:solidFill>
                  <a:srgbClr val="1F2D3A"/>
                </a:solidFill>
              </a:rPr>
              <a:t>exactly where</a:t>
            </a:r>
            <a:r>
              <a:rPr sz="2000" b="0">
                <a:solidFill>
                  <a:srgbClr val="1F2D3A"/>
                </a:solidFill>
              </a:rPr>
              <a:t> the check is, and on a false positive it hits a legitimate user. A </a:t>
            </a:r>
            <a:r>
              <a:rPr sz="2000" b="1">
                <a:solidFill>
                  <a:srgbClr val="1F2D3A"/>
                </a:solidFill>
              </a:rPr>
              <a:t>delayed/silent/deceptive</a:t>
            </a:r>
            <a:r>
              <a:rPr sz="2000" b="0">
                <a:solidFill>
                  <a:srgbClr val="1F2D3A"/>
                </a:solidFill>
              </a:rPr>
              <a:t> response is better.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Limits and Ethics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RASP's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single check </a:t>
            </a:r>
            <a:r>
              <a:rPr sz="2000" b="1">
                <a:solidFill>
                  <a:srgbClr val="1F2D3A"/>
                </a:solidFill>
              </a:rPr>
              <a:t>can be 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strength decreases on a rooted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false positive → a real user can be hurt.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Maintenance cost is high (tools evolve).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RASP's Limits — Diagram</a:t>
            </a:r>
          </a:p>
        </p:txBody>
      </p:sp>
      <p:pic>
        <p:nvPicPr>
          <p:cNvPr id="7" name="Picture 6" descr="h06-15-rasp-sinir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35521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That's Why RASP Is...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Layered</a:t>
            </a:r>
            <a:r>
              <a:rPr sz="2000" b="0">
                <a:solidFill>
                  <a:srgbClr val="1F2D3A"/>
                </a:solidFill>
              </a:rPr>
              <a:t> (many checks),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Combined with </a:t>
            </a:r>
            <a:r>
              <a:rPr sz="2000" b="1">
                <a:solidFill>
                  <a:srgbClr val="1F2D3A"/>
                </a:solidFill>
              </a:rPr>
              <a:t>server-side</a:t>
            </a:r>
            <a:r>
              <a:rPr sz="2000" b="0">
                <a:solidFill>
                  <a:srgbClr val="1F2D3A"/>
                </a:solidFill>
              </a:rPr>
              <a:t> verification (the real guarantee).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Claiming it's "unbreakable" on its own is </a:t>
            </a:r>
            <a:r>
              <a:rPr sz="2000" b="1">
                <a:solidFill>
                  <a:srgbClr val="1F2D3A"/>
                </a:solidFill>
              </a:rPr>
              <a:t>wrong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Ethics and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runs on the user's device; </a:t>
            </a:r>
            <a:r>
              <a:rPr sz="2000" b="1">
                <a:solidFill>
                  <a:srgbClr val="1F2D3A"/>
                </a:solidFill>
              </a:rPr>
              <a:t>excessive data collection</a:t>
            </a:r>
            <a:r>
              <a:rPr sz="2000" b="0">
                <a:solidFill>
                  <a:srgbClr val="1F2D3A"/>
                </a:solidFill>
              </a:rPr>
              <a:t> is not ethical.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false positive can deny the user service → respond carefully.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balance between transparency and privacy.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Safe-Example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demos </a:t>
            </a:r>
            <a:r>
              <a:rPr sz="2000" b="1">
                <a:solidFill>
                  <a:srgbClr val="1F2D3A"/>
                </a:solidFill>
              </a:rPr>
              <a:t>do not harm</a:t>
            </a:r>
            <a:r>
              <a:rPr sz="2000" b="0">
                <a:solidFill>
                  <a:srgbClr val="1F2D3A"/>
                </a:solidFill>
              </a:rPr>
              <a:t> the student's device.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real root/system change; synthetic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goal is teaching the concept, not building an attack tool.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Building a RASP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protect a synthetic "license check" with RASP: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debugger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smart response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The Point to Protect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license_is_valid(void)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... check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result;   /* the attacker's target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function and the flow that calls it are critical.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Add an Integrity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After compilation, record this region's digest.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Recompute and compare while running.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difference → raise the tampering flag.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Add Anti-Debug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"Am I being watched?" via timing + OS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leave the result alone; </a:t>
            </a:r>
            <a:r>
              <a:rPr sz="2000" b="1">
                <a:solidFill>
                  <a:srgbClr val="1F2D3A"/>
                </a:solidFill>
              </a:rPr>
              <a:t>combine</a:t>
            </a:r>
            <a:r>
              <a:rPr sz="2000" b="0">
                <a:solidFill>
                  <a:srgbClr val="1F2D3A"/>
                </a:solidFill>
              </a:rPr>
              <a:t> it with another check.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Tie the Result to a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license_is_valid</a:t>
            </a:r>
            <a:r>
              <a:rPr sz="2000" b="0">
                <a:solidFill>
                  <a:srgbClr val="1F2D3A"/>
                </a:solidFill>
              </a:rPr>
              <a:t>'s result is not plain true/false.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integrity + anti-debug indicators feed into the result's </a:t>
            </a:r>
            <a:r>
              <a:rPr sz="2000" b="1">
                <a:solidFill>
                  <a:srgbClr val="1F2D3A"/>
                </a:solidFill>
              </a:rPr>
              <a:t>computation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there's tampering, the function behaves </a:t>
            </a:r>
            <a:r>
              <a:rPr sz="2000" b="1">
                <a:solidFill>
                  <a:srgbClr val="1F2D3A"/>
                </a:solidFill>
              </a:rPr>
              <a:t>incorrectly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crashing immediately: report the flag to the server, restrict the feature.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Delayed trigger: hide the source.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Obfuscate and Diversify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Obfuscate the check code (Week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Place it differently in every version (diversification).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a cross-check.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Measure and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checks, where, and what response?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Performance cost (checks slow things down).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it up in S10.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Attacker and Defender: A Dialogue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This Dialogue?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Security is a </a:t>
            </a:r>
            <a:r>
              <a:rPr sz="2000" b="1">
                <a:solidFill>
                  <a:srgbClr val="1F2D3A"/>
                </a:solidFill>
              </a:rPr>
              <a:t>move-countermove</a:t>
            </a:r>
            <a:r>
              <a:rPr sz="2000" b="0">
                <a:solidFill>
                  <a:srgbClr val="1F2D3A"/>
                </a:solidFill>
              </a:rPr>
              <a:t> game.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defence gets an attack, every attack gets a new defence.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why layered defence is necessary.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Integrity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add self-hashing.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find the digest function, force it to always say "match."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obfuscate the digest check, overlap it, tie the result to a behaviour.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Anti-Debug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add a debugger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find the check, bypass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many methods + timing + obfuscation; make the response delayed.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Hook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check the function's bytes.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hide the hook, restore the bytes.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cross-checking + server-side verification.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·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check root indicators.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Attacker:</a:t>
            </a:r>
            <a:r>
              <a:rPr sz="2000" b="0">
                <a:solidFill>
                  <a:srgbClr val="1F2D3A"/>
                </a:solidFill>
              </a:rPr>
              <a:t> use a root-hiding tool.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many indicators + a server-side risk score; restriction instead of a harsh response.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defence is always eventually bypassed.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multiplicity + secrecy + diversity + the server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make the attack </a:t>
            </a:r>
            <a:r>
              <a:rPr sz="2000" b="1">
                <a:solidFill>
                  <a:srgbClr val="1F2D3A"/>
                </a:solidFill>
              </a:rPr>
              <a:t>no longer economical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RASP Check Catalogue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687"/>
                <a:gridCol w="3060552"/>
                <a:gridCol w="4524295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Catches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Integrity (self-hash)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binary patch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digest fn. can be bypassed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Anti-debug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debugger attached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Known methods get bypassed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Emulator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False positives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RASP Check Catalogue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91"/>
                <a:gridCol w="4091825"/>
                <a:gridCol w="426231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Catches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Hook/Frida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function hook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 tools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Root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Privilege escalation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Root hiding tools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component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the key leaks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 counter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skipped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sophisticated patch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check has a </a:t>
            </a:r>
            <a:r>
              <a:rPr sz="2000" b="1">
                <a:solidFill>
                  <a:srgbClr val="1F2D3A"/>
                </a:solidFill>
              </a:rPr>
              <a:t>blind spot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None of them is enough alone.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</a:t>
            </a:r>
            <a:r>
              <a:rPr sz="2000" b="1">
                <a:solidFill>
                  <a:srgbClr val="1F2D3A"/>
                </a:solidFill>
              </a:rPr>
              <a:t>several</a:t>
            </a:r>
            <a:r>
              <a:rPr sz="2000" b="0">
                <a:solidFill>
                  <a:srgbClr val="1F2D3A"/>
                </a:solidFill>
              </a:rPr>
              <a:t> from the catalogue, combine them, diversify them.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Choosing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layers, based on the asset's value?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checks make sense for the platform?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What's the performance budget?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the decision and its rationale in S10.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Relying on a single check.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obfuscating the check (easily found).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"crash immediately" response (gives away the source).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harsh response + a high false-positive rate (hurts the user).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Skipping server-side verification (the real guarantee is there).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Project: This Week (S10)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S10 (RASP + Response)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hidden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when/where</a:t>
            </a:r>
            <a:r>
              <a:rPr sz="2000" b="0">
                <a:solidFill>
                  <a:srgbClr val="1F2D3A"/>
                </a:solidFill>
              </a:rPr>
              <a:t> the checks run.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smart</a:t>
            </a:r>
            <a:r>
              <a:rPr sz="2000" b="0">
                <a:solidFill>
                  <a:srgbClr val="1F2D3A"/>
                </a:solidFill>
              </a:rPr>
              <a:t> (delayed/indirect — not "crash immediately").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Through the Evaluator's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"RASP exists" isn't enough; </a:t>
            </a:r>
            <a:r>
              <a:rPr sz="2000" b="1">
                <a:solidFill>
                  <a:srgbClr val="1F2D3A"/>
                </a:solidFill>
              </a:rPr>
              <a:t>how many layers, how hidden, what response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does it combine with server-side verification?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is the false-positive risk managed?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RASP's three jobs?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Detect (abnormal environment/tampering), defend (restrict/halt the feature), deter (raise the cost).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self-hashing catch, and why isn't it enough alone?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catches a patch/tampering applied to the binary. It isn't enough alone because the attacker can find and bypass the digest function; obfuscation + cross-checking + overlapping checks are needed.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cross-checking strong?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Java checks native, native checks Java; the attacker has to bypass </a:t>
            </a:r>
            <a:r>
              <a:rPr sz="2000" b="1">
                <a:solidFill>
                  <a:srgbClr val="1F2D3A"/>
                </a:solidFill>
              </a:rPr>
              <a:t>both at once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 does timing-based anti-debug 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If a small piece of work took much longer than expected, someone may be single-stepping the program (a debugger).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a control-flow counter strengthen a single `if` check?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counts that checks passed in the correct order; patching a single branch breaks the counter, and the skip is caught.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isn't "crash immediately" always a good response?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shows the attacker exactly where the check is. A delayed/indirect response + server notification is better.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the false-positive risk matter in emulator detection?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real device/developer environment can look like an emulator; a harsh response hurts a real user.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RASP's fundamental limit?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Every single check can be bypassed; it weakens on a rooted device. Strength comes from layering, diversity, and server-side verification.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Quiz-1-Style Sample Questions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Multiple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goal of RASP cross-checking?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Shrinking the code B) Forcing the attacker to bypass both sides ✓ C) Speeding up encryption D) Turning off logging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Name three methods that strengthen an integrity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· multiple/overlapping blocks · cross-checking · tying the result to a behaviour.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304"/>
                <a:gridCol w="8145230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Runtime self-protection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attacker at the endpoint (the device's owner)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Self-hashing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Checking a digest of one's own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Hook/Frida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Intercepting and changing a function call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 counter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Verifying check order by counting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Device binding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Binding data to a specific device (with HKDF)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Decoy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fake result returned instead of crashing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Rejecting an operation when in doubt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Attestation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Server-side proof of 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7 — Interim Project Demos (RAP1)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Week 8 — Quiz-1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In Week 7 you will present this week's RASP checks (integrity checking, debugger/environment/hook detection, the control-flow counter, the response policy) live in your project. Week 8 is Quiz-1, covering weeks 1–6.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Then </a:t>
            </a:r>
            <a:r>
              <a:rPr sz="2000" b="1">
                <a:solidFill>
                  <a:srgbClr val="1F2D3A"/>
                </a:solidFill>
              </a:rPr>
              <a:t>Week 9 — Advanced Obfuscation and Diversification</a:t>
            </a:r>
            <a:r>
              <a:rPr sz="2000" b="0">
                <a:solidFill>
                  <a:srgbClr val="1F2D3A"/>
                </a:solidFill>
              </a:rPr>
              <a:t> continues by deepening this week's debugger/environment detection ideas and its "obscurity/deterrence is not unbreakability" theme on the code-obfuscation 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6 — Runtime Application Self-Protection (RASP)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