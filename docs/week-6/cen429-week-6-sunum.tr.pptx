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60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15"/>
                <a:gridCol w="677267"/>
                <a:gridCol w="9632251"/>
              </a:tblGrid>
              <a:tr h="652195">
                <a:tc>
                  <a:txBody>
                    <a:bodyPr wrap="square"/>
                    <a:lstStyle/>
                    <a:p>
                      <a:r>
                        <a:rPr sz="1368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52195"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1–3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RASP nedir, RASP mimarisi · Bütünlük denetimi (self-hashing)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2195"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Hata ayıklayıcı algılama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2</a:t>
                      </a:r>
                      <a:r>
                        <a:rPr sz="1368" b="0">
                          <a:solidFill>
                            <a:srgbClr val="1F2D3A"/>
                          </a:solidFill>
                        </a:rPr>
                        <a:t> · Ortam/emülatör algılama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3</a:t>
                      </a:r>
                      <a:r>
                        <a:rPr sz="1368" b="0">
                          <a:solidFill>
                            <a:srgbClr val="1F2D3A"/>
                          </a:solidFill>
                        </a:rPr>
                        <a:t> · Kanca/enstrümantasyon algılama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52198"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7–10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68" b="0">
                          <a:solidFill>
                            <a:srgbClr val="1F2D3A"/>
                          </a:solidFill>
                        </a:rPr>
                        <a:t>Bellek koruması · Kök/imza doğrulama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6-7</a:t>
                      </a:r>
                      <a:r>
                        <a:rPr sz="1368" b="0">
                          <a:solidFill>
                            <a:srgbClr val="1F2D3A"/>
                          </a:solidFill>
                        </a:rPr>
                        <a:t> · Kontrol akışı bütünlüğü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368" b="0">
                          <a:solidFill>
                            <a:srgbClr val="1F2D3A"/>
                          </a:solidFill>
                        </a:rPr>
                        <a:t> · Tepki politikası </a:t>
                      </a:r>
                      <a:r>
                        <a:rPr sz="1368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368" b="0">
                          <a:solidFill>
                            <a:srgbClr val="1F2D3A"/>
                          </a:solidFill>
                        </a:rPr>
                        <a:t>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44391"/>
            <a:ext cx="10911535" cy="105079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Öğrenme çıktısı (ÖÇ.3):</a:t>
            </a:r>
            <a:r>
              <a:rPr sz="1900" b="0">
                <a:solidFill>
                  <a:srgbClr val="1F2D3A"/>
                </a:solidFill>
              </a:rPr>
              <a:t> RASP denetimlerini (bütünlük, anti-debug, ortam, kanca) tanımak · tepki politikası ve cihaz bağlama tasarlamak · RASP'in sınırlarını ve etik çerçevesini açıklamak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204917"/>
            <a:ext cx="10911535" cy="9017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900" b="0">
                <a:solidFill>
                  <a:srgbClr val="1F2D3A"/>
                </a:solidFill>
              </a:rPr>
              <a:t>RASP = </a:t>
            </a:r>
            <a:r>
              <a:rPr sz="1900" b="1">
                <a:solidFill>
                  <a:srgbClr val="1F2D3A"/>
                </a:solidFill>
              </a:rPr>
              <a:t>Runtime Application Self-Protection</a:t>
            </a:r>
            <a:r>
              <a:rPr sz="1900" b="0">
                <a:solidFill>
                  <a:srgbClr val="1F2D3A"/>
                </a:solidFill>
              </a:rPr>
              <a:t>: uygulamanın çalışırken kendini </a:t>
            </a:r>
            <a:r>
              <a:rPr sz="1900" b="1">
                <a:solidFill>
                  <a:srgbClr val="1F2D3A"/>
                </a:solidFill>
              </a:rPr>
              <a:t>izlemesi</a:t>
            </a:r>
            <a:r>
              <a:rPr sz="1900" b="0">
                <a:solidFill>
                  <a:srgbClr val="1F2D3A"/>
                </a:solidFill>
              </a:rPr>
              <a:t> ve tehdide </a:t>
            </a:r>
            <a:r>
              <a:rPr sz="1900" b="1">
                <a:solidFill>
                  <a:srgbClr val="1F2D3A"/>
                </a:solidFill>
              </a:rPr>
              <a:t>tepki</a:t>
            </a:r>
            <a:r>
              <a:rPr sz="1900" b="0">
                <a:solidFill>
                  <a:srgbClr val="1F2D3A"/>
                </a:solidFill>
              </a:rPr>
              <a:t> vermesi. Algıla → savun → caydır. Ama tek denetim değil, </a:t>
            </a:r>
            <a:r>
              <a:rPr sz="1900" b="1">
                <a:solidFill>
                  <a:srgbClr val="1F2D3A"/>
                </a:solidFill>
              </a:rPr>
              <a:t>katman</a:t>
            </a:r>
            <a:r>
              <a:rPr sz="19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saldırgan modeli</a:t>
            </a:r>
            <a:r>
              <a:rPr sz="2000" b="0">
                <a:solidFill>
                  <a:srgbClr val="1F2D3A"/>
                </a:solidFill>
              </a:rPr>
              <a:t> — cihazın sahibi olan kullanıcının aynı zamanda saldırgan olabildiği; belleği okuyup hata ayıklayıcı bağlayabildiği model </a:t>
            </a:r>
            <a:r>
              <a:rPr sz="2000" b="1">
                <a:solidFill>
                  <a:srgbClr val="1F2D3A"/>
                </a:solidFill>
              </a:rPr>
              <a:t>(Hafta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Özet, MAC ve HMAC</a:t>
            </a:r>
            <a:r>
              <a:rPr sz="2000" b="0">
                <a:solidFill>
                  <a:srgbClr val="1F2D3A"/>
                </a:solidFill>
              </a:rPr>
              <a:t> — özet bir veriden hesaplanan tek yönlü parmak izi; HMAC paylaşılan bir gizli anahtarla mesajın değişmediğini kanıtlar </a:t>
            </a:r>
            <a:r>
              <a:rPr sz="2000" b="1">
                <a:solidFill>
                  <a:srgbClr val="1F2D3A"/>
                </a:solidFill>
              </a:rPr>
              <a:t>(Hafta 3)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 sırdan anahtar türetme (HKDF)</a:t>
            </a:r>
            <a:r>
              <a:rPr sz="2000" b="0">
                <a:solidFill>
                  <a:srgbClr val="1F2D3A"/>
                </a:solidFill>
              </a:rPr>
              <a:t> — bir ana sırdan Extract ve Expand adımlarıyla yeni anahtarlar türetme </a:t>
            </a:r>
            <a:r>
              <a:rPr sz="2000" b="1">
                <a:solidFill>
                  <a:srgbClr val="1F2D3A"/>
                </a:solidFill>
              </a:rPr>
              <a:t>(Hafta 3)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</a:t>
            </a:r>
            <a:r>
              <a:rPr sz="2000" b="0">
                <a:solidFill>
                  <a:srgbClr val="1F2D3A"/>
                </a:solidFill>
              </a:rPr>
              <a:t> — bir sırrın yalnızca belirli bir cihazda anlamlı olması, güvenlik kabuğunun en iç katmanı </a:t>
            </a:r>
            <a:r>
              <a:rPr sz="2000" b="1">
                <a:solidFill>
                  <a:srgbClr val="1F2D3A"/>
                </a:solidFill>
              </a:rPr>
              <a:t>(Hafta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5152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hafta: beyaz kutu modeli → </a:t>
            </a:r>
            <a:r>
              <a:rPr sz="2000" b="1">
                <a:solidFill>
                  <a:srgbClr val="1F2D3A"/>
                </a:solidFill>
              </a:rPr>
              <a:t>MATE</a:t>
            </a:r>
            <a:r>
              <a:rPr sz="2000" b="0">
                <a:solidFill>
                  <a:srgbClr val="1F2D3A"/>
                </a:solidFill>
              </a:rPr>
              <a:t> saldırgan modeli (Bölüm 1); HMAC → uygulamanın kendi kodunu doğrulamak (Bölüm 3); HKDF → cihaz parmak izinden anahtar türetmek (Bölüm 10); cihaz bağlama → bir RASP tepki politikasının parçası (Bölüm 10).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039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700" b="1">
                <a:solidFill>
                  <a:srgbClr val="1F2D3A"/>
                </a:solidFill>
              </a:rPr>
              <a:t>nerede</a:t>
            </a:r>
            <a:r>
              <a:rPr sz="17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26006"/>
          <a:ext cx="9638521" cy="4190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6215"/>
                <a:gridCol w="2182306"/>
              </a:tblGrid>
              <a:tr h="322361">
                <a:tc>
                  <a:txBody>
                    <a:bodyPr wrap="square"/>
                    <a:lstStyle/>
                    <a:p>
                      <a:r>
                        <a:rPr sz="1224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RASP (algıla/savun/caydır)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MATE saldırgan modeli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RASP mimarisi (ne zaman/nerede/nasıl)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Bütünlük / self-hashing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Hata ayıklayıcı (debugger) algılama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Emülatör/VM algılama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Kanca (hook) / LD_PRELOAD algılama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Dinamik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Kök (root) göstergesi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Bileşen imza doğrulaması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Kontrol akışı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3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Tepki politikası ve cihaz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uygulama kendini korur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1980'ler</a:t>
            </a:r>
            <a:r>
              <a:rPr sz="1800" b="0">
                <a:solidFill>
                  <a:srgbClr val="1F2D3A"/>
                </a:solidFill>
              </a:rPr>
              <a:t> — crack/anti-crack kültürü: </a:t>
            </a:r>
            <a:r>
              <a:rPr sz="1800" b="1">
                <a:solidFill>
                  <a:srgbClr val="1F2D3A"/>
                </a:solidFill>
              </a:rPr>
              <a:t>anti-debug</a:t>
            </a:r>
            <a:r>
              <a:rPr sz="1800" b="0">
                <a:solidFill>
                  <a:srgbClr val="1F2D3A"/>
                </a:solidFill>
              </a:rPr>
              <a:t> ve self-check kökeni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2000'ler</a:t>
            </a:r>
            <a:r>
              <a:rPr sz="1800" b="0">
                <a:solidFill>
                  <a:srgbClr val="1F2D3A"/>
                </a:solidFill>
              </a:rPr>
              <a:t> — DRM ve mobil bankacılık korumayı uygulamanın </a:t>
            </a:r>
            <a:r>
              <a:rPr sz="1800" b="1">
                <a:solidFill>
                  <a:srgbClr val="1F2D3A"/>
                </a:solidFill>
              </a:rPr>
              <a:t>içine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</a:t>
            </a:r>
            <a:r>
              <a:rPr sz="1800" b="0">
                <a:solidFill>
                  <a:srgbClr val="1F2D3A"/>
                </a:solidFill>
              </a:rPr>
              <a:t> — Gartner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terimini ortaya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bugün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MASVS-RESILIENCE</a:t>
            </a:r>
            <a:r>
              <a:rPr sz="1800" b="0">
                <a:solidFill>
                  <a:srgbClr val="1F2D3A"/>
                </a:solidFill>
              </a:rPr>
              <a:t> bunu denetlenebilir gereksinime çevirir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RASP yeni bir fikir değil: </a:t>
            </a:r>
            <a:r>
              <a:rPr sz="1800" b="1">
                <a:solidFill>
                  <a:srgbClr val="1F2D3A"/>
                </a:solidFill>
              </a:rPr>
              <a:t>MATE saldırganına</a:t>
            </a:r>
            <a:r>
              <a:rPr sz="1800" b="0">
                <a:solidFill>
                  <a:srgbClr val="1F2D3A"/>
                </a:solidFill>
              </a:rPr>
              <a:t> verilen kurumsal cevabın adı.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WAF ↔ RASP — şema</a:t>
            </a:r>
          </a:p>
        </p:txBody>
      </p:sp>
      <p:pic>
        <p:nvPicPr>
          <p:cNvPr id="7" name="Picture 6" descr="h06-06-waf-ra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559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WAF ↔ RASP karşılaştırması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8071"/>
                <a:gridCol w="3418071"/>
                <a:gridCol w="40753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 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görür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 güvenlik duvarı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 kenarında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Paketler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WAF (Web App Firewall)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önünde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kodu, belleği, ortamı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WAF "dışarıdan gelen istek zararlı mı?" sorar; RASP "</a:t>
            </a:r>
            <a:r>
              <a:rPr sz="2000" b="1">
                <a:solidFill>
                  <a:srgbClr val="1F2D3A"/>
                </a:solidFill>
              </a:rPr>
              <a:t>ben</a:t>
            </a:r>
            <a:r>
              <a:rPr sz="2000" b="0">
                <a:solidFill>
                  <a:srgbClr val="1F2D3A"/>
                </a:solidFill>
              </a:rPr>
              <a:t> kurcalandım mı?" sorar.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modeli: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uygulamanın </a:t>
            </a:r>
            <a:r>
              <a:rPr sz="2000" b="1">
                <a:solidFill>
                  <a:srgbClr val="1F2D3A"/>
                </a:solidFill>
              </a:rPr>
              <a:t>çalıştığı uç noktanın sahibi</a:t>
            </a:r>
            <a:r>
              <a:rPr sz="2000" b="0">
                <a:solidFill>
                  <a:srgbClr val="1F2D3A"/>
                </a:solidFill>
              </a:rPr>
              <a:t> olan saldırgan. Belleği okur, kodu değiştirir, hata ayıklayıcıyla izler. 11. haftadaki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modeliyle aynıdır.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Acı gerçek:</a:t>
            </a:r>
            <a:r>
              <a:rPr sz="2000" b="0">
                <a:solidFill>
                  <a:srgbClr val="1F2D3A"/>
                </a:solidFill>
              </a:rPr>
              <a:t> cihazın sahibi saldırgansa, </a:t>
            </a:r>
            <a:r>
              <a:rPr sz="2000" b="1">
                <a:solidFill>
                  <a:srgbClr val="1F2D3A"/>
                </a:solidFill>
              </a:rPr>
              <a:t>hiçbir istemci tarafı koruma nihai olarak kırılmaz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hâlde RASP neden var? Amaç </a:t>
            </a:r>
            <a:r>
              <a:rPr sz="2000" b="1">
                <a:solidFill>
                  <a:srgbClr val="1F2D3A"/>
                </a:solidFill>
              </a:rPr>
              <a:t>kırılmazlık değil</a:t>
            </a:r>
            <a:r>
              <a:rPr sz="2000" b="0">
                <a:solidFill>
                  <a:srgbClr val="1F2D3A"/>
                </a:solidFill>
              </a:rPr>
              <a:t>; saldırıyı </a:t>
            </a:r>
            <a:r>
              <a:rPr sz="2000" b="1">
                <a:solidFill>
                  <a:srgbClr val="1F2D3A"/>
                </a:solidFill>
              </a:rPr>
              <a:t>ölçeklenemez ve pahalı</a:t>
            </a:r>
            <a:r>
              <a:rPr sz="2000" b="0">
                <a:solidFill>
                  <a:srgbClr val="1F2D3A"/>
                </a:solidFill>
              </a:rPr>
              <a:t> kılmak.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pic>
        <p:nvPicPr>
          <p:cNvPr id="7" name="Picture 6" descr="h06-01-rasp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367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Çok noktalılık ve sahte parametreler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noktalılık:</a:t>
            </a:r>
            <a:r>
              <a:rPr sz="2000" b="0">
                <a:solidFill>
                  <a:srgbClr val="1F2D3A"/>
                </a:solidFill>
              </a:rPr>
              <a:t> aynı denetim kodun </a:t>
            </a:r>
            <a:r>
              <a:rPr sz="2000" b="1">
                <a:solidFill>
                  <a:srgbClr val="1F2D3A"/>
                </a:solidFill>
              </a:rPr>
              <a:t>birçok yerinde</a:t>
            </a:r>
            <a:r>
              <a:rPr sz="2000" b="0">
                <a:solidFill>
                  <a:srgbClr val="1F2D3A"/>
                </a:solidFill>
              </a:rPr>
              <a:t>, her seferinde biraz farklı biçimde yapılır; bir nokta yamalanınca diğerleri hâlâ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Korunan fonksiyonun içinde:</a:t>
            </a:r>
            <a:r>
              <a:rPr sz="2000" b="0">
                <a:solidFill>
                  <a:srgbClr val="1F2D3A"/>
                </a:solidFill>
              </a:rPr>
              <a:t> değerli bir fonksiyon (ör. anahtar türetme) kendi giriş noktasında </a:t>
            </a:r>
            <a:r>
              <a:rPr sz="2000" b="1">
                <a:solidFill>
                  <a:srgbClr val="1F2D3A"/>
                </a:solidFill>
              </a:rPr>
              <a:t>birkaç denetimi kendisi</a:t>
            </a:r>
            <a:r>
              <a:rPr sz="2000" b="0">
                <a:solidFill>
                  <a:srgbClr val="1F2D3A"/>
                </a:solidFill>
              </a:rPr>
              <a:t> yapar — sahada </a:t>
            </a:r>
            <a:r>
              <a:rPr sz="2000" b="1">
                <a:solidFill>
                  <a:srgbClr val="1F2D3A"/>
                </a:solidFill>
              </a:rPr>
              <a:t>on beşe yakın</a:t>
            </a:r>
            <a:r>
              <a:rPr sz="2000" b="0">
                <a:solidFill>
                  <a:srgbClr val="1F2D3A"/>
                </a:solidFill>
              </a:rPr>
              <a:t> denetime kadar çıkabilir.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giriş noktasında, okunabilirlik için gizlenen ve bir bütünlük denetimini tetikleyen ek parametreler bulunabilir (4. hafta).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Zayıf tasarım — tek karar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(hata_ayiklayici_var() || root_var() || butunluk_bozuk())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HATA;         /* bu tek satırı değiştiren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her şeyi atlatır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anahtari_coz();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karşılaştırmayı ters çeviren saldırgan </a:t>
            </a:r>
            <a:r>
              <a:rPr sz="2000" b="1">
                <a:solidFill>
                  <a:srgbClr val="1F2D3A"/>
                </a:solidFill>
              </a:rPr>
              <a:t>bütün korumayı</a:t>
            </a:r>
            <a:r>
              <a:rPr sz="2000" b="0">
                <a:solidFill>
                  <a:srgbClr val="1F2D3A"/>
                </a:solidFill>
              </a:rPr>
              <a:t> geçer.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Güçlü tasarım — veri bağımlılığı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 sonucu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'e değil, </a:t>
            </a:r>
            <a:r>
              <a:rPr sz="2000" b="1">
                <a:solidFill>
                  <a:srgbClr val="1F2D3A"/>
                </a:solidFill>
              </a:rPr>
              <a:t>sonraki hesabın verisine</a:t>
            </a:r>
            <a:r>
              <a:rPr sz="2000" b="0">
                <a:solidFill>
                  <a:srgbClr val="1F2D3A"/>
                </a:solidFill>
              </a:rPr>
              <a:t> karışır: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sonuçları </a:t>
            </a:r>
            <a:r>
              <a:rPr sz="2000" b="1">
                <a:solidFill>
                  <a:srgbClr val="1F2D3A"/>
                </a:solidFill>
              </a:rPr>
              <a:t>anahtar türetmeye</a:t>
            </a:r>
            <a:r>
              <a:rPr sz="2000" b="0">
                <a:solidFill>
                  <a:srgbClr val="1F2D3A"/>
                </a:solidFill>
              </a:rPr>
              <a:t> katılır (temizse doğru anahtar, değilse farklı ama geçerli görünen anahtar).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sonuçları </a:t>
            </a:r>
            <a:r>
              <a:rPr sz="2000" b="1">
                <a:solidFill>
                  <a:srgbClr val="1F2D3A"/>
                </a:solidFill>
              </a:rPr>
              <a:t>opak değerlerle</a:t>
            </a:r>
            <a:r>
              <a:rPr sz="2000" b="0">
                <a:solidFill>
                  <a:srgbClr val="1F2D3A"/>
                </a:solidFill>
              </a:rPr>
              <a:t> taşınır (4.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Tepki, tetikleyiciden </a:t>
            </a:r>
            <a:r>
              <a:rPr sz="2000" b="1">
                <a:solidFill>
                  <a:srgbClr val="1F2D3A"/>
                </a:solidFill>
              </a:rPr>
              <a:t>zaman ve kod olarak uzak</a:t>
            </a:r>
            <a:r>
              <a:rPr sz="2000" b="0">
                <a:solidFill>
                  <a:srgbClr val="1F2D3A"/>
                </a:solidFill>
              </a:rPr>
              <a:t> bir yerde verilir.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Katmanlar birbirini korur — şema</a:t>
            </a:r>
          </a:p>
        </p:txBody>
      </p:sp>
      <p:pic>
        <p:nvPicPr>
          <p:cNvPr id="7" name="Picture 6" descr="h06-02-katman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479" y="1325880"/>
            <a:ext cx="658073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pic>
        <p:nvPicPr>
          <p:cNvPr id="7" name="Picture 6" descr="h06-05-rasp-moto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9112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(1–2)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 </a:t>
            </a:r>
            <a:r>
              <a:rPr sz="2000" b="1">
                <a:solidFill>
                  <a:srgbClr val="1F2D3A"/>
                </a:solidFill>
              </a:rPr>
              <a:t>tek yerde, tek anda, tek `if`</a:t>
            </a:r>
            <a:r>
              <a:rPr sz="2000" b="0">
                <a:solidFill>
                  <a:srgbClr val="1F2D3A"/>
                </a:solidFill>
              </a:rPr>
              <a:t> ile yapmayın.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noktalı, çapraz, gizli ve veri bağımlı denetimler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bir RASP mimarisi kurar.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özeti kaydet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</a:t>
            </a:r>
            <a:r>
              <a:rPr sz="2000" b="1">
                <a:solidFill>
                  <a:srgbClr val="1F2D3A"/>
                </a:solidFill>
              </a:rPr>
              <a:t>bittikten sonra</a:t>
            </a:r>
            <a:r>
              <a:rPr sz="2000" b="0">
                <a:solidFill>
                  <a:srgbClr val="1F2D3A"/>
                </a:solidFill>
              </a:rPr>
              <a:t>, kritik kod/veri bölgesi belirlenir.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bölgenin özeti hesaplanır ve </a:t>
            </a:r>
            <a:r>
              <a:rPr sz="2000" b="1">
                <a:solidFill>
                  <a:srgbClr val="1F2D3A"/>
                </a:solidFill>
              </a:rPr>
              <a:t>altın (golden) değer</a:t>
            </a:r>
            <a:r>
              <a:rPr sz="2000" b="0">
                <a:solidFill>
                  <a:srgbClr val="1F2D3A"/>
                </a:solidFill>
              </a:rPr>
              <a:t> olarak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değer, "kurcalanmamış hâlin" imzasıdır.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çalışırken yeniden hesapla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, kayıtlı olan aynı kod/veri bölgesinin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hesaplama derleme anında değil, </a:t>
            </a:r>
            <a:r>
              <a:rPr sz="2000" b="1">
                <a:solidFill>
                  <a:srgbClr val="1F2D3A"/>
                </a:solidFill>
              </a:rPr>
              <a:t>çalışma anında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Hesaplama bir kez değil, </a:t>
            </a:r>
            <a:r>
              <a:rPr sz="2000" b="1">
                <a:solidFill>
                  <a:srgbClr val="1F2D3A"/>
                </a:solidFill>
              </a:rPr>
              <a:t>periyodik</a:t>
            </a:r>
            <a:r>
              <a:rPr sz="2000" b="0">
                <a:solidFill>
                  <a:srgbClr val="1F2D3A"/>
                </a:solidFill>
              </a:rPr>
              <a:t> de yapılabilir.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hesaplanan özet, kayıtlı </a:t>
            </a:r>
            <a:r>
              <a:rPr sz="2000" b="1">
                <a:solidFill>
                  <a:srgbClr val="1F2D3A"/>
                </a:solidFill>
              </a:rPr>
              <a:t>altın değerle</a:t>
            </a:r>
            <a:r>
              <a:rPr sz="2000" b="0">
                <a:solidFill>
                  <a:srgbClr val="1F2D3A"/>
                </a:solidFill>
              </a:rPr>
              <a:t> karşılaştırılır.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Karşılaştırma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yapılmalı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değil): düz karşılaştırma ilk farklı baytta durup zamanlama sızdırır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Eşitse: bütünlük </a:t>
            </a:r>
            <a:r>
              <a:rPr sz="2000" b="1">
                <a:solidFill>
                  <a:srgbClr val="1F2D3A"/>
                </a:solidFill>
              </a:rPr>
              <a:t>tamam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tepki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</a:t>
            </a:r>
            <a:r>
              <a:rPr sz="2000" b="1">
                <a:solidFill>
                  <a:srgbClr val="1F2D3A"/>
                </a:solidFill>
              </a:rPr>
              <a:t>tutmuyorsa</a:t>
            </a:r>
            <a:r>
              <a:rPr sz="2000" b="0">
                <a:solidFill>
                  <a:srgbClr val="1F2D3A"/>
                </a:solidFill>
              </a:rPr>
              <a:t> → kurcalama (yama) algılanmıştır.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doğrudan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'e değil, bir </a:t>
            </a:r>
            <a:r>
              <a:rPr sz="2000" b="1">
                <a:solidFill>
                  <a:srgbClr val="1F2D3A"/>
                </a:solidFill>
              </a:rPr>
              <a:t>tepkiye</a:t>
            </a:r>
            <a:r>
              <a:rPr sz="2000" b="0">
                <a:solidFill>
                  <a:srgbClr val="1F2D3A"/>
                </a:solidFill>
              </a:rPr>
              <a:t> bağlanır (10. bölüm).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yerine daha akıllı bir tepki tercih edilir.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Self-hashing — şema</a:t>
            </a:r>
          </a:p>
        </p:txBody>
      </p:sp>
      <p:pic>
        <p:nvPicPr>
          <p:cNvPr id="7" name="Picture 6" descr="h06-03-self-has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195" y="1325880"/>
            <a:ext cx="892730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· çalışma zamanı bütünlük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code/week-06/01-butunluk-hmac</a:t>
            </a:r>
            <a:r>
              <a:rPr sz="2000" b="0">
                <a:solidFill>
                  <a:srgbClr val="1F2D3A"/>
                </a:solidFill>
              </a:rPr>
              <a:t> — self-hashing, HMAC-SHA-256.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kitabı (Viega &amp; Messier, Tarif 12.2) bunu </a:t>
            </a:r>
            <a:r>
              <a:rPr sz="2000" b="1">
                <a:solidFill>
                  <a:srgbClr val="1F2D3A"/>
                </a:solidFill>
              </a:rPr>
              <a:t>CRC32</a:t>
            </a:r>
            <a:r>
              <a:rPr sz="2000" b="0">
                <a:solidFill>
                  <a:srgbClr val="1F2D3A"/>
                </a:solidFill>
              </a:rPr>
              <a:t> ile yapar; </a:t>
            </a:r>
            <a:r>
              <a:rPr sz="2000" b="1">
                <a:solidFill>
                  <a:srgbClr val="1F2D3A"/>
                </a:solidFill>
              </a:rPr>
              <a:t>CRC32 kriptografik değildir</a:t>
            </a:r>
            <a:r>
              <a:rPr sz="2000" b="0">
                <a:solidFill>
                  <a:srgbClr val="1F2D3A"/>
                </a:solidFill>
              </a:rPr>
              <a:t>, saldırgan CRC'yi eşleyecek şekilde kolayca ayarlar. Biz </a:t>
            </a:r>
            <a:r>
              <a:rPr sz="2000" b="1">
                <a:solidFill>
                  <a:srgbClr val="1F2D3A"/>
                </a:solidFill>
              </a:rPr>
              <a:t>HMAC-SHA-256</a:t>
            </a:r>
            <a:r>
              <a:rPr sz="2000" b="0">
                <a:solidFill>
                  <a:srgbClr val="1F2D3A"/>
                </a:solidFill>
              </a:rPr>
              <a:t> kullanıyoruz (gizli anahtar gerekir).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kendi ikili dosyasının özetini hesaplayıp </a:t>
            </a:r>
            <a:r>
              <a:rPr sz="2000" b="1">
                <a:solidFill>
                  <a:srgbClr val="1F2D3A"/>
                </a:solidFill>
              </a:rPr>
              <a:t>altın değer</a:t>
            </a:r>
            <a:r>
              <a:rPr sz="2000" b="0">
                <a:solidFill>
                  <a:srgbClr val="1F2D3A"/>
                </a:solidFill>
              </a:rPr>
              <a:t> olarak kaydeder.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dosyanın bir </a:t>
            </a:r>
            <a:r>
              <a:rPr sz="2000" b="1">
                <a:solidFill>
                  <a:srgbClr val="1F2D3A"/>
                </a:solidFill>
              </a:rPr>
              <a:t>kopyası</a:t>
            </a:r>
            <a:r>
              <a:rPr sz="2000" b="0">
                <a:solidFill>
                  <a:srgbClr val="1F2D3A"/>
                </a:solidFill>
              </a:rPr>
              <a:t> alınır, bir baytı değiştirilir (yama simülasyonu); yamalı kopyanın özeti altın değerle karşılaştırılır.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· özün kodu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Kendi yolunu bul, dosyayı oku, HMAC hesapla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oz_yol(yol, sizeof(yol));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dosya_oku(yol, &amp;veri, &amp;boy);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kripto_hmac_sha256(RASP_ANAHTAR, 32, veri, boy, ozet);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sabit zamanli karsilastirma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32;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fark |= beklenen[i] ^ ozet[i];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(fark == 0) { /* TAMAM */ } else { /* YAMA */ 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·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2 - Normal calisma: butunluk dogrulanir (yama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Beklenen   : bae498a6a982279a8...ee4d01e6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Hesaplanan : bae498a6a982279a8...ee4d01e6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TAMAM - hedef degismemis.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3 - Saldiri: kopyanin 1 bayti degistiriliyor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4 - Yamali kopyanin HMAC'i karsilastiriliyor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Beklenen   : bae498a6a982279a8...ee4d01e6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Hesaplanan : 05fb42748cb5b573...131c6705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YAMA ALGILANDI - hedef degistirilmis!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996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baytı değiştirmek özeti </a:t>
            </a:r>
            <a:r>
              <a:rPr sz="2000" b="1">
                <a:solidFill>
                  <a:srgbClr val="1F2D3A"/>
                </a:solidFill>
              </a:rPr>
              <a:t>tamamen</a:t>
            </a:r>
            <a:r>
              <a:rPr sz="2000" b="0">
                <a:solidFill>
                  <a:srgbClr val="1F2D3A"/>
                </a:solidFill>
              </a:rPr>
              <a:t> değiştirdi (çığ etkisi).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Kritik kod/veri bölgelerinin bütünlüğünü çalışma zamanında </a:t>
            </a:r>
            <a:r>
              <a:rPr sz="2000" b="1">
                <a:solidFill>
                  <a:srgbClr val="1F2D3A"/>
                </a:solidFill>
              </a:rPr>
              <a:t>kriptografik</a:t>
            </a:r>
            <a:r>
              <a:rPr sz="2000" b="0">
                <a:solidFill>
                  <a:srgbClr val="1F2D3A"/>
                </a:solidFill>
              </a:rPr>
              <a:t> bir özetle (HMAC/imza) doğrulayın, CRC ile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 tek noktada ve yalnız başlangıçta yapmayın; </a:t>
            </a:r>
            <a:r>
              <a:rPr sz="2000" b="1">
                <a:solidFill>
                  <a:srgbClr val="1F2D3A"/>
                </a:solidFill>
              </a:rPr>
              <a:t>periyodik, çoklu ve örtüşen</a:t>
            </a:r>
            <a:r>
              <a:rPr sz="2000" b="0">
                <a:solidFill>
                  <a:srgbClr val="1F2D3A"/>
                </a:solidFill>
              </a:rPr>
              <a:t> yapın.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yolları — şema</a:t>
            </a:r>
          </a:p>
        </p:txBody>
      </p:sp>
      <p:pic>
        <p:nvPicPr>
          <p:cNvPr id="7" name="Picture 6" descr="h06-07-anti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994" y="1325880"/>
            <a:ext cx="746770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 (debugger):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lldb, x64dbg, WinDbg).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Debugger 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Platforma göre gösterge · neler eskidi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65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9092945"/>
              </a:tblGrid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Gösterge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Linux / WSL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/proc/self/status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TracerPid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(&gt;0 ise izleniyoruz); ana sürecin adı gdb/strace 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IsDebuggerPresent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(PEB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BeingDebugged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);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CheckRemoteDebuggerPresent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; PEB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NtGlobalFlag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9067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2003'ten bugüne:</a:t>
            </a:r>
            <a:r>
              <a:rPr sz="2000" b="0">
                <a:solidFill>
                  <a:srgbClr val="1F2D3A"/>
                </a:solidFill>
              </a:rPr>
              <a:t> SoftICE öldü, yerine x64dbg/WinDbg/gdb/lldb/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geçti; </a:t>
            </a:r>
            <a:r>
              <a:rPr sz="2000" b="0">
                <a:solidFill>
                  <a:srgbClr val="A1123F"/>
                </a:solidFill>
                <a:latin typeface="Consolas"/>
              </a:rPr>
              <a:t>ptrace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1">
                <a:solidFill>
                  <a:srgbClr val="1F2D3A"/>
                </a:solidFill>
              </a:rPr>
              <a:t>TracerPid</a:t>
            </a:r>
            <a:r>
              <a:rPr sz="2000" b="0">
                <a:solidFill>
                  <a:srgbClr val="1F2D3A"/>
                </a:solidFill>
              </a:rPr>
              <a:t> hâlâ geçerli.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pic>
        <p:nvPicPr>
          <p:cNvPr id="7" name="Picture 6" descr="h06-08-zaman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867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231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· hata ayıklayıcı algılama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code/week-06/02-hata-ayiklayici</a:t>
            </a:r>
            <a:r>
              <a:rPr sz="2000" b="0">
                <a:solidFill>
                  <a:srgbClr val="1F2D3A"/>
                </a:solidFill>
              </a:rPr>
              <a:t> — anti-debug, yalnız okuma.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birden çok bağımsız sinyale bakar, </a:t>
            </a:r>
            <a:r>
              <a:rPr sz="2000" b="1">
                <a:solidFill>
                  <a:srgbClr val="1F2D3A"/>
                </a:solidFill>
              </a:rPr>
              <a:t>hiçbir şeyi değiştirmez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Kendini </a:t>
            </a:r>
            <a:r>
              <a:rPr sz="2000" b="0">
                <a:solidFill>
                  <a:srgbClr val="A1123F"/>
                </a:solidFill>
                <a:latin typeface="Consolas"/>
              </a:rPr>
              <a:t>ptrace</a:t>
            </a:r>
            <a:r>
              <a:rPr sz="2000" b="0">
                <a:solidFill>
                  <a:srgbClr val="1F2D3A"/>
                </a:solidFill>
              </a:rPr>
              <a:t> ile de izlemez;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/proc</a:t>
            </a:r>
            <a:r>
              <a:rPr sz="2000" b="0">
                <a:solidFill>
                  <a:srgbClr val="1F2D3A"/>
                </a:solidFill>
              </a:rPr>
              <a:t> ve PEB alanlarını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demo.sh</a:t>
            </a:r>
            <a:r>
              <a:rPr sz="2000" b="0">
                <a:solidFill>
                  <a:srgbClr val="1F2D3A"/>
                </a:solidFill>
              </a:rPr>
              <a:t> programı önce normal,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gdb</a:t>
            </a:r>
            <a:r>
              <a:rPr sz="2000" b="0">
                <a:solidFill>
                  <a:srgbClr val="1F2D3A"/>
                </a:solidFill>
              </a:rPr>
              <a:t> altında çalıştırır.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/proc/self/status icinden TracerPid oku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tp = tracer_pid();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(tp &gt; 0) supheli++;   /* bir surec bizi izliyor */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· gerçek çıktı (WSL)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1 - Normal calisma (hata ayiklayici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/proc/self/status TracerPid : 0 (izleyen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Ana surec (parent) adi      : sh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Temiz - izleyen bir arac gorunmuyor.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2 - gdb altinda calistir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/proc/self/status TracerPid : 2909 (IZLENIYOR)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Hata ayiklayici/izleme ARACI algilandi (2 sinyal).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ayıklayıcı yokken TracerPid </a:t>
            </a:r>
            <a:r>
              <a:rPr sz="2000" b="1">
                <a:solidFill>
                  <a:srgbClr val="1F2D3A"/>
                </a:solidFill>
              </a:rPr>
              <a:t>0</a:t>
            </a:r>
            <a:r>
              <a:rPr sz="2000" b="0">
                <a:solidFill>
                  <a:srgbClr val="1F2D3A"/>
                </a:solidFill>
              </a:rPr>
              <a:t>; gdb altında </a:t>
            </a:r>
            <a:r>
              <a:rPr sz="2000" b="1">
                <a:solidFill>
                  <a:srgbClr val="1F2D3A"/>
                </a:solidFill>
              </a:rPr>
              <a:t>2909</a:t>
            </a:r>
            <a:r>
              <a:rPr sz="2000" b="0">
                <a:solidFill>
                  <a:srgbClr val="1F2D3A"/>
                </a:solidFill>
              </a:rPr>
              <a:t> (&gt;0) çıktı.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Tespit–karşı-tespit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Anti-debug klasik bir </a:t>
            </a:r>
            <a:r>
              <a:rPr sz="2000" b="1">
                <a:solidFill>
                  <a:srgbClr val="1F2D3A"/>
                </a:solidFill>
              </a:rPr>
              <a:t>silah yarışıdır</a:t>
            </a:r>
            <a:r>
              <a:rPr sz="2000" b="0">
                <a:solidFill>
                  <a:srgbClr val="1F2D3A"/>
                </a:solidFill>
              </a:rPr>
              <a:t>: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ptrace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 ile no-op yapabilir,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IsDebuggerPresent</a:t>
            </a:r>
            <a:r>
              <a:rPr sz="2000" b="0">
                <a:solidFill>
                  <a:srgbClr val="1F2D3A"/>
                </a:solidFill>
              </a:rPr>
              <a:t>'in dönüşünü yamalayabilir, PEB bayrağını temizleyebilir.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Anti-debug'ı </a:t>
            </a:r>
            <a:r>
              <a:rPr sz="2000" b="1">
                <a:solidFill>
                  <a:srgbClr val="1F2D3A"/>
                </a:solidFill>
              </a:rPr>
              <a:t>tek bir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(IsDebuggerPresent()) exit();</a:t>
            </a:r>
            <a:r>
              <a:rPr sz="2000" b="0">
                <a:solidFill>
                  <a:srgbClr val="1F2D3A"/>
                </a:solidFill>
              </a:rPr>
              <a:t> olarak yazmayın.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Birden çok bağımsız sinyal toplayın, sonucu bir davranışa bağlayın, tepkiyi </a:t>
            </a:r>
            <a:r>
              <a:rPr sz="2000" b="1">
                <a:solidFill>
                  <a:srgbClr val="1F2D3A"/>
                </a:solidFill>
              </a:rPr>
              <a:t>geciktirin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yanlış pozitif — şema</a:t>
            </a:r>
          </a:p>
        </p:txBody>
      </p:sp>
      <p:pic>
        <p:nvPicPr>
          <p:cNvPr id="7" name="Picture 6" descr="h06-09-e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91" y="1325880"/>
            <a:ext cx="1083691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teknikleri (somut)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5667"/>
                <a:gridCol w="4816803"/>
                <a:gridCol w="294906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CPUID hipervizör biti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CPUID.1:ECX[31]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"hypervisor present"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Bare-metal'de 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Hipervizör satıcı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CPUID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yaprak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0x40000000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12 karakter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Bazı hipervizörler gizler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Zamanlama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işlemi ölç; ağır emülasyon çok yavaşlatır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Eşik makineye göre değişir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· VM/emülatör ve zamanlama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code/week-06/03-ortam-zamanlama</a:t>
            </a:r>
            <a:r>
              <a:rPr sz="2000" b="0">
                <a:solidFill>
                  <a:srgbClr val="1F2D3A"/>
                </a:solidFill>
              </a:rPr>
              <a:t> — yalnız CPU komutu ve saat okur.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(A) CPUID.1:ECX[31] hipervizor biti : VAR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Hipervizor satici imzasi        : (gizli/bos)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(B) 2.000.000 islem suresi          : 0.806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Hipervizor GORULDU.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çıktı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bir WSL2 makinesinde alındı.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önemli ders: yanlış pozitif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çıktı </a:t>
            </a:r>
            <a:r>
              <a:rPr sz="2000" b="1">
                <a:solidFill>
                  <a:srgbClr val="1F2D3A"/>
                </a:solidFill>
              </a:rPr>
              <a:t>hipervizör "VAR"</a:t>
            </a:r>
            <a:r>
              <a:rPr sz="2000" b="0">
                <a:solidFill>
                  <a:srgbClr val="1F2D3A"/>
                </a:solidFill>
              </a:rPr>
              <a:t> dedi.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bu bir analiz ortamı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 — sıradan bir geliştirici makinesi!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Windows'ta </a:t>
            </a:r>
            <a:r>
              <a:rPr sz="2000" b="1">
                <a:solidFill>
                  <a:srgbClr val="1F2D3A"/>
                </a:solidFill>
              </a:rPr>
              <a:t>Hyper-V, WSL2, VBS</a:t>
            </a:r>
            <a:r>
              <a:rPr sz="2000" b="0">
                <a:solidFill>
                  <a:srgbClr val="1F2D3A"/>
                </a:solidFill>
              </a:rPr>
              <a:t> yüzünden çoğu makine hipervizör bildirir.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pozitifin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bit tek başına "saldırgan analiz ediyor" anlamına </a:t>
            </a:r>
            <a:r>
              <a:rPr sz="2000" b="1">
                <a:solidFill>
                  <a:srgbClr val="1F2D3A"/>
                </a:solidFill>
              </a:rPr>
              <a:t>gelmez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uygulama sırf hipervizör gördüğü için çalışmayı </a:t>
            </a:r>
            <a:r>
              <a:rPr sz="2000" b="1">
                <a:solidFill>
                  <a:srgbClr val="1F2D3A"/>
                </a:solidFill>
              </a:rPr>
              <a:t>reddetseydi</a:t>
            </a:r>
            <a:r>
              <a:rPr sz="2000" b="0">
                <a:solidFill>
                  <a:srgbClr val="1F2D3A"/>
                </a:solidFill>
              </a:rPr>
              <a:t>, milyonlarca </a:t>
            </a:r>
            <a:r>
              <a:rPr sz="2000" b="1">
                <a:solidFill>
                  <a:srgbClr val="1F2D3A"/>
                </a:solidFill>
              </a:rPr>
              <a:t>meşru</a:t>
            </a:r>
            <a:r>
              <a:rPr sz="2000" b="0">
                <a:solidFill>
                  <a:srgbClr val="1F2D3A"/>
                </a:solidFill>
              </a:rPr>
              <a:t> kullanıcıyı engellerdi.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Meşru kullanıcı: geliştirici, kurumsal VM kullanıcısı, WSL2/Hyper-V/VBS'li sıradan Windows kullanıcısı.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daima </a:t>
            </a:r>
            <a:r>
              <a:rPr sz="2000" b="1">
                <a:solidFill>
                  <a:srgbClr val="1F2D3A"/>
                </a:solidFill>
              </a:rPr>
              <a:t>birden çok göstergeyi tartar</a:t>
            </a:r>
            <a:r>
              <a:rPr sz="2000" b="0">
                <a:solidFill>
                  <a:srgbClr val="1F2D3A"/>
                </a:solidFill>
              </a:rPr>
              <a:t> ve her birinin </a:t>
            </a:r>
            <a:r>
              <a:rPr sz="2000" b="1">
                <a:solidFill>
                  <a:srgbClr val="1F2D3A"/>
                </a:solidFill>
              </a:rPr>
              <a:t>atlatılabileceğini</a:t>
            </a:r>
            <a:r>
              <a:rPr sz="2000" b="0">
                <a:solidFill>
                  <a:srgbClr val="1F2D3A"/>
                </a:solidFill>
              </a:rPr>
              <a:t> kabul eder.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risk skoru, ikili karar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algılamayı bir </a:t>
            </a:r>
            <a:r>
              <a:rPr sz="2000" b="1">
                <a:solidFill>
                  <a:srgbClr val="1F2D3A"/>
                </a:solidFill>
              </a:rPr>
              <a:t>risk skoru</a:t>
            </a:r>
            <a:r>
              <a:rPr sz="2000" b="0">
                <a:solidFill>
                  <a:srgbClr val="1F2D3A"/>
                </a:solidFill>
              </a:rPr>
              <a:t> olarak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göstergeyi </a:t>
            </a:r>
            <a:r>
              <a:rPr sz="2000" b="1">
                <a:solidFill>
                  <a:srgbClr val="1F2D3A"/>
                </a:solidFill>
              </a:rPr>
              <a:t>birleştirin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Nihai kararı </a:t>
            </a:r>
            <a:r>
              <a:rPr sz="2000" b="1">
                <a:solidFill>
                  <a:srgbClr val="1F2D3A"/>
                </a:solidFill>
              </a:rPr>
              <a:t>sunucu tarafı risk motoruyla</a:t>
            </a:r>
            <a:r>
              <a:rPr sz="2000" b="0">
                <a:solidFill>
                  <a:srgbClr val="1F2D3A"/>
                </a:solidFill>
              </a:rPr>
              <a:t> birlikte verin.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nasıl uygulanır?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dünyada karşılığı </a:t>
            </a:r>
            <a:r>
              <a:rPr sz="2000" b="1">
                <a:solidFill>
                  <a:srgbClr val="1F2D3A"/>
                </a:solidFill>
              </a:rPr>
              <a:t>emülatör algılamadır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ro.kernel.qemu</a:t>
            </a:r>
            <a:r>
              <a:rPr sz="2000" b="0">
                <a:solidFill>
                  <a:srgbClr val="1F2D3A"/>
                </a:solidFill>
              </a:rPr>
              <a:t>, sahte sensörler, tipik IMEI/seri değerleri.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ilke geçerlidir: sinyal, </a:t>
            </a:r>
            <a:r>
              <a:rPr sz="2000" b="1">
                <a:solidFill>
                  <a:srgbClr val="1F2D3A"/>
                </a:solidFill>
              </a:rPr>
              <a:t>kanıt 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Kombinasyon + sunucu tarafı denetim.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Emülatör/VM algılamada </a:t>
            </a:r>
            <a:r>
              <a:rPr sz="2000" b="1">
                <a:solidFill>
                  <a:srgbClr val="1F2D3A"/>
                </a:solidFill>
              </a:rPr>
              <a:t>tek bir bit asla "saldırı" anlamına gelmez.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 tepki yerine risk skoru; sonuç sunucu tarafı doğrulamayla birlikte değerlendirilir.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algılama — şema</a:t>
            </a:r>
          </a:p>
        </p:txBody>
      </p:sp>
      <p:pic>
        <p:nvPicPr>
          <p:cNvPr id="7" name="Picture 6" descr="h06-10-h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260" y="1325880"/>
            <a:ext cx="919717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izleme/değiştirme; Frida bunun en yaygın aracıdır.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teknikleri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4565"/>
                <a:gridCol w="5107527"/>
                <a:gridCol w="208944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LD_PRELOAD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.so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'yu önyükleyip fonksiyon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PLT/GOT kancası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Çağrı tablosu girişini yönlendirme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Linux/ELF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Satır içi (inline) kanca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İlk baytları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jmp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ile ezme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yer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Frida / Xposed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Dinamik ikili enstrümantasyon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Mobil/masaüstü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Zayıf yol: getenv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(getenv("LD_PRELOAD") == NULL) printf("temiz\n");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2000" b="0">
                <a:solidFill>
                  <a:srgbClr val="1F2D3A"/>
                </a:solidFill>
              </a:rPr>
              <a:t>'in kendisi de </a:t>
            </a:r>
            <a:r>
              <a:rPr sz="2000" b="1">
                <a:solidFill>
                  <a:srgbClr val="1F2D3A"/>
                </a:solidFill>
              </a:rPr>
              <a:t>kancalanıp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döndürebilir. Bu yüzden </a:t>
            </a:r>
            <a:r>
              <a:rPr sz="2000" b="1">
                <a:solidFill>
                  <a:srgbClr val="1F2D3A"/>
                </a:solidFill>
              </a:rPr>
              <a:t>kaynağı doğrulamak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78759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Kritik fonksiyonu </a:t>
            </a:r>
            <a:r>
              <a:rPr sz="2000" b="1">
                <a:solidFill>
                  <a:srgbClr val="1F2D3A"/>
                </a:solidFill>
              </a:rPr>
              <a:t>çöz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) → 2. </a:t>
            </a:r>
            <a:r>
              <a:rPr sz="2000" b="1">
                <a:solidFill>
                  <a:srgbClr val="1F2D3A"/>
                </a:solidFill>
              </a:rPr>
              <a:t>geldiği modülü</a:t>
            </a:r>
            <a:r>
              <a:rPr sz="2000" b="0">
                <a:solidFill>
                  <a:srgbClr val="1F2D3A"/>
                </a:solidFill>
              </a:rPr>
              <a:t> bul (</a:t>
            </a:r>
            <a:r>
              <a:rPr sz="2000" b="0">
                <a:solidFill>
                  <a:srgbClr val="A1123F"/>
                </a:solidFill>
                <a:latin typeface="Consolas"/>
              </a:rPr>
              <a:t>dladdr</a:t>
            </a:r>
            <a:r>
              <a:rPr sz="2000" b="0">
                <a:solidFill>
                  <a:srgbClr val="1F2D3A"/>
                </a:solidFill>
              </a:rPr>
              <a:t>) → 3. </a:t>
            </a:r>
            <a:r>
              <a:rPr sz="2000" b="1">
                <a:solidFill>
                  <a:srgbClr val="1F2D3A"/>
                </a:solidFill>
              </a:rPr>
              <a:t>meşru</a:t>
            </a:r>
            <a:r>
              <a:rPr sz="2000" b="0">
                <a:solidFill>
                  <a:srgbClr val="1F2D3A"/>
                </a:solidFill>
              </a:rPr>
              <a:t> mu denetle → 4. </a:t>
            </a:r>
            <a:r>
              <a:rPr sz="2000" b="1">
                <a:solidFill>
                  <a:srgbClr val="1F2D3A"/>
                </a:solidFill>
              </a:rPr>
              <a:t>karar</a:t>
            </a:r>
            <a:r>
              <a:rPr sz="2000" b="0">
                <a:solidFill>
                  <a:srgbClr val="1F2D3A"/>
                </a:solidFill>
              </a:rPr>
              <a:t> ver.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fonksiyonu çöz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*p = dlsym(RTLD_DEFAULT, "time");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, çalışma anında </a:t>
            </a:r>
            <a:r>
              <a:rPr sz="2000" b="1">
                <a:solidFill>
                  <a:srgbClr val="1F2D3A"/>
                </a:solidFill>
              </a:rPr>
              <a:t>hangi fonksiyonun</a:t>
            </a:r>
            <a:r>
              <a:rPr sz="2000" b="0">
                <a:solidFill>
                  <a:srgbClr val="1F2D3A"/>
                </a:solidFill>
              </a:rPr>
              <a:t> çağrılacağını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Önyüklü bir kanca varsa,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döndürür (manipüle edilmiş sonuç).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kaynağı bul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Dl_info info;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dladdr(p, &amp;info);   /* fonksiyonu saglayan .so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dladdr</a:t>
            </a:r>
            <a:r>
              <a:rPr sz="2000" b="0">
                <a:solidFill>
                  <a:srgbClr val="1F2D3A"/>
                </a:solidFill>
              </a:rPr>
              <a:t>, bir adresin </a:t>
            </a:r>
            <a:r>
              <a:rPr sz="2000" b="1">
                <a:solidFill>
                  <a:srgbClr val="1F2D3A"/>
                </a:solidFill>
              </a:rPr>
              <a:t>hangi paylaşımlı nesneden (.so)</a:t>
            </a:r>
            <a:r>
              <a:rPr sz="2000" b="0">
                <a:solidFill>
                  <a:srgbClr val="1F2D3A"/>
                </a:solidFill>
              </a:rPr>
              <a:t> geldiğini söyler.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2000" b="0">
                <a:solidFill>
                  <a:srgbClr val="1F2D3A"/>
                </a:solidFill>
              </a:rPr>
              <a:t> sahteciliğine </a:t>
            </a:r>
            <a:r>
              <a:rPr sz="2000" b="1">
                <a:solidFill>
                  <a:srgbClr val="1F2D3A"/>
                </a:solidFill>
              </a:rPr>
              <a:t>dayanmaz</a:t>
            </a:r>
            <a:r>
              <a:rPr sz="2000" b="0">
                <a:solidFill>
                  <a:srgbClr val="1F2D3A"/>
                </a:solidFill>
              </a:rPr>
              <a:t> — doğrudan bellek adresine bakar.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meşru mu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kanca = !mesru_mi(info.dli_fname);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kaynak </a:t>
            </a:r>
            <a:r>
              <a:rPr sz="2000" b="1">
                <a:solidFill>
                  <a:srgbClr val="1F2D3A"/>
                </a:solidFill>
              </a:rPr>
              <a:t>libc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vDSO</a:t>
            </a:r>
            <a:r>
              <a:rPr sz="2000" b="0">
                <a:solidFill>
                  <a:srgbClr val="1F2D3A"/>
                </a:solidFill>
              </a:rPr>
              <a:t> ya da dinamik yükleyicidir.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Yabancı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'dan geliyorsa → </a:t>
            </a:r>
            <a:r>
              <a:rPr sz="2000" b="1">
                <a:solidFill>
                  <a:srgbClr val="1F2D3A"/>
                </a:solidFill>
              </a:rPr>
              <a:t>kanca 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karar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Meşru kaynak listesinde </a:t>
            </a:r>
            <a:r>
              <a:rPr sz="2000" b="1">
                <a:solidFill>
                  <a:srgbClr val="1F2D3A"/>
                </a:solidFill>
              </a:rPr>
              <a:t>yoksa</a:t>
            </a:r>
            <a:r>
              <a:rPr sz="2000" b="0">
                <a:solidFill>
                  <a:srgbClr val="1F2D3A"/>
                </a:solidFill>
              </a:rPr>
              <a:t> → kanca bayrağı kaldırılır.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tek başına bırakılmaz; </a:t>
            </a:r>
            <a:r>
              <a:rPr sz="2000" b="1">
                <a:solidFill>
                  <a:srgbClr val="1F2D3A"/>
                </a:solidFill>
              </a:rPr>
              <a:t>tepki politikasına</a:t>
            </a:r>
            <a:r>
              <a:rPr sz="2000" b="0">
                <a:solidFill>
                  <a:srgbClr val="1F2D3A"/>
                </a:solidFill>
              </a:rPr>
              <a:t> bağlanır (10. bölüm).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fonksiyon için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 (tek fonksiyon yetmez).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· LD_PRELOAD kancası —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1 - Normal calisma (LD_PRELOAD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time     -&gt; linux-vdso.so.1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getenv   -&gt; /lib/x86_64-linux-gnu/libc.so.6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Temiz - preload/kanca gorunmuyor.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2 - Saldiri: sahte kanca YALNIZ bu surece yukleniyor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time     -&gt; bin/linux/libsahtekanca.so (KANCA!)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time(NULL) dondurdu : 1234567890 (sabit sahte deger)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Fonksiyon kancasi / preload ALGILANDI (2 sinyal).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Temiz koşuda </a:t>
            </a:r>
            <a:r>
              <a:rPr sz="2000" b="0">
                <a:solidFill>
                  <a:srgbClr val="A1123F"/>
                </a:solidFill>
                <a:latin typeface="Consolas"/>
              </a:rPr>
              <a:t>time</a:t>
            </a:r>
            <a:r>
              <a:rPr sz="2000" b="0">
                <a:solidFill>
                  <a:srgbClr val="1F2D3A"/>
                </a:solidFill>
              </a:rPr>
              <a:t>, çekirdeğin </a:t>
            </a:r>
            <a:r>
              <a:rPr sz="2000" b="1">
                <a:solidFill>
                  <a:srgbClr val="1F2D3A"/>
                </a:solidFill>
              </a:rPr>
              <a:t>vDSO</a:t>
            </a:r>
            <a:r>
              <a:rPr sz="2000" b="0">
                <a:solidFill>
                  <a:srgbClr val="1F2D3A"/>
                </a:solidFill>
              </a:rPr>
              <a:t>'sundan çözüldü — bu </a:t>
            </a:r>
            <a:r>
              <a:rPr sz="2000" b="1">
                <a:solidFill>
                  <a:srgbClr val="1F2D3A"/>
                </a:solidFill>
              </a:rPr>
              <a:t>meşrudur</a:t>
            </a:r>
            <a:r>
              <a:rPr sz="2000" b="0">
                <a:solidFill>
                  <a:srgbClr val="1F2D3A"/>
                </a:solidFill>
              </a:rPr>
              <a:t>, kanca değil.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Kanca algılamada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getenv(LD_PRELOAD)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manipüle edilebilir</a:t>
            </a:r>
            <a:r>
              <a:rPr sz="2000" b="0">
                <a:solidFill>
                  <a:srgbClr val="1F2D3A"/>
                </a:solidFill>
              </a:rPr>
              <a:t> kaynaklara güvenmeyin.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Kritik fonksiyonların </a:t>
            </a:r>
            <a:r>
              <a:rPr sz="2000" b="1">
                <a:solidFill>
                  <a:srgbClr val="1F2D3A"/>
                </a:solidFill>
              </a:rPr>
              <a:t>kaynağını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dlsym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dladdr</a:t>
            </a:r>
            <a:r>
              <a:rPr sz="2000" b="0">
                <a:solidFill>
                  <a:srgbClr val="1F2D3A"/>
                </a:solidFill>
              </a:rPr>
              <a:t>) doğrulayın; birden çok fonksiyonu kontrol edin.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koruma katmanları — şema</a:t>
            </a:r>
          </a:p>
        </p:txBody>
      </p:sp>
      <p:pic>
        <p:nvPicPr>
          <p:cNvPr id="7" name="Picture 6" descr="h06-13-bellek-koruma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501" y="1325880"/>
            <a:ext cx="653069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bellekle ne yapar?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523"/>
                <a:gridCol w="5753354"/>
                <a:gridCol w="3372656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Hedef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 belleğinin dökümünü almak, bilinen değeri aramak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Anahtar, PIN, çözülmüş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sayacı/bayrağı bellekte değiştirmek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ve denetimler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İzleme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değer değiştiğinde haber veren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Değişkenlerin yerini keşfetmek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için saldırganın süreç belleğine </a:t>
            </a:r>
            <a:r>
              <a:rPr sz="2000" b="1">
                <a:solidFill>
                  <a:srgbClr val="1F2D3A"/>
                </a:solidFill>
              </a:rPr>
              <a:t>erişmesi</a:t>
            </a:r>
            <a:r>
              <a:rPr sz="2000" b="0">
                <a:solidFill>
                  <a:srgbClr val="1F2D3A"/>
                </a:solidFill>
              </a:rPr>
              <a:t> gerekir (debugger, OS arayüzü, enjekte kütüphane).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(7)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1">
                <a:solidFill>
                  <a:srgbClr val="1F2D3A"/>
                </a:solidFill>
              </a:rPr>
              <a:t>az, kısa ve dağınık</a:t>
            </a:r>
            <a:r>
              <a:rPr sz="2000" b="0">
                <a:solidFill>
                  <a:srgbClr val="1F2D3A"/>
                </a:solidFill>
              </a:rPr>
              <a:t> tutun; kritik değeri </a:t>
            </a:r>
            <a:r>
              <a:rPr sz="2000" b="1">
                <a:solidFill>
                  <a:srgbClr val="1F2D3A"/>
                </a:solidFill>
              </a:rPr>
              <a:t>gölge kopya + özetle</a:t>
            </a:r>
            <a:r>
              <a:rPr sz="2000" b="0">
                <a:solidFill>
                  <a:srgbClr val="1F2D3A"/>
                </a:solidFill>
              </a:rPr>
              <a:t> koruyun.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Tutarsızlık bir tepkiye bağlanmalı — sessizce yok saymak korumayı boşa çıkarır.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göstergesinden karara — şema</a:t>
            </a:r>
          </a:p>
        </p:txBody>
      </p:sp>
      <p:pic>
        <p:nvPicPr>
          <p:cNvPr id="7" name="Picture 6" descr="h06-14-kok-gosterge-kar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16414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ve 7 · gerçek çıktılar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Demo 7 (kök/ayrıcalık göstergesi)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Ayricalik seviyesi : normal kullanici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[BULUNDU] cikti/sahte_su (ek isaret)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Ayricalikli/riskli ortam GOSTERGESI var.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Demo 6 (bileşen imzası)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Modul imzasi TUTMADI -&gt; YENIDEN PAKETLENMIS.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Yukleme REDDEDILDI.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demo da </a:t>
            </a:r>
            <a:r>
              <a:rPr sz="2000" b="1">
                <a:solidFill>
                  <a:srgbClr val="1F2D3A"/>
                </a:solidFill>
              </a:rPr>
              <a:t>yalnız okuyarak/doğrulayarak</a:t>
            </a:r>
            <a:r>
              <a:rPr sz="2000" b="0">
                <a:solidFill>
                  <a:srgbClr val="1F2D3A"/>
                </a:solidFill>
              </a:rPr>
              <a:t> çalışır; sistem değiştirmez.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Kök/ayrıcalık göstergeleri </a:t>
            </a:r>
            <a:r>
              <a:rPr sz="2000" b="1">
                <a:solidFill>
                  <a:srgbClr val="1F2D3A"/>
                </a:solidFill>
              </a:rPr>
              <a:t>kanıt değil, sinyaldir</a:t>
            </a:r>
            <a:r>
              <a:rPr sz="2000" b="0">
                <a:solidFill>
                  <a:srgbClr val="1F2D3A"/>
                </a:solidFill>
              </a:rPr>
              <a:t> — kolayca sahtelenir.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Dinamik yüklenen her bileşeni yüklemeden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kriptografik olarak doğrulayın; mümkünse karşılıklı doğrulama kurun.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 — şema</a:t>
            </a:r>
          </a:p>
        </p:txBody>
      </p:sp>
      <p:pic>
        <p:nvPicPr>
          <p:cNvPr id="7" name="Picture 6" descr="h06-04-akis-say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573" y="1325880"/>
            <a:ext cx="931654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· skip saldırısı —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1 - Normal: kontroller sirayla calisir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ODEME ONAYLANDI -&gt; "ODEME-ONAYI-TOKEN-4242"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2 - Saldiri: kontroller tamamen ATLANIR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(uyari: sayac=0 iz=0x0 beklenen=3/0x7)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ODEME REDDEDILDI (zincir anahtari yanlis). decoy doner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4 - Saldiri: kontroller YANLIS SIRADA calisir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ODEME REDDEDILDI (zincir anahtari yanlis). decoy doner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Kontroller atlanınca ya da sırası bozulunca zincir farklı çıktı; </a:t>
            </a:r>
            <a:r>
              <a:rPr sz="2000" b="1">
                <a:solidFill>
                  <a:srgbClr val="1F2D3A"/>
                </a:solidFill>
              </a:rPr>
              <a:t>gerçek sonuç üretilemedi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(9)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Kritik kararları </a:t>
            </a:r>
            <a:r>
              <a:rPr sz="2000" b="1">
                <a:solidFill>
                  <a:srgbClr val="1F2D3A"/>
                </a:solidFill>
              </a:rPr>
              <a:t>tek bir boolean</a:t>
            </a:r>
            <a:r>
              <a:rPr sz="2000" b="0">
                <a:solidFill>
                  <a:srgbClr val="1F2D3A"/>
                </a:solidFill>
              </a:rPr>
              <a:t>'a bağlamayın (yamalanır).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kontrollerini bir </a:t>
            </a:r>
            <a:r>
              <a:rPr sz="2000" b="1">
                <a:solidFill>
                  <a:srgbClr val="1F2D3A"/>
                </a:solidFill>
              </a:rPr>
              <a:t>kontrol akışı sayacına</a:t>
            </a:r>
            <a:r>
              <a:rPr sz="2000" b="0">
                <a:solidFill>
                  <a:srgbClr val="1F2D3A"/>
                </a:solidFill>
              </a:rPr>
              <a:t> ve mümkünse bir </a:t>
            </a:r>
            <a:r>
              <a:rPr sz="2000" b="1">
                <a:solidFill>
                  <a:srgbClr val="1F2D3A"/>
                </a:solidFill>
              </a:rPr>
              <a:t>veri bağımlılığına</a:t>
            </a:r>
            <a:r>
              <a:rPr sz="2000" b="0">
                <a:solidFill>
                  <a:srgbClr val="1F2D3A"/>
                </a:solidFill>
              </a:rPr>
              <a:t> bağlayın.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yapacağına</a:t>
            </a:r>
            <a:r>
              <a:rPr sz="2000" b="0">
                <a:solidFill>
                  <a:srgbClr val="1F2D3A"/>
                </a:solidFill>
              </a:rPr>
              <a:t> karar vermesidir.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stratejileri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7274356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Şüphede işlemi reddet, güven deposuna düşme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Tamper anında değerli veriyi güvenle sil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Decoy (sahte) 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Çökmek yerine rastgele/sahte sonuç döndür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Gecikmeli/örtük tepki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Tepkiyi zaman/mesafe olarak tetikleyiciden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cihaza/sürüme bağla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Telemetri/attestation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Olayı sunucuya bildir; sunucu risk motoru karar versin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 → karar → tepki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Demo 8 (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code/week-06/08-tamper-yanit</a:t>
            </a:r>
            <a:r>
              <a:rPr sz="2000" b="0">
                <a:solidFill>
                  <a:srgbClr val="1F2D3A"/>
                </a:solidFill>
              </a:rPr>
              <a:t>) bu döngüyü tek bir </a:t>
            </a:r>
            <a:r>
              <a:rPr sz="2000" b="1">
                <a:solidFill>
                  <a:srgbClr val="1F2D3A"/>
                </a:solidFill>
              </a:rPr>
              <a:t>öz koruma motorunda</a:t>
            </a:r>
            <a:r>
              <a:rPr sz="2000" b="0">
                <a:solidFill>
                  <a:srgbClr val="1F2D3A"/>
                </a:solidFill>
              </a:rPr>
              <a:t> birleştirir: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dizi kontrol </a:t>
            </a:r>
            <a:r>
              <a:rPr sz="2000" b="1">
                <a:solidFill>
                  <a:srgbClr val="1F2D3A"/>
                </a:solidFill>
              </a:rPr>
              <a:t>çalışır</a:t>
            </a:r>
            <a:r>
              <a:rPr sz="2000" b="0">
                <a:solidFill>
                  <a:srgbClr val="1F2D3A"/>
                </a:solidFill>
              </a:rPr>
              <a:t> (bütünlük, anti-debug, ortam…).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Sır, cihaz-bağlı bir anahtarla (HKDF + AES-GCM) </a:t>
            </a:r>
            <a:r>
              <a:rPr sz="2000" b="1">
                <a:solidFill>
                  <a:srgbClr val="1F2D3A"/>
                </a:solidFill>
              </a:rPr>
              <a:t>sarılıdır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Tamper algılanınca motor sırrı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, bayrak kaldırır, </a:t>
            </a:r>
            <a:r>
              <a:rPr sz="2000" b="1">
                <a:solidFill>
                  <a:srgbClr val="1F2D3A"/>
                </a:solidFill>
              </a:rPr>
              <a:t>decoy</a:t>
            </a:r>
            <a:r>
              <a:rPr sz="2000" b="0">
                <a:solidFill>
                  <a:srgbClr val="1F2D3A"/>
                </a:solidFill>
              </a:rPr>
              <a:t> döndürür.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 · algıla (senaryo 1 — normal)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1 - Normal: kontroller gecer, cihaz dogru -&gt; sir acilir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TEMIZ. Sir acildi ve islem yapiliyor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-&gt; "ODEME-ANAHTARI-7C4A"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(sir kullanildiktan sonra bellekten guvenle silindi)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Kontroller </a:t>
            </a:r>
            <a:r>
              <a:rPr sz="2000" b="1">
                <a:solidFill>
                  <a:srgbClr val="1F2D3A"/>
                </a:solidFill>
              </a:rPr>
              <a:t>geçti</a:t>
            </a:r>
            <a:r>
              <a:rPr sz="2000" b="0">
                <a:solidFill>
                  <a:srgbClr val="1F2D3A"/>
                </a:solidFill>
              </a:rPr>
              <a:t>, cihaz doğruydu → sır açıldı, kullanıldı, hemen </a:t>
            </a:r>
            <a:r>
              <a:rPr sz="2000" b="1">
                <a:solidFill>
                  <a:srgbClr val="1F2D3A"/>
                </a:solidFill>
              </a:rPr>
              <a:t>silindi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B · karar (senaryo 2 — tamper)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2 - Tamper: bir kontrol basarisiz -&gt; sil + decoy + bayrak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TAMPER ALGILANDI -&gt; algilama kontrolu basarisiz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Politika: sir silindi, tamper bayragi kaldirildi,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olay kaydedildi.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Cokmek yerine SAHTE (decoy) sonuc dondu: 60797327...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kontrol </a:t>
            </a:r>
            <a:r>
              <a:rPr sz="2000" b="1">
                <a:solidFill>
                  <a:srgbClr val="1F2D3A"/>
                </a:solidFill>
              </a:rPr>
              <a:t>başarısız</a:t>
            </a:r>
            <a:r>
              <a:rPr sz="2000" b="0">
                <a:solidFill>
                  <a:srgbClr val="1F2D3A"/>
                </a:solidFill>
              </a:rPr>
              <a:t> oldu → motor </a:t>
            </a:r>
            <a:r>
              <a:rPr sz="2000" b="1">
                <a:solidFill>
                  <a:srgbClr val="1F2D3A"/>
                </a:solidFill>
              </a:rPr>
              <a:t>karar</a:t>
            </a:r>
            <a:r>
              <a:rPr sz="2000" b="0">
                <a:solidFill>
                  <a:srgbClr val="1F2D3A"/>
                </a:solidFill>
              </a:rPr>
              <a:t> verdi: sil + kaydet + decoy.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C · tepki (senaryo 3 — başka cihaz)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SENARYO 3 - Baska cihaz: kontroller gecer 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cihaz anahtari tutmaz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TAMPER ALGILANDI -&gt; cihaz/surum baglama tutmadi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(klonlama?) ... decoy doner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Kontroller geçse </a:t>
            </a:r>
            <a:r>
              <a:rPr sz="2000" b="1">
                <a:solidFill>
                  <a:srgbClr val="1F2D3A"/>
                </a:solidFill>
              </a:rPr>
              <a:t>bile</a:t>
            </a:r>
            <a:r>
              <a:rPr sz="2000" b="0">
                <a:solidFill>
                  <a:srgbClr val="1F2D3A"/>
                </a:solidFill>
              </a:rPr>
              <a:t> cihaz-bağlı anahtar tutmadı → sır </a:t>
            </a:r>
            <a:r>
              <a:rPr sz="2000" b="1">
                <a:solidFill>
                  <a:srgbClr val="1F2D3A"/>
                </a:solidFill>
              </a:rPr>
              <a:t>açılamadı</a:t>
            </a:r>
            <a:r>
              <a:rPr sz="2000" b="0">
                <a:solidFill>
                  <a:srgbClr val="1F2D3A"/>
                </a:solidFill>
              </a:rPr>
              <a:t>. Bu, Hafta 3'teki güvenlik kabuğunun en iç katmanıdır.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— şema</a:t>
            </a:r>
          </a:p>
        </p:txBody>
      </p:sp>
      <p:pic>
        <p:nvPicPr>
          <p:cNvPr id="7" name="Picture 6" descr="h06-12-cihaz-bag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8406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sökmeye (9/11. hafta) karşı.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akışı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1 — parmak izini oku:</a:t>
            </a:r>
            <a:r>
              <a:rPr sz="2000" b="0">
                <a:solidFill>
                  <a:srgbClr val="1F2D3A"/>
                </a:solidFill>
              </a:rPr>
              <a:t> cihazın donanım/OS parmak izi okunur (5.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2 — anahtar türet:</a:t>
            </a:r>
            <a:r>
              <a:rPr sz="2000" b="0">
                <a:solidFill>
                  <a:srgbClr val="1F2D3A"/>
                </a:solidFill>
              </a:rPr>
              <a:t> parmak izi + sürüm dizesinden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ile bir anahtar türetilir; sır bu anahtarla </a:t>
            </a:r>
            <a:r>
              <a:rPr sz="2000" b="1">
                <a:solidFill>
                  <a:srgbClr val="1F2D3A"/>
                </a:solidFill>
              </a:rPr>
              <a:t>AES-GCM</a:t>
            </a:r>
            <a:r>
              <a:rPr sz="2000" b="0">
                <a:solidFill>
                  <a:srgbClr val="1F2D3A"/>
                </a:solidFill>
              </a:rPr>
              <a:t> ile sarılır.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Adım 3 — taşınırsa aç:</a:t>
            </a:r>
            <a:r>
              <a:rPr sz="2000" b="0">
                <a:solidFill>
                  <a:srgbClr val="1F2D3A"/>
                </a:solidFill>
              </a:rPr>
              <a:t> dosya başka bir cihaza kopyalansa bile, o cihazın parmak izi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olduğundan türetilen anahtar tutmaz → sır </a:t>
            </a:r>
            <a:r>
              <a:rPr sz="2000" b="1">
                <a:solidFill>
                  <a:srgbClr val="1F2D3A"/>
                </a:solidFill>
              </a:rPr>
              <a:t>açılamaz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Tepki: nasıl karar verilir?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Gösterge ne kadar güvenilir?</a:t>
            </a:r>
            <a:r>
              <a:rPr sz="2000" b="0">
                <a:solidFill>
                  <a:srgbClr val="1F2D3A"/>
                </a:solidFill>
              </a:rPr>
              <a:t> Çok güvenilir → reddet + sunucuya bildir. Belirsiz → devam et,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Kullanıcı deneyimi etkilenir mi?</a:t>
            </a:r>
            <a:r>
              <a:rPr sz="2000" b="0">
                <a:solidFill>
                  <a:srgbClr val="1F2D3A"/>
                </a:solidFill>
              </a:rPr>
              <a:t> Yanlış pozitif riski yüksekse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; sessiz kısıtlama + sunucu denetimi tercih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Tepki denetimi ele verir mi?</a:t>
            </a:r>
            <a:r>
              <a:rPr sz="2000" b="0">
                <a:solidFill>
                  <a:srgbClr val="1F2D3A"/>
                </a:solidFill>
              </a:rPr>
              <a:t> Hemen çökme kaynağı gösterir;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kaynağı gizler.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pic>
        <p:nvPicPr>
          <p:cNvPr id="7" name="Picture 6" descr="h06-11-te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994" y="1325880"/>
            <a:ext cx="746770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(10)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Tepkiyi tetikleyiciden </a:t>
            </a:r>
            <a:r>
              <a:rPr sz="2000" b="1">
                <a:solidFill>
                  <a:srgbClr val="1F2D3A"/>
                </a:solidFill>
              </a:rPr>
              <a:t>ayırın</a:t>
            </a:r>
            <a:r>
              <a:rPr sz="2000" b="0">
                <a:solidFill>
                  <a:srgbClr val="1F2D3A"/>
                </a:solidFill>
              </a:rPr>
              <a:t>: hemen </a:t>
            </a:r>
            <a:r>
              <a:rPr sz="2000" b="0">
                <a:solidFill>
                  <a:srgbClr val="A1123F"/>
                </a:solidFill>
                <a:latin typeface="Consolas"/>
              </a:rPr>
              <a:t>exit()</a:t>
            </a:r>
            <a:r>
              <a:rPr sz="2000" b="0">
                <a:solidFill>
                  <a:srgbClr val="1F2D3A"/>
                </a:solidFill>
              </a:rPr>
              <a:t> saldırgana yol gösterir.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Tamper anında sırrı </a:t>
            </a:r>
            <a:r>
              <a:rPr sz="2000" b="1">
                <a:solidFill>
                  <a:srgbClr val="1F2D3A"/>
                </a:solidFill>
              </a:rPr>
              <a:t>silin</a:t>
            </a:r>
            <a:r>
              <a:rPr sz="2000" b="0">
                <a:solidFill>
                  <a:srgbClr val="1F2D3A"/>
                </a:solidFill>
              </a:rPr>
              <a:t>, çökmek yerine </a:t>
            </a:r>
            <a:r>
              <a:rPr sz="2000" b="1">
                <a:solidFill>
                  <a:srgbClr val="1F2D3A"/>
                </a:solidFill>
              </a:rPr>
              <a:t>decoy</a:t>
            </a:r>
            <a:r>
              <a:rPr sz="2000" b="0">
                <a:solidFill>
                  <a:srgbClr val="1F2D3A"/>
                </a:solidFill>
              </a:rPr>
              <a:t> döndürün, olayı sunucuya bildirin, sırrı cihaza bağlayın.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 — şema</a:t>
            </a:r>
          </a:p>
        </p:txBody>
      </p:sp>
      <p:pic>
        <p:nvPicPr>
          <p:cNvPr id="7" name="Picture 6" descr="h06-15-rasp-sinir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35521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bir RASP katmanı kurmak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Saldırgan ile savunmacı: bir diyalog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denetim kataloğu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denetim kataloğu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akıllı</a:t>
            </a:r>
            <a:r>
              <a:rPr sz="2000" b="0">
                <a:solidFill>
                  <a:srgbClr val="1F2D3A"/>
                </a:solidFill>
              </a:rPr>
              <a:t> (gecikmeli/dolaylı — "hemen çök"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3741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Uçtaki saldırgan (cihazın sahibi)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(HKDF ile)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Decoy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Çökmek yerine dönen sahte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Şüphede işlemi reddetme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Attestation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Bütünlüğün sunucu tarafı kanıtı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7. hafta — Ara proje gösterimleri (RAP1)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8. hafta — Quiz-1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Hafta 7'de bu haftaki RASP kontrollerinizi (bütünlük denetimi, hata ayıklayıcı/ortam/kanca algılama, kontrol akışı sayacı, tepki politikası) projenizde canlı göstereceksiniz. Hafta 8, 1–6. haftaları kapsayan Quiz-1'dir.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97855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Ardından </a:t>
            </a:r>
            <a:r>
              <a:rPr sz="2000" b="1">
                <a:solidFill>
                  <a:srgbClr val="1F2D3A"/>
                </a:solidFill>
              </a:rPr>
              <a:t>Hafta 9 — Gelişmiş gizleme ve çeşitlendirme</a:t>
            </a:r>
            <a:r>
              <a:rPr sz="2000" b="0">
                <a:solidFill>
                  <a:srgbClr val="1F2D3A"/>
                </a:solidFill>
              </a:rPr>
              <a:t>, bu haftanın hata ayıklayıcı/ortam algılama ve "gizleme/caydırma kırılmazlık değildir" fikirlerini kod gizleme tarafında derinleştirerek sürer.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