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odak "programı sağlamlaştırma"dan "program çalışırken kendini koruma"ya kayıyor. Ana varsayım: cihazın sahibi saldırgan (MATE). Ana fikir: tek kontrole güvenme; algılama + tepki + cihaz bağlama.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çalışma anı korumalarını (RASP) işliyoruz. Sıfır ön bilgi; her terimi tanımlayacağız. Ana çerçeve: RASP algılar, savunur, caydırır; ama tek başına değil, katmanlı.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RASP terimlerini sıfırdan tanımlıyoruz.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bütünlük denetimi.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emülatör ve kanca algılama.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kök/imza, kontrol akışı bütünlüğü, tepki.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sınırlar, etik, proje.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Sentetik bir örnekte bütünlük + anti-debug + tepki adım adım kuruyoruz.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 denetim için "saldırgan ne yapar → savunma ne ekler" döngüsünü gösteriyoruz. Bu, katmanlı savunmanın neden gerekli olduğunu somutlaştırır.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Çalışma Zamanı Uygulama Öz Koruması (RASP)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Güvenli Programlama — Hafta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23.10.2026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Bugünün planı (3 saat)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8626"/>
                <a:gridCol w="1055955"/>
                <a:gridCol w="8916953"/>
              </a:tblGrid>
              <a:tr h="560070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Bölüm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0–2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Temel kavramlar · RASP nedir · RASP mimarisi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3–7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Bütünlük · hata ayıklayıcı · emülatör · kanca/Frida · bellek koruması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8–13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Kök/imza · kontrol akışı bütünlüğü · tepki politikası · sınırlar · proje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Kısa tarihçe — uygulama kendini korur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1980'ler</a:t>
            </a:r>
            <a:r>
              <a:rPr sz="1800" b="0">
                <a:solidFill>
                  <a:srgbClr val="1F2D3A"/>
                </a:solidFill>
              </a:rPr>
              <a:t> — crack/anti-crack kültürü: </a:t>
            </a:r>
            <a:r>
              <a:rPr sz="1800" b="1">
                <a:solidFill>
                  <a:srgbClr val="1F2D3A"/>
                </a:solidFill>
              </a:rPr>
              <a:t>anti-debug</a:t>
            </a:r>
            <a:r>
              <a:rPr sz="1800" b="0">
                <a:solidFill>
                  <a:srgbClr val="1F2D3A"/>
                </a:solidFill>
              </a:rPr>
              <a:t> ve self-check kökeni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2000'ler</a:t>
            </a:r>
            <a:r>
              <a:rPr sz="1800" b="0">
                <a:solidFill>
                  <a:srgbClr val="1F2D3A"/>
                </a:solidFill>
              </a:rPr>
              <a:t> — DRM ve mobil bankacılık korumayı uygulamanın </a:t>
            </a:r>
            <a:r>
              <a:rPr sz="1800" b="1">
                <a:solidFill>
                  <a:srgbClr val="1F2D3A"/>
                </a:solidFill>
              </a:rPr>
              <a:t>içine</a:t>
            </a:r>
            <a:r>
              <a:rPr sz="1800" b="0">
                <a:solidFill>
                  <a:srgbClr val="1F2D3A"/>
                </a:solidFill>
              </a:rPr>
              <a:t> taşır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2012</a:t>
            </a:r>
            <a:r>
              <a:rPr sz="1800" b="0">
                <a:solidFill>
                  <a:srgbClr val="1F2D3A"/>
                </a:solidFill>
              </a:rPr>
              <a:t> — Gartner </a:t>
            </a:r>
            <a:r>
              <a:rPr sz="1800" b="1">
                <a:solidFill>
                  <a:srgbClr val="1F2D3A"/>
                </a:solidFill>
              </a:rPr>
              <a:t>RASP</a:t>
            </a:r>
            <a:r>
              <a:rPr sz="1800" b="0">
                <a:solidFill>
                  <a:srgbClr val="1F2D3A"/>
                </a:solidFill>
              </a:rPr>
              <a:t> terimini ortaya atar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bugün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OWASP MASVS-RESILIENCE</a:t>
            </a:r>
            <a:r>
              <a:rPr sz="1800" b="0">
                <a:solidFill>
                  <a:srgbClr val="1F2D3A"/>
                </a:solidFill>
              </a:rPr>
              <a:t> bunu denetlenebilir gereksinime çevirir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98648"/>
            <a:ext cx="10911535" cy="57150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RASP yeni bir fikir değil: </a:t>
            </a:r>
            <a:r>
              <a:rPr sz="1800" b="1">
                <a:solidFill>
                  <a:srgbClr val="1F2D3A"/>
                </a:solidFill>
              </a:rPr>
              <a:t>MATE saldırganına</a:t>
            </a:r>
            <a:r>
              <a:rPr sz="1800" b="0">
                <a:solidFill>
                  <a:srgbClr val="1F2D3A"/>
                </a:solidFill>
              </a:rPr>
              <a:t> verilen kurumsal cevabın adı.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hafta nereye oturuyor?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4–5. hafta:</a:t>
            </a:r>
            <a:r>
              <a:rPr sz="2000" b="0">
                <a:solidFill>
                  <a:srgbClr val="1F2D3A"/>
                </a:solidFill>
              </a:rPr>
              <a:t> kodu </a:t>
            </a:r>
            <a:r>
              <a:rPr sz="2000" b="1">
                <a:solidFill>
                  <a:srgbClr val="1F2D3A"/>
                </a:solidFill>
              </a:rPr>
              <a:t>statik</a:t>
            </a:r>
            <a:r>
              <a:rPr sz="2000" b="0">
                <a:solidFill>
                  <a:srgbClr val="1F2D3A"/>
                </a:solidFill>
              </a:rPr>
              <a:t> sağlamlaştırdık (derleme, gizleme).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Bu hafta (6):</a:t>
            </a:r>
            <a:r>
              <a:rPr sz="2000" b="0">
                <a:solidFill>
                  <a:srgbClr val="1F2D3A"/>
                </a:solidFill>
              </a:rPr>
              <a:t> program </a:t>
            </a:r>
            <a:r>
              <a:rPr sz="2000" b="1">
                <a:solidFill>
                  <a:srgbClr val="1F2D3A"/>
                </a:solidFill>
              </a:rPr>
              <a:t>çalışırken</a:t>
            </a:r>
            <a:r>
              <a:rPr sz="2000" b="0">
                <a:solidFill>
                  <a:srgbClr val="1F2D3A"/>
                </a:solidFill>
              </a:rPr>
              <a:t> kendini korur → RASP.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9/11/14:</a:t>
            </a:r>
            <a:r>
              <a:rPr sz="2000" b="0">
                <a:solidFill>
                  <a:srgbClr val="1F2D3A"/>
                </a:solidFill>
              </a:rPr>
              <a:t> gizleme ve whitebox RASP ile birlikte çalışır.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Öğrenme çıktısı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hafta </a:t>
            </a:r>
            <a:r>
              <a:rPr sz="2000" b="1">
                <a:solidFill>
                  <a:srgbClr val="1F2D3A"/>
                </a:solidFill>
              </a:rPr>
              <a:t>ÖÇ.3</a:t>
            </a:r>
            <a:r>
              <a:rPr sz="2000" b="0">
                <a:solidFill>
                  <a:srgbClr val="1F2D3A"/>
                </a:solidFill>
              </a:rPr>
              <a:t> üstünedir.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Sonunda yapabileceğiniz: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denetimlerini (bütünlük, anti-debug, ortam, kanca) tanımak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Tepki politikası ve cihaz bağlama tasarlamak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RASP'in </a:t>
            </a:r>
            <a:r>
              <a:rPr sz="2000" b="1">
                <a:solidFill>
                  <a:srgbClr val="1F2D3A"/>
                </a:solidFill>
              </a:rPr>
              <a:t>sınırlarını</a:t>
            </a:r>
            <a:r>
              <a:rPr sz="2000" b="0">
                <a:solidFill>
                  <a:srgbClr val="1F2D3A"/>
                </a:solidFill>
              </a:rPr>
              <a:t> ve etik çerçevesini açıklamak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 fikir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RASP = </a:t>
            </a:r>
            <a:r>
              <a:rPr sz="2000" b="1">
                <a:solidFill>
                  <a:srgbClr val="1F2D3A"/>
                </a:solidFill>
              </a:rPr>
              <a:t>Runtime Application Self-Protection</a:t>
            </a:r>
            <a:r>
              <a:rPr sz="2000" b="0">
                <a:solidFill>
                  <a:srgbClr val="1F2D3A"/>
                </a:solidFill>
              </a:rPr>
              <a:t>: uygulamanın çalışırken kendini </a:t>
            </a:r>
            <a:r>
              <a:rPr sz="2000" b="1">
                <a:solidFill>
                  <a:srgbClr val="1F2D3A"/>
                </a:solidFill>
              </a:rPr>
              <a:t>izlemesi</a:t>
            </a:r>
            <a:r>
              <a:rPr sz="2000" b="0">
                <a:solidFill>
                  <a:srgbClr val="1F2D3A"/>
                </a:solidFill>
              </a:rPr>
              <a:t> ve tehdide </a:t>
            </a:r>
            <a:r>
              <a:rPr sz="2000" b="1">
                <a:solidFill>
                  <a:srgbClr val="1F2D3A"/>
                </a:solidFill>
              </a:rPr>
              <a:t>tepki</a:t>
            </a:r>
            <a:r>
              <a:rPr sz="2000" b="0">
                <a:solidFill>
                  <a:srgbClr val="1F2D3A"/>
                </a:solidFill>
              </a:rPr>
              <a:t> vermesi.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Algıla → savun → caydır. Ama tek denetim değil, </a:t>
            </a:r>
            <a:r>
              <a:rPr sz="2000" b="1">
                <a:solidFill>
                  <a:srgbClr val="1F2D3A"/>
                </a:solidFill>
              </a:rPr>
              <a:t>katman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0. Temel kavramlar (sıfırdan)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Çalışma anı (runtime)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Çalışma anı:</a:t>
            </a:r>
            <a:r>
              <a:rPr sz="2000" b="0">
                <a:solidFill>
                  <a:srgbClr val="1F2D3A"/>
                </a:solidFill>
              </a:rPr>
              <a:t> programın </a:t>
            </a:r>
            <a:r>
              <a:rPr sz="2000" b="1">
                <a:solidFill>
                  <a:srgbClr val="1F2D3A"/>
                </a:solidFill>
              </a:rPr>
              <a:t>çalıştığı</a:t>
            </a:r>
            <a:r>
              <a:rPr sz="2000" b="0">
                <a:solidFill>
                  <a:srgbClr val="1F2D3A"/>
                </a:solidFill>
              </a:rPr>
              <a:t> an (derleme değil).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korumaları burada devreye girer: program kendini </a:t>
            </a:r>
            <a:r>
              <a:rPr sz="2000" b="1">
                <a:solidFill>
                  <a:srgbClr val="1F2D3A"/>
                </a:solidFill>
              </a:rPr>
              <a:t>çalışırken</a:t>
            </a:r>
            <a:r>
              <a:rPr sz="2000" b="0">
                <a:solidFill>
                  <a:srgbClr val="1F2D3A"/>
                </a:solidFill>
              </a:rPr>
              <a:t> izler.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RASP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RASP (Runtime Application Self-Protection):</a:t>
            </a:r>
            <a:r>
              <a:rPr sz="2000" b="0">
                <a:solidFill>
                  <a:srgbClr val="1F2D3A"/>
                </a:solidFill>
              </a:rPr>
              <a:t> uygulamanın çalışırken kendini koruması.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Kurcalama, hata ayıklama, sahte ortam gibi tehditleri </a:t>
            </a:r>
            <a:r>
              <a:rPr sz="2000" b="1">
                <a:solidFill>
                  <a:srgbClr val="1F2D3A"/>
                </a:solidFill>
              </a:rPr>
              <a:t>algılar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tepki</a:t>
            </a:r>
            <a:r>
              <a:rPr sz="2000" b="0">
                <a:solidFill>
                  <a:srgbClr val="1F2D3A"/>
                </a:solidFill>
              </a:rPr>
              <a:t> verir.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ayıklayıcı (debugger)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Debugger:</a:t>
            </a:r>
            <a:r>
              <a:rPr sz="2000" b="0">
                <a:solidFill>
                  <a:srgbClr val="1F2D3A"/>
                </a:solidFill>
              </a:rPr>
              <a:t> programı adım adım çalıştırıp durduran, belleği okuyan araç (gdb, lldb).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bununla akışı izler, değer değiştirir.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"bana debugger bağlı mı?" diye bakar.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Emülatör ve sanal makine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Emülatör/VM:</a:t>
            </a:r>
            <a:r>
              <a:rPr sz="2000" b="0">
                <a:solidFill>
                  <a:srgbClr val="1F2D3A"/>
                </a:solidFill>
              </a:rPr>
              <a:t> bir cihazı </a:t>
            </a:r>
            <a:r>
              <a:rPr sz="2000" b="1">
                <a:solidFill>
                  <a:srgbClr val="1F2D3A"/>
                </a:solidFill>
              </a:rPr>
              <a:t>taklit eden</a:t>
            </a:r>
            <a:r>
              <a:rPr sz="2000" b="0">
                <a:solidFill>
                  <a:srgbClr val="1F2D3A"/>
                </a:solidFill>
              </a:rPr>
              <a:t> yazılım ortamı (Android emülatör, QEMU).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analizini gerçek cihaz yerine burada yapar (daha kolay).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sahte ortamı sezmeye çalışır.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Kanca (hook) ve enstrümantasyon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Kanca (hook):</a:t>
            </a:r>
            <a:r>
              <a:rPr sz="2000" b="0">
                <a:solidFill>
                  <a:srgbClr val="1F2D3A"/>
                </a:solidFill>
              </a:rPr>
              <a:t> bir fonksiyonun çağrısını </a:t>
            </a:r>
            <a:r>
              <a:rPr sz="2000" b="1">
                <a:solidFill>
                  <a:srgbClr val="1F2D3A"/>
                </a:solidFill>
              </a:rPr>
              <a:t>araya girip</a:t>
            </a:r>
            <a:r>
              <a:rPr sz="2000" b="0">
                <a:solidFill>
                  <a:srgbClr val="1F2D3A"/>
                </a:solidFill>
              </a:rPr>
              <a:t> değiştirme.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Enstrümantasyon:</a:t>
            </a:r>
            <a:r>
              <a:rPr sz="2000" b="0">
                <a:solidFill>
                  <a:srgbClr val="1F2D3A"/>
                </a:solidFill>
              </a:rPr>
              <a:t> çalışan programa kod enjekte edip davranışını izleme/değiştirme.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Araç: </a:t>
            </a:r>
            <a:r>
              <a:rPr sz="2000" b="1">
                <a:solidFill>
                  <a:srgbClr val="1F2D3A"/>
                </a:solidFill>
              </a:rPr>
              <a:t>Frida</a:t>
            </a:r>
            <a:r>
              <a:rPr sz="2000" b="0">
                <a:solidFill>
                  <a:srgbClr val="1F2D3A"/>
                </a:solidFill>
              </a:rPr>
              <a:t> (çok yaygın dinamik enstrümantasyon aracı).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LD_PRELOAD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LD_PRELOAD:</a:t>
            </a:r>
            <a:r>
              <a:rPr sz="2000" b="0">
                <a:solidFill>
                  <a:srgbClr val="1F2D3A"/>
                </a:solidFill>
              </a:rPr>
              <a:t> Linux'ta bir kütüphaneyi programdan </a:t>
            </a:r>
            <a:r>
              <a:rPr sz="2000" b="1">
                <a:solidFill>
                  <a:srgbClr val="1F2D3A"/>
                </a:solidFill>
              </a:rPr>
              <a:t>önce</a:t>
            </a:r>
            <a:r>
              <a:rPr sz="2000" b="0">
                <a:solidFill>
                  <a:srgbClr val="1F2D3A"/>
                </a:solidFill>
              </a:rPr>
              <a:t> yükletip fonksiyonları değiştirme yolu.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bununla kritik fonksiyonları </a:t>
            </a:r>
            <a:r>
              <a:rPr sz="2000" b="1">
                <a:solidFill>
                  <a:srgbClr val="1F2D3A"/>
                </a:solidFill>
              </a:rPr>
              <a:t>kancalayabilir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bunu tespit etmeye çalışır.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Bütünlük ve self-hashing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Bütünlük (integrity):</a:t>
            </a:r>
            <a:r>
              <a:rPr sz="2000" b="0">
                <a:solidFill>
                  <a:srgbClr val="1F2D3A"/>
                </a:solidFill>
              </a:rPr>
              <a:t> kodun/dosyanın </a:t>
            </a:r>
            <a:r>
              <a:rPr sz="2000" b="1">
                <a:solidFill>
                  <a:srgbClr val="1F2D3A"/>
                </a:solidFill>
              </a:rPr>
              <a:t>değişmemiş</a:t>
            </a:r>
            <a:r>
              <a:rPr sz="2000" b="0">
                <a:solidFill>
                  <a:srgbClr val="1F2D3A"/>
                </a:solidFill>
              </a:rPr>
              <a:t> olması.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Self-hashing:</a:t>
            </a:r>
            <a:r>
              <a:rPr sz="2000" b="0">
                <a:solidFill>
                  <a:srgbClr val="1F2D3A"/>
                </a:solidFill>
              </a:rPr>
              <a:t> programın </a:t>
            </a:r>
            <a:r>
              <a:rPr sz="2000" b="1">
                <a:solidFill>
                  <a:srgbClr val="1F2D3A"/>
                </a:solidFill>
              </a:rPr>
              <a:t>kendi kodunun</a:t>
            </a:r>
            <a:r>
              <a:rPr sz="2000" b="0">
                <a:solidFill>
                  <a:srgbClr val="1F2D3A"/>
                </a:solidFill>
              </a:rPr>
              <a:t> özetini hesaplayıp beklenenle karşılaştırması.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Kurcalanmışsa özet tutmaz.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Özet (checksum/hash)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Özet:</a:t>
            </a:r>
            <a:r>
              <a:rPr sz="2000" b="0">
                <a:solidFill>
                  <a:srgbClr val="1F2D3A"/>
                </a:solidFill>
              </a:rPr>
              <a:t> bir veriden hesaplanan sabit boyutlu </a:t>
            </a:r>
            <a:r>
              <a:rPr sz="2000" b="1">
                <a:solidFill>
                  <a:srgbClr val="1F2D3A"/>
                </a:solidFill>
              </a:rPr>
              <a:t>parmak izi</a:t>
            </a:r>
            <a:r>
              <a:rPr sz="2000" b="0">
                <a:solidFill>
                  <a:srgbClr val="1F2D3A"/>
                </a:solidFill>
              </a:rPr>
              <a:t> (SHA-256).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Veri değişirse özet değişir.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Bütünlük denetiminin temeli.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Kök (root) / jailbreak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Kök (root):</a:t>
            </a:r>
            <a:r>
              <a:rPr sz="2000" b="0">
                <a:solidFill>
                  <a:srgbClr val="1F2D3A"/>
                </a:solidFill>
              </a:rPr>
              <a:t> cihaz üzerinde tam yetki (normalde kısıtlı).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Köklü cihazda korumalar zayıflar; saldırgan her şeye erişir.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"cihaz köklü mü?" diye bakar.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İmza doğrulama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Uygulama paketleri </a:t>
            </a:r>
            <a:r>
              <a:rPr sz="2000" b="1">
                <a:solidFill>
                  <a:srgbClr val="1F2D3A"/>
                </a:solidFill>
              </a:rPr>
              <a:t>dijital imzayla</a:t>
            </a:r>
            <a:r>
              <a:rPr sz="2000" b="0">
                <a:solidFill>
                  <a:srgbClr val="1F2D3A"/>
                </a:solidFill>
              </a:rPr>
              <a:t> imzalanır.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İmza doğrulama:</a:t>
            </a:r>
            <a:r>
              <a:rPr sz="2000" b="0">
                <a:solidFill>
                  <a:srgbClr val="1F2D3A"/>
                </a:solidFill>
              </a:rPr>
              <a:t> çağıran/yüklenen bileşenin imzasının beklenen olup olmadığını denetleme.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Sahte/değiştirilmiş bileşeni yakalar.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Kontrol akışı bütünlüğü (sayaç)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Kritik denetimler </a:t>
            </a:r>
            <a:r>
              <a:rPr sz="2000" b="1">
                <a:solidFill>
                  <a:srgbClr val="1F2D3A"/>
                </a:solidFill>
              </a:rPr>
              <a:t>tek bir `if`</a:t>
            </a:r>
            <a:r>
              <a:rPr sz="2000" b="0">
                <a:solidFill>
                  <a:srgbClr val="1F2D3A"/>
                </a:solidFill>
              </a:rPr>
              <a:t> ile yapılırsa, tek nokta yamayla atlanır.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Kontrol akışı sayacı:</a:t>
            </a:r>
            <a:r>
              <a:rPr sz="2000" b="0">
                <a:solidFill>
                  <a:srgbClr val="1F2D3A"/>
                </a:solidFill>
              </a:rPr>
              <a:t> denetimlerin doğru </a:t>
            </a:r>
            <a:r>
              <a:rPr sz="2000" b="1">
                <a:solidFill>
                  <a:srgbClr val="1F2D3A"/>
                </a:solidFill>
              </a:rPr>
              <a:t>sırayla</a:t>
            </a:r>
            <a:r>
              <a:rPr sz="2000" b="0">
                <a:solidFill>
                  <a:srgbClr val="1F2D3A"/>
                </a:solidFill>
              </a:rPr>
              <a:t> geçtiğini sayarak doğrulama.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yama yetmez hale gelir.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Tepki politikası (response)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Tepki politikası:</a:t>
            </a:r>
            <a:r>
              <a:rPr sz="2000" b="0">
                <a:solidFill>
                  <a:srgbClr val="1F2D3A"/>
                </a:solidFill>
              </a:rPr>
              <a:t> RASP bir tehdit görünce </a:t>
            </a:r>
            <a:r>
              <a:rPr sz="2000" b="1">
                <a:solidFill>
                  <a:srgbClr val="1F2D3A"/>
                </a:solidFill>
              </a:rPr>
              <a:t>ne yapacak</a:t>
            </a:r>
            <a:r>
              <a:rPr sz="2000" b="0">
                <a:solidFill>
                  <a:srgbClr val="1F2D3A"/>
                </a:solidFill>
              </a:rPr>
              <a:t>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Sessizce kapan, işlevi kısıtla, sunucuya bildir, gecikmeli tepki…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"Hemen çök" her zaman en iyisi değildir.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Cihaz bağlama ve caydırma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Cihaz bağlama:</a:t>
            </a:r>
            <a:r>
              <a:rPr sz="2000" b="0">
                <a:solidFill>
                  <a:srgbClr val="1F2D3A"/>
                </a:solidFill>
              </a:rPr>
              <a:t> verilerin/anahtarların yalnız </a:t>
            </a:r>
            <a:r>
              <a:rPr sz="2000" b="1">
                <a:solidFill>
                  <a:srgbClr val="1F2D3A"/>
                </a:solidFill>
              </a:rPr>
              <a:t>belirli cihazda</a:t>
            </a:r>
            <a:r>
              <a:rPr sz="2000" b="0">
                <a:solidFill>
                  <a:srgbClr val="1F2D3A"/>
                </a:solidFill>
              </a:rPr>
              <a:t> anlamlı olması.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Caydırma (deterrence):</a:t>
            </a:r>
            <a:r>
              <a:rPr sz="2000" b="0">
                <a:solidFill>
                  <a:srgbClr val="1F2D3A"/>
                </a:solidFill>
              </a:rPr>
              <a:t> saldırıyı zahmetli/riskli kılıp vazgeçirme.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RASP'in nihai amacı: maliyeti yükseltmek.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Şimdi hazırız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Terimler: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çalışma anı · RASP · debugger · emülatör/VM · hook/Frida · LD_PRELOAD · bütünlük/self-hashing · özet · kök · imza doğrulama · kontrol akışı sayacı · tepki politikası · cihaz bağlama · caydırma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855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Şimdi: RASP nedir, ne yapar?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RASP nedir?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Üç iş: algıla, savun, caydır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Algıla:</a:t>
            </a:r>
            <a:r>
              <a:rPr sz="2000" b="0">
                <a:solidFill>
                  <a:srgbClr val="1F2D3A"/>
                </a:solidFill>
              </a:rPr>
              <a:t> anormal ortamı/davranışı sez (debugger, emülatör, kurcalama).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Savun:</a:t>
            </a:r>
            <a:r>
              <a:rPr sz="2000" b="0">
                <a:solidFill>
                  <a:srgbClr val="1F2D3A"/>
                </a:solidFill>
              </a:rPr>
              <a:t> tehdit varsa işlevi kısıtla/durdur.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Caydır:</a:t>
            </a:r>
            <a:r>
              <a:rPr sz="2000" b="0">
                <a:solidFill>
                  <a:srgbClr val="1F2D3A"/>
                </a:solidFill>
              </a:rPr>
              <a:t> saldırıyı zahmetli kıl → saldırgan vazgeçsin.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RASP döngüsü — algıla → savun → caydır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1977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1F2D3A"/>
                </a:solidFill>
              </a:rPr>
              <a:t>&lt;svg viewBox="0 0 960 250" style="width:96%;height:auto;display:block;margin:4px auto" font-family="sans-serif"&gt; &lt;rect x="20" y="60" width="270" height="120" rx="12" fill="#e8f6f7" stroke="#0a9396" stroke-width="2"/&gt; &lt;text x="155" y="95" text-anchor="middle" font-size="22" fill="#005f66" font-weight="bold"&gt;ALGILA&lt;/text&gt; &lt;text x="155" y="126" text-anchor="middle" font-size="15" fill="#333"&gt;self-hashing · anti-debug&lt;/text&gt; &lt;text x="155" y="150" text-anchor="middle" font-size="15" fill="#333"&gt;emülatör · hook · kök&lt;/text&gt; &lt;rect x="345" y="60" width="270" height="120" rx="12" fill="#eaf4ea" stroke="#2e7d32" stroke-width="2"/&gt; &lt;text x="480" y="95" text-anchor="middle" font-size="22" fill="#1b5e20" font-weight="bold"&gt;SAVUN&lt;/text&gt; &lt;text x="480" y="126" text-anchor="middle" font-size="15" fill="#333"&gt;anahtar/veri koruma&lt;/text&gt; &lt;text x="480" y="150" text-anchor="middle" font-size="15" fill="#333"&gt;işlevi kısıtla · bütünlük&lt;/text&gt; &lt;rect x="670" y="60" width="270" height="120" rx="12" fill="#fdf1e7" stroke="#b5651d" stroke-width="2"/&gt; &lt;text x="805" y="95" text-anchor="middle" font-size="22" fill="#8a4b12" font-weight="bold"&gt;CAYDIR&lt;/text&gt; &lt;text x="805" y="126" text-anchor="middle" font-size="15" fill="#333"&gt;gecikmeli/sessiz tepki&lt;/text&gt; &lt;text x="805" y="150" text-anchor="middle" font-size="15" fill="#333"&gt;kapan · boz · bildir&lt;/text&gt; &lt;line x1="290" y1="120" x2="345" y2="120" stroke="#555" stroke-width="3" marker-end="url(#a6)"/&gt; &lt;line x1="615" y1="120" x2="670" y2="120" stroke="#555" stroke-width="3" marker-end="url(#a6)"/&gt; &lt;text x="480" y="222" text-anchor="middle" font-size="15" fill="#555"&gt;Tek denetim değil, birbirini kontrol eden örtüşen ağ → tek yama yetmez.&lt;/text&gt; &lt;defs&gt;&lt;marker id="a6" markerWidth="9" markerHeight="9" refX="7" refY="3" orient="auto"&gt;&lt;path d="M0,0 L7,3 L0,6 Z" fill="#555"/&gt;&lt;/marker&gt;&lt;/defs&gt; &lt;/svg&gt;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RASP neyi tamamlar?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Statik korumalar (4–5. hafta) </a:t>
            </a:r>
            <a:r>
              <a:rPr sz="2000" b="1">
                <a:solidFill>
                  <a:srgbClr val="1F2D3A"/>
                </a:solidFill>
              </a:rPr>
              <a:t>çalışmadan</a:t>
            </a:r>
            <a:r>
              <a:rPr sz="2000" b="0">
                <a:solidFill>
                  <a:srgbClr val="1F2D3A"/>
                </a:solidFill>
              </a:rPr>
              <a:t> geçerli.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 (9/11/14) </a:t>
            </a:r>
            <a:r>
              <a:rPr sz="2000" b="1">
                <a:solidFill>
                  <a:srgbClr val="1F2D3A"/>
                </a:solidFill>
              </a:rPr>
              <a:t>anlamayı</a:t>
            </a:r>
            <a:r>
              <a:rPr sz="2000" b="0">
                <a:solidFill>
                  <a:srgbClr val="1F2D3A"/>
                </a:solidFill>
              </a:rPr>
              <a:t> zorlaştırır.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RASP, program </a:t>
            </a:r>
            <a:r>
              <a:rPr sz="2000" b="1">
                <a:solidFill>
                  <a:srgbClr val="1F2D3A"/>
                </a:solidFill>
              </a:rPr>
              <a:t>çalışırken</a:t>
            </a:r>
            <a:r>
              <a:rPr sz="2000" b="0">
                <a:solidFill>
                  <a:srgbClr val="1F2D3A"/>
                </a:solidFill>
              </a:rPr>
              <a:t> aktif savunma ekler.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 RASP'ı gizler; RASP gizlemeyi çalışırken korur.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RASP neden gerekli?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Beyaz kutu saldırgan programı </a:t>
            </a:r>
            <a:r>
              <a:rPr sz="2000" b="1">
                <a:solidFill>
                  <a:srgbClr val="1F2D3A"/>
                </a:solidFill>
              </a:rPr>
              <a:t>çalıştırıp</a:t>
            </a:r>
            <a:r>
              <a:rPr sz="2000" b="0">
                <a:solidFill>
                  <a:srgbClr val="1F2D3A"/>
                </a:solidFill>
              </a:rPr>
              <a:t> izler (debugger, Frida).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Statik gizleme bunu tek başına durdurmaz.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"beni izliyorlar mı?" diye bakıp tepki verir.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 kural (baştan)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RASP tek başına aşılmaz değildir; </a:t>
            </a:r>
            <a:r>
              <a:rPr sz="2000" b="1">
                <a:solidFill>
                  <a:srgbClr val="1F2D3A"/>
                </a:solidFill>
              </a:rPr>
              <a:t>katmanlı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çeşitli</a:t>
            </a:r>
            <a:r>
              <a:rPr sz="2000" b="0">
                <a:solidFill>
                  <a:srgbClr val="1F2D3A"/>
                </a:solidFill>
              </a:rPr>
              <a:t> denetimlerle güç kazanır.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Tek bir "root mu?" denetimi kolayca atlanır; onlarca farklı denetim birlikte zorlaşır.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RASP mimarisi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Denetim ne zaman çalışır?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Başlangıçta:</a:t>
            </a:r>
            <a:r>
              <a:rPr sz="2000" b="0">
                <a:solidFill>
                  <a:srgbClr val="1F2D3A"/>
                </a:solidFill>
              </a:rPr>
              <a:t> açılışta ortam denetimi.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Kritik işlem öncesi:</a:t>
            </a:r>
            <a:r>
              <a:rPr sz="2000" b="0">
                <a:solidFill>
                  <a:srgbClr val="1F2D3A"/>
                </a:solidFill>
              </a:rPr>
              <a:t> ödeme/anahtar kullanımından hemen önce.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Periyodik:</a:t>
            </a:r>
            <a:r>
              <a:rPr sz="2000" b="0">
                <a:solidFill>
                  <a:srgbClr val="1F2D3A"/>
                </a:solidFill>
              </a:rPr>
              <a:t> arka planda düzenli.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Rastgele:</a:t>
            </a:r>
            <a:r>
              <a:rPr sz="2000" b="0">
                <a:solidFill>
                  <a:srgbClr val="1F2D3A"/>
                </a:solidFill>
              </a:rPr>
              <a:t> öngörülemez anlarda (saldırgan zamanlayamasın).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Denetim nerede çalışır?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Native tarafta</a:t>
            </a:r>
            <a:r>
              <a:rPr sz="2000" b="0">
                <a:solidFill>
                  <a:srgbClr val="1F2D3A"/>
                </a:solidFill>
              </a:rPr>
              <a:t> (C/C++): tersine mühendisliği zor, tercih edilir.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Yönetilen tarafta</a:t>
            </a:r>
            <a:r>
              <a:rPr sz="2000" b="0">
                <a:solidFill>
                  <a:srgbClr val="1F2D3A"/>
                </a:solidFill>
              </a:rPr>
              <a:t> (Java): daha kolay okunur, ama gerekli.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Çapraz denetim:</a:t>
            </a:r>
            <a:r>
              <a:rPr sz="2000" b="0">
                <a:solidFill>
                  <a:srgbClr val="1F2D3A"/>
                </a:solidFill>
              </a:rPr>
              <a:t> iki taraf birbirini denetler.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Çapraz denetim fikri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Java tarafı, native kütüphanenin </a:t>
            </a:r>
            <a:r>
              <a:rPr sz="2000" b="1">
                <a:solidFill>
                  <a:srgbClr val="1F2D3A"/>
                </a:solidFill>
              </a:rPr>
              <a:t>özetini</a:t>
            </a:r>
            <a:r>
              <a:rPr sz="2000" b="0">
                <a:solidFill>
                  <a:srgbClr val="1F2D3A"/>
                </a:solidFill>
              </a:rPr>
              <a:t> denetler.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Native taraf, Java tarafının </a:t>
            </a:r>
            <a:r>
              <a:rPr sz="2000" b="1">
                <a:solidFill>
                  <a:srgbClr val="1F2D3A"/>
                </a:solidFill>
              </a:rPr>
              <a:t>bütünlüğünü</a:t>
            </a:r>
            <a:r>
              <a:rPr sz="2000" b="0">
                <a:solidFill>
                  <a:srgbClr val="1F2D3A"/>
                </a:solidFill>
              </a:rPr>
              <a:t> denetler.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</a:t>
            </a:r>
            <a:r>
              <a:rPr sz="2000" b="1">
                <a:solidFill>
                  <a:srgbClr val="1F2D3A"/>
                </a:solidFill>
              </a:rPr>
              <a:t>ikisini birden</a:t>
            </a:r>
            <a:r>
              <a:rPr sz="2000" b="0">
                <a:solidFill>
                  <a:srgbClr val="1F2D3A"/>
                </a:solidFill>
              </a:rPr>
              <a:t> atlamak zorunda.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Denetim nasıl çalışır? (gizli)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Denetim kodu </a:t>
            </a:r>
            <a:r>
              <a:rPr sz="2000" b="1">
                <a:solidFill>
                  <a:srgbClr val="1F2D3A"/>
                </a:solidFill>
              </a:rPr>
              <a:t>gizlenir</a:t>
            </a:r>
            <a:r>
              <a:rPr sz="2000" b="0">
                <a:solidFill>
                  <a:srgbClr val="1F2D3A"/>
                </a:solidFill>
              </a:rPr>
              <a:t> (9. hafta): saldırgan denetimi kolayca bulamasın.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Sonuç </a:t>
            </a:r>
            <a:r>
              <a:rPr sz="2000" b="1">
                <a:solidFill>
                  <a:srgbClr val="1F2D3A"/>
                </a:solidFill>
              </a:rPr>
              <a:t>opak</a:t>
            </a:r>
            <a:r>
              <a:rPr sz="2000" b="0">
                <a:solidFill>
                  <a:srgbClr val="1F2D3A"/>
                </a:solidFill>
              </a:rPr>
              <a:t> (düz true/false değil).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Tepki </a:t>
            </a:r>
            <a:r>
              <a:rPr sz="2000" b="1">
                <a:solidFill>
                  <a:srgbClr val="1F2D3A"/>
                </a:solidFill>
              </a:rPr>
              <a:t>gecikmeli</a:t>
            </a:r>
            <a:r>
              <a:rPr sz="2000" b="0">
                <a:solidFill>
                  <a:srgbClr val="1F2D3A"/>
                </a:solidFill>
              </a:rPr>
              <a:t> olabilir (birazdan).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Katmanlı denetim ağı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denetim değil, </a:t>
            </a:r>
            <a:r>
              <a:rPr sz="2000" b="1">
                <a:solidFill>
                  <a:srgbClr val="1F2D3A"/>
                </a:solidFill>
              </a:rPr>
              <a:t>onlarca</a:t>
            </a:r>
            <a:r>
              <a:rPr sz="2000" b="0">
                <a:solidFill>
                  <a:srgbClr val="1F2D3A"/>
                </a:solidFill>
              </a:rPr>
              <a:t> farklı denetim.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Birbirini denetleyen </a:t>
            </a:r>
            <a:r>
              <a:rPr sz="2000" b="1">
                <a:solidFill>
                  <a:srgbClr val="1F2D3A"/>
                </a:solidFill>
              </a:rPr>
              <a:t>ağ</a:t>
            </a:r>
            <a:r>
              <a:rPr sz="2000" b="0">
                <a:solidFill>
                  <a:srgbClr val="1F2D3A"/>
                </a:solidFill>
              </a:rPr>
              <a:t> (checker network).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Birini atlamak diğerini tetikler.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Mimari · özet şema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[başlangıç] → ortam denetimi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[kritik işlem] → bütünlük + anti-debug + hook denetimi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[periyodik/rastgele] → tekrar denetim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↳ hepsi gizli, opak sonuç, çapraz denetim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1–2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RASP'in üç işi?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Çapraz denetim neden güçlü?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Neden tek denetim değil, ağ?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1–2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Algıla</a:t>
            </a:r>
            <a:r>
              <a:rPr sz="2000" b="0">
                <a:solidFill>
                  <a:srgbClr val="1F2D3A"/>
                </a:solidFill>
              </a:rPr>
              <a:t> (kurcalama/debug/emülatör), </a:t>
            </a:r>
            <a:r>
              <a:rPr sz="2000" b="1">
                <a:solidFill>
                  <a:srgbClr val="1F2D3A"/>
                </a:solidFill>
              </a:rPr>
              <a:t>Savun</a:t>
            </a:r>
            <a:r>
              <a:rPr sz="2000" b="0">
                <a:solidFill>
                  <a:srgbClr val="1F2D3A"/>
                </a:solidFill>
              </a:rPr>
              <a:t> (anahtar/veri koruma, işlevi kısıtla), </a:t>
            </a:r>
            <a:r>
              <a:rPr sz="2000" b="1">
                <a:solidFill>
                  <a:srgbClr val="1F2D3A"/>
                </a:solidFill>
              </a:rPr>
              <a:t>Caydır</a:t>
            </a:r>
            <a:r>
              <a:rPr sz="2000" b="0">
                <a:solidFill>
                  <a:srgbClr val="1F2D3A"/>
                </a:solidFill>
              </a:rPr>
              <a:t> (tepki: kapan/boz/bildir).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Denetimler </a:t>
            </a:r>
            <a:r>
              <a:rPr sz="2000" b="1">
                <a:solidFill>
                  <a:srgbClr val="1F2D3A"/>
                </a:solidFill>
              </a:rPr>
              <a:t>birbirini</a:t>
            </a:r>
            <a:r>
              <a:rPr sz="2000" b="0">
                <a:solidFill>
                  <a:srgbClr val="1F2D3A"/>
                </a:solidFill>
              </a:rPr>
              <a:t> kontrol eder; saldırgan birini kapatınca diğeri fark eder → tek noktayı susturmak yetmez.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Tek denetim </a:t>
            </a:r>
            <a:r>
              <a:rPr sz="2000" b="1">
                <a:solidFill>
                  <a:srgbClr val="1F2D3A"/>
                </a:solidFill>
              </a:rPr>
              <a:t>tek yamayla</a:t>
            </a:r>
            <a:r>
              <a:rPr sz="2000" b="0">
                <a:solidFill>
                  <a:srgbClr val="1F2D3A"/>
                </a:solidFill>
              </a:rPr>
              <a:t> atlanır; örtüşen ağ her düğümü ayrı kırmayı gerektirir → </a:t>
            </a:r>
            <a:r>
              <a:rPr sz="2000" b="1">
                <a:solidFill>
                  <a:srgbClr val="1F2D3A"/>
                </a:solidFill>
              </a:rPr>
              <a:t>saldırı potansiyelini</a:t>
            </a:r>
            <a:r>
              <a:rPr sz="2000" b="0">
                <a:solidFill>
                  <a:srgbClr val="1F2D3A"/>
                </a:solidFill>
              </a:rPr>
              <a:t> yükseltir.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3. Bütünlük denetimi (self-hashing)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Fikir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Program, </a:t>
            </a:r>
            <a:r>
              <a:rPr sz="2000" b="1">
                <a:solidFill>
                  <a:srgbClr val="1F2D3A"/>
                </a:solidFill>
              </a:rPr>
              <a:t>kendi kod bölümlerinin</a:t>
            </a:r>
            <a:r>
              <a:rPr sz="2000" b="0">
                <a:solidFill>
                  <a:srgbClr val="1F2D3A"/>
                </a:solidFill>
              </a:rPr>
              <a:t> özetini hesaplar.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Beklenen özetle karşılaştırır.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Kurcalanmışsa özet </a:t>
            </a:r>
            <a:r>
              <a:rPr sz="2000" b="1">
                <a:solidFill>
                  <a:srgbClr val="1F2D3A"/>
                </a:solidFill>
              </a:rPr>
              <a:t>tutmaz</a:t>
            </a:r>
            <a:r>
              <a:rPr sz="2000" b="0">
                <a:solidFill>
                  <a:srgbClr val="1F2D3A"/>
                </a:solidFill>
              </a:rPr>
              <a:t> → tepki.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Nasıl çalışır? · adım adım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Derleme sonrası, kritik kod bloklarının özeti </a:t>
            </a:r>
            <a:r>
              <a:rPr sz="2000" b="1">
                <a:solidFill>
                  <a:srgbClr val="1F2D3A"/>
                </a:solidFill>
              </a:rPr>
              <a:t>kaydedilir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Çalışırken program aynı blokların özetini </a:t>
            </a:r>
            <a:r>
              <a:rPr sz="2000" b="1">
                <a:solidFill>
                  <a:srgbClr val="1F2D3A"/>
                </a:solidFill>
              </a:rPr>
              <a:t>yeniden</a:t>
            </a:r>
            <a:r>
              <a:rPr sz="2000" b="0">
                <a:solidFill>
                  <a:srgbClr val="1F2D3A"/>
                </a:solidFill>
              </a:rPr>
              <a:t> hesaplar.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Kayıtlı özetle karşılaştırır.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Fark varsa → kurcalama → tepki.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Neyi yakalar?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İkili dosyaya yapılan </a:t>
            </a:r>
            <a:r>
              <a:rPr sz="2000" b="1">
                <a:solidFill>
                  <a:srgbClr val="1F2D3A"/>
                </a:solidFill>
              </a:rPr>
              <a:t>yama</a:t>
            </a:r>
            <a:r>
              <a:rPr sz="2000" b="0">
                <a:solidFill>
                  <a:srgbClr val="1F2D3A"/>
                </a:solidFill>
              </a:rPr>
              <a:t> (patch).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denetimi atlamak için değiştirilen baytlar.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Enjekte edilmiş kod.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Self-hashing tek başına yeterli değil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Saldırgan, </a:t>
            </a:r>
            <a:r>
              <a:rPr sz="2000" b="1">
                <a:solidFill>
                  <a:srgbClr val="1F2D3A"/>
                </a:solidFill>
              </a:rPr>
              <a:t>özet fonksiyonunu</a:t>
            </a:r>
            <a:r>
              <a:rPr sz="2000" b="0">
                <a:solidFill>
                  <a:srgbClr val="1F2D3A"/>
                </a:solidFill>
              </a:rPr>
              <a:t> bulup her zaman "tutuyor" dedirtebilir.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 da donanım kesme noktalarıyla denetimi atlar (van Oorschot vd.).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yüzden: gizle, çeşitlendir, çapraz denetle.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Güçlendirme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Özet denetimi kodu </a:t>
            </a:r>
            <a:r>
              <a:rPr sz="2000" b="1">
                <a:solidFill>
                  <a:srgbClr val="1F2D3A"/>
                </a:solidFill>
              </a:rPr>
              <a:t>gizli</a:t>
            </a:r>
            <a:r>
              <a:rPr sz="2000" b="0">
                <a:solidFill>
                  <a:srgbClr val="1F2D3A"/>
                </a:solidFill>
              </a:rPr>
              <a:t> (9. hafta).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Birden çok</a:t>
            </a:r>
            <a:r>
              <a:rPr sz="2000" b="0">
                <a:solidFill>
                  <a:srgbClr val="1F2D3A"/>
                </a:solidFill>
              </a:rPr>
              <a:t> blok, örtüşen bölgeler.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Sonuç düz karşılaştırma değil, </a:t>
            </a:r>
            <a:r>
              <a:rPr sz="2000" b="1">
                <a:solidFill>
                  <a:srgbClr val="1F2D3A"/>
                </a:solidFill>
              </a:rPr>
              <a:t>hesaba karışır</a:t>
            </a:r>
            <a:r>
              <a:rPr sz="2000" b="0">
                <a:solidFill>
                  <a:srgbClr val="1F2D3A"/>
                </a:solidFill>
              </a:rPr>
              <a:t> (denetim sonucu programın davranışını etkiler).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Örtüşen denetim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denetim başka bir denetimin kodunu da kapsar.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birini kapatınca diğeri </a:t>
            </a:r>
            <a:r>
              <a:rPr sz="2000" b="1">
                <a:solidFill>
                  <a:srgbClr val="1F2D3A"/>
                </a:solidFill>
              </a:rPr>
              <a:t>bozulur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noktadan atlamak zorlaşır.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Hata ayıklayıcı algılama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debugger tehlikeli?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programı </a:t>
            </a:r>
            <a:r>
              <a:rPr sz="2000" b="1">
                <a:solidFill>
                  <a:srgbClr val="1F2D3A"/>
                </a:solidFill>
              </a:rPr>
              <a:t>durdurup</a:t>
            </a:r>
            <a:r>
              <a:rPr sz="2000" b="0">
                <a:solidFill>
                  <a:srgbClr val="1F2D3A"/>
                </a:solidFill>
              </a:rPr>
              <a:t> belleği okur, değer değiştirir.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Denetimleri tek tek atlayabilir.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"bana debugger bağlı mı?" diye bakar.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Algılama yolları (kavram)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İşletim sisteminin "izleniyorum mu?" bilgisini sorma.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Belirli hata ayıklama arayüzlerinin durumu.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Zamanlama: bir işlem beklenenden </a:t>
            </a:r>
            <a:r>
              <a:rPr sz="2000" b="1">
                <a:solidFill>
                  <a:srgbClr val="1F2D3A"/>
                </a:solidFill>
              </a:rPr>
              <a:t>çok uzun</a:t>
            </a:r>
            <a:r>
              <a:rPr sz="2000" b="0">
                <a:solidFill>
                  <a:srgbClr val="1F2D3A"/>
                </a:solidFill>
              </a:rPr>
              <a:t> sürdüyse, biri adım adım çalıştırıyor olabilir.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Zamanlama tabanlı sezme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t0 = şimdi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... küçük bir iş ...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t1 = şimdi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(t1 - t0 &gt; eşik) → biri durdurup inceliyor olabilir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Debugger adımlaması işi </a:t>
            </a:r>
            <a:r>
              <a:rPr sz="2000" b="1">
                <a:solidFill>
                  <a:srgbClr val="1F2D3A"/>
                </a:solidFill>
              </a:rPr>
              <a:t>yavaşlatır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Anti-debug atlanabilir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tek yöntem bilinir ve atlanabilir.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Güç: </a:t>
            </a:r>
            <a:r>
              <a:rPr sz="2000" b="1">
                <a:solidFill>
                  <a:srgbClr val="1F2D3A"/>
                </a:solidFill>
              </a:rPr>
              <a:t>birçok</a:t>
            </a:r>
            <a:r>
              <a:rPr sz="2000" b="0">
                <a:solidFill>
                  <a:srgbClr val="1F2D3A"/>
                </a:solidFill>
              </a:rPr>
              <a:t> farklı yöntem + gizleme + çeşitlendirme.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Amaç yine </a:t>
            </a:r>
            <a:r>
              <a:rPr sz="2000" b="1">
                <a:solidFill>
                  <a:srgbClr val="1F2D3A"/>
                </a:solidFill>
              </a:rPr>
              <a:t>caydırma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gecikme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Tepki nasıl?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Hemen çökme her zaman iyi değil (saldırgana "burada denetim var" der).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Daha iyi: </a:t>
            </a:r>
            <a:r>
              <a:rPr sz="2000" b="1">
                <a:solidFill>
                  <a:srgbClr val="1F2D3A"/>
                </a:solidFill>
              </a:rPr>
              <a:t>gecikmeli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dolaylı</a:t>
            </a:r>
            <a:r>
              <a:rPr sz="2000" b="0">
                <a:solidFill>
                  <a:srgbClr val="1F2D3A"/>
                </a:solidFill>
              </a:rPr>
              <a:t> tepki (birazdan bölüm 10).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3–4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Self-hashing neyi yakalar?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Neden tek başına yetmez?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Zamanlama nasıl debugger'ı ele verir?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3–4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Kod/ikili baytlarının değişmesini</a:t>
            </a:r>
            <a:r>
              <a:rPr sz="2000" b="0">
                <a:solidFill>
                  <a:srgbClr val="1F2D3A"/>
                </a:solidFill>
              </a:rPr>
              <a:t> (yama, breakpoint/kod enjeksiyonu) — çalışırken kendi özetini hesaplayıp beklenenle karşılaştırır.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Saldırgan hash rutinini/beklenen değeri bulup </a:t>
            </a:r>
            <a:r>
              <a:rPr sz="2000" b="1">
                <a:solidFill>
                  <a:srgbClr val="1F2D3A"/>
                </a:solidFill>
              </a:rPr>
              <a:t>atlar</a:t>
            </a:r>
            <a:r>
              <a:rPr sz="2000" b="0">
                <a:solidFill>
                  <a:srgbClr val="1F2D3A"/>
                </a:solidFill>
              </a:rPr>
              <a:t> veya karşılaştırmayı NOP'lar; ayrıca yalnız </a:t>
            </a:r>
            <a:r>
              <a:rPr sz="2000" b="1">
                <a:solidFill>
                  <a:srgbClr val="1F2D3A"/>
                </a:solidFill>
              </a:rPr>
              <a:t>statik</a:t>
            </a:r>
            <a:r>
              <a:rPr sz="2000" b="0">
                <a:solidFill>
                  <a:srgbClr val="1F2D3A"/>
                </a:solidFill>
              </a:rPr>
              <a:t> değişikliği yakalar. Örtüşen denetim gerek.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Debugger/kesme noktası kodu </a:t>
            </a:r>
            <a:r>
              <a:rPr sz="2000" b="1">
                <a:solidFill>
                  <a:srgbClr val="1F2D3A"/>
                </a:solidFill>
              </a:rPr>
              <a:t>yavaşlatır</a:t>
            </a:r>
            <a:r>
              <a:rPr sz="2000" b="0">
                <a:solidFill>
                  <a:srgbClr val="1F2D3A"/>
                </a:solidFill>
              </a:rPr>
              <a:t>; iki nokta arası süre eşiği aşarsa hata ayıklama sezilir.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5. Ortam algılama: emülatör/VM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emülatör?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analizini gerçek cihaz yerine </a:t>
            </a:r>
            <a:r>
              <a:rPr sz="2000" b="1">
                <a:solidFill>
                  <a:srgbClr val="1F2D3A"/>
                </a:solidFill>
              </a:rPr>
              <a:t>emülatörde</a:t>
            </a:r>
            <a:r>
              <a:rPr sz="2000" b="0">
                <a:solidFill>
                  <a:srgbClr val="1F2D3A"/>
                </a:solidFill>
              </a:rPr>
              <a:t> yapar.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Emülatörde durdurmak, izlemek, sıfırlamak kolaydır.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"gerçek cihazda mıyım?" diye bakar.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Algılama ipuçları (kavram)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Emülatöre özgü donanım/sensör eksiklikleri.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Tipik sahte tanımlayıcılar.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Gerçek cihazda beklenen özelliklerin yokluğu.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Emülatör algılama yanlış pozitif verir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Bazı gerçek cihazlar emülatör gibi görünebilir.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Geliştiriciler de emülatör kullanır.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Tepki </a:t>
            </a:r>
            <a:r>
              <a:rPr sz="2000" b="1">
                <a:solidFill>
                  <a:srgbClr val="1F2D3A"/>
                </a:solidFill>
              </a:rPr>
              <a:t>sert olmamalı</a:t>
            </a:r>
            <a:r>
              <a:rPr sz="2000" b="0">
                <a:solidFill>
                  <a:srgbClr val="1F2D3A"/>
                </a:solidFill>
              </a:rPr>
              <a:t>: kısıtla, engelleme, dikkatle.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6. Kanca ve enstrümantasyon algılama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Kanca (hook) tehdidi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kritik bir fonksiyonu </a:t>
            </a:r>
            <a:r>
              <a:rPr sz="2000" b="1">
                <a:solidFill>
                  <a:srgbClr val="1F2D3A"/>
                </a:solidFill>
              </a:rPr>
              <a:t>kancalar</a:t>
            </a:r>
            <a:r>
              <a:rPr sz="2000" b="0">
                <a:solidFill>
                  <a:srgbClr val="1F2D3A"/>
                </a:solidFill>
              </a:rPr>
              <a:t>: çağrıyı araya girip değiştirir.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"imza geçerli mi?" fonksiyonunu her zaman "evet" döndürtmek.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Araç: </a:t>
            </a:r>
            <a:r>
              <a:rPr sz="2000" b="1">
                <a:solidFill>
                  <a:srgbClr val="1F2D3A"/>
                </a:solidFill>
              </a:rPr>
              <a:t>Frida</a:t>
            </a:r>
            <a:r>
              <a:rPr sz="2000" b="0">
                <a:solidFill>
                  <a:srgbClr val="1F2D3A"/>
                </a:solidFill>
              </a:rPr>
              <a:t>, Xposed.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LD_PRELOAD kancası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Linux'ta bir kütüphaneyi programdan önce yükletip fonksiyonları </a:t>
            </a:r>
            <a:r>
              <a:rPr sz="2000" b="1">
                <a:solidFill>
                  <a:srgbClr val="1F2D3A"/>
                </a:solidFill>
              </a:rPr>
              <a:t>değiştirme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Kritik fonksiyon saldırganın sürümüyle değişir.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yüklenen kütüphaneleri denetler.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Algılama yolları (kavram)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Beklenmeyen yüklenmiş kütüphaneler/modüller.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Bilinen enstrümantasyon araçlarının izleri (bellekte, portlarda).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Fonksiyon adreslerinin beklenenden </a:t>
            </a:r>
            <a:r>
              <a:rPr sz="2000" b="1">
                <a:solidFill>
                  <a:srgbClr val="1F2D3A"/>
                </a:solidFill>
              </a:rPr>
              <a:t>sapması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Fonksiyon bütünlüğü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Kritik fonksiyonun ilk baytları beklenen mi?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Kanca genelde başa bir </a:t>
            </a:r>
            <a:r>
              <a:rPr sz="2000" b="1">
                <a:solidFill>
                  <a:srgbClr val="1F2D3A"/>
                </a:solidFill>
              </a:rPr>
              <a:t>atlama</a:t>
            </a:r>
            <a:r>
              <a:rPr sz="2000" b="0">
                <a:solidFill>
                  <a:srgbClr val="1F2D3A"/>
                </a:solidFill>
              </a:rPr>
              <a:t> yerleştirir → baytlar değişir.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Değişmişse → kanca var.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Kanca algılama da atlanabilir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Gelişmiş araçlar izlerini gizler.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Güç: çoklu yöntem + gizleme + sunucu tarafı denetim.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7. Dinamik bellek koruması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Hassas değerler (anahtar, sayaç) bellekte durur.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belleği okuyup/değiştirip denetimi atlayabilir.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Korunan sayaç fikri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Kritik bir sayacı düz tutmak yerine: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bir </a:t>
            </a:r>
            <a:r>
              <a:rPr sz="2000" b="1">
                <a:solidFill>
                  <a:srgbClr val="1F2D3A"/>
                </a:solidFill>
              </a:rPr>
              <a:t>gölge kopya</a:t>
            </a:r>
            <a:r>
              <a:rPr sz="2000" b="0">
                <a:solidFill>
                  <a:srgbClr val="1F2D3A"/>
                </a:solidFill>
              </a:rPr>
              <a:t> + </a:t>
            </a:r>
            <a:r>
              <a:rPr sz="2000" b="1">
                <a:solidFill>
                  <a:srgbClr val="1F2D3A"/>
                </a:solidFill>
              </a:rPr>
              <a:t>özet</a:t>
            </a:r>
            <a:r>
              <a:rPr sz="2000" b="0">
                <a:solidFill>
                  <a:srgbClr val="1F2D3A"/>
                </a:solidFill>
              </a:rPr>
              <a:t> ile birlikte tut.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her okuma/yazmada tutarlılığı denetle.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Korunan değer · kavram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typedef struct { uint32_t deger; uint32_t golge; uint32_t ozet; } Korunan;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okuma: deger == ~golge ve ozet doğru mu?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Saldırgan yalnız </a:t>
            </a:r>
            <a:r>
              <a:rPr sz="2000" b="0">
                <a:solidFill>
                  <a:srgbClr val="A1123F"/>
                </a:solidFill>
                <a:latin typeface="Consolas"/>
              </a:rPr>
              <a:t>deger</a:t>
            </a:r>
            <a:r>
              <a:rPr sz="2000" b="0">
                <a:solidFill>
                  <a:srgbClr val="1F2D3A"/>
                </a:solidFill>
              </a:rPr>
              <a:t>'i değiştirirse tutarsızlık yakalanır.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Bellek izleme tespiti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Hassas bölgelere beklenmedik erişim izleniyor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Bellek dökümü/tarama izleri.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Amaç: canlı bellek analizi maliyetini artırmak.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Bellek koruması sınırlı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Kararlı saldırgan yine erişebilir.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Amaç: </a:t>
            </a:r>
            <a:r>
              <a:rPr sz="2000" b="1">
                <a:solidFill>
                  <a:srgbClr val="1F2D3A"/>
                </a:solidFill>
              </a:rPr>
              <a:t>geciktirmek</a:t>
            </a:r>
            <a:r>
              <a:rPr sz="2000" b="0">
                <a:solidFill>
                  <a:srgbClr val="1F2D3A"/>
                </a:solidFill>
              </a:rPr>
              <a:t>, anahtarı kısa ömürlü kılmak (10. hafta).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5–7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Emülatör algılamada neden yanlış pozitif riski var?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Kanca (hook) fonksiyon baytlarını neden değiştirir?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Korunan sayaç neyi yakalar?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5–7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Meşru kullanıcı da </a:t>
            </a:r>
            <a:r>
              <a:rPr sz="2000" b="1">
                <a:solidFill>
                  <a:srgbClr val="1F2D3A"/>
                </a:solidFill>
              </a:rPr>
              <a:t>VM/emülatör/CI</a:t>
            </a:r>
            <a:r>
              <a:rPr sz="2000" b="0">
                <a:solidFill>
                  <a:srgbClr val="1F2D3A"/>
                </a:solidFill>
              </a:rPr>
              <a:t> kullanabilir; zayıf sinyaller gerçek cihazda da görülür → </a:t>
            </a:r>
            <a:r>
              <a:rPr sz="2000" b="1">
                <a:solidFill>
                  <a:srgbClr val="1F2D3A"/>
                </a:solidFill>
              </a:rPr>
              <a:t>suçsuzu engelleme</a:t>
            </a:r>
            <a:r>
              <a:rPr sz="2000" b="0">
                <a:solidFill>
                  <a:srgbClr val="1F2D3A"/>
                </a:solidFill>
              </a:rPr>
              <a:t> riski. Sertliği derecelendir.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Hook, hedefin </a:t>
            </a:r>
            <a:r>
              <a:rPr sz="2000" b="1">
                <a:solidFill>
                  <a:srgbClr val="1F2D3A"/>
                </a:solidFill>
              </a:rPr>
              <a:t>ilk baytlarını</a:t>
            </a:r>
            <a:r>
              <a:rPr sz="2000" b="0">
                <a:solidFill>
                  <a:srgbClr val="1F2D3A"/>
                </a:solidFill>
              </a:rPr>
              <a:t> bir atlama (jmp/trampoline) ile değiştirir ki çağrı saldırgan koduna sapsın → </a:t>
            </a:r>
            <a:r>
              <a:rPr sz="2000" b="1">
                <a:solidFill>
                  <a:srgbClr val="1F2D3A"/>
                </a:solidFill>
              </a:rPr>
              <a:t>prolog baytları</a:t>
            </a:r>
            <a:r>
              <a:rPr sz="2000" b="0">
                <a:solidFill>
                  <a:srgbClr val="1F2D3A"/>
                </a:solidFill>
              </a:rPr>
              <a:t> beklenenden farklı olur.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Kontrol akışının atlanmasını:</a:t>
            </a:r>
            <a:r>
              <a:rPr sz="2000" b="0">
                <a:solidFill>
                  <a:srgbClr val="1F2D3A"/>
                </a:solidFill>
              </a:rPr>
              <a:t> kritik denetimler çalıştıkça sayaç artar; beklenen değere ulaşmazsa bir denetim </a:t>
            </a:r>
            <a:r>
              <a:rPr sz="2000" b="1">
                <a:solidFill>
                  <a:srgbClr val="1F2D3A"/>
                </a:solidFill>
              </a:rPr>
              <a:t>baypas</a:t>
            </a:r>
            <a:r>
              <a:rPr sz="2000" b="0">
                <a:solidFill>
                  <a:srgbClr val="1F2D3A"/>
                </a:solidFill>
              </a:rPr>
              <a:t> edilmiştir.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8. Kök ortam ve imza doğrulama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Köklü cihaz neden risk?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Kök (root) = tam yetki.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Korumalar zayıflar; saldırgan belleğe, dosyaya, sürece erişir.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"cihaz köklü mü?" diye bakar.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Kök algılama (kavram)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Bilinen kök araçlarının/dosyalarının varlığı.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Normalde kısıtlı olan işlemlerin yapılabilmesi.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Sistem bütünlüğü göstergeleri.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Kök algılama atlanabilir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Kök gizleyiciler (root hiding) vardır.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gösterge yetmez; </a:t>
            </a:r>
            <a:r>
              <a:rPr sz="2000" b="1">
                <a:solidFill>
                  <a:srgbClr val="1F2D3A"/>
                </a:solidFill>
              </a:rPr>
              <a:t>birçok</a:t>
            </a:r>
            <a:r>
              <a:rPr sz="2000" b="0">
                <a:solidFill>
                  <a:srgbClr val="1F2D3A"/>
                </a:solidFill>
              </a:rPr>
              <a:t> gösterge + sunucu denetimi.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Tepki: kritik işlevi kısıtla, tümden engelleme (kullanıcı mağdur olmasın).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Bileşen imza doğrulaması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Çağıran/yüklenen bileşenin </a:t>
            </a:r>
            <a:r>
              <a:rPr sz="2000" b="1">
                <a:solidFill>
                  <a:srgbClr val="1F2D3A"/>
                </a:solidFill>
              </a:rPr>
              <a:t>dijital imzası</a:t>
            </a:r>
            <a:r>
              <a:rPr sz="2000" b="0">
                <a:solidFill>
                  <a:srgbClr val="1F2D3A"/>
                </a:solidFill>
              </a:rPr>
              <a:t> beklenen mi?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Sahte/değiştirilmiş bir uygulama kütüphaneyi çağırıyorsa yakala.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yalnız beklenen imzalı ana uygulama SDK'yı kullanabilsin.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İmza + özet birlikte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İmza: bileşen </a:t>
            </a:r>
            <a:r>
              <a:rPr sz="2000" b="1">
                <a:solidFill>
                  <a:srgbClr val="1F2D3A"/>
                </a:solidFill>
              </a:rPr>
              <a:t>kim</a:t>
            </a:r>
            <a:r>
              <a:rPr sz="2000" b="0">
                <a:solidFill>
                  <a:srgbClr val="1F2D3A"/>
                </a:solidFill>
              </a:rPr>
              <a:t> tarafından yayımlandı?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Özet: bileşen </a:t>
            </a:r>
            <a:r>
              <a:rPr sz="2000" b="1">
                <a:solidFill>
                  <a:srgbClr val="1F2D3A"/>
                </a:solidFill>
              </a:rPr>
              <a:t>değişti mi</a:t>
            </a:r>
            <a:r>
              <a:rPr sz="2000" b="0">
                <a:solidFill>
                  <a:srgbClr val="1F2D3A"/>
                </a:solidFill>
              </a:rPr>
              <a:t>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İkisi birlikte sahtekârlığı zorlaştırır.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9. Kontrol akışı bütünlüğü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Tek </a:t>
            </a:r>
            <a:r>
              <a:rPr sz="3000" b="1">
                <a:solidFill>
                  <a:srgbClr val="006D77"/>
                </a:solidFill>
                <a:latin typeface="Consolas"/>
              </a:rPr>
              <a:t>if</a:t>
            </a:r>
            <a:r>
              <a:rPr sz="3000" b="1">
                <a:solidFill>
                  <a:srgbClr val="006D77"/>
                </a:solidFill>
              </a:rPr>
              <a:t> neden yetmez?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(imza_gecerli()) devam();   /* tek nokta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bu tek dalı </a:t>
            </a:r>
            <a:r>
              <a:rPr sz="2000" b="1">
                <a:solidFill>
                  <a:srgbClr val="1F2D3A"/>
                </a:solidFill>
              </a:rPr>
              <a:t>yamalar</a:t>
            </a:r>
            <a:r>
              <a:rPr sz="2000" b="0">
                <a:solidFill>
                  <a:srgbClr val="1F2D3A"/>
                </a:solidFill>
              </a:rPr>
              <a:t> → denetim atlanır.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9. haftadaki opak boolean + rastgele çıkış burada kritik.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Kontrol akışı sayacı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Kritik denetimler doğru </a:t>
            </a:r>
            <a:r>
              <a:rPr sz="2000" b="1">
                <a:solidFill>
                  <a:srgbClr val="1F2D3A"/>
                </a:solidFill>
              </a:rPr>
              <a:t>sırayla</a:t>
            </a:r>
            <a:r>
              <a:rPr sz="2000" b="0">
                <a:solidFill>
                  <a:srgbClr val="1F2D3A"/>
                </a:solidFill>
              </a:rPr>
              <a:t> geçilmeli.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denetim bir </a:t>
            </a:r>
            <a:r>
              <a:rPr sz="2000" b="1">
                <a:solidFill>
                  <a:srgbClr val="1F2D3A"/>
                </a:solidFill>
              </a:rPr>
              <a:t>sayacı</a:t>
            </a:r>
            <a:r>
              <a:rPr sz="2000" b="0">
                <a:solidFill>
                  <a:srgbClr val="1F2D3A"/>
                </a:solidFill>
              </a:rPr>
              <a:t> günceller.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Sonda sayaç beklenen değilse → biri atlandı.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Çift sayaç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 bağımsız sayaç (biri artan, biri azalan).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Toplamları/ilişkileri sabit olmalı.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</a:t>
            </a:r>
            <a:r>
              <a:rPr sz="2000" b="1">
                <a:solidFill>
                  <a:srgbClr val="1F2D3A"/>
                </a:solidFill>
              </a:rPr>
              <a:t>ikisini birden</a:t>
            </a:r>
            <a:r>
              <a:rPr sz="2000" b="0">
                <a:solidFill>
                  <a:srgbClr val="1F2D3A"/>
                </a:solidFill>
              </a:rPr>
              <a:t> tutarlı değiştirmek zorunda.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Sonucu davranışa bağla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Denetim sonucu düz bir </a:t>
            </a:r>
            <a:r>
              <a:rPr sz="2000" b="0">
                <a:solidFill>
                  <a:srgbClr val="A1123F"/>
                </a:solidFill>
                <a:latin typeface="Consolas"/>
              </a:rPr>
              <a:t>if</a:t>
            </a:r>
            <a:r>
              <a:rPr sz="2000" b="0">
                <a:solidFill>
                  <a:srgbClr val="1F2D3A"/>
                </a:solidFill>
              </a:rPr>
              <a:t> değil.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Sonuç, bir sonraki adımın </a:t>
            </a:r>
            <a:r>
              <a:rPr sz="2000" b="1">
                <a:solidFill>
                  <a:srgbClr val="1F2D3A"/>
                </a:solidFill>
              </a:rPr>
              <a:t>hesabına</a:t>
            </a:r>
            <a:r>
              <a:rPr sz="2000" b="0">
                <a:solidFill>
                  <a:srgbClr val="1F2D3A"/>
                </a:solidFill>
              </a:rPr>
              <a:t> girer (ör. bir anahtar türetmesine).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Atlanırsa program </a:t>
            </a:r>
            <a:r>
              <a:rPr sz="2000" b="1">
                <a:solidFill>
                  <a:srgbClr val="1F2D3A"/>
                </a:solidFill>
              </a:rPr>
              <a:t>yanlış</a:t>
            </a:r>
            <a:r>
              <a:rPr sz="2000" b="0">
                <a:solidFill>
                  <a:srgbClr val="1F2D3A"/>
                </a:solidFill>
              </a:rPr>
              <a:t> çalışır (sessizce bozulur).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10. Tepki politikası ve caydırma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"Hemen çök" neden kötü?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Saldırgana "işte tam burada denetim var" der.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Denetimi bulup atlamayı kolaylaştırır.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Daha akıllı tepkiler gerekir.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İyi tepki örnekleri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Gecikmeli:</a:t>
            </a:r>
            <a:r>
              <a:rPr sz="2000" b="0">
                <a:solidFill>
                  <a:srgbClr val="1F2D3A"/>
                </a:solidFill>
              </a:rPr>
              <a:t> tehdidi sonra, başka yerde tetikle (kaynağı gizle).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Dolaylı:</a:t>
            </a:r>
            <a:r>
              <a:rPr sz="2000" b="0">
                <a:solidFill>
                  <a:srgbClr val="1F2D3A"/>
                </a:solidFill>
              </a:rPr>
              <a:t> işlevi sessizce bozar (yanlış sonuç üret).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Sunucuya bildir:</a:t>
            </a:r>
            <a:r>
              <a:rPr sz="2000" b="0">
                <a:solidFill>
                  <a:srgbClr val="1F2D3A"/>
                </a:solidFill>
              </a:rPr>
              <a:t> risk skoru artır, işlemi sunucuda reddet.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Tepki tasarımı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Kullanıcı deneyimini bozma (yanlış pozitif riski).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Sert tepki yalnız </a:t>
            </a:r>
            <a:r>
              <a:rPr sz="2000" b="1">
                <a:solidFill>
                  <a:srgbClr val="1F2D3A"/>
                </a:solidFill>
              </a:rPr>
              <a:t>yüksek güvenli</a:t>
            </a:r>
            <a:r>
              <a:rPr sz="2000" b="0">
                <a:solidFill>
                  <a:srgbClr val="1F2D3A"/>
                </a:solidFill>
              </a:rPr>
              <a:t> göstergede.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Çoğu durumda: kısıtla + sunucu denetimi.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Cihaz bağlama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Anahtar/veri yalnız </a:t>
            </a:r>
            <a:r>
              <a:rPr sz="2000" b="1">
                <a:solidFill>
                  <a:srgbClr val="1F2D3A"/>
                </a:solidFill>
              </a:rPr>
              <a:t>belirli cihazda</a:t>
            </a:r>
            <a:r>
              <a:rPr sz="2000" b="0">
                <a:solidFill>
                  <a:srgbClr val="1F2D3A"/>
                </a:solidFill>
              </a:rPr>
              <a:t> anlamlı.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Kopyalanırsa (başka cihaz) işe yaramaz.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Kod taşımaya (9/11. hafta) karşı.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Caydırma · nihai amaç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RASP saldırıyı </a:t>
            </a:r>
            <a:r>
              <a:rPr sz="2000" b="1">
                <a:solidFill>
                  <a:srgbClr val="1F2D3A"/>
                </a:solidFill>
              </a:rPr>
              <a:t>imkânsız</a:t>
            </a:r>
            <a:r>
              <a:rPr sz="2000" b="0">
                <a:solidFill>
                  <a:srgbClr val="1F2D3A"/>
                </a:solidFill>
              </a:rPr>
              <a:t> kılmaz; </a:t>
            </a:r>
            <a:r>
              <a:rPr sz="2000" b="1">
                <a:solidFill>
                  <a:srgbClr val="1F2D3A"/>
                </a:solidFill>
              </a:rPr>
              <a:t>zahmetli ve riskli</a:t>
            </a:r>
            <a:r>
              <a:rPr sz="2000" b="0">
                <a:solidFill>
                  <a:srgbClr val="1F2D3A"/>
                </a:solidFill>
              </a:rPr>
              <a:t> kılar.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Yeterince katman + sunucu denetimi → saldırgan vazgeçer ya da yakalanır.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8–10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Köklü cihaz neden risk?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Tek </a:t>
            </a:r>
            <a:r>
              <a:rPr sz="2000" b="0">
                <a:solidFill>
                  <a:srgbClr val="A1123F"/>
                </a:solidFill>
                <a:latin typeface="Consolas"/>
              </a:rPr>
              <a:t>if</a:t>
            </a:r>
            <a:r>
              <a:rPr sz="2000" b="0">
                <a:solidFill>
                  <a:srgbClr val="1F2D3A"/>
                </a:solidFill>
              </a:rPr>
              <a:t>'i sayaç neden güçlendirir?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Neden "hemen çök" kötü bir tepki olabilir?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8–10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Root/jailbreak</a:t>
            </a:r>
            <a:r>
              <a:rPr sz="2000" b="0">
                <a:solidFill>
                  <a:srgbClr val="1F2D3A"/>
                </a:solidFill>
              </a:rPr>
              <a:t> bellek okuma/yazma, hook, sertifika enjeksiyonu engellerini kaldırır → RASP varsayımları ve izolasyon çöker.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Tek </a:t>
            </a:r>
            <a:r>
              <a:rPr sz="2000" b="0">
                <a:solidFill>
                  <a:srgbClr val="A1123F"/>
                </a:solidFill>
                <a:latin typeface="Consolas"/>
              </a:rPr>
              <a:t>if</a:t>
            </a:r>
            <a:r>
              <a:rPr sz="2000" b="0">
                <a:solidFill>
                  <a:srgbClr val="1F2D3A"/>
                </a:solidFill>
              </a:rPr>
              <a:t> bir NOP/yama ile atlanır; </a:t>
            </a:r>
            <a:r>
              <a:rPr sz="2000" b="1">
                <a:solidFill>
                  <a:srgbClr val="1F2D3A"/>
                </a:solidFill>
              </a:rPr>
              <a:t>sayaç</a:t>
            </a:r>
            <a:r>
              <a:rPr sz="2000" b="0">
                <a:solidFill>
                  <a:srgbClr val="1F2D3A"/>
                </a:solidFill>
              </a:rPr>
              <a:t> denetimin gerçekten çalıştığını sonradan doğrular (dağıtık kanıt) → tek yama yetmez.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"Hemen çök" saldırgana denetimin </a:t>
            </a:r>
            <a:r>
              <a:rPr sz="2000" b="1">
                <a:solidFill>
                  <a:srgbClr val="1F2D3A"/>
                </a:solidFill>
              </a:rPr>
              <a:t>tam yerini</a:t>
            </a:r>
            <a:r>
              <a:rPr sz="2000" b="0">
                <a:solidFill>
                  <a:srgbClr val="1F2D3A"/>
                </a:solidFill>
              </a:rPr>
              <a:t> gösterir ve yanlış pozitifte meşru kullanıcıyı vurur. </a:t>
            </a:r>
            <a:r>
              <a:rPr sz="2000" b="1">
                <a:solidFill>
                  <a:srgbClr val="1F2D3A"/>
                </a:solidFill>
              </a:rPr>
              <a:t>Gecikmeli/sessiz/aldatıcı</a:t>
            </a:r>
            <a:r>
              <a:rPr sz="2000" b="0">
                <a:solidFill>
                  <a:srgbClr val="1F2D3A"/>
                </a:solidFill>
              </a:rPr>
              <a:t> tepki daha iyi.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11. Sınırlar ve etik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RASP'in sınırları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tek denetim </a:t>
            </a:r>
            <a:r>
              <a:rPr sz="2000" b="1">
                <a:solidFill>
                  <a:srgbClr val="1F2D3A"/>
                </a:solidFill>
              </a:rPr>
              <a:t>atlanabilir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Köklü cihazda güç azalır.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Yanlış pozitif → gerçek kullanıcı mağdur olabilir.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Bakım maliyeti yüksek (araçlar gelişir).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 yüzden RASP...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Katmanlı</a:t>
            </a:r>
            <a:r>
              <a:rPr sz="2000" b="0">
                <a:solidFill>
                  <a:srgbClr val="1F2D3A"/>
                </a:solidFill>
              </a:rPr>
              <a:t> (çok denetim), </a:t>
            </a:r>
            <a:r>
              <a:rPr sz="2000" b="1">
                <a:solidFill>
                  <a:srgbClr val="1F2D3A"/>
                </a:solidFill>
              </a:rPr>
              <a:t>çeşitlendirilmiş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gizli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Sunucu tarafı</a:t>
            </a:r>
            <a:r>
              <a:rPr sz="2000" b="0">
                <a:solidFill>
                  <a:srgbClr val="1F2D3A"/>
                </a:solidFill>
              </a:rPr>
              <a:t> denetimle birlikte (asıl güvence).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başına "aşılmaz" iddiası </a:t>
            </a:r>
            <a:r>
              <a:rPr sz="2000" b="1">
                <a:solidFill>
                  <a:srgbClr val="1F2D3A"/>
                </a:solidFill>
              </a:rPr>
              <a:t>yanlıştır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Etik ve kullanıcı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kullanıcının cihazında çalışır; </a:t>
            </a:r>
            <a:r>
              <a:rPr sz="2000" b="1">
                <a:solidFill>
                  <a:srgbClr val="1F2D3A"/>
                </a:solidFill>
              </a:rPr>
              <a:t>aşırı veri toplama</a:t>
            </a:r>
            <a:r>
              <a:rPr sz="2000" b="0">
                <a:solidFill>
                  <a:srgbClr val="1F2D3A"/>
                </a:solidFill>
              </a:rPr>
              <a:t> etik değil.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Yanlış pozitif kullanıcıyı hizmetten edebilir → dikkatli tepki.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Şeffaflık ve gizlilik dengesi.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Güvenli örnek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Ders demoları öğrenci cihazına </a:t>
            </a:r>
            <a:r>
              <a:rPr sz="2000" b="1">
                <a:solidFill>
                  <a:srgbClr val="1F2D3A"/>
                </a:solidFill>
              </a:rPr>
              <a:t>zarar vermez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Gerçek kök/sistem değişikliği yok; sentetik göstergeler.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Amaç kavramı öğretmek, saldırı aracı yapmak değil.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12. Proje: bu hafta (S10)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S10 (RASP + tepki)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ne zaman/nerede</a:t>
            </a:r>
            <a:r>
              <a:rPr sz="2000" b="0">
                <a:solidFill>
                  <a:srgbClr val="1F2D3A"/>
                </a:solidFill>
              </a:rPr>
              <a:t> çalıştığını belgele.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Değerlendirici gözüyle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"RASP var" yetmez; </a:t>
            </a:r>
            <a:r>
              <a:rPr sz="2000" b="1">
                <a:solidFill>
                  <a:srgbClr val="1F2D3A"/>
                </a:solidFill>
              </a:rPr>
              <a:t>kaç katman, nasıl gizli, nasıl tepki</a:t>
            </a:r>
            <a:r>
              <a:rPr sz="2000" b="0">
                <a:solidFill>
                  <a:srgbClr val="1F2D3A"/>
                </a:solidFill>
              </a:rPr>
              <a:t>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Sunucu denetimiyle nasıl birleşiyor?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Yanlış pozitif riski nasıl yönetiliyor?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Çözümlü kendini sınama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RASP'in üç işi nedir?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Algıla (anormal ortam/kurcalama), savun (işlevi kısıtla/durdur), caydır (maliyeti yükselt).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Self-hashing neyi yakalar, neden tek başına yetmez?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İkiliye yapılan yamayı/kurcalamayı yakalar. Saldırgan özet fonksiyonunu bulup atlatabildiği için tek başına yetmez; gizleme + çapraz + örtüşen denetim gerekir.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Çapraz denetim neden güçlüdür?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Java native'i, native Java'yı denetler; saldırgan </a:t>
            </a:r>
            <a:r>
              <a:rPr sz="2000" b="1">
                <a:solidFill>
                  <a:srgbClr val="1F2D3A"/>
                </a:solidFill>
              </a:rPr>
              <a:t>ikisini birden</a:t>
            </a:r>
            <a:r>
              <a:rPr sz="2000" b="0">
                <a:solidFill>
                  <a:srgbClr val="1F2D3A"/>
                </a:solidFill>
              </a:rPr>
              <a:t> atlamak zorunda kalır.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Zamanlama tabanlı anti-debug nasıl çalışır?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Küçük bir iş beklenenden çok uzun sürdüyse, biri programı adım adım çalıştırıyor (debugger) olabilir.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Tek `if` denetimini kontrol akışı sayacı neden güçlendirir?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Denetimlerin doğru sırayla geçtiğini sayar; tek bir dalı yamalamak sayacı bozar, atlanma yakalanır.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"Hemen çök" neden her zaman iyi bir tepki değildir?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Saldırgana denetimin tam yerini gösterir. Gecikmeli/dolaylı tepki + sunucu bildirimi daha iyidir.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Emülatör algılamada yanlış pozitif riski neden önemli?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Gerçek cihaz/geliştirici ortamı emülatör gibi görünebilir; sert tepki gerçek kullanıcıyı mağdur eder.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RASP'in temel sınırı nedir?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Her tek denetim atlanabilir; köklü cihazda zayıflar. Güç katmandan, çeşitlilikten ve sunucu denetiminden gelir.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Quiz-1 tarzı örnek sorular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Örnek · çoktan seçmeli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RASP çapraz denetiminde amaç nedir?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A) Kodu küçültmek B) İki tarafı da atlamayı zorunlu kılmak ✓ C) Şifreleme hızını artırmak D) Günlüğü kapatmak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Örnek · kısa cevap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Bir bütünlük denetimini güçlendiren üç yöntem yazın.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 · çoklu/örtüşen blok · çapraz denetim · sonucu davranışa bağlama.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Sözlük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4382"/>
                <a:gridCol w="7967152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RASP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Çalışma anı öz-koruma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Self-hashing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Kendi kodunun özetini denetleme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Hook/Frida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Fonksiyon çağrısını araya girip değiştirme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CFI sayacı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Denetim sırasını sayarak doğrulama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Cihaz bağlama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Veriyi belirli cihaza bağlama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Özet: bu haftanın tek cümlesi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649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RASP program çalışırken kendini izler ve tehdide tepki verir; ama tek denetim değil, </a:t>
            </a:r>
            <a:r>
              <a:rPr sz="2000" b="1">
                <a:solidFill>
                  <a:srgbClr val="1F2D3A"/>
                </a:solidFill>
              </a:rPr>
              <a:t>katmanlı, çeşitlendirilmiş, gizli</a:t>
            </a:r>
            <a:r>
              <a:rPr sz="2000" b="0">
                <a:solidFill>
                  <a:srgbClr val="1F2D3A"/>
                </a:solidFill>
              </a:rPr>
              <a:t> denetimler ve </a:t>
            </a:r>
            <a:r>
              <a:rPr sz="2000" b="1">
                <a:solidFill>
                  <a:srgbClr val="1F2D3A"/>
                </a:solidFill>
              </a:rPr>
              <a:t>sunucu tarafı</a:t>
            </a:r>
            <a:r>
              <a:rPr sz="2000" b="0">
                <a:solidFill>
                  <a:srgbClr val="1F2D3A"/>
                </a:solidFill>
              </a:rPr>
              <a:t> doğrulama ile güç kazanır.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Gelecek hafta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7. hafta — Ara proje gösterimi (RAP1)</a:t>
            </a:r>
            <a:r>
              <a:rPr sz="2000" b="0">
                <a:solidFill>
                  <a:srgbClr val="FFFFFF"/>
                </a:solidFill>
              </a:rPr>
              <a:t> ve </a:t>
            </a:r>
            <a:r>
              <a:rPr sz="2000" b="1">
                <a:solidFill>
                  <a:srgbClr val="FFFFFF"/>
                </a:solidFill>
              </a:rPr>
              <a:t>8. hafta — Quiz-1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Vize dönemi: projenizin ilk yarısını gösterip Quiz-1'e hazırlanın.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A · Bir RASP katmanı kurmak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Hedef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Sentetik bir "lisans denetimi"ni RASP ile koruyalım: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bütünlük denetimi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hata ayıklayıcı denetimi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akıllı tepki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· korunacak nokta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lisans_gecerli(void)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/* ... kontrol ...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sonuc;   /* saldırganın hedefi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fonksiyon ve onu çağıran akış kritik.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2 · bütünlük denetimi ekle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Derleme sonrası bu bölgenin özetini kaydet.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Çalışırken yeniden hesapla, karşılaştır.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Fark → kurcalama bayrağı.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3 · anti-debug ekle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Zamanlama + OS göstergesiyle "izleniyor muyum?".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Sonucu tek başına bırakma; başka denetimle </a:t>
            </a:r>
            <a:r>
              <a:rPr sz="2000" b="1">
                <a:solidFill>
                  <a:srgbClr val="1F2D3A"/>
                </a:solidFill>
              </a:rPr>
              <a:t>birleştir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4 · sonucu davranışa bağla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lisans_gecerli</a:t>
            </a:r>
            <a:r>
              <a:rPr sz="2000" b="0">
                <a:solidFill>
                  <a:srgbClr val="1F2D3A"/>
                </a:solidFill>
              </a:rPr>
              <a:t> sonucu düz true/false değil.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Bütünlük + anti-debug göstergeleri, sonucun </a:t>
            </a:r>
            <a:r>
              <a:rPr sz="2000" b="1">
                <a:solidFill>
                  <a:srgbClr val="1F2D3A"/>
                </a:solidFill>
              </a:rPr>
              <a:t>hesabına</a:t>
            </a:r>
            <a:r>
              <a:rPr sz="2000" b="0">
                <a:solidFill>
                  <a:srgbClr val="1F2D3A"/>
                </a:solidFill>
              </a:rPr>
              <a:t> girer.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Kurcalama varsa fonksiyon </a:t>
            </a:r>
            <a:r>
              <a:rPr sz="2000" b="1">
                <a:solidFill>
                  <a:srgbClr val="1F2D3A"/>
                </a:solidFill>
              </a:rPr>
              <a:t>yanlış</a:t>
            </a:r>
            <a:r>
              <a:rPr sz="2000" b="0">
                <a:solidFill>
                  <a:srgbClr val="1F2D3A"/>
                </a:solidFill>
              </a:rPr>
              <a:t> çalışır.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5 · tepki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Hemen çökme yerine: bayrağı sunucuya bildir, işlevi kısıtla.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Gecikmeli tetik: kaynağı gizle.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6 · gizle ve çeşitlendir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Denetim kodunu gizle (9. hafta).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sürümde farklı yerleştirme (çeşitlendirme).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Çapraz denetim ekle.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7 · ölç ve belgele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Kaç denetim, nerede, hangi tepki?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Başarım maliyeti (denetimler yavaşlatır).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S10'a yaz.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B · Mini vaka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Kurgu · ödeme uygulaması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Yerel anahtar + ödeme akışı.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Hedef: kurcalama ve canlı analiz zorlaşsın.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denetim yerleşimi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Başlangıç:</a:t>
            </a:r>
            <a:r>
              <a:rPr sz="2000" b="0">
                <a:solidFill>
                  <a:srgbClr val="1F2D3A"/>
                </a:solidFill>
              </a:rPr>
              <a:t> kök/emülatör/imza denetimi.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Ödeme öncesi:</a:t>
            </a:r>
            <a:r>
              <a:rPr sz="2000" b="0">
                <a:solidFill>
                  <a:srgbClr val="1F2D3A"/>
                </a:solidFill>
              </a:rPr>
              <a:t> bütünlük + anti-debug + hook denetimi.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Periyodik/rastgele:</a:t>
            </a:r>
            <a:r>
              <a:rPr sz="2000" b="0">
                <a:solidFill>
                  <a:srgbClr val="1F2D3A"/>
                </a:solidFill>
              </a:rPr>
              <a:t> tekrar.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tepki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Yüksek güvenli gösterge → işlemi reddet + sunucuya bildir.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Zayıf gösterge → sunucu risk skorunu artır.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Kullanıcı deneyimini koru (yanlış pozitif).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katmanlar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+ gizleme (9) + whitebox (11) + kısa ömürlü anahtar (10).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Sunucu tarafı: hız sınırı, anomali.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katman aşılsa bile diğerleri sürer.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kalan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Köklü cihazda kararlı saldırgan ilerleyebilir.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Ama: çok katman + sunucu denetimi → hasar sınırlı, saldırı pahalı.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Açıkça yazılır.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C · RASP denetim kataloğu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Katalog (1)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43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406"/>
                <a:gridCol w="2766304"/>
                <a:gridCol w="4456824"/>
              </a:tblGrid>
              <a:tr h="35798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Denetim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 yakalar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Sınır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Bütünlük (self-hash)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İkili yama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Özet fn. atlanabilir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Anti-debug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Debugger bağlı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Bilinen yöntemler atlanır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798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Emülatör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Sahte ortam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Yanlış pozitif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Katalog (2)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002239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6024"/>
                <a:gridCol w="3819037"/>
                <a:gridCol w="3637178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Denetim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 yakalar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Sınır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Hook/Frida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Fonksiyon kancası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Gizli araçlar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Kök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Yetki yükseltme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Kök gizleyiciler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İmza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Sahte bileşen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 sızarsa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CFI sayacı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Denetim atlama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Karmaşık yama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Katalogdan 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denetimin bir </a:t>
            </a:r>
            <a:r>
              <a:rPr sz="2000" b="1">
                <a:solidFill>
                  <a:srgbClr val="1F2D3A"/>
                </a:solidFill>
              </a:rPr>
              <a:t>kör noktası</a:t>
            </a:r>
            <a:r>
              <a:rPr sz="2000" b="0">
                <a:solidFill>
                  <a:srgbClr val="1F2D3A"/>
                </a:solidFill>
              </a:rPr>
              <a:t> var.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başına hiçbiri yeterli değil.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Katalogdan </a:t>
            </a:r>
            <a:r>
              <a:rPr sz="2000" b="1">
                <a:solidFill>
                  <a:srgbClr val="1F2D3A"/>
                </a:solidFill>
              </a:rPr>
              <a:t>birçoğunu</a:t>
            </a:r>
            <a:r>
              <a:rPr sz="2000" b="0">
                <a:solidFill>
                  <a:srgbClr val="1F2D3A"/>
                </a:solidFill>
              </a:rPr>
              <a:t> seç, birleştir, çeşitlendir.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Denetim seçimi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Varlığın değerine göre kaç katman?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Platforma göre hangi denetimler anlamlı?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Başarım bütçesi ne kadar?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Kararı ve gerekçesini S10'a yaz.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D · Saldırgan ↔ savunmacı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bu diyalog?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Güvenlik bir </a:t>
            </a:r>
            <a:r>
              <a:rPr sz="2000" b="1">
                <a:solidFill>
                  <a:srgbClr val="1F2D3A"/>
                </a:solidFill>
              </a:rPr>
              <a:t>hamle-karşı hamle</a:t>
            </a:r>
            <a:r>
              <a:rPr sz="2000" b="0">
                <a:solidFill>
                  <a:srgbClr val="1F2D3A"/>
                </a:solidFill>
              </a:rPr>
              <a:t> oyunudur.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savunmaya bir saldırı, her saldırıya yeni savunma.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Katmanlı savunma bu yüzden gereklidir.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Bütünlük · diyalog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Savunma:</a:t>
            </a:r>
            <a:r>
              <a:rPr sz="2000" b="0">
                <a:solidFill>
                  <a:srgbClr val="1F2D3A"/>
                </a:solidFill>
              </a:rPr>
              <a:t> self-hashing ekle.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Saldırgan:</a:t>
            </a:r>
            <a:r>
              <a:rPr sz="2000" b="0">
                <a:solidFill>
                  <a:srgbClr val="1F2D3A"/>
                </a:solidFill>
              </a:rPr>
              <a:t> özet fonksiyonunu bul, hep "tutuyor" dedirt.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Savunma:</a:t>
            </a:r>
            <a:r>
              <a:rPr sz="2000" b="0">
                <a:solidFill>
                  <a:srgbClr val="1F2D3A"/>
                </a:solidFill>
              </a:rPr>
              <a:t> özeti gizle, örtüştür, sonucu davranışa bağla.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Anti-debug · diyalog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Savunma:</a:t>
            </a:r>
            <a:r>
              <a:rPr sz="2000" b="0">
                <a:solidFill>
                  <a:srgbClr val="1F2D3A"/>
                </a:solidFill>
              </a:rPr>
              <a:t> debugger denetimi ekle.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Saldırgan:</a:t>
            </a:r>
            <a:r>
              <a:rPr sz="2000" b="0">
                <a:solidFill>
                  <a:srgbClr val="1F2D3A"/>
                </a:solidFill>
              </a:rPr>
              <a:t> denetimi bul, atla.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Savunma:</a:t>
            </a:r>
            <a:r>
              <a:rPr sz="2000" b="0">
                <a:solidFill>
                  <a:srgbClr val="1F2D3A"/>
                </a:solidFill>
              </a:rPr>
              <a:t> çok yöntem + zamanlama + gizleme; tepkiyi gecikmeli yap.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Hook · diyalog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Savunma:</a:t>
            </a:r>
            <a:r>
              <a:rPr sz="2000" b="0">
                <a:solidFill>
                  <a:srgbClr val="1F2D3A"/>
                </a:solidFill>
              </a:rPr>
              <a:t> fonksiyon baytlarını denetle.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Saldırgan:</a:t>
            </a:r>
            <a:r>
              <a:rPr sz="2000" b="0">
                <a:solidFill>
                  <a:srgbClr val="1F2D3A"/>
                </a:solidFill>
              </a:rPr>
              <a:t> kancayı gizle, baytları geri düzelt.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Savunma:</a:t>
            </a:r>
            <a:r>
              <a:rPr sz="2000" b="0">
                <a:solidFill>
                  <a:srgbClr val="1F2D3A"/>
                </a:solidFill>
              </a:rPr>
              <a:t> çapraz denetim + sunucu tarafı doğrulama.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Kök · diyalog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Savunma:</a:t>
            </a:r>
            <a:r>
              <a:rPr sz="2000" b="0">
                <a:solidFill>
                  <a:srgbClr val="1F2D3A"/>
                </a:solidFill>
              </a:rPr>
              <a:t> kök göstergelerini denetle.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Saldırgan:</a:t>
            </a:r>
            <a:r>
              <a:rPr sz="2000" b="0">
                <a:solidFill>
                  <a:srgbClr val="1F2D3A"/>
                </a:solidFill>
              </a:rPr>
              <a:t> kök gizleyici kullan.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Savunma:</a:t>
            </a:r>
            <a:r>
              <a:rPr sz="2000" b="0">
                <a:solidFill>
                  <a:srgbClr val="1F2D3A"/>
                </a:solidFill>
              </a:rPr>
              <a:t> çok gösterge + sunucu risk skoru; sert tepki değil kısıtlama.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Diyalogdan 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savunma her zaman aşılır.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Güç: </a:t>
            </a:r>
            <a:r>
              <a:rPr sz="2000" b="1">
                <a:solidFill>
                  <a:srgbClr val="1F2D3A"/>
                </a:solidFill>
              </a:rPr>
              <a:t>çokluk + gizlilik + çeşitlilik + sunucu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Amaç: saldırıyı </a:t>
            </a:r>
            <a:r>
              <a:rPr sz="2000" b="1">
                <a:solidFill>
                  <a:srgbClr val="1F2D3A"/>
                </a:solidFill>
              </a:rPr>
              <a:t>ekonomik olmaktan çıkarmak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E · Tepki karar akışı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"Tehdit gördüm, ne yapayım?" —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 1:</a:t>
            </a:r>
            <a:r>
              <a:rPr sz="2000" b="0">
                <a:solidFill>
                  <a:srgbClr val="1F2D3A"/>
                </a:solidFill>
              </a:rPr>
              <a:t> Gösterge ne kadar güvenilir?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Çok güvenilir</a:t>
            </a:r>
            <a:r>
              <a:rPr sz="2000" b="0">
                <a:solidFill>
                  <a:srgbClr val="1F2D3A"/>
                </a:solidFill>
              </a:rPr>
              <a:t> → işlemi reddet + sunucuya bildir.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Belirsiz</a:t>
            </a:r>
            <a:r>
              <a:rPr sz="2000" b="0">
                <a:solidFill>
                  <a:srgbClr val="1F2D3A"/>
                </a:solidFill>
              </a:rPr>
              <a:t> → devam, ama risk skorunu artır.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"Ne yapayım?" —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 2:</a:t>
            </a:r>
            <a:r>
              <a:rPr sz="2000" b="0">
                <a:solidFill>
                  <a:srgbClr val="1F2D3A"/>
                </a:solidFill>
              </a:rPr>
              <a:t> Kullanıcı deneyimi etkilenir mi?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Yanlış pozitif riski yüksekse → </a:t>
            </a:r>
            <a:r>
              <a:rPr sz="2000" b="1">
                <a:solidFill>
                  <a:srgbClr val="1F2D3A"/>
                </a:solidFill>
              </a:rPr>
              <a:t>sert tepki verme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Sessiz kısıtlama + sunucu denetimi tercih.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"Ne yapayım?" —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 3:</a:t>
            </a:r>
            <a:r>
              <a:rPr sz="2000" b="0">
                <a:solidFill>
                  <a:srgbClr val="1F2D3A"/>
                </a:solidFill>
              </a:rPr>
              <a:t> Tepki denetimi ele verir mi?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Hemen çökme → kaynağı gösterir.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Gecikmeli/dolaylı</a:t>
            </a:r>
            <a:r>
              <a:rPr sz="2000" b="0">
                <a:solidFill>
                  <a:srgbClr val="1F2D3A"/>
                </a:solidFill>
              </a:rPr>
              <a:t> tepki → kaynağı gizler.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Tepki akışı · tek bakış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54633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Gösterge güvenilir mi?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evet -&gt; reddet + sunucuya bildir (gecikmeli, dolaylı)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belirsiz -&gt; devam + risk skoru artır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Her durumda: yanlış pozitifi düşün, kaynağı gizle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F · Hızlı başvuru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Sık yapılan hatalar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denetime güvenmek.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Denetimi gizlememek (kolay bulunur).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"Hemen çök" tepkisi (kaynağı ele verir).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Sert tepki + yüksek yanlış pozitif (kullanıcı mağdur).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Sunucu denetimini atlamak (asıl güvence orada).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RASP kontrol listesi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4917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Son söz (6. hafta)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RASP, saldırganla oynanan bir </a:t>
            </a:r>
            <a:r>
              <a:rPr sz="2000" b="1">
                <a:solidFill>
                  <a:srgbClr val="1F2D3A"/>
                </a:solidFill>
              </a:rPr>
              <a:t>zaman</a:t>
            </a:r>
            <a:r>
              <a:rPr sz="2000" b="0">
                <a:solidFill>
                  <a:srgbClr val="1F2D3A"/>
                </a:solidFill>
              </a:rPr>
              <a:t> oyunudur: her katman biraz daha zaman kazandırır.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Asıl güvence: katmanlı RASP + gizleme + kısa ömürlü anahtar + </a:t>
            </a:r>
            <a:r>
              <a:rPr sz="2000" b="1">
                <a:solidFill>
                  <a:srgbClr val="1F2D3A"/>
                </a:solidFill>
              </a:rPr>
              <a:t>sunucu denetimi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Hafta 6 — Çalışma Zamanı Uygulama Öz Koruması (RASP)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