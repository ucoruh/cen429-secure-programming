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ders değil gösterim haftası: her takım güvenlik kılavuzunun vize bölümlerini ve çalışan uygulamasını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Vize gösteriminde (RAP1) her rubrik maddesini ne kanıtlayacağınızı açıklıyoruz.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Ara Proje Gösterimleri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30.10.2026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hafta: ara proje gösterimleri (RAP1)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 anlatılmaz; her takım </a:t>
            </a:r>
            <a:r>
              <a:rPr sz="2000" b="1">
                <a:solidFill>
                  <a:srgbClr val="1F2D3A"/>
                </a:solidFill>
              </a:rPr>
              <a:t>ara raporunu teslim eder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uygulamasını gösterir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RAP1 = vizenin </a:t>
            </a:r>
            <a:r>
              <a:rPr sz="2000" b="1">
                <a:solidFill>
                  <a:srgbClr val="1F2D3A"/>
                </a:solidFill>
              </a:rPr>
              <a:t>%60</a:t>
            </a:r>
            <a:r>
              <a:rPr sz="2000" b="0">
                <a:solidFill>
                  <a:srgbClr val="1F2D3A"/>
                </a:solidFill>
              </a:rPr>
              <a:t>'ı · Quiz-1 = </a:t>
            </a:r>
            <a:r>
              <a:rPr sz="2000" b="1">
                <a:solidFill>
                  <a:srgbClr val="1F2D3A"/>
                </a:solidFill>
              </a:rPr>
              <a:t>%40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Not_Vize = 0,6·RAP1 + 0,4·QUIZ1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Ayrıntılı rubrik: proje rehberi · sıra, süre, teslim saati: ders sınıfı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⚠️ Geç teslim kabul edilmez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Vize rubriği: beş kriter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4506"/>
                <a:gridCol w="703970"/>
                <a:gridCol w="6453058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Kriter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Kılavuzda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analizi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S2 · S3 arayüz tablosu · S4 tehdit/saldırgan modeli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güvenliği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varlık listesi · S7 kabuk matrisi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C/C++ sağlamlaştırma ve RASP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(temel) · S10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 yönetimi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S13 süreç, SBOM · GitHub deposu ve plan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Ara rapor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Vize bölümlerinin tamamı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Rubriğin okunuşu — şema</a:t>
            </a:r>
          </a:p>
        </p:txBody>
      </p:sp>
      <p:pic>
        <p:nvPicPr>
          <p:cNvPr id="7" name="Picture 6" descr="h07-04-rubr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Ara raporda hangi bölümler?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5465"/>
                <a:gridCol w="5066069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Taslak / kısa / plan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S0 kapak · S2 genel bakış · S3 mimari · S4 tehdit modeli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 kapsam (taslak) · S5 varlıklar (taslak)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S7 veri güvenliği · S10 RASP · S13 süreç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sağlamlaştırma (temel) · S12 raporlama (kısa)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test (plan) · S17 uyum matrisi (taslak)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86755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Finale kalanlar: S6 · S8 · S11 · S14 · S15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RAP1 teslimi — şema</a:t>
            </a:r>
          </a:p>
        </p:txBody>
      </p:sp>
      <p:pic>
        <p:nvPicPr>
          <p:cNvPr id="7" name="Picture 6" descr="h07-02-r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7789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Hazırlık kontrol listesi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83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413"/>
                <a:gridCol w="9808121"/>
              </a:tblGrid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Gösterebilmeniz gereken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Depo + plan · S2 · S3 arayüz tablosu · S4 STRIDE + saldırı ağacı · S5 taslak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tehdit → CWE + CVSS v3.1 vektörü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S7 algoritma/anahtar/bağlama · kabuk matrisi · CSPRNG · AEAD doğrulama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koruma tablosu · CERT bulguları · ASan+UBSan · fuzz sonucu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SBOM + tarama · girdi doğrulama tablosu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S10 RASP envanteri · tepki politikası · bir atlatma denemesi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Önerilen gösterim akışı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Ürün ve mimari</a:t>
            </a:r>
            <a:r>
              <a:rPr sz="2000" b="0">
                <a:solidFill>
                  <a:srgbClr val="1F2D3A"/>
                </a:solidFill>
              </a:rPr>
              <a:t> (S2–S3): tek şema, güven sınırları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Tehditler ve varlıklar</a:t>
            </a:r>
            <a:r>
              <a:rPr sz="2000" b="0">
                <a:solidFill>
                  <a:srgbClr val="1F2D3A"/>
                </a:solidFill>
              </a:rPr>
              <a:t> (S4–S5): en kritik üç tehdit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Canlı gösterim:</a:t>
            </a:r>
            <a:r>
              <a:rPr sz="2000" b="0">
                <a:solidFill>
                  <a:srgbClr val="1F2D3A"/>
                </a:solidFill>
              </a:rPr>
              <a:t> en az bir önlem </a:t>
            </a:r>
            <a:r>
              <a:rPr sz="2000" b="1">
                <a:solidFill>
                  <a:srgbClr val="1F2D3A"/>
                </a:solidFill>
              </a:rPr>
              <a:t>çalışırken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Kanıt:</a:t>
            </a:r>
            <a:r>
              <a:rPr sz="2000" b="0">
                <a:solidFill>
                  <a:srgbClr val="1F2D3A"/>
                </a:solidFill>
              </a:rPr>
              <a:t> koruma tablosu, sanitizer/fuzz, SBOM — komut + çıktı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Kalan risk ve plan:</a:t>
            </a:r>
            <a:r>
              <a:rPr sz="2000" b="0">
                <a:solidFill>
                  <a:srgbClr val="1F2D3A"/>
                </a:solidFill>
              </a:rPr>
              <a:t> finale kadar ne yapılacak?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66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önlem için: </a:t>
            </a:r>
            <a:r>
              <a:rPr sz="2000" b="1">
                <a:solidFill>
                  <a:srgbClr val="1F2D3A"/>
                </a:solidFill>
              </a:rPr>
              <a:t>Neyi korur? · Nasıl yapıldı? · Nasıl kanıtlandı?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Gösterim günü akışı — şema</a:t>
            </a:r>
          </a:p>
        </p:txBody>
      </p:sp>
      <p:pic>
        <p:nvPicPr>
          <p:cNvPr id="7" name="Picture 6" descr="h07-01-gosterim-ak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sorular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 sınırını geçen en riskli akış hangisi?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varlık bellekte ne kadar açık kalıyor, nerede siliniyor?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nereden geliyor, nerede duruyor? Nonce tekrar edebilir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derleyici koruması kapalı, neden?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denetimi başarısız olunca ne oluyor?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SBOM'da zafiyetli bileşen var mı? Etkileniyor musunuz?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Sık yapılan hatalar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9775"/>
                <a:gridCol w="5631760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Neden sorun?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Kılavuz ile kod tutarsız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 ciddi bulgulardan biri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Kanıtsız "güvenli" iddiası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Puanlanmaz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Varlık listesinde anahtar/günlük/kod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Listede olmayan korunmuyor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Genel bilgiden tehdit tablosu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Projeye özgü tehditler kaçar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Prova edilmemiş gösterim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 boşa gider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Depoda gerçek parola/anahtar/kişisel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Ciddi güvenlik hatası; değerler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sentetik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Sık yapılan hatalar — şema</a:t>
            </a:r>
          </a:p>
        </p:txBody>
      </p:sp>
      <p:pic>
        <p:nvPicPr>
          <p:cNvPr id="7" name="Picture 6" descr="h07-03-sik-hata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Akademik dürüstlük ve sonrası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Kaynaksız kod/metin, takım dışı çalışma, uydurma sonuç </a:t>
            </a:r>
            <a:r>
              <a:rPr sz="2000" b="1">
                <a:solidFill>
                  <a:srgbClr val="1F2D3A"/>
                </a:solidFill>
              </a:rPr>
              <a:t>kabul edilmez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Teslim edilen her satır açıklanabilmeli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takım üyesine soru sorulabilir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Gösterimden sonra:</a:t>
            </a:r>
            <a:r>
              <a:rPr sz="2000" b="0">
                <a:solidFill>
                  <a:srgbClr val="1F2D3A"/>
                </a:solidFill>
              </a:rPr>
              <a:t> geri bildirimi </a:t>
            </a:r>
            <a:r>
              <a:rPr sz="2000" b="1">
                <a:solidFill>
                  <a:srgbClr val="1F2D3A"/>
                </a:solidFill>
              </a:rPr>
              <a:t>bulgu listesi</a:t>
            </a:r>
            <a:r>
              <a:rPr sz="2000" b="0">
                <a:solidFill>
                  <a:srgbClr val="1F2D3A"/>
                </a:solidFill>
              </a:rPr>
              <a:t> olarak yaz (bulgu · önem · düzeltme · tarih) → 12. haftanın küçük modeli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346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Final bölümleri: S6 · S8 · S11 · S14 · S15 · S16 sonuç · S17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Gelecek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8 — Ara sınav haftası: Quiz-1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Kapsam: 1–6. haftalar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Çalışma rehberi ve örnek sorular: 8. hafta sayfası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Rubrik madde madde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Rubrik neyi ölçer?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Vize gösterimi projenizin </a:t>
            </a:r>
            <a:r>
              <a:rPr sz="2000" b="1">
                <a:solidFill>
                  <a:srgbClr val="1F2D3A"/>
                </a:solidFill>
              </a:rPr>
              <a:t>ilk yarısını</a:t>
            </a:r>
            <a:r>
              <a:rPr sz="2000" b="0">
                <a:solidFill>
                  <a:srgbClr val="1F2D3A"/>
                </a:solidFill>
              </a:rPr>
              <a:t> ölçer: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ürün, mimari, tehdit modeli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 yönetimi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temel korumalar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belge ve sunum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Madde · ürün ve mimari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 yapıyor, hangi bileşenler?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şema + en kritik üç varlık.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Kanıt:</a:t>
            </a:r>
            <a:r>
              <a:rPr sz="2000" b="0">
                <a:solidFill>
                  <a:srgbClr val="1F2D3A"/>
                </a:solidFill>
              </a:rPr>
              <a:t> S2–S4 belgesi.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Madde · tehdit modeli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STRIDE / saldırı ağacı.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tehdide bir önlem.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Kanıt:</a:t>
            </a:r>
            <a:r>
              <a:rPr sz="2000" b="0">
                <a:solidFill>
                  <a:srgbClr val="1F2D3A"/>
                </a:solidFill>
              </a:rPr>
              <a:t> S4 tehdit tablosu.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Madde · varlık yönetimi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 listesi + C/I/I+.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Yaşam döngüsü.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Kanıt:</a:t>
            </a:r>
            <a:r>
              <a:rPr sz="2000" b="0">
                <a:solidFill>
                  <a:srgbClr val="1F2D3A"/>
                </a:solidFill>
              </a:rPr>
              <a:t> S5.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Madde · temel korumalar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Kripto (S8, kısmi), güvenli kod (S9, kısmi).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Kanıt:</a:t>
            </a:r>
            <a:r>
              <a:rPr sz="2000" b="0">
                <a:solidFill>
                  <a:srgbClr val="1F2D3A"/>
                </a:solidFill>
              </a:rPr>
              <a:t> kod + test.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Madde · belge ve sunum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Tutarlılık, sürüm kimliği.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Anlaşılır anlatım.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Kanıt:</a:t>
            </a:r>
            <a:r>
              <a:rPr sz="2000" b="0">
                <a:solidFill>
                  <a:srgbClr val="1F2D3A"/>
                </a:solidFill>
              </a:rPr>
              <a:t> kılavuzun tamamı.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Gösterim akışı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Akış · 1. özet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Ürün, mimari, en kritik üç varlık.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şema, iki dakika.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Akış · 2. tehdit modeli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STRIDE ve saldırı ağacından bir örnek.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"Bu tehdide şu önlem."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Akış · 3. canlı gösterim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korumayı </a:t>
            </a:r>
            <a:r>
              <a:rPr sz="2000" b="1">
                <a:solidFill>
                  <a:srgbClr val="1F2D3A"/>
                </a:solidFill>
              </a:rPr>
              <a:t>çalışırken</a:t>
            </a:r>
            <a:r>
              <a:rPr sz="2000" b="0">
                <a:solidFill>
                  <a:srgbClr val="1F2D3A"/>
                </a:solidFill>
              </a:rPr>
              <a:t> göster.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Ör. şifreli veri, doğrulanan imza.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Akış · 4. kanıt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Testler, koruma tablosu.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"Şu komutla şu çıktı."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Akış · 5. kalan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Neyi bilerek kapsam dışı bıraktınız?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Dürüst analiz puan getirir.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Hazırlık kontrol listesi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Kontrol · belge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Kontrol · gösterim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Kontrol · güvenlik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Örnek sorular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En kritik üç varlığınız ve C/I/I+ etiketleri?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Cevabı hazır tutun; her varlığın yaşam döngüsünü bilin.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Bu tehdide karşı hangi önlem, nasıl doğrulandı?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Tehdit → önlem → kanıt zincirini gösterin.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Bu anahtar nereden geliyor, nerede duruyor, ne zaman siliniyor?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Anahtar yaşam döngüsünü açıklayın.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Kalan riskiniz ne? Neden kabul edilebilir?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Dürüst ve gerekçeli yanıtlayın.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Sık yapılan hatalar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Kılavuz ile kod sürümü farklı.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Kanıtsız "yapıldı".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Canlı demo çökmesi (yedek yok).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Kalan risk bölümü boş.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Depoda gerçek veri.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(RAP1)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Gösterim bir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sunumudur: her iddianın arkasında bir belge, test ya da canlı çıktı olsun.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Vize geri bildirimleri finalde </a:t>
            </a:r>
            <a:r>
              <a:rPr sz="2000" b="1">
                <a:solidFill>
                  <a:srgbClr val="1F2D3A"/>
                </a:solidFill>
              </a:rPr>
              <a:t>bulgu–aksiyon</a:t>
            </a:r>
            <a:r>
              <a:rPr sz="2000" b="0">
                <a:solidFill>
                  <a:srgbClr val="1F2D3A"/>
                </a:solidFill>
              </a:rPr>
              <a:t> listesine dönüşecek.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7 — Ara Proje Gösterimleri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