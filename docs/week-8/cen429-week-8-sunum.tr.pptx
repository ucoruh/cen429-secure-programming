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Quiz-1 haftası: 1-6. haftaların kavramlarını tekrar ediyoruz; bu sunum çalışma rehberidir.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1) sprintf taşması (STR31-C, snprintf) + syslog biçim dizisi (FIO30-C, "%s"). 2) memset derleyici tarafından kaldırılabilir (MSC06-C) → explicit_bzero/SecureZeroMemory.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1) SQL enjeksiyonu → PreparedStatement. 2) Etiket doğrulanmadan açık metin kullanılıyor, Final dönüşü denetlenmiyor. 3) Fail-open: hata yutuluyor, bağlantı kabul ediliyor.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Cevaplar 8. hafta sayfasında, açılır kutularda.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Quiz-1 kapsamı 1-6. hafta. Her haftanın anahtar noktalarını ve çok sorulan ayrımları tekrar ediyoruz.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Ara Sınav Haftası: Quiz-1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Güvenli Programlama — Hafta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 · 31.10–08.11.2026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Quiz-1: ne, ne zaman?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Kapsam: </a:t>
            </a:r>
            <a:r>
              <a:rPr sz="2000" b="1">
                <a:solidFill>
                  <a:srgbClr val="1F2D3A"/>
                </a:solidFill>
              </a:rPr>
              <a:t>1–6. haftalar</a:t>
            </a:r>
            <a:r>
              <a:rPr sz="2000" b="0">
                <a:solidFill>
                  <a:srgbClr val="1F2D3A"/>
                </a:solidFill>
              </a:rPr>
              <a:t> · vizenin </a:t>
            </a:r>
            <a:r>
              <a:rPr sz="2000" b="1">
                <a:solidFill>
                  <a:srgbClr val="1F2D3A"/>
                </a:solidFill>
              </a:rPr>
              <a:t>%40</a:t>
            </a:r>
            <a:r>
              <a:rPr sz="2000" b="0">
                <a:solidFill>
                  <a:srgbClr val="1F2D3A"/>
                </a:solidFill>
              </a:rPr>
              <a:t>'ı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Tarih, saat, yer, süre, soru biçimi: </a:t>
            </a:r>
            <a:r>
              <a:rPr sz="2000" b="1">
                <a:solidFill>
                  <a:srgbClr val="1F2D3A"/>
                </a:solidFill>
              </a:rPr>
              <a:t>ders sınıfında</a:t>
            </a:r>
            <a:r>
              <a:rPr sz="2000" b="0">
                <a:solidFill>
                  <a:srgbClr val="1F2D3A"/>
                </a:solidFill>
              </a:rPr>
              <a:t> duyurulur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Ölçülen: ezber değil, </a:t>
            </a:r>
            <a:r>
              <a:rPr sz="2000" b="1">
                <a:solidFill>
                  <a:srgbClr val="1F2D3A"/>
                </a:solidFill>
              </a:rPr>
              <a:t>neden</a:t>
            </a:r>
            <a:r>
              <a:rPr sz="2000" b="0">
                <a:solidFill>
                  <a:srgbClr val="1F2D3A"/>
                </a:solidFill>
              </a:rPr>
              <a:t> sorusu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iyi hazırlık: her haftanın </a:t>
            </a:r>
            <a:r>
              <a:rPr sz="2000" b="1">
                <a:solidFill>
                  <a:srgbClr val="1F2D3A"/>
                </a:solidFill>
              </a:rPr>
              <a:t>Kendini sınama</a:t>
            </a:r>
            <a:r>
              <a:rPr sz="2000" b="0">
                <a:solidFill>
                  <a:srgbClr val="1F2D3A"/>
                </a:solidFill>
              </a:rPr>
              <a:t> soruları + demoları yeniden çalıştırmak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Vize notu hesabı — şema</a:t>
            </a:r>
          </a:p>
        </p:txBody>
      </p:sp>
      <p:pic>
        <p:nvPicPr>
          <p:cNvPr id="7" name="Picture 6" descr="h08-03-vize-hesa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2060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Konu haritası (1)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929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476"/>
                <a:gridCol w="10461058"/>
              </a:tblGrid>
              <a:tr h="732434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Hafta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Ana kavramlar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73243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CIA · varlık–tehdit–zafiyet–risk · beyaz kutu · Saltzer–Schroeder · 7 katman · koruma planı 7 adım · arayüz/varlık tablosu · STRIDE, VAD · saldırı ağacı · güvenli başlatma · bellek hataları · güvenli silme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3243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Virüs/solucan/truva · salgın · kural tespiti · bütünlük izleme · BLP, Biba, Clark–Wilson · Unix/Windows ACL · RBAC · CWE, OWASP, CVE, CVSS · günlük enjeksiyonu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7324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AEAD · özet/MAC/imza · CSPRNG · nonce/IV/tuz · ECB · Argon2id · HKDF · anahtar yaşam döngüsü · TLS 1.3 · sabitleme · fail-open · maskeleme · kabuklar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Quiz-1 kapsamı — şema</a:t>
            </a:r>
          </a:p>
        </p:txBody>
      </p:sp>
      <p:pic>
        <p:nvPicPr>
          <p:cNvPr id="7" name="Picture 6" descr="h08-01-kaps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40607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Konu haritası (2)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7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862"/>
                <a:gridCol w="10394672"/>
              </a:tblGrid>
              <a:tr h="67894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Hafta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Ana kavramlar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6789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SEI CERT · girdi doğrulama · biçim dizisi · UAF · tamsayı/UB · hata işleme, sinyaller · statik analiz · sanitizer · fuzzing · kanarya/FORTIFY/ASLR/NX/RELRO/CFI · gizlemeye giriş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789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Yönetilen dil · CERT Java · enjeksiyon kökü · SQL/komut/yol · seri durumdan çıkarma · XXE/XSS · Python/JS, ReDoS · bayt kodu · ProGuard/R8 · SBOM, VEX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6789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Algılama–savunma–caydırma · MATE · RASP mimarisi · bütünlük · hata ayıklayıcı/ortam/kanca · bellek koruması · root/imza · akış sayacı · tepki, decoy, cihaz bağlama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tipleri — şema</a:t>
            </a:r>
          </a:p>
        </p:txBody>
      </p:sp>
      <p:pic>
        <p:nvPicPr>
          <p:cNvPr id="7" name="Picture 6" descr="h08-02-soru-tiple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2104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Sık karıştırılanlar (1)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7984"/>
                <a:gridCol w="1948488"/>
                <a:gridCol w="6365062"/>
              </a:tblGrid>
              <a:tr h="394335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Fark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Kodlama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Şifreleme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Kodlama anahtarsız, gizlilik yok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Özet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MAC gizli anahtar ister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İmza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İmza asimetrik → inkâr edilemezlik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Nonce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Tuz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Nonce asla tekrar etmez · tuz parola başına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PBKDF2/Argon2id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HKDF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Parola (yavaş) · yüksek entropili sır (hızlı)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Zincir doğrulama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Ad denetimi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"Güvenilir CA mı?" · "Bu sunucu için mi?"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Fail-open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Fail-closed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Hatada "geçti" · hatada "reddet"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Sık karıştırılanlar (2)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4783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95"/>
                <a:gridCol w="2229238"/>
                <a:gridCol w="6218401"/>
              </a:tblGrid>
              <a:tr h="386486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Fark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648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Kanarya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ASLR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Dönüşte taşma tespiti · adres rastgeleleştirme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648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ASan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UBSan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Bellek erişimi · tanımsız davranış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648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İşaretsiz sarma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İşaretli taşma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Tanımlı ·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tanımsız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648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Parametreli sorgu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Kaçış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Asıl çözüm · ikinci hat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648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ProGuard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Dize gizleme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Adlar · dizgeler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648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Gizleme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 kodlama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Geciktirir · düzeltir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648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Maskeleme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Tokenizasyon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Gösterimde gizle · kasadaki değere bağlı belirteç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648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Takma ad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Anonim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Hâlâ kişisel veri · kişiye bağlanamaz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Bir haftalık plan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3686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844"/>
                <a:gridCol w="9944690"/>
              </a:tblGrid>
              <a:tr h="42108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Gün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 yapılacak?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2108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1. hafta: STRIDE, saldırı ağacı, koruma planı · Demo 1–4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108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2. hafta: BLP, Biba, Clark–Wilson · bir CVSS vektörünü kendin puanla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2108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3. hafta (1): AEAD, nonce, KDF, rastgele sayı · Demo 1–5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108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3. hafta (2): anahtar yönetimi, TLS, sabitleme, kabuklar · Demo 6–9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2108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4. hafta: CERT çiftleri, biçim dizisi, UAF, UB, korumalar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108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5–6. hafta: enjeksiyon, seri durumdan çıkarma, ProGuard, SBOM, RASP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2108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Örnek soruları süre tutarak çöz, yanlışları oku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Çalışma planı — şema</a:t>
            </a:r>
          </a:p>
        </p:txBody>
      </p:sp>
      <p:pic>
        <p:nvPicPr>
          <p:cNvPr id="7" name="Picture 6" descr="h08-04-calisma-pla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864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Örnek: hatayı bulun (1)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12471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void kaydet(const char *ad) {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char tampon[32];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sprintf(tampon, "kullanici=%s", ad);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syslog(LOG_INFO, tampon);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60320"/>
            <a:ext cx="10911535" cy="6144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char parola[64];  oku(parola, sizeof parola);  dogrula(parola);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memset(parola, 0, sizeof parola);  return;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Örnek: hatayı bulun (2)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4439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String sql = "SELECT * FROM notlar WHERE ogrenci = '" + no + "'";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80006"/>
            <a:ext cx="10911535" cy="78455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EVP_DecryptUpdate(ctx, acik, &amp;n, sifreli, sifreli_n);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kullan(acik, n);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EVP_DecryptFinal_ex(ctx, acik + n, &amp;m);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74289"/>
            <a:ext cx="10911535" cy="44439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try { pinDenetle(zincir); } catch (KeyStoreException e) { e.printStackTrace(); 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Örnek: senaryolar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346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Bütün kullanıcılarda </a:t>
            </a:r>
            <a:r>
              <a:rPr sz="2000" b="1">
                <a:solidFill>
                  <a:srgbClr val="1F2D3A"/>
                </a:solidFill>
              </a:rPr>
              <a:t>aynı gömülü AES anahtarı</a:t>
            </a:r>
            <a:r>
              <a:rPr sz="2000" b="0">
                <a:solidFill>
                  <a:srgbClr val="1F2D3A"/>
                </a:solidFill>
              </a:rPr>
              <a:t>: riskler ve öneri?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Dağıtılan paket </a:t>
            </a:r>
            <a:r>
              <a:rPr sz="2000" b="1">
                <a:solidFill>
                  <a:srgbClr val="1F2D3A"/>
                </a:solidFill>
              </a:rPr>
              <a:t>hata ayıklama derlemesi</a:t>
            </a:r>
            <a:r>
              <a:rPr sz="2000" b="0">
                <a:solidFill>
                  <a:srgbClr val="1F2D3A"/>
                </a:solidFill>
              </a:rPr>
              <a:t>: hangi bulgular?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"Bu işlemi ben yapmadım": hangi STRIDE harfi, hangi kanıt?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Arşiv açan fonksiyon: hangi hatalara karşı ne yaparsınız?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0">
                <a:solidFill>
                  <a:srgbClr val="1F2D3A"/>
                </a:solidFill>
              </a:rPr>
              <a:t>Log4Shell'de asıl sorun neydi, ne önlerdi?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6. </a:t>
            </a:r>
            <a:r>
              <a:rPr sz="2000" b="0">
                <a:solidFill>
                  <a:srgbClr val="1F2D3A"/>
                </a:solidFill>
              </a:rPr>
              <a:t>RASP denetimleri neden tek bir </a:t>
            </a:r>
            <a:r>
              <a:rPr sz="2000" b="0">
                <a:solidFill>
                  <a:srgbClr val="A1123F"/>
                </a:solidFill>
                <a:latin typeface="Consolas"/>
              </a:rPr>
              <a:t>if</a:t>
            </a:r>
            <a:r>
              <a:rPr sz="2000" b="0">
                <a:solidFill>
                  <a:srgbClr val="1F2D3A"/>
                </a:solidFill>
              </a:rPr>
              <a:t> ile değerlendirilmemeli?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Gelecek hafta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Hafta 9 — Gelişmiş kod gizleme ve çeşitlendirme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 taksonomisi, opak yüklemler, veri kodlama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Sanallaştırma ve derleyici tabanlı gizleme (kavram)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Gizlemenin ölçülmesi: güç, dayanıklılık, maliyet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· Hafta hafta konu haritası (1–6)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1. hafta · anahtar noktalar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CIA üçlüsü; hata ≠ zafiyet.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MATE (beyaz kutu) saldırgan.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STRIDE, saldırı ağacı, DFD.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Katmanlı savunma; tasarım ilkeleri.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2. hafta · anahtar noktalar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Tehdit modelleme adımları.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Güven sınırı; en az yetki.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Varlık listesi ve C/I/I+ etiketi.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3. hafta · anahtar noktalar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Verinin üç hâli.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AEAD; nonce tekrarı felaketi.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CSPRNG; KDF (parola → anahtar).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 hiyerarşisi; ileri gizlilik.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 hafta · anahtar noktalar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Üç katman: kod → derleyici/OS → gizleme.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CERT/CWE; UAF; tamsayı/UB.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Sanitizer (ASan/UBSan), fuzzing.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Derleyici korumaları (kanarya, ASLR, NX).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5. hafta · anahtar noktalar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Yönetilen dil bellek hatasını çözer, enjeksiyonu çözmez.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SQL/komut/yol enjeksiyonu → parametreli/argüman dizisi.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Deserialization; ProGuard/R8; SBOM.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6. hafta · anahtar noktalar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RASP: algıla, savun, caydır.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Bütünlük (self-hash), anti-debug, hook algılama.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Çapraz denetim; tepki politikası; cihaz bağlama.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Sık karıştırılanlar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21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6405"/>
                <a:gridCol w="3580347"/>
                <a:gridCol w="5114782"/>
              </a:tblGrid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Fark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Zafiyet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Kötüye kullanılabilir hata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Kara kutu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Beyaz kutu (MATE)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Programa sahip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Simetrik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Asimetrik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Tek / çift anahtar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AEAD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Yalnız şifreleme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+ bütünlük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033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Gizleme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Güvenli kod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Hatayı düzeltmez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· Çözümlü pratik sorular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MATE saldırgan neden kriptografiyi tek başına yetersiz bırakır?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Anahtar bellekte; saldırgan programı çalıştırıp okur. Kripto gizliliği verir ama beyaz kutuda anahtar korunmaz; RASP/gizleme/whitebox gerekir.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AES-GCM'de aynı nonce iki kez kullanılırsa?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Gizlilik ve bütünlük çöker; anahtar akışı ve veri sızabilir. Nonce her zaman benzersiz olmalı.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SQL enjeksiyonunu ne kesin önler?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Parametreli sorgu (prepared statement); veri asla komut olarak yorumlanmaz. String birleştirme yapılmaz.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ASan hangi taşmayı göremez?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Aynı yapının içinde alandan alana taşmayı (arada zehirli bölge yoktur).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Kanarya neyi durdurur, neyi durdurmaz?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Durdurur: dönüş adresine ulaşan yığın taşması. Durdurmaz: öbek taşması, önceki değişkenler, sızan kanarya.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RASP self-hashing tek başına neden yetmez?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Saldırgan özet fonksiyonunu bulup atlatabilir. Gizleme + çapraz + örtüşen denetim gerekir.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Paroladan anahtar türetirken neden KDF ve tuz?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Parola düşük entropili; KDF yavaşlatır, tuz aynı parolaların aynı anahtar üretmesini önler (gökkuşağı tablosu).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En az yetki ilkesi bir örnekle?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Uygulamanın DB kullanıcısı yalnız </a:t>
            </a:r>
            <a:r>
              <a:rPr sz="2000" b="0">
                <a:solidFill>
                  <a:srgbClr val="A1123F"/>
                </a:solidFill>
                <a:latin typeface="Consolas"/>
              </a:rPr>
              <a:t>SELECT</a:t>
            </a:r>
            <a:r>
              <a:rPr sz="2000" b="0">
                <a:solidFill>
                  <a:srgbClr val="1F2D3A"/>
                </a:solidFill>
              </a:rPr>
              <a:t> yapabilsin; </a:t>
            </a:r>
            <a:r>
              <a:rPr sz="2000" b="0">
                <a:solidFill>
                  <a:srgbClr val="A1123F"/>
                </a:solidFill>
                <a:latin typeface="Consolas"/>
              </a:rPr>
              <a:t>DROP</a:t>
            </a:r>
            <a:r>
              <a:rPr sz="2000" b="0">
                <a:solidFill>
                  <a:srgbClr val="1F2D3A"/>
                </a:solidFill>
              </a:rPr>
              <a:t> yetkisi olmasın. Fazla yetki = büyük hasar.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Tehdit modellemede STRIDE'ın "E"si nedir, bir önlem?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Elevation of privilege (yetki yükseltme). Önlem: en az yetki, yetki denetimi, güvenli varsayılan.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Deserialization neden tehlikeli, çözüm?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Çıkarma sırasında kod çalışabilir (gadget). Çözüm: veri biçimi + şema; zorunda kalınırsa beyaz liste filtresi.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Örnek · çoktan seçmeli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Aşağıdakilerden hangisi bir AEAD kipidir?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A) ECB B) CBC C) </a:t>
            </a:r>
            <a:r>
              <a:rPr sz="2000" b="1">
                <a:solidFill>
                  <a:srgbClr val="1F2D3A"/>
                </a:solidFill>
              </a:rPr>
              <a:t>GCM</a:t>
            </a:r>
            <a:r>
              <a:rPr sz="2000" b="0">
                <a:solidFill>
                  <a:srgbClr val="1F2D3A"/>
                </a:solidFill>
              </a:rPr>
              <a:t> ✓ D) Ham RSA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Örnek · doğru/yanlış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 hatayı düzeltir. </a:t>
            </a:r>
            <a:r>
              <a:rPr sz="2000" b="1">
                <a:solidFill>
                  <a:srgbClr val="1F2D3A"/>
                </a:solidFill>
              </a:rPr>
              <a:t>(Y)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Nonce gizli olmalı. </a:t>
            </a:r>
            <a:r>
              <a:rPr sz="2000" b="1">
                <a:solidFill>
                  <a:srgbClr val="1F2D3A"/>
                </a:solidFill>
              </a:rPr>
              <a:t>(Y — benzersiz olmalı, gizli değil)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Parametreli sorgu SQL enjeksiyonunu önler. </a:t>
            </a:r>
            <a:r>
              <a:rPr sz="2000" b="1">
                <a:solidFill>
                  <a:srgbClr val="1F2D3A"/>
                </a:solidFill>
              </a:rPr>
              <a:t>(D)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Çalışma planı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haftanın "Kendini sınama"sını cevaba bakmadan yap.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Sık karıştırılanları ezberden değil </a:t>
            </a:r>
            <a:r>
              <a:rPr sz="2000" b="1">
                <a:solidFill>
                  <a:srgbClr val="1F2D3A"/>
                </a:solidFill>
              </a:rPr>
              <a:t>nedeniyle</a:t>
            </a:r>
            <a:r>
              <a:rPr sz="2000" b="0">
                <a:solidFill>
                  <a:srgbClr val="1F2D3A"/>
                </a:solidFill>
              </a:rPr>
              <a:t> öğren.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3. ve 4. haftanın demolarını bir kez daha gözden geçir.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Son söz (Quiz-1 hazırlık)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Ezber değil, </a:t>
            </a:r>
            <a:r>
              <a:rPr sz="2000" b="1">
                <a:solidFill>
                  <a:srgbClr val="1F2D3A"/>
                </a:solidFill>
              </a:rPr>
              <a:t>neden</a:t>
            </a:r>
            <a:r>
              <a:rPr sz="2000" b="0">
                <a:solidFill>
                  <a:srgbClr val="1F2D3A"/>
                </a:solidFill>
              </a:rPr>
              <a:t> ölçülür: "neden bu kip?", "neden bu denetim?", "neyi korumaz?"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03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İyi şanslar.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Hafta 8 — Ara Sınav Haftası: Quiz-1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