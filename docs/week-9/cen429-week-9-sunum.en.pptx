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  <p:sldId id="439" r:id="rId191"/>
    <p:sldId id="440" r:id="rId192"/>
    <p:sldId id="441" r:id="rId193"/>
    <p:sldId id="442" r:id="rId194"/>
    <p:sldId id="443" r:id="rId195"/>
    <p:sldId id="444" r:id="rId196"/>
    <p:sldId id="445" r:id="rId197"/>
    <p:sldId id="446" r:id="rId198"/>
    <p:sldId id="447" r:id="rId199"/>
    <p:sldId id="448" r:id="rId200"/>
    <p:sldId id="449" r:id="rId201"/>
    <p:sldId id="450" r:id="rId202"/>
    <p:sldId id="451" r:id="rId203"/>
    <p:sldId id="452" r:id="rId204"/>
    <p:sldId id="453" r:id="rId205"/>
    <p:sldId id="454" r:id="rId206"/>
    <p:sldId id="455" r:id="rId20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Relationship Id="rId181" Type="http://schemas.openxmlformats.org/officeDocument/2006/relationships/slide" Target="slides/slide174.xml"/><Relationship Id="rId182" Type="http://schemas.openxmlformats.org/officeDocument/2006/relationships/slide" Target="slides/slide175.xml"/><Relationship Id="rId183" Type="http://schemas.openxmlformats.org/officeDocument/2006/relationships/slide" Target="slides/slide176.xml"/><Relationship Id="rId184" Type="http://schemas.openxmlformats.org/officeDocument/2006/relationships/slide" Target="slides/slide177.xml"/><Relationship Id="rId185" Type="http://schemas.openxmlformats.org/officeDocument/2006/relationships/slide" Target="slides/slide178.xml"/><Relationship Id="rId186" Type="http://schemas.openxmlformats.org/officeDocument/2006/relationships/slide" Target="slides/slide179.xml"/><Relationship Id="rId187" Type="http://schemas.openxmlformats.org/officeDocument/2006/relationships/slide" Target="slides/slide180.xml"/><Relationship Id="rId188" Type="http://schemas.openxmlformats.org/officeDocument/2006/relationships/slide" Target="slides/slide181.xml"/><Relationship Id="rId189" Type="http://schemas.openxmlformats.org/officeDocument/2006/relationships/slide" Target="slides/slide182.xml"/><Relationship Id="rId190" Type="http://schemas.openxmlformats.org/officeDocument/2006/relationships/slide" Target="slides/slide183.xml"/><Relationship Id="rId191" Type="http://schemas.openxmlformats.org/officeDocument/2006/relationships/slide" Target="slides/slide184.xml"/><Relationship Id="rId192" Type="http://schemas.openxmlformats.org/officeDocument/2006/relationships/slide" Target="slides/slide185.xml"/><Relationship Id="rId193" Type="http://schemas.openxmlformats.org/officeDocument/2006/relationships/slide" Target="slides/slide186.xml"/><Relationship Id="rId194" Type="http://schemas.openxmlformats.org/officeDocument/2006/relationships/slide" Target="slides/slide187.xml"/><Relationship Id="rId195" Type="http://schemas.openxmlformats.org/officeDocument/2006/relationships/slide" Target="slides/slide188.xml"/><Relationship Id="rId196" Type="http://schemas.openxmlformats.org/officeDocument/2006/relationships/slide" Target="slides/slide189.xml"/><Relationship Id="rId197" Type="http://schemas.openxmlformats.org/officeDocument/2006/relationships/slide" Target="slides/slide190.xml"/><Relationship Id="rId198" Type="http://schemas.openxmlformats.org/officeDocument/2006/relationships/slide" Target="slides/slide191.xml"/><Relationship Id="rId199" Type="http://schemas.openxmlformats.org/officeDocument/2006/relationships/slide" Target="slides/slide192.xml"/><Relationship Id="rId200" Type="http://schemas.openxmlformats.org/officeDocument/2006/relationships/slide" Target="slides/slide193.xml"/><Relationship Id="rId201" Type="http://schemas.openxmlformats.org/officeDocument/2006/relationships/slide" Target="slides/slide194.xml"/><Relationship Id="rId202" Type="http://schemas.openxmlformats.org/officeDocument/2006/relationships/slide" Target="slides/slide195.xml"/><Relationship Id="rId203" Type="http://schemas.openxmlformats.org/officeDocument/2006/relationships/slide" Target="slides/slide196.xml"/><Relationship Id="rId204" Type="http://schemas.openxmlformats.org/officeDocument/2006/relationships/slide" Target="slides/slide197.xml"/><Relationship Id="rId205" Type="http://schemas.openxmlformats.org/officeDocument/2006/relationships/slide" Target="slides/slide198.xml"/><Relationship Id="rId206" Type="http://schemas.openxmlformats.org/officeDocument/2006/relationships/slide" Target="slides/slide199.xml"/><Relationship Id="rId207" Type="http://schemas.openxmlformats.org/officeDocument/2006/relationships/slide" Target="slides/slide20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This week we cover advanced code obfuscation rules. Framework: obfuscation does not make something unbreakable, it makes it expensive. We present every technique as a security rule — what it protects, its cost, its limit, how it is measured. Key protection is not obfuscation (week 11).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Today we take the obfuscation introduction from week 4 to an advanced level and add measurement. Main framework: obfuscation does not give unbreakability, it raises cost. We present every technique as a "rule."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Have the students answer first. Answer: on the attacker's machine, server-side checks no longer apply, unlimited attempts.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show the four families on real grant_access/obfuscated.c lines, then run the dispatcher live against 10 tokens to confirm behavior is preserved.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all 10 tokens are valid — the dispatcher runs the full traversal every time, always GRANTED.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5 real rules x 2 assets (measured grant_access, conceptual lisans_dogrula) — stress which one was measured and which is illustrative.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all 10 rows are lisans_dogrula — no measurement at all; use this to make the "measured" vs "illustrated" distinction crystal clear.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have them answer first, then open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sweep grant_access's real opaque_zero(x)=(x*(x+1))&amp;1 over many x; all come out 0. Then show the real use line (40).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even at large x values just under the JS safe-integer bound, the identity still comes out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run clean.c's natural if-chain against obfuscated.c's switch dispatcher side by side, same tokens.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all wrong length — the dispatcher never reaches DECODE/COMPARE, falling to default by the shortest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have them answer first, then open.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ENCODED[]'s real lifetime -- encoded at rest, decoded, wiped IMMEDIATELY; then show the cycle repeating every 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none of the 10 tokens are valid — the decode+wipe cycle still runs identically every single time; confirm it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plain int result (0/1) side by side with Decision{a,b} -- which one gives its meaning away instantly in a memory dump?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all 10 tokens valid -- a^b is 0xFFFF every single time, never anything else.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have them answer first, then open; then move to section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both papers are 30+ years old; Tigress's --Seed compresses this idea into a single flag (week 14).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SEED=1001 vs SEED=2002 -- MASK/ENCODED differ, but GRANTED/DENIED agrees across 10 tokens; show it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both seeds reject instantly by the shortest path -- agreement holds on every path, not just the full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show the real 27-&gt;49 instruction / 4-&gt;9 branch-call numbers, then the dynamic cost (steps per token) live across 10 tokens.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all valid tokens -- the dispatcher takes the longest (6-step) path every time, dynamic cost maxed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constant-fold the real opaque_zero via a periodicity proof (x mod 2); then stress R-04/R-05/R-07 are STILL standing -- resilience !=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x=0..9 in order -- shows the period (2) directly, making "just the 2 residue classes are enough" concrete.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This section combines all the rules in a single example; it can be done live on the 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gif"/><Relationship Id="rId4" Type="http://schemas.openxmlformats.org/officeDocument/2006/relationships/notesSlide" Target="../notesSlides/notesSlide4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gif"/><Relationship Id="rId4" Type="http://schemas.openxmlformats.org/officeDocument/2006/relationships/notesSlide" Target="../notesSlides/notesSlide5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gif"/><Relationship Id="rId4" Type="http://schemas.openxmlformats.org/officeDocument/2006/relationships/notesSlide" Target="../notesSlides/notesSlide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gif"/><Relationship Id="rId4" Type="http://schemas.openxmlformats.org/officeDocument/2006/relationships/notesSlide" Target="../notesSlides/notesSlide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3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4.gif"/><Relationship Id="rId4" Type="http://schemas.openxmlformats.org/officeDocument/2006/relationships/notesSlide" Target="../notesSlides/notesSlide9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5.gif"/><Relationship Id="rId4" Type="http://schemas.openxmlformats.org/officeDocument/2006/relationships/notesSlide" Target="../notesSlides/notesSlide10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6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7.gif"/><Relationship Id="rId4" Type="http://schemas.openxmlformats.org/officeDocument/2006/relationships/notesSlide" Target="../notesSlides/notesSlide1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8.gif"/><Relationship Id="rId4" Type="http://schemas.openxmlformats.org/officeDocument/2006/relationships/notesSlide" Target="../notesSlides/notesSlide1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9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0.gif"/><Relationship Id="rId4" Type="http://schemas.openxmlformats.org/officeDocument/2006/relationships/notesSlide" Target="../notesSlides/notesSlide14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1.gif"/><Relationship Id="rId4" Type="http://schemas.openxmlformats.org/officeDocument/2006/relationships/notesSlide" Target="../notesSlides/notesSlide15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2.gif"/><Relationship Id="rId4" Type="http://schemas.openxmlformats.org/officeDocument/2006/relationships/notesSlide" Target="../notesSlides/notesSlide16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3.gif"/><Relationship Id="rId4" Type="http://schemas.openxmlformats.org/officeDocument/2006/relationships/notesSlide" Target="../notesSlides/notesSlide1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8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4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9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5.gif"/><Relationship Id="rId4" Type="http://schemas.openxmlformats.org/officeDocument/2006/relationships/notesSlide" Target="../notesSlides/notesSlide20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6.gif"/><Relationship Id="rId4" Type="http://schemas.openxmlformats.org/officeDocument/2006/relationships/notesSlide" Target="../notesSlides/notesSlide21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7.pn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8.gif"/><Relationship Id="rId4" Type="http://schemas.openxmlformats.org/officeDocument/2006/relationships/notesSlide" Target="../notesSlides/notesSlide22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9.gif"/><Relationship Id="rId4" Type="http://schemas.openxmlformats.org/officeDocument/2006/relationships/notesSlide" Target="../notesSlides/notesSlide23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0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1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2.gif"/><Relationship Id="rId4" Type="http://schemas.openxmlformats.org/officeDocument/2006/relationships/notesSlide" Target="../notesSlides/notesSlide24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3.gif"/><Relationship Id="rId4" Type="http://schemas.openxmlformats.org/officeDocument/2006/relationships/notesSlide" Target="../notesSlides/notesSlide25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4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6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Advanced Obfuscation and Diversification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CEN429 Secure Programming — Week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Asst. Prof. Dr. Uğur CORUH · 13.11.2026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Today's Plan (3 Hours)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002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9914"/>
                <a:gridCol w="1333632"/>
                <a:gridCol w="8607988"/>
              </a:tblGrid>
              <a:tr h="500634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Hour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Section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Topic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500634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1–2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Why is obfuscation a rule? · MATE · taxonomy · rule template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0634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Control-flow rules (K-01…K-06)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500634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4–6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Data rules · virtualisation/dynamic · diversification · measurement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438144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Learning outcome (LO.3):</a:t>
            </a:r>
            <a:r>
              <a:rPr sz="2000" b="0">
                <a:solidFill>
                  <a:srgbClr val="1F2D3A"/>
                </a:solidFill>
              </a:rPr>
              <a:t> write obfuscation as a security rule · state each technique's cost and limit · measure a protection and justify 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What We Bring from Earlier Weeks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109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006D77"/>
                </a:solidFill>
              </a:rPr>
              <a:t>• </a:t>
            </a:r>
            <a:r>
              <a:rPr sz="1600" b="1">
                <a:solidFill>
                  <a:srgbClr val="1F2D3A"/>
                </a:solidFill>
              </a:rPr>
              <a:t>The white-box / MATE attacker model</a:t>
            </a:r>
            <a:r>
              <a:rPr sz="1600" b="0">
                <a:solidFill>
                  <a:srgbClr val="1F2D3A"/>
                </a:solidFill>
              </a:rPr>
              <a:t> — the threat model where whoever holds the device is also the attacker </a:t>
            </a:r>
            <a:r>
              <a:rPr sz="1600" b="1">
                <a:solidFill>
                  <a:srgbClr val="1F2D3A"/>
                </a:solidFill>
              </a:rPr>
              <a:t>(Week 1)</a:t>
            </a:r>
          </a:p>
          <a:p>
            <a:pPr>
              <a:spcAft>
                <a:spcPts val="300"/>
              </a:spcAft>
            </a:pPr>
            <a:r>
              <a:rPr sz="1600" b="1">
                <a:solidFill>
                  <a:srgbClr val="006D77"/>
                </a:solidFill>
              </a:rPr>
              <a:t>• </a:t>
            </a:r>
            <a:r>
              <a:rPr sz="1600" b="1">
                <a:solidFill>
                  <a:srgbClr val="1F2D3A"/>
                </a:solidFill>
              </a:rPr>
              <a:t>Debugger</a:t>
            </a:r>
            <a:r>
              <a:rPr sz="1600" b="0">
                <a:solidFill>
                  <a:srgbClr val="1F2D3A"/>
                </a:solidFill>
              </a:rPr>
              <a:t> — a tool that runs a program step by step and shows variables (gdb, lldb); we saw its run-time detection in the RASP context </a:t>
            </a:r>
            <a:r>
              <a:rPr sz="1600" b="1">
                <a:solidFill>
                  <a:srgbClr val="1F2D3A"/>
                </a:solidFill>
              </a:rPr>
              <a:t>(Week 6)</a:t>
            </a:r>
          </a:p>
          <a:p>
            <a:pPr>
              <a:spcAft>
                <a:spcPts val="300"/>
              </a:spcAft>
            </a:pPr>
            <a:r>
              <a:rPr sz="1600" b="1">
                <a:solidFill>
                  <a:srgbClr val="006D77"/>
                </a:solidFill>
              </a:rPr>
              <a:t>• </a:t>
            </a:r>
            <a:r>
              <a:rPr sz="1600" b="1">
                <a:solidFill>
                  <a:srgbClr val="1F2D3A"/>
                </a:solidFill>
              </a:rPr>
              <a:t>Entropy</a:t>
            </a:r>
            <a:r>
              <a:rPr sz="1600" b="0">
                <a:solidFill>
                  <a:srgbClr val="1F2D3A"/>
                </a:solidFill>
              </a:rPr>
              <a:t> — a measure of how disordered a data's bytes look; we saw it in detecting encrypted/packed content and in random number generation </a:t>
            </a:r>
            <a:r>
              <a:rPr sz="1600" b="1">
                <a:solidFill>
                  <a:srgbClr val="1F2D3A"/>
                </a:solidFill>
              </a:rPr>
              <a:t>(Weeks 2, 3)</a:t>
            </a:r>
          </a:p>
          <a:p>
            <a:pPr>
              <a:spcAft>
                <a:spcPts val="300"/>
              </a:spcAft>
            </a:pPr>
            <a:r>
              <a:rPr sz="1600" b="1">
                <a:solidFill>
                  <a:srgbClr val="006D77"/>
                </a:solidFill>
              </a:rPr>
              <a:t>• </a:t>
            </a:r>
            <a:r>
              <a:rPr sz="1600" b="1">
                <a:solidFill>
                  <a:srgbClr val="1F2D3A"/>
                </a:solidFill>
              </a:rPr>
              <a:t>Compiler flags, `strings` and the symbol table</a:t>
            </a:r>
            <a:r>
              <a:rPr sz="1600" b="0">
                <a:solidFill>
                  <a:srgbClr val="1F2D3A"/>
                </a:solidFill>
              </a:rPr>
              <a:t> — compiler options and the tools that list a binary's readable text/name list; the entry-level steps of obfuscation </a:t>
            </a:r>
            <a:r>
              <a:rPr sz="1600" b="1">
                <a:solidFill>
                  <a:srgbClr val="1F2D3A"/>
                </a:solidFill>
              </a:rPr>
              <a:t>(Week 4)</a:t>
            </a:r>
          </a:p>
          <a:p>
            <a:pPr>
              <a:spcAft>
                <a:spcPts val="300"/>
              </a:spcAft>
            </a:pPr>
            <a:r>
              <a:rPr sz="1600" b="1">
                <a:solidFill>
                  <a:srgbClr val="006D77"/>
                </a:solidFill>
              </a:rPr>
              <a:t>• </a:t>
            </a:r>
            <a:r>
              <a:rPr sz="1600" b="1">
                <a:solidFill>
                  <a:srgbClr val="1F2D3A"/>
                </a:solidFill>
              </a:rPr>
              <a:t>Decompilation</a:t>
            </a:r>
            <a:r>
              <a:rPr sz="1600" b="0">
                <a:solidFill>
                  <a:srgbClr val="1F2D3A"/>
                </a:solidFill>
              </a:rPr>
              <a:t> — turning a binary/bytecode back into something close to readable code; we saw it on JVM bytecode </a:t>
            </a:r>
            <a:r>
              <a:rPr sz="1600" b="1">
                <a:solidFill>
                  <a:srgbClr val="1F2D3A"/>
                </a:solidFill>
              </a:rPr>
              <a:t>(Week 5)</a:t>
            </a:r>
          </a:p>
          <a:p>
            <a:pPr>
              <a:spcAft>
                <a:spcPts val="300"/>
              </a:spcAft>
            </a:pPr>
            <a:r>
              <a:rPr sz="1600" b="1">
                <a:solidFill>
                  <a:srgbClr val="006D77"/>
                </a:solidFill>
              </a:rPr>
              <a:t>• </a:t>
            </a:r>
            <a:r>
              <a:rPr sz="1600" b="1">
                <a:solidFill>
                  <a:srgbClr val="1F2D3A"/>
                </a:solidFill>
              </a:rPr>
              <a:t>XOR</a:t>
            </a:r>
            <a:r>
              <a:rPr sz="1600" b="0">
                <a:solidFill>
                  <a:srgbClr val="1F2D3A"/>
                </a:solidFill>
              </a:rPr>
              <a:t> — 1 if the two bits differ, 0 if they match; </a:t>
            </a:r>
            <a:r>
              <a:rPr sz="1600" b="0">
                <a:solidFill>
                  <a:srgbClr val="A1123F"/>
                </a:solidFill>
                <a:latin typeface="Consolas"/>
              </a:rPr>
              <a:t>a^b^b=a</a:t>
            </a:r>
            <a:r>
              <a:rPr sz="1600" b="0">
                <a:solidFill>
                  <a:srgbClr val="1F2D3A"/>
                </a:solidFill>
              </a:rPr>
              <a:t> undoes itself; we decoded it by hand in Java string obfuscation </a:t>
            </a:r>
            <a:r>
              <a:rPr sz="1600" b="1">
                <a:solidFill>
                  <a:srgbClr val="1F2D3A"/>
                </a:solidFill>
              </a:rPr>
              <a:t>(Week 5)</a:t>
            </a:r>
          </a:p>
          <a:p>
            <a:pPr>
              <a:spcAft>
                <a:spcPts val="300"/>
              </a:spcAft>
            </a:pPr>
            <a:r>
              <a:rPr sz="1600" b="1">
                <a:solidFill>
                  <a:srgbClr val="006D77"/>
                </a:solidFill>
              </a:rPr>
              <a:t>• </a:t>
            </a:r>
            <a:r>
              <a:rPr sz="1600" b="1">
                <a:solidFill>
                  <a:srgbClr val="1F2D3A"/>
                </a:solidFill>
              </a:rPr>
              <a:t>Logging</a:t>
            </a:r>
            <a:r>
              <a:rPr sz="1600" b="0">
                <a:solidFill>
                  <a:srgbClr val="1F2D3A"/>
                </a:solidFill>
              </a:rPr>
              <a:t> — the informational messages a program writes while running; if sensitive information ends up in a log, the attacker reads it </a:t>
            </a:r>
            <a:r>
              <a:rPr sz="1600" b="1">
                <a:solidFill>
                  <a:srgbClr val="1F2D3A"/>
                </a:solidFill>
              </a:rPr>
              <a:t>(Week 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545328"/>
            <a:ext cx="10911535" cy="3738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1F2D3A"/>
                </a:solidFill>
              </a:rPr>
              <a:t>This week: we use these tools and concepts at an </a:t>
            </a:r>
            <a:r>
              <a:rPr sz="1600" b="1">
                <a:solidFill>
                  <a:srgbClr val="1F2D3A"/>
                </a:solidFill>
              </a:rPr>
              <a:t>advanced</a:t>
            </a:r>
            <a:r>
              <a:rPr sz="1600" b="0">
                <a:solidFill>
                  <a:srgbClr val="1F2D3A"/>
                </a:solidFill>
              </a:rPr>
              <a:t> level and in a </a:t>
            </a:r>
            <a:r>
              <a:rPr sz="1600" b="1">
                <a:solidFill>
                  <a:srgbClr val="1F2D3A"/>
                </a:solidFill>
              </a:rPr>
              <a:t>measurable</a:t>
            </a:r>
            <a:r>
              <a:rPr sz="1600" b="0">
                <a:solidFill>
                  <a:srgbClr val="1F2D3A"/>
                </a:solidFill>
              </a:rPr>
              <a:t> way.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This Week's Concepts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Each term is defined once, where it first appears in the body; here we only mark </a:t>
            </a:r>
            <a:r>
              <a:rPr sz="1800" b="1">
                <a:solidFill>
                  <a:srgbClr val="1F2D3A"/>
                </a:solidFill>
              </a:rPr>
              <a:t>where</a:t>
            </a:r>
            <a:r>
              <a:rPr sz="1800" b="0">
                <a:solidFill>
                  <a:srgbClr val="1F2D3A"/>
                </a:solidFill>
              </a:rPr>
              <a:t>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842515"/>
          <a:ext cx="10911534" cy="39118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62116"/>
                <a:gridCol w="1649418"/>
              </a:tblGrid>
              <a:tr h="355618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Concept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Where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561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Obfuscation as a security rule, MATE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561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Obfuscation taxonomy (five families)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561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The "protection rule" template (protects what/cost/limit/measurement)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561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Control-flow rules (K-01–K-06)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3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561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Data obfuscation rules (K-07–K-09)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561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Whole-program rules (K-10–K-12)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561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Diversification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561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Obfuscation's four metrics (potency/resilience/stealth/cost)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5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561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Deobfuscation (the other side's tools)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562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Its place in layered defence, project S9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Is Source Code?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</a:t>
            </a:r>
            <a:r>
              <a:rPr sz="2000" b="1">
                <a:solidFill>
                  <a:srgbClr val="1F2D3A"/>
                </a:solidFill>
              </a:rPr>
              <a:t>human-readable</a:t>
            </a:r>
            <a:r>
              <a:rPr sz="2000" b="0">
                <a:solidFill>
                  <a:srgbClr val="1F2D3A"/>
                </a:solidFill>
              </a:rPr>
              <a:t> program text that </a:t>
            </a:r>
            <a:r>
              <a:rPr sz="2000" b="1">
                <a:solidFill>
                  <a:srgbClr val="1F2D3A"/>
                </a:solidFill>
              </a:rPr>
              <a:t>you</a:t>
            </a:r>
            <a:r>
              <a:rPr sz="2000" b="0">
                <a:solidFill>
                  <a:srgbClr val="1F2D3A"/>
                </a:solidFill>
              </a:rPr>
              <a:t> write (e.g., a C file).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Example: </a:t>
            </a:r>
            <a:r>
              <a:rPr sz="2000" b="0">
                <a:solidFill>
                  <a:srgbClr val="A1123F"/>
                </a:solidFill>
                <a:latin typeface="Consolas"/>
              </a:rPr>
              <a:t>int topla(int a, int b) { return a + b;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Source code is </a:t>
            </a:r>
            <a:r>
              <a:rPr sz="2000" b="1">
                <a:solidFill>
                  <a:srgbClr val="1F2D3A"/>
                </a:solidFill>
              </a:rPr>
              <a:t>compiled</a:t>
            </a:r>
            <a:r>
              <a:rPr sz="2000" b="0">
                <a:solidFill>
                  <a:srgbClr val="1F2D3A"/>
                </a:solidFill>
              </a:rPr>
              <a:t> and turned into the form the machine runs.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Compiler and Binary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03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Compiler:</a:t>
            </a:r>
            <a:r>
              <a:rPr sz="2000" b="0">
                <a:solidFill>
                  <a:srgbClr val="1F2D3A"/>
                </a:solidFill>
              </a:rPr>
              <a:t> the program that translates source code into </a:t>
            </a:r>
            <a:r>
              <a:rPr sz="2000" b="1">
                <a:solidFill>
                  <a:srgbClr val="1F2D3A"/>
                </a:solidFill>
              </a:rPr>
              <a:t>machine code</a:t>
            </a:r>
            <a:r>
              <a:rPr sz="2000" b="0">
                <a:solidFill>
                  <a:srgbClr val="1F2D3A"/>
                </a:solidFill>
              </a:rPr>
              <a:t> (gcc, clang).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Binary:</a:t>
            </a:r>
            <a:r>
              <a:rPr sz="2000" b="0">
                <a:solidFill>
                  <a:srgbClr val="1F2D3A"/>
                </a:solidFill>
              </a:rPr>
              <a:t> the result of compilation; the file the computer runs directly (</a:t>
            </a:r>
            <a:r>
              <a:rPr sz="2000" b="0">
                <a:solidFill>
                  <a:srgbClr val="A1123F"/>
                </a:solidFill>
                <a:latin typeface="Consolas"/>
              </a:rPr>
              <a:t>.exe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.so</a:t>
            </a:r>
            <a:r>
              <a:rPr sz="2000" b="0">
                <a:solidFill>
                  <a:srgbClr val="1F2D3A"/>
                </a:solidFill>
              </a:rPr>
              <a:t>).</a:t>
            </a:r>
          </a:p>
        </p:txBody>
      </p:sp>
      <p:pic>
        <p:nvPicPr>
          <p:cNvPr id="8" name="Picture 7" descr="h09-13-derleme-zincir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939288"/>
            <a:ext cx="10911535" cy="30812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Machine Code and Assembly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Machine code:</a:t>
            </a:r>
            <a:r>
              <a:rPr sz="2000" b="0">
                <a:solidFill>
                  <a:srgbClr val="1F2D3A"/>
                </a:solidFill>
              </a:rPr>
              <a:t> the numeric instructions the processor understands.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Assembly:</a:t>
            </a:r>
            <a:r>
              <a:rPr sz="2000" b="0">
                <a:solidFill>
                  <a:srgbClr val="1F2D3A"/>
                </a:solidFill>
              </a:rPr>
              <a:t> a somewhat more human-readable form of machine code (</a:t>
            </a:r>
            <a:r>
              <a:rPr sz="2000" b="0">
                <a:solidFill>
                  <a:srgbClr val="A1123F"/>
                </a:solidFill>
                <a:latin typeface="Consolas"/>
              </a:rPr>
              <a:t>mov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cmp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jmp</a:t>
            </a:r>
            <a:r>
              <a:rPr sz="2000" b="0">
                <a:solidFill>
                  <a:srgbClr val="1F2D3A"/>
                </a:solidFill>
              </a:rPr>
              <a:t>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This is what you see when you open a binary.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Is Reverse Engineering?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Reverse engineering:</a:t>
            </a:r>
            <a:r>
              <a:rPr sz="2000" b="0">
                <a:solidFill>
                  <a:srgbClr val="1F2D3A"/>
                </a:solidFill>
              </a:rPr>
              <a:t> looking at a binary and trying to work out </a:t>
            </a:r>
            <a:r>
              <a:rPr sz="2000" b="1">
                <a:solidFill>
                  <a:srgbClr val="1F2D3A"/>
                </a:solidFill>
              </a:rPr>
              <a:t>what the program does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This is the attacker's basic job.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Decompiler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Decompiler:</a:t>
            </a:r>
            <a:r>
              <a:rPr sz="2000" b="0">
                <a:solidFill>
                  <a:srgbClr val="1F2D3A"/>
                </a:solidFill>
              </a:rPr>
              <a:t> a tool that turns a binary back into a form close to readable code.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Examples: Ghidra, IDA.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Goal: someone with no access to the source can infer the logic just by looking at the binary.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Bit, Byte, Hexadecimal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Bit:</a:t>
            </a:r>
            <a:r>
              <a:rPr sz="2000" b="0">
                <a:solidFill>
                  <a:srgbClr val="1F2D3A"/>
                </a:solidFill>
              </a:rPr>
              <a:t> 0 or 1.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Byte:</a:t>
            </a:r>
            <a:r>
              <a:rPr sz="2000" b="0">
                <a:solidFill>
                  <a:srgbClr val="1F2D3A"/>
                </a:solidFill>
              </a:rPr>
              <a:t> 8 bits.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Hexadecimal (hex):</a:t>
            </a:r>
            <a:r>
              <a:rPr sz="2000" b="0">
                <a:solidFill>
                  <a:srgbClr val="1F2D3A"/>
                </a:solidFill>
              </a:rPr>
              <a:t> written with a </a:t>
            </a:r>
            <a:r>
              <a:rPr sz="2000" b="0">
                <a:solidFill>
                  <a:srgbClr val="A1123F"/>
                </a:solidFill>
                <a:latin typeface="Consolas"/>
              </a:rPr>
              <a:t>0x</a:t>
            </a:r>
            <a:r>
              <a:rPr sz="2000" b="0">
                <a:solidFill>
                  <a:srgbClr val="1F2D3A"/>
                </a:solidFill>
              </a:rPr>
              <a:t> prefix; </a:t>
            </a:r>
            <a:r>
              <a:rPr sz="2000" b="0">
                <a:solidFill>
                  <a:srgbClr val="A1123F"/>
                </a:solidFill>
                <a:latin typeface="Consolas"/>
              </a:rPr>
              <a:t>0x2A</a:t>
            </a:r>
            <a:r>
              <a:rPr sz="2000" b="0">
                <a:solidFill>
                  <a:srgbClr val="1F2D3A"/>
                </a:solidFill>
              </a:rPr>
              <a:t> = 42.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We will see values like </a:t>
            </a:r>
            <a:r>
              <a:rPr sz="2000" b="0">
                <a:solidFill>
                  <a:srgbClr val="A1123F"/>
                </a:solidFill>
                <a:latin typeface="Consolas"/>
              </a:rPr>
              <a:t>0x5A</a:t>
            </a:r>
            <a:r>
              <a:rPr sz="2000" b="0">
                <a:solidFill>
                  <a:srgbClr val="1F2D3A"/>
                </a:solidFill>
              </a:rPr>
              <a:t> in the code; these are just numbers.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Is XOR?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XOR</a:t>
            </a:r>
            <a:r>
              <a:rPr sz="2000" b="0">
                <a:solidFill>
                  <a:srgbClr val="1F2D3A"/>
                </a:solidFill>
              </a:rPr>
              <a:t> (</a:t>
            </a:r>
            <a:r>
              <a:rPr sz="2000" b="0">
                <a:solidFill>
                  <a:srgbClr val="A1123F"/>
                </a:solidFill>
                <a:latin typeface="Consolas"/>
              </a:rPr>
              <a:t>^</a:t>
            </a:r>
            <a:r>
              <a:rPr sz="2000" b="0">
                <a:solidFill>
                  <a:srgbClr val="1F2D3A"/>
                </a:solidFill>
              </a:rPr>
              <a:t>): 1 if the two bits differ, 0 if they are the same.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Property: </a:t>
            </a:r>
            <a:r>
              <a:rPr sz="2000" b="0">
                <a:solidFill>
                  <a:srgbClr val="A1123F"/>
                </a:solidFill>
                <a:latin typeface="Consolas"/>
              </a:rPr>
              <a:t>a ^ b ^ b == a</a:t>
            </a:r>
            <a:r>
              <a:rPr sz="2000" b="0">
                <a:solidFill>
                  <a:srgbClr val="1F2D3A"/>
                </a:solidFill>
              </a:rPr>
              <a:t> → </a:t>
            </a:r>
            <a:r>
              <a:rPr sz="2000" b="1">
                <a:solidFill>
                  <a:srgbClr val="1F2D3A"/>
                </a:solidFill>
              </a:rPr>
              <a:t>it undoes itself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78888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c = a ^ 0x5A;   /* encode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a = c ^ 0x5A;   /* decode */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40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It is heavily used in obfuscation because it is reversible.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Is Entropy (Randomness)?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Entropy:</a:t>
            </a:r>
            <a:r>
              <a:rPr sz="2000" b="0">
                <a:solidFill>
                  <a:srgbClr val="1F2D3A"/>
                </a:solidFill>
              </a:rPr>
              <a:t> how "random" a piece of data looks.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Cryptographic keys look </a:t>
            </a:r>
            <a:r>
              <a:rPr sz="2000" b="1">
                <a:solidFill>
                  <a:srgbClr val="1F2D3A"/>
                </a:solidFill>
              </a:rPr>
              <a:t>high-entropy</a:t>
            </a:r>
            <a:r>
              <a:rPr sz="2000" b="0">
                <a:solidFill>
                  <a:srgbClr val="1F2D3A"/>
                </a:solidFill>
              </a:rPr>
              <a:t> (irregular bytes).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If an attacker sees a high-entropy block in a binary, they say "there might be a key here."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Function, Branch, Condition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Function:</a:t>
            </a:r>
            <a:r>
              <a:rPr sz="2000" b="0">
                <a:solidFill>
                  <a:srgbClr val="1F2D3A"/>
                </a:solidFill>
              </a:rPr>
              <a:t> a block of code that does one job (</a:t>
            </a:r>
            <a:r>
              <a:rPr sz="2000" b="0">
                <a:solidFill>
                  <a:srgbClr val="A1123F"/>
                </a:solidFill>
                <a:latin typeface="Consolas"/>
              </a:rPr>
              <a:t>grant_access</a:t>
            </a:r>
            <a:r>
              <a:rPr sz="2000" b="0">
                <a:solidFill>
                  <a:srgbClr val="1F2D3A"/>
                </a:solidFill>
              </a:rPr>
              <a:t>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Branch:</a:t>
            </a:r>
            <a:r>
              <a:rPr sz="2000" b="0">
                <a:solidFill>
                  <a:srgbClr val="1F2D3A"/>
                </a:solidFill>
              </a:rPr>
              <a:t> a fork in the road, like an </a:t>
            </a:r>
            <a:r>
              <a:rPr sz="2000" b="0">
                <a:solidFill>
                  <a:srgbClr val="A1123F"/>
                </a:solidFill>
                <a:latin typeface="Consolas"/>
              </a:rPr>
              <a:t>if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Condition:</a:t>
            </a:r>
            <a:r>
              <a:rPr sz="2000" b="0">
                <a:solidFill>
                  <a:srgbClr val="1F2D3A"/>
                </a:solidFill>
              </a:rPr>
              <a:t> the expression that decides which way the branch goes.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Basic Block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Basic block:</a:t>
            </a:r>
            <a:r>
              <a:rPr sz="2000" b="0">
                <a:solidFill>
                  <a:srgbClr val="1F2D3A"/>
                </a:solidFill>
              </a:rPr>
              <a:t> a sequence of instructions that runs straight through, with no branch.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When an </a:t>
            </a:r>
            <a:r>
              <a:rPr sz="2000" b="0">
                <a:solidFill>
                  <a:srgbClr val="A1123F"/>
                </a:solidFill>
                <a:latin typeface="Consolas"/>
              </a:rPr>
              <a:t>if</a:t>
            </a:r>
            <a:r>
              <a:rPr sz="2000" b="0">
                <a:solidFill>
                  <a:srgbClr val="1F2D3A"/>
                </a:solidFill>
              </a:rPr>
              <a:t> is reached the block ends, and two new blocks begin.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90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Program = basic blocks wired together.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Control Flow Graph (CFG)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CFG</a:t>
            </a:r>
            <a:r>
              <a:rPr sz="2000" b="0">
                <a:solidFill>
                  <a:srgbClr val="1F2D3A"/>
                </a:solidFill>
              </a:rPr>
              <a:t> (Control Flow Graph): a diagram that makes basic blocks its </a:t>
            </a:r>
            <a:r>
              <a:rPr sz="2000" b="1">
                <a:solidFill>
                  <a:srgbClr val="1F2D3A"/>
                </a:solidFill>
              </a:rPr>
              <a:t>nodes</a:t>
            </a:r>
            <a:r>
              <a:rPr sz="2000" b="0">
                <a:solidFill>
                  <a:srgbClr val="1F2D3A"/>
                </a:solidFill>
              </a:rPr>
              <a:t> and the transitions between them its </a:t>
            </a:r>
            <a:r>
              <a:rPr sz="2000" b="1">
                <a:solidFill>
                  <a:srgbClr val="1F2D3A"/>
                </a:solidFill>
              </a:rPr>
              <a:t>edges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It is the program's "road map."</a:t>
            </a:r>
          </a:p>
        </p:txBody>
      </p:sp>
      <p:pic>
        <p:nvPicPr>
          <p:cNvPr id="8" name="Picture 7" descr="h09-12-cf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4022" y="2609088"/>
            <a:ext cx="7943650" cy="354482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This Week's Question in One Sentence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934719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I have delivered the program to the user; </a:t>
            </a:r>
            <a:r>
              <a:rPr sz="2000" b="1">
                <a:solidFill>
                  <a:srgbClr val="1F2D3A"/>
                </a:solidFill>
              </a:rPr>
              <a:t>the attacker now owns it.</a:t>
            </a:r>
            <a:r>
              <a:rPr sz="2000" b="0">
                <a:solidFill>
                  <a:srgbClr val="1F2D3A"/>
                </a:solidFill>
              </a:rPr>
              <a:t> How do I make it </a:t>
            </a:r>
            <a:r>
              <a:rPr sz="2000" b="1">
                <a:solidFill>
                  <a:srgbClr val="1F2D3A"/>
                </a:solidFill>
              </a:rPr>
              <a:t>harder</a:t>
            </a:r>
            <a:r>
              <a:rPr sz="2000" b="0">
                <a:solidFill>
                  <a:srgbClr val="1F2D3A"/>
                </a:solidFill>
              </a:rPr>
              <a:t> for them to read and modify my code?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032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Answer: </a:t>
            </a:r>
            <a:r>
              <a:rPr sz="2000" b="1">
                <a:solidFill>
                  <a:srgbClr val="1F2D3A"/>
                </a:solidFill>
              </a:rPr>
              <a:t>code obfuscation rules.</a:t>
            </a:r>
            <a:r>
              <a:rPr sz="2000" b="0">
                <a:solidFill>
                  <a:srgbClr val="1F2D3A"/>
                </a:solidFill>
              </a:rPr>
              <a:t> Let's begin.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1. Why Is Obfuscation a Rule?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First, a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You have </a:t>
            </a:r>
            <a:r>
              <a:rPr sz="2000" b="1">
                <a:solidFill>
                  <a:srgbClr val="1F2D3A"/>
                </a:solidFill>
              </a:rPr>
              <a:t>delivered</a:t>
            </a:r>
            <a:r>
              <a:rPr sz="2000" b="0">
                <a:solidFill>
                  <a:srgbClr val="1F2D3A"/>
                </a:solidFill>
              </a:rPr>
              <a:t> a mobile app to the user.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Whose machine is the code running on now?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Are your server-side security checks still valid here?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How many times can the attacker try?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MATE: the Attacker at the 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M</a:t>
            </a:r>
            <a:r>
              <a:rPr sz="2000" b="0">
                <a:solidFill>
                  <a:srgbClr val="1F2D3A"/>
                </a:solidFill>
              </a:rPr>
              <a:t>an-</a:t>
            </a:r>
            <a:r>
              <a:rPr sz="2000" b="1">
                <a:solidFill>
                  <a:srgbClr val="1F2D3A"/>
                </a:solidFill>
              </a:rPr>
              <a:t>A</a:t>
            </a:r>
            <a:r>
              <a:rPr sz="2000" b="0">
                <a:solidFill>
                  <a:srgbClr val="1F2D3A"/>
                </a:solidFill>
              </a:rPr>
              <a:t>t-</a:t>
            </a:r>
            <a:r>
              <a:rPr sz="2000" b="1">
                <a:solidFill>
                  <a:srgbClr val="1F2D3A"/>
                </a:solidFill>
              </a:rPr>
              <a:t>T</a:t>
            </a:r>
            <a:r>
              <a:rPr sz="2000" b="0">
                <a:solidFill>
                  <a:srgbClr val="1F2D3A"/>
                </a:solidFill>
              </a:rPr>
              <a:t>he-</a:t>
            </a:r>
            <a:r>
              <a:rPr sz="2000" b="1">
                <a:solidFill>
                  <a:srgbClr val="1F2D3A"/>
                </a:solidFill>
              </a:rPr>
              <a:t>E</a:t>
            </a:r>
            <a:r>
              <a:rPr sz="2000" b="0">
                <a:solidFill>
                  <a:srgbClr val="1F2D3A"/>
                </a:solidFill>
              </a:rPr>
              <a:t>nd = an attacker who possesses the program itself.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binary is in their hands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They can read and modify memory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They have a decompiler and a debugger in hand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They can try as many times as they like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8038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This is also called the </a:t>
            </a:r>
            <a:r>
              <a:rPr sz="2000" b="1">
                <a:solidFill>
                  <a:srgbClr val="1F2D3A"/>
                </a:solidFill>
              </a:rPr>
              <a:t>white-box</a:t>
            </a:r>
            <a:r>
              <a:rPr sz="2000" b="0">
                <a:solidFill>
                  <a:srgbClr val="1F2D3A"/>
                </a:solidFill>
              </a:rPr>
              <a:t> model (week 1).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MATE Attacker Model — Diagram</a:t>
            </a:r>
          </a:p>
        </p:txBody>
      </p:sp>
      <p:pic>
        <p:nvPicPr>
          <p:cNvPr id="7" name="Picture 6" descr="h09-03-m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15679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Black Box ≠ White Box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3236"/>
                <a:gridCol w="3637178"/>
                <a:gridCol w="5001120"/>
              </a:tblGrid>
              <a:tr h="351129"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Black box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White box (MATE)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Input/output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Everything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Environment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Remote server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The attacker's device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Attempts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Limited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Unlimited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3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Defence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Crypto, verification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+ obfuscation, RASP, whitebox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191256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Cryptography assumes a </a:t>
            </a:r>
            <a:r>
              <a:rPr sz="1800" b="1">
                <a:solidFill>
                  <a:srgbClr val="1F2D3A"/>
                </a:solidFill>
              </a:rPr>
              <a:t>black box</a:t>
            </a:r>
            <a:r>
              <a:rPr sz="1800" b="0">
                <a:solidFill>
                  <a:srgbClr val="1F2D3A"/>
                </a:solidFill>
              </a:rPr>
              <a:t>; that assumption collapses on delivery.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A Brief History — Where Does Code Obfuscation Come From?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9946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1976</a:t>
            </a:r>
            <a:r>
              <a:rPr sz="1800" b="0">
                <a:solidFill>
                  <a:srgbClr val="1F2D3A"/>
                </a:solidFill>
              </a:rPr>
              <a:t> — Diffie &amp; Hellman: the idea of "incomprehensible but working" (protection </a:t>
            </a:r>
            <a:r>
              <a:rPr sz="1800" b="1">
                <a:solidFill>
                  <a:srgbClr val="1F2D3A"/>
                </a:solidFill>
              </a:rPr>
              <a:t>through effort</a:t>
            </a:r>
            <a:r>
              <a:rPr sz="1800" b="0">
                <a:solidFill>
                  <a:srgbClr val="1F2D3A"/>
                </a:solidFill>
              </a:rPr>
              <a:t>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1997</a:t>
            </a:r>
            <a:r>
              <a:rPr sz="1800" b="0">
                <a:solidFill>
                  <a:srgbClr val="1F2D3A"/>
                </a:solidFill>
              </a:rPr>
              <a:t> — Collberg et al. </a:t>
            </a:r>
            <a:r>
              <a:rPr sz="1800" b="1">
                <a:solidFill>
                  <a:srgbClr val="1F2D3A"/>
                </a:solidFill>
              </a:rPr>
              <a:t>taxonomy</a:t>
            </a:r>
            <a:r>
              <a:rPr sz="1800" b="0">
                <a:solidFill>
                  <a:srgbClr val="1F2D3A"/>
                </a:solidFill>
              </a:rPr>
              <a:t> + </a:t>
            </a:r>
            <a:r>
              <a:rPr sz="1800" b="0" i="1">
                <a:solidFill>
                  <a:srgbClr val="1F2D3A"/>
                </a:solidFill>
              </a:rPr>
              <a:t>potency–resilience–stealth–cost</a:t>
            </a:r>
            <a:r>
              <a:rPr sz="1800" b="0">
                <a:solidFill>
                  <a:srgbClr val="1F2D3A"/>
                </a:solidFill>
              </a:rPr>
              <a:t> (this course's five families)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2000</a:t>
            </a:r>
            <a:r>
              <a:rPr sz="1800" b="0">
                <a:solidFill>
                  <a:srgbClr val="1F2D3A"/>
                </a:solidFill>
              </a:rPr>
              <a:t> — Wang et al.: </a:t>
            </a:r>
            <a:r>
              <a:rPr sz="1800" b="1">
                <a:solidFill>
                  <a:srgbClr val="1F2D3A"/>
                </a:solidFill>
              </a:rPr>
              <a:t>control-flow flattening</a:t>
            </a:r>
            <a:r>
              <a:rPr sz="1800" b="0">
                <a:solidFill>
                  <a:srgbClr val="1F2D3A"/>
                </a:solidFill>
              </a:rPr>
              <a:t> — precise analysis is </a:t>
            </a:r>
            <a:r>
              <a:rPr sz="1800" b="1">
                <a:solidFill>
                  <a:srgbClr val="1F2D3A"/>
                </a:solidFill>
              </a:rPr>
              <a:t>NP-hard</a:t>
            </a:r>
            <a:r>
              <a:rPr sz="1800" b="0">
                <a:solidFill>
                  <a:srgbClr val="1F2D3A"/>
                </a:solidFill>
              </a:rPr>
              <a:t> in general (K-04)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2001</a:t>
            </a:r>
            <a:r>
              <a:rPr sz="1800" b="0">
                <a:solidFill>
                  <a:srgbClr val="1F2D3A"/>
                </a:solidFill>
              </a:rPr>
              <a:t> — Barak et al.: perfect obfuscation is </a:t>
            </a:r>
            <a:r>
              <a:rPr sz="1800" b="1">
                <a:solidFill>
                  <a:srgbClr val="1F2D3A"/>
                </a:solidFill>
              </a:rPr>
              <a:t>impossible</a:t>
            </a:r>
            <a:r>
              <a:rPr sz="1800" b="0">
                <a:solidFill>
                  <a:srgbClr val="1F2D3A"/>
                </a:solidFill>
              </a:rPr>
              <a:t> → not "unbreakability" but </a:t>
            </a:r>
            <a:r>
              <a:rPr sz="1800" b="1">
                <a:solidFill>
                  <a:srgbClr val="1F2D3A"/>
                </a:solidFill>
              </a:rPr>
              <a:t>cost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2002</a:t>
            </a:r>
            <a:r>
              <a:rPr sz="1800" b="0">
                <a:solidFill>
                  <a:srgbClr val="1F2D3A"/>
                </a:solidFill>
              </a:rPr>
              <a:t> — Chow et al. </a:t>
            </a:r>
            <a:r>
              <a:rPr sz="1800" b="1">
                <a:solidFill>
                  <a:srgbClr val="1F2D3A"/>
                </a:solidFill>
              </a:rPr>
              <a:t>whitebox AES</a:t>
            </a:r>
            <a:r>
              <a:rPr sz="1800" b="0">
                <a:solidFill>
                  <a:srgbClr val="1F2D3A"/>
                </a:solidFill>
              </a:rPr>
              <a:t> (week 11) · </a:t>
            </a:r>
            <a:r>
              <a:rPr sz="1800" b="1">
                <a:solidFill>
                  <a:srgbClr val="1F2D3A"/>
                </a:solidFill>
              </a:rPr>
              <a:t>2015</a:t>
            </a:r>
            <a:r>
              <a:rPr sz="1800" b="0">
                <a:solidFill>
                  <a:srgbClr val="1F2D3A"/>
                </a:solidFill>
              </a:rPr>
              <a:t> Obfuscator-LLVM (Junod et al., K-11) · Tigress (week 14)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430268"/>
            <a:ext cx="10911535" cy="57150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800" b="0">
                <a:solidFill>
                  <a:srgbClr val="1F2D3A"/>
                </a:solidFill>
              </a:rPr>
              <a:t>Obfuscation is a </a:t>
            </a:r>
            <a:r>
              <a:rPr sz="1800" b="1">
                <a:solidFill>
                  <a:srgbClr val="1F2D3A"/>
                </a:solidFill>
              </a:rPr>
              <a:t>practical delaying</a:t>
            </a:r>
            <a:r>
              <a:rPr sz="1800" b="0">
                <a:solidFill>
                  <a:srgbClr val="1F2D3A"/>
                </a:solidFill>
              </a:rPr>
              <a:t> discipline built on top of an </a:t>
            </a:r>
            <a:r>
              <a:rPr sz="1800" b="1">
                <a:solidFill>
                  <a:srgbClr val="1F2D3A"/>
                </a:solidFill>
              </a:rPr>
              <a:t>impossibility theorem</a:t>
            </a:r>
            <a:r>
              <a:rPr sz="18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Honest Truth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An attacker with enough time, skill, and motivation breaks </a:t>
            </a:r>
            <a:r>
              <a:rPr sz="2000" b="1">
                <a:solidFill>
                  <a:srgbClr val="1F2D3A"/>
                </a:solidFill>
              </a:rPr>
              <a:t>every obfuscation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4012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Cookbook (Recipe 12.1): anti-tampering is not "unbreakable."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8978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So what is the goal, then?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Goal: Make Breaking It Uneconomical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Obfuscation is a tool for </a:t>
            </a:r>
            <a:r>
              <a:rPr sz="2000" b="1">
                <a:solidFill>
                  <a:srgbClr val="1F2D3A"/>
                </a:solidFill>
              </a:rPr>
              <a:t>raising cost</a:t>
            </a:r>
            <a:r>
              <a:rPr sz="2000" b="0">
                <a:solidFill>
                  <a:srgbClr val="1F2D3A"/>
                </a:solidFill>
              </a:rPr>
              <a:t>, not for keeping a secret.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Make breaking it </a:t>
            </a:r>
            <a:r>
              <a:rPr sz="2000" b="1">
                <a:solidFill>
                  <a:srgbClr val="1F2D3A"/>
                </a:solidFill>
              </a:rPr>
              <a:t>expensive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Make automating it </a:t>
            </a:r>
            <a:r>
              <a:rPr sz="2000" b="1">
                <a:solidFill>
                  <a:srgbClr val="1F2D3A"/>
                </a:solidFill>
              </a:rPr>
              <a:t>harder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Buy time</a:t>
            </a:r>
            <a:r>
              <a:rPr sz="2000" b="0">
                <a:solidFill>
                  <a:srgbClr val="1F2D3A"/>
                </a:solidFill>
              </a:rPr>
              <a:t> for the other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446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Let's turn these into three rules.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Rule 1 — Push the Cost Above the 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attack must be </a:t>
            </a:r>
            <a:r>
              <a:rPr sz="2000" b="1">
                <a:solidFill>
                  <a:srgbClr val="1F2D3A"/>
                </a:solidFill>
              </a:rPr>
              <a:t>more expensive</a:t>
            </a:r>
            <a:r>
              <a:rPr sz="2000" b="0">
                <a:solidFill>
                  <a:srgbClr val="1F2D3A"/>
                </a:solidFill>
              </a:rPr>
              <a:t> than the protected asset.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Protecting a 10 TL secret with 1000 TL of effort: a waste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Protecting a 1000 TL secret with 10 TL of effort: insufficient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2854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First determine the asset's value</a:t>
            </a:r>
            <a:r>
              <a:rPr sz="2000" b="0">
                <a:solidFill>
                  <a:srgbClr val="1F2D3A"/>
                </a:solidFill>
              </a:rPr>
              <a:t>, then choose the protection.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Rule 2 — Break Automation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An attack that works on one copy should </a:t>
            </a:r>
            <a:r>
              <a:rPr sz="2000" b="1">
                <a:solidFill>
                  <a:srgbClr val="1F2D3A"/>
                </a:solidFill>
              </a:rPr>
              <a:t>not</a:t>
            </a:r>
            <a:r>
              <a:rPr sz="2000" b="0">
                <a:solidFill>
                  <a:srgbClr val="1F2D3A"/>
                </a:solidFill>
              </a:rPr>
              <a:t> work on </a:t>
            </a:r>
            <a:r>
              <a:rPr sz="2000" b="1">
                <a:solidFill>
                  <a:srgbClr val="1F2D3A"/>
                </a:solidFill>
              </a:rPr>
              <a:t>every</a:t>
            </a:r>
            <a:r>
              <a:rPr sz="2000" b="0">
                <a:solidFill>
                  <a:srgbClr val="1F2D3A"/>
                </a:solidFill>
              </a:rPr>
              <a:t> copy.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This is called </a:t>
            </a:r>
            <a:r>
              <a:rPr sz="2000" b="1">
                <a:solidFill>
                  <a:srgbClr val="1F2D3A"/>
                </a:solidFill>
              </a:rPr>
              <a:t>diversification</a:t>
            </a:r>
            <a:r>
              <a:rPr sz="2000" b="0">
                <a:solidFill>
                  <a:srgbClr val="1F2D3A"/>
                </a:solidFill>
              </a:rPr>
              <a:t> (section 5 of this week)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With tooling in week 14 (Tigress </a:t>
            </a:r>
            <a:r>
              <a:rPr sz="2000" b="0">
                <a:solidFill>
                  <a:srgbClr val="A1123F"/>
                </a:solidFill>
                <a:latin typeface="Consolas"/>
              </a:rPr>
              <a:t>--Seed</a:t>
            </a:r>
            <a:r>
              <a:rPr sz="2000" b="0">
                <a:solidFill>
                  <a:srgbClr val="1F2D3A"/>
                </a:solidFill>
              </a:rPr>
              <a:t>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828544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One crack should not open every door.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Rule 3 — Buy Time for the Other Layers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Obfuscation is </a:t>
            </a:r>
            <a:r>
              <a:rPr sz="2000" b="1">
                <a:solidFill>
                  <a:srgbClr val="1F2D3A"/>
                </a:solidFill>
              </a:rPr>
              <a:t>not</a:t>
            </a:r>
            <a:r>
              <a:rPr sz="2000" b="0">
                <a:solidFill>
                  <a:srgbClr val="1F2D3A"/>
                </a:solidFill>
              </a:rPr>
              <a:t> a defence on its own; it is a </a:t>
            </a:r>
            <a:r>
              <a:rPr sz="2000" b="1">
                <a:solidFill>
                  <a:srgbClr val="1F2D3A"/>
                </a:solidFill>
              </a:rPr>
              <a:t>layer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RASP (week 6) protects it while it is running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Integrity checking, server-side checks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Holding out </a:t>
            </a:r>
            <a:r>
              <a:rPr sz="2000" b="1">
                <a:solidFill>
                  <a:srgbClr val="1F2D3A"/>
                </a:solidFill>
              </a:rPr>
              <a:t>until</a:t>
            </a:r>
            <a:r>
              <a:rPr sz="2000" b="0">
                <a:solidFill>
                  <a:srgbClr val="1F2D3A"/>
                </a:solidFill>
              </a:rPr>
              <a:t> the key/version is renewed is enough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The Source's Language: Every Countermeasure Is a "Rule"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The technical guide writes every countermeasure under three headings: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42515"/>
            <a:ext cx="10911535" cy="11201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Description</a:t>
            </a:r>
            <a:r>
              <a:rPr sz="1800" b="0">
                <a:solidFill>
                  <a:srgbClr val="1F2D3A"/>
                </a:solidFill>
              </a:rPr>
              <a:t> — what it protects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Implementation</a:t>
            </a:r>
            <a:r>
              <a:rPr sz="1800" b="0">
                <a:solidFill>
                  <a:srgbClr val="1F2D3A"/>
                </a:solidFill>
              </a:rPr>
              <a:t> — how it is done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Example usage</a:t>
            </a:r>
            <a:r>
              <a:rPr sz="1800" b="0">
                <a:solidFill>
                  <a:srgbClr val="1F2D3A"/>
                </a:solidFill>
              </a:rPr>
              <a:t> — where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72383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Usually with a </a:t>
            </a:r>
            <a:r>
              <a:rPr sz="1800" b="1">
                <a:solidFill>
                  <a:srgbClr val="1F2D3A"/>
                </a:solidFill>
              </a:rPr>
              <a:t>compliance ID</a:t>
            </a:r>
            <a:r>
              <a:rPr sz="1800" b="0">
                <a:solidFill>
                  <a:srgbClr val="1F2D3A"/>
                </a:solidFill>
              </a:rPr>
              <a:t> too (e.g., "sensitive data is never logged in plain text").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89018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We will write it the same way: </a:t>
            </a:r>
            <a:r>
              <a:rPr sz="1800" b="0" i="1">
                <a:solidFill>
                  <a:srgbClr val="1F2D3A"/>
                </a:solidFill>
              </a:rPr>
              <a:t>what it protects · how · cost · limit</a:t>
            </a:r>
            <a:r>
              <a:rPr sz="18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2. Taxonomy and Rule Template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Does Obfuscation Hide?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Collberg's classification: we split obfuscation by </a:t>
            </a:r>
            <a:r>
              <a:rPr sz="2000" b="1">
                <a:solidFill>
                  <a:srgbClr val="1F2D3A"/>
                </a:solidFill>
              </a:rPr>
              <a:t>what it hides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There are five families. Let's go through them in order.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Family 1 — 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2D3A"/>
                </a:solidFill>
              </a:rPr>
              <a:t>What does it hide?</a:t>
            </a:r>
            <a:r>
              <a:rPr sz="1800" b="0">
                <a:solidFill>
                  <a:srgbClr val="1F2D3A"/>
                </a:solidFill>
              </a:rPr>
              <a:t> Names, format, metadata.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42515"/>
            <a:ext cx="10911535" cy="11201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Making symbols invisible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Making function/file names meaningless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Stripping logging from the release 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72383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We met this in week 4; this week we go deeper.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Family 2 —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2D3A"/>
                </a:solidFill>
              </a:rPr>
              <a:t>What does it hide?</a:t>
            </a:r>
            <a:r>
              <a:rPr sz="1800" b="0">
                <a:solidFill>
                  <a:srgbClr val="1F2D3A"/>
                </a:solidFill>
              </a:rPr>
              <a:t> Constants, strings, variables.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42515"/>
            <a:ext cx="10911535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String encoding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Constant transforms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Variable splitting/merging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Opaque boolean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15283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→ Section 4 of this week.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Family 3 — Control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2D3A"/>
                </a:solidFill>
              </a:rPr>
              <a:t>What does it hide?</a:t>
            </a:r>
            <a:r>
              <a:rPr sz="1800" b="0">
                <a:solidFill>
                  <a:srgbClr val="1F2D3A"/>
                </a:solidFill>
              </a:rPr>
              <a:t> The algorithm's structure.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42515"/>
            <a:ext cx="10911535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Control-flow flattening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Opaque predicates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Bogus and dead branches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Random exit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15283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→ Section 3 of this week (coming up shortly).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Family 4 — Anti-Analysis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2D3A"/>
                </a:solidFill>
              </a:rPr>
              <a:t>What does it hide?</a:t>
            </a:r>
            <a:r>
              <a:rPr sz="1800" b="0">
                <a:solidFill>
                  <a:srgbClr val="1F2D3A"/>
                </a:solidFill>
              </a:rPr>
              <a:t> The analysis tools' own 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42515"/>
            <a:ext cx="10911535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Structures that mislead a decompiler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Decoding code at runtime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29483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→ Concept this week, RASP in week 6.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Family 5 — Virtualisation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2D3A"/>
                </a:solidFill>
              </a:rPr>
              <a:t>What does it hide?</a:t>
            </a:r>
            <a:r>
              <a:rPr sz="1800" b="0">
                <a:solidFill>
                  <a:srgbClr val="1F2D3A"/>
                </a:solidFill>
              </a:rPr>
              <a:t> The machine code itself.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42515"/>
            <a:ext cx="10911535" cy="4343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Turning a function into a custom VM's bytecode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86583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→ Concept this week (K-10), with tooling in week 14 (Tigress </a:t>
            </a:r>
            <a:r>
              <a:rPr sz="1800" b="0">
                <a:solidFill>
                  <a:srgbClr val="A1123F"/>
                </a:solidFill>
                <a:latin typeface="Consolas"/>
              </a:rPr>
              <a:t>Virtualize</a:t>
            </a:r>
            <a:r>
              <a:rPr sz="1800" b="0">
                <a:solidFill>
                  <a:srgbClr val="1F2D3A"/>
                </a:solidFill>
              </a:rPr>
              <a:t>).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Virtualisation — Diagram</a:t>
            </a:r>
          </a:p>
        </p:txBody>
      </p:sp>
      <p:pic>
        <p:nvPicPr>
          <p:cNvPr id="7" name="Picture 6" descr="h09-06-sanallastir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680469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The Five Families: Summary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8729227" cy="2079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3460"/>
                <a:gridCol w="5455767"/>
              </a:tblGrid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Family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Hides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Layout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Name, format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Data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Constant, string, variable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Control flow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Structure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Anti-analysis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Tool's work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Virtualisation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Machine code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514953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2D3A"/>
                </a:solidFill>
              </a:rPr>
              <a:t>Rule:</a:t>
            </a:r>
            <a:r>
              <a:rPr sz="1800" b="0">
                <a:solidFill>
                  <a:srgbClr val="1F2D3A"/>
                </a:solidFill>
              </a:rPr>
              <a:t> the families are used </a:t>
            </a:r>
            <a:r>
              <a:rPr sz="1800" b="1">
                <a:solidFill>
                  <a:srgbClr val="1F2D3A"/>
                </a:solidFill>
              </a:rPr>
              <a:t>together</a:t>
            </a:r>
            <a:r>
              <a:rPr sz="1800" b="0">
                <a:solidFill>
                  <a:srgbClr val="1F2D3A"/>
                </a:solidFill>
              </a:rPr>
              <a:t>, not alone.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Five Families — Potency ↑ Cost ↑</a:t>
            </a:r>
          </a:p>
        </p:txBody>
      </p:sp>
      <p:pic>
        <p:nvPicPr>
          <p:cNvPr id="7" name="Picture 6" descr="h09-01-bes-a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8" y="1325880"/>
            <a:ext cx="10210559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In the Field: All Together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native countermeasures listed in a certified product cover this </a:t>
            </a:r>
            <a:r>
              <a:rPr sz="2000" b="1">
                <a:solidFill>
                  <a:srgbClr val="1F2D3A"/>
                </a:solidFill>
              </a:rPr>
              <a:t>entire</a:t>
            </a:r>
            <a:r>
              <a:rPr sz="2000" b="0">
                <a:solidFill>
                  <a:srgbClr val="1F2D3A"/>
                </a:solidFill>
              </a:rPr>
              <a:t> map: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symbol hiding · name obfuscation · arithmetic transform · string encoding · opaque boolean · bogus operation · dead branch · flattening · random exit · stripping logging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085592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None of them is strong alone; strength comes from </a:t>
            </a:r>
            <a:r>
              <a:rPr sz="2000" b="1">
                <a:solidFill>
                  <a:srgbClr val="1F2D3A"/>
                </a:solidFill>
              </a:rPr>
              <a:t>togetherness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Animation · Five Families, One Function</a:t>
            </a:r>
          </a:p>
        </p:txBody>
      </p:sp>
      <p:pic>
        <p:nvPicPr>
          <p:cNvPr id="7" name="Picture 6" descr="five-obfuscation-families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447053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Animation · Five Families — Edge Case (all valid)</a:t>
            </a:r>
          </a:p>
        </p:txBody>
      </p:sp>
      <p:pic>
        <p:nvPicPr>
          <p:cNvPr id="7" name="Picture 6" descr="five-obfuscation-families--edge-all-valid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447053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Obfuscation GIVES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</a:t>
            </a:r>
            <a:r>
              <a:rPr sz="2000" b="1">
                <a:solidFill>
                  <a:srgbClr val="1F2D3A"/>
                </a:solidFill>
              </a:rPr>
              <a:t>delay</a:t>
            </a:r>
            <a:r>
              <a:rPr sz="2000" b="0">
                <a:solidFill>
                  <a:srgbClr val="1F2D3A"/>
                </a:solidFill>
              </a:rPr>
              <a:t> against static analysis (</a:t>
            </a:r>
            <a:r>
              <a:rPr sz="2000" b="0">
                <a:solidFill>
                  <a:srgbClr val="A1123F"/>
                </a:solidFill>
                <a:latin typeface="Consolas"/>
              </a:rPr>
              <a:t>strings</a:t>
            </a:r>
            <a:r>
              <a:rPr sz="2000" b="0">
                <a:solidFill>
                  <a:srgbClr val="1F2D3A"/>
                </a:solidFill>
              </a:rPr>
              <a:t>, symbols, decompilation)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Resistance</a:t>
            </a:r>
            <a:r>
              <a:rPr sz="2000" b="0">
                <a:solidFill>
                  <a:srgbClr val="1F2D3A"/>
                </a:solidFill>
              </a:rPr>
              <a:t> against automated attack (via diversification)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Time</a:t>
            </a:r>
            <a:r>
              <a:rPr sz="2000" b="0">
                <a:solidFill>
                  <a:srgbClr val="1F2D3A"/>
                </a:solidFill>
              </a:rPr>
              <a:t> for the other layers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</a:t>
            </a:r>
            <a:r>
              <a:rPr sz="2000" b="1">
                <a:solidFill>
                  <a:srgbClr val="1F2D3A"/>
                </a:solidFill>
              </a:rPr>
              <a:t>measurable</a:t>
            </a:r>
            <a:r>
              <a:rPr sz="2000" b="0">
                <a:solidFill>
                  <a:srgbClr val="1F2D3A"/>
                </a:solidFill>
              </a:rPr>
              <a:t> increase in cost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Obfuscation DOES NOT Give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</a:t>
            </a:r>
            <a:r>
              <a:rPr sz="2000" b="1">
                <a:solidFill>
                  <a:srgbClr val="1F2D3A"/>
                </a:solidFill>
              </a:rPr>
              <a:t>secrecy</a:t>
            </a:r>
            <a:r>
              <a:rPr sz="2000" b="0">
                <a:solidFill>
                  <a:srgbClr val="1F2D3A"/>
                </a:solidFill>
              </a:rPr>
              <a:t> of a secret → that is cryptography's job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Protection</a:t>
            </a:r>
            <a:r>
              <a:rPr sz="2000" b="0">
                <a:solidFill>
                  <a:srgbClr val="1F2D3A"/>
                </a:solidFill>
              </a:rPr>
              <a:t> against reading memory → RASP, whitebox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Permanent</a:t>
            </a:r>
            <a:r>
              <a:rPr sz="2000" b="0">
                <a:solidFill>
                  <a:srgbClr val="1F2D3A"/>
                </a:solidFill>
              </a:rPr>
              <a:t> security → there is no such thing as "unbreakable"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Free</a:t>
            </a:r>
            <a:r>
              <a:rPr sz="2000" b="0">
                <a:solidFill>
                  <a:srgbClr val="1F2D3A"/>
                </a:solidFill>
              </a:rPr>
              <a:t> protection → every obfuscation comes with a cost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Obfuscation Gives and Does Not Give — Diagram</a:t>
            </a:r>
          </a:p>
        </p:txBody>
      </p:sp>
      <p:pic>
        <p:nvPicPr>
          <p:cNvPr id="7" name="Picture 6" descr="h09-14-ne-verir-ne-vermez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019544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⚠️ The Most Common Mistake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Mistaking obfuscation for </a:t>
            </a:r>
            <a:r>
              <a:rPr sz="2000" b="1">
                <a:solidFill>
                  <a:srgbClr val="1F2D3A"/>
                </a:solidFill>
              </a:rPr>
              <a:t>storing a key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 embedded/hidden key is still </a:t>
            </a:r>
            <a:r>
              <a:rPr sz="2000" b="1">
                <a:solidFill>
                  <a:srgbClr val="1F2D3A"/>
                </a:solidFill>
              </a:rPr>
              <a:t>there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program has to use it while it runs → it is exposed in memory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decoding logic is inside too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446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Secrecy is cryptography's job, not obfuscation's.</a:t>
            </a:r>
            <a:r>
              <a:rPr sz="2000" b="0">
                <a:solidFill>
                  <a:srgbClr val="1F2D3A"/>
                </a:solidFill>
              </a:rPr>
              <a:t> (week 3)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"Protection Rule" Template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RULE K-xx: &lt;technique&gt;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What does it protect? : which asset / code section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Against which threat? : static / dynamic / automated / tampering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How?                   : one sentence (concept)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Cost                   : size, speed, maintenance, debugging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Limit                  : what it does not protect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Measurement            : how effectiveness is verified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Why Is the "Measurement" Line Required?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Obfuscation is not "present/absent."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evaluator (week 13) asks </a:t>
            </a:r>
            <a:r>
              <a:rPr sz="2000" b="1">
                <a:solidFill>
                  <a:srgbClr val="1F2D3A"/>
                </a:solidFill>
              </a:rPr>
              <a:t>how much each layer delays</a:t>
            </a:r>
            <a:r>
              <a:rPr sz="2000" b="0">
                <a:solidFill>
                  <a:srgbClr val="1F2D3A"/>
                </a:solidFill>
              </a:rPr>
              <a:t> the attack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Protection without measurement = a </a:t>
            </a:r>
            <a:r>
              <a:rPr sz="2000" b="1">
                <a:solidFill>
                  <a:srgbClr val="1F2D3A"/>
                </a:solidFill>
              </a:rPr>
              <a:t>claim</a:t>
            </a:r>
            <a:r>
              <a:rPr sz="2000" b="0">
                <a:solidFill>
                  <a:srgbClr val="1F2D3A"/>
                </a:solidFill>
              </a:rPr>
              <a:t>, not evidence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828544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In the project you will write S9 using this template.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Four Metrics — Diagram</a:t>
            </a:r>
          </a:p>
        </p:txBody>
      </p:sp>
      <p:pic>
        <p:nvPicPr>
          <p:cNvPr id="7" name="Picture 6" descr="h09-08-dort-olc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519" y="1325880"/>
            <a:ext cx="9970656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Animation · Protection Rule Template</a:t>
            </a:r>
          </a:p>
        </p:txBody>
      </p:sp>
      <p:pic>
        <p:nvPicPr>
          <p:cNvPr id="7" name="Picture 6" descr="protection-rule-template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6757" y="1325880"/>
            <a:ext cx="8298180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Animation · Protection Rule Template — Edge Case (conceptual asset only)</a:t>
            </a:r>
          </a:p>
        </p:txBody>
      </p:sp>
      <p:pic>
        <p:nvPicPr>
          <p:cNvPr id="7" name="Picture 6" descr="protection-rule-template--edge-asset-b-only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6757" y="1325880"/>
            <a:ext cx="8298180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2 — Quick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How does the MATE attacker differ from a black box?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What were obfuscation's three rules?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Does obfuscation protect a key? Why?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Section 2 —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1. </a:t>
            </a:r>
            <a:r>
              <a:rPr sz="1800" b="1">
                <a:solidFill>
                  <a:srgbClr val="1F2D3A"/>
                </a:solidFill>
              </a:rPr>
              <a:t>MATE</a:t>
            </a:r>
            <a:r>
              <a:rPr sz="1800" b="0">
                <a:solidFill>
                  <a:srgbClr val="1F2D3A"/>
                </a:solidFill>
              </a:rPr>
              <a:t> possesses the program (the code/memory is theirs, unlimited attempts); a black box only sees input/output.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2. </a:t>
            </a:r>
            <a:r>
              <a:rPr sz="1800" b="0">
                <a:solidFill>
                  <a:srgbClr val="1F2D3A"/>
                </a:solidFill>
              </a:rPr>
              <a:t>Push the cost above the value · break automation (diversify) · buy time for the other layers.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3. </a:t>
            </a:r>
            <a:r>
              <a:rPr sz="1800" b="1">
                <a:solidFill>
                  <a:srgbClr val="1F2D3A"/>
                </a:solidFill>
              </a:rPr>
              <a:t>No.</a:t>
            </a:r>
            <a:r>
              <a:rPr sz="1800" b="0">
                <a:solidFill>
                  <a:srgbClr val="1F2D3A"/>
                </a:solidFill>
              </a:rPr>
              <a:t> The key is exposed in memory while running and the decoding logic is inside; secrecy is cryptography's job.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3. Control-Flow Rules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Purpose of This 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We treat the CFG (already defined in the background section) as this section's skeleton; the attacker's first job is to extract that skeleton.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In week 4 we </a:t>
            </a:r>
            <a:r>
              <a:rPr sz="2000" b="1">
                <a:solidFill>
                  <a:srgbClr val="1F2D3A"/>
                </a:solidFill>
              </a:rPr>
              <a:t>introduced</a:t>
            </a:r>
            <a:r>
              <a:rPr sz="2000" b="0">
                <a:solidFill>
                  <a:srgbClr val="1F2D3A"/>
                </a:solidFill>
              </a:rPr>
              <a:t> flattening.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553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In this section we add the rules that </a:t>
            </a:r>
            <a:r>
              <a:rPr sz="2000" b="1">
                <a:solidFill>
                  <a:srgbClr val="1F2D3A"/>
                </a:solidFill>
              </a:rPr>
              <a:t>strengthen</a:t>
            </a:r>
            <a:r>
              <a:rPr sz="2000" b="0">
                <a:solidFill>
                  <a:srgbClr val="1F2D3A"/>
                </a:solidFill>
              </a:rPr>
              <a:t> it: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0504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K-01 opaque predicate · K-02 arithmetic encoding · K-03 bogus/dead · K-04 flattening (in depth) · K-05 random exit · K-06 call hiding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8490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All examples are </a:t>
            </a:r>
            <a:r>
              <a:rPr sz="2000" b="1">
                <a:solidFill>
                  <a:srgbClr val="1F2D3A"/>
                </a:solidFill>
              </a:rPr>
              <a:t>synthetic</a:t>
            </a:r>
            <a:r>
              <a:rPr sz="2000" b="0">
                <a:solidFill>
                  <a:srgbClr val="1F2D3A"/>
                </a:solidFill>
              </a:rPr>
              <a:t>, built around a single check: </a:t>
            </a:r>
            <a:r>
              <a:rPr sz="2000" b="0">
                <a:solidFill>
                  <a:srgbClr val="A1123F"/>
                </a:solidFill>
                <a:latin typeface="Consolas"/>
              </a:rPr>
              <a:t>grant_access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K-01 · Opaque Predicates and Loops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Opaque Predicate — Diagram</a:t>
            </a:r>
          </a:p>
        </p:txBody>
      </p:sp>
      <p:pic>
        <p:nvPicPr>
          <p:cNvPr id="7" name="Picture 6" descr="h09-02-opak-yuk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6147" y="1325880"/>
            <a:ext cx="9019400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K-01 · What Does It Protect?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Which condition</a:t>
            </a:r>
            <a:r>
              <a:rPr sz="2000" b="0">
                <a:solidFill>
                  <a:srgbClr val="1F2D3A"/>
                </a:solidFill>
              </a:rPr>
              <a:t> a branch is taken under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How many times</a:t>
            </a:r>
            <a:r>
              <a:rPr sz="2000" b="0">
                <a:solidFill>
                  <a:srgbClr val="1F2D3A"/>
                </a:solidFill>
              </a:rPr>
              <a:t> a loop runs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Idea:</a:t>
            </a:r>
            <a:r>
              <a:rPr sz="2000" b="0">
                <a:solidFill>
                  <a:srgbClr val="1F2D3A"/>
                </a:solidFill>
              </a:rPr>
              <a:t> branch on an expression whose value the programmer knows but the tool cannot easily resolve.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K-01 · Opaque Predicate Example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/* x*(x+1) is always even → result is always true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static int opaque_true(unsigned x)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((x * (x + 1)) &amp; 1u) ==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583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programmer knows: it is </a:t>
            </a:r>
            <a:r>
              <a:rPr sz="2000" b="1">
                <a:solidFill>
                  <a:srgbClr val="1F2D3A"/>
                </a:solidFill>
              </a:rPr>
              <a:t>always true</a:t>
            </a:r>
            <a:r>
              <a:rPr sz="2000" b="0">
                <a:solidFill>
                  <a:srgbClr val="1F2D3A"/>
                </a:solidFill>
              </a:rPr>
              <a:t>. Static analysis cannot easily prove this.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K-01 · How Is It Used?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(opaque_true(counter))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state = real_step(state);   /* always entered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 else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state = fake_step(state);    /* dead path: never runs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7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analyst thinks both paths are "real"; they spend their time on the fake path.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K-01 · Opaque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guide makes loops a separate rule: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for/while are </a:t>
            </a:r>
            <a:r>
              <a:rPr sz="2000" b="1">
                <a:solidFill>
                  <a:srgbClr val="1F2D3A"/>
                </a:solidFill>
              </a:rPr>
              <a:t>never shown directly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Hidden </a:t>
            </a:r>
            <a:r>
              <a:rPr sz="2000" b="1">
                <a:solidFill>
                  <a:srgbClr val="1F2D3A"/>
                </a:solidFill>
              </a:rPr>
              <a:t>inside</a:t>
            </a:r>
            <a:r>
              <a:rPr sz="2000" b="0">
                <a:solidFill>
                  <a:srgbClr val="1F2D3A"/>
                </a:solidFill>
              </a:rPr>
              <a:t> flattening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body is split into small blocks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Iteration is driven by a </a:t>
            </a:r>
            <a:r>
              <a:rPr sz="2000" b="1">
                <a:solidFill>
                  <a:srgbClr val="1F2D3A"/>
                </a:solidFill>
              </a:rPr>
              <a:t>state variable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580384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The information "this loop runs N times" cannot be read off the CFG.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K-01 · Cost and Limit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Cost:</a:t>
            </a:r>
            <a:r>
              <a:rPr sz="1800" b="0">
                <a:solidFill>
                  <a:srgbClr val="1F2D3A"/>
                </a:solidFill>
              </a:rPr>
              <a:t> low–medium (extra arithmetic/branch)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Limit:</a:t>
            </a:r>
            <a:r>
              <a:rPr sz="1800" b="0">
                <a:solidFill>
                  <a:srgbClr val="1F2D3A"/>
                </a:solidFill>
              </a:rPr>
              <a:t> well-known opaque predicate patterns are recognised automatically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Countermeasure:</a:t>
            </a:r>
            <a:r>
              <a:rPr sz="1800" b="0">
                <a:solidFill>
                  <a:srgbClr val="1F2D3A"/>
                </a:solidFill>
              </a:rPr>
              <a:t> diversify (section 5)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Measurement:</a:t>
            </a:r>
            <a:r>
              <a:rPr sz="1800" b="0">
                <a:solidFill>
                  <a:srgbClr val="1F2D3A"/>
                </a:solidFill>
              </a:rPr>
              <a:t> basic block count before/after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Animation · Opaque Predicate Insertion</a:t>
            </a:r>
          </a:p>
        </p:txBody>
      </p:sp>
      <p:pic>
        <p:nvPicPr>
          <p:cNvPr id="7" name="Picture 6" descr="opaque-predicate-insertion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761397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Animation · Opaque Predicate — Edge Case (large values)</a:t>
            </a:r>
          </a:p>
        </p:txBody>
      </p:sp>
      <p:pic>
        <p:nvPicPr>
          <p:cNvPr id="7" name="Picture 6" descr="opaque-predicate-insertion--edge-extremes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761397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64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K-02 · Arithmetic Encoding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K-02 · What Does It Protect?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Constants and simple computations.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It hides </a:t>
            </a:r>
            <a:r>
              <a:rPr sz="2000" b="1">
                <a:solidFill>
                  <a:srgbClr val="1F2D3A"/>
                </a:solidFill>
              </a:rPr>
              <a:t>directly readable</a:t>
            </a:r>
            <a:r>
              <a:rPr sz="2000" b="0">
                <a:solidFill>
                  <a:srgbClr val="1F2D3A"/>
                </a:solidFill>
              </a:rPr>
              <a:t> hints like "this number is 0x1F, this operation is an XOR."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K-02 · Equivalent Expressions (MBA)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Replace an operation with an equivalent one that produces the same result but looks complex: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05736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a + b   ≡   (a ^ b) + 2*(a &amp; b)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x * 2   ≡   x &lt;&lt;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677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Same result, complex appearance. (MBA = mixed boolean-arithmetic)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K-02 · Hide the Constant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/* 0x2A is not written directly; produced from two parts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static uint8_t threshold(void)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uint8_t a = 0x37, b = 0x1D;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(uint8_t)(a ^ b);   /* = 0x2A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7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Searching the binary for </a:t>
            </a:r>
            <a:r>
              <a:rPr sz="2000" b="0">
                <a:solidFill>
                  <a:srgbClr val="A1123F"/>
                </a:solidFill>
                <a:latin typeface="Consolas"/>
              </a:rPr>
              <a:t>0x2A</a:t>
            </a:r>
            <a:r>
              <a:rPr sz="2000" b="0">
                <a:solidFill>
                  <a:srgbClr val="1F2D3A"/>
                </a:solidFill>
              </a:rPr>
              <a:t> returns nothing.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K-02 · Cost and Limit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Cost:</a:t>
            </a:r>
            <a:r>
              <a:rPr sz="1800" b="0">
                <a:solidFill>
                  <a:srgbClr val="1F2D3A"/>
                </a:solidFill>
              </a:rPr>
              <a:t> low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Limit:</a:t>
            </a:r>
            <a:r>
              <a:rPr sz="1800" b="0">
                <a:solidFill>
                  <a:srgbClr val="1F2D3A"/>
                </a:solidFill>
              </a:rPr>
              <a:t> MBA simplifiers (arybo/msynth) can undo many expressions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Rule:</a:t>
            </a:r>
            <a:r>
              <a:rPr sz="1800" b="0">
                <a:solidFill>
                  <a:srgbClr val="1F2D3A"/>
                </a:solidFill>
              </a:rPr>
              <a:t> weak on its own → </a:t>
            </a:r>
            <a:r>
              <a:rPr sz="1800" b="1">
                <a:solidFill>
                  <a:srgbClr val="1F2D3A"/>
                </a:solidFill>
              </a:rPr>
              <a:t>combine</a:t>
            </a:r>
            <a:r>
              <a:rPr sz="1800" b="0">
                <a:solidFill>
                  <a:srgbClr val="1F2D3A"/>
                </a:solidFill>
              </a:rPr>
              <a:t> it with control flow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Measurement:</a:t>
            </a:r>
            <a:r>
              <a:rPr sz="1800" b="0">
                <a:solidFill>
                  <a:srgbClr val="1F2D3A"/>
                </a:solidFill>
              </a:rPr>
              <a:t> a byte/</a:t>
            </a:r>
            <a:r>
              <a:rPr sz="1800" b="0">
                <a:solidFill>
                  <a:srgbClr val="A1123F"/>
                </a:solidFill>
                <a:latin typeface="Consolas"/>
              </a:rPr>
              <a:t>strings</a:t>
            </a:r>
            <a:r>
              <a:rPr sz="1800" b="0">
                <a:solidFill>
                  <a:srgbClr val="1F2D3A"/>
                </a:solidFill>
              </a:rPr>
              <a:t> search for the constant should return nothing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69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K-03 · Bogus Operations and Dead Branches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Bogus Operation ≠ Dead Branch — Diagram</a:t>
            </a:r>
          </a:p>
        </p:txBody>
      </p:sp>
      <p:pic>
        <p:nvPicPr>
          <p:cNvPr id="7" name="Picture 6" descr="h09-05-sahte-ol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168233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K-03 · The Two Are Different!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guide makes these </a:t>
            </a:r>
            <a:r>
              <a:rPr sz="2000" b="1">
                <a:solidFill>
                  <a:srgbClr val="1F2D3A"/>
                </a:solidFill>
              </a:rPr>
              <a:t>separate</a:t>
            </a:r>
            <a:r>
              <a:rPr sz="2000" b="0">
                <a:solidFill>
                  <a:srgbClr val="1F2D3A"/>
                </a:solidFill>
              </a:rPr>
              <a:t> rules. The difference is critical: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Bogus operation:</a:t>
            </a:r>
            <a:r>
              <a:rPr sz="2000" b="0">
                <a:solidFill>
                  <a:srgbClr val="1F2D3A"/>
                </a:solidFill>
              </a:rPr>
              <a:t> runs, does not change the result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Dead branch:</a:t>
            </a:r>
            <a:r>
              <a:rPr sz="2000" b="0">
                <a:solidFill>
                  <a:srgbClr val="1F2D3A"/>
                </a:solidFill>
              </a:rPr>
              <a:t> never runs (protected by an opaque predicate)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K-03 · Comparison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431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4065"/>
                <a:gridCol w="5299888"/>
                <a:gridCol w="3117581"/>
              </a:tblGrid>
              <a:tr h="357987"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Bogus operation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Dead branch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798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Does it run?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Yes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798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Result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Unchanged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(does not run)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798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Purpose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Hide the real thing in a crowd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Show a fake path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K-03 · Bogus Operation Example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crc = crc32_update(crc, data, n);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crc ^= (constant ^ constant);   /* = crc; result unchanged */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constant ^ constant == 0</a:t>
            </a:r>
            <a:r>
              <a:rPr sz="2000" b="0">
                <a:solidFill>
                  <a:srgbClr val="1F2D3A"/>
                </a:solidFill>
              </a:rPr>
              <a:t> → the CRC does not change, but the code gets more crowded.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K-03 · Dead Branch Example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8412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(opaque_false()) {        /* always false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fake_check();        /* never runs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685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analyst treats this block as "real" and examines it; they waste time.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K-03 · Cost and Limit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7602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Cost:</a:t>
            </a:r>
            <a:r>
              <a:rPr sz="1800" b="0">
                <a:solidFill>
                  <a:srgbClr val="1F2D3A"/>
                </a:solidFill>
              </a:rPr>
              <a:t> low (bogus operation) → medium (dead branches grow the CFG)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Limit:</a:t>
            </a:r>
            <a:r>
              <a:rPr sz="1800" b="0">
                <a:solidFill>
                  <a:srgbClr val="1F2D3A"/>
                </a:solidFill>
              </a:rPr>
              <a:t> dead code elimination drops the branch once the opaque predicate protecting it is solved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Dependency:</a:t>
            </a:r>
            <a:r>
              <a:rPr sz="1800" b="0">
                <a:solidFill>
                  <a:srgbClr val="1F2D3A"/>
                </a:solidFill>
              </a:rPr>
              <a:t> depends on the opaque predicate's </a:t>
            </a:r>
            <a:r>
              <a:rPr sz="1800" b="1">
                <a:solidFill>
                  <a:srgbClr val="1F2D3A"/>
                </a:solidFill>
              </a:rPr>
              <a:t>quality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Measurement:</a:t>
            </a:r>
            <a:r>
              <a:rPr sz="1800" b="0">
                <a:solidFill>
                  <a:srgbClr val="1F2D3A"/>
                </a:solidFill>
              </a:rPr>
              <a:t> time needed to tell dead branches apart from real ones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K-04 · Control-Flow Flattening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K-04 · What Does It Protect?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algorithm's </a:t>
            </a:r>
            <a:r>
              <a:rPr sz="2000" b="1">
                <a:solidFill>
                  <a:srgbClr val="1F2D3A"/>
                </a:solidFill>
              </a:rPr>
              <a:t>structure</a:t>
            </a:r>
            <a:r>
              <a:rPr sz="2000" b="0">
                <a:solidFill>
                  <a:srgbClr val="1F2D3A"/>
                </a:solidFill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natural adjacency of blocks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information "which block leads to which"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K-04 · Idea: Vertical → Horizontal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Normal:</a:t>
            </a:r>
            <a:r>
              <a:rPr sz="2000" b="0">
                <a:solidFill>
                  <a:srgbClr val="1F2D3A"/>
                </a:solidFill>
              </a:rPr>
              <a:t> blocks follow one another (vertical flow)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Flattened:</a:t>
            </a:r>
            <a:r>
              <a:rPr sz="2000" b="0">
                <a:solidFill>
                  <a:srgbClr val="1F2D3A"/>
                </a:solidFill>
              </a:rPr>
              <a:t> all blocks sit in a single </a:t>
            </a:r>
            <a:r>
              <a:rPr sz="2000" b="0">
                <a:solidFill>
                  <a:srgbClr val="A1123F"/>
                </a:solidFill>
                <a:latin typeface="Consolas"/>
              </a:rPr>
              <a:t>switch</a:t>
            </a:r>
            <a:r>
              <a:rPr sz="2000" b="0">
                <a:solidFill>
                  <a:srgbClr val="1F2D3A"/>
                </a:solidFill>
              </a:rPr>
              <a:t> dispatcher (horizontal)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order can only be read from a </a:t>
            </a:r>
            <a:r>
              <a:rPr sz="2000" b="1">
                <a:solidFill>
                  <a:srgbClr val="1F2D3A"/>
                </a:solidFill>
              </a:rPr>
              <a:t>state variable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K-04 · Template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97510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state = START;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for (;;) switch (state)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case START: state = STEP1; break;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case STEP1: state = condition ? STEP2 : FAIL; break;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case STEP2: state = DONE; break;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case FAIL:  return DENIED;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case DONE: return GRANTED;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default:    return DENIED;   /* random exit (K-05)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K-04 · Weak on Its 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We said back in week 4: an experienced analyst can solve this template fairly quickly.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Strength comes from reinforcements.</a:t>
            </a:r>
            <a:r>
              <a:rPr sz="2000" b="0">
                <a:solidFill>
                  <a:srgbClr val="1F2D3A"/>
                </a:solidFill>
              </a:rPr>
              <a:t> In order: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K-04 · Reinforcement 1 — State Values (K-02)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Scattered, arithmetically produced values instead of </a:t>
            </a:r>
            <a:r>
              <a:rPr sz="2000" b="0">
                <a:solidFill>
                  <a:srgbClr val="A1123F"/>
                </a:solidFill>
                <a:latin typeface="Consolas"/>
              </a:rPr>
              <a:t>case 1, 2, 3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sequence is </a:t>
            </a:r>
            <a:r>
              <a:rPr sz="2000" b="1">
                <a:solidFill>
                  <a:srgbClr val="1F2D3A"/>
                </a:solidFill>
              </a:rPr>
              <a:t>invisible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Which step follows which cannot be read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K-04 · Reinforcement 2 — Bogus/Dead (K-03)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Bogus </a:t>
            </a:r>
            <a:r>
              <a:rPr sz="2000" b="0">
                <a:solidFill>
                  <a:srgbClr val="A1123F"/>
                </a:solidFill>
                <a:latin typeface="Consolas"/>
              </a:rPr>
              <a:t>case</a:t>
            </a:r>
            <a:r>
              <a:rPr sz="2000" b="0">
                <a:solidFill>
                  <a:srgbClr val="1F2D3A"/>
                </a:solidFill>
              </a:rPr>
              <a:t>s are added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Telling which </a:t>
            </a:r>
            <a:r>
              <a:rPr sz="2000" b="0">
                <a:solidFill>
                  <a:srgbClr val="A1123F"/>
                </a:solidFill>
                <a:latin typeface="Consolas"/>
              </a:rPr>
              <a:t>case</a:t>
            </a:r>
            <a:r>
              <a:rPr sz="2000" b="0">
                <a:solidFill>
                  <a:srgbClr val="1F2D3A"/>
                </a:solidFill>
              </a:rPr>
              <a:t> is </a:t>
            </a:r>
            <a:r>
              <a:rPr sz="2000" b="1">
                <a:solidFill>
                  <a:srgbClr val="1F2D3A"/>
                </a:solidFill>
              </a:rPr>
              <a:t>real</a:t>
            </a:r>
            <a:r>
              <a:rPr sz="2000" b="0">
                <a:solidFill>
                  <a:srgbClr val="1F2D3A"/>
                </a:solidFill>
              </a:rPr>
              <a:t> becomes harder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K-04 · Reinforcement 3 — Random Exit (K-05)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Errors exit through the </a:t>
            </a:r>
            <a:r>
              <a:rPr sz="2000" b="0">
                <a:solidFill>
                  <a:srgbClr val="A1123F"/>
                </a:solidFill>
                <a:latin typeface="Consolas"/>
              </a:rPr>
              <a:t>default</a:t>
            </a:r>
            <a:r>
              <a:rPr sz="2000" b="0">
                <a:solidFill>
                  <a:srgbClr val="1F2D3A"/>
                </a:solidFill>
              </a:rPr>
              <a:t> branch with an </a:t>
            </a:r>
            <a:r>
              <a:rPr sz="2000" b="1">
                <a:solidFill>
                  <a:srgbClr val="1F2D3A"/>
                </a:solidFill>
              </a:rPr>
              <a:t>unpredictable</a:t>
            </a:r>
            <a:r>
              <a:rPr sz="2000" b="0">
                <a:solidFill>
                  <a:srgbClr val="1F2D3A"/>
                </a:solidFill>
              </a:rPr>
              <a:t> state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Where</a:t>
            </a:r>
            <a:r>
              <a:rPr sz="2000" b="0">
                <a:solidFill>
                  <a:srgbClr val="1F2D3A"/>
                </a:solidFill>
              </a:rPr>
              <a:t> the failure happened cannot be read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K-04 · Reinforcement 4 — Opaque Transitions (K-01)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case</a:t>
            </a:r>
            <a:r>
              <a:rPr sz="2000" b="0">
                <a:solidFill>
                  <a:srgbClr val="1F2D3A"/>
                </a:solidFill>
              </a:rPr>
              <a:t> transitions depend on </a:t>
            </a:r>
            <a:r>
              <a:rPr sz="2000" b="1">
                <a:solidFill>
                  <a:srgbClr val="1F2D3A"/>
                </a:solidFill>
              </a:rPr>
              <a:t>opaque conditions</a:t>
            </a:r>
            <a:r>
              <a:rPr sz="2000" b="0">
                <a:solidFill>
                  <a:srgbClr val="1F2D3A"/>
                </a:solidFill>
              </a:rPr>
              <a:t>, not fixed values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Static tracing becomes even harder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K-04 · Cost and Limit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Cost:</a:t>
            </a:r>
            <a:r>
              <a:rPr sz="1800" b="0">
                <a:solidFill>
                  <a:srgbClr val="1F2D3A"/>
                </a:solidFill>
              </a:rPr>
              <a:t> medium–high (block/branch count grows a lot, performance drops)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Limit:</a:t>
            </a:r>
            <a:r>
              <a:rPr sz="1800" b="0">
                <a:solidFill>
                  <a:srgbClr val="1F2D3A"/>
                </a:solidFill>
              </a:rPr>
              <a:t> flattening alone → can be undone with symbolic execution (section 5)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Strength:</a:t>
            </a:r>
            <a:r>
              <a:rPr sz="1800" b="0">
                <a:solidFill>
                  <a:srgbClr val="1F2D3A"/>
                </a:solidFill>
              </a:rPr>
              <a:t> comes from the reinforcements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Measurement:</a:t>
            </a:r>
            <a:r>
              <a:rPr sz="1800" b="0">
                <a:solidFill>
                  <a:srgbClr val="1F2D3A"/>
                </a:solidFill>
              </a:rPr>
              <a:t> CFG node/edge count, tracing time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Animation · Control-Flow Flattening</a:t>
            </a:r>
          </a:p>
        </p:txBody>
      </p:sp>
      <p:pic>
        <p:nvPicPr>
          <p:cNvPr id="7" name="Picture 6" descr="flow-flattening-dispatcher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265418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Animation · Flattening — Edge Case (shortest path)</a:t>
            </a:r>
          </a:p>
        </p:txBody>
      </p:sp>
      <p:pic>
        <p:nvPicPr>
          <p:cNvPr id="7" name="Picture 6" descr="flow-flattening-dispatcher--flat-all-wrong-length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703084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88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K-05 · Random Exit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K-05 · What Does It Protect?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Where</a:t>
            </a:r>
            <a:r>
              <a:rPr sz="2000" b="0">
                <a:solidFill>
                  <a:srgbClr val="1F2D3A"/>
                </a:solidFill>
              </a:rPr>
              <a:t> a check fails.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attacker typically: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Finds the "failure branch"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Turns it into the "success branch"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K-05 · How?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(!signature_valid(p))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state = unpredictable_value();  /* not defined in the switch → default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break;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583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There is no direct </a:t>
            </a:r>
            <a:r>
              <a:rPr sz="2000" b="0">
                <a:solidFill>
                  <a:srgbClr val="A1123F"/>
                </a:solidFill>
                <a:latin typeface="Consolas"/>
              </a:rPr>
              <a:t>return DENIED</a:t>
            </a:r>
            <a:r>
              <a:rPr sz="2000" b="0">
                <a:solidFill>
                  <a:srgbClr val="1F2D3A"/>
                </a:solidFill>
              </a:rPr>
              <a:t>; the state goes to an unpredictable value.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K-05 · Success Should Exit the Same Way Too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successful exit uses the same method too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 success and failure </a:t>
            </a:r>
            <a:r>
              <a:rPr sz="2000" b="1">
                <a:solidFill>
                  <a:srgbClr val="1F2D3A"/>
                </a:solidFill>
              </a:rPr>
              <a:t>look alike</a:t>
            </a:r>
            <a:r>
              <a:rPr sz="2000" b="0">
                <a:solidFill>
                  <a:srgbClr val="1F2D3A"/>
                </a:solidFill>
              </a:rPr>
              <a:t> in the flow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analyst cannot say "this is the accept branch"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K-05 · Cost and Limit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Cost:</a:t>
            </a:r>
            <a:r>
              <a:rPr sz="1800" b="0">
                <a:solidFill>
                  <a:srgbClr val="1F2D3A"/>
                </a:solidFill>
              </a:rPr>
              <a:t> low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Limit:</a:t>
            </a:r>
            <a:r>
              <a:rPr sz="1800" b="0">
                <a:solidFill>
                  <a:srgbClr val="1F2D3A"/>
                </a:solidFill>
              </a:rPr>
              <a:t> not meaningful on its own, only together with flattening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Goal:</a:t>
            </a:r>
            <a:r>
              <a:rPr sz="1800" b="0">
                <a:solidFill>
                  <a:srgbClr val="1F2D3A"/>
                </a:solidFill>
              </a:rPr>
              <a:t> a single-byte patch should </a:t>
            </a:r>
            <a:r>
              <a:rPr sz="1800" b="1">
                <a:solidFill>
                  <a:srgbClr val="1F2D3A"/>
                </a:solidFill>
              </a:rPr>
              <a:t>not be enough</a:t>
            </a:r>
            <a:r>
              <a:rPr sz="1800" b="0">
                <a:solidFill>
                  <a:srgbClr val="1F2D3A"/>
                </a:solidFill>
              </a:rPr>
              <a:t> to bypass the check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Measurement:</a:t>
            </a:r>
            <a:r>
              <a:rPr sz="1800" b="0">
                <a:solidFill>
                  <a:srgbClr val="1F2D3A"/>
                </a:solidFill>
              </a:rPr>
              <a:t> time needed for a "find and flip the failure branch" attack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93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K-06 · Call and Dependency Hiding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K-06 · What Does It Protect?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Hints like: "this function calls </a:t>
            </a:r>
            <a:r>
              <a:rPr sz="2000" b="0">
                <a:solidFill>
                  <a:srgbClr val="A1123F"/>
                </a:solidFill>
                <a:latin typeface="Consolas"/>
              </a:rPr>
              <a:t>memcmp</a:t>
            </a:r>
            <a:r>
              <a:rPr sz="2000" b="0">
                <a:solidFill>
                  <a:srgbClr val="1F2D3A"/>
                </a:solidFill>
              </a:rPr>
              <a:t>, so it must be doing a comparison."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Standard library calls </a:t>
            </a:r>
            <a:r>
              <a:rPr sz="2000" b="1">
                <a:solidFill>
                  <a:srgbClr val="1F2D3A"/>
                </a:solidFill>
              </a:rPr>
              <a:t>tell</a:t>
            </a:r>
            <a:r>
              <a:rPr sz="2000" b="0">
                <a:solidFill>
                  <a:srgbClr val="1F2D3A"/>
                </a:solidFill>
              </a:rPr>
              <a:t> the attacker what you are doing.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K-06 · How?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Your </a:t>
            </a:r>
            <a:r>
              <a:rPr sz="2000" b="1">
                <a:solidFill>
                  <a:srgbClr val="1F2D3A"/>
                </a:solidFill>
              </a:rPr>
              <a:t>own</a:t>
            </a:r>
            <a:r>
              <a:rPr sz="2000" b="0">
                <a:solidFill>
                  <a:srgbClr val="1F2D3A"/>
                </a:solidFill>
              </a:rPr>
              <a:t> constant-time </a:t>
            </a:r>
            <a:r>
              <a:rPr sz="2000" b="0">
                <a:solidFill>
                  <a:srgbClr val="A1123F"/>
                </a:solidFill>
                <a:latin typeface="Consolas"/>
              </a:rPr>
              <a:t>esit_mi</a:t>
            </a:r>
            <a:r>
              <a:rPr sz="2000" b="0">
                <a:solidFill>
                  <a:srgbClr val="1F2D3A"/>
                </a:solidFill>
              </a:rPr>
              <a:t> instead of </a:t>
            </a:r>
            <a:r>
              <a:rPr sz="2000" b="0">
                <a:solidFill>
                  <a:srgbClr val="A1123F"/>
                </a:solidFill>
                <a:latin typeface="Consolas"/>
              </a:rPr>
              <a:t>memcmp</a:t>
            </a:r>
            <a:r>
              <a:rPr sz="2000" b="0">
                <a:solidFill>
                  <a:srgbClr val="1F2D3A"/>
                </a:solidFill>
              </a:rPr>
              <a:t> on the critical path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 recognisable name </a:t>
            </a:r>
            <a:r>
              <a:rPr sz="2000" b="1">
                <a:solidFill>
                  <a:srgbClr val="1F2D3A"/>
                </a:solidFill>
              </a:rPr>
              <a:t>appears</a:t>
            </a:r>
            <a:r>
              <a:rPr sz="2000" b="0">
                <a:solidFill>
                  <a:srgbClr val="1F2D3A"/>
                </a:solidFill>
              </a:rPr>
              <a:t> to the linker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Bogus parameters:</a:t>
            </a:r>
            <a:r>
              <a:rPr sz="2000" b="0">
                <a:solidFill>
                  <a:srgbClr val="1F2D3A"/>
                </a:solidFill>
              </a:rPr>
              <a:t> add parameters that are never used → the signature becomes misleading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K-06 · ⚠️ Do Not Break Constant-Timeness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When you write your own comparison, make sure it stays </a:t>
            </a:r>
            <a:r>
              <a:rPr sz="2000" b="1">
                <a:solidFill>
                  <a:srgbClr val="1F2D3A"/>
                </a:solidFill>
              </a:rPr>
              <a:t>constant-time</a:t>
            </a:r>
            <a:r>
              <a:rPr sz="2000" b="0">
                <a:solidFill>
                  <a:srgbClr val="1F2D3A"/>
                </a:solidFill>
              </a:rPr>
              <a:t> (week 3).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 early-exit comparison → opens a </a:t>
            </a:r>
            <a:r>
              <a:rPr sz="2000" b="1">
                <a:solidFill>
                  <a:srgbClr val="1F2D3A"/>
                </a:solidFill>
              </a:rPr>
              <a:t>side channel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Do not create a </a:t>
            </a:r>
            <a:r>
              <a:rPr sz="2000" b="1">
                <a:solidFill>
                  <a:srgbClr val="1F2D3A"/>
                </a:solidFill>
              </a:rPr>
              <a:t>new hole</a:t>
            </a:r>
            <a:r>
              <a:rPr sz="2000" b="0">
                <a:solidFill>
                  <a:srgbClr val="1F2D3A"/>
                </a:solidFill>
              </a:rPr>
              <a:t> while adding a protection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K-06 · Cost and Limit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201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Cost:</a:t>
            </a:r>
            <a:r>
              <a:rPr sz="1800" b="0">
                <a:solidFill>
                  <a:srgbClr val="1F2D3A"/>
                </a:solidFill>
              </a:rPr>
              <a:t> low–medium (your own versions need maintenance)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Limit:</a:t>
            </a:r>
            <a:r>
              <a:rPr sz="1800" b="0">
                <a:solidFill>
                  <a:srgbClr val="1F2D3A"/>
                </a:solidFill>
              </a:rPr>
              <a:t> behavioural analysis can still reveal what it does → this is a </a:t>
            </a:r>
            <a:r>
              <a:rPr sz="1800" b="1">
                <a:solidFill>
                  <a:srgbClr val="1F2D3A"/>
                </a:solidFill>
              </a:rPr>
              <a:t>delay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Measurement:</a:t>
            </a:r>
            <a:r>
              <a:rPr sz="1800" b="0">
                <a:solidFill>
                  <a:srgbClr val="1F2D3A"/>
                </a:solidFill>
              </a:rPr>
              <a:t> count of recognisable library calls in the binary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3 —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K-01</a:t>
            </a:r>
            <a:r>
              <a:rPr sz="2000" b="0">
                <a:solidFill>
                  <a:srgbClr val="1F2D3A"/>
                </a:solidFill>
              </a:rPr>
              <a:t> opaque predicate/loop · </a:t>
            </a:r>
            <a:r>
              <a:rPr sz="2000" b="1">
                <a:solidFill>
                  <a:srgbClr val="1F2D3A"/>
                </a:solidFill>
              </a:rPr>
              <a:t>K-02</a:t>
            </a:r>
            <a:r>
              <a:rPr sz="2000" b="0">
                <a:solidFill>
                  <a:srgbClr val="1F2D3A"/>
                </a:solidFill>
              </a:rPr>
              <a:t> arithmetic encoding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K-03</a:t>
            </a:r>
            <a:r>
              <a:rPr sz="2000" b="0">
                <a:solidFill>
                  <a:srgbClr val="1F2D3A"/>
                </a:solidFill>
              </a:rPr>
              <a:t> bogus operation ≠ dead branch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K-04</a:t>
            </a:r>
            <a:r>
              <a:rPr sz="2000" b="0">
                <a:solidFill>
                  <a:srgbClr val="1F2D3A"/>
                </a:solidFill>
              </a:rPr>
              <a:t> flattening (with reinforcements)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K-05</a:t>
            </a:r>
            <a:r>
              <a:rPr sz="2000" b="0">
                <a:solidFill>
                  <a:srgbClr val="1F2D3A"/>
                </a:solidFill>
              </a:rPr>
              <a:t> random exit · </a:t>
            </a:r>
            <a:r>
              <a:rPr sz="2000" b="1">
                <a:solidFill>
                  <a:srgbClr val="1F2D3A"/>
                </a:solidFill>
              </a:rPr>
              <a:t>K-06</a:t>
            </a:r>
            <a:r>
              <a:rPr sz="2000" b="0">
                <a:solidFill>
                  <a:srgbClr val="1F2D3A"/>
                </a:solidFill>
              </a:rPr>
              <a:t> call hiding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030728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None is sufficient on its own; </a:t>
            </a:r>
            <a:r>
              <a:rPr sz="2000" b="1">
                <a:solidFill>
                  <a:srgbClr val="1F2D3A"/>
                </a:solidFill>
              </a:rPr>
              <a:t>together</a:t>
            </a:r>
            <a:r>
              <a:rPr sz="2000" b="0">
                <a:solidFill>
                  <a:srgbClr val="1F2D3A"/>
                </a:solidFill>
              </a:rPr>
              <a:t> and </a:t>
            </a:r>
            <a:r>
              <a:rPr sz="2000" b="1">
                <a:solidFill>
                  <a:srgbClr val="1F2D3A"/>
                </a:solidFill>
              </a:rPr>
              <a:t>measured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3 — Quick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What is the difference between a bogus operation and a dead branch?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What are the 4 rules that strengthen flattening?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Which attack does random exit make harder?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Section 3 —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1. </a:t>
            </a:r>
            <a:r>
              <a:rPr sz="1800" b="0">
                <a:solidFill>
                  <a:srgbClr val="1F2D3A"/>
                </a:solidFill>
              </a:rPr>
              <a:t>A </a:t>
            </a:r>
            <a:r>
              <a:rPr sz="1800" b="1">
                <a:solidFill>
                  <a:srgbClr val="1F2D3A"/>
                </a:solidFill>
              </a:rPr>
              <a:t>bogus operation</a:t>
            </a:r>
            <a:r>
              <a:rPr sz="1800" b="0">
                <a:solidFill>
                  <a:srgbClr val="1F2D3A"/>
                </a:solidFill>
              </a:rPr>
              <a:t> runs but does not change the result; a </a:t>
            </a:r>
            <a:r>
              <a:rPr sz="1800" b="1">
                <a:solidFill>
                  <a:srgbClr val="1F2D3A"/>
                </a:solidFill>
              </a:rPr>
              <a:t>dead branch</a:t>
            </a:r>
            <a:r>
              <a:rPr sz="1800" b="0">
                <a:solidFill>
                  <a:srgbClr val="1F2D3A"/>
                </a:solidFill>
              </a:rPr>
              <a:t>, protected by an opaque predicate, never runs at all.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2. </a:t>
            </a:r>
            <a:r>
              <a:rPr sz="1800" b="0">
                <a:solidFill>
                  <a:srgbClr val="1F2D3A"/>
                </a:solidFill>
              </a:rPr>
              <a:t>Hide the state values (K-02) · bogus/dead blocks (K-03) · random exit (K-05) · opaque predicate transitions (K-01).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3. </a:t>
            </a:r>
            <a:r>
              <a:rPr sz="1800" b="0">
                <a:solidFill>
                  <a:srgbClr val="1F2D3A"/>
                </a:solidFill>
              </a:rPr>
              <a:t>The "find the failure branch and flip it to success" attack; a </a:t>
            </a:r>
            <a:r>
              <a:rPr sz="1800" b="1">
                <a:solidFill>
                  <a:srgbClr val="1F2D3A"/>
                </a:solidFill>
              </a:rPr>
              <a:t>single-byte patch is no longer enough</a:t>
            </a:r>
            <a:r>
              <a:rPr sz="18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4. Data and Whole-Program Rules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Data Obfuscation Rules K-07–K-09 — Diagram</a:t>
            </a:r>
          </a:p>
        </p:txBody>
      </p:sp>
      <p:pic>
        <p:nvPicPr>
          <p:cNvPr id="7" name="Picture 6" descr="h09-15-veri-gizleme-kurallar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427767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Control Flow ≠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Control flow</a:t>
            </a:r>
            <a:r>
              <a:rPr sz="2000" b="0">
                <a:solidFill>
                  <a:srgbClr val="1F2D3A"/>
                </a:solidFill>
              </a:rPr>
              <a:t> (section 3): hides the algorithm's </a:t>
            </a:r>
            <a:r>
              <a:rPr sz="2000" b="1">
                <a:solidFill>
                  <a:srgbClr val="1F2D3A"/>
                </a:solidFill>
              </a:rPr>
              <a:t>structure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Data obfuscation</a:t>
            </a:r>
            <a:r>
              <a:rPr sz="2000" b="0">
                <a:solidFill>
                  <a:srgbClr val="1F2D3A"/>
                </a:solidFill>
              </a:rPr>
              <a:t> (this section): hides the </a:t>
            </a:r>
            <a:r>
              <a:rPr sz="2000" b="1">
                <a:solidFill>
                  <a:srgbClr val="1F2D3A"/>
                </a:solidFill>
              </a:rPr>
              <a:t>values</a:t>
            </a:r>
            <a:r>
              <a:rPr sz="2000" b="0">
                <a:solidFill>
                  <a:srgbClr val="1F2D3A"/>
                </a:solidFill>
              </a:rPr>
              <a:t> the program processes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Strings, constants, tables, variables.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K-07 · String Encoding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K-07 · What Does It Protect?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</a:t>
            </a:r>
            <a:r>
              <a:rPr sz="2000" b="1">
                <a:solidFill>
                  <a:srgbClr val="1F2D3A"/>
                </a:solidFill>
              </a:rPr>
              <a:t>readable text</a:t>
            </a:r>
            <a:r>
              <a:rPr sz="2000" b="0">
                <a:solidFill>
                  <a:srgbClr val="1F2D3A"/>
                </a:solidFill>
              </a:rPr>
              <a:t> inside a binary.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cheapest attack step: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strings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"Lisans gecersiz"</a:t>
            </a:r>
            <a:r>
              <a:rPr sz="2000" b="0">
                <a:solidFill>
                  <a:srgbClr val="1F2D3A"/>
                </a:solidFill>
              </a:rPr>
              <a:t> or a URL → tells the attacker exactly where to look.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K-07 ·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Sensitive strings are encoded </a:t>
            </a:r>
            <a:r>
              <a:rPr sz="2000" b="1">
                <a:solidFill>
                  <a:srgbClr val="1F2D3A"/>
                </a:solidFill>
              </a:rPr>
              <a:t>before compilation</a:t>
            </a:r>
            <a:r>
              <a:rPr sz="2000" b="0">
                <a:solidFill>
                  <a:srgbClr val="1F2D3A"/>
                </a:solidFill>
              </a:rPr>
              <a:t> (e.g., XOR)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They stay </a:t>
            </a:r>
            <a:r>
              <a:rPr sz="2000" b="1">
                <a:solidFill>
                  <a:srgbClr val="1F2D3A"/>
                </a:solidFill>
              </a:rPr>
              <a:t>encoded</a:t>
            </a:r>
            <a:r>
              <a:rPr sz="2000" b="0">
                <a:solidFill>
                  <a:srgbClr val="1F2D3A"/>
                </a:solidFill>
              </a:rPr>
              <a:t> in the binary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Decoded </a:t>
            </a:r>
            <a:r>
              <a:rPr sz="2000" b="1">
                <a:solidFill>
                  <a:srgbClr val="1F2D3A"/>
                </a:solidFill>
              </a:rPr>
              <a:t>at the moment of use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Wiped</a:t>
            </a:r>
            <a:r>
              <a:rPr sz="2000" b="0">
                <a:solidFill>
                  <a:srgbClr val="1F2D3A"/>
                </a:solidFill>
              </a:rPr>
              <a:t> the instant the job is done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K-07 · Example (Synthetic)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78612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static const uint8_t HIDDEN[] = {0x3B,0x2A,0x2E,0x2E,0x2D};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use(void)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char tmp[sizeof HIDDEN];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(size_t i=0;i&lt;sizeof HIDDEN;i++)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tmp[i] = HIDDEN[i] ^ 0x5A;      /* decode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process(tmp, sizeof HIDDEN);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secure_wipe(tmp, sizeof tmp); /* wipe immediately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K-07 · ⚠️ Critical Limit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decoded string is </a:t>
            </a:r>
            <a:r>
              <a:rPr sz="2000" b="1">
                <a:solidFill>
                  <a:srgbClr val="1F2D3A"/>
                </a:solidFill>
              </a:rPr>
              <a:t>exposed in memory</a:t>
            </a:r>
            <a:r>
              <a:rPr sz="2000" b="0">
                <a:solidFill>
                  <a:srgbClr val="1F2D3A"/>
                </a:solidFill>
              </a:rPr>
              <a:t> while running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decoding key is also in the binary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This is a </a:t>
            </a:r>
            <a:r>
              <a:rPr sz="2000" b="1">
                <a:solidFill>
                  <a:srgbClr val="1F2D3A"/>
                </a:solidFill>
              </a:rPr>
              <a:t>static-scan</a:t>
            </a:r>
            <a:r>
              <a:rPr sz="2000" b="0">
                <a:solidFill>
                  <a:srgbClr val="1F2D3A"/>
                </a:solidFill>
              </a:rPr>
              <a:t> countermeasure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In the field: the decoding key is </a:t>
            </a:r>
            <a:r>
              <a:rPr sz="2000" b="1">
                <a:solidFill>
                  <a:srgbClr val="1F2D3A"/>
                </a:solidFill>
              </a:rPr>
              <a:t>split and distributed</a:t>
            </a:r>
            <a:r>
              <a:rPr sz="2000" b="0">
                <a:solidFill>
                  <a:srgbClr val="1F2D3A"/>
                </a:solidFill>
              </a:rPr>
              <a:t>, and the decoding function gets extra checks.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K-07 · String Obfuscation ≠ Key Storage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Again: string obfuscation stops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strings</a:t>
            </a:r>
            <a:r>
              <a:rPr sz="2000" b="0">
                <a:solidFill>
                  <a:srgbClr val="1F2D3A"/>
                </a:solidFill>
              </a:rPr>
              <a:t>, it does </a:t>
            </a:r>
            <a:r>
              <a:rPr sz="2000" b="1">
                <a:solidFill>
                  <a:srgbClr val="1F2D3A"/>
                </a:solidFill>
              </a:rPr>
              <a:t>not</a:t>
            </a:r>
            <a:r>
              <a:rPr sz="2000" b="0">
                <a:solidFill>
                  <a:srgbClr val="1F2D3A"/>
                </a:solidFill>
              </a:rPr>
              <a:t> protect a </a:t>
            </a:r>
            <a:r>
              <a:rPr sz="2000" b="1">
                <a:solidFill>
                  <a:srgbClr val="1F2D3A"/>
                </a:solidFill>
              </a:rPr>
              <a:t>key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 the key → whitebox (week 11) or hardware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Measurement:</a:t>
            </a:r>
            <a:r>
              <a:rPr sz="2000" b="0">
                <a:solidFill>
                  <a:srgbClr val="1F2D3A"/>
                </a:solidFill>
              </a:rPr>
              <a:t> the sensitive string </a:t>
            </a:r>
            <a:r>
              <a:rPr sz="2000" b="1">
                <a:solidFill>
                  <a:srgbClr val="1F2D3A"/>
                </a:solidFill>
              </a:rPr>
              <a:t>must not</a:t>
            </a:r>
            <a:r>
              <a:rPr sz="2000" b="0">
                <a:solidFill>
                  <a:srgbClr val="1F2D3A"/>
                </a:solidFill>
              </a:rPr>
              <a:t> be found in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strings</a:t>
            </a:r>
            <a:r>
              <a:rPr sz="2000" b="0">
                <a:solidFill>
                  <a:srgbClr val="1F2D3A"/>
                </a:solidFill>
              </a:rPr>
              <a:t> output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Animation · String Encryption</a:t>
            </a:r>
          </a:p>
        </p:txBody>
      </p:sp>
      <p:pic>
        <p:nvPicPr>
          <p:cNvPr id="7" name="Picture 6" descr="string-encryption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587804"/>
          </a:xfrm>
          <a:prstGeom prst="rect">
            <a:avLst/>
          </a:prstGeom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Animation · String Encryption — Edge Case (never valid)</a:t>
            </a:r>
          </a:p>
        </p:txBody>
      </p:sp>
      <p:pic>
        <p:nvPicPr>
          <p:cNvPr id="7" name="Picture 6" descr="string-encryption--edge-never-valid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587804"/>
          </a:xfrm>
          <a:prstGeom prst="rect">
            <a:avLst/>
          </a:prstGeom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K-08 · Opaque Boolean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K-08 · Problem: Plain 0/1 Is Dangerous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Returning a check's result as a plain </a:t>
            </a:r>
            <a:r>
              <a:rPr sz="2000" b="0">
                <a:solidFill>
                  <a:srgbClr val="A1123F"/>
                </a:solidFill>
                <a:latin typeface="Consolas"/>
              </a:rPr>
              <a:t>0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1</a:t>
            </a:r>
            <a:r>
              <a:rPr sz="2000" b="0">
                <a:solidFill>
                  <a:srgbClr val="1F2D3A"/>
                </a:solidFill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attacker flips a </a:t>
            </a:r>
            <a:r>
              <a:rPr sz="2000" b="1">
                <a:solidFill>
                  <a:srgbClr val="1F2D3A"/>
                </a:solidFill>
              </a:rPr>
              <a:t>single byte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"Failure" becomes "success"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K-08 ·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Tie the true/false value to: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Multiple values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 a way a single-byte patch cannot flip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2854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Functions return an </a:t>
            </a:r>
            <a:r>
              <a:rPr sz="2000" b="1">
                <a:solidFill>
                  <a:srgbClr val="1F2D3A"/>
                </a:solidFill>
              </a:rPr>
              <a:t>opaque return code</a:t>
            </a:r>
            <a:r>
              <a:rPr sz="2000" b="0">
                <a:solidFill>
                  <a:srgbClr val="1F2D3A"/>
                </a:solidFill>
              </a:rPr>
              <a:t> instead of a plain boolean.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K-08 · Example (Concept)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typedef struct { uint32_t a, b; } Decision;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static Decision allow(void)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(Decision){ 0xA3C1u, 0x5C3Eu };  /* a ^ b == 0xFFFF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static int decision_grants(Decision k)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(k.a ^ k.b) == 0xFFFFu;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327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calling side verifies </a:t>
            </a:r>
            <a:r>
              <a:rPr sz="2000" b="1">
                <a:solidFill>
                  <a:srgbClr val="1F2D3A"/>
                </a:solidFill>
              </a:rPr>
              <a:t>both fields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K-08 · Cost and Limit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Cost:</a:t>
            </a:r>
            <a:r>
              <a:rPr sz="1800" b="0">
                <a:solidFill>
                  <a:srgbClr val="1F2D3A"/>
                </a:solidFill>
              </a:rPr>
              <a:t> low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Limit:</a:t>
            </a:r>
            <a:r>
              <a:rPr sz="1800" b="0">
                <a:solidFill>
                  <a:srgbClr val="1F2D3A"/>
                </a:solidFill>
              </a:rPr>
              <a:t> solvable with enough scrutiny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Goal:</a:t>
            </a:r>
            <a:r>
              <a:rPr sz="1800" b="0">
                <a:solidFill>
                  <a:srgbClr val="1F2D3A"/>
                </a:solidFill>
              </a:rPr>
              <a:t> block a single-byte patch and crude branch-flipping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Measurement:</a:t>
            </a:r>
            <a:r>
              <a:rPr sz="1800" b="0">
                <a:solidFill>
                  <a:srgbClr val="1F2D3A"/>
                </a:solidFill>
              </a:rPr>
              <a:t> </a:t>
            </a:r>
            <a:r>
              <a:rPr sz="1800" b="1">
                <a:solidFill>
                  <a:srgbClr val="1F2D3A"/>
                </a:solidFill>
              </a:rPr>
              <a:t>independent points &gt; 1</a:t>
            </a:r>
            <a:r>
              <a:rPr sz="1800" b="0">
                <a:solidFill>
                  <a:srgbClr val="1F2D3A"/>
                </a:solidFill>
              </a:rPr>
              <a:t> needed to flip the result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Animation · Data Encoding (Opaque Boolean)</a:t>
            </a:r>
          </a:p>
        </p:txBody>
      </p:sp>
      <p:pic>
        <p:nvPicPr>
          <p:cNvPr id="7" name="Picture 6" descr="data-encoding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678285"/>
          </a:xfrm>
          <a:prstGeom prst="rect">
            <a:avLst/>
          </a:prstGeom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Animation · Data Encoding — Edge Case (all granted)</a:t>
            </a:r>
          </a:p>
        </p:txBody>
      </p:sp>
      <p:pic>
        <p:nvPicPr>
          <p:cNvPr id="7" name="Picture 6" descr="data-encoding--edge-all-granted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678285"/>
          </a:xfrm>
          <a:prstGeom prst="rect">
            <a:avLst/>
          </a:prstGeom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K-09 · Variable Splitting and Restructuring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K-09 · What Does It Protect?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</a:t>
            </a:r>
            <a:r>
              <a:rPr sz="2000" b="1">
                <a:solidFill>
                  <a:srgbClr val="1F2D3A"/>
                </a:solidFill>
              </a:rPr>
              <a:t>recognisable footprint</a:t>
            </a:r>
            <a:r>
              <a:rPr sz="2000" b="0">
                <a:solidFill>
                  <a:srgbClr val="1F2D3A"/>
                </a:solidFill>
              </a:rPr>
              <a:t> of a sensitive variable in memory.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Patterns like "a 32-byte block = an AES key" point the attacker straight at it.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K-09 · How?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Split</a:t>
            </a:r>
            <a:r>
              <a:rPr sz="2000" b="0">
                <a:solidFill>
                  <a:srgbClr val="1F2D3A"/>
                </a:solidFill>
              </a:rPr>
              <a:t> a variable (produce a 32-bit value from two 16-bit shares)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Merge</a:t>
            </a:r>
            <a:r>
              <a:rPr sz="2000" b="0">
                <a:solidFill>
                  <a:srgbClr val="1F2D3A"/>
                </a:solidFill>
              </a:rPr>
              <a:t> several variables into a single word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Rearrange arrays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Change buffer size/order/layout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Fill with random values</a:t>
            </a:r>
            <a:r>
              <a:rPr sz="2000" b="0">
                <a:solidFill>
                  <a:srgbClr val="1F2D3A"/>
                </a:solidFill>
              </a:rPr>
              <a:t> after use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K-09 · Cost and Limit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201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Cost:</a:t>
            </a:r>
            <a:r>
              <a:rPr sz="1800" b="0">
                <a:solidFill>
                  <a:srgbClr val="1F2D3A"/>
                </a:solidFill>
              </a:rPr>
              <a:t> low–medium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Limit:</a:t>
            </a:r>
            <a:r>
              <a:rPr sz="1800" b="0">
                <a:solidFill>
                  <a:srgbClr val="1F2D3A"/>
                </a:solidFill>
              </a:rPr>
              <a:t> only slows down static/pattern analysis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Measurement:</a:t>
            </a:r>
            <a:r>
              <a:rPr sz="1800" b="0">
                <a:solidFill>
                  <a:srgbClr val="1F2D3A"/>
                </a:solidFill>
              </a:rPr>
              <a:t> time needed to recognise the sensitive buffer from the pattern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Whole-Program Rules: K-10, K-11, K-12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K-10 · Virtualisation (Concept)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What does it protect?</a:t>
            </a:r>
            <a:r>
              <a:rPr sz="2000" b="0">
                <a:solidFill>
                  <a:srgbClr val="1F2D3A"/>
                </a:solidFill>
              </a:rPr>
              <a:t> A function's </a:t>
            </a:r>
            <a:r>
              <a:rPr sz="2000" b="1">
                <a:solidFill>
                  <a:srgbClr val="1F2D3A"/>
                </a:solidFill>
              </a:rPr>
              <a:t>machine code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How?</a:t>
            </a:r>
            <a:r>
              <a:rPr sz="2000" b="0">
                <a:solidFill>
                  <a:srgbClr val="1F2D3A"/>
                </a:solidFill>
              </a:rPr>
              <a:t> The function → a custom </a:t>
            </a:r>
            <a:r>
              <a:rPr sz="2000" b="1">
                <a:solidFill>
                  <a:srgbClr val="1F2D3A"/>
                </a:solidFill>
              </a:rPr>
              <a:t>VM's bytecode</a:t>
            </a:r>
            <a:r>
              <a:rPr sz="2000" b="0">
                <a:solidFill>
                  <a:srgbClr val="1F2D3A"/>
                </a:solidFill>
              </a:rPr>
              <a:t>; the bytecode and a small interpreter are embedded in the binary.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55392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attacker does not see familiar code — they see a </a:t>
            </a:r>
            <a:r>
              <a:rPr sz="2000" b="1">
                <a:solidFill>
                  <a:srgbClr val="1F2D3A"/>
                </a:solidFill>
              </a:rPr>
              <a:t>custom instruction set</a:t>
            </a:r>
            <a:r>
              <a:rPr sz="2000" b="0">
                <a:solidFill>
                  <a:srgbClr val="1F2D3A"/>
                </a:solidFill>
              </a:rPr>
              <a:t> they must first solve.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K-10 · Cost and Limit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7602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Cost:</a:t>
            </a:r>
            <a:r>
              <a:rPr sz="1800" b="0">
                <a:solidFill>
                  <a:srgbClr val="1F2D3A"/>
                </a:solidFill>
              </a:rPr>
              <a:t> </a:t>
            </a:r>
            <a:r>
              <a:rPr sz="1800" b="1">
                <a:solidFill>
                  <a:srgbClr val="1F2D3A"/>
                </a:solidFill>
              </a:rPr>
              <a:t>high</a:t>
            </a:r>
            <a:r>
              <a:rPr sz="1800" b="0">
                <a:solidFill>
                  <a:srgbClr val="1F2D3A"/>
                </a:solidFill>
              </a:rPr>
              <a:t> (interpreted code is slow; maintenance is expensive)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Use:</a:t>
            </a:r>
            <a:r>
              <a:rPr sz="1800" b="0">
                <a:solidFill>
                  <a:srgbClr val="1F2D3A"/>
                </a:solidFill>
              </a:rPr>
              <a:t> only the most critical, small, rarely-changing functions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Limit:</a:t>
            </a:r>
            <a:r>
              <a:rPr sz="1800" b="0">
                <a:solidFill>
                  <a:srgbClr val="1F2D3A"/>
                </a:solidFill>
              </a:rPr>
              <a:t> once the VM is solved once, everything it protects opens up; if not diversified, every copy is identical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Week 14: Tigress </a:t>
            </a:r>
            <a:r>
              <a:rPr sz="1800" b="0">
                <a:solidFill>
                  <a:srgbClr val="A1123F"/>
                </a:solidFill>
                <a:latin typeface="Consolas"/>
              </a:rPr>
              <a:t>Virtualize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K-11 · Compiler-Based (O-LLVM)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What does it protect?</a:t>
            </a:r>
            <a:r>
              <a:rPr sz="2000" b="0">
                <a:solidFill>
                  <a:srgbClr val="1F2D3A"/>
                </a:solidFill>
              </a:rPr>
              <a:t> The rules above, applied through a </a:t>
            </a:r>
            <a:r>
              <a:rPr sz="2000" b="1">
                <a:solidFill>
                  <a:srgbClr val="1F2D3A"/>
                </a:solidFill>
              </a:rPr>
              <a:t>compiler pass</a:t>
            </a:r>
            <a:r>
              <a:rPr sz="2000" b="0">
                <a:solidFill>
                  <a:srgbClr val="1F2D3A"/>
                </a:solidFill>
              </a:rPr>
              <a:t>, not by hand.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LLVM-based obfuscators: flattening, bogus control flow, instruction-substitution passes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source stays </a:t>
            </a:r>
            <a:r>
              <a:rPr sz="2000" b="1">
                <a:solidFill>
                  <a:srgbClr val="1F2D3A"/>
                </a:solidFill>
              </a:rPr>
              <a:t>readable</a:t>
            </a:r>
            <a:r>
              <a:rPr sz="2000" b="0">
                <a:solidFill>
                  <a:srgbClr val="1F2D3A"/>
                </a:solidFill>
              </a:rPr>
              <a:t>; protection is a compile option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different </a:t>
            </a:r>
            <a:r>
              <a:rPr sz="2000" b="1">
                <a:solidFill>
                  <a:srgbClr val="1F2D3A"/>
                </a:solidFill>
              </a:rPr>
              <a:t>seed</a:t>
            </a:r>
            <a:r>
              <a:rPr sz="2000" b="0">
                <a:solidFill>
                  <a:srgbClr val="1F2D3A"/>
                </a:solidFill>
              </a:rPr>
              <a:t> per build → easy diversification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K-11 · Cost and Limit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201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Cost:</a:t>
            </a:r>
            <a:r>
              <a:rPr sz="1800" b="0">
                <a:solidFill>
                  <a:srgbClr val="1F2D3A"/>
                </a:solidFill>
              </a:rPr>
              <a:t> medium (depends on the passes selected)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Limit:</a:t>
            </a:r>
            <a:r>
              <a:rPr sz="1800" b="0">
                <a:solidFill>
                  <a:srgbClr val="1F2D3A"/>
                </a:solidFill>
              </a:rPr>
              <a:t> known pass patterns are recognisable; stay current with the tool's version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Measurement:</a:t>
            </a:r>
            <a:r>
              <a:rPr sz="1800" b="0">
                <a:solidFill>
                  <a:srgbClr val="1F2D3A"/>
                </a:solidFill>
              </a:rPr>
              <a:t> the difference between binaries produced with different seeds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K-12 · Dynamic Encryption (Concept)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What does it protect?</a:t>
            </a:r>
            <a:r>
              <a:rPr sz="2000" b="0">
                <a:solidFill>
                  <a:srgbClr val="1F2D3A"/>
                </a:solidFill>
              </a:rPr>
              <a:t> The most sensitive code sections, by keeping them </a:t>
            </a:r>
            <a:r>
              <a:rPr sz="2000" b="1">
                <a:solidFill>
                  <a:srgbClr val="1F2D3A"/>
                </a:solidFill>
              </a:rPr>
              <a:t>encrypted</a:t>
            </a:r>
            <a:r>
              <a:rPr sz="2000" b="0">
                <a:solidFill>
                  <a:srgbClr val="1F2D3A"/>
                </a:solidFill>
              </a:rPr>
              <a:t> in the binary.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How?</a:t>
            </a:r>
            <a:r>
              <a:rPr sz="2000" b="0">
                <a:solidFill>
                  <a:srgbClr val="1F2D3A"/>
                </a:solidFill>
              </a:rPr>
              <a:t> The section stays encrypted → decoded only right when it is about to run → then re-encrypted/wiped.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K-12 · ⚠️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Directly </a:t>
            </a:r>
            <a:r>
              <a:rPr sz="2000" b="1">
                <a:solidFill>
                  <a:srgbClr val="1F2D3A"/>
                </a:solidFill>
              </a:rPr>
              <a:t>conflicts</a:t>
            </a:r>
            <a:r>
              <a:rPr sz="2000" b="0">
                <a:solidFill>
                  <a:srgbClr val="1F2D3A"/>
                </a:solidFill>
              </a:rPr>
              <a:t> with OS memory protections (</a:t>
            </a:r>
            <a:r>
              <a:rPr sz="2000" b="1">
                <a:solidFill>
                  <a:srgbClr val="1F2D3A"/>
                </a:solidFill>
              </a:rPr>
              <a:t>DEP/NX, W^X</a:t>
            </a:r>
            <a:r>
              <a:rPr sz="2000" b="0">
                <a:solidFill>
                  <a:srgbClr val="1F2D3A"/>
                </a:solidFill>
              </a:rPr>
              <a:t>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Done wrong, it both crashes and opens a </a:t>
            </a:r>
            <a:r>
              <a:rPr sz="2000" b="1">
                <a:solidFill>
                  <a:srgbClr val="1F2D3A"/>
                </a:solidFill>
              </a:rPr>
              <a:t>new hole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code sits exposed in memory for a moment while running → a memory dump can catch it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K-12 · Rule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934719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If adding one protection </a:t>
            </a:r>
            <a:r>
              <a:rPr sz="2000" b="1">
                <a:solidFill>
                  <a:srgbClr val="1F2D3A"/>
                </a:solidFill>
              </a:rPr>
              <a:t>turns off</a:t>
            </a:r>
            <a:r>
              <a:rPr sz="2000" b="0">
                <a:solidFill>
                  <a:srgbClr val="1F2D3A"/>
                </a:solidFill>
              </a:rPr>
              <a:t> another, measure the net gain and record the trade-off.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032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In practice it is used very selectively, on small sections.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Java/Managed Side (from Week 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This week's rules are for </a:t>
            </a:r>
            <a:r>
              <a:rPr sz="2000" b="1">
                <a:solidFill>
                  <a:srgbClr val="1F2D3A"/>
                </a:solidFill>
              </a:rPr>
              <a:t>native</a:t>
            </a:r>
            <a:r>
              <a:rPr sz="2000" b="0">
                <a:solidFill>
                  <a:srgbClr val="1F2D3A"/>
                </a:solidFill>
              </a:rPr>
              <a:t> (C/C++)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managed-language equivalent: </a:t>
            </a:r>
            <a:r>
              <a:rPr sz="2000" b="1">
                <a:solidFill>
                  <a:srgbClr val="1F2D3A"/>
                </a:solidFill>
              </a:rPr>
              <a:t>ProGuard/R8</a:t>
            </a:r>
            <a:r>
              <a:rPr sz="2000" b="0">
                <a:solidFill>
                  <a:srgbClr val="1F2D3A"/>
                </a:solidFill>
              </a:rPr>
              <a:t> name obfuscation + dead code elimination + shrinking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APIs reached via </a:t>
            </a:r>
            <a:r>
              <a:rPr sz="2000" b="0">
                <a:solidFill>
                  <a:srgbClr val="A1123F"/>
                </a:solidFill>
                <a:latin typeface="Consolas"/>
              </a:rPr>
              <a:t>-keep</a:t>
            </a:r>
            <a:r>
              <a:rPr sz="2000" b="0">
                <a:solidFill>
                  <a:srgbClr val="1F2D3A"/>
                </a:solidFill>
              </a:rPr>
              <a:t> and reflection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Two Sides Work Together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Java side is obfuscated with R8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native side, with this week's rules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Cross-check:</a:t>
            </a:r>
            <a:r>
              <a:rPr sz="2000" b="0">
                <a:solidFill>
                  <a:srgbClr val="1F2D3A"/>
                </a:solidFill>
              </a:rPr>
              <a:t> native verifies Java's integrity, Java verifies native's (week 6, RASP)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4 —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K-07</a:t>
            </a:r>
            <a:r>
              <a:rPr sz="2000" b="0">
                <a:solidFill>
                  <a:srgbClr val="1F2D3A"/>
                </a:solidFill>
              </a:rPr>
              <a:t> string encoding · </a:t>
            </a:r>
            <a:r>
              <a:rPr sz="2000" b="1">
                <a:solidFill>
                  <a:srgbClr val="1F2D3A"/>
                </a:solidFill>
              </a:rPr>
              <a:t>K-08</a:t>
            </a:r>
            <a:r>
              <a:rPr sz="2000" b="0">
                <a:solidFill>
                  <a:srgbClr val="1F2D3A"/>
                </a:solidFill>
              </a:rPr>
              <a:t> opaque boolean · </a:t>
            </a:r>
            <a:r>
              <a:rPr sz="2000" b="1">
                <a:solidFill>
                  <a:srgbClr val="1F2D3A"/>
                </a:solidFill>
              </a:rPr>
              <a:t>K-09</a:t>
            </a:r>
            <a:r>
              <a:rPr sz="2000" b="0">
                <a:solidFill>
                  <a:srgbClr val="1F2D3A"/>
                </a:solidFill>
              </a:rPr>
              <a:t> variable splitting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K-10</a:t>
            </a:r>
            <a:r>
              <a:rPr sz="2000" b="0">
                <a:solidFill>
                  <a:srgbClr val="1F2D3A"/>
                </a:solidFill>
              </a:rPr>
              <a:t> virtualisation (expensive) · </a:t>
            </a:r>
            <a:r>
              <a:rPr sz="2000" b="1">
                <a:solidFill>
                  <a:srgbClr val="1F2D3A"/>
                </a:solidFill>
              </a:rPr>
              <a:t>K-11</a:t>
            </a:r>
            <a:r>
              <a:rPr sz="2000" b="0">
                <a:solidFill>
                  <a:srgbClr val="1F2D3A"/>
                </a:solidFill>
              </a:rPr>
              <a:t> compiler-based (O-LLVM) · </a:t>
            </a:r>
            <a:r>
              <a:rPr sz="2000" b="1">
                <a:solidFill>
                  <a:srgbClr val="1F2D3A"/>
                </a:solidFill>
              </a:rPr>
              <a:t>K-12</a:t>
            </a:r>
            <a:r>
              <a:rPr sz="2000" b="0">
                <a:solidFill>
                  <a:srgbClr val="1F2D3A"/>
                </a:solidFill>
              </a:rPr>
              <a:t> dynamic (risky)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09088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Data obfuscation </a:t>
            </a:r>
            <a:r>
              <a:rPr sz="2000" b="1">
                <a:solidFill>
                  <a:srgbClr val="1F2D3A"/>
                </a:solidFill>
              </a:rPr>
              <a:t>complements</a:t>
            </a:r>
            <a:r>
              <a:rPr sz="2000" b="0">
                <a:solidFill>
                  <a:srgbClr val="1F2D3A"/>
                </a:solidFill>
              </a:rPr>
              <a:t> control-flow obfuscation.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4 — Quick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Does string obfuscation protect the key?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Why does an opaque boolean make a single-byte patch harder?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What are virtualisation's two biggest costs?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Section 4 —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1. </a:t>
            </a:r>
            <a:r>
              <a:rPr sz="1800" b="1">
                <a:solidFill>
                  <a:srgbClr val="1F2D3A"/>
                </a:solidFill>
              </a:rPr>
              <a:t>No.</a:t>
            </a:r>
            <a:r>
              <a:rPr sz="1800" b="0">
                <a:solidFill>
                  <a:srgbClr val="1F2D3A"/>
                </a:solidFill>
              </a:rPr>
              <a:t> The decoded string is exposed in memory; the decoding key is inside; it only stops </a:t>
            </a:r>
            <a:r>
              <a:rPr sz="1800" b="1">
                <a:solidFill>
                  <a:srgbClr val="1F2D3A"/>
                </a:solidFill>
              </a:rPr>
              <a:t>static</a:t>
            </a:r>
            <a:r>
              <a:rPr sz="1800" b="0">
                <a:solidFill>
                  <a:srgbClr val="1F2D3A"/>
                </a:solidFill>
              </a:rPr>
              <a:t> (</a:t>
            </a:r>
            <a:r>
              <a:rPr sz="1800" b="0">
                <a:solidFill>
                  <a:srgbClr val="A1123F"/>
                </a:solidFill>
                <a:latin typeface="Consolas"/>
              </a:rPr>
              <a:t>strings</a:t>
            </a:r>
            <a:r>
              <a:rPr sz="1800" b="0">
                <a:solidFill>
                  <a:srgbClr val="1F2D3A"/>
                </a:solidFill>
              </a:rPr>
              <a:t>) scanning.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2. </a:t>
            </a:r>
            <a:r>
              <a:rPr sz="1800" b="0">
                <a:solidFill>
                  <a:srgbClr val="1F2D3A"/>
                </a:solidFill>
              </a:rPr>
              <a:t>The result depends on multiple values; flipping it requires changing </a:t>
            </a:r>
            <a:r>
              <a:rPr sz="1800" b="1">
                <a:solidFill>
                  <a:srgbClr val="1F2D3A"/>
                </a:solidFill>
              </a:rPr>
              <a:t>&gt;1 independent points</a:t>
            </a:r>
            <a:r>
              <a:rPr sz="18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3. </a:t>
            </a:r>
            <a:r>
              <a:rPr sz="1800" b="0">
                <a:solidFill>
                  <a:srgbClr val="1F2D3A"/>
                </a:solidFill>
              </a:rPr>
              <a:t>High </a:t>
            </a:r>
            <a:r>
              <a:rPr sz="1800" b="1">
                <a:solidFill>
                  <a:srgbClr val="1F2D3A"/>
                </a:solidFill>
              </a:rPr>
              <a:t>performance</a:t>
            </a:r>
            <a:r>
              <a:rPr sz="1800" b="0">
                <a:solidFill>
                  <a:srgbClr val="1F2D3A"/>
                </a:solidFill>
              </a:rPr>
              <a:t> cost (tens of times slower) and high </a:t>
            </a:r>
            <a:r>
              <a:rPr sz="1800" b="1">
                <a:solidFill>
                  <a:srgbClr val="1F2D3A"/>
                </a:solidFill>
              </a:rPr>
              <a:t>maintenance</a:t>
            </a:r>
            <a:r>
              <a:rPr sz="1800" b="0">
                <a:solidFill>
                  <a:srgbClr val="1F2D3A"/>
                </a:solidFill>
              </a:rPr>
              <a:t> cost; that is why it is used only on small/critical functions.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5. Diversification and Measurement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Diversification — Diagram</a:t>
            </a:r>
          </a:p>
        </p:txBody>
      </p:sp>
      <p:pic>
        <p:nvPicPr>
          <p:cNvPr id="7" name="Picture 6" descr="h09-07-cesitlendir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114" y="1325880"/>
            <a:ext cx="10645466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Diversification: Recall Rule 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An attack that works on one copy should not work on every copy.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4012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If the attacker can crack one copy and distribute the patch/script to </a:t>
            </a:r>
            <a:r>
              <a:rPr sz="2000" b="1">
                <a:solidFill>
                  <a:srgbClr val="1F2D3A"/>
                </a:solidFill>
              </a:rPr>
              <a:t>everyone</a:t>
            </a:r>
            <a:r>
              <a:rPr sz="2000" b="0">
                <a:solidFill>
                  <a:srgbClr val="1F2D3A"/>
                </a:solidFill>
              </a:rPr>
              <a:t>, one crack opens every door.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Origin: an Idea Borrowed from Biology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1993</a:t>
            </a:r>
            <a:r>
              <a:rPr sz="1800" b="0">
                <a:solidFill>
                  <a:srgbClr val="1F2D3A"/>
                </a:solidFill>
              </a:rPr>
              <a:t> — Fred Cohen, "Operating System Protection Through Program Evolution": software that changes the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67128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system </a:t>
            </a:r>
            <a:r>
              <a:rPr sz="1800" b="1">
                <a:solidFill>
                  <a:srgbClr val="1F2D3A"/>
                </a:solidFill>
              </a:rPr>
              <a:t>over time</a:t>
            </a:r>
            <a:r>
              <a:rPr sz="1800" b="0">
                <a:solidFill>
                  <a:srgbClr val="1F2D3A"/>
                </a:solidFill>
              </a:rPr>
              <a:t> → the root of </a:t>
            </a:r>
            <a:r>
              <a:rPr sz="1800" b="1">
                <a:solidFill>
                  <a:srgbClr val="1F2D3A"/>
                </a:solidFill>
              </a:rPr>
              <a:t>diversification in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83763"/>
            <a:ext cx="10911535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1997</a:t>
            </a:r>
            <a:r>
              <a:rPr sz="1800" b="0">
                <a:solidFill>
                  <a:srgbClr val="1F2D3A"/>
                </a:solidFill>
              </a:rPr>
              <a:t> — Forrest, Somayaji, Ackley, "Building Diverse Computer Systems" (HotOS): randomizing without changing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25011"/>
            <a:ext cx="10911535" cy="7040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behaviour (e.g., stack-frame size) can disrupt even a buffer overflow → the root of </a:t>
            </a:r>
            <a:r>
              <a:rPr sz="1800" b="1">
                <a:solidFill>
                  <a:srgbClr val="1F2D3A"/>
                </a:solidFill>
              </a:rPr>
              <a:t>diversification in space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338827"/>
            <a:ext cx="10911535" cy="86868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800" b="0">
                <a:solidFill>
                  <a:srgbClr val="1F2D3A"/>
                </a:solidFill>
              </a:rPr>
              <a:t>In nature, diversity keeps a disease from killing an </a:t>
            </a:r>
            <a:r>
              <a:rPr sz="1800" b="1">
                <a:solidFill>
                  <a:srgbClr val="1F2D3A"/>
                </a:solidFill>
              </a:rPr>
              <a:t>entire</a:t>
            </a:r>
            <a:r>
              <a:rPr sz="1800" b="0">
                <a:solidFill>
                  <a:srgbClr val="1F2D3A"/>
                </a:solidFill>
              </a:rPr>
              <a:t> species, only the individuals without resistance; in software the same idea keeps one crack from opening </a:t>
            </a:r>
            <a:r>
              <a:rPr sz="1800" b="1">
                <a:solidFill>
                  <a:srgbClr val="1F2D3A"/>
                </a:solidFill>
              </a:rPr>
              <a:t>every</a:t>
            </a:r>
            <a:r>
              <a:rPr sz="1800" b="0">
                <a:solidFill>
                  <a:srgbClr val="1F2D3A"/>
                </a:solidFill>
              </a:rPr>
              <a:t> copy.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Is Diversification?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Producing binaries from the same source that are </a:t>
            </a:r>
            <a:r>
              <a:rPr sz="2000" b="1">
                <a:solidFill>
                  <a:srgbClr val="1F2D3A"/>
                </a:solidFill>
              </a:rPr>
              <a:t>behaviourally equivalent, structurally different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Opaque predicates, bogus blocks, state values </a:t>
            </a:r>
            <a:r>
              <a:rPr sz="2000" b="1">
                <a:solidFill>
                  <a:srgbClr val="1F2D3A"/>
                </a:solidFill>
              </a:rPr>
              <a:t>change</a:t>
            </a:r>
            <a:r>
              <a:rPr sz="2000" b="0">
                <a:solidFill>
                  <a:srgbClr val="1F2D3A"/>
                </a:solidFill>
              </a:rPr>
              <a:t> from copy to copy.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Two Kinds of Diversification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In space:</a:t>
            </a:r>
            <a:r>
              <a:rPr sz="2000" b="0">
                <a:solidFill>
                  <a:srgbClr val="1F2D3A"/>
                </a:solidFill>
              </a:rPr>
              <a:t> every build/distribution gets a different </a:t>
            </a:r>
            <a:r>
              <a:rPr sz="2000" b="1">
                <a:solidFill>
                  <a:srgbClr val="1F2D3A"/>
                </a:solidFill>
              </a:rPr>
              <a:t>seed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0">
                <a:solidFill>
                  <a:srgbClr val="1F2D3A"/>
                </a:solidFill>
              </a:rPr>
              <a:t>An attack written for one copy does not work on another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In time:</a:t>
            </a:r>
            <a:r>
              <a:rPr sz="2000" b="0">
                <a:solidFill>
                  <a:srgbClr val="1F2D3A"/>
                </a:solidFill>
              </a:rPr>
              <a:t> every release gets a new arrangement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0">
                <a:solidFill>
                  <a:srgbClr val="1F2D3A"/>
                </a:solidFill>
              </a:rPr>
              <a:t>An attack written for the old release breaks in the new 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3072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Works together with key/version renewal (week 10).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Does Diversification Prevent?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It does not raise obfuscation's </a:t>
            </a:r>
            <a:r>
              <a:rPr sz="2000" b="1">
                <a:solidFill>
                  <a:srgbClr val="1F2D3A"/>
                </a:solidFill>
              </a:rPr>
              <a:t>potency</a:t>
            </a:r>
            <a:r>
              <a:rPr sz="2000" b="0">
                <a:solidFill>
                  <a:srgbClr val="1F2D3A"/>
                </a:solidFill>
              </a:rPr>
              <a:t> (a single copy can still be cracked)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But it prevents </a:t>
            </a:r>
            <a:r>
              <a:rPr sz="2000" b="1">
                <a:solidFill>
                  <a:srgbClr val="1F2D3A"/>
                </a:solidFill>
              </a:rPr>
              <a:t>scaling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78888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Week 14: with tooling, via Tigress </a:t>
            </a:r>
            <a:r>
              <a:rPr sz="2000" b="0">
                <a:solidFill>
                  <a:srgbClr val="A1123F"/>
                </a:solidFill>
                <a:latin typeface="Consolas"/>
              </a:rPr>
              <a:t>--Seed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RandomFuns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Diversification Effectiveness: a Simple Metric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Compile the same source with </a:t>
            </a:r>
            <a:r>
              <a:rPr sz="2000" b="1">
                <a:solidFill>
                  <a:srgbClr val="1F2D3A"/>
                </a:solidFill>
              </a:rPr>
              <a:t>two different seeds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Measure the </a:t>
            </a:r>
            <a:r>
              <a:rPr sz="2000" b="1">
                <a:solidFill>
                  <a:srgbClr val="1F2D3A"/>
                </a:solidFill>
              </a:rPr>
              <a:t>byte difference</a:t>
            </a:r>
            <a:r>
              <a:rPr sz="2000" b="0">
                <a:solidFill>
                  <a:srgbClr val="1F2D3A"/>
                </a:solidFill>
              </a:rPr>
              <a:t> of the protected functions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higher the difference, the lower the odds that an attack on one works on the other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850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Write this metric into S9.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Animation · Diversification</a:t>
            </a:r>
          </a:p>
        </p:txBody>
      </p:sp>
      <p:pic>
        <p:nvPicPr>
          <p:cNvPr id="7" name="Picture 6" descr="diversification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837" y="1325880"/>
            <a:ext cx="10894020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Animation · Diversification — Edge Case (length never matches)</a:t>
            </a:r>
          </a:p>
        </p:txBody>
      </p:sp>
      <p:pic>
        <p:nvPicPr>
          <p:cNvPr id="7" name="Picture 6" descr="diversification--edge-length-extremes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837" y="1325880"/>
            <a:ext cx="10894020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146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Measuring Obfuscation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Why Measure?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To </a:t>
            </a:r>
            <a:r>
              <a:rPr sz="2000" b="1">
                <a:solidFill>
                  <a:srgbClr val="1F2D3A"/>
                </a:solidFill>
              </a:rPr>
              <a:t>defend</a:t>
            </a:r>
            <a:r>
              <a:rPr sz="2000" b="0">
                <a:solidFill>
                  <a:srgbClr val="1F2D3A"/>
                </a:solidFill>
              </a:rPr>
              <a:t> a protection decision.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Collberg's framework: four dimensions.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These four are the foundation of week 13's </a:t>
            </a:r>
            <a:r>
              <a:rPr sz="2000" b="1">
                <a:solidFill>
                  <a:srgbClr val="1F2D3A"/>
                </a:solidFill>
              </a:rPr>
              <a:t>attack potential</a:t>
            </a:r>
            <a:r>
              <a:rPr sz="2000" b="0">
                <a:solidFill>
                  <a:srgbClr val="1F2D3A"/>
                </a:solidFill>
              </a:rPr>
              <a:t> scoring.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Metric 1 — Potency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Question:</a:t>
            </a:r>
            <a:r>
              <a:rPr sz="2000" b="0">
                <a:solidFill>
                  <a:srgbClr val="1F2D3A"/>
                </a:solidFill>
              </a:rPr>
              <a:t> how incomprehensible is it to a human?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How:</a:t>
            </a:r>
            <a:r>
              <a:rPr sz="2000" b="0">
                <a:solidFill>
                  <a:srgbClr val="1F2D3A"/>
                </a:solidFill>
              </a:rPr>
              <a:t> complexity metrics — CFG node/edge count, cyclomatic complexity, nesting depth (before/after).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Metric 2 — Resilience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Question:</a:t>
            </a:r>
            <a:r>
              <a:rPr sz="2000" b="0">
                <a:solidFill>
                  <a:srgbClr val="1F2D3A"/>
                </a:solidFill>
              </a:rPr>
              <a:t> how much does it withstand an automated tool?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How:</a:t>
            </a:r>
            <a:r>
              <a:rPr sz="2000" b="0">
                <a:solidFill>
                  <a:srgbClr val="1F2D3A"/>
                </a:solidFill>
              </a:rPr>
              <a:t> how long/successfully a deobfuscation tool (symbolic execution, a simplifier) takes to </a:t>
            </a:r>
            <a:r>
              <a:rPr sz="2000" b="1">
                <a:solidFill>
                  <a:srgbClr val="1F2D3A"/>
                </a:solidFill>
              </a:rPr>
              <a:t>undo</a:t>
            </a:r>
            <a:r>
              <a:rPr sz="2000" b="0">
                <a:solidFill>
                  <a:srgbClr val="1F2D3A"/>
                </a:solidFill>
              </a:rPr>
              <a:t> the protection.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Metric 3 — Stealth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Question:</a:t>
            </a:r>
            <a:r>
              <a:rPr sz="2000" b="0">
                <a:solidFill>
                  <a:srgbClr val="1F2D3A"/>
                </a:solidFill>
              </a:rPr>
              <a:t> does the obfuscation give itself away?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How:</a:t>
            </a:r>
            <a:r>
              <a:rPr sz="2000" b="0">
                <a:solidFill>
                  <a:srgbClr val="1F2D3A"/>
                </a:solidFill>
              </a:rPr>
              <a:t> is obfuscated code statistically distinguishable from normal code?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If it is distinguishable, the attacker knows where to look.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Metric 4 — Cost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Question:</a:t>
            </a:r>
            <a:r>
              <a:rPr sz="2000" b="0">
                <a:solidFill>
                  <a:srgbClr val="1F2D3A"/>
                </a:solidFill>
              </a:rPr>
              <a:t> how much does it cost us?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How:</a:t>
            </a:r>
            <a:r>
              <a:rPr sz="2000" b="0">
                <a:solidFill>
                  <a:srgbClr val="1F2D3A"/>
                </a:solidFill>
              </a:rPr>
              <a:t> size increase, runtime, memory, maintenance, debugging difficulty.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Before Flattening (Concept)</a:t>
            </a:r>
          </a:p>
        </p:txBody>
      </p:sp>
      <p:pic>
        <p:nvPicPr>
          <p:cNvPr id="7" name="Picture 6" descr="h09-04-duzlestir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15107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4586685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Few nodes, readable flow.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After Flattening (Concept)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Many nodes, a single hub; "which block comes next" cannot be read.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Potency Measurement Example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8001791" cy="1431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6472"/>
                <a:gridCol w="1818589"/>
                <a:gridCol w="1636730"/>
              </a:tblGrid>
              <a:tr h="35798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Before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After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798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Basic blocks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798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Edges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60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798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Cyclomatic complexity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2867558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You take these numbers from the decompiler and write them into S9.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Cost Measurement Example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size ./program_temiz ./program_gizli   # boyut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# süre: aynı girdiyle N kez çalıştır, ortalama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2087880"/>
          <a:ext cx="6001343" cy="1179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9509"/>
                <a:gridCol w="1935917"/>
                <a:gridCol w="1935917"/>
              </a:tblGrid>
              <a:tr h="39319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Before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After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Size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100 KB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128 KB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Runtime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1.0×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1.7×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Interpreting the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Potency ↑ (34 blocks) and cost ↑ (28% size, 1.7× time)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This </a:t>
            </a:r>
            <a:r>
              <a:rPr sz="2000" b="1">
                <a:solidFill>
                  <a:srgbClr val="1F2D3A"/>
                </a:solidFill>
              </a:rPr>
              <a:t>trade-off</a:t>
            </a:r>
            <a:r>
              <a:rPr sz="2000" b="0">
                <a:solidFill>
                  <a:srgbClr val="1F2D3A"/>
                </a:solidFill>
              </a:rPr>
              <a:t> is expected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Decision: is the gain acceptable given the asset's value?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54808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Do not say "strong"; show </a:t>
            </a:r>
            <a:r>
              <a:rPr sz="2000" b="1">
                <a:solidFill>
                  <a:srgbClr val="1F2D3A"/>
                </a:solidFill>
              </a:rPr>
              <a:t>these numbers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Animation · Measuring Obfuscation</a:t>
            </a:r>
          </a:p>
        </p:txBody>
      </p:sp>
      <p:pic>
        <p:nvPicPr>
          <p:cNvPr id="7" name="Picture 6" descr="obfuscation-metrics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625002"/>
          </a:xfrm>
          <a:prstGeom prst="rect">
            <a:avLst/>
          </a:prstGeom>
        </p:spPr>
      </p:pic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Animation · Metrics — Edge Case (most expensive path)</a:t>
            </a:r>
          </a:p>
        </p:txBody>
      </p:sp>
      <p:pic>
        <p:nvPicPr>
          <p:cNvPr id="7" name="Picture 6" descr="obfuscation-metrics--edge-all-valid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625002"/>
          </a:xfrm>
          <a:prstGeom prst="rect">
            <a:avLst/>
          </a:prstGeom>
        </p:spPr>
      </p:pic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The Four Metrics Trade Off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1082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73796"/>
                <a:gridCol w="6137738"/>
              </a:tblGrid>
              <a:tr h="36941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Raising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6941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Potency ↑ / resilience ↑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Cost ↑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941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Complexity ↑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Stealth ↓ (draws more attention)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254386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Good decision: balance the four against the </a:t>
            </a:r>
            <a:r>
              <a:rPr sz="1800" b="1">
                <a:solidFill>
                  <a:srgbClr val="1F2D3A"/>
                </a:solidFill>
              </a:rPr>
              <a:t>value of the asset</a:t>
            </a:r>
            <a:r>
              <a:rPr sz="18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Decision Rule (Write into S9)</a:t>
            </a:r>
          </a:p>
        </p:txBody>
      </p:sp>
      <p:pic>
        <p:nvPicPr>
          <p:cNvPr id="7" name="Picture 6" descr="h09-10-koruma-kural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114185"/>
          </a:xfrm>
          <a:prstGeom prst="rect">
            <a:avLst/>
          </a:prstGeom>
        </p:spPr>
      </p:pic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Deobfuscation and Resilience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Why Should We Know the Other Side's Tools?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To measure resilience correctly.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We learn these </a:t>
            </a:r>
            <a:r>
              <a:rPr sz="2000" b="1">
                <a:solidFill>
                  <a:srgbClr val="1F2D3A"/>
                </a:solidFill>
              </a:rPr>
              <a:t>to test our own defence</a:t>
            </a:r>
            <a:r>
              <a:rPr sz="2000" b="0">
                <a:solidFill>
                  <a:srgbClr val="1F2D3A"/>
                </a:solidFill>
              </a:rPr>
              <a:t> — not to attack.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Other Side's Tools — Diagram</a:t>
            </a:r>
          </a:p>
        </p:txBody>
      </p:sp>
      <p:pic>
        <p:nvPicPr>
          <p:cNvPr id="7" name="Picture 6" descr="h09-09-deobfusc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670387"/>
          </a:xfrm>
          <a:prstGeom prst="rect">
            <a:avLst/>
          </a:prstGeom>
        </p:spPr>
      </p:pic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Tool 1 — Symbolic Execution (KLEE)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Program paths are solved as mathematical constraints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Opaque predicates and flattening can be undone this 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Resilience rule:</a:t>
            </a:r>
            <a:r>
              <a:rPr sz="2000" b="0">
                <a:solidFill>
                  <a:srgbClr val="1F2D3A"/>
                </a:solidFill>
              </a:rPr>
              <a:t> tie opaque predicates to structures that are expensive to solve (factorization, hashing), grow the state space — but </a:t>
            </a:r>
            <a:r>
              <a:rPr sz="2000" b="1">
                <a:solidFill>
                  <a:srgbClr val="1F2D3A"/>
                </a:solidFill>
              </a:rPr>
              <a:t>measure the cost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Animation · Deobfuscation</a:t>
            </a:r>
          </a:p>
        </p:txBody>
      </p:sp>
      <p:pic>
        <p:nvPicPr>
          <p:cNvPr id="7" name="Picture 6" descr="deobfuscation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25" y="1325880"/>
            <a:ext cx="10675045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Animation · Deobfuscation — Edge Case (alternating parity)</a:t>
            </a:r>
          </a:p>
        </p:txBody>
      </p:sp>
      <p:pic>
        <p:nvPicPr>
          <p:cNvPr id="7" name="Picture 6" descr="deobfuscation--edge-alternating-parity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25" y="1325880"/>
            <a:ext cx="10675045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Tool 2 — MBA Simplifier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Undoes arithmetic encoding (K-02)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2968"/>
            <a:ext cx="10911535" cy="797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Countermeasure: also tie encoded constants to opaque predicates — layers that depend on each other are harder to solve separately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1025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Rule:</a:t>
            </a:r>
            <a:r>
              <a:rPr sz="2000" b="0">
                <a:solidFill>
                  <a:srgbClr val="1F2D3A"/>
                </a:solidFill>
              </a:rPr>
              <a:t> do not </a:t>
            </a:r>
            <a:r>
              <a:rPr sz="2000" b="1">
                <a:solidFill>
                  <a:srgbClr val="1F2D3A"/>
                </a:solidFill>
              </a:rPr>
              <a:t>count</a:t>
            </a:r>
            <a:r>
              <a:rPr sz="2000" b="0">
                <a:solidFill>
                  <a:srgbClr val="1F2D3A"/>
                </a:solidFill>
              </a:rPr>
              <a:t> arithmetic encoding as a secrecy layer on its own; combine it with control flow.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Tool 3 — Pattern Recognition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Recognises known library/pass patterns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296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Rule: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diversify</a:t>
            </a:r>
            <a:r>
              <a:rPr sz="2000" b="0">
                <a:solidFill>
                  <a:srgbClr val="1F2D3A"/>
                </a:solidFill>
              </a:rPr>
              <a:t>; do not rely on a single opaque predicate pattern or a single VM design.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282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(in space: several patterns/seeds · in time: change the patterns every release)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Main Takeaway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Banescu et al. (Tigress + KLEE): how much each transform withstands symbolic execution is </a:t>
            </a:r>
            <a:r>
              <a:rPr sz="2000" b="1">
                <a:solidFill>
                  <a:srgbClr val="1F2D3A"/>
                </a:solidFill>
              </a:rPr>
              <a:t>measured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05736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Resilience is not a </a:t>
            </a:r>
            <a:r>
              <a:rPr sz="2000" b="1">
                <a:solidFill>
                  <a:srgbClr val="1F2D3A"/>
                </a:solidFill>
              </a:rPr>
              <a:t>claim</a:t>
            </a:r>
            <a:r>
              <a:rPr sz="2000" b="0">
                <a:solidFill>
                  <a:srgbClr val="1F2D3A"/>
                </a:solidFill>
              </a:rPr>
              <a:t>, it is a </a:t>
            </a:r>
            <a:r>
              <a:rPr sz="2000" b="1">
                <a:solidFill>
                  <a:srgbClr val="1F2D3A"/>
                </a:solidFill>
              </a:rPr>
              <a:t>measured</a:t>
            </a:r>
            <a:r>
              <a:rPr sz="2000" b="0">
                <a:solidFill>
                  <a:srgbClr val="1F2D3A"/>
                </a:solidFill>
              </a:rPr>
              <a:t> quantity.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19984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Do not say "strong"; </a:t>
            </a:r>
            <a:r>
              <a:rPr sz="2000" b="1">
                <a:solidFill>
                  <a:srgbClr val="1F2D3A"/>
                </a:solidFill>
              </a:rPr>
              <a:t>produce a number</a:t>
            </a:r>
            <a:r>
              <a:rPr sz="2000" b="0">
                <a:solidFill>
                  <a:srgbClr val="1F2D3A"/>
                </a:solidFill>
              </a:rPr>
              <a:t>: "this transform pipeline did not let this problem, of this size, be solved in this much time, against this tool."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170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6. Layered Defence, Project, Closing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Obfuscation in Layered Defence — Diagram</a:t>
            </a:r>
          </a:p>
        </p:txBody>
      </p:sp>
      <p:pic>
        <p:nvPicPr>
          <p:cNvPr id="7" name="Picture 6" descr="h09-16-katmanli-savunmada-y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2548" y="1325880"/>
            <a:ext cx="7666598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Obfuscation's Place in Layered Defence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25072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7395"/>
                <a:gridCol w="839348"/>
                <a:gridCol w="6714790"/>
              </a:tblGrid>
              <a:tr h="417880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Week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Relationship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1788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Memory safety/secure compilation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Does not replace it; works together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788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RASP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Obfuscation also hides RASP; RASP protects obfuscation while it runs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1788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Whitebox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The real protection for the key; obfuscation is the shell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788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Key renewal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Time "until it is renewed"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17884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Certification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12–13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The delay is scored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 Observation from the Field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In a certified product, the native countermeasures cover </a:t>
            </a:r>
            <a:r>
              <a:rPr sz="2000" b="1">
                <a:solidFill>
                  <a:srgbClr val="1F2D3A"/>
                </a:solidFill>
              </a:rPr>
              <a:t>all</a:t>
            </a:r>
            <a:r>
              <a:rPr sz="2000" b="0">
                <a:solidFill>
                  <a:srgbClr val="1F2D3A"/>
                </a:solidFill>
              </a:rPr>
              <a:t> of this week's rules.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But the document notes, next to every one of them: </a:t>
            </a:r>
            <a:r>
              <a:rPr sz="2000" b="1">
                <a:solidFill>
                  <a:srgbClr val="1F2D3A"/>
                </a:solidFill>
              </a:rPr>
              <a:t>"not strong on its own."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25192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What convinces an evaluator: togetherness + diversification + </a:t>
            </a:r>
            <a:r>
              <a:rPr sz="2000" b="1">
                <a:solidFill>
                  <a:srgbClr val="1F2D3A"/>
                </a:solidFill>
              </a:rPr>
              <a:t>measured</a:t>
            </a:r>
            <a:r>
              <a:rPr sz="2000" b="0">
                <a:solidFill>
                  <a:srgbClr val="1F2D3A"/>
                </a:solidFill>
              </a:rPr>
              <a:t> delay.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174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End to End: Layer by Layer Protection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Goal of This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We take a single synthetic check (</a:t>
            </a:r>
            <a:r>
              <a:rPr sz="2000" b="0">
                <a:solidFill>
                  <a:srgbClr val="A1123F"/>
                </a:solidFill>
                <a:latin typeface="Consolas"/>
              </a:rPr>
              <a:t>grant_access</a:t>
            </a:r>
            <a:r>
              <a:rPr sz="2000" b="0">
                <a:solidFill>
                  <a:srgbClr val="1F2D3A"/>
                </a:solidFill>
              </a:rPr>
              <a:t>) and protect it </a:t>
            </a:r>
            <a:r>
              <a:rPr sz="2000" b="1">
                <a:solidFill>
                  <a:srgbClr val="1F2D3A"/>
                </a:solidFill>
              </a:rPr>
              <a:t>layer by layer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At every step: what was added · what we gained · what we paid.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0 · Unprotected Start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grant_access(const char *token)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(token_valid(token))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return GRANTED;      /* single branch, single return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DENIED;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7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Weakness:</a:t>
            </a:r>
            <a:r>
              <a:rPr sz="2000" b="0">
                <a:solidFill>
                  <a:srgbClr val="1F2D3A"/>
                </a:solidFill>
              </a:rPr>
              <a:t> a single branch,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strings</a:t>
            </a:r>
            <a:r>
              <a:rPr sz="2000" b="0">
                <a:solidFill>
                  <a:srgbClr val="1F2D3A"/>
                </a:solidFill>
              </a:rPr>
              <a:t>, bypassed with a single-byte patch.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0 · What Does the Attacker Do?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strings</a:t>
            </a:r>
            <a:r>
              <a:rPr sz="2000" b="0">
                <a:solidFill>
                  <a:srgbClr val="1F2D3A"/>
                </a:solidFill>
              </a:rPr>
              <a:t> → </a:t>
            </a:r>
            <a:r>
              <a:rPr sz="2000" b="0">
                <a:solidFill>
                  <a:srgbClr val="A1123F"/>
                </a:solidFill>
                <a:latin typeface="Consolas"/>
              </a:rPr>
              <a:t>GRANTED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DENIED</a:t>
            </a:r>
            <a:r>
              <a:rPr sz="2000" b="0">
                <a:solidFill>
                  <a:srgbClr val="1F2D3A"/>
                </a:solidFill>
              </a:rPr>
              <a:t> and the related strings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Decompile → a single </a:t>
            </a:r>
            <a:r>
              <a:rPr sz="2000" b="0">
                <a:solidFill>
                  <a:srgbClr val="A1123F"/>
                </a:solidFill>
                <a:latin typeface="Consolas"/>
              </a:rPr>
              <a:t>if</a:t>
            </a:r>
            <a:r>
              <a:rPr sz="2000" b="0">
                <a:solidFill>
                  <a:srgbClr val="1F2D3A"/>
                </a:solidFill>
              </a:rPr>
              <a:t>, two returns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Flip the failure branch to success (a single byte)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Time:</a:t>
            </a:r>
            <a:r>
              <a:rPr sz="2000" b="0">
                <a:solidFill>
                  <a:srgbClr val="1F2D3A"/>
                </a:solidFill>
              </a:rPr>
              <a:t> minutes. </a:t>
            </a:r>
            <a:r>
              <a:rPr sz="2000" b="1">
                <a:solidFill>
                  <a:srgbClr val="1F2D3A"/>
                </a:solidFill>
              </a:rPr>
              <a:t>Skill:</a:t>
            </a:r>
            <a:r>
              <a:rPr sz="2000" b="0">
                <a:solidFill>
                  <a:srgbClr val="1F2D3A"/>
                </a:solidFill>
              </a:rPr>
              <a:t> low.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1 · K-07 Encode the String/Constant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/* GRANTED/DENIED and strings no longer appear in plain text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static int grant_code(void){ return 0x9E ^ 0x9F; } /* =1 */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Gain: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strings</a:t>
            </a:r>
            <a:r>
              <a:rPr sz="2000" b="0">
                <a:solidFill>
                  <a:srgbClr val="1F2D3A"/>
                </a:solidFill>
              </a:rPr>
              <a:t> does not find the sensitive text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Cost:</a:t>
            </a:r>
            <a:r>
              <a:rPr sz="2000" b="0">
                <a:solidFill>
                  <a:srgbClr val="1F2D3A"/>
                </a:solidFill>
              </a:rPr>
              <a:t> very low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1 · Measurement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184097" cy="1179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83202"/>
                <a:gridCol w="2182306"/>
                <a:gridCol w="1818589"/>
              </a:tblGrid>
              <a:tr h="39319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Step 0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Step 1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Sensitive strings in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strings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Binary size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baseline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+0.5%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261518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first layer is the cheapest and gives the highest return.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2 · K-02 Arithmetic Encoding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/* comparison turns into a complex but equivalent expression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threshold = ((a ^ b) + 2*(a &amp; b));   /* = a + b */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Gain:</a:t>
            </a:r>
            <a:r>
              <a:rPr sz="2000" b="0">
                <a:solidFill>
                  <a:srgbClr val="1F2D3A"/>
                </a:solidFill>
              </a:rPr>
              <a:t> the constant/computation is not directly readable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Cost:</a:t>
            </a:r>
            <a:r>
              <a:rPr sz="2000" b="0">
                <a:solidFill>
                  <a:srgbClr val="1F2D3A"/>
                </a:solidFill>
              </a:rPr>
              <a:t> low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3 · K-04 Flatten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state = START;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for(;;) switch(state){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case START: state = check()?STEP:FAIL; break;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case STEP:  state = DONE; break;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case FAIL:  return DENIED;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case DONE: return GRANTED;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327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No single </a:t>
            </a:r>
            <a:r>
              <a:rPr sz="2000" b="0">
                <a:solidFill>
                  <a:srgbClr val="A1123F"/>
                </a:solidFill>
                <a:latin typeface="Consolas"/>
              </a:rPr>
              <a:t>if</a:t>
            </a:r>
            <a:r>
              <a:rPr sz="2000" b="0">
                <a:solidFill>
                  <a:srgbClr val="1F2D3A"/>
                </a:solidFill>
              </a:rPr>
              <a:t> anymore; the order lives in the state variable.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3 · What Changed?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CFG is now "horizontal" — the blocks sit in one switch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Which branch means "success" cannot be read directly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Cost:</a:t>
            </a:r>
            <a:r>
              <a:rPr sz="2000" b="0">
                <a:solidFill>
                  <a:srgbClr val="1F2D3A"/>
                </a:solidFill>
              </a:rPr>
              <a:t> medium (more blocks/branches, a bit slower)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4 · K-05 Random Exit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(!check()) { state = unpredictable_value(); break; } /* →default */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98903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Where</a:t>
            </a:r>
            <a:r>
              <a:rPr sz="2000" b="0">
                <a:solidFill>
                  <a:srgbClr val="1F2D3A"/>
                </a:solidFill>
              </a:rPr>
              <a:t> the error was caught cannot be read from the flow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single-byte patch is no longer enough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5 · K-03 Bogus + Dead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crc ^= (s ^ s);            /* bogus operation: result unchanged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(opaque_false()) fake(); /* dead branch: never runs */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real logic sits in a crowd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Cost:</a:t>
            </a:r>
            <a:r>
              <a:rPr sz="2000" b="0">
                <a:solidFill>
                  <a:srgbClr val="1F2D3A"/>
                </a:solidFill>
              </a:rPr>
              <a:t> medium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6 · K-08 Opaque Boolean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Decision k = allow();               /* a^b==0xFFFF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(decision_grants(k)) apply();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result is not a plain 0/1 → a single byte cannot flip it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Flipping it requires </a:t>
            </a:r>
            <a:r>
              <a:rPr sz="2000" b="1">
                <a:solidFill>
                  <a:srgbClr val="1F2D3A"/>
                </a:solidFill>
              </a:rPr>
              <a:t>multiple</a:t>
            </a:r>
            <a:r>
              <a:rPr sz="2000" b="0">
                <a:solidFill>
                  <a:srgbClr val="1F2D3A"/>
                </a:solidFill>
              </a:rPr>
              <a:t> points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The Cumulative Effect of the Layers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2079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4871"/>
                <a:gridCol w="2546024"/>
                <a:gridCol w="4728331"/>
                <a:gridCol w="2182307"/>
              </a:tblGrid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Step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Rule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Attack time (relative)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Cost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1×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K-07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2×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very low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K-02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3×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K-04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8×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medium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4–6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K-05/03/08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20×+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medium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514953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 i="1">
                <a:solidFill>
                  <a:srgbClr val="1F2D3A"/>
                </a:solidFill>
              </a:rPr>
              <a:t>(Relative, for illustration; real values are measured.)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7 · K-10 Virtualisation?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Only for the </a:t>
            </a:r>
            <a:r>
              <a:rPr sz="2000" b="1">
                <a:solidFill>
                  <a:srgbClr val="1F2D3A"/>
                </a:solidFill>
              </a:rPr>
              <a:t>most critical</a:t>
            </a:r>
            <a:r>
              <a:rPr sz="2000" b="0">
                <a:solidFill>
                  <a:srgbClr val="1F2D3A"/>
                </a:solidFill>
              </a:rPr>
              <a:t> function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Cost:</a:t>
            </a:r>
            <a:r>
              <a:rPr sz="2000" b="0">
                <a:solidFill>
                  <a:srgbClr val="1F2D3A"/>
                </a:solidFill>
              </a:rPr>
              <a:t> high (tens of times slower)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Unnecessary</a:t>
            </a:r>
            <a:r>
              <a:rPr sz="2000" b="0">
                <a:solidFill>
                  <a:srgbClr val="1F2D3A"/>
                </a:solidFill>
              </a:rPr>
              <a:t> for most checks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Rule:</a:t>
            </a:r>
            <a:r>
              <a:rPr sz="2000" b="0">
                <a:solidFill>
                  <a:srgbClr val="1F2D3A"/>
                </a:solidFill>
              </a:rPr>
              <a:t> do not go this far if the value is low.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End to End: Takeaway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layer made the attack a little more </a:t>
            </a:r>
            <a:r>
              <a:rPr sz="2000" b="1">
                <a:solidFill>
                  <a:srgbClr val="1F2D3A"/>
                </a:solidFill>
              </a:rPr>
              <a:t>expensive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layer added a </a:t>
            </a:r>
            <a:r>
              <a:rPr sz="2000" b="1">
                <a:solidFill>
                  <a:srgbClr val="1F2D3A"/>
                </a:solidFill>
              </a:rPr>
              <a:t>cost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Where you stop depends on the </a:t>
            </a:r>
            <a:r>
              <a:rPr sz="2000" b="1">
                <a:solidFill>
                  <a:srgbClr val="1F2D3A"/>
                </a:solidFill>
              </a:rPr>
              <a:t>asset's value</a:t>
            </a:r>
            <a:r>
              <a:rPr sz="2000" b="0">
                <a:solidFill>
                  <a:srgbClr val="1F2D3A"/>
                </a:solidFill>
              </a:rPr>
              <a:t> and on what you </a:t>
            </a:r>
            <a:r>
              <a:rPr sz="2000" b="1">
                <a:solidFill>
                  <a:srgbClr val="1F2D3A"/>
                </a:solidFill>
              </a:rPr>
              <a:t>measured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54808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This table is exactly the protection table you will put into S9.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Project · S9 (Advanced Hardening) —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1. Protection 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For 2–3 critical sections (license, key derivation, integrity), fill in the rule template: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553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what it protects · threat · how · cost · limit · measurement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Project · S9 —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2. Measurement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For at least one technique, before/after: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Count of sensitive strings in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strings</a:t>
            </a:r>
            <a:r>
              <a:rPr sz="2000" b="0">
                <a:solidFill>
                  <a:srgbClr val="1F2D3A"/>
                </a:solidFill>
              </a:rPr>
              <a:t> output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CFG node count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Binary size, the duration of an operation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Project · S9 — 3,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3. Diversification decision:</a:t>
            </a:r>
            <a:r>
              <a:rPr sz="2000" b="0">
                <a:solidFill>
                  <a:srgbClr val="1F2D3A"/>
                </a:solidFill>
              </a:rPr>
              <a:t> yes/no + </a:t>
            </a:r>
            <a:r>
              <a:rPr sz="2000" b="1">
                <a:solidFill>
                  <a:srgbClr val="1F2D3A"/>
                </a:solidFill>
              </a:rPr>
              <a:t>justification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4. Limit and remaining risk:</a:t>
            </a:r>
            <a:r>
              <a:rPr sz="2000" b="0">
                <a:solidFill>
                  <a:srgbClr val="1F2D3A"/>
                </a:solidFill>
              </a:rPr>
              <a:t> what does each protection </a:t>
            </a:r>
            <a:r>
              <a:rPr sz="2000" b="1">
                <a:solidFill>
                  <a:srgbClr val="1F2D3A"/>
                </a:solidFill>
              </a:rPr>
              <a:t>not</a:t>
            </a:r>
            <a:r>
              <a:rPr sz="2000" b="0">
                <a:solidFill>
                  <a:srgbClr val="1F2D3A"/>
                </a:solidFill>
              </a:rPr>
              <a:t> protect?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25192"/>
            <a:ext cx="10911535" cy="934719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"This string obfuscation does not protect the key; for the key see S8 whitebox/hardware."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69640"/>
            <a:ext cx="10911535" cy="934719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Later: S15 (week 14, putting obfuscation into the build pipeline) · S16 (week 12, testing that behaviour is unchanged).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Through an Evaluator's Eyes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What S9 is graded on is </a:t>
            </a:r>
            <a:r>
              <a:rPr sz="2000" b="1">
                <a:solidFill>
                  <a:srgbClr val="1F2D3A"/>
                </a:solidFill>
              </a:rPr>
              <a:t>not</a:t>
            </a:r>
            <a:r>
              <a:rPr sz="2000" b="0">
                <a:solidFill>
                  <a:srgbClr val="1F2D3A"/>
                </a:solidFill>
              </a:rPr>
              <a:t> "I used a lot of techniques."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It is graded on: </a:t>
            </a:r>
            <a:r>
              <a:rPr sz="2000" b="1">
                <a:solidFill>
                  <a:srgbClr val="1F2D3A"/>
                </a:solidFill>
              </a:rPr>
              <a:t>the justification and measurement of every technique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25192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An unmeasured protection = a claim. Not evidence.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Self-Check (1–6)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148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1. </a:t>
            </a:r>
            <a:r>
              <a:rPr sz="1800" b="0">
                <a:solidFill>
                  <a:srgbClr val="1F2D3A"/>
                </a:solidFill>
              </a:rPr>
              <a:t>What is MATE? Why does it leave cryptography insufficient on its own?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2. </a:t>
            </a:r>
            <a:r>
              <a:rPr sz="1800" b="0">
                <a:solidFill>
                  <a:srgbClr val="1F2D3A"/>
                </a:solidFill>
              </a:rPr>
              <a:t>"Makes it expensive" — give an asset-value example?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3. </a:t>
            </a:r>
            <a:r>
              <a:rPr sz="1800" b="0">
                <a:solidFill>
                  <a:srgbClr val="1F2D3A"/>
                </a:solidFill>
              </a:rPr>
              <a:t>Bogus operation ≠ dead branch?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4. </a:t>
            </a:r>
            <a:r>
              <a:rPr sz="1800" b="0">
                <a:solidFill>
                  <a:srgbClr val="1F2D3A"/>
                </a:solidFill>
              </a:rPr>
              <a:t>Why is flattening weak on its own? Name 3 reinforcements?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5. </a:t>
            </a:r>
            <a:r>
              <a:rPr sz="1800" b="0">
                <a:solidFill>
                  <a:srgbClr val="1F2D3A"/>
                </a:solidFill>
              </a:rPr>
              <a:t>Which attack does random exit make harder?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6. </a:t>
            </a:r>
            <a:r>
              <a:rPr sz="1800" b="0">
                <a:solidFill>
                  <a:srgbClr val="1F2D3A"/>
                </a:solidFill>
              </a:rPr>
              <a:t>Does string obfuscation protect the key?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Self-Check — Answers (1–6)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526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1. </a:t>
            </a:r>
            <a:r>
              <a:rPr sz="1800" b="1">
                <a:solidFill>
                  <a:srgbClr val="1F2D3A"/>
                </a:solidFill>
              </a:rPr>
              <a:t>MATE = Man-At-The-End:</a:t>
            </a:r>
            <a:r>
              <a:rPr sz="1800" b="0">
                <a:solidFill>
                  <a:srgbClr val="1F2D3A"/>
                </a:solidFill>
              </a:rPr>
              <a:t> the attacker fully possesses the device (memory, debugger, key). Crypto assumes a secure endpoint; under MATE the key is exposed </a:t>
            </a:r>
            <a:r>
              <a:rPr sz="1800" b="1">
                <a:solidFill>
                  <a:srgbClr val="1F2D3A"/>
                </a:solidFill>
              </a:rPr>
              <a:t>while running</a:t>
            </a:r>
            <a:r>
              <a:rPr sz="1800" b="0">
                <a:solidFill>
                  <a:srgbClr val="1F2D3A"/>
                </a:solidFill>
              </a:rPr>
              <a:t> → crypto alone is not enough.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2. </a:t>
            </a:r>
            <a:r>
              <a:rPr sz="1800" b="0">
                <a:solidFill>
                  <a:srgbClr val="1F2D3A"/>
                </a:solidFill>
              </a:rPr>
              <a:t>Obfuscation does not mean unbreakable; it demands </a:t>
            </a:r>
            <a:r>
              <a:rPr sz="1800" b="1">
                <a:solidFill>
                  <a:srgbClr val="1F2D3A"/>
                </a:solidFill>
              </a:rPr>
              <a:t>more time/skill/tools</a:t>
            </a:r>
            <a:r>
              <a:rPr sz="1800" b="0">
                <a:solidFill>
                  <a:srgbClr val="1F2D3A"/>
                </a:solidFill>
              </a:rPr>
              <a:t> for the attack. If breaking 100 TL worth of content requires 10,000 TL of effort, the attacker gives up.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3. </a:t>
            </a:r>
            <a:r>
              <a:rPr sz="1800" b="0">
                <a:solidFill>
                  <a:srgbClr val="1F2D3A"/>
                </a:solidFill>
              </a:rPr>
              <a:t>A </a:t>
            </a:r>
            <a:r>
              <a:rPr sz="1800" b="1">
                <a:solidFill>
                  <a:srgbClr val="1F2D3A"/>
                </a:solidFill>
              </a:rPr>
              <a:t>bogus operation</a:t>
            </a:r>
            <a:r>
              <a:rPr sz="1800" b="0">
                <a:solidFill>
                  <a:srgbClr val="1F2D3A"/>
                </a:solidFill>
              </a:rPr>
              <a:t> runs but its result is not used (it tires the analyst out); a </a:t>
            </a:r>
            <a:r>
              <a:rPr sz="1800" b="1">
                <a:solidFill>
                  <a:srgbClr val="1F2D3A"/>
                </a:solidFill>
              </a:rPr>
              <a:t>dead branch</a:t>
            </a:r>
            <a:r>
              <a:rPr sz="1800" b="0">
                <a:solidFill>
                  <a:srgbClr val="1F2D3A"/>
                </a:solidFill>
              </a:rPr>
              <a:t>, protected by an opaque predicate, </a:t>
            </a:r>
            <a:r>
              <a:rPr sz="1800" b="1">
                <a:solidFill>
                  <a:srgbClr val="1F2D3A"/>
                </a:solidFill>
              </a:rPr>
              <a:t>never runs</a:t>
            </a:r>
            <a:r>
              <a:rPr sz="18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4. </a:t>
            </a:r>
            <a:r>
              <a:rPr sz="1800" b="0">
                <a:solidFill>
                  <a:srgbClr val="1F2D3A"/>
                </a:solidFill>
              </a:rPr>
              <a:t>In flattening, the dispatcher pattern is recognisable and the state variable can be tracked. Reinforcements: </a:t>
            </a:r>
            <a:r>
              <a:rPr sz="1800" b="1">
                <a:solidFill>
                  <a:srgbClr val="1F2D3A"/>
                </a:solidFill>
              </a:rPr>
              <a:t>opaque predicate · encrypting the state variable · bogus states/blocks + random exit</a:t>
            </a:r>
            <a:r>
              <a:rPr sz="18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5. </a:t>
            </a:r>
            <a:r>
              <a:rPr sz="1800" b="0">
                <a:solidFill>
                  <a:srgbClr val="1F2D3A"/>
                </a:solidFill>
              </a:rPr>
              <a:t>It makes </a:t>
            </a:r>
            <a:r>
              <a:rPr sz="1800" b="1">
                <a:solidFill>
                  <a:srgbClr val="1F2D3A"/>
                </a:solidFill>
              </a:rPr>
              <a:t>pattern-matching and automated-script</a:t>
            </a:r>
            <a:r>
              <a:rPr sz="1800" b="0">
                <a:solidFill>
                  <a:srgbClr val="1F2D3A"/>
                </a:solidFill>
              </a:rPr>
              <a:t> attacks (expecting the same pattern for the same input) and symbolic execution harder.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6. </a:t>
            </a:r>
            <a:r>
              <a:rPr sz="1800" b="1">
                <a:solidFill>
                  <a:srgbClr val="1F2D3A"/>
                </a:solidFill>
              </a:rPr>
              <a:t>No.</a:t>
            </a:r>
            <a:r>
              <a:rPr sz="1800" b="0">
                <a:solidFill>
                  <a:srgbClr val="1F2D3A"/>
                </a:solidFill>
              </a:rPr>
              <a:t> String/table obfuscation makes static </a:t>
            </a:r>
            <a:r>
              <a:rPr sz="1800" b="0">
                <a:solidFill>
                  <a:srgbClr val="A1123F"/>
                </a:solidFill>
                <a:latin typeface="Consolas"/>
              </a:rPr>
              <a:t>strings</a:t>
            </a:r>
            <a:r>
              <a:rPr sz="1800" b="0">
                <a:solidFill>
                  <a:srgbClr val="1F2D3A"/>
                </a:solidFill>
              </a:rPr>
              <a:t> scanning harder, but the key is exposed </a:t>
            </a:r>
            <a:r>
              <a:rPr sz="1800" b="1">
                <a:solidFill>
                  <a:srgbClr val="1F2D3A"/>
                </a:solidFill>
              </a:rPr>
              <a:t>in memory while running</a:t>
            </a:r>
            <a:r>
              <a:rPr sz="1800" b="0">
                <a:solidFill>
                  <a:srgbClr val="1F2D3A"/>
                </a:solidFill>
              </a:rPr>
              <a:t> → whitebox/HSM is required.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Self-Check (7–12)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148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1. </a:t>
            </a:r>
            <a:r>
              <a:rPr sz="1800" b="0">
                <a:solidFill>
                  <a:srgbClr val="1F2D3A"/>
                </a:solidFill>
              </a:rPr>
              <a:t>What are virtualisation's two costs?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2. </a:t>
            </a:r>
            <a:r>
              <a:rPr sz="1800" b="0">
                <a:solidFill>
                  <a:srgbClr val="1F2D3A"/>
                </a:solidFill>
              </a:rPr>
              <a:t>Which OS protection does self-modifying code conflict with?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3. </a:t>
            </a:r>
            <a:r>
              <a:rPr sz="1800" b="0">
                <a:solidFill>
                  <a:srgbClr val="1F2D3A"/>
                </a:solidFill>
              </a:rPr>
              <a:t>The four metrics; which ones trade off?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4. </a:t>
            </a:r>
            <a:r>
              <a:rPr sz="1800" b="0">
                <a:solidFill>
                  <a:srgbClr val="1F2D3A"/>
                </a:solidFill>
              </a:rPr>
              <a:t>Does diversification prevent potency or scaling?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5. </a:t>
            </a:r>
            <a:r>
              <a:rPr sz="1800" b="0">
                <a:solidFill>
                  <a:srgbClr val="1F2D3A"/>
                </a:solidFill>
              </a:rPr>
              <a:t>Which rules does KLEE break? How is resilience increased?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6. </a:t>
            </a:r>
            <a:r>
              <a:rPr sz="1800" b="0">
                <a:solidFill>
                  <a:srgbClr val="1F2D3A"/>
                </a:solidFill>
              </a:rPr>
              <a:t>Fill in the rule template for a section.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Self-Check — Answers (7–12)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526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1. </a:t>
            </a:r>
            <a:r>
              <a:rPr sz="1800" b="0">
                <a:solidFill>
                  <a:srgbClr val="1F2D3A"/>
                </a:solidFill>
              </a:rPr>
              <a:t>A large </a:t>
            </a:r>
            <a:r>
              <a:rPr sz="1800" b="1">
                <a:solidFill>
                  <a:srgbClr val="1F2D3A"/>
                </a:solidFill>
              </a:rPr>
              <a:t>performance</a:t>
            </a:r>
            <a:r>
              <a:rPr sz="1800" b="0">
                <a:solidFill>
                  <a:srgbClr val="1F2D3A"/>
                </a:solidFill>
              </a:rPr>
              <a:t> penalty (the interpreter is slow) + a </a:t>
            </a:r>
            <a:r>
              <a:rPr sz="1800" b="1">
                <a:solidFill>
                  <a:srgbClr val="1F2D3A"/>
                </a:solidFill>
              </a:rPr>
              <a:t>size</a:t>
            </a:r>
            <a:r>
              <a:rPr sz="1800" b="0">
                <a:solidFill>
                  <a:srgbClr val="1F2D3A"/>
                </a:solidFill>
              </a:rPr>
              <a:t> increase (VM + bytecode); maintenance/debugging difficulty.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2. </a:t>
            </a:r>
            <a:r>
              <a:rPr sz="1800" b="1">
                <a:solidFill>
                  <a:srgbClr val="1F2D3A"/>
                </a:solidFill>
              </a:rPr>
              <a:t>W^X / DEP-NX</a:t>
            </a:r>
            <a:r>
              <a:rPr sz="1800" b="0">
                <a:solidFill>
                  <a:srgbClr val="1F2D3A"/>
                </a:solidFill>
              </a:rPr>
              <a:t> (writable-and-executable memory is forbidden); writing to a code page needs </a:t>
            </a:r>
            <a:r>
              <a:rPr sz="1800" b="0">
                <a:solidFill>
                  <a:srgbClr val="A1123F"/>
                </a:solidFill>
                <a:latin typeface="Consolas"/>
              </a:rPr>
              <a:t>mprotect</a:t>
            </a:r>
            <a:r>
              <a:rPr sz="1800" b="0">
                <a:solidFill>
                  <a:srgbClr val="1F2D3A"/>
                </a:solidFill>
              </a:rPr>
              <a:t>/</a:t>
            </a:r>
            <a:r>
              <a:rPr sz="1800" b="0">
                <a:solidFill>
                  <a:srgbClr val="A1123F"/>
                </a:solidFill>
                <a:latin typeface="Consolas"/>
              </a:rPr>
              <a:t>VirtualProtect</a:t>
            </a:r>
            <a:r>
              <a:rPr sz="1800" b="0">
                <a:solidFill>
                  <a:srgbClr val="1F2D3A"/>
                </a:solidFill>
              </a:rPr>
              <a:t>, which is blocked or suspicious.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3. </a:t>
            </a:r>
            <a:r>
              <a:rPr sz="1800" b="1">
                <a:solidFill>
                  <a:srgbClr val="1F2D3A"/>
                </a:solidFill>
              </a:rPr>
              <a:t>Potency · resilience · stealth · cost.</a:t>
            </a:r>
            <a:r>
              <a:rPr sz="1800" b="0">
                <a:solidFill>
                  <a:srgbClr val="1F2D3A"/>
                </a:solidFill>
              </a:rPr>
              <a:t> Potency/resilience ↑ → cost ↑ and stealth ↓ (looks abnormal). Main trade-off: </a:t>
            </a:r>
            <a:r>
              <a:rPr sz="1800" b="1">
                <a:solidFill>
                  <a:srgbClr val="1F2D3A"/>
                </a:solidFill>
              </a:rPr>
              <a:t>resilience ↔ cost</a:t>
            </a:r>
            <a:r>
              <a:rPr sz="18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4. </a:t>
            </a:r>
            <a:r>
              <a:rPr sz="1800" b="0">
                <a:solidFill>
                  <a:srgbClr val="1F2D3A"/>
                </a:solidFill>
              </a:rPr>
              <a:t>It prevents </a:t>
            </a:r>
            <a:r>
              <a:rPr sz="1800" b="1">
                <a:solidFill>
                  <a:srgbClr val="1F2D3A"/>
                </a:solidFill>
              </a:rPr>
              <a:t>scaling</a:t>
            </a:r>
            <a:r>
              <a:rPr sz="1800" b="0">
                <a:solidFill>
                  <a:srgbClr val="1F2D3A"/>
                </a:solidFill>
              </a:rPr>
              <a:t> — it does not raise a single copy's strength; a crack does </a:t>
            </a:r>
            <a:r>
              <a:rPr sz="1800" b="1">
                <a:solidFill>
                  <a:srgbClr val="1F2D3A"/>
                </a:solidFill>
              </a:rPr>
              <a:t>not spread</a:t>
            </a:r>
            <a:r>
              <a:rPr sz="1800" b="0">
                <a:solidFill>
                  <a:srgbClr val="1F2D3A"/>
                </a:solidFill>
              </a:rPr>
              <a:t> to every copy (it breaks reuse of the attack).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5. </a:t>
            </a:r>
            <a:r>
              <a:rPr sz="1800" b="1">
                <a:solidFill>
                  <a:srgbClr val="1F2D3A"/>
                </a:solidFill>
              </a:rPr>
              <a:t>KLEE</a:t>
            </a:r>
            <a:r>
              <a:rPr sz="1800" b="0">
                <a:solidFill>
                  <a:srgbClr val="1F2D3A"/>
                </a:solidFill>
              </a:rPr>
              <a:t> is symbolic execution; it can solve opaque predicates/flattening. Rule: make predicates </a:t>
            </a:r>
            <a:r>
              <a:rPr sz="1800" b="1">
                <a:solidFill>
                  <a:srgbClr val="1F2D3A"/>
                </a:solidFill>
              </a:rPr>
              <a:t>resistant to symbolic execution</a:t>
            </a:r>
            <a:r>
              <a:rPr sz="1800" b="0">
                <a:solidFill>
                  <a:srgbClr val="1F2D3A"/>
                </a:solidFill>
              </a:rPr>
              <a:t> (input-dependent, hard to solve); path-exploding structures raise resilience.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6. </a:t>
            </a:r>
            <a:r>
              <a:rPr sz="1800" b="0">
                <a:solidFill>
                  <a:srgbClr val="1F2D3A"/>
                </a:solidFill>
              </a:rPr>
              <a:t>Example: </a:t>
            </a:r>
            <a:r>
              <a:rPr sz="1800" b="1">
                <a:solidFill>
                  <a:srgbClr val="1F2D3A"/>
                </a:solidFill>
              </a:rPr>
              <a:t>Rule</a:t>
            </a:r>
            <a:r>
              <a:rPr sz="1800" b="0">
                <a:solidFill>
                  <a:srgbClr val="1F2D3A"/>
                </a:solidFill>
              </a:rPr>
              <a:t> [flattening] → </a:t>
            </a:r>
            <a:r>
              <a:rPr sz="1800" b="1">
                <a:solidFill>
                  <a:srgbClr val="1F2D3A"/>
                </a:solidFill>
              </a:rPr>
              <a:t>Goal</a:t>
            </a:r>
            <a:r>
              <a:rPr sz="1800" b="0">
                <a:solidFill>
                  <a:srgbClr val="1F2D3A"/>
                </a:solidFill>
              </a:rPr>
              <a:t> [hide the flow] → </a:t>
            </a:r>
            <a:r>
              <a:rPr sz="1800" b="1">
                <a:solidFill>
                  <a:srgbClr val="1F2D3A"/>
                </a:solidFill>
              </a:rPr>
              <a:t>How</a:t>
            </a:r>
            <a:r>
              <a:rPr sz="1800" b="0">
                <a:solidFill>
                  <a:srgbClr val="1F2D3A"/>
                </a:solidFill>
              </a:rPr>
              <a:t> [Tigress Flatten + opaque predicate] → </a:t>
            </a:r>
            <a:r>
              <a:rPr sz="1800" b="1">
                <a:solidFill>
                  <a:srgbClr val="1F2D3A"/>
                </a:solidFill>
              </a:rPr>
              <a:t>Measurement</a:t>
            </a:r>
            <a:r>
              <a:rPr sz="1800" b="0">
                <a:solidFill>
                  <a:srgbClr val="1F2D3A"/>
                </a:solidFill>
              </a:rPr>
              <a:t> [size +X%, speed −Y%, instructions N→M]. The measurement line is required.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Glossary (1)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293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8372"/>
                <a:gridCol w="8813162"/>
              </a:tblGrid>
              <a:tr h="38221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Term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Meaning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8221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MATE / white box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An attacker who possesses the program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221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Opaque predicate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 condition whose value the programmer knows, that the tool struggles to resolve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221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Flattening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Moving the flow into a single switch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221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Bogus operation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Code that runs but does not change the result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222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Dead branch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 branch (protected by an opaque predicate) that never runs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Glossary (2)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7613"/>
                <a:gridCol w="7053921"/>
              </a:tblGrid>
              <a:tr h="35112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Term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Meaning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Opaque boolean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 true/false value that cannot be flipped with a single byte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Virtualisation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Turning a function into custom VM bytecode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Diversification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Structurally different copies from the same source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3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Potency/resilience/stealth/cost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The obfuscation metrics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346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Cookbook</a:t>
            </a:r>
            <a:r>
              <a:rPr sz="2000" b="0">
                <a:solidFill>
                  <a:srgbClr val="1F2D3A"/>
                </a:solidFill>
              </a:rPr>
              <a:t> (Viega &amp; Messier) Chapter 12 — anti-tampering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Secure programming technical guide</a:t>
            </a:r>
            <a:r>
              <a:rPr sz="2000" b="0">
                <a:solidFill>
                  <a:srgbClr val="1F2D3A"/>
                </a:solidFill>
              </a:rPr>
              <a:t> — native countermeasures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Collberg &amp; Nagra, </a:t>
            </a:r>
            <a:r>
              <a:rPr sz="2000" b="0" i="1">
                <a:solidFill>
                  <a:srgbClr val="1F2D3A"/>
                </a:solidFill>
              </a:rPr>
              <a:t>Surreptitious Software</a:t>
            </a:r>
            <a:r>
              <a:rPr sz="2000" b="0">
                <a:solidFill>
                  <a:srgbClr val="1F2D3A"/>
                </a:solidFill>
              </a:rPr>
              <a:t> — taxonomy, measurement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Schrittwieser et al. (ACM CSUR 2016) — overview, deobfuscation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Banescu et al. — Tigress + KLEE resilience measurement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Obfuscator-LLVM — compiler-based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Next Week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Week 10 — Certificates and Cryptographic Methods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51808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We said "obfuscation does not protect the key" this week; week 10 covers choosing keys correctly, their lifecycle, and protecting them with PKI. Rule (this week) → whitebox (week 11) → automation (week 14): these three weeks form one whole.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CEN429 Week 9 — Advanced Obfuscation and Diversification</dc:title>
  <dc:subject/>
  <dc:creator>Asst. Prof. Dr. Uğur CORUH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