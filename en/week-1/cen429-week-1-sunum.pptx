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Introduce yourself and the course. This course is about "learning defence by seeing the attack." There will be working demos every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Build the demos once beforehand (Windows: `.\build.ps1` inside code, WSL: `./build.sh`), so there's no waiting in class. Show students that both environments give the same result; in Visual Studio, Open Folder on the `code` folder is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Ask students for their own examples: "For your Instagram account, what are the asset, the threat, the vulnerability?"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In Demo 4 we'll see a bug from the same family (a length check) with our own hands.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Examples: mobile payment, DRM, game cheats, license checks. "Just hide the key" isn't enough; the attacker can read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Building analogy: good lock, open window, key under the doormat, safe with no combination. Ask students "who would do this?" for each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The inner layers are "write it correctly," the outer layers are "what happens when the code is in the attacker's hands." This table is the term's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A game cheat example: the client is obfuscated, but the server accepts "100 meters in one second" movement.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The project's security guide will answer, for every layer, "which countermeasure did I take, how did I test it?"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ask first, then open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This architecture is only for showing the method. We'll use the interface and asset table method all term; the methods that protect the table's assets are opened up one at a time in the coming weeks (3: security shells, 4 and 9: native hardening, 6: RASP, 10: key hierarchy, 11: white-box).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A process is exposed to all six threats: it can be impersonated, its code altered, its memory read, it can be crashed, its privilege abused.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Draw the diagram on the board; E and F are the arrows that cross the trust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These seven steps are the skeleton of the term project's security guide. This week, steps 0-4 are expected.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First show the fake/date file (sahte\hostname.bat on Windows): it only prints a message. On Windows, cmd.exe searches the working directory before PATH too. Ask: "what would a real attacker do here?"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Highlight PR_SET_DUMPABLE's second effect: even a debugger from the same user can't attach. A bridge to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An evaluator starts the program with stdout closed, a poisoned PATH/LD_PRELOAD, and umask 000. In the field, the native layer tests whether getenv is hooked with a setenv/getenv round-trip.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On Linux the demo stops the program with gdb and dumps memory with gcore; on Windows the program writes its own memory with MiniDumpWriteDump. This is a safe simulation of a crash dump or debugger attack. MSVC /O2 also removes the memset. Machine code: objdump -d on Linux, the Disassembly window in Visual Studio.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The real layout varies by compiler. In this course we focus on how the bug happens, is found, and is prevented — not on the exploitation technique.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An evaluator first greps for dangerous functions, then checks whether every externally supplied length field is validated; checks protections with checksec / dumpbin.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The real point: a single byte is enough; tools have limits; the real fix is in the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In the field, session data is erased with random values the moment the operation ends; even a long run of zeros leaves a "there was a secret here" trace.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In the field, a single static key is split down to the half-byte and spread across dozens of functions; the fingerprint is stored in two places with two different hashes and compared. Masking alone is not a fortress; it gains value combined with the other layers.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Countermeasures like integrity checking also change the build pipeline: a hash is embedded, then rebuilt; a five-pass signed build in the field. The cost of protections is also measured: running the critical operation 20 times for the shortest, longest, average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Groups of 3-4 people. 10 minutes of work, 5 minutes for two groups to present. Hint: for E, a direct URL to a grade-entry page; for R, no record of the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first, then open the answer slide; full solutions in the appendix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first, then open the answer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first, then open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19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9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2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1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3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3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4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5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6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8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Introduction to Secure Programming and the Application Protection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Secure Programming —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Asst. Prof. Dr. Uğur CORUH · 18.09.2026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Today's plan (3 hours)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353"/>
                <a:gridCol w="10245181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Hour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Topic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Course introduction · What is security? · The attacker · Principles ·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Overview of application protection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Protection plan · STRIDE and risk score · Attack tree ·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Worked example "Vault"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Class exercise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1–2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Secure start-up · Overflows ·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3–4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Memory management · Partitioning · Secure process · Project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675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Learning outcomes:</a:t>
            </a:r>
            <a:r>
              <a:rPr sz="2000" b="0">
                <a:solidFill>
                  <a:srgbClr val="1F2D3A"/>
                </a:solidFill>
              </a:rPr>
              <a:t> LO.1 (identifies and classifies vulnerabilities) · LO.5 (produces a software plan using secure design principles)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How We're Starting This Course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This is the course's </a:t>
            </a:r>
            <a:r>
              <a:rPr sz="2000" b="1">
                <a:solidFill>
                  <a:srgbClr val="1F2D3A"/>
                </a:solidFill>
              </a:rPr>
              <a:t>first week</a:t>
            </a:r>
            <a:r>
              <a:rPr sz="2000" b="0">
                <a:solidFill>
                  <a:srgbClr val="1F2D3A"/>
                </a:solidFill>
              </a:rPr>
              <a:t>; we don't build on a previous week.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Assumed prior knowledge: functions, arrays, and pointers in C; </a:t>
            </a:r>
            <a:r>
              <a:rPr sz="2000" b="0">
                <a:solidFill>
                  <a:srgbClr val="A1123F"/>
                </a:solidFill>
                <a:latin typeface="Consolas"/>
              </a:rPr>
              <a:t>cd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0">
                <a:solidFill>
                  <a:srgbClr val="A1123F"/>
                </a:solidFill>
                <a:latin typeface="Consolas"/>
              </a:rPr>
              <a:t>ls</a:t>
            </a:r>
            <a:r>
              <a:rPr sz="2000" b="0">
                <a:solidFill>
                  <a:srgbClr val="1F2D3A"/>
                </a:solidFill>
              </a:rPr>
              <a:t> in a terminal (PowerShell or Linux).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</a:t>
            </a:r>
            <a:r>
              <a:rPr sz="2000" b="1">
                <a:solidFill>
                  <a:srgbClr val="1F2D3A"/>
                </a:solidFill>
              </a:rPr>
              <a:t>"This Week's Concepts"</a:t>
            </a:r>
            <a:r>
              <a:rPr sz="2000" b="0">
                <a:solidFill>
                  <a:srgbClr val="1F2D3A"/>
                </a:solidFill>
              </a:rPr>
              <a:t> table below does not define this week's terms one by one — it shows </a:t>
            </a:r>
            <a:r>
              <a:rPr sz="2000" b="1">
                <a:solidFill>
                  <a:srgbClr val="1F2D3A"/>
                </a:solidFill>
              </a:rPr>
              <a:t>which section</a:t>
            </a:r>
            <a:r>
              <a:rPr sz="2000" b="0">
                <a:solidFill>
                  <a:srgbClr val="1F2D3A"/>
                </a:solidFill>
              </a:rPr>
              <a:t> teaches each one.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pattern we'll follow all term: </a:t>
            </a:r>
            <a:r>
              <a:rPr sz="2000" b="1">
                <a:solidFill>
                  <a:srgbClr val="1F2D3A"/>
                </a:solidFill>
              </a:rPr>
              <a:t>buggy code → attack → fix.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This Week's Concepts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738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1F2D3A"/>
                </a:solidFill>
              </a:rPr>
              <a:t>Each term is defined once, where it first appears in the body; here we only mark </a:t>
            </a:r>
            <a:r>
              <a:rPr sz="1600" b="1">
                <a:solidFill>
                  <a:srgbClr val="1F2D3A"/>
                </a:solidFill>
              </a:rPr>
              <a:t>where</a:t>
            </a:r>
            <a:r>
              <a:rPr sz="1600" b="0">
                <a:solidFill>
                  <a:srgbClr val="1F2D3A"/>
                </a:solidFill>
              </a:rPr>
              <a:t>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09496"/>
          <a:ext cx="7456214" cy="43360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92049"/>
                <a:gridCol w="2364165"/>
              </a:tblGrid>
              <a:tr h="309720">
                <a:tc>
                  <a:txBody>
                    <a:bodyPr wrap="square"/>
                    <a:lstStyle/>
                    <a:p>
                      <a:r>
                        <a:rPr sz="1152" b="1">
                          <a:solidFill>
                            <a:srgbClr val="FFFFFF"/>
                          </a:solidFill>
                        </a:rPr>
                        <a:t>Concept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2" b="1">
                          <a:solidFill>
                            <a:srgbClr val="FFFFFF"/>
                          </a:solidFill>
                        </a:rPr>
                        <a:t>Where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09720"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Security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Section 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9720"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Asset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Section 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09720"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Threat and vulnerability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Section 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9720"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The CIA triad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Section 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09720"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Attacker model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Section 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9720"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White-box / MATE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Section 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09720"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Secure design principles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Section 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9720"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Defence in depth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Section 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09720"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Trade-off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Section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9720"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Threat modelling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Section 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09720"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STRIDE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Section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9720"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Attack tree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Section 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09724"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Data flow diagram (DFD)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2" b="0">
                          <a:solidFill>
                            <a:srgbClr val="1F2D3A"/>
                          </a:solidFill>
                        </a:rPr>
                        <a:t>Section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How the Demos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631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One source, two/three environments: </a:t>
            </a:r>
            <a:r>
              <a:rPr sz="2000" b="1">
                <a:solidFill>
                  <a:srgbClr val="1F2D3A"/>
                </a:solidFill>
              </a:rPr>
              <a:t>Windows</a:t>
            </a:r>
            <a:r>
              <a:rPr sz="2000" b="0">
                <a:solidFill>
                  <a:srgbClr val="1F2D3A"/>
                </a:solidFill>
              </a:rPr>
              <a:t> (Visual Studio 2022 Community or PowerShell), </a:t>
            </a:r>
            <a:r>
              <a:rPr sz="2000" b="1">
                <a:solidFill>
                  <a:srgbClr val="1F2D3A"/>
                </a:solidFill>
              </a:rPr>
              <a:t>WSL</a:t>
            </a:r>
            <a:r>
              <a:rPr sz="2000" b="0">
                <a:solidFill>
                  <a:srgbClr val="1F2D3A"/>
                </a:solidFill>
              </a:rPr>
              <a:t>, and </a:t>
            </a:r>
            <a:r>
              <a:rPr sz="2000" b="1">
                <a:solidFill>
                  <a:srgbClr val="1F2D3A"/>
                </a:solidFill>
              </a:rPr>
              <a:t>Linux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Build: Windows </a:t>
            </a:r>
            <a:r>
              <a:rPr sz="2000" b="0">
                <a:solidFill>
                  <a:srgbClr val="A1123F"/>
                </a:solidFill>
                <a:latin typeface="Consolas"/>
              </a:rPr>
              <a:t>.build.ps1</a:t>
            </a:r>
            <a:r>
              <a:rPr sz="2000" b="0">
                <a:solidFill>
                  <a:srgbClr val="1F2D3A"/>
                </a:solidFill>
              </a:rPr>
              <a:t> · WSL/Linux </a:t>
            </a:r>
            <a:r>
              <a:rPr sz="2000" b="0">
                <a:solidFill>
                  <a:srgbClr val="A1123F"/>
                </a:solidFill>
                <a:latin typeface="Consolas"/>
              </a:rPr>
              <a:t>./build.sh</a:t>
            </a:r>
            <a:r>
              <a:rPr sz="2000" b="0">
                <a:solidFill>
                  <a:srgbClr val="1F2D3A"/>
                </a:solidFill>
              </a:rPr>
              <a:t> — build once before class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Run: Windows </a:t>
            </a:r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· WSL/Linux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Visual Studio: </a:t>
            </a:r>
            <a:r>
              <a:rPr sz="2000" b="1">
                <a:solidFill>
                  <a:srgbClr val="1F2D3A"/>
                </a:solidFill>
              </a:rPr>
              <a:t>File &gt; Open &gt; Folder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</a:t>
            </a:r>
            <a:r>
              <a:rPr sz="2000" b="0">
                <a:solidFill>
                  <a:srgbClr val="1F2D3A"/>
                </a:solidFill>
              </a:rPr>
              <a:t> → configuration </a:t>
            </a:r>
            <a:r>
              <a:rPr sz="2000" b="1">
                <a:solidFill>
                  <a:srgbClr val="1F2D3A"/>
                </a:solidFill>
              </a:rPr>
              <a:t>Windows (MSVC)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Build &gt; Build All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4 demos this week, under </a:t>
            </a:r>
            <a:r>
              <a:rPr sz="2000" b="0">
                <a:solidFill>
                  <a:srgbClr val="A1123F"/>
                </a:solidFill>
                <a:latin typeface="Consolas"/>
              </a:rPr>
              <a:t>code/week-01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06704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</a:t>
            </a:r>
            <a:r>
              <a:rPr sz="2000" b="1">
                <a:solidFill>
                  <a:srgbClr val="1F2D3A"/>
                </a:solidFill>
              </a:rPr>
              <a:t>Ethics:</a:t>
            </a:r>
            <a:r>
              <a:rPr sz="2000" b="0">
                <a:solidFill>
                  <a:srgbClr val="1F2D3A"/>
                </a:solidFill>
              </a:rPr>
              <a:t> Every demo runs only inside its own folder and asks for no administrator rights. Only try these techniques on </a:t>
            </a:r>
            <a:r>
              <a:rPr sz="2000" b="1">
                <a:solidFill>
                  <a:srgbClr val="1F2D3A"/>
                </a:solidFill>
              </a:rPr>
              <a:t>your own computer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 short history — the idea of secure programming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57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1975</a:t>
            </a:r>
            <a:r>
              <a:rPr sz="1800" b="0">
                <a:solidFill>
                  <a:srgbClr val="1F2D3A"/>
                </a:solidFill>
              </a:rPr>
              <a:t> — Saltzer &amp; Schroeder: the </a:t>
            </a:r>
            <a:r>
              <a:rPr sz="1800" b="1">
                <a:solidFill>
                  <a:srgbClr val="1F2D3A"/>
                </a:solidFill>
              </a:rPr>
              <a:t>8 principles</a:t>
            </a:r>
            <a:r>
              <a:rPr sz="1800" b="0">
                <a:solidFill>
                  <a:srgbClr val="1F2D3A"/>
                </a:solidFill>
              </a:rPr>
              <a:t> of secure design (least privilege, defence in depth…)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1970s–80s</a:t>
            </a:r>
            <a:r>
              <a:rPr sz="1800" b="0">
                <a:solidFill>
                  <a:srgbClr val="1F2D3A"/>
                </a:solidFill>
              </a:rPr>
              <a:t> — the </a:t>
            </a:r>
            <a:r>
              <a:rPr sz="1800" b="1">
                <a:solidFill>
                  <a:srgbClr val="1F2D3A"/>
                </a:solidFill>
              </a:rPr>
              <a:t>CIA triad</a:t>
            </a:r>
            <a:r>
              <a:rPr sz="1800" b="0">
                <a:solidFill>
                  <a:srgbClr val="1F2D3A"/>
                </a:solidFill>
              </a:rPr>
              <a:t> becomes a common language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1998–99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STRIDE</a:t>
            </a:r>
            <a:r>
              <a:rPr sz="1800" b="0">
                <a:solidFill>
                  <a:srgbClr val="1F2D3A"/>
                </a:solidFill>
              </a:rPr>
              <a:t> at Microsoft; Schneier introduces </a:t>
            </a:r>
            <a:r>
              <a:rPr sz="1800" b="1">
                <a:solidFill>
                  <a:srgbClr val="1F2D3A"/>
                </a:solidFill>
              </a:rPr>
              <a:t>attack trees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2001–03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0" i="1">
                <a:solidFill>
                  <a:srgbClr val="1F2D3A"/>
                </a:solidFill>
              </a:rPr>
              <a:t>Building Secure Software</a:t>
            </a:r>
            <a:r>
              <a:rPr sz="1800" b="0">
                <a:solidFill>
                  <a:srgbClr val="1F2D3A"/>
                </a:solidFill>
              </a:rPr>
              <a:t> and the </a:t>
            </a:r>
            <a:r>
              <a:rPr sz="1800" b="1">
                <a:solidFill>
                  <a:srgbClr val="1F2D3A"/>
                </a:solidFill>
              </a:rPr>
              <a:t>Secure Programming Cookbook</a:t>
            </a:r>
            <a:r>
              <a:rPr sz="1800" b="0">
                <a:solidFill>
                  <a:srgbClr val="1F2D3A"/>
                </a:solidFill>
              </a:rPr>
              <a:t> (the course's main source)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493008"/>
            <a:ext cx="10911535" cy="86868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Today's tools (CIA · attacker model · STRIDE · attack tree) are products of this lineage.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The five decisions of secure programming — diagram</a:t>
            </a:r>
          </a:p>
        </p:txBody>
      </p:sp>
      <p:pic>
        <p:nvPicPr>
          <p:cNvPr id="7" name="Picture 6" descr="h01-17-bes-kar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8580" y="1325880"/>
            <a:ext cx="9034535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How the course runs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01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One term project:</a:t>
            </a:r>
            <a:r>
              <a:rPr sz="2000" b="0">
                <a:solidFill>
                  <a:srgbClr val="1F2D3A"/>
                </a:solidFill>
              </a:rPr>
              <a:t> a C/C++ application + a </a:t>
            </a:r>
            <a:r>
              <a:rPr sz="2000" b="1">
                <a:solidFill>
                  <a:srgbClr val="1F2D3A"/>
                </a:solidFill>
              </a:rPr>
              <a:t>security guide</a:t>
            </a:r>
            <a:r>
              <a:rPr sz="2000" b="0">
                <a:solidFill>
                  <a:srgbClr val="1F2D3A"/>
                </a:solidFill>
              </a:rPr>
              <a:t> written "as if it were going through certification"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Midterm check: </a:t>
            </a:r>
            <a:r>
              <a:rPr sz="2000" b="1">
                <a:solidFill>
                  <a:srgbClr val="1F2D3A"/>
                </a:solidFill>
              </a:rPr>
              <a:t>week 7</a:t>
            </a:r>
            <a:r>
              <a:rPr sz="2000" b="0">
                <a:solidFill>
                  <a:srgbClr val="1F2D3A"/>
                </a:solidFill>
              </a:rPr>
              <a:t> demo · Final check: </a:t>
            </a:r>
            <a:r>
              <a:rPr sz="2000" b="1">
                <a:solidFill>
                  <a:srgbClr val="1F2D3A"/>
                </a:solidFill>
              </a:rPr>
              <a:t>week 15</a:t>
            </a:r>
            <a:r>
              <a:rPr sz="2000" b="0">
                <a:solidFill>
                  <a:srgbClr val="1F2D3A"/>
                </a:solidFill>
              </a:rPr>
              <a:t> demo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Two quizzes:</a:t>
            </a:r>
            <a:r>
              <a:rPr sz="2000" b="0">
                <a:solidFill>
                  <a:srgbClr val="1F2D3A"/>
                </a:solidFill>
              </a:rPr>
              <a:t> week 8 (1–6) · week 16 (9–14)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Grade: </a:t>
            </a:r>
            <a:r>
              <a:rPr sz="2000" b="0">
                <a:solidFill>
                  <a:srgbClr val="A1123F"/>
                </a:solidFill>
                <a:latin typeface="Consolas"/>
              </a:rPr>
              <a:t>Midterm = 0.6·Project1 + 0.4·Quiz1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Final = 0.7·Project2 + 0.3·Quiz2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week: </a:t>
            </a:r>
            <a:r>
              <a:rPr sz="2000" b="1">
                <a:solidFill>
                  <a:srgbClr val="1F2D3A"/>
                </a:solidFill>
              </a:rPr>
              <a:t>buggy code → attack → fix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3684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</a:t>
            </a:r>
            <a:r>
              <a:rPr sz="2000" b="1">
                <a:solidFill>
                  <a:srgbClr val="1F2D3A"/>
                </a:solidFill>
              </a:rPr>
              <a:t>Ethics:</a:t>
            </a:r>
            <a:r>
              <a:rPr sz="2000" b="0">
                <a:solidFill>
                  <a:srgbClr val="1F2D3A"/>
                </a:solidFill>
              </a:rPr>
              <a:t> Only try these techniques on </a:t>
            </a:r>
            <a:r>
              <a:rPr sz="2000" b="1">
                <a:solidFill>
                  <a:srgbClr val="1F2D3A"/>
                </a:solidFill>
              </a:rPr>
              <a:t>your own computer</a:t>
            </a:r>
            <a:r>
              <a:rPr sz="2000" b="0">
                <a:solidFill>
                  <a:srgbClr val="1F2D3A"/>
                </a:solidFill>
              </a:rPr>
              <a:t> and on the demos provided.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What is security?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The Vault analogy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0449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1223"/>
                <a:gridCol w="2815880"/>
                <a:gridCol w="5514431"/>
              </a:tblGrid>
              <a:tr h="43499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Concept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Vault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Software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Asset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Money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Password, payment key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Threat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Thief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Someone who wants to steal the password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Vulnerability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Faulty lock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 unchecked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strcpy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Attack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Picking the lock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Becoming administrator with a long username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Countermeasure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 new lock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Length checking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Probability × impact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"If it's found, every account is gone"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Threat · vulnerability · asset — diagram</a:t>
            </a:r>
          </a:p>
        </p:txBody>
      </p:sp>
      <p:pic>
        <p:nvPicPr>
          <p:cNvPr id="7" name="Picture 6" descr="h01-01-tehdit-zafiyet-varl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5841" y="1325880"/>
            <a:ext cx="9000012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Security's three goals: CIA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647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7271"/>
                <a:gridCol w="4949562"/>
                <a:gridCol w="3374701"/>
              </a:tblGrid>
              <a:tr h="441197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Question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If broken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119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onfidentiality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Can only authorized parties see it?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Passwords leak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19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I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ntegrity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Can it be changed without authorization?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 balance, a grade changes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4120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vailability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Does it work when needed?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The system crashes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20039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+ Authentication · Authorization · Non-repudiation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50055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Question:</a:t>
            </a:r>
            <a:r>
              <a:rPr sz="2000" b="0">
                <a:solidFill>
                  <a:srgbClr val="1F2D3A"/>
                </a:solidFill>
              </a:rPr>
              <a:t> A banking app writes the balance unencrypted → ? · The recipient IBAN changes in transit → ? · It crashes on a holiday night → 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The CIA triad — diagram</a:t>
            </a:r>
          </a:p>
        </p:txBody>
      </p:sp>
      <p:pic>
        <p:nvPicPr>
          <p:cNvPr id="7" name="Picture 6" descr="h01-12-cia-uclu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28083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716441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 to the question:</a:t>
            </a:r>
            <a:r>
              <a:rPr sz="2000" b="0">
                <a:solidFill>
                  <a:srgbClr val="1F2D3A"/>
                </a:solidFill>
              </a:rPr>
              <a:t> balance unencrypted → </a:t>
            </a:r>
            <a:r>
              <a:rPr sz="2000" b="1">
                <a:solidFill>
                  <a:srgbClr val="1F2D3A"/>
                </a:solidFill>
              </a:rPr>
              <a:t>C</a:t>
            </a:r>
            <a:r>
              <a:rPr sz="2000" b="0">
                <a:solidFill>
                  <a:srgbClr val="1F2D3A"/>
                </a:solidFill>
              </a:rPr>
              <a:t>; IBAN changes in transit → </a:t>
            </a:r>
            <a:r>
              <a:rPr sz="2000" b="1">
                <a:solidFill>
                  <a:srgbClr val="1F2D3A"/>
                </a:solidFill>
              </a:rPr>
              <a:t>I</a:t>
            </a:r>
            <a:r>
              <a:rPr sz="2000" b="0">
                <a:solidFill>
                  <a:srgbClr val="1F2D3A"/>
                </a:solidFill>
              </a:rPr>
              <a:t>; crashes on a holiday night → </a:t>
            </a:r>
            <a:r>
              <a:rPr sz="2000" b="1">
                <a:solidFill>
                  <a:srgbClr val="1F2D3A"/>
                </a:solidFill>
              </a:rPr>
              <a:t>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The CIA triad — typical countermeasures and related concepts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184098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2754"/>
                <a:gridCol w="6001344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Goal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Typical countermeasure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Confidentiality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Encryption, access control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Integrity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Hash, MAC, digital signature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Availability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Redundancy, resource limiting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+ </a:t>
            </a:r>
            <a:r>
              <a:rPr sz="2000" b="1">
                <a:solidFill>
                  <a:srgbClr val="1F2D3A"/>
                </a:solidFill>
              </a:rPr>
              <a:t>Authentication:</a:t>
            </a:r>
            <a:r>
              <a:rPr sz="2000" b="0">
                <a:solidFill>
                  <a:srgbClr val="1F2D3A"/>
                </a:solidFill>
              </a:rPr>
              <a:t> are you really who you say you are? · </a:t>
            </a:r>
            <a:r>
              <a:rPr sz="2000" b="1">
                <a:solidFill>
                  <a:srgbClr val="1F2D3A"/>
                </a:solidFill>
              </a:rPr>
              <a:t>Authorization:</a:t>
            </a:r>
            <a:r>
              <a:rPr sz="2000" b="0">
                <a:solidFill>
                  <a:srgbClr val="1F2D3A"/>
                </a:solidFill>
              </a:rPr>
              <a:t> do you have permission to do this? · </a:t>
            </a:r>
            <a:r>
              <a:rPr sz="2000" b="1">
                <a:solidFill>
                  <a:srgbClr val="1F2D3A"/>
                </a:solidFill>
              </a:rPr>
              <a:t>Non-repudiation:</a:t>
            </a:r>
            <a:r>
              <a:rPr sz="2000" b="0">
                <a:solidFill>
                  <a:srgbClr val="1F2D3A"/>
                </a:solidFill>
              </a:rPr>
              <a:t> who did this, and can they deny it afterward?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 ≠ vulnerability, but…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A very large share of security vulnerabilities are </a:t>
            </a:r>
            <a:r>
              <a:rPr sz="2000" b="1">
                <a:solidFill>
                  <a:srgbClr val="1F2D3A"/>
                </a:solidFill>
              </a:rPr>
              <a:t>ordinary software bugs.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Heartbleed (2014, CVE-2014-0160)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Client: "Send me </a:t>
            </a:r>
            <a:r>
              <a:rPr sz="2000" b="1">
                <a:solidFill>
                  <a:srgbClr val="1F2D3A"/>
                </a:solidFill>
              </a:rPr>
              <a:t>64 KB</a:t>
            </a:r>
            <a:r>
              <a:rPr sz="2000" b="0">
                <a:solidFill>
                  <a:srgbClr val="1F2D3A"/>
                </a:solidFill>
              </a:rPr>
              <a:t> back" — but sends only </a:t>
            </a:r>
            <a:r>
              <a:rPr sz="2000" b="1">
                <a:solidFill>
                  <a:srgbClr val="1F2D3A"/>
                </a:solidFill>
              </a:rPr>
              <a:t>a few bytes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server never </a:t>
            </a:r>
            <a:r>
              <a:rPr sz="2000" b="1">
                <a:solidFill>
                  <a:srgbClr val="1F2D3A"/>
                </a:solidFill>
              </a:rPr>
              <a:t>checks</a:t>
            </a:r>
            <a:r>
              <a:rPr sz="2000" b="0">
                <a:solidFill>
                  <a:srgbClr val="1F2D3A"/>
                </a:solidFill>
              </a:rPr>
              <a:t> the length → sends back neighboring memory (passwords, keys)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single missing length check → a significant part of the internet was affected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Who is the attacker, what can they reach?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9991"/>
                <a:gridCol w="3389991"/>
                <a:gridCol w="4131552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Attacker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Access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Defence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Remote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Only network messages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Input validation, TLS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Local user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Files, environment variables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Permissions, secure start-up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Insider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Source code, server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Privilege separation, audit logging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Device owner (white-box)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Memory, debugger, binary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RASP, obfuscation, white-box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What's different about this course:</a:t>
            </a:r>
            <a:r>
              <a:rPr sz="2000" b="0">
                <a:solidFill>
                  <a:srgbClr val="1F2D3A"/>
                </a:solidFill>
              </a:rPr>
              <a:t> what do we do if the program runs </a:t>
            </a:r>
            <a:r>
              <a:rPr sz="2000" b="1">
                <a:solidFill>
                  <a:srgbClr val="1F2D3A"/>
                </a:solidFill>
              </a:rPr>
              <a:t>on the attacker's device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White-box / MATE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MATE (Man-At-The-End):</a:t>
            </a:r>
            <a:r>
              <a:rPr sz="2000" b="0">
                <a:solidFill>
                  <a:srgbClr val="1F2D3A"/>
                </a:solidFill>
              </a:rPr>
              <a:t> an attacker who </a:t>
            </a:r>
            <a:r>
              <a:rPr sz="2000" b="1">
                <a:solidFill>
                  <a:srgbClr val="1F2D3A"/>
                </a:solidFill>
              </a:rPr>
              <a:t>owns</a:t>
            </a:r>
            <a:r>
              <a:rPr sz="2000" b="0">
                <a:solidFill>
                  <a:srgbClr val="1F2D3A"/>
                </a:solidFill>
              </a:rPr>
              <a:t> the program.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Reads the code, sees the memory, modifies it.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real situation for mobile/desktop applications (this course's main theme).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Attacker models — diagram</a:t>
            </a:r>
          </a:p>
        </p:txBody>
      </p:sp>
      <p:pic>
        <p:nvPicPr>
          <p:cNvPr id="7" name="Picture 6" descr="h01-02-saldirgan-modelle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36595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Attackers — real-world examples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9991"/>
                <a:gridCol w="7521543"/>
              </a:tblGrid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Attacker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Example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Remote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Someone attacking a web server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Local user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Another student on a shared server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Insider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 employee abusing their role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Device owner (white-box)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Someone trying to crack a mobile payment app on their own phone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4787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Apply each row to your own project: which one is your attacker?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Secure design principles (Saltzer &amp; Schroeder, 1975)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050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4164"/>
                <a:gridCol w="7777370"/>
              </a:tblGrid>
              <a:tr h="33893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Principle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One sentence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Least privilege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Run with only the privilege needed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Secure default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The default is "no permission"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Complete mediation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Check every access, every time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Open design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Security rests on the secrecy of the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key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not the algorithm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Economy of mechanism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Simple = fewer bugs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Separation of privilege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Two conditions for a critical operation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Least common mechanism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Reduce shared resources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Acceptability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Unusable security gets bypassed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8604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+ </a:t>
            </a:r>
            <a:r>
              <a:rPr sz="1800" b="1">
                <a:solidFill>
                  <a:srgbClr val="1F2D3A"/>
                </a:solidFill>
              </a:rPr>
              <a:t>Defence in depth:</a:t>
            </a:r>
            <a:r>
              <a:rPr sz="1800" b="0">
                <a:solidFill>
                  <a:srgbClr val="1F2D3A"/>
                </a:solidFill>
              </a:rPr>
              <a:t> don't rely on one countermeasure, build </a:t>
            </a:r>
            <a:r>
              <a:rPr sz="1800" b="1">
                <a:solidFill>
                  <a:srgbClr val="1F2D3A"/>
                </a:solidFill>
              </a:rPr>
              <a:t>layers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Saltzer and Schroeder's principles — diagram</a:t>
            </a:r>
          </a:p>
        </p:txBody>
      </p:sp>
      <p:pic>
        <p:nvPicPr>
          <p:cNvPr id="7" name="Picture 6" descr="h01-18-saltzer-schroe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1269" y="1325880"/>
            <a:ext cx="8089157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Secure design principles — examples (1/2)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969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7953"/>
                <a:gridCol w="8273581"/>
              </a:tblGrid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Principle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Example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Least privilege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The reporting program runs as an ordinary user, not administrator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Secure default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 new user's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yonetici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(admin) field starts at 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Complete mediation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Permission is not checked once and then cached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Open design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You do not write your own encryption algorithm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05225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No principle is abstract; each one shows up as a concrete decision in code.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Secure design principles — examples (2/2)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969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61285"/>
                <a:gridCol w="7750249"/>
              </a:tblGrid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Principle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Example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Economy of mechanism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 clear 20-line check beats a "clever" 500-line 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Separation of privilege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Both a password and an SMS code for a money transfer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Least common mechanism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Every session gets its own temporary 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Psychological acceptability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Asking for a password every 5 minutes leads to it being written on paper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05225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Unusable security is </a:t>
            </a:r>
            <a:r>
              <a:rPr sz="1800" b="1">
                <a:solidFill>
                  <a:srgbClr val="1F2D3A"/>
                </a:solidFill>
              </a:rPr>
              <a:t>bypassed</a:t>
            </a:r>
            <a:r>
              <a:rPr sz="1800" b="0">
                <a:solidFill>
                  <a:srgbClr val="1F2D3A"/>
                </a:solidFill>
              </a:rPr>
              <a:t> security.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Overview of application protection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Defence in depth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Defence in depth:</a:t>
            </a:r>
            <a:r>
              <a:rPr sz="2000" b="0">
                <a:solidFill>
                  <a:srgbClr val="1F2D3A"/>
                </a:solidFill>
              </a:rPr>
              <a:t> not a single countermeasure, but </a:t>
            </a:r>
            <a:r>
              <a:rPr sz="2000" b="1">
                <a:solidFill>
                  <a:srgbClr val="1F2D3A"/>
                </a:solidFill>
              </a:rPr>
              <a:t>many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If one is bypassed, another stops it.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"security shell" is the combination of these layers.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Why a single countermeasure is not enough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2893"/>
                <a:gridCol w="7178641"/>
              </a:tblGrid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Countermeasure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What it doesn't solve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Bug-free code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The attacker opens the binary and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reads the logic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Obfuscated code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Stops it with a debugger and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reads the memory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Memory protected against monitoring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The key sits in code as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plain text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→ a single string scan is enough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Hidden key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Changes a single check and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bypasses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the protection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4787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Each layer closes the previous one's gap; the attacker must defeat </a:t>
            </a:r>
            <a:r>
              <a:rPr sz="2000" b="1">
                <a:solidFill>
                  <a:srgbClr val="1F2D3A"/>
                </a:solidFill>
              </a:rPr>
              <a:t>all of them at once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Seven layers: inside out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5826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8309"/>
                <a:gridCol w="3068869"/>
                <a:gridCol w="5569429"/>
                <a:gridCol w="1704927"/>
              </a:tblGrid>
              <a:tr h="44782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Question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Week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782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Secure design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What, against whom?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1–2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782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Secure coding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Is my code bug-free?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1, 4, 5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4782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Compiler/OS protections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If a bug slips through, is exploitation hard?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782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Obfuscation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Can someone reading the code understand it?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4, 5, 9, 14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4782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Does it notice it's under attack?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782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Cryptography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Even if captured, is the data meaningless?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3, 10, 11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4783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Assurance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How do we prove it works?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12–13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Seven layers — diagram (inside out)</a:t>
            </a:r>
          </a:p>
        </p:txBody>
      </p:sp>
      <p:pic>
        <p:nvPicPr>
          <p:cNvPr id="7" name="Picture 6" descr="h01-03-yedi-katm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3961" y="1325880"/>
            <a:ext cx="6143773" cy="40142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449824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Even if a bug slips past the outer layers, the </a:t>
            </a:r>
            <a:r>
              <a:rPr sz="1800" b="1">
                <a:solidFill>
                  <a:srgbClr val="1F2D3A"/>
                </a:solidFill>
              </a:rPr>
              <a:t>next</a:t>
            </a:r>
            <a:r>
              <a:rPr sz="1800" b="0">
                <a:solidFill>
                  <a:srgbClr val="1F2D3A"/>
                </a:solidFill>
              </a:rPr>
              <a:t> layer tries to stop it (defence in depth).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Seven layers — typical techniques and the attacker they stop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2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2927"/>
                <a:gridCol w="1353368"/>
                <a:gridCol w="5244303"/>
                <a:gridCol w="3890934"/>
              </a:tblGrid>
              <a:tr h="52806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Typical techniques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Attacker it stops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2806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Design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Threat model, asset/interface tables, least privilege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Anyone looking for a design flaw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806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Input validation, bounds checking, SEI CERT rules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 attacker sending input remotely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2806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Compiler/OS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Canary, ASLR, DEP/NX, CFI,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_FORTIFY_SOURCE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 attacker exploiting a memory bug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806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Obfuscation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Control-flow flattening, opaque predicates, virtualisation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 reverse-engineering analyst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2806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Debugger/hook/root detection, integrity checking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 attacker inspecting the running program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806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Cryptography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Authenticated encryption, key hierarchy, white-box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 attacker who captures the data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2806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Assurance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Code review, fuzzing, penetration testing, certification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Auditors and evaluators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The security shell: where the layers meet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sensitive key is carried inside </a:t>
            </a:r>
            <a:r>
              <a:rPr sz="2000" b="1">
                <a:solidFill>
                  <a:srgbClr val="1F2D3A"/>
                </a:solidFill>
              </a:rPr>
              <a:t>several</a:t>
            </a:r>
            <a:r>
              <a:rPr sz="2000" b="0">
                <a:solidFill>
                  <a:srgbClr val="1F2D3A"/>
                </a:solidFill>
              </a:rPr>
              <a:t> layers </a:t>
            </a:r>
            <a:r>
              <a:rPr sz="2000" b="1">
                <a:solidFill>
                  <a:srgbClr val="1F2D3A"/>
                </a:solidFill>
              </a:rPr>
              <a:t>at once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Stays </a:t>
            </a:r>
            <a:r>
              <a:rPr sz="2000" b="1">
                <a:solidFill>
                  <a:srgbClr val="1F2D3A"/>
                </a:solidFill>
              </a:rPr>
              <a:t>encrypted</a:t>
            </a:r>
            <a:r>
              <a:rPr sz="2000" b="0">
                <a:solidFill>
                  <a:srgbClr val="1F2D3A"/>
                </a:solidFill>
              </a:rPr>
              <a:t> on disk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Decrypted</a:t>
            </a:r>
            <a:r>
              <a:rPr sz="2000" b="0">
                <a:solidFill>
                  <a:srgbClr val="1F2D3A"/>
                </a:solidFill>
              </a:rPr>
              <a:t> only at the moment it's needed, only as much as needed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The code section where it is decrypted is </a:t>
            </a:r>
            <a:r>
              <a:rPr sz="2000" b="1">
                <a:solidFill>
                  <a:srgbClr val="1F2D3A"/>
                </a:solidFill>
              </a:rPr>
              <a:t>obfuscated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1">
                <a:solidFill>
                  <a:srgbClr val="1F2D3A"/>
                </a:solidFill>
              </a:rPr>
              <a:t>integrity-checked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The process has </a:t>
            </a:r>
            <a:r>
              <a:rPr sz="2000" b="1">
                <a:solidFill>
                  <a:srgbClr val="1F2D3A"/>
                </a:solidFill>
              </a:rPr>
              <a:t>debugger detection</a:t>
            </a:r>
            <a:r>
              <a:rPr sz="2000" b="0">
                <a:solidFill>
                  <a:srgbClr val="1F2D3A"/>
                </a:solidFill>
              </a:rPr>
              <a:t> running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In week 3 we'll build a four-shell design step by step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Which layer, when? By attacker model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5072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85"/>
                <a:gridCol w="5554963"/>
                <a:gridCol w="2678285"/>
              </a:tblGrid>
              <a:tr h="41788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Application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Where is the attacker?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Server-side web service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On the network; no access to code or server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1, 2, 3, 6, 7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Desktop business app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On the user's computer; the user is not the attacker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1, 2, 3, 6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Mobile payment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The device may be in the attacker's hands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All; especially 4, 5, 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Game, licensed software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The user is the attacker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788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Embedded device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Physical access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2, 3, 6 + hardware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94289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White-box attacker:</a:t>
            </a:r>
            <a:r>
              <a:rPr sz="1800" b="0">
                <a:solidFill>
                  <a:srgbClr val="1F2D3A"/>
                </a:solidFill>
              </a:rPr>
              <a:t> owns the program itself — copies it, opens it, modifies it, re-runs it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Obfuscation is not a substitute for correct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Obfuscation </a:t>
            </a:r>
            <a:r>
              <a:rPr sz="2000" b="1">
                <a:solidFill>
                  <a:srgbClr val="1F2D3A"/>
                </a:solidFill>
              </a:rPr>
              <a:t>slows the attacker down</a:t>
            </a:r>
            <a:r>
              <a:rPr sz="2000" b="0">
                <a:solidFill>
                  <a:srgbClr val="1F2D3A"/>
                </a:solidFill>
              </a:rPr>
              <a:t>, it does not </a:t>
            </a:r>
            <a:r>
              <a:rPr sz="2000" b="1">
                <a:solidFill>
                  <a:srgbClr val="1F2D3A"/>
                </a:solidFill>
              </a:rPr>
              <a:t>fix the bug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 obfuscated overflow is still an overflow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Outer layers only make sense once the inner layers are solid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1">
                <a:solidFill>
                  <a:srgbClr val="1F2D3A"/>
                </a:solidFill>
              </a:rPr>
              <a:t>The server never trusts the client.</a:t>
            </a:r>
            <a:r>
              <a:rPr sz="2000" b="0">
                <a:solidFill>
                  <a:srgbClr val="1F2D3A"/>
                </a:solidFill>
              </a:rPr>
              <a:t> Even an obfuscated client can send inconsistent data to the server.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The white-box attacker's six paths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A six-row </a:t>
            </a:r>
            <a:r>
              <a:rPr sz="1800" b="1">
                <a:solidFill>
                  <a:srgbClr val="1F2D3A"/>
                </a:solidFill>
              </a:rPr>
              <a:t>attack table</a:t>
            </a:r>
            <a:r>
              <a:rPr sz="1800" b="0">
                <a:solidFill>
                  <a:srgbClr val="1F2D3A"/>
                </a:solidFill>
              </a:rPr>
              <a:t> for a sensitive library running on the client side: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20738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4695"/>
                <a:gridCol w="3294048"/>
                <a:gridCol w="4838133"/>
                <a:gridCol w="2264658"/>
              </a:tblGrid>
              <a:tr h="518464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Attacker's path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Example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Layer that answers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184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Bypassing platform controls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 rooted device, an emulator, a modified 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 (RASP)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84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Reverse-engineering the code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Reading logic/keys with a decompiler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 (obfuscation), 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1846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Modifying the code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Flipping an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if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check and repackaging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 (integrity), 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The white-box attacker's six paths (2/2)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598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3558"/>
                <a:gridCol w="3459755"/>
                <a:gridCol w="4080736"/>
                <a:gridCol w="2927485"/>
              </a:tblGrid>
              <a:tr h="46497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Attacker's path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Example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Layer that answers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6497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Abusing interfaces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Calling the library from your own program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 (design), 5, 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497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Extracting assets at runtime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Memory dump, debugger, hook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 (erasure), 5, 6 (white-box)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49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Redirecting control flow at runtime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Skipping a branch, changing a return value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 (flow counter), 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295497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This table is the starting point for the </a:t>
            </a:r>
            <a:r>
              <a:rPr sz="1800" b="1">
                <a:solidFill>
                  <a:srgbClr val="1F2D3A"/>
                </a:solidFill>
              </a:rPr>
              <a:t>threats</a:t>
            </a:r>
            <a:r>
              <a:rPr sz="1800" b="0">
                <a:solidFill>
                  <a:srgbClr val="1F2D3A"/>
                </a:solidFill>
              </a:rPr>
              <a:t> section of a protection plan.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Trade-off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protection carries a </a:t>
            </a:r>
            <a:r>
              <a:rPr sz="2000" b="1">
                <a:solidFill>
                  <a:srgbClr val="1F2D3A"/>
                </a:solidFill>
              </a:rPr>
              <a:t>cost</a:t>
            </a:r>
            <a:r>
              <a:rPr sz="2000" b="0">
                <a:solidFill>
                  <a:srgbClr val="1F2D3A"/>
                </a:solidFill>
              </a:rPr>
              <a:t>: speed, complexity, expense.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Security is not "infinite protection," it is </a:t>
            </a:r>
            <a:r>
              <a:rPr sz="2000" b="1">
                <a:solidFill>
                  <a:srgbClr val="1F2D3A"/>
                </a:solidFill>
              </a:rPr>
              <a:t>balanced</a:t>
            </a:r>
            <a:r>
              <a:rPr sz="2000" b="0">
                <a:solidFill>
                  <a:srgbClr val="1F2D3A"/>
                </a:solidFill>
              </a:rPr>
              <a:t> protection.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We write the remaining risk down explicitly.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The cost of protection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1122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8183651"/>
              </a:tblGrid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Example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Performance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Control-flow flattening can slow a function several times over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Size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Virtualisation, white-box tables make the binary bigger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224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Maintenance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Crash reports from obfuscated code are unreadable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2455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False positive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 overly sensitive root check punishes a legitimate user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47871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Every countermeasure is written </a:t>
            </a:r>
            <a:r>
              <a:rPr sz="2000" b="1">
                <a:solidFill>
                  <a:srgbClr val="1F2D3A"/>
                </a:solidFill>
              </a:rPr>
              <a:t>with its justification</a:t>
            </a:r>
            <a:r>
              <a:rPr sz="2000" b="0">
                <a:solidFill>
                  <a:srgbClr val="1F2D3A"/>
                </a:solidFill>
              </a:rPr>
              <a:t>: </a:t>
            </a:r>
            <a:r>
              <a:rPr sz="2000" b="0" i="1">
                <a:solidFill>
                  <a:srgbClr val="1F2D3A"/>
                </a:solidFill>
              </a:rPr>
              <a:t>this asset, against this attacker, at this cost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 evaluator reads the table backward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String scan → is a key, URL, error message visible?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Opening the binary → is the logic readable?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Attaching a debugger → does the program notice?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Modifying the code → does the integrity check catch it?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Memory dump → is a secret found?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066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Every step that </a:t>
            </a:r>
            <a:r>
              <a:rPr sz="2000" b="1">
                <a:solidFill>
                  <a:srgbClr val="1F2D3A"/>
                </a:solidFill>
              </a:rPr>
              <a:t>isn't</a:t>
            </a:r>
            <a:r>
              <a:rPr sz="2000" b="0">
                <a:solidFill>
                  <a:srgbClr val="1F2D3A"/>
                </a:solidFill>
              </a:rPr>
              <a:t> stopped becomes a finding in the report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Try it yourself (3 min)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What is the attacker model for an </a:t>
            </a:r>
            <a:r>
              <a:rPr sz="2000" b="1">
                <a:solidFill>
                  <a:srgbClr val="1F2D3A"/>
                </a:solidFill>
              </a:rPr>
              <a:t>offline password manager</a:t>
            </a:r>
            <a:r>
              <a:rPr sz="2000" b="0">
                <a:solidFill>
                  <a:srgbClr val="1F2D3A"/>
                </a:solidFill>
              </a:rPr>
              <a:t>? Which layers matter?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"It runs on the server, no need to obfuscate" — when is this true, when is it false?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In a game that uses only obfuscation, which attack path stays open?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Try it yourself —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Offline password manager:</a:t>
            </a:r>
            <a:r>
              <a:rPr sz="1800" b="0">
                <a:solidFill>
                  <a:srgbClr val="1F2D3A"/>
                </a:solidFill>
              </a:rPr>
              <a:t> the attacker owns the device/file (white-box). Layers that matter: </a:t>
            </a:r>
            <a:r>
              <a:rPr sz="1800" b="1">
                <a:solidFill>
                  <a:srgbClr val="1F2D3A"/>
                </a:solidFill>
              </a:rPr>
              <a:t>cryptography</a:t>
            </a:r>
            <a:r>
              <a:rPr sz="1800" b="0">
                <a:solidFill>
                  <a:srgbClr val="1F2D3A"/>
                </a:solidFill>
              </a:rPr>
              <a:t> (a KDF from the password + AEAD), </a:t>
            </a:r>
            <a:r>
              <a:rPr sz="1800" b="1">
                <a:solidFill>
                  <a:srgbClr val="1F2D3A"/>
                </a:solidFill>
              </a:rPr>
              <a:t>secure coding</a:t>
            </a:r>
            <a:r>
              <a:rPr sz="1800" b="0">
                <a:solidFill>
                  <a:srgbClr val="1F2D3A"/>
                </a:solidFill>
              </a:rPr>
              <a:t>, some obfuscation/RASP.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"Runs on the server":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true</a:t>
            </a:r>
            <a:r>
              <a:rPr sz="1800" b="0">
                <a:solidFill>
                  <a:srgbClr val="1F2D3A"/>
                </a:solidFill>
              </a:rPr>
              <a:t> if no sensitive logic/key is sent to the client; </a:t>
            </a:r>
            <a:r>
              <a:rPr sz="1800" b="1">
                <a:solidFill>
                  <a:srgbClr val="1F2D3A"/>
                </a:solidFill>
              </a:rPr>
              <a:t>false</a:t>
            </a:r>
            <a:r>
              <a:rPr sz="1800" b="0">
                <a:solidFill>
                  <a:srgbClr val="1F2D3A"/>
                </a:solidFill>
              </a:rPr>
              <a:t> if code/a key runs on the client (white-box).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Obfuscation only:</a:t>
            </a:r>
            <a:r>
              <a:rPr sz="1800" b="0">
                <a:solidFill>
                  <a:srgbClr val="1F2D3A"/>
                </a:solidFill>
              </a:rPr>
              <a:t> if there's no server-side validation, a patched-client cheat stays open — obfuscation doesn't </a:t>
            </a:r>
            <a:r>
              <a:rPr sz="1800" b="1">
                <a:solidFill>
                  <a:srgbClr val="1F2D3A"/>
                </a:solidFill>
              </a:rPr>
              <a:t>fix</a:t>
            </a:r>
            <a:r>
              <a:rPr sz="1800" b="0">
                <a:solidFill>
                  <a:srgbClr val="1F2D3A"/>
                </a:solidFill>
              </a:rPr>
              <a:t> the logic.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The application protection plan and threat modelling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Threat modelling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Threat modelling:</a:t>
            </a:r>
            <a:r>
              <a:rPr sz="2000" b="0">
                <a:solidFill>
                  <a:srgbClr val="1F2D3A"/>
                </a:solidFill>
              </a:rPr>
              <a:t> systematically answering "what will we protect, against whom, and how?"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It lists assets, threats, and countermeasures.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Today we'll do it with STRIDE and attack trees.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Application protection plan: 7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722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Scope</a:t>
            </a:r>
            <a:r>
              <a:rPr sz="2000" b="0">
                <a:solidFill>
                  <a:srgbClr val="1F2D3A"/>
                </a:solidFill>
              </a:rPr>
              <a:t> — What are we protecting? Which binary, which version, which hash?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Architecture and interfaces</a:t>
            </a:r>
            <a:r>
              <a:rPr sz="2000" b="0">
                <a:solidFill>
                  <a:srgbClr val="1F2D3A"/>
                </a:solidFill>
              </a:rPr>
              <a:t> — Who talks to whom, over which channel?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Assets</a:t>
            </a:r>
            <a:r>
              <a:rPr sz="2000" b="0">
                <a:solidFill>
                  <a:srgbClr val="1F2D3A"/>
                </a:solidFill>
              </a:rPr>
              <a:t> — Where does it live, when is it erased, </a:t>
            </a:r>
            <a:r>
              <a:rPr sz="2000" b="1">
                <a:solidFill>
                  <a:srgbClr val="1F2D3A"/>
                </a:solidFill>
              </a:rPr>
              <a:t>C</a:t>
            </a:r>
            <a:r>
              <a:rPr sz="2000" b="0">
                <a:solidFill>
                  <a:srgbClr val="1F2D3A"/>
                </a:solidFill>
              </a:rPr>
              <a:t> or </a:t>
            </a:r>
            <a:r>
              <a:rPr sz="2000" b="1">
                <a:solidFill>
                  <a:srgbClr val="1F2D3A"/>
                </a:solidFill>
              </a:rPr>
              <a:t>I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Threats</a:t>
            </a:r>
            <a:r>
              <a:rPr sz="2000" b="0">
                <a:solidFill>
                  <a:srgbClr val="1F2D3A"/>
                </a:solidFill>
              </a:rPr>
              <a:t> — Who is the attacker, by which path do they reach the asset?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Countermeasures</a:t>
            </a:r>
            <a:r>
              <a:rPr sz="2000" b="0">
                <a:solidFill>
                  <a:srgbClr val="1F2D3A"/>
                </a:solidFill>
              </a:rPr>
              <a:t> — Which layer, which countermeasure?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1">
                <a:solidFill>
                  <a:srgbClr val="1F2D3A"/>
                </a:solidFill>
              </a:rPr>
              <a:t>Verification</a:t>
            </a:r>
            <a:r>
              <a:rPr sz="2000" b="0">
                <a:solidFill>
                  <a:srgbClr val="1F2D3A"/>
                </a:solidFill>
              </a:rPr>
              <a:t> — How is it proven that it works?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7. </a:t>
            </a:r>
            <a:r>
              <a:rPr sz="2000" b="1">
                <a:solidFill>
                  <a:srgbClr val="1F2D3A"/>
                </a:solidFill>
              </a:rPr>
              <a:t>Residual risk</a:t>
            </a:r>
            <a:r>
              <a:rPr sz="2000" b="0">
                <a:solidFill>
                  <a:srgbClr val="1F2D3A"/>
                </a:solidFill>
              </a:rPr>
              <a:t> — What was accepted,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584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→ In certification this plan becomes </a:t>
            </a:r>
            <a:r>
              <a:rPr sz="2000" b="1">
                <a:solidFill>
                  <a:srgbClr val="1F2D3A"/>
                </a:solidFill>
              </a:rPr>
              <a:t>a security guide hundreds of pages long.</a:t>
            </a:r>
            <a:r>
              <a:rPr sz="2000" b="0">
                <a:solidFill>
                  <a:srgbClr val="1F2D3A"/>
                </a:solidFill>
              </a:rPr>
              <a:t> You will write a </a:t>
            </a:r>
            <a:r>
              <a:rPr sz="2000" b="1">
                <a:solidFill>
                  <a:srgbClr val="1F2D3A"/>
                </a:solidFill>
              </a:rPr>
              <a:t>20–30 page</a:t>
            </a:r>
            <a:r>
              <a:rPr sz="2000" b="0">
                <a:solidFill>
                  <a:srgbClr val="1F2D3A"/>
                </a:solidFill>
              </a:rPr>
              <a:t> version of it for the project.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1 detail: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Question:</a:t>
            </a:r>
            <a:r>
              <a:rPr sz="2000" b="0">
                <a:solidFill>
                  <a:srgbClr val="1F2D3A"/>
                </a:solidFill>
              </a:rPr>
              <a:t> What are we evaluating?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Saying </a:t>
            </a:r>
            <a:r>
              <a:rPr sz="2000" b="1">
                <a:solidFill>
                  <a:srgbClr val="1F2D3A"/>
                </a:solidFill>
              </a:rPr>
              <a:t>"version 2.1"</a:t>
            </a:r>
            <a:r>
              <a:rPr sz="2000" b="0">
                <a:solidFill>
                  <a:srgbClr val="1F2D3A"/>
                </a:solidFill>
              </a:rPr>
              <a:t> alone is not enough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Which </a:t>
            </a:r>
            <a:r>
              <a:rPr sz="2000" b="1">
                <a:solidFill>
                  <a:srgbClr val="1F2D3A"/>
                </a:solidFill>
              </a:rPr>
              <a:t>binary</a:t>
            </a:r>
            <a:r>
              <a:rPr sz="2000" b="0">
                <a:solidFill>
                  <a:srgbClr val="1F2D3A"/>
                </a:solidFill>
              </a:rPr>
              <a:t>, which </a:t>
            </a:r>
            <a:r>
              <a:rPr sz="2000" b="1">
                <a:solidFill>
                  <a:srgbClr val="1F2D3A"/>
                </a:solidFill>
              </a:rPr>
              <a:t>source code</a:t>
            </a:r>
            <a:r>
              <a:rPr sz="2000" b="0">
                <a:solidFill>
                  <a:srgbClr val="1F2D3A"/>
                </a:solidFill>
              </a:rPr>
              <a:t>, which </a:t>
            </a:r>
            <a:r>
              <a:rPr sz="2000" b="1">
                <a:solidFill>
                  <a:srgbClr val="1F2D3A"/>
                </a:solidFill>
              </a:rPr>
              <a:t>hash</a:t>
            </a:r>
            <a:r>
              <a:rPr sz="2000" b="0">
                <a:solidFill>
                  <a:srgbClr val="1F2D3A"/>
                </a:solidFill>
              </a:rPr>
              <a:t> value?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In certification this is called the </a:t>
            </a:r>
            <a:r>
              <a:rPr sz="2000" b="1">
                <a:solidFill>
                  <a:srgbClr val="1F2D3A"/>
                </a:solidFill>
              </a:rPr>
              <a:t>target of evaluation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2 detail: Architecture and interfaces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Question:</a:t>
            </a:r>
            <a:r>
              <a:rPr sz="2000" b="0">
                <a:solidFill>
                  <a:srgbClr val="1F2D3A"/>
                </a:solidFill>
              </a:rPr>
              <a:t> What are the components, how do they talk?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What </a:t>
            </a:r>
            <a:r>
              <a:rPr sz="2000" b="1">
                <a:solidFill>
                  <a:srgbClr val="1F2D3A"/>
                </a:solidFill>
              </a:rPr>
              <a:t>are</a:t>
            </a:r>
            <a:r>
              <a:rPr sz="2000" b="0">
                <a:solidFill>
                  <a:srgbClr val="1F2D3A"/>
                </a:solidFill>
              </a:rPr>
              <a:t> the components?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Which </a:t>
            </a:r>
            <a:r>
              <a:rPr sz="2000" b="1">
                <a:solidFill>
                  <a:srgbClr val="1F2D3A"/>
                </a:solidFill>
              </a:rPr>
              <a:t>channel</a:t>
            </a:r>
            <a:r>
              <a:rPr sz="2000" b="0">
                <a:solidFill>
                  <a:srgbClr val="1F2D3A"/>
                </a:solidFill>
              </a:rPr>
              <a:t> do they talk to each other over?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How is identity </a:t>
            </a:r>
            <a:r>
              <a:rPr sz="2000" b="1">
                <a:solidFill>
                  <a:srgbClr val="1F2D3A"/>
                </a:solidFill>
              </a:rPr>
              <a:t>verified</a:t>
            </a:r>
            <a:r>
              <a:rPr sz="2000" b="0">
                <a:solidFill>
                  <a:srgbClr val="1F2D3A"/>
                </a:solidFill>
              </a:rPr>
              <a:t> on each channel?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3 detail: Assets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Question:</a:t>
            </a:r>
            <a:r>
              <a:rPr sz="2000" b="0">
                <a:solidFill>
                  <a:srgbClr val="1F2D3A"/>
                </a:solidFill>
              </a:rPr>
              <a:t> Where and when is the protected data?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piece of data to be protected is listed </a:t>
            </a:r>
            <a:r>
              <a:rPr sz="2000" b="1">
                <a:solidFill>
                  <a:srgbClr val="1F2D3A"/>
                </a:solidFill>
              </a:rPr>
              <a:t>one by one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Where</a:t>
            </a:r>
            <a:r>
              <a:rPr sz="2000" b="0">
                <a:solidFill>
                  <a:srgbClr val="1F2D3A"/>
                </a:solidFill>
              </a:rPr>
              <a:t> does it live, </a:t>
            </a:r>
            <a:r>
              <a:rPr sz="2000" b="1">
                <a:solidFill>
                  <a:srgbClr val="1F2D3A"/>
                </a:solidFill>
              </a:rPr>
              <a:t>when</a:t>
            </a:r>
            <a:r>
              <a:rPr sz="2000" b="0">
                <a:solidFill>
                  <a:srgbClr val="1F2D3A"/>
                </a:solidFill>
              </a:rPr>
              <a:t> is it created, </a:t>
            </a:r>
            <a:r>
              <a:rPr sz="2000" b="1">
                <a:solidFill>
                  <a:srgbClr val="1F2D3A"/>
                </a:solidFill>
              </a:rPr>
              <a:t>when</a:t>
            </a:r>
            <a:r>
              <a:rPr sz="2000" b="0">
                <a:solidFill>
                  <a:srgbClr val="1F2D3A"/>
                </a:solidFill>
              </a:rPr>
              <a:t> is it erased?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Does it need </a:t>
            </a:r>
            <a:r>
              <a:rPr sz="2000" b="1">
                <a:solidFill>
                  <a:srgbClr val="1F2D3A"/>
                </a:solidFill>
              </a:rPr>
              <a:t>confidentiality (C)</a:t>
            </a:r>
            <a:r>
              <a:rPr sz="2000" b="0">
                <a:solidFill>
                  <a:srgbClr val="1F2D3A"/>
                </a:solidFill>
              </a:rPr>
              <a:t> or </a:t>
            </a:r>
            <a:r>
              <a:rPr sz="2000" b="1">
                <a:solidFill>
                  <a:srgbClr val="1F2D3A"/>
                </a:solidFill>
              </a:rPr>
              <a:t>integrity (I)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4 detail: Threats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Question:</a:t>
            </a:r>
            <a:r>
              <a:rPr sz="2000" b="0">
                <a:solidFill>
                  <a:srgbClr val="1F2D3A"/>
                </a:solidFill>
              </a:rPr>
              <a:t> Who is the attacker, how do they reach it?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Who</a:t>
            </a:r>
            <a:r>
              <a:rPr sz="2000" b="0">
                <a:solidFill>
                  <a:srgbClr val="1F2D3A"/>
                </a:solidFill>
              </a:rPr>
              <a:t> is the attacker? (see attacker models)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By </a:t>
            </a:r>
            <a:r>
              <a:rPr sz="2000" b="1">
                <a:solidFill>
                  <a:srgbClr val="1F2D3A"/>
                </a:solidFill>
              </a:rPr>
              <a:t>which path</a:t>
            </a:r>
            <a:r>
              <a:rPr sz="2000" b="0">
                <a:solidFill>
                  <a:srgbClr val="1F2D3A"/>
                </a:solidFill>
              </a:rPr>
              <a:t> can they reach each asset?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STRIDE and the attack tree come in here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5 detail: Countermeasures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Question:</a:t>
            </a:r>
            <a:r>
              <a:rPr sz="2000" b="0">
                <a:solidFill>
                  <a:srgbClr val="1F2D3A"/>
                </a:solidFill>
              </a:rPr>
              <a:t> Which countermeasure, in which layer?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One countermeasure</a:t>
            </a:r>
            <a:r>
              <a:rPr sz="2000" b="0">
                <a:solidFill>
                  <a:srgbClr val="1F2D3A"/>
                </a:solidFill>
              </a:rPr>
              <a:t> is chosen for each threat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Which of the seven layers does the countermeasure </a:t>
            </a:r>
            <a:r>
              <a:rPr sz="2000" b="1">
                <a:solidFill>
                  <a:srgbClr val="1F2D3A"/>
                </a:solidFill>
              </a:rPr>
              <a:t>belong to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 unjustified countermeasure is </a:t>
            </a:r>
            <a:r>
              <a:rPr sz="2000" b="1">
                <a:solidFill>
                  <a:srgbClr val="1F2D3A"/>
                </a:solidFill>
              </a:rPr>
              <a:t>in the wrong place</a:t>
            </a:r>
            <a:r>
              <a:rPr sz="2000" b="0">
                <a:solidFill>
                  <a:srgbClr val="1F2D3A"/>
                </a:solidFill>
              </a:rPr>
              <a:t> or </a:t>
            </a:r>
            <a:r>
              <a:rPr sz="2000" b="1">
                <a:solidFill>
                  <a:srgbClr val="1F2D3A"/>
                </a:solidFill>
              </a:rPr>
              <a:t>unnecessary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6 detail: 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Question:</a:t>
            </a:r>
            <a:r>
              <a:rPr sz="2000" b="0">
                <a:solidFill>
                  <a:srgbClr val="1F2D3A"/>
                </a:solidFill>
              </a:rPr>
              <a:t> How is it proven that it works?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</a:t>
            </a:r>
            <a:r>
              <a:rPr sz="2000" b="1">
                <a:solidFill>
                  <a:srgbClr val="1F2D3A"/>
                </a:solidFill>
              </a:rPr>
              <a:t>test</a:t>
            </a:r>
            <a:r>
              <a:rPr sz="2000" b="0">
                <a:solidFill>
                  <a:srgbClr val="1F2D3A"/>
                </a:solidFill>
              </a:rPr>
              <a:t> is written for each countermeasure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unit test, or a </a:t>
            </a:r>
            <a:r>
              <a:rPr sz="2000" b="1">
                <a:solidFill>
                  <a:srgbClr val="1F2D3A"/>
                </a:solidFill>
              </a:rPr>
              <a:t>bypass attempt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countermeasure with no test </a:t>
            </a:r>
            <a:r>
              <a:rPr sz="2000" b="1">
                <a:solidFill>
                  <a:srgbClr val="1F2D3A"/>
                </a:solidFill>
              </a:rPr>
              <a:t>does not exist</a:t>
            </a:r>
            <a:r>
              <a:rPr sz="2000" b="0">
                <a:solidFill>
                  <a:srgbClr val="1F2D3A"/>
                </a:solidFill>
              </a:rPr>
              <a:t> in an evaluator's eyes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7 detail: Residual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Question:</a:t>
            </a:r>
            <a:r>
              <a:rPr sz="2000" b="0">
                <a:solidFill>
                  <a:srgbClr val="1F2D3A"/>
                </a:solidFill>
              </a:rPr>
              <a:t> What did we knowingly accept?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Risks that can't be closed, or are knowingly </a:t>
            </a:r>
            <a:r>
              <a:rPr sz="2000" b="1">
                <a:solidFill>
                  <a:srgbClr val="1F2D3A"/>
                </a:solidFill>
              </a:rPr>
              <a:t>accepted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</a:t>
            </a:r>
            <a:r>
              <a:rPr sz="2000" b="1">
                <a:solidFill>
                  <a:srgbClr val="1F2D3A"/>
                </a:solidFill>
              </a:rPr>
              <a:t>reason</a:t>
            </a:r>
            <a:r>
              <a:rPr sz="2000" b="0">
                <a:solidFill>
                  <a:srgbClr val="1F2D3A"/>
                </a:solidFill>
              </a:rPr>
              <a:t> for each (e.g. performance, usability)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plan </a:t>
            </a:r>
            <a:r>
              <a:rPr sz="2000" b="1">
                <a:solidFill>
                  <a:srgbClr val="1F2D3A"/>
                </a:solidFill>
              </a:rPr>
              <a:t>never ends</a:t>
            </a:r>
            <a:r>
              <a:rPr sz="2000" b="0">
                <a:solidFill>
                  <a:srgbClr val="1F2D3A"/>
                </a:solidFill>
              </a:rPr>
              <a:t>: as the product changes, step 1 is revisited and it is </a:t>
            </a:r>
            <a:r>
              <a:rPr sz="2000" b="1">
                <a:solidFill>
                  <a:srgbClr val="1F2D3A"/>
                </a:solidFill>
              </a:rPr>
              <a:t>updated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The protection plan — diagram</a:t>
            </a:r>
          </a:p>
        </p:txBody>
      </p:sp>
      <p:pic>
        <p:nvPicPr>
          <p:cNvPr id="7" name="Picture 6" descr="h01-04-koruma-pla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473762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Example architecture: a mobile payment app</a:t>
            </a:r>
          </a:p>
        </p:txBody>
      </p:sp>
      <p:pic>
        <p:nvPicPr>
          <p:cNvPr id="7" name="Picture 6" descr="h01-05-mimari-arayuz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6828" y="1325880"/>
            <a:ext cx="4018038" cy="38750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310632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phone may be </a:t>
            </a:r>
            <a:r>
              <a:rPr sz="2000" b="1">
                <a:solidFill>
                  <a:srgbClr val="1F2D3A"/>
                </a:solidFill>
              </a:rPr>
              <a:t>in the attacker's hands</a:t>
            </a:r>
            <a:r>
              <a:rPr sz="2000" b="0">
                <a:solidFill>
                  <a:srgbClr val="1F2D3A"/>
                </a:solidFill>
              </a:rPr>
              <a:t>: root, debugger, memory dump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most sensitive work runs in the </a:t>
            </a:r>
            <a:r>
              <a:rPr sz="2000" b="1">
                <a:solidFill>
                  <a:srgbClr val="1F2D3A"/>
                </a:solidFill>
              </a:rPr>
              <a:t>native C/C++</a:t>
            </a:r>
            <a:r>
              <a:rPr sz="2000" b="0">
                <a:solidFill>
                  <a:srgbClr val="1F2D3A"/>
                </a:solidFill>
              </a:rPr>
              <a:t> layer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Interface and asset tables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5361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0685"/>
                <a:gridCol w="2246492"/>
                <a:gridCol w="2460444"/>
                <a:gridCol w="4813912"/>
              </a:tblGrid>
              <a:tr h="51206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Interface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Ends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Authentication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Confidentiality / integrity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1206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native – database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Encryption + MAC, key bound to the device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SDK – server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Certificate pinning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TLS + message-level encryption on top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971799"/>
          <a:ext cx="10911533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4896"/>
                <a:gridCol w="3591138"/>
                <a:gridCol w="2071810"/>
                <a:gridCol w="1933689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Asset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Where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Lifetime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Protection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One-time payment key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DB (encrypted), memory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One payment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Session key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Memory only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Session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Transaction counter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Persistent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513477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An asset not on the list is an asset that's not protected.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Interface table — full list (mobile payment)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7212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541"/>
                <a:gridCol w="2461248"/>
                <a:gridCol w="3691872"/>
                <a:gridCol w="3691872"/>
              </a:tblGrid>
              <a:tr h="4535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Interface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Ends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Authentication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Confidentiality / integrity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535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App – Library (Java)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The caller's signature is verified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Same process; no sensitive data crosses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35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Library (Java) – native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Mutual integrity check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Crosses encrypted and masked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535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native – local database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Encryption + MAC, key bound to the device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35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Library – back-end server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Certificate pinning + server verification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TLS + message-level encryption on top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5354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Library – payment terminal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Payment protocol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One-time payment key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Asset table — full list (mobile payment)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2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9250"/>
                <a:gridCol w="3047365"/>
                <a:gridCol w="4128688"/>
                <a:gridCol w="1376229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Asset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Where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Creation → deletion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Protection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One-time payment key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DB (encrypted), memory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Downloaded from server → used → erased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Device fingerprint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Memory, two separate pieces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Computed at start-up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Session key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Memory only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Derived → erased at session end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Transaction counter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Database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Increments on every payment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Server public key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Embedded in the app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At build time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STRIDE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3282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410"/>
                <a:gridCol w="2924741"/>
                <a:gridCol w="2137310"/>
                <a:gridCol w="4837072"/>
              </a:tblGrid>
              <a:tr h="468956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Threat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Breaks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Example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Spoofing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Authentication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 fake app calling the SDK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Tampering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Integrity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 native check altered in the binary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Repudiation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Non-repudiation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"I didn't make this payment"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Information disclosure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Confidentiality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Key read from a memory dump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895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Denial of service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Availability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Thousands of fake registration requests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896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Elevation of privilege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Authorization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Ordinary user → administrator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71830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Draw the data flow diagram → ask the six letters for </a:t>
            </a:r>
            <a:r>
              <a:rPr sz="2000" b="1">
                <a:solidFill>
                  <a:srgbClr val="1F2D3A"/>
                </a:solidFill>
              </a:rPr>
              <a:t>every arrow that crosses a trust boundary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Example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mobile banking application: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user login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balance display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money transfer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Let's apply every STRIDE letter to this system.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 · Spoofing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Threat:</a:t>
            </a:r>
            <a:r>
              <a:rPr sz="2000" b="0">
                <a:solidFill>
                  <a:srgbClr val="1F2D3A"/>
                </a:solidFill>
              </a:rPr>
              <a:t> acting as someone else (a fake user/server).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Example:</a:t>
            </a:r>
            <a:r>
              <a:rPr sz="2000" b="0">
                <a:solidFill>
                  <a:srgbClr val="1F2D3A"/>
                </a:solidFill>
              </a:rPr>
              <a:t> a fake server, a stolen session.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Countermeasure:</a:t>
            </a:r>
            <a:r>
              <a:rPr sz="2000" b="0">
                <a:solidFill>
                  <a:srgbClr val="1F2D3A"/>
                </a:solidFill>
              </a:rPr>
              <a:t> strong authentication, TLS + certificate checking.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 · Tampering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Threat:</a:t>
            </a:r>
            <a:r>
              <a:rPr sz="2000" b="0">
                <a:solidFill>
                  <a:srgbClr val="1F2D3A"/>
                </a:solidFill>
              </a:rPr>
              <a:t> modifying data/code without authorization.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Example:</a:t>
            </a:r>
            <a:r>
              <a:rPr sz="2000" b="0">
                <a:solidFill>
                  <a:srgbClr val="1F2D3A"/>
                </a:solidFill>
              </a:rPr>
              <a:t> changing the transfer amount.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Countermeasure:</a:t>
            </a:r>
            <a:r>
              <a:rPr sz="2000" b="0">
                <a:solidFill>
                  <a:srgbClr val="1F2D3A"/>
                </a:solidFill>
              </a:rPr>
              <a:t> integrity (MAC/signature), integrity checking (RASP).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 · Repudiation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Threat:</a:t>
            </a:r>
            <a:r>
              <a:rPr sz="2000" b="0">
                <a:solidFill>
                  <a:srgbClr val="1F2D3A"/>
                </a:solidFill>
              </a:rPr>
              <a:t> denying what you did.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Example:</a:t>
            </a:r>
            <a:r>
              <a:rPr sz="2000" b="0">
                <a:solidFill>
                  <a:srgbClr val="1F2D3A"/>
                </a:solidFill>
              </a:rPr>
              <a:t> "I didn't make that transfer."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Countermeasure:</a:t>
            </a:r>
            <a:r>
              <a:rPr sz="2000" b="0">
                <a:solidFill>
                  <a:srgbClr val="1F2D3A"/>
                </a:solidFill>
              </a:rPr>
              <a:t> secure log, signature, audit trail.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 · Information disclosure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Threat:</a:t>
            </a:r>
            <a:r>
              <a:rPr sz="2000" b="0">
                <a:solidFill>
                  <a:srgbClr val="1F2D3A"/>
                </a:solidFill>
              </a:rPr>
              <a:t> confidential data leaking.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Example:</a:t>
            </a:r>
            <a:r>
              <a:rPr sz="2000" b="0">
                <a:solidFill>
                  <a:srgbClr val="1F2D3A"/>
                </a:solidFill>
              </a:rPr>
              <a:t> a balance/password leak.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Countermeasure:</a:t>
            </a:r>
            <a:r>
              <a:rPr sz="2000" b="0">
                <a:solidFill>
                  <a:srgbClr val="1F2D3A"/>
                </a:solidFill>
              </a:rPr>
              <a:t> encryption, least privilege, leak-free error messages.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 · Denial of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Threat:</a:t>
            </a:r>
            <a:r>
              <a:rPr sz="2000" b="0">
                <a:solidFill>
                  <a:srgbClr val="1F2D3A"/>
                </a:solidFill>
              </a:rPr>
              <a:t> making the service unavailable.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Example:</a:t>
            </a:r>
            <a:r>
              <a:rPr sz="2000" b="0">
                <a:solidFill>
                  <a:srgbClr val="1F2D3A"/>
                </a:solidFill>
              </a:rPr>
              <a:t> excessive requests, resource exhaustion.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Countermeasure:</a:t>
            </a:r>
            <a:r>
              <a:rPr sz="2000" b="0">
                <a:solidFill>
                  <a:srgbClr val="1F2D3A"/>
                </a:solidFill>
              </a:rPr>
              <a:t> rate limiting, resource quotas, input limits.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 · Elevation of privilege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Threat:</a:t>
            </a:r>
            <a:r>
              <a:rPr sz="2000" b="0">
                <a:solidFill>
                  <a:srgbClr val="1F2D3A"/>
                </a:solidFill>
              </a:rPr>
              <a:t> gaining unauthorized privilege.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Example:</a:t>
            </a:r>
            <a:r>
              <a:rPr sz="2000" b="0">
                <a:solidFill>
                  <a:srgbClr val="1F2D3A"/>
                </a:solidFill>
              </a:rPr>
              <a:t> an ordinary user becomes administrator.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Countermeasure:</a:t>
            </a:r>
            <a:r>
              <a:rPr sz="2000" b="0">
                <a:solidFill>
                  <a:srgbClr val="1F2D3A"/>
                </a:solidFill>
              </a:rPr>
              <a:t> least privilege, privilege checking, secure default.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STRIDE Summary for the Banking Example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819932" cy="2569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8589"/>
                <a:gridCol w="6001343"/>
              </a:tblGrid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Letter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Countermeasure in this system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 + authentication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MAC/signature + RASP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Secure log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Encryption + least privilege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Rate limiting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Privilege checking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Root · goal</a:t>
            </a:r>
          </a:p>
        </p:txBody>
      </p:sp>
      <p:pic>
        <p:nvPicPr>
          <p:cNvPr id="7" name="Picture 6" descr="h01-06-saldiri-agac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7952" y="1325880"/>
            <a:ext cx="4935791" cy="42783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713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The attacker's ultimate goal. Now let's break down the paths.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Attack tree: "Capture the payment key"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GOAL: Payment key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OR</a:t>
            </a:r>
            <a:r>
              <a:rPr sz="2000" b="0">
                <a:solidFill>
                  <a:srgbClr val="1F2D3A"/>
                </a:solidFill>
              </a:rPr>
              <a:t> (one is enough)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Break the database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AND</a:t>
            </a:r>
            <a:r>
              <a:rPr sz="2000" b="0">
                <a:solidFill>
                  <a:srgbClr val="1F2D3A"/>
                </a:solidFill>
              </a:rPr>
              <a:t> (all required): gain root privilege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find the database key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Read from memory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OR</a:t>
            </a:r>
            <a:r>
              <a:rPr sz="2000" b="0">
                <a:solidFill>
                  <a:srgbClr val="1F2D3A"/>
                </a:solidFill>
              </a:rPr>
              <a:t>: attach a debugger </a:t>
            </a:r>
            <a:r>
              <a:rPr sz="2000" b="1">
                <a:solidFill>
                  <a:srgbClr val="1F2D3A"/>
                </a:solidFill>
              </a:rPr>
              <a:t>|</a:t>
            </a:r>
            <a:r>
              <a:rPr sz="2000" b="0">
                <a:solidFill>
                  <a:srgbClr val="1F2D3A"/>
                </a:solidFill>
              </a:rPr>
              <a:t> take a memory dump </a:t>
            </a:r>
            <a:r>
              <a:rPr sz="2000" b="1">
                <a:solidFill>
                  <a:srgbClr val="1F2D3A"/>
                </a:solidFill>
              </a:rPr>
              <a:t>|</a:t>
            </a:r>
            <a:r>
              <a:rPr sz="2000" b="0">
                <a:solidFill>
                  <a:srgbClr val="1F2D3A"/>
                </a:solidFill>
              </a:rPr>
              <a:t> hook a function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Eavesdrop on the traffic</a:t>
            </a:r>
            <a:r>
              <a:rPr sz="2000" b="0">
                <a:solidFill>
                  <a:srgbClr val="1F2D3A"/>
                </a:solidFill>
              </a:rPr>
              <a:t> — </a:t>
            </a:r>
            <a:r>
              <a:rPr sz="2000" b="0" i="1">
                <a:solidFill>
                  <a:srgbClr val="1F2D3A"/>
                </a:solidFill>
              </a:rPr>
              <a:t>AND</a:t>
            </a:r>
            <a:r>
              <a:rPr sz="2000" b="0">
                <a:solidFill>
                  <a:srgbClr val="1F2D3A"/>
                </a:solidFill>
              </a:rPr>
              <a:t>: break TLS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break message-level encryption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Attack tree — the "Break the database" branch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AND node</a:t>
            </a:r>
            <a:r>
              <a:rPr sz="2000" b="0">
                <a:solidFill>
                  <a:srgbClr val="1F2D3A"/>
                </a:solidFill>
              </a:rPr>
              <a:t> (all required):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Gain root privilege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AND</a:t>
            </a:r>
            <a:r>
              <a:rPr sz="2000" b="0">
                <a:solidFill>
                  <a:srgbClr val="1F2D3A"/>
                </a:solidFill>
              </a:rPr>
              <a:t> find the database key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This path is </a:t>
            </a:r>
            <a:r>
              <a:rPr sz="2000" b="1">
                <a:solidFill>
                  <a:srgbClr val="1F2D3A"/>
                </a:solidFill>
              </a:rPr>
              <a:t>expensive</a:t>
            </a:r>
            <a:r>
              <a:rPr sz="2000" b="0">
                <a:solidFill>
                  <a:srgbClr val="1F2D3A"/>
                </a:solidFill>
              </a:rPr>
              <a:t> because both are needed.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7820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This is proof that defence in depth </a:t>
            </a:r>
            <a:r>
              <a:rPr sz="2000" b="1">
                <a:solidFill>
                  <a:srgbClr val="1F2D3A"/>
                </a:solidFill>
              </a:rPr>
              <a:t>works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Attack tree — the "Read from memory" branch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OR node</a:t>
            </a:r>
            <a:r>
              <a:rPr sz="2000" b="0">
                <a:solidFill>
                  <a:srgbClr val="1F2D3A"/>
                </a:solidFill>
              </a:rPr>
              <a:t> (one is enough): three alternatives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Attach a debugger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OR</a:t>
            </a:r>
            <a:r>
              <a:rPr sz="2000" b="0">
                <a:solidFill>
                  <a:srgbClr val="1F2D3A"/>
                </a:solidFill>
              </a:rPr>
              <a:t> take a memory dump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OR</a:t>
            </a:r>
            <a:r>
              <a:rPr sz="2000" b="0">
                <a:solidFill>
                  <a:srgbClr val="1F2D3A"/>
                </a:solidFill>
              </a:rPr>
              <a:t> hook a function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Three alternatives = </a:t>
            </a:r>
            <a:r>
              <a:rPr sz="2000" b="1">
                <a:solidFill>
                  <a:srgbClr val="1F2D3A"/>
                </a:solidFill>
              </a:rPr>
              <a:t>the weakest point</a:t>
            </a:r>
            <a:r>
              <a:rPr sz="2000" b="0">
                <a:solidFill>
                  <a:srgbClr val="1F2D3A"/>
                </a:solidFill>
              </a:rPr>
              <a:t>: the key in memory.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5412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→ This week's Demo 2 · Week 6 runtime protection · Week 11 white-box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Attack tree — the "Eavesdrop on traffic" branch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AND node</a:t>
            </a:r>
            <a:r>
              <a:rPr sz="2000" b="0">
                <a:solidFill>
                  <a:srgbClr val="1F2D3A"/>
                </a:solidFill>
              </a:rPr>
              <a:t> (all required):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Break TLS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AND</a:t>
            </a:r>
            <a:r>
              <a:rPr sz="2000" b="0">
                <a:solidFill>
                  <a:srgbClr val="1F2D3A"/>
                </a:solidFill>
              </a:rPr>
              <a:t> break message-level encryption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Both layers must be broken </a:t>
            </a:r>
            <a:r>
              <a:rPr sz="2000" b="1">
                <a:solidFill>
                  <a:srgbClr val="1F2D3A"/>
                </a:solidFill>
              </a:rPr>
              <a:t>at once</a:t>
            </a:r>
            <a:r>
              <a:rPr sz="2000" b="0">
                <a:solidFill>
                  <a:srgbClr val="1F2D3A"/>
                </a:solidFill>
              </a:rPr>
              <a:t> → an expensive path.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7820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The defender's goal:</a:t>
            </a:r>
            <a:r>
              <a:rPr sz="2000" b="0">
                <a:solidFill>
                  <a:srgbClr val="1F2D3A"/>
                </a:solidFill>
              </a:rPr>
              <a:t> force the attacker into as many </a:t>
            </a:r>
            <a:r>
              <a:rPr sz="2000" b="1">
                <a:solidFill>
                  <a:srgbClr val="1F2D3A"/>
                </a:solidFill>
              </a:rPr>
              <a:t>AND</a:t>
            </a:r>
            <a:r>
              <a:rPr sz="2000" b="0">
                <a:solidFill>
                  <a:srgbClr val="1F2D3A"/>
                </a:solidFill>
              </a:rPr>
              <a:t> nodes as possible.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Attack tree — mapping to countermeasures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Let's map the attack tree's leaves directly onto a defence layer: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2318"/>
                <a:gridCol w="6649216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Leaf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Countermeasure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Debugger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Anti-debug (6)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Memory dump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Short lifetime + protection (6, 10)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Extract from binary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Obfuscation + white-box (9, 11)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Leak over the network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 + pinning (10)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Data flow diagram: five symbols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2621"/>
                <a:gridCol w="3381039"/>
                <a:gridCol w="4917874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Symbol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Name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Example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▭ Rectangle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External entity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User, payment terminal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◯ Circle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Process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Login module, crypto library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═ Two lines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Data store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Database, config 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→ Arrow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Data flow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HTTP request, function call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┄ Dashed 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Trust boundary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Internet ↔ server, app ↔ 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65760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Color every arrow that crosses a trust boundary </a:t>
            </a:r>
            <a:r>
              <a:rPr sz="2000" b="1">
                <a:solidFill>
                  <a:srgbClr val="1F2D3A"/>
                </a:solidFill>
              </a:rPr>
              <a:t>red</a:t>
            </a:r>
            <a:r>
              <a:rPr sz="2000" b="0">
                <a:solidFill>
                  <a:srgbClr val="1F2D3A"/>
                </a:solidFill>
              </a:rPr>
              <a:t>: start your review there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Data flow diagram and trust boundary — diagram</a:t>
            </a:r>
          </a:p>
        </p:txBody>
      </p:sp>
      <p:pic>
        <p:nvPicPr>
          <p:cNvPr id="7" name="Picture 6" descr="h01-19-veri-akis-diyagra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78576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Which letter for which element?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2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8674"/>
                <a:gridCol w="1252143"/>
                <a:gridCol w="1252143"/>
                <a:gridCol w="1252143"/>
                <a:gridCol w="1252143"/>
                <a:gridCol w="1252143"/>
                <a:gridCol w="1252143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Element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External entity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Process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Data store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✔¹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Data flow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¹ If it's an audit log · A data flow has no "identity" → </a:t>
            </a:r>
            <a:r>
              <a:rPr sz="1800" b="1">
                <a:solidFill>
                  <a:srgbClr val="1F2D3A"/>
                </a:solidFill>
              </a:rPr>
              <a:t>S is not asked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Question and countermeasure for each letter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258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0416"/>
                <a:gridCol w="5660871"/>
                <a:gridCol w="4430247"/>
              </a:tblGrid>
              <a:tr h="46556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Letter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Ask yourself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Typical countermeasure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Is the other party really who they claim to be?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Authentication, signature, certificate pinning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Would I notice if it were changed?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MAC/HMAC, signature, integrity check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If they say "I didn't do it," do I have proof?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Tamper-resistant log, signed transaction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Does it leak on disk, network, memory, or in a log?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Encryption, memory wiping, masking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Can it be crashed, exhausted?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Input limits, rate limiting, quotas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556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Can a low-privileged actor get a high-privileged one's work done?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Least privilege, complete mediation, memory safety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694529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An overflow = </a:t>
            </a:r>
            <a:r>
              <a:rPr sz="1800" b="1">
                <a:solidFill>
                  <a:srgbClr val="1F2D3A"/>
                </a:solidFill>
              </a:rPr>
              <a:t>D</a:t>
            </a:r>
            <a:r>
              <a:rPr sz="1800" b="0">
                <a:solidFill>
                  <a:srgbClr val="1F2D3A"/>
                </a:solidFill>
              </a:rPr>
              <a:t> (crashes) + </a:t>
            </a:r>
            <a:r>
              <a:rPr sz="1800" b="1">
                <a:solidFill>
                  <a:srgbClr val="1F2D3A"/>
                </a:solidFill>
              </a:rPr>
              <a:t>E</a:t>
            </a:r>
            <a:r>
              <a:rPr sz="1800" b="0">
                <a:solidFill>
                  <a:srgbClr val="1F2D3A"/>
                </a:solidFill>
              </a:rPr>
              <a:t> (control flow hijacked) + </a:t>
            </a:r>
            <a:r>
              <a:rPr sz="1800" b="1">
                <a:solidFill>
                  <a:srgbClr val="1F2D3A"/>
                </a:solidFill>
              </a:rPr>
              <a:t>I</a:t>
            </a:r>
            <a:r>
              <a:rPr sz="1800" b="0">
                <a:solidFill>
                  <a:srgbClr val="1F2D3A"/>
                </a:solidFill>
              </a:rPr>
              <a:t> (adjacent secret is read)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Risk score: likelihood × impact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9850"/>
                <a:gridCol w="2111910"/>
                <a:gridCol w="2111910"/>
                <a:gridCol w="3167865"/>
              </a:tblGrid>
              <a:tr h="374903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Impact 1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Impact 2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Impact 3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Likelihood 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9 critical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Likelihood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Likelihood 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Likelihood:</a:t>
            </a:r>
            <a:r>
              <a:rPr sz="2000" b="0">
                <a:solidFill>
                  <a:srgbClr val="1F2D3A"/>
                </a:solidFill>
              </a:rPr>
              <a:t> physical access, or over the internet? Expertise needed? Can it be automated?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Impact:</a:t>
            </a:r>
            <a:r>
              <a:rPr sz="2000" b="0">
                <a:solidFill>
                  <a:srgbClr val="1F2D3A"/>
                </a:solidFill>
              </a:rPr>
              <a:t> which asset, how many users, financial/legal consequence?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More detailed: </a:t>
            </a:r>
            <a:r>
              <a:rPr sz="2000" b="1">
                <a:solidFill>
                  <a:srgbClr val="1F2D3A"/>
                </a:solidFill>
              </a:rPr>
              <a:t>CVSS</a:t>
            </a:r>
            <a:r>
              <a:rPr sz="2000" b="0">
                <a:solidFill>
                  <a:srgbClr val="1F2D3A"/>
                </a:solidFill>
              </a:rPr>
              <a:t> (week 2), </a:t>
            </a:r>
            <a:r>
              <a:rPr sz="2000" b="1">
                <a:solidFill>
                  <a:srgbClr val="1F2D3A"/>
                </a:solidFill>
              </a:rPr>
              <a:t>attack potential</a:t>
            </a:r>
            <a:r>
              <a:rPr sz="2000" b="0">
                <a:solidFill>
                  <a:srgbClr val="1F2D3A"/>
                </a:solidFill>
              </a:rPr>
              <a:t> (week 13)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Four responses to a threat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Mitigate</a:t>
            </a:r>
            <a:r>
              <a:rPr sz="2000" b="0">
                <a:solidFill>
                  <a:srgbClr val="1F2D3A"/>
                </a:solidFill>
              </a:rPr>
              <a:t> — add a countermeasure (most common)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Eliminate</a:t>
            </a:r>
            <a:r>
              <a:rPr sz="2000" b="0">
                <a:solidFill>
                  <a:srgbClr val="1F2D3A"/>
                </a:solidFill>
              </a:rPr>
              <a:t> — never write the feature at all (strongest) </a:t>
            </a:r>
            <a:r>
              <a:rPr sz="2000" b="0" i="1">
                <a:solidFill>
                  <a:srgbClr val="1F2D3A"/>
                </a:solidFill>
              </a:rPr>
              <a:t>If there's no "remember my password" feature, there's no disk-password threat either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Transfer</a:t>
            </a:r>
            <a:r>
              <a:rPr sz="2000" b="0">
                <a:solidFill>
                  <a:srgbClr val="1F2D3A"/>
                </a:solidFill>
              </a:rPr>
              <a:t> — don't store card data, leave it to the payment provider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Accept</a:t>
            </a:r>
            <a:r>
              <a:rPr sz="2000" b="0">
                <a:solidFill>
                  <a:srgbClr val="1F2D3A"/>
                </a:solidFill>
              </a:rPr>
              <a:t> — write it into the </a:t>
            </a:r>
            <a:r>
              <a:rPr sz="2000" b="1">
                <a:solidFill>
                  <a:srgbClr val="1F2D3A"/>
                </a:solidFill>
              </a:rPr>
              <a:t>residual risk</a:t>
            </a:r>
            <a:r>
              <a:rPr sz="2000" b="0">
                <a:solidFill>
                  <a:srgbClr val="1F2D3A"/>
                </a:solidFill>
              </a:rPr>
              <a:t> list, with a reason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609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A risk not written into the plan is not accepted, it has been </a:t>
            </a:r>
            <a:r>
              <a:rPr sz="2000" b="1">
                <a:solidFill>
                  <a:srgbClr val="1F2D3A"/>
                </a:solidFill>
              </a:rPr>
              <a:t>overlooked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Worked example: the "Vault" password vault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0–1: Application and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Vault:</a:t>
            </a:r>
            <a:r>
              <a:rPr sz="2000" b="0">
                <a:solidFill>
                  <a:srgbClr val="1F2D3A"/>
                </a:solidFill>
              </a:rPr>
              <a:t> a C++ desktop password vault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Master password → derived key → records encrypted in a single file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Copy to clipboard · optional cloud backup · auto-update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828544"/>
          <a:ext cx="10911534" cy="1764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645"/>
                <a:gridCol w="8710889"/>
              </a:tblGrid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Field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Target of evaluation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kasa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1.0 +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kasa_cekirdek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+ configuration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Out of scope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The backup server itself, the operating system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Security objective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Unreadable and undetectably unmodifiable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to anyone who doesn't know the master password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Step 2: Architecture and interfaces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617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8207"/>
                <a:gridCol w="2470536"/>
                <a:gridCol w="2573475"/>
                <a:gridCol w="4529316"/>
              </a:tblGrid>
              <a:tr h="373858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Interface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Ends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Authentication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Confidentiality / integrity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User → Interface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Master password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Never shown on screen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Interface → Core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Same process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Password erased after the call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Core → Vault 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AES-GCM, key from the password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Core → Clipboard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Cleared after 30 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Core → Backup server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Certificate + token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TLS + already-encrypted 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Interface → Update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Package signature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TLS; the real assurance is the signature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Vault architecture — diagram</a:t>
            </a:r>
          </a:p>
        </p:txBody>
      </p:sp>
      <p:pic>
        <p:nvPicPr>
          <p:cNvPr id="7" name="Picture 6" descr="h01-07-kasa-mim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531105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Step 3: Assets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2" cy="3044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565"/>
                <a:gridCol w="2797829"/>
                <a:gridCol w="2145002"/>
                <a:gridCol w="4103483"/>
                <a:gridCol w="1305653"/>
              </a:tblGrid>
              <a:tr h="43499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Asset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Where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Creation → deletion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Protection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Master password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Memory only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Typed → derived →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erased immediately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Vault key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Memory only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Derived → erased on lock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Decrypted record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Memory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Displayed → erased on close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Vault file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Disk, backup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Persistent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C, 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499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Salt, derivation parameter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File header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At creation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9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Update public key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Embedded in the app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At build time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80560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Protection classes: </a:t>
            </a:r>
            <a:r>
              <a:rPr sz="1800" b="1">
                <a:solidFill>
                  <a:srgbClr val="1F2D3A"/>
                </a:solidFill>
              </a:rPr>
              <a:t>C</a:t>
            </a:r>
            <a:r>
              <a:rPr sz="1800" b="0">
                <a:solidFill>
                  <a:srgbClr val="1F2D3A"/>
                </a:solidFill>
              </a:rPr>
              <a:t> confidentiality · </a:t>
            </a:r>
            <a:r>
              <a:rPr sz="1800" b="1">
                <a:solidFill>
                  <a:srgbClr val="1F2D3A"/>
                </a:solidFill>
              </a:rPr>
              <a:t>I</a:t>
            </a:r>
            <a:r>
              <a:rPr sz="1800" b="0">
                <a:solidFill>
                  <a:srgbClr val="1F2D3A"/>
                </a:solidFill>
              </a:rPr>
              <a:t> integrity · </a:t>
            </a:r>
            <a:r>
              <a:rPr sz="1800" b="1">
                <a:solidFill>
                  <a:srgbClr val="1F2D3A"/>
                </a:solidFill>
              </a:rPr>
              <a:t>I+</a:t>
            </a:r>
            <a:r>
              <a:rPr sz="1800" b="0">
                <a:solidFill>
                  <a:srgbClr val="1F2D3A"/>
                </a:solidFill>
              </a:rPr>
              <a:t> integrity + accountability · </a:t>
            </a:r>
            <a:r>
              <a:rPr sz="1800" b="1">
                <a:solidFill>
                  <a:srgbClr val="1F2D3A"/>
                </a:solidFill>
              </a:rPr>
              <a:t>N</a:t>
            </a:r>
            <a:r>
              <a:rPr sz="1800" b="0">
                <a:solidFill>
                  <a:srgbClr val="1F2D3A"/>
                </a:solidFill>
              </a:rPr>
              <a:t> none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Step 4: Threats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40105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8210"/>
                <a:gridCol w="1471218"/>
                <a:gridCol w="1226015"/>
                <a:gridCol w="6252677"/>
                <a:gridCol w="1103413"/>
              </a:tblGrid>
              <a:tr h="5013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Where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Letter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Threat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013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 / V4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Stolen file, weak password brute-forced offline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013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 / V1-2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Password/key stays in memory → dump, swap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 / V3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Clipboard password read by another app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013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 / V5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Iteration count dropped to 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 / V6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T, 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 fake update is installed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0132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Process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 memory bug in the vault parser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Step 3-4 (continued): remaining assets and threats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825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1855"/>
                <a:gridCol w="1818589"/>
                <a:gridCol w="7381332"/>
                <a:gridCol w="1069758"/>
              </a:tblGrid>
              <a:tr h="56509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Asset/Threat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509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Backup token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Disk (OS key store); created on connect → deleted on revoke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509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 / V4,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Vault file is modified; a corrupted record is used without notice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Risk 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509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 fake backup server steals the token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Risk 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510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Master password read off the screen (shoulder surfing)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Risk 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26110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All nine</a:t>
            </a:r>
            <a:r>
              <a:rPr sz="1800" b="0">
                <a:solidFill>
                  <a:srgbClr val="1F2D3A"/>
                </a:solidFill>
              </a:rPr>
              <a:t> threats must be in the table; a skipped threat is a threat that isn't closed.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Step 5: Countermeasures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258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3021"/>
                <a:gridCol w="8847190"/>
                <a:gridCol w="1081323"/>
              </a:tblGrid>
              <a:tr h="46556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Threat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Countermeasure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Slow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derivation (Argon2id / high-iteration PBKDF2) + password strength requirement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6, 2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Secure erase,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mlock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disable dumps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Clipboard cleared after 30 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T4-5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Authenticated encryption; header =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AAD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minimum iteration count hard-coded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6, 2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5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Never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run without verifying the signature; reject downgrades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556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Length validation + fuzzing + compiler protections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2, 3, 7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5 (continued): T7 and T9 countermeasures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655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1153"/>
                <a:gridCol w="8838343"/>
                <a:gridCol w="982038"/>
              </a:tblGrid>
              <a:tr h="55168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Threat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Countermeasure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5168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Certificate validation + hostname check, optional certificate pinning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5168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Accept: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mask the password on screen; physical observation is out of scope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09067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The T9 example matters: not every threat needs a countermeasure </a:t>
            </a:r>
            <a:r>
              <a:rPr sz="2000" b="1">
                <a:solidFill>
                  <a:srgbClr val="1F2D3A"/>
                </a:solidFill>
              </a:rPr>
              <a:t>added</a:t>
            </a:r>
            <a:r>
              <a:rPr sz="2000" b="0">
                <a:solidFill>
                  <a:srgbClr val="1F2D3A"/>
                </a:solidFill>
              </a:rPr>
              <a:t>, sometimes </a:t>
            </a:r>
            <a:r>
              <a:rPr sz="2000" b="1">
                <a:solidFill>
                  <a:srgbClr val="1F2D3A"/>
                </a:solidFill>
              </a:rPr>
              <a:t>accepting</a:t>
            </a:r>
            <a:r>
              <a:rPr sz="2000" b="0">
                <a:solidFill>
                  <a:srgbClr val="1F2D3A"/>
                </a:solidFill>
              </a:rPr>
              <a:t> it is the right call.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6–7: Verification and residual risk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350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9898"/>
                <a:gridCol w="4650818"/>
                <a:gridCol w="4650818"/>
              </a:tblGrid>
              <a:tr h="47000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Countermeasure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Expected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7000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Derivation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Time 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≥ 250 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00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Erasure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Search a memory dump after lock for the password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Not found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7000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Integrity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Modify one byte of the 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Says "corrupted," refuses to open, doesn't crash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00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Signature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 package with a broken signature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Rejected, logged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78561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Residual risk:</a:t>
            </a:r>
            <a:r>
              <a:rPr sz="2000" b="0">
                <a:solidFill>
                  <a:srgbClr val="1F2D3A"/>
                </a:solidFill>
              </a:rPr>
              <a:t> malware running with the same user while the vault is open · shoulder surfing · a very weak password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547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A countermeasure with no test </a:t>
            </a:r>
            <a:r>
              <a:rPr sz="2000" b="1">
                <a:solidFill>
                  <a:srgbClr val="1F2D3A"/>
                </a:solidFill>
              </a:rPr>
              <a:t>doesn't exist</a:t>
            </a:r>
            <a:r>
              <a:rPr sz="2000" b="0">
                <a:solidFill>
                  <a:srgbClr val="1F2D3A"/>
                </a:solidFill>
              </a:rPr>
              <a:t> in an evaluator's eyes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Step 6 (continued): T5 and T8 tests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108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4820"/>
                <a:gridCol w="4724582"/>
                <a:gridCol w="4162131"/>
              </a:tblGrid>
              <a:tr h="36941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Countermeasure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Expected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94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T5 parameter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Iteration count in the header set to 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The app rejects the 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41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T8 parser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24 hours of fuzzing (week 4)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 crashes; no sanitizer findings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Step 7 (continued): residual risk — full table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0738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7652"/>
                <a:gridCol w="5606479"/>
                <a:gridCol w="1567402"/>
              </a:tblGrid>
              <a:tr h="518464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Why accepted?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Re-evaluation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184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Memory can be read if malware runs while the vault is open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Full protection against same-user malware isn't possible; the lock timeout was kept short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Every release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84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Shoulder surfing (T9)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The physical environment is out of scope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1846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Very weak master password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The user is warned but not forcibly blocked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Based on user feedback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Common mistakes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Forgetting assets:</a:t>
            </a:r>
            <a:r>
              <a:rPr sz="2000" b="0">
                <a:solidFill>
                  <a:srgbClr val="1F2D3A"/>
                </a:solidFill>
              </a:rPr>
              <a:t> keys, tokens, counters, configuration, </a:t>
            </a:r>
            <a:r>
              <a:rPr sz="2000" b="1">
                <a:solidFill>
                  <a:srgbClr val="1F2D3A"/>
                </a:solidFill>
              </a:rPr>
              <a:t>the code itself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Drawing the trust boundary wrong:</a:t>
            </a:r>
            <a:r>
              <a:rPr sz="2000" b="0">
                <a:solidFill>
                  <a:srgbClr val="1F2D3A"/>
                </a:solidFill>
              </a:rPr>
              <a:t> treating your own client as "trusted"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Not matching a countermeasure to a threat:</a:t>
            </a:r>
            <a:r>
              <a:rPr sz="2000" b="0">
                <a:solidFill>
                  <a:srgbClr val="1F2D3A"/>
                </a:solidFill>
              </a:rPr>
              <a:t> "we use TLS" — which threat does it close, which doesn't it?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 countermeasure with no test:</a:t>
            </a:r>
            <a:r>
              <a:rPr sz="2000" b="0">
                <a:solidFill>
                  <a:srgbClr val="1F2D3A"/>
                </a:solidFill>
              </a:rPr>
              <a:t> saying "we erase it" without noticing the compiler removed the erasure (Demo 2)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Program start-up and secrets left in memory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How a secret leaks from memory — diagram</a:t>
            </a:r>
          </a:p>
        </p:txBody>
      </p:sp>
      <p:pic>
        <p:nvPicPr>
          <p:cNvPr id="7" name="Picture 6" descr="h01-21-bellekten-sizma-yoll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992" y="1325880"/>
            <a:ext cx="952371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 program doesn't start with a blank page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What it </a:t>
            </a:r>
            <a:r>
              <a:rPr sz="2000" b="1">
                <a:solidFill>
                  <a:srgbClr val="1F2D3A"/>
                </a:solidFill>
              </a:rPr>
              <a:t>inherits</a:t>
            </a:r>
            <a:r>
              <a:rPr sz="2000" b="0">
                <a:solidFill>
                  <a:srgbClr val="1F2D3A"/>
                </a:solidFill>
              </a:rPr>
              <a:t> from whoever launched it: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Environment variables: </a:t>
            </a:r>
            <a:r>
              <a:rPr sz="2000" b="0">
                <a:solidFill>
                  <a:srgbClr val="A1123F"/>
                </a:solidFill>
                <a:latin typeface="Consolas"/>
              </a:rPr>
              <a:t>PATH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LD_PRELOAD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IFS</a:t>
            </a:r>
            <a:r>
              <a:rPr sz="2000" b="0">
                <a:solidFill>
                  <a:srgbClr val="1F2D3A"/>
                </a:solidFill>
              </a:rPr>
              <a:t>…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Open file descriptors, working directory, </a:t>
            </a:r>
            <a:r>
              <a:rPr sz="2000" b="0">
                <a:solidFill>
                  <a:srgbClr val="A1123F"/>
                </a:solidFill>
                <a:latin typeface="Consolas"/>
              </a:rPr>
              <a:t>umask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Resource limits, crash dump settings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If the program trusts these, </a:t>
            </a:r>
            <a:r>
              <a:rPr sz="2000" b="1">
                <a:solidFill>
                  <a:srgbClr val="1F2D3A"/>
                </a:solidFill>
              </a:rPr>
              <a:t>whoever controls them controls the program.</a:t>
            </a:r>
            <a:r>
              <a:rPr sz="2000" b="0">
                <a:solidFill>
                  <a:srgbClr val="1F2D3A"/>
                </a:solidFill>
              </a:rPr>
              <a:t> Book: Viega &amp; Messier, Recipes 1.1–1.9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1 — Fooling via PATH (CWE-426)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durum = system(KOMUT);  /* Linux: "date"  Windows: "hostname"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/* HANGİSİ çalışacak?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(Windows)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  <a:r>
              <a:rPr sz="2000" b="0">
                <a:solidFill>
                  <a:srgbClr val="1F2D3A"/>
                </a:solidFill>
              </a:rPr>
              <a:t> (WSL / Linux)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37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2 — PATH="$PWD/sahte:$PATH" ./bin/linux/rapor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Rapor tarihi: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!!! SAHTE 'date' calisti !!!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3 — ./bin/linux/rapor_guvenli  -&gt;  Rapor tarihi: Sat Sep 19 ...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Fooling via PATH — diagram</a:t>
            </a:r>
          </a:p>
        </p:txBody>
      </p:sp>
      <p:pic>
        <p:nvPicPr>
          <p:cNvPr id="7" name="Picture 6" descr="h01-08-path-kandir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501831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Fix: three rules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char *const arguman[]     = { "date", NULL };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char *const temiz_ortam[] = { "PATH=/usr/bin:/bin", "LANG=C", NULL };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posix_spawn(&amp;pid, "/bin/date", NULL, NULL, arguman, temiz_ortam);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Absolute path</a:t>
            </a:r>
            <a:r>
              <a:rPr sz="2000" b="0">
                <a:solidFill>
                  <a:srgbClr val="1F2D3A"/>
                </a:solidFill>
              </a:rPr>
              <a:t> → no PATH search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No shell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posix_spawn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execve</a:t>
            </a:r>
            <a:r>
              <a:rPr sz="2000" b="0">
                <a:solidFill>
                  <a:srgbClr val="1F2D3A"/>
                </a:solidFill>
              </a:rPr>
              <a:t>) → no special characters, no </a:t>
            </a:r>
            <a:r>
              <a:rPr sz="2000" b="0">
                <a:solidFill>
                  <a:srgbClr val="A1123F"/>
                </a:solidFill>
                <a:latin typeface="Consolas"/>
              </a:rPr>
              <a:t>IFS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Clean environment</a:t>
            </a:r>
            <a:r>
              <a:rPr sz="2000" b="0">
                <a:solidFill>
                  <a:srgbClr val="1F2D3A"/>
                </a:solidFill>
              </a:rPr>
              <a:t> → a known, small environment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05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Windows: </a:t>
            </a:r>
            <a:r>
              <a:rPr sz="2000" b="0">
                <a:solidFill>
                  <a:srgbClr val="A1123F"/>
                </a:solidFill>
                <a:latin typeface="Consolas"/>
              </a:rPr>
              <a:t>CreateProcessW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System32hostname.exe</a:t>
            </a:r>
            <a:r>
              <a:rPr sz="2000" b="0">
                <a:solidFill>
                  <a:srgbClr val="1F2D3A"/>
                </a:solidFill>
              </a:rPr>
              <a:t> + only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SystemRoot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5544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Best: avoid needing another program at all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strftime()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GetComputerNameW()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Secure start-up: what is inherited?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5072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5215"/>
                <a:gridCol w="7629203"/>
                <a:gridCol w="887116"/>
              </a:tblGrid>
              <a:tr h="41788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Inherited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Danger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Recipe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Environment variables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PATH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LD_PRELOAD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change the program/library that loads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Open file descriptors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The parent's hidden file leaks; if 0–2 are closed, the first file becomes "stdout"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umask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000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→ world-writable files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2.7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Resource limits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Core dump enabled → memory to disk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788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Identity and privileges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setuid: more privilege than needed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94289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Rule:</a:t>
            </a:r>
            <a:r>
              <a:rPr sz="1800" b="0">
                <a:solidFill>
                  <a:srgbClr val="1F2D3A"/>
                </a:solidFill>
              </a:rPr>
              <a:t> trust nothing you didn't set up yourself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What a program inherits — diagram</a:t>
            </a:r>
          </a:p>
        </p:txBody>
      </p:sp>
      <p:pic>
        <p:nvPicPr>
          <p:cNvPr id="7" name="Picture 6" descr="h01-20-devralinan-dur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6149" y="1325880"/>
            <a:ext cx="9059396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Other inherited risks: working directory, signals, dlopen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7145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Working directory:</a:t>
            </a:r>
            <a:r>
              <a:rPr sz="1800" b="0">
                <a:solidFill>
                  <a:srgbClr val="1F2D3A"/>
                </a:solidFill>
              </a:rPr>
              <a:t> relative paths (</a:t>
            </a:r>
            <a:r>
              <a:rPr sz="1800" b="0">
                <a:solidFill>
                  <a:srgbClr val="A1123F"/>
                </a:solidFill>
                <a:latin typeface="Consolas"/>
              </a:rPr>
              <a:t>./ayar.ini</a:t>
            </a:r>
            <a:r>
              <a:rPr sz="1800" b="0">
                <a:solidFill>
                  <a:srgbClr val="1F2D3A"/>
                </a:solidFill>
              </a:rPr>
              <a:t>) can point into a folder the attacker chose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Signal settings:</a:t>
            </a:r>
            <a:r>
              <a:rPr sz="1800" b="0">
                <a:solidFill>
                  <a:srgbClr val="1F2D3A"/>
                </a:solidFill>
              </a:rPr>
              <a:t> signals the parent ignores are </a:t>
            </a:r>
            <a:r>
              <a:rPr sz="1800" b="1">
                <a:solidFill>
                  <a:srgbClr val="1F2D3A"/>
                </a:solidFill>
              </a:rPr>
              <a:t>also ignored in the child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`dlopen("lib.so")`:</a:t>
            </a:r>
            <a:r>
              <a:rPr sz="1800" b="0">
                <a:solidFill>
                  <a:srgbClr val="1F2D3A"/>
                </a:solidFill>
              </a:rPr>
              <a:t> affected by </a:t>
            </a:r>
            <a:r>
              <a:rPr sz="1800" b="0">
                <a:solidFill>
                  <a:srgbClr val="A1123F"/>
                </a:solidFill>
                <a:latin typeface="Consolas"/>
              </a:rPr>
              <a:t>LD_LIBRARY_PATH</a:t>
            </a:r>
            <a:r>
              <a:rPr sz="1800" b="0">
                <a:solidFill>
                  <a:srgbClr val="1F2D3A"/>
                </a:solidFill>
              </a:rPr>
              <a:t> and search paths → use the full path; </a:t>
            </a:r>
            <a:r>
              <a:rPr sz="1800" b="0">
                <a:solidFill>
                  <a:srgbClr val="A1123F"/>
                </a:solidFill>
                <a:latin typeface="Consolas"/>
              </a:rPr>
              <a:t>LD_*</a:t>
            </a:r>
            <a:r>
              <a:rPr sz="1800" b="0">
                <a:solidFill>
                  <a:srgbClr val="1F2D3A"/>
                </a:solidFill>
              </a:rPr>
              <a:t> should already be cleaned in 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5010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Same rule: </a:t>
            </a:r>
            <a:r>
              <a:rPr sz="1800" b="1">
                <a:solidFill>
                  <a:srgbClr val="1F2D3A"/>
                </a:solidFill>
              </a:rPr>
              <a:t>trust nothing the program itself did not set up.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Steps 1–2: Environment and descriptors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6349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Ortam: kara liste değil BEYAZ liste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clearenv();                            /* önce korunacakları kopyala!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setenv("PATH", "/usr/bin:/bin", 1);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0-2 kapalıysa /dev/null'a bağla, gerisini kapat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for (int fd = 0; fd &lt;= 2; fd++)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(fcntl(fd, F_GETFD) == -1 &amp;&amp; open("/dev/null", O_RDWR) != fd) abort();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close_range(3, ~0U, 0);                /* Linux 5.9+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70555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The </a:t>
            </a:r>
            <a:r>
              <a:rPr sz="1800" b="0">
                <a:solidFill>
                  <a:srgbClr val="A1123F"/>
                </a:solidFill>
                <a:latin typeface="Consolas"/>
              </a:rPr>
              <a:t>getenv</a:t>
            </a:r>
            <a:r>
              <a:rPr sz="1800" b="0">
                <a:solidFill>
                  <a:srgbClr val="1F2D3A"/>
                </a:solidFill>
              </a:rPr>
              <a:t> pointer becomes </a:t>
            </a:r>
            <a:r>
              <a:rPr sz="1800" b="1">
                <a:solidFill>
                  <a:srgbClr val="1F2D3A"/>
                </a:solidFill>
              </a:rPr>
              <a:t>invalid</a:t>
            </a:r>
            <a:r>
              <a:rPr sz="1800" b="0">
                <a:solidFill>
                  <a:srgbClr val="1F2D3A"/>
                </a:solidFill>
              </a:rPr>
              <a:t> after </a:t>
            </a:r>
            <a:r>
              <a:rPr sz="1800" b="0">
                <a:solidFill>
                  <a:srgbClr val="A1123F"/>
                </a:solidFill>
                <a:latin typeface="Consolas"/>
              </a:rPr>
              <a:t>clearenv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Always use </a:t>
            </a:r>
            <a:r>
              <a:rPr sz="1800" b="0">
                <a:solidFill>
                  <a:srgbClr val="A1123F"/>
                </a:solidFill>
                <a:latin typeface="Consolas"/>
              </a:rPr>
              <a:t>O_CLOEXEC</a:t>
            </a:r>
            <a:r>
              <a:rPr sz="1800" b="0">
                <a:solidFill>
                  <a:srgbClr val="1F2D3A"/>
                </a:solidFill>
              </a:rPr>
              <a:t> on your own files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Steps 3–4: Permissions and crash dumps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umask(077);                                   /* rw-------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fd = open(yol, O_WRONLY | O_CREAT | O_EXCL, 0600);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struct rlimit r = { 0, 0 };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setrlimit(RLIMIT_CORE, &amp;r);                   /* döküm boyutu 0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prctl(PR_SET_DUMPABLE, 0, 0, 0, 0);           /* + ptrace ile bağlanılamaz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Windows: </a:t>
            </a:r>
            <a:r>
              <a:rPr sz="1800" b="0">
                <a:solidFill>
                  <a:srgbClr val="A1123F"/>
                </a:solidFill>
                <a:latin typeface="Consolas"/>
              </a:rPr>
              <a:t>SetErrorMode(SEM_FAILCRITICALERRORS | SEM_NOGPFAULTERRORBOX)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The real defence: even if a dump is taken, no secret should be </a:t>
            </a:r>
            <a:r>
              <a:rPr sz="1800" b="1">
                <a:solidFill>
                  <a:srgbClr val="1F2D3A"/>
                </a:solidFill>
              </a:rPr>
              <a:t>left inside it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Step 5: Drop privilege permanently and verify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(setresgid(g, g, g) != 0) abort();   /* 1. önce GRUP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(setresuid(u, u, u) != 0) abort();   /* 2. sonra kullanıcı: r/e/s üçü de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getresuid(&amp;r, &amp;e, &amp;s);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(r != u || e != u || s != u) abort();  /* 3. DOĞRULA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90241"/>
            <a:ext cx="10911535" cy="1417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seteuid()</a:t>
            </a:r>
            <a:r>
              <a:rPr sz="1800" b="0">
                <a:solidFill>
                  <a:srgbClr val="1F2D3A"/>
                </a:solidFill>
              </a:rPr>
              <a:t> is temporary: the saved identity stays privileged (week 2 Demo 13)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Windows: a </a:t>
            </a:r>
            <a:r>
              <a:rPr sz="1800" b="1">
                <a:solidFill>
                  <a:srgbClr val="1F2D3A"/>
                </a:solidFill>
              </a:rPr>
              <a:t>restricted token</a:t>
            </a:r>
            <a:r>
              <a:rPr sz="1800" b="0">
                <a:solidFill>
                  <a:srgbClr val="1F2D3A"/>
                </a:solidFill>
              </a:rPr>
              <a:t> (</a:t>
            </a:r>
            <a:r>
              <a:rPr sz="1800" b="0">
                <a:solidFill>
                  <a:srgbClr val="A1123F"/>
                </a:solidFill>
                <a:latin typeface="Consolas"/>
              </a:rPr>
              <a:t>CreateRestrictedToken</a:t>
            </a:r>
            <a:r>
              <a:rPr sz="18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Better: </a:t>
            </a:r>
            <a:r>
              <a:rPr sz="1800" b="1">
                <a:solidFill>
                  <a:srgbClr val="1F2D3A"/>
                </a:solidFill>
              </a:rPr>
              <a:t>privilege separation</a:t>
            </a:r>
            <a:r>
              <a:rPr sz="1800" b="0">
                <a:solidFill>
                  <a:srgbClr val="1F2D3A"/>
                </a:solidFill>
              </a:rPr>
              <a:t> — a small privileged process + a large unprivileged one (Recipe 1.4)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Step 6: Loading programs and libraries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969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9448"/>
                <a:gridCol w="6742086"/>
              </a:tblGrid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❌ Wrong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✅ Correct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system("convert " + dosya)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execve("/usr/bin/convert", argv, temiz_ortam)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execvp("convert", ...)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execve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with a full path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CreateProcess(NULL, "C:Program Files...")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lpApplicationName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= full path, quoted command 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LoadLibrary("yardimci.dll")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SetDefaultDllDirectories(LOAD_LIBRARY_SEARCH_DEFAULT_DIRS)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full path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405225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The Windows DLL search order = the twin of the </a:t>
            </a:r>
            <a:r>
              <a:rPr sz="1800" b="0">
                <a:solidFill>
                  <a:srgbClr val="A1123F"/>
                </a:solidFill>
                <a:latin typeface="Consolas"/>
              </a:rPr>
              <a:t>PATH</a:t>
            </a:r>
            <a:r>
              <a:rPr sz="1800" b="0">
                <a:solidFill>
                  <a:srgbClr val="1F2D3A"/>
                </a:solidFill>
              </a:rPr>
              <a:t> problem (CWE-427)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All together: </a:t>
            </a:r>
            <a:r>
              <a:rPr sz="3000" b="1">
                <a:solidFill>
                  <a:srgbClr val="006D77"/>
                </a:solidFill>
                <a:latin typeface="Consolas"/>
              </a:rPr>
              <a:t>guvenli_baslat()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97510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main(int argc, char **argv)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tanitici_duzenle();   /* 1. tanıtıcılar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ortami_temizle();     /* 2. ortam  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umask(077);           /* 3. izinler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dokumu_kapat();       /* 4. döküm  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yetkiyi_birak();      /* 5. yetki       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/* ... asıl iş ...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1071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Order matters:</a:t>
            </a:r>
            <a:r>
              <a:rPr sz="2000" b="0">
                <a:solidFill>
                  <a:srgbClr val="1F2D3A"/>
                </a:solidFill>
              </a:rPr>
              <a:t> before doing anything else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2 — Password left in memory (CWE-14)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char parola[64];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 = dosya_oku(fd, parola, sizeof(parola) - 1);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anahtar = anahtar_turet(parola, n);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memset(parola, 0, sizeof(parola));         /* sürüm 2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explicit_bzero(parola, sizeof(parola));    /* sürüm 3, Linux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SecureZeroMemory(parola, sizeof(parola));  /* sürüm 3, Windows */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43784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Hiç silmeyen   -&gt; parola dökümde BULUNDU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memset (-O2)   -&gt; parola dökümde BULUNDU      ← !!!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explicit_bzero -&gt; parola dökümde bulunamadı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Why did the memset disappear?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The compiler's reasoning: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86868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"</a:t>
            </a:r>
            <a:r>
              <a:rPr sz="1800" b="0">
                <a:solidFill>
                  <a:srgbClr val="A1123F"/>
                </a:solidFill>
                <a:latin typeface="Consolas"/>
              </a:rPr>
              <a:t>parola</a:t>
            </a:r>
            <a:r>
              <a:rPr sz="1800" b="0">
                <a:solidFill>
                  <a:srgbClr val="1F2D3A"/>
                </a:solidFill>
              </a:rPr>
              <a:t> is never </a:t>
            </a:r>
            <a:r>
              <a:rPr sz="1800" b="1">
                <a:solidFill>
                  <a:srgbClr val="1F2D3A"/>
                </a:solidFill>
              </a:rPr>
              <a:t>read</a:t>
            </a:r>
            <a:r>
              <a:rPr sz="1800" b="0">
                <a:solidFill>
                  <a:srgbClr val="1F2D3A"/>
                </a:solidFill>
              </a:rPr>
              <a:t> after this point. Writing zeros into it doesn't change the result. </a:t>
            </a:r>
            <a:r>
              <a:rPr sz="1800" b="1">
                <a:solidFill>
                  <a:srgbClr val="1F2D3A"/>
                </a:solidFill>
              </a:rPr>
              <a:t>Redundant — I'll remove it.</a:t>
            </a:r>
            <a:r>
              <a:rPr sz="1800" b="0">
                <a:solidFill>
                  <a:srgbClr val="1F2D3A"/>
                </a:solidFill>
              </a:rPr>
              <a:t>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092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Dead store elimination:</a:t>
            </a:r>
            <a:r>
              <a:rPr sz="1800" b="0">
                <a:solidFill>
                  <a:srgbClr val="1F2D3A"/>
                </a:solidFill>
              </a:rPr>
              <a:t> good for speed, </a:t>
            </a:r>
            <a:r>
              <a:rPr sz="1800" b="1">
                <a:solidFill>
                  <a:srgbClr val="1F2D3A"/>
                </a:solidFill>
              </a:rPr>
              <a:t>a disaster for secrets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337557"/>
          <a:ext cx="909294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6001343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Platform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Erasure that can't be removed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Linux (glibc)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explicit_bzero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Windows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SecureZeroMemory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C11 Annex 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memset_s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OpenSSL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OPENSSL_cleanse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20293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+ </a:t>
            </a:r>
            <a:r>
              <a:rPr sz="1800" b="0">
                <a:solidFill>
                  <a:srgbClr val="A1123F"/>
                </a:solidFill>
                <a:latin typeface="Consolas"/>
              </a:rPr>
              <a:t>setrlimit(RLIMIT_CORE, 0)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mlock</a:t>
            </a:r>
            <a:r>
              <a:rPr sz="1800" b="0">
                <a:solidFill>
                  <a:srgbClr val="1F2D3A"/>
                </a:solidFill>
              </a:rPr>
              <a:t> · keep the secret </a:t>
            </a:r>
            <a:r>
              <a:rPr sz="1800" b="1">
                <a:solidFill>
                  <a:srgbClr val="1F2D3A"/>
                </a:solidFill>
              </a:rPr>
              <a:t>short-lived</a:t>
            </a:r>
            <a:r>
              <a:rPr sz="1800" b="0">
                <a:solidFill>
                  <a:srgbClr val="1F2D3A"/>
                </a:solidFill>
              </a:rPr>
              <a:t>, don't </a:t>
            </a:r>
            <a:r>
              <a:rPr sz="1800" b="1">
                <a:solidFill>
                  <a:srgbClr val="1F2D3A"/>
                </a:solidFill>
              </a:rPr>
              <a:t>copy</a:t>
            </a:r>
            <a:r>
              <a:rPr sz="1800" b="0">
                <a:solidFill>
                  <a:srgbClr val="1F2D3A"/>
                </a:solidFill>
              </a:rPr>
              <a:t> it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Process memory and overflows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Process memory</a:t>
            </a:r>
          </a:p>
        </p:txBody>
      </p:sp>
      <p:pic>
        <p:nvPicPr>
          <p:cNvPr id="7" name="Picture 6" descr="h01-13-surec-belleg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818" y="1325880"/>
            <a:ext cx="7560058" cy="39481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38378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 does not check the end of an array.</a:t>
            </a:r>
            <a:r>
              <a:rPr sz="2000" b="0">
                <a:solidFill>
                  <a:srgbClr val="1F2D3A"/>
                </a:solidFill>
              </a:rPr>
              <a:t> A 17th byte into </a:t>
            </a:r>
            <a:r>
              <a:rPr sz="2000" b="0">
                <a:solidFill>
                  <a:srgbClr val="A1123F"/>
                </a:solidFill>
                <a:latin typeface="Consolas"/>
              </a:rPr>
              <a:t>ad[16]</a:t>
            </a:r>
            <a:r>
              <a:rPr sz="2000" b="0">
                <a:solidFill>
                  <a:srgbClr val="1F2D3A"/>
                </a:solidFill>
              </a:rPr>
              <a:t> → overwrites the next variable.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The structure in memory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struct oturum { char ad[16]; int yonetici; };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98903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ofset:  0 ............................ 15 | 16  17  18  19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[ a  y  s  e \0  .  .  .  .  .  . ][ 00  00  00  00 ]   yonetici = 0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"AAAAAAAAAAAAAAAAB" (17 karakter) kopyalanınca: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[ A  A  A  A  A  A  A  A  A  A  A ][ 42  00  00  00 ]   yonetici = 66 (!)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                           'B'  '\0'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6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Little-endian: the lowest byte sits at the lowest address.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Structure in memory and overflow — diagram</a:t>
            </a:r>
          </a:p>
        </p:txBody>
      </p:sp>
      <p:pic>
        <p:nvPicPr>
          <p:cNvPr id="7" name="Picture 6" descr="h01-14-yapi-bellek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2574" y="1325880"/>
            <a:ext cx="9726546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What is a buffer overflow?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Writing </a:t>
            </a:r>
            <a:r>
              <a:rPr sz="2000" b="1">
                <a:solidFill>
                  <a:srgbClr val="1F2D3A"/>
                </a:solidFill>
              </a:rPr>
              <a:t>more data than allocated</a:t>
            </a:r>
            <a:r>
              <a:rPr sz="2000" b="0">
                <a:solidFill>
                  <a:srgbClr val="1F2D3A"/>
                </a:solidFill>
              </a:rPr>
              <a:t> into an array → the overflowing bytes land </a:t>
            </a:r>
            <a:r>
              <a:rPr sz="2000" b="1">
                <a:solidFill>
                  <a:srgbClr val="1F2D3A"/>
                </a:solidFill>
              </a:rPr>
              <a:t>over neighboring variables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Why does C overflow so easily?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An array </a:t>
            </a:r>
            <a:r>
              <a:rPr sz="2000" b="1">
                <a:solidFill>
                  <a:srgbClr val="1F2D3A"/>
                </a:solidFill>
              </a:rPr>
              <a:t>doesn't know its own size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Only the </a:t>
            </a:r>
            <a:r>
              <a:rPr sz="2000" b="1">
                <a:solidFill>
                  <a:srgbClr val="1F2D3A"/>
                </a:solidFill>
              </a:rPr>
              <a:t>starting address</a:t>
            </a:r>
            <a:r>
              <a:rPr sz="2000" b="0">
                <a:solidFill>
                  <a:srgbClr val="1F2D3A"/>
                </a:solidFill>
              </a:rPr>
              <a:t> goes to the function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A string = an array ending in </a:t>
            </a:r>
            <a:r>
              <a:rPr sz="2000" b="0">
                <a:solidFill>
                  <a:srgbClr val="A1123F"/>
                </a:solidFill>
                <a:latin typeface="Consolas"/>
              </a:rPr>
              <a:t>'0'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 never </a:t>
            </a:r>
            <a:r>
              <a:rPr sz="2000" b="1">
                <a:solidFill>
                  <a:srgbClr val="1F2D3A"/>
                </a:solidFill>
              </a:rPr>
              <a:t>asks</a:t>
            </a:r>
            <a:r>
              <a:rPr sz="2000" b="0">
                <a:solidFill>
                  <a:srgbClr val="1F2D3A"/>
                </a:solidFill>
              </a:rPr>
              <a:t> the target's size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The compiler </a:t>
            </a:r>
            <a:r>
              <a:rPr sz="2000" b="1">
                <a:solidFill>
                  <a:srgbClr val="1F2D3A"/>
                </a:solidFill>
              </a:rPr>
              <a:t>adds no</a:t>
            </a:r>
            <a:r>
              <a:rPr sz="2000" b="0">
                <a:solidFill>
                  <a:srgbClr val="1F2D3A"/>
                </a:solidFill>
              </a:rPr>
              <a:t> bounds checking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6024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CWE-787 "out-of-bounds write": always near the top of the CWE Top 25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 stack overflow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12471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void selamla(const char *ad)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int  yetkili = 0;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char tampon[16];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strcpy(tampon, ad);          /* ad &gt; 15 karakter?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pic>
        <p:nvPicPr>
          <p:cNvPr id="8" name="Picture 7" descr="h01-15-yiginda-tas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1870" y="2560320"/>
            <a:ext cx="7527955" cy="3593592"/>
          </a:xfrm>
          <a:prstGeom prst="rect">
            <a:avLst/>
          </a:prstGeom>
        </p:spPr>
      </p:pic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Types of overflow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7639"/>
                <a:gridCol w="6130075"/>
                <a:gridCol w="1593819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Typical cause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CWE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Stack overflow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strcpy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unbounded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scanf("%s")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Heap overflow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memcpy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with the wrong length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Off-by-one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&lt;=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instead of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&lt;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no room for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'0'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Out-of-bounds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read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Trusting a length the other party reports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Integer-driven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 * size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overflows → small block, large copy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190 → 787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Heartbleed (2014): nothing was written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Client: "I'm sending 1 byte, but reporting </a:t>
            </a:r>
            <a:r>
              <a:rPr sz="2000" b="1">
                <a:solidFill>
                  <a:srgbClr val="1F2D3A"/>
                </a:solidFill>
              </a:rPr>
              <a:t>64 KB</a:t>
            </a:r>
            <a:r>
              <a:rPr sz="2000" b="0">
                <a:solidFill>
                  <a:srgbClr val="1F2D3A"/>
                </a:solidFill>
              </a:rPr>
              <a:t>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Server: sent 64 KB back </a:t>
            </a:r>
            <a:r>
              <a:rPr sz="2000" b="1">
                <a:solidFill>
                  <a:srgbClr val="1F2D3A"/>
                </a:solidFill>
              </a:rPr>
              <a:t>without checking</a:t>
            </a:r>
            <a:r>
              <a:rPr sz="2000" b="0">
                <a:solidFill>
                  <a:srgbClr val="1F2D3A"/>
                </a:solidFill>
              </a:rPr>
              <a:t> the declared length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Leaked: passwords, sessions, even the server's </a:t>
            </a:r>
            <a:r>
              <a:rPr sz="2000" b="1">
                <a:solidFill>
                  <a:srgbClr val="1F2D3A"/>
                </a:solidFill>
              </a:rPr>
              <a:t>private key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CVE-2014-0160 · CWE-125 · Fix: </a:t>
            </a:r>
            <a:r>
              <a:rPr sz="2000" b="1">
                <a:solidFill>
                  <a:srgbClr val="1F2D3A"/>
                </a:solidFill>
              </a:rPr>
              <a:t>a single length 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An out-of-bounds read is as dangerous as a write; it </a:t>
            </a:r>
            <a:r>
              <a:rPr sz="2000" b="1">
                <a:solidFill>
                  <a:srgbClr val="1F2D3A"/>
                </a:solidFill>
              </a:rPr>
              <a:t>doesn't crash, leaves no trace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The off-by-one bug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char ad[8];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for (int i = 0; i &lt;= 8; i++)      /* 9 kez: ad[8] dışarıda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ad[i] = kaynak[i];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strncpy(ad, kaynak, sizeof ad);   /* kaynak &gt;= 8 → '\0' YOK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printf("%s\n", ad);               /* dizinin sonundan okumaya devam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strncpy</a:t>
            </a:r>
            <a:r>
              <a:rPr sz="1800" b="0">
                <a:solidFill>
                  <a:srgbClr val="1F2D3A"/>
                </a:solidFill>
              </a:rPr>
              <a:t> is </a:t>
            </a:r>
            <a:r>
              <a:rPr sz="1800" b="1">
                <a:solidFill>
                  <a:srgbClr val="1F2D3A"/>
                </a:solidFill>
              </a:rPr>
              <a:t>not</a:t>
            </a:r>
            <a:r>
              <a:rPr sz="1800" b="0">
                <a:solidFill>
                  <a:srgbClr val="1F2D3A"/>
                </a:solidFill>
              </a:rPr>
              <a:t> a safe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strcpy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Even a single-byte overflow changes the low byte of a neighboring variable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Dangerous functions → use instead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726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0606"/>
                <a:gridCol w="7350928"/>
              </a:tblGrid>
              <a:tr h="3408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❌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✅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gets(s)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fgets(s, sizeof s, stdin)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—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removed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in C11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strcpy(d, s)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Length check +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memcpy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snprintf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strlcpy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(glibc 2.38+)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strcat(d, 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Compute remaining room;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snprintf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strlcat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sprintf(d, ...)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snprintf(d, sizeof d, ...)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check the return value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scanf("%s", 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scanf("%15s", 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memcpy(d, s, n)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First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check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 &lt;= sizeof 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char a[n]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(VLA),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alloca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 fixed upper bound, or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16234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Today's Recipe 3.3–3.4: </a:t>
            </a:r>
            <a:r>
              <a:rPr sz="1800" b="0">
                <a:solidFill>
                  <a:srgbClr val="A1123F"/>
                </a:solidFill>
                <a:latin typeface="Consolas"/>
              </a:rPr>
              <a:t>snprintf</a:t>
            </a:r>
            <a:r>
              <a:rPr sz="1800" b="0">
                <a:solidFill>
                  <a:srgbClr val="1F2D3A"/>
                </a:solidFill>
              </a:rPr>
              <a:t>/</a:t>
            </a:r>
            <a:r>
              <a:rPr sz="1800" b="0">
                <a:solidFill>
                  <a:srgbClr val="A1123F"/>
                </a:solidFill>
                <a:latin typeface="Consolas"/>
              </a:rPr>
              <a:t>strlcpy</a:t>
            </a:r>
            <a:r>
              <a:rPr sz="1800" b="0">
                <a:solidFill>
                  <a:srgbClr val="1F2D3A"/>
                </a:solidFill>
              </a:rPr>
              <a:t>, MSVC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strcpy_s</a:t>
            </a:r>
            <a:r>
              <a:rPr sz="1800" b="0">
                <a:solidFill>
                  <a:srgbClr val="1F2D3A"/>
                </a:solidFill>
              </a:rPr>
              <a:t>, C++ </a:t>
            </a:r>
            <a:r>
              <a:rPr sz="1800" b="0">
                <a:solidFill>
                  <a:srgbClr val="A1123F"/>
                </a:solidFill>
                <a:latin typeface="Consolas"/>
              </a:rPr>
              <a:t>std::string</a:t>
            </a:r>
            <a:r>
              <a:rPr sz="1800" b="0">
                <a:solidFill>
                  <a:srgbClr val="1F2D3A"/>
                </a:solidFill>
              </a:rPr>
              <a:t>/</a:t>
            </a:r>
            <a:r>
              <a:rPr sz="1800" b="0">
                <a:solidFill>
                  <a:srgbClr val="A1123F"/>
                </a:solidFill>
                <a:latin typeface="Consolas"/>
              </a:rPr>
              <a:t>span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The right pattern: validate first, then copy with a bound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14518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selamla(const char *ad)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char tampon[16];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size_t n = strnlen(ad, sizeof tampon);   /* en fazla 16 bayt oku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(n == sizeof tampon)                  /* uzunsa REDDET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return -1;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memcpy(tampon, ad, 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tampon[n] = '\0';                        /* sonlandırıcı her zaman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printf("Merhaba %s\n", tampon);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return 0;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8079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Why reject instead of truncate? </a:t>
            </a:r>
            <a:r>
              <a:rPr sz="1800" b="0">
                <a:solidFill>
                  <a:srgbClr val="A1123F"/>
                </a:solidFill>
                <a:latin typeface="Consolas"/>
              </a:rPr>
              <a:t>/home/ayse/gizli_rapor.txt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/home/ayse/gizli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C++: the type carries the size — but be careful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void selamla(const std::string &amp;ad)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(ad.size() &gt; 15) throw std::invalid_argument("ad cok uzun");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std::cout &lt;&lt; "Merhaba " &lt;&lt; ad &lt;&lt; '\n';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vector::operator[]</a:t>
            </a:r>
            <a:r>
              <a:rPr sz="2000" b="0">
                <a:solidFill>
                  <a:srgbClr val="1F2D3A"/>
                </a:solidFill>
              </a:rPr>
              <a:t> does </a:t>
            </a:r>
            <a:r>
              <a:rPr sz="2000" b="1">
                <a:solidFill>
                  <a:srgbClr val="1F2D3A"/>
                </a:solidFill>
              </a:rPr>
              <a:t>not</a:t>
            </a:r>
            <a:r>
              <a:rPr sz="2000" b="0">
                <a:solidFill>
                  <a:srgbClr val="1F2D3A"/>
                </a:solidFill>
              </a:rPr>
              <a:t> check bounds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at()</a:t>
            </a:r>
            <a:r>
              <a:rPr sz="2000" b="0">
                <a:solidFill>
                  <a:srgbClr val="1F2D3A"/>
                </a:solidFill>
              </a:rPr>
              <a:t> does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Writing through a pointer taken with </a:t>
            </a:r>
            <a:r>
              <a:rPr sz="2000" b="0">
                <a:solidFill>
                  <a:srgbClr val="A1123F"/>
                </a:solidFill>
                <a:latin typeface="Consolas"/>
              </a:rPr>
              <a:t>c_str()</a:t>
            </a:r>
            <a:r>
              <a:rPr sz="2000" b="0">
                <a:solidFill>
                  <a:srgbClr val="1F2D3A"/>
                </a:solidFill>
              </a:rPr>
              <a:t> → all of C's problems come back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Who catches the overflow?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9407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2807"/>
                <a:gridCol w="6779982"/>
                <a:gridCol w="2118744"/>
              </a:tblGrid>
              <a:tr h="367588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Tool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When?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Bounds checking, safe API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Always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Warning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-Wall -Wextra -Wformat-security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/W4 /sdl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Development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Static analysis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clang --analyze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cppcheck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/analyze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Sanitizer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-fsanitize=address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/fsanitize=address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Fuzzing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libFuzzer, AFL++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Testing (week 4)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58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Compiler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Canary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-fstack-protector-strong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/GS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_FORTIFY_SOURCE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Release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5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OS / hardware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DEP/NX, ASLR · Intel CET, ARM PAC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Release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376318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Protection makes exploitation </a:t>
            </a:r>
            <a:r>
              <a:rPr sz="1800" b="1">
                <a:solidFill>
                  <a:srgbClr val="1F2D3A"/>
                </a:solidFill>
              </a:rPr>
              <a:t>harder</a:t>
            </a:r>
            <a:r>
              <a:rPr sz="1800" b="0">
                <a:solidFill>
                  <a:srgbClr val="1F2D3A"/>
                </a:solidFill>
              </a:rPr>
              <a:t>, it doesn't </a:t>
            </a:r>
            <a:r>
              <a:rPr sz="1800" b="1">
                <a:solidFill>
                  <a:srgbClr val="1F2D3A"/>
                </a:solidFill>
              </a:rPr>
              <a:t>fix the bug</a:t>
            </a:r>
            <a:r>
              <a:rPr sz="1800" b="0">
                <a:solidFill>
                  <a:srgbClr val="1F2D3A"/>
                </a:solidFill>
              </a:rPr>
              <a:t> — a canary terminates the program = denial of service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Reading an ASan report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ERROR: AddressSanitizer: stack-buffer-overflow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WRITE of size 21 at 0x7ffd... thread T0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#0 in strcpy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#1 in selamla  ornek.c:7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#2 in main     ornek.c:15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This frame has 1 object(s):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[32, 48) 'tampon' &lt;== Memory access at offset 48 overflows this variable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00476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What?</a:t>
            </a:r>
            <a:r>
              <a:rPr sz="1800" b="0">
                <a:solidFill>
                  <a:srgbClr val="1F2D3A"/>
                </a:solidFill>
              </a:rPr>
              <a:t> a stack overflow, a 21-byte write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Where?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ornek.c:7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strcpy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Which variable?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tampon</a:t>
            </a:r>
            <a:r>
              <a:rPr sz="1800" b="0">
                <a:solidFill>
                  <a:srgbClr val="1F2D3A"/>
                </a:solidFill>
              </a:rPr>
              <a:t> (16 bytes), the access is right past the bound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3034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Roughly 2× slower → only in </a:t>
            </a:r>
            <a:r>
              <a:rPr sz="1800" b="1">
                <a:solidFill>
                  <a:srgbClr val="1F2D3A"/>
                </a:solidFill>
              </a:rPr>
              <a:t>test</a:t>
            </a:r>
            <a:r>
              <a:rPr sz="1800" b="0">
                <a:solidFill>
                  <a:srgbClr val="1F2D3A"/>
                </a:solidFill>
              </a:rPr>
              <a:t> builds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3 — Privilege escalation via overflow (CWE-121)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(Windows)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  <a:r>
              <a:rPr sz="2000" b="0">
                <a:solidFill>
                  <a:srgbClr val="1F2D3A"/>
                </a:solidFill>
              </a:rPr>
              <a:t> (WSL / Linux)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10911534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767"/>
                <a:gridCol w="5455767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17-character attack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(unprotected)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❌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ADMIN access granted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giris_asan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(ASan)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❌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stayed silent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— overflow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inside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the struct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giris_asan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+ 40 characters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✅ stack-buffer-overflow caught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giris_denetimli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(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_FORTIFY_SOURCE=2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/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strcpy_s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✅ program stopped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giris_guvenli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✅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Rejected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Fix: validate, then copy with a bound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73100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İzin listesi: 1–15 karakter, harf/rakam/_/-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int ad_gecerli_mi(const char *s)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size_t n = strnlen(s, 16);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if (n == 0 || n &gt;= 16)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(size_t i = 0; i &lt; n; i++)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unsigned char c = (unsigned char)s[i];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if (!isalnum(c) &amp;&amp; c != '_' &amp;&amp; c != '-') return 0;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return 1;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struct oturum o = { .yonetici = 0 };           /* güvenli varsayılan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snprintf(o.ad, sizeof(o.ad), "%s", argv[1]);   /* boyutu bilen kopya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6661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Canary, NX, ASLR (week 4) </a:t>
            </a:r>
            <a:r>
              <a:rPr sz="2000" b="1">
                <a:solidFill>
                  <a:srgbClr val="1F2D3A"/>
                </a:solidFill>
              </a:rPr>
              <a:t>make exploitation harder, they don't fix the bug.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Integers: when does -1 become huge?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int</a:t>
            </a:r>
            <a:r>
              <a:rPr sz="2000" b="0">
                <a:solidFill>
                  <a:srgbClr val="1F2D3A"/>
                </a:solidFill>
              </a:rPr>
              <a:t> is signed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size_t</a:t>
            </a:r>
            <a:r>
              <a:rPr sz="2000" b="0">
                <a:solidFill>
                  <a:srgbClr val="1F2D3A"/>
                </a:solidFill>
              </a:rPr>
              <a:t> is unsigned · negatives are </a:t>
            </a:r>
            <a:r>
              <a:rPr sz="2000" b="1">
                <a:solidFill>
                  <a:srgbClr val="1F2D3A"/>
                </a:solidFill>
              </a:rPr>
              <a:t>two's complement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   -1  =  0xFFFFFFFFFFFFFFFF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size_t     =  18 446 744 073 709 551 615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37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(uzunluk &gt; 16) return -1;   /* -1 bu denetimi GEÇER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memcpy(hedef, kaynak, uzunluk); /* int -&gt; size_t */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4 — Signed length (CWE-195)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0  GCC -Wall -Wextra: sessiz · -Wsign-conversion: uyarı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MSVC (C): sessiz · aynı kod C++ olarak: C4365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1  kopya 8     -&gt; Kopyalandi: ORNEK-KA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2  kopya 100   -&gt; Reddedildi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3  kopya -1    -&gt; Linux: SIGSEGV (139) · Windows: 0xC0000409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4  ASan        -&gt; negative-size-param: (size=-1)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5  kopya_guvenli -1 / 12abc -&gt; Reddedildi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Rule:</a:t>
            </a:r>
            <a:r>
              <a:rPr sz="2000" b="0">
                <a:solidFill>
                  <a:srgbClr val="1F2D3A"/>
                </a:solidFill>
              </a:rPr>
              <a:t> sizes in </a:t>
            </a:r>
            <a:r>
              <a:rPr sz="2000" b="0">
                <a:solidFill>
                  <a:srgbClr val="A1123F"/>
                </a:solidFill>
                <a:latin typeface="Consolas"/>
              </a:rPr>
              <a:t>size_t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1">
                <a:solidFill>
                  <a:srgbClr val="1F2D3A"/>
                </a:solidFill>
              </a:rPr>
              <a:t>lower and upper</a:t>
            </a:r>
            <a:r>
              <a:rPr sz="2000" b="0">
                <a:solidFill>
                  <a:srgbClr val="1F2D3A"/>
                </a:solidFill>
              </a:rPr>
              <a:t> bound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strtol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1">
                <a:solidFill>
                  <a:srgbClr val="1F2D3A"/>
                </a:solidFill>
              </a:rPr>
              <a:t>turn on</a:t>
            </a:r>
            <a:r>
              <a:rPr sz="2000" b="0">
                <a:solidFill>
                  <a:srgbClr val="1F2D3A"/>
                </a:solidFill>
              </a:rPr>
              <a:t> warnings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The signed length bug — diagram</a:t>
            </a:r>
          </a:p>
        </p:txBody>
      </p:sp>
      <p:pic>
        <p:nvPicPr>
          <p:cNvPr id="7" name="Picture 6" descr="h01-22-isaretli-donu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7831" y="1325880"/>
            <a:ext cx="7596032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Memory management, partitioning, and secure processing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The lifecycle of dynamic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Allocate → validate → use → erase secret → free once → forget the pointer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10911534" cy="2807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1223"/>
                <a:gridCol w="7509013"/>
                <a:gridCol w="821298"/>
              </a:tblGrid>
              <a:tr h="401029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If forgotten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CWE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0102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Validate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returns NULL, unchecked → crash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476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02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Use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Out-of-bounds write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787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102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Erase secret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The block goes to another piece of code on the next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02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Free once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Double free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415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1029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Forget the pointer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Use-after-free (UAF)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416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034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Never free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Leak → denial of service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401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The four lifetimes of memory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1835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098"/>
                <a:gridCol w="3193620"/>
                <a:gridCol w="2217791"/>
                <a:gridCol w="3992025"/>
              </a:tblGrid>
              <a:tr h="43671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Lifetime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How created?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When does it end?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Typical bug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3671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Static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Global variable,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static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local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When the program ends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Multiple threads writing at once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671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Automatic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Local variable inside a function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On return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Returning the address of a local variable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671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Dynamic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malloc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/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calloc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/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On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free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/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delete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Leak, double free, UAF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67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Thread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_Thread_local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/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thread_local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When the thread ends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619195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This week's overflow and UAF examples all relate to the </a:t>
            </a:r>
            <a:r>
              <a:rPr sz="1800" b="1">
                <a:solidFill>
                  <a:srgbClr val="1F2D3A"/>
                </a:solidFill>
              </a:rPr>
              <a:t>dynamic</a:t>
            </a:r>
            <a:r>
              <a:rPr sz="1800" b="0">
                <a:solidFill>
                  <a:srgbClr val="1F2D3A"/>
                </a:solidFill>
              </a:rPr>
              <a:t> lifetime; knowing that alone isn't enough.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The lifetime of memory and its CWEs — diagram</a:t>
            </a:r>
          </a:p>
        </p:txBody>
      </p:sp>
      <p:pic>
        <p:nvPicPr>
          <p:cNvPr id="7" name="Picture 6" descr="h01-09-bellek-om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625794"/>
          </a:xfrm>
          <a:prstGeom prst="rect">
            <a:avLst/>
          </a:prstGeom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UAF: why is it so dangerous?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Kullanici *aktif = malloc(sizeof *aktif);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Kullanici *onbellek = aktif;              /* ikinci sahip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free(aktif);  aktif = NULL;               /* onbellek hâlâ eski adreste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char *not = malloc(sizeof(Kullanici));    /* aynı blok geri verilebilir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strcpy(not, "....");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(onbellek-&gt;yetki) { ... }              /* 'not'un baytlarını okuyor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00476"/>
            <a:ext cx="10911535" cy="10744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A1123F"/>
                </a:solidFill>
                <a:latin typeface="Consolas"/>
              </a:rPr>
              <a:t>free</a:t>
            </a:r>
            <a:r>
              <a:rPr sz="1800" b="0">
                <a:solidFill>
                  <a:srgbClr val="1F2D3A"/>
                </a:solidFill>
              </a:rPr>
              <a:t> doesn't return memory to the OS, it puts it on the </a:t>
            </a:r>
            <a:r>
              <a:rPr sz="1800" b="1">
                <a:solidFill>
                  <a:srgbClr val="1F2D3A"/>
                </a:solidFill>
              </a:rPr>
              <a:t>free list</a:t>
            </a:r>
            <a:r>
              <a:rPr sz="1800" b="0">
                <a:solidFill>
                  <a:srgbClr val="1F2D3A"/>
                </a:solidFill>
              </a:rPr>
              <a:t> → the same block gets handed out again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✅ </a:t>
            </a:r>
            <a:r>
              <a:rPr sz="1800" b="1">
                <a:solidFill>
                  <a:srgbClr val="1F2D3A"/>
                </a:solidFill>
              </a:rPr>
              <a:t>Ownership rule:</a:t>
            </a:r>
            <a:r>
              <a:rPr sz="1800" b="0">
                <a:solidFill>
                  <a:srgbClr val="1F2D3A"/>
                </a:solidFill>
              </a:rPr>
              <a:t> every block has </a:t>
            </a:r>
            <a:r>
              <a:rPr sz="1800" b="1">
                <a:solidFill>
                  <a:srgbClr val="1F2D3A"/>
                </a:solidFill>
              </a:rPr>
              <a:t>one owner</a:t>
            </a:r>
            <a:r>
              <a:rPr sz="1800" b="0">
                <a:solidFill>
                  <a:srgbClr val="1F2D3A"/>
                </a:solidFill>
              </a:rPr>
              <a:t>, only that owner frees it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Fixed patterns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Kayit *k = calloc(n, sizeof(Kayit));          /* çarpım taşmasını denetler + sıfırlar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(k == NULL) return HATA_BELLEK;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Kayit *yeni = reallocarray(k, n2, sizeof(Kayit));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(yeni == NULL) { free(k); return HATA_BELLEK; }   /* k'yi kaybetme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 = yeni;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❌ </a:t>
            </a:r>
            <a:r>
              <a:rPr sz="1800" b="0">
                <a:solidFill>
                  <a:srgbClr val="A1123F"/>
                </a:solidFill>
                <a:latin typeface="Consolas"/>
              </a:rPr>
              <a:t>tampon = realloc(tampon, n);</a:t>
            </a:r>
            <a:r>
              <a:rPr sz="1800" b="0">
                <a:solidFill>
                  <a:srgbClr val="1F2D3A"/>
                </a:solidFill>
              </a:rPr>
              <a:t> → on failure, the old block is lost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703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❌ </a:t>
            </a:r>
            <a:r>
              <a:rPr sz="1800" b="0">
                <a:solidFill>
                  <a:srgbClr val="A1123F"/>
                </a:solidFill>
                <a:latin typeface="Consolas"/>
              </a:rPr>
              <a:t>realloc</a:t>
            </a:r>
            <a:r>
              <a:rPr sz="1800" b="0">
                <a:solidFill>
                  <a:srgbClr val="1F2D3A"/>
                </a:solidFill>
              </a:rPr>
              <a:t> on a buffer holding a secret → the moved-away old block </a:t>
            </a:r>
            <a:r>
              <a:rPr sz="1800" b="1">
                <a:solidFill>
                  <a:srgbClr val="1F2D3A"/>
                </a:solidFill>
              </a:rPr>
              <a:t>isn't zeroed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Erasing secrets (Recipe 13.2)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1852"/>
                <a:gridCol w="7439682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Platform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Function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Linux, BSD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explicit_bzero(p, 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Windows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SecureZeroMemory(p, n)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C11 Annex K / C23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memset_s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/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memset_explicit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None available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Byte by byte through 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volatile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pointer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Hidden copies of a secret:</a:t>
            </a:r>
            <a:r>
              <a:rPr sz="1800" b="0">
                <a:solidFill>
                  <a:srgbClr val="1F2D3A"/>
                </a:solidFill>
              </a:rPr>
              <a:t> structs passed by value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realloc</a:t>
            </a:r>
            <a:r>
              <a:rPr sz="1800" b="0">
                <a:solidFill>
                  <a:srgbClr val="1F2D3A"/>
                </a:solidFill>
              </a:rPr>
              <a:t>'s old block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std::string</a:t>
            </a:r>
            <a:r>
              <a:rPr sz="1800" b="0">
                <a:solidFill>
                  <a:srgbClr val="1F2D3A"/>
                </a:solidFill>
              </a:rPr>
              <a:t> (SSO, vanishes without erasure) · I/O buffers · swap and hibernation files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Keep it off disk (Recipe 13.3) and RAII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mlock(anahtar, sizeof anahtar);          /* Windows: VirtualLock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... kullan ...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cen429_sil(anahtar, sizeof anahtar);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munlock(anahtar, sizeof anahtar);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90241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class GizliAnahtar {                     /* yıkıcı otomatik siler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~GizliAnahtar() { cen429_sil(v_.data(), v_.size()); }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GizliAnahtar(const GizliAnahtar&amp;) = delete;   /* kopya = ikinci sır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54602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Locking is at the </a:t>
            </a:r>
            <a:r>
              <a:rPr sz="1800" b="1">
                <a:solidFill>
                  <a:srgbClr val="1F2D3A"/>
                </a:solidFill>
              </a:rPr>
              <a:t>page</a:t>
            </a:r>
            <a:r>
              <a:rPr sz="1800" b="0">
                <a:solidFill>
                  <a:srgbClr val="1F2D3A"/>
                </a:solidFill>
              </a:rPr>
              <a:t> level, and limited in amount → only a small key region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Memory-bug hunters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801"/>
                <a:gridCol w="3374701"/>
                <a:gridCol w="528703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Tool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What it finds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Use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AddressSanitizer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Overflow, UAF, double free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-fsanitize=address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·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LeakSanitizer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Leaks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With ASan (Linux)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MemorySanitizer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Uninitialized reads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Clang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-fsanitize=memory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Valgrind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Everything (slow)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valgrind --leak-check=full ./prog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CRT debug heap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Leaks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MSVC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_CrtSetDbgFlag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Evaluator:</a:t>
            </a:r>
            <a:r>
              <a:rPr sz="1800" b="0">
                <a:solidFill>
                  <a:srgbClr val="1F2D3A"/>
                </a:solidFill>
              </a:rPr>
              <a:t> dumps memory after the process ends, searches for the test password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Protected code partitioning: shrink the TCB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Trusted Computing Base (TCB):</a:t>
            </a:r>
            <a:r>
              <a:rPr sz="2000" b="0">
                <a:solidFill>
                  <a:srgbClr val="1F2D3A"/>
                </a:solidFill>
              </a:rPr>
              <a:t> all the code where "if it's buggy, security collapses"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200,000-line application, a 2,000-line </a:t>
            </a:r>
            <a:r>
              <a:rPr sz="2000" b="1">
                <a:solidFill>
                  <a:srgbClr val="1F2D3A"/>
                </a:solidFill>
              </a:rPr>
              <a:t>protected core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Review, obfuscation, integrity checking only for the core → cost stays there too</a:t>
            </a:r>
          </a:p>
        </p:txBody>
      </p:sp>
      <p:pic>
        <p:nvPicPr>
          <p:cNvPr id="9" name="Picture 8" descr="h01-10-bolumle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5205" y="3488944"/>
            <a:ext cx="5941285" cy="2664968"/>
          </a:xfrm>
          <a:prstGeom prst="rect">
            <a:avLst/>
          </a:prstGeom>
        </p:spPr>
      </p:pic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Partitioning options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5072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5239"/>
                <a:gridCol w="1529654"/>
                <a:gridCol w="6016640"/>
              </a:tblGrid>
              <a:tr h="41788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Option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Isolation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Example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Separate module, same process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 native library in a Java app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Separate process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Browser sandbox, privileged helper process (Recipe 1.4)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OS service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Medium–high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DPAPI, Keychain, Android Keystore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788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Hardware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Secure element, TPM, TEE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788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Move to server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Highest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The secret never goes to the client, stays in the HSM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942892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Strongest: </a:t>
            </a:r>
            <a:r>
              <a:rPr sz="1800" b="1">
                <a:solidFill>
                  <a:srgbClr val="1F2D3A"/>
                </a:solidFill>
              </a:rPr>
              <a:t>remove the secret from the client</a:t>
            </a:r>
            <a:r>
              <a:rPr sz="1800" b="0">
                <a:solidFill>
                  <a:srgbClr val="1F2D3A"/>
                </a:solidFill>
              </a:rPr>
              <a:t>; failing that, hardware; failing that, </a:t>
            </a:r>
            <a:r>
              <a:rPr sz="1800" b="1">
                <a:solidFill>
                  <a:srgbClr val="1F2D3A"/>
                </a:solidFill>
              </a:rPr>
              <a:t>software protection</a:t>
            </a:r>
            <a:r>
              <a:rPr sz="1800" b="0">
                <a:solidFill>
                  <a:srgbClr val="1F2D3A"/>
                </a:solidFill>
              </a:rPr>
              <a:t> (this course's topic)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Interface: narrow, validated, secret-free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typedef struct KasaAnahtari KasaAnahtari;     /* opak tür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 kasa_ac(const char *parola, size_t n, const unsigned char tuz[16],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KasaAnahtari **cikti);           /* parolayı siler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 kasa_coz(KasaAnahtari *a, const unsigned char *sifreli, size_t n,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 unsigned char *acik, size_t kapasite, size_t *yazilan);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void kasa_kapat(KasaAnahtari *a);             /* anahtarı siler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00476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Don't hand out the secret, do the work</a:t>
            </a:r>
            <a:r>
              <a:rPr sz="1800" b="0">
                <a:solidFill>
                  <a:srgbClr val="1F2D3A"/>
                </a:solidFill>
              </a:rPr>
              <a:t> (a handle)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Validate</a:t>
            </a:r>
            <a:r>
              <a:rPr sz="1800" b="0">
                <a:solidFill>
                  <a:srgbClr val="1F2D3A"/>
                </a:solidFill>
              </a:rPr>
              <a:t> everything that crosses the boundary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Never pass </a:t>
            </a:r>
            <a:r>
              <a:rPr sz="1800" b="1">
                <a:solidFill>
                  <a:srgbClr val="1F2D3A"/>
                </a:solidFill>
              </a:rPr>
              <a:t>plain data</a:t>
            </a:r>
            <a:r>
              <a:rPr sz="1800" b="0">
                <a:solidFill>
                  <a:srgbClr val="1F2D3A"/>
                </a:solidFill>
              </a:rPr>
              <a:t> across the boundary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Oracles and code lifting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Decryption oracle:</a:t>
            </a:r>
            <a:r>
              <a:rPr sz="1800" b="0">
                <a:solidFill>
                  <a:srgbClr val="1F2D3A"/>
                </a:solidFill>
              </a:rPr>
              <a:t> the attacker calls </a:t>
            </a:r>
            <a:r>
              <a:rPr sz="1800" b="0">
                <a:solidFill>
                  <a:srgbClr val="A1123F"/>
                </a:solidFill>
                <a:latin typeface="Consolas"/>
              </a:rPr>
              <a:t>kasa_coz</a:t>
            </a:r>
            <a:r>
              <a:rPr sz="1800" b="0">
                <a:solidFill>
                  <a:srgbClr val="1F2D3A"/>
                </a:solidFill>
              </a:rPr>
              <a:t> with their own data — no key needed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Code lifting:</a:t>
            </a:r>
            <a:r>
              <a:rPr sz="1800" b="0">
                <a:solidFill>
                  <a:srgbClr val="1F2D3A"/>
                </a:solidFill>
              </a:rPr>
              <a:t> the protected function is copied as-is and run like a black box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212848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7274356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Countermeasure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Idea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Bind to device/instance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Wrong result in another environment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Bind to version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Key won't decrypt on an old/modified version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Context checking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The caller's integrity and call order are verified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 shared static key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Breaking one copy doesn't affect others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Secure processing under encryption: the window of exposure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144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Kötü: [aç] ██████████████████████████████████ [kapat]   anahtar hep açık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İyi:  [aç] ░░░░░██░░░░░░░░██░░░░░░░░░░░██░░░░ [kapat]   yalnız işlem anında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0084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Just-in-time decryption</a:t>
            </a:r>
            <a:r>
              <a:rPr sz="1800" b="0">
                <a:solidFill>
                  <a:srgbClr val="1F2D3A"/>
                </a:solidFill>
              </a:rPr>
              <a:t> → erase before the function returns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Masking:</a:t>
            </a:r>
            <a:r>
              <a:rPr sz="1800" b="0">
                <a:solidFill>
                  <a:srgbClr val="1F2D3A"/>
                </a:solidFill>
              </a:rPr>
              <a:t> key XOR a random mask — two meaningless pieces in memory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Splitting:</a:t>
            </a:r>
            <a:r>
              <a:rPr sz="1800" b="0">
                <a:solidFill>
                  <a:srgbClr val="1F2D3A"/>
                </a:solidFill>
              </a:rPr>
              <a:t> kept in different places, combined only on use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Code encryption:</a:t>
            </a:r>
            <a:r>
              <a:rPr sz="1800" b="0">
                <a:solidFill>
                  <a:srgbClr val="1F2D3A"/>
                </a:solidFill>
              </a:rPr>
              <a:t> function code decrypted at runtime (weeks 4, 9)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1">
                <a:solidFill>
                  <a:srgbClr val="1F2D3A"/>
                </a:solidFill>
              </a:rPr>
              <a:t>White-box:</a:t>
            </a:r>
            <a:r>
              <a:rPr sz="1800" b="0">
                <a:solidFill>
                  <a:srgbClr val="1F2D3A"/>
                </a:solidFill>
              </a:rPr>
              <a:t> the key is never exposed at all (week 11)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Masking in memory — code example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164079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typedef struct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uint8_t maske[32];    /* açılışta rastgele üretilir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uint8_t ortulu[32];   /* anahtar XOR maske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 OrtuluAnahtar;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void anahtari_ac(const OrtuluAnahtar *o, uint8_t gecici[32])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for (size_t i = 0; i &lt; 32; i++)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gecici[i] = o-&gt;ortulu[i] ^ o-&gt;maske[i];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99687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What sits in memory is </a:t>
            </a:r>
            <a:r>
              <a:rPr sz="2000" b="1">
                <a:solidFill>
                  <a:srgbClr val="1F2D3A"/>
                </a:solidFill>
              </a:rPr>
              <a:t>not the key itself</a:t>
            </a:r>
            <a:r>
              <a:rPr sz="2000" b="0">
                <a:solidFill>
                  <a:srgbClr val="1F2D3A"/>
                </a:solidFill>
              </a:rPr>
              <a:t>, but two meaningless pieces; combined only when used.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Window of exposure — diagram</a:t>
            </a:r>
          </a:p>
        </p:txBody>
      </p:sp>
      <p:pic>
        <p:nvPicPr>
          <p:cNvPr id="7" name="Picture 6" descr="h01-16-aciklik-pencere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808" y="1325880"/>
            <a:ext cx="10514078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The secure development lifecycle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617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8046"/>
                <a:gridCol w="7134465"/>
                <a:gridCol w="1259023"/>
              </a:tblGrid>
              <a:tr h="373858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Stage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Activity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Week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Requirement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Security requirements from standards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Design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Threat model, protection plan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1–2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Implementation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Coding rules, banned functions, static analysis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4–5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Verification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Sanitizer, fuzzing, penetration testing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4, 12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Release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Signed build,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unique version identity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1, 10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Response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Vulnerability disclosure, emergency update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05262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Microsoft SDL · NIST SSDF (SP 800-218)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Unique version identity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Is what was reviewed the same as what was shipped?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1.4.2</a:t>
            </a:r>
            <a:r>
              <a:rPr sz="1800" b="0">
                <a:solidFill>
                  <a:srgbClr val="1F2D3A"/>
                </a:solidFill>
              </a:rPr>
              <a:t> + git id + the binary's SHA-256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42515"/>
            <a:ext cx="10911535" cy="78455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execute_process(COMMAND git rev-parse --short=12 HEAD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        OUTPUT_VARIABLE GIT_KIMLIK OUTPUT_STRIP_TRAILING_WHITESPACE)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target_compile_definitions(kasa PRIVATE SURUM="1.4.2" GIT_KIMLIK="${GIT_KIMLIK}")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3679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Get-FileHash .kasa.exe -Algorithm SHA256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sha256sum ./kasa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5343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In the field, the version also feeds into </a:t>
            </a:r>
            <a:r>
              <a:rPr sz="1800" b="1">
                <a:solidFill>
                  <a:srgbClr val="1F2D3A"/>
                </a:solidFill>
              </a:rPr>
              <a:t>key derivation</a:t>
            </a:r>
            <a:r>
              <a:rPr sz="1800" b="0">
                <a:solidFill>
                  <a:srgbClr val="1F2D3A"/>
                </a:solidFill>
              </a:rPr>
              <a:t> → a version-rollback attack won't work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Change management: seven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Baseline → 2. Change request → 3. Classification → 4. Approval and planning → 5. Development and testing → 6. Release → 7. Verification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33168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Between 3 and 4, a </a:t>
            </a:r>
            <a:r>
              <a:rPr sz="2000" b="1">
                <a:solidFill>
                  <a:srgbClr val="1F2D3A"/>
                </a:solidFill>
              </a:rPr>
              <a:t>security impact analysis:</a:t>
            </a:r>
            <a:r>
              <a:rPr sz="2000" b="0">
                <a:solidFill>
                  <a:srgbClr val="1F2D3A"/>
                </a:solidFill>
              </a:rPr>
              <a:t> which asset, interface, threat, countermeasure?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Reviewing only the changed part = </a:t>
            </a:r>
            <a:r>
              <a:rPr sz="2000" b="1">
                <a:solidFill>
                  <a:srgbClr val="1F2D3A"/>
                </a:solidFill>
              </a:rPr>
              <a:t>delta assessment</a:t>
            </a:r>
            <a:r>
              <a:rPr sz="2000" b="0">
                <a:solidFill>
                  <a:srgbClr val="1F2D3A"/>
                </a:solidFill>
              </a:rPr>
              <a:t> (week 13)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Repository: protected branches · at least one reviewer · signed tag · MFA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Change management — diagram</a:t>
            </a:r>
          </a:p>
        </p:txBody>
      </p:sp>
      <p:pic>
        <p:nvPicPr>
          <p:cNvPr id="7" name="Picture 6" descr="h01-11-degisiklik-yoneti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504839"/>
          </a:xfrm>
          <a:prstGeom prst="rect">
            <a:avLst/>
          </a:prstGeom>
        </p:spPr>
      </p:pic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Trade-off log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611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8480"/>
                <a:gridCol w="2657938"/>
                <a:gridCol w="3567232"/>
                <a:gridCol w="2727883"/>
              </a:tblGrid>
              <a:tr h="52230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Chosen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Reason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Residual risk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2230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Logging in release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Fully removed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by a build macro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Silenced code remains as strings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Hard to diagnose in the field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230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Error codes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Only success/failure (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opaque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Detail gives the attacker a hint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 separate diagnostic channel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2230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Native "debuggable" flag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On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(justified exception)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Integrity checking needs to read its own memory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Compensated with debugger detection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230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Password derivation time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250 ms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Balance between wait time and brute force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 very weak password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04713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An unwritten trade-off is an </a:t>
            </a:r>
            <a:r>
              <a:rPr sz="1800" b="1">
                <a:solidFill>
                  <a:srgbClr val="1F2D3A"/>
                </a:solidFill>
              </a:rPr>
              <a:t>error</a:t>
            </a:r>
            <a:r>
              <a:rPr sz="1800" b="0">
                <a:solidFill>
                  <a:srgbClr val="1F2D3A"/>
                </a:solidFill>
              </a:rPr>
              <a:t> in an evaluator's eyes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This week's toolbox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726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62313"/>
                <a:gridCol w="3881988"/>
                <a:gridCol w="3567232"/>
              </a:tblGrid>
              <a:tr h="3408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Linux / GCC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Windows / MSVC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Suspicious-code warnings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-Wall -Wextra -Wsign-conversion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/W4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Library size checking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-D_FORTIFY_SOURCE=2 -O2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_s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functions like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strcpy_s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Catching memory bugs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-fsanitize=address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/fsanitize=address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Memory dump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gdb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gcore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MiniDumpWriteDump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Machine code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objdump -d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VS Disassembly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Erasure that can't be removed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explicit_bzero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SecureZeroMemory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Running a program safely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posix_spawn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absolute path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CreateProcessW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full path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This week's toolbox — diagram</a:t>
            </a:r>
          </a:p>
        </p:txBody>
      </p:sp>
      <p:pic>
        <p:nvPicPr>
          <p:cNvPr id="7" name="Picture 6" descr="h01-23-arac-kutu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7445" y="1325880"/>
            <a:ext cx="7836805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Project and wrap-up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Project: this week's tasks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Team</a:t>
            </a:r>
            <a:r>
              <a:rPr sz="2000" b="0">
                <a:solidFill>
                  <a:srgbClr val="1F2D3A"/>
                </a:solidFill>
              </a:rPr>
              <a:t> (individual or up to 4 people) and </a:t>
            </a:r>
            <a:r>
              <a:rPr sz="2000" b="1">
                <a:solidFill>
                  <a:srgbClr val="1F2D3A"/>
                </a:solidFill>
              </a:rPr>
              <a:t>topic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GitHub repository + </a:t>
            </a:r>
            <a:r>
              <a:rPr sz="2000" b="1">
                <a:solidFill>
                  <a:srgbClr val="1F2D3A"/>
                </a:solidFill>
              </a:rPr>
              <a:t>project plan</a:t>
            </a:r>
            <a:r>
              <a:rPr sz="2000" b="0">
                <a:solidFill>
                  <a:srgbClr val="1F2D3A"/>
                </a:solidFill>
              </a:rPr>
              <a:t> (work packages, timeline) → get it approved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Security guide draft: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S0</a:t>
            </a:r>
            <a:r>
              <a:rPr sz="2000" b="0">
                <a:solidFill>
                  <a:srgbClr val="1F2D3A"/>
                </a:solidFill>
              </a:rPr>
              <a:t> cover and version history · </a:t>
            </a:r>
            <a:r>
              <a:rPr sz="2000" b="1">
                <a:solidFill>
                  <a:srgbClr val="1F2D3A"/>
                </a:solidFill>
              </a:rPr>
              <a:t>S2</a:t>
            </a:r>
            <a:r>
              <a:rPr sz="2000" b="0">
                <a:solidFill>
                  <a:srgbClr val="1F2D3A"/>
                </a:solidFill>
              </a:rPr>
              <a:t> product overview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S3</a:t>
            </a:r>
            <a:r>
              <a:rPr sz="2000" b="0">
                <a:solidFill>
                  <a:srgbClr val="1F2D3A"/>
                </a:solidFill>
              </a:rPr>
              <a:t> architecture and </a:t>
            </a:r>
            <a:r>
              <a:rPr sz="2000" b="1">
                <a:solidFill>
                  <a:srgbClr val="1F2D3A"/>
                </a:solidFill>
              </a:rPr>
              <a:t>interface table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1">
                <a:solidFill>
                  <a:srgbClr val="1F2D3A"/>
                </a:solidFill>
              </a:rPr>
              <a:t>S4</a:t>
            </a:r>
            <a:r>
              <a:rPr sz="2000" b="0">
                <a:solidFill>
                  <a:srgbClr val="1F2D3A"/>
                </a:solidFill>
              </a:rPr>
              <a:t> attacker model · </a:t>
            </a:r>
            <a:r>
              <a:rPr sz="2000" b="1">
                <a:solidFill>
                  <a:srgbClr val="1F2D3A"/>
                </a:solidFill>
              </a:rPr>
              <a:t>STRIDE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1">
                <a:solidFill>
                  <a:srgbClr val="1F2D3A"/>
                </a:solidFill>
              </a:rPr>
              <a:t>attack tree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Class exercise (15 min)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Student grading system:</a:t>
            </a:r>
            <a:r>
              <a:rPr sz="2000" b="0">
                <a:solidFill>
                  <a:srgbClr val="1F2D3A"/>
                </a:solidFill>
              </a:rPr>
              <a:t> the instructor enters grades, the student sees them, the data lives on a server.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Data flow diagram + trust boundaries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One</a:t>
            </a:r>
            <a:r>
              <a:rPr sz="2000" b="0">
                <a:solidFill>
                  <a:srgbClr val="1F2D3A"/>
                </a:solidFill>
              </a:rPr>
              <a:t> threat from each STRIDE letter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Attack tree for "raise my grade from 45 to 85" — which is the </a:t>
            </a:r>
            <a:r>
              <a:rPr sz="2000" b="1">
                <a:solidFill>
                  <a:srgbClr val="1F2D3A"/>
                </a:solidFill>
              </a:rPr>
              <a:t>cheapest</a:t>
            </a:r>
            <a:r>
              <a:rPr sz="2000" b="0">
                <a:solidFill>
                  <a:srgbClr val="1F2D3A"/>
                </a:solidFill>
              </a:rPr>
              <a:t> path?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End to End: Finishing the Vault's Defence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Section 4's threat table for the "Vault" had two open items; the rest of this week closes them with </a:t>
            </a:r>
            <a:r>
              <a:rPr sz="2000" b="1">
                <a:solidFill>
                  <a:srgbClr val="1F2D3A"/>
                </a:solidFill>
              </a:rPr>
              <a:t>actual code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205736"/>
          <a:ext cx="10911534" cy="1655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7581"/>
                <a:gridCol w="7793953"/>
              </a:tblGrid>
              <a:tr h="55168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Vault's threat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This week's answer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5168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T2 — password/key left in memory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Section 5: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explicit_bzero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/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SecureZeroMemory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mlock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, disabling core dumps (Demo 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51688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T8 — a memory bug in the parser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Sections 6–7: bounds checking, ASan, the safe pattern (Demo 3–4)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3970528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Security is not a </a:t>
            </a:r>
            <a:r>
              <a:rPr sz="2000" b="1">
                <a:solidFill>
                  <a:srgbClr val="1F2D3A"/>
                </a:solidFill>
              </a:rPr>
              <a:t>feeling</a:t>
            </a:r>
            <a:r>
              <a:rPr sz="2000" b="0">
                <a:solidFill>
                  <a:srgbClr val="1F2D3A"/>
                </a:solidFill>
              </a:rPr>
              <a:t>, it's a </a:t>
            </a:r>
            <a:r>
              <a:rPr sz="2000" b="1">
                <a:solidFill>
                  <a:srgbClr val="1F2D3A"/>
                </a:solidFill>
              </a:rPr>
              <a:t>process:</a:t>
            </a:r>
            <a:r>
              <a:rPr sz="2000" b="0">
                <a:solidFill>
                  <a:srgbClr val="1F2D3A"/>
                </a:solidFill>
              </a:rPr>
              <a:t> know the asset, model the threat, protect it in layers, write down the residual risk. We'll use this framework all term.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Classic Mistakes — Summary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686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0483"/>
                <a:gridCol w="889088"/>
                <a:gridCol w="6061963"/>
              </a:tblGrid>
              <a:tr h="526694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Mistake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Section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Rule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266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Trusting PATH/the environment (CWE-426)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Absolute path + a clean environment + no shell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6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 secret left in memory (CWE-14)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explicit_bzero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/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SecureZeroMemory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in a way the compiler can't remove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266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 buffer overflow (CWE-121/787)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Validate first, then copy with a bound; avoid dangerous functions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6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The off-by-one bug (CWE-193)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Use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&lt;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not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&lt;=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always leave room for the terminator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2669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 signed/unsigned integer bug (CWE-195)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Keep sizes as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size_t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check both a lower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and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an upper bound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669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 leak, double free, or UAF (CWE-401/415/416)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Give every block a single owner; set the pointer to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NULL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after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free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122468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All six mistakes were covered earlier in this deck with a demo or code example; here they are gathered in one glance.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On Your Own (Not Graded)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677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The PATH trap: repeat with </a:t>
            </a:r>
            <a:r>
              <a:rPr sz="2000" b="0">
                <a:solidFill>
                  <a:srgbClr val="A1123F"/>
                </a:solidFill>
                <a:latin typeface="Consolas"/>
              </a:rPr>
              <a:t>ls</a:t>
            </a:r>
            <a:r>
              <a:rPr sz="2000" b="0">
                <a:solidFill>
                  <a:srgbClr val="1F2D3A"/>
                </a:solidFill>
              </a:rPr>
              <a:t> (Linux) / </a:t>
            </a:r>
            <a:r>
              <a:rPr sz="2000" b="0">
                <a:solidFill>
                  <a:srgbClr val="A1123F"/>
                </a:solidFill>
                <a:latin typeface="Consolas"/>
              </a:rPr>
              <a:t>whoami</a:t>
            </a:r>
            <a:r>
              <a:rPr sz="2000" b="0">
                <a:solidFill>
                  <a:srgbClr val="1F2D3A"/>
                </a:solidFill>
              </a:rPr>
              <a:t> (Windows), fix with a full path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In Demo 2, </a:t>
            </a:r>
            <a:r>
              <a:rPr sz="2000" b="0">
                <a:solidFill>
                  <a:srgbClr val="A1123F"/>
                </a:solidFill>
                <a:latin typeface="Consolas"/>
              </a:rPr>
              <a:t>MOD optimize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MOD korumasiz</a:t>
            </a:r>
            <a:r>
              <a:rPr sz="2000" b="0">
                <a:solidFill>
                  <a:srgbClr val="1F2D3A"/>
                </a:solidFill>
              </a:rPr>
              <a:t>: does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</a:t>
            </a:r>
            <a:r>
              <a:rPr sz="2000" b="0">
                <a:solidFill>
                  <a:srgbClr val="1F2D3A"/>
                </a:solidFill>
              </a:rPr>
              <a:t> work now?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In Demo 3, 16, 17, 18, 19, 20 characters: a table of </a:t>
            </a:r>
            <a:r>
              <a:rPr sz="2000" b="0">
                <a:solidFill>
                  <a:srgbClr val="A1123F"/>
                </a:solidFill>
                <a:latin typeface="Consolas"/>
              </a:rPr>
              <a:t>yonetici</a:t>
            </a:r>
            <a:r>
              <a:rPr sz="2000" b="0">
                <a:solidFill>
                  <a:srgbClr val="1F2D3A"/>
                </a:solidFill>
              </a:rPr>
              <a:t> values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Add </a:t>
            </a:r>
            <a:r>
              <a:rPr sz="2000" b="0">
                <a:solidFill>
                  <a:srgbClr val="A1123F"/>
                </a:solidFill>
                <a:latin typeface="Consolas"/>
              </a:rPr>
              <a:t>bakiye</a:t>
            </a:r>
            <a:r>
              <a:rPr sz="2000" b="0">
                <a:solidFill>
                  <a:srgbClr val="1F2D3A"/>
                </a:solidFill>
              </a:rPr>
              <a:t> to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struct oturum</a:t>
            </a:r>
            <a:r>
              <a:rPr sz="2000" b="0">
                <a:solidFill>
                  <a:srgbClr val="1F2D3A"/>
                </a:solidFill>
              </a:rPr>
              <a:t>: push it above 1000 with an overflow, then prevent it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A STRIDE table for your own project (≥ 8 threats + countermeasures)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1F2D3A"/>
                </a:solidFill>
              </a:rPr>
              <a:t>Read the Heartbleed report: which check was missing? Which CWE?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27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Details and hints: course site → Week 1 → "Try it yourself"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Self-check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85063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Difference between asset, threat, vulnerability?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The recipient IBAN changing in transit — which CIA property?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What does a white-box attacker do differently?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STRIDE "E" — which demo?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AND / OR node — which is good for defence?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1F2D3A"/>
                </a:solidFill>
              </a:rPr>
              <a:t>Why is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system("date")</a:t>
            </a:r>
            <a:r>
              <a:rPr sz="2000" b="0">
                <a:solidFill>
                  <a:srgbClr val="1F2D3A"/>
                </a:solidFill>
              </a:rPr>
              <a:t> dangerous? Three fixes?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7. </a:t>
            </a:r>
            <a:r>
              <a:rPr sz="2000" b="0">
                <a:solidFill>
                  <a:srgbClr val="1F2D3A"/>
                </a:solidFill>
              </a:rPr>
              <a:t>Why did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</a:t>
            </a:r>
            <a:r>
              <a:rPr sz="2000" b="0">
                <a:solidFill>
                  <a:srgbClr val="1F2D3A"/>
                </a:solidFill>
              </a:rPr>
              <a:t> disappear?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8. </a:t>
            </a:r>
            <a:r>
              <a:rPr sz="2000" b="0">
                <a:solidFill>
                  <a:srgbClr val="1F2D3A"/>
                </a:solidFill>
              </a:rPr>
              <a:t>Why didn't ASan catch the 17 characters?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9. </a:t>
            </a:r>
            <a:r>
              <a:rPr sz="2000" b="0">
                <a:solidFill>
                  <a:srgbClr val="1F2D3A"/>
                </a:solidFill>
              </a:rPr>
              <a:t>What happens when </a:t>
            </a:r>
            <a:r>
              <a:rPr sz="2000" b="0">
                <a:solidFill>
                  <a:srgbClr val="A1123F"/>
                </a:solidFill>
                <a:latin typeface="Consolas"/>
              </a:rPr>
              <a:t>-1</a:t>
            </a:r>
            <a:r>
              <a:rPr sz="2000" b="0">
                <a:solidFill>
                  <a:srgbClr val="1F2D3A"/>
                </a:solidFill>
              </a:rPr>
              <a:t> reaches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memcpy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10. </a:t>
            </a:r>
            <a:r>
              <a:rPr sz="2000" b="0">
                <a:solidFill>
                  <a:srgbClr val="1F2D3A"/>
                </a:solidFill>
              </a:rPr>
              <a:t>Defence in depth — an example from the mobile payment architecture?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Self-check — answers (1–10)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2633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006D77"/>
                </a:solidFill>
              </a:rPr>
              <a:t>1. </a:t>
            </a:r>
            <a:r>
              <a:rPr sz="1500" b="1">
                <a:solidFill>
                  <a:srgbClr val="1F2D3A"/>
                </a:solidFill>
              </a:rPr>
              <a:t>Asset</a:t>
            </a:r>
            <a:r>
              <a:rPr sz="1500" b="0">
                <a:solidFill>
                  <a:srgbClr val="1F2D3A"/>
                </a:solidFill>
              </a:rPr>
              <a:t> is a valuable thing to protect; </a:t>
            </a:r>
            <a:r>
              <a:rPr sz="1500" b="1">
                <a:solidFill>
                  <a:srgbClr val="1F2D3A"/>
                </a:solidFill>
              </a:rPr>
              <a:t>threat</a:t>
            </a:r>
            <a:r>
              <a:rPr sz="1500" b="0">
                <a:solidFill>
                  <a:srgbClr val="1F2D3A"/>
                </a:solidFill>
              </a:rPr>
              <a:t> is a possible harmful event/actor; </a:t>
            </a:r>
            <a:r>
              <a:rPr sz="1500" b="1">
                <a:solidFill>
                  <a:srgbClr val="1F2D3A"/>
                </a:solidFill>
              </a:rPr>
              <a:t>vulnerability</a:t>
            </a:r>
            <a:r>
              <a:rPr sz="1500" b="0">
                <a:solidFill>
                  <a:srgbClr val="1F2D3A"/>
                </a:solidFill>
              </a:rPr>
              <a:t> is the flaw a threat can exploit.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006D77"/>
                </a:solidFill>
              </a:rPr>
              <a:t>2. </a:t>
            </a:r>
            <a:r>
              <a:rPr sz="1500" b="1">
                <a:solidFill>
                  <a:srgbClr val="1F2D3A"/>
                </a:solidFill>
              </a:rPr>
              <a:t>Integrity</a:t>
            </a:r>
            <a:r>
              <a:rPr sz="1500" b="0">
                <a:solidFill>
                  <a:srgbClr val="1F2D3A"/>
                </a:solidFill>
              </a:rPr>
              <a:t> — an IBAN changing in transit is a data integrity violation.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006D77"/>
                </a:solidFill>
              </a:rPr>
              <a:t>3. </a:t>
            </a:r>
            <a:r>
              <a:rPr sz="1500" b="1">
                <a:solidFill>
                  <a:srgbClr val="1F2D3A"/>
                </a:solidFill>
              </a:rPr>
              <a:t>White-box (MATE)</a:t>
            </a:r>
            <a:r>
              <a:rPr sz="1500" b="0">
                <a:solidFill>
                  <a:srgbClr val="1F2D3A"/>
                </a:solidFill>
              </a:rPr>
              <a:t> </a:t>
            </a:r>
            <a:r>
              <a:rPr sz="1500" b="1">
                <a:solidFill>
                  <a:srgbClr val="1F2D3A"/>
                </a:solidFill>
              </a:rPr>
              <a:t>owns</a:t>
            </a:r>
            <a:r>
              <a:rPr sz="1500" b="0">
                <a:solidFill>
                  <a:srgbClr val="1F2D3A"/>
                </a:solidFill>
              </a:rPr>
              <a:t> the program (reads memory/key, modifies code); a network attacker only connects </a:t>
            </a:r>
            <a:r>
              <a:rPr sz="1500" b="1">
                <a:solidFill>
                  <a:srgbClr val="1F2D3A"/>
                </a:solidFill>
              </a:rPr>
              <a:t>from outside</a:t>
            </a:r>
            <a:r>
              <a:rPr sz="15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006D77"/>
                </a:solidFill>
              </a:rPr>
              <a:t>4. </a:t>
            </a:r>
            <a:r>
              <a:rPr sz="1500" b="1">
                <a:solidFill>
                  <a:srgbClr val="1F2D3A"/>
                </a:solidFill>
              </a:rPr>
              <a:t>E = Elevation of Privilege</a:t>
            </a:r>
            <a:r>
              <a:rPr sz="1500" b="0">
                <a:solidFill>
                  <a:srgbClr val="1F2D3A"/>
                </a:solidFill>
              </a:rPr>
              <a:t> → the privilege-dropping / </a:t>
            </a:r>
            <a:r>
              <a:rPr sz="1500" b="0">
                <a:solidFill>
                  <a:srgbClr val="A1123F"/>
                </a:solidFill>
                <a:latin typeface="Consolas"/>
              </a:rPr>
              <a:t>setuid</a:t>
            </a:r>
            <a:r>
              <a:rPr sz="1500" b="0">
                <a:solidFill>
                  <a:srgbClr val="1F2D3A"/>
                </a:solidFill>
              </a:rPr>
              <a:t> demo.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006D77"/>
                </a:solidFill>
              </a:rPr>
              <a:t>5. </a:t>
            </a:r>
            <a:r>
              <a:rPr sz="1500" b="1">
                <a:solidFill>
                  <a:srgbClr val="1F2D3A"/>
                </a:solidFill>
              </a:rPr>
              <a:t>AND</a:t>
            </a:r>
            <a:r>
              <a:rPr sz="1500" b="0">
                <a:solidFill>
                  <a:srgbClr val="1F2D3A"/>
                </a:solidFill>
              </a:rPr>
              <a:t> is good for defence: the goal needs all sub-steps, cutting </a:t>
            </a:r>
            <a:r>
              <a:rPr sz="1500" b="1">
                <a:solidFill>
                  <a:srgbClr val="1F2D3A"/>
                </a:solidFill>
              </a:rPr>
              <a:t>one</a:t>
            </a:r>
            <a:r>
              <a:rPr sz="1500" b="0">
                <a:solidFill>
                  <a:srgbClr val="1F2D3A"/>
                </a:solidFill>
              </a:rPr>
              <a:t> stops the attack. OR is convenient for the attacker.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006D77"/>
                </a:solidFill>
              </a:rPr>
              <a:t>6. </a:t>
            </a:r>
            <a:r>
              <a:rPr sz="1500" b="0">
                <a:solidFill>
                  <a:srgbClr val="A1123F"/>
                </a:solidFill>
                <a:latin typeface="Consolas"/>
              </a:rPr>
              <a:t>system</a:t>
            </a:r>
            <a:r>
              <a:rPr sz="1500" b="0">
                <a:solidFill>
                  <a:srgbClr val="1F2D3A"/>
                </a:solidFill>
              </a:rPr>
              <a:t> interprets a </a:t>
            </a:r>
            <a:r>
              <a:rPr sz="1500" b="1">
                <a:solidFill>
                  <a:srgbClr val="1F2D3A"/>
                </a:solidFill>
              </a:rPr>
              <a:t>shell</a:t>
            </a:r>
            <a:r>
              <a:rPr sz="1500" b="0">
                <a:solidFill>
                  <a:srgbClr val="1F2D3A"/>
                </a:solidFill>
              </a:rPr>
              <a:t> → command injection/PATH hijacking. Fix: call </a:t>
            </a:r>
            <a:r>
              <a:rPr sz="1500" b="1">
                <a:solidFill>
                  <a:srgbClr val="1F2D3A"/>
                </a:solidFill>
              </a:rPr>
              <a:t>directly</a:t>
            </a:r>
            <a:r>
              <a:rPr sz="1500" b="0">
                <a:solidFill>
                  <a:srgbClr val="1F2D3A"/>
                </a:solidFill>
              </a:rPr>
              <a:t> with </a:t>
            </a:r>
            <a:r>
              <a:rPr sz="1500" b="0">
                <a:solidFill>
                  <a:srgbClr val="A1123F"/>
                </a:solidFill>
                <a:latin typeface="Consolas"/>
              </a:rPr>
              <a:t>execvp</a:t>
            </a:r>
            <a:r>
              <a:rPr sz="1500" b="0">
                <a:solidFill>
                  <a:srgbClr val="1F2D3A"/>
                </a:solidFill>
              </a:rPr>
              <a:t> (no shell), a </a:t>
            </a:r>
            <a:r>
              <a:rPr sz="1500" b="1">
                <a:solidFill>
                  <a:srgbClr val="1F2D3A"/>
                </a:solidFill>
              </a:rPr>
              <a:t>full path</a:t>
            </a:r>
            <a:r>
              <a:rPr sz="1500" b="0">
                <a:solidFill>
                  <a:srgbClr val="1F2D3A"/>
                </a:solidFill>
              </a:rPr>
              <a:t>, an input allowlist.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006D77"/>
                </a:solidFill>
              </a:rPr>
              <a:t>7. </a:t>
            </a:r>
            <a:r>
              <a:rPr sz="1500" b="0">
                <a:solidFill>
                  <a:srgbClr val="1F2D3A"/>
                </a:solidFill>
              </a:rPr>
              <a:t>The compiler removed it as a </a:t>
            </a:r>
            <a:r>
              <a:rPr sz="1500" b="1">
                <a:solidFill>
                  <a:srgbClr val="1F2D3A"/>
                </a:solidFill>
              </a:rPr>
              <a:t>dead store</a:t>
            </a:r>
            <a:r>
              <a:rPr sz="1500" b="0">
                <a:solidFill>
                  <a:srgbClr val="1F2D3A"/>
                </a:solidFill>
              </a:rPr>
              <a:t> (never read afterward). Use </a:t>
            </a:r>
            <a:r>
              <a:rPr sz="1500" b="0">
                <a:solidFill>
                  <a:srgbClr val="A1123F"/>
                </a:solidFill>
                <a:latin typeface="Consolas"/>
              </a:rPr>
              <a:t>memset_s</a:t>
            </a:r>
            <a:r>
              <a:rPr sz="1500" b="0">
                <a:solidFill>
                  <a:srgbClr val="1F2D3A"/>
                </a:solidFill>
              </a:rPr>
              <a:t>/</a:t>
            </a:r>
            <a:r>
              <a:rPr sz="1500" b="0">
                <a:solidFill>
                  <a:srgbClr val="A1123F"/>
                </a:solidFill>
                <a:latin typeface="Consolas"/>
              </a:rPr>
              <a:t>explicit_bzero</a:t>
            </a:r>
            <a:r>
              <a:rPr sz="1500" b="0">
                <a:solidFill>
                  <a:srgbClr val="1F2D3A"/>
                </a:solidFill>
              </a:rPr>
              <a:t>/</a:t>
            </a:r>
            <a:r>
              <a:rPr sz="1500" b="0">
                <a:solidFill>
                  <a:srgbClr val="A1123F"/>
                </a:solidFill>
                <a:latin typeface="Consolas"/>
              </a:rPr>
              <a:t>volatile</a:t>
            </a:r>
            <a:r>
              <a:rPr sz="15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006D77"/>
                </a:solidFill>
              </a:rPr>
              <a:t>8. </a:t>
            </a:r>
            <a:r>
              <a:rPr sz="1500" b="0">
                <a:solidFill>
                  <a:srgbClr val="1F2D3A"/>
                </a:solidFill>
              </a:rPr>
              <a:t>The overflow didn't </a:t>
            </a:r>
            <a:r>
              <a:rPr sz="1500" b="1">
                <a:solidFill>
                  <a:srgbClr val="1F2D3A"/>
                </a:solidFill>
              </a:rPr>
              <a:t>reach</a:t>
            </a:r>
            <a:r>
              <a:rPr sz="1500" b="0">
                <a:solidFill>
                  <a:srgbClr val="1F2D3A"/>
                </a:solidFill>
              </a:rPr>
              <a:t> the redzone / that code path wasn't run; ASan only sees the </a:t>
            </a:r>
            <a:r>
              <a:rPr sz="1500" b="1">
                <a:solidFill>
                  <a:srgbClr val="1F2D3A"/>
                </a:solidFill>
              </a:rPr>
              <a:t>instrumented</a:t>
            </a:r>
            <a:r>
              <a:rPr sz="1500" b="0">
                <a:solidFill>
                  <a:srgbClr val="1F2D3A"/>
                </a:solidFill>
              </a:rPr>
              <a:t> region.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006D77"/>
                </a:solidFill>
              </a:rPr>
              <a:t>9. </a:t>
            </a:r>
            <a:r>
              <a:rPr sz="1500" b="0">
                <a:solidFill>
                  <a:srgbClr val="A1123F"/>
                </a:solidFill>
                <a:latin typeface="Consolas"/>
              </a:rPr>
              <a:t>-1</a:t>
            </a:r>
            <a:r>
              <a:rPr sz="1500" b="0">
                <a:solidFill>
                  <a:srgbClr val="1F2D3A"/>
                </a:solidFill>
              </a:rPr>
              <a:t> becomes </a:t>
            </a:r>
            <a:r>
              <a:rPr sz="1500" b="1">
                <a:solidFill>
                  <a:srgbClr val="1F2D3A"/>
                </a:solidFill>
              </a:rPr>
              <a:t>SIZE_MAX</a:t>
            </a:r>
            <a:r>
              <a:rPr sz="1500" b="0">
                <a:solidFill>
                  <a:srgbClr val="1F2D3A"/>
                </a:solidFill>
              </a:rPr>
              <a:t> in a </a:t>
            </a:r>
            <a:r>
              <a:rPr sz="1500" b="0">
                <a:solidFill>
                  <a:srgbClr val="A1123F"/>
                </a:solidFill>
                <a:latin typeface="Consolas"/>
              </a:rPr>
              <a:t>size_t</a:t>
            </a:r>
            <a:r>
              <a:rPr sz="1500" b="0">
                <a:solidFill>
                  <a:srgbClr val="1F2D3A"/>
                </a:solidFill>
              </a:rPr>
              <a:t> → a huge copy → overflow/crash.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006D77"/>
                </a:solidFill>
              </a:rPr>
              <a:t>10. </a:t>
            </a:r>
            <a:r>
              <a:rPr sz="1500" b="0">
                <a:solidFill>
                  <a:srgbClr val="1F2D3A"/>
                </a:solidFill>
              </a:rPr>
              <a:t>Payment: TLS+pinning (transit) · AEAD (at rest) · RASP/anti-debug · white-box/HSM key · server checks — </a:t>
            </a:r>
            <a:r>
              <a:rPr sz="1500" b="1">
                <a:solidFill>
                  <a:srgbClr val="1F2D3A"/>
                </a:solidFill>
              </a:rPr>
              <a:t>layers</a:t>
            </a:r>
            <a:r>
              <a:rPr sz="15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Self-check (continued)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Why is </a:t>
            </a:r>
            <a:r>
              <a:rPr sz="2000" b="1">
                <a:solidFill>
                  <a:srgbClr val="1F2D3A"/>
                </a:solidFill>
              </a:rPr>
              <a:t>S</a:t>
            </a:r>
            <a:r>
              <a:rPr sz="2000" b="0">
                <a:solidFill>
                  <a:srgbClr val="1F2D3A"/>
                </a:solidFill>
              </a:rPr>
              <a:t> never asked of a data flow?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What are the four responses to a threat? Give an example of "eliminate"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Why is the </a:t>
            </a:r>
            <a:r>
              <a:rPr sz="2000" b="1">
                <a:solidFill>
                  <a:srgbClr val="1F2D3A"/>
                </a:solidFill>
              </a:rPr>
              <a:t>group dropped first</a:t>
            </a:r>
            <a:r>
              <a:rPr sz="2000" b="0">
                <a:solidFill>
                  <a:srgbClr val="1F2D3A"/>
                </a:solidFill>
              </a:rPr>
              <a:t> in a setuid program?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Why isn't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strncpy</a:t>
            </a:r>
            <a:r>
              <a:rPr sz="2000" b="0">
                <a:solidFill>
                  <a:srgbClr val="1F2D3A"/>
                </a:solidFill>
              </a:rPr>
              <a:t> a safe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strcpy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Why did Heartbleed leak data without anything crashing?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Self-check — answers (continued 1–5)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S is not asked</a:t>
            </a:r>
            <a:r>
              <a:rPr sz="2000" b="0">
                <a:solidFill>
                  <a:srgbClr val="1F2D3A"/>
                </a:solidFill>
              </a:rPr>
              <a:t> of a data flow: a flow has no identity (spoofing is asked of endpoints/assets).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Mitigate · eliminate · transfer · accept.</a:t>
            </a:r>
            <a:r>
              <a:rPr sz="2000" b="0">
                <a:solidFill>
                  <a:srgbClr val="1F2D3A"/>
                </a:solidFill>
              </a:rPr>
              <a:t> "Eliminate" example: </a:t>
            </a:r>
            <a:r>
              <a:rPr sz="2000" b="1">
                <a:solidFill>
                  <a:srgbClr val="1F2D3A"/>
                </a:solidFill>
              </a:rPr>
              <a:t>never offering</a:t>
            </a:r>
            <a:r>
              <a:rPr sz="2000" b="0">
                <a:solidFill>
                  <a:srgbClr val="1F2D3A"/>
                </a:solidFill>
              </a:rPr>
              <a:t> a "remember my password" feature at all.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In </a:t>
            </a:r>
            <a:r>
              <a:rPr sz="2000" b="0">
                <a:solidFill>
                  <a:srgbClr val="A1123F"/>
                </a:solidFill>
                <a:latin typeface="Consolas"/>
              </a:rPr>
              <a:t>setuid</a:t>
            </a:r>
            <a:r>
              <a:rPr sz="2000" b="0">
                <a:solidFill>
                  <a:srgbClr val="1F2D3A"/>
                </a:solidFill>
              </a:rPr>
              <a:t>, the </a:t>
            </a:r>
            <a:r>
              <a:rPr sz="2000" b="1">
                <a:solidFill>
                  <a:srgbClr val="1F2D3A"/>
                </a:solidFill>
              </a:rPr>
              <a:t>group is dropped first</a:t>
            </a:r>
            <a:r>
              <a:rPr sz="2000" b="0">
                <a:solidFill>
                  <a:srgbClr val="1F2D3A"/>
                </a:solidFill>
              </a:rPr>
              <a:t>; if the user is dropped first, there's </a:t>
            </a:r>
            <a:r>
              <a:rPr sz="2000" b="1">
                <a:solidFill>
                  <a:srgbClr val="1F2D3A"/>
                </a:solidFill>
              </a:rPr>
              <a:t>no privilege left</a:t>
            </a:r>
            <a:r>
              <a:rPr sz="2000" b="0">
                <a:solidFill>
                  <a:srgbClr val="1F2D3A"/>
                </a:solidFill>
              </a:rPr>
              <a:t> to change the group.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strncpy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doesn't add</a:t>
            </a:r>
            <a:r>
              <a:rPr sz="2000" b="0">
                <a:solidFill>
                  <a:srgbClr val="1F2D3A"/>
                </a:solidFill>
              </a:rPr>
              <a:t> a terminator on a long source → an unterminated string.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Heartbleed only </a:t>
            </a:r>
            <a:r>
              <a:rPr sz="2000" b="1">
                <a:solidFill>
                  <a:srgbClr val="1F2D3A"/>
                </a:solidFill>
              </a:rPr>
              <a:t>read</a:t>
            </a:r>
            <a:r>
              <a:rPr sz="2000" b="0">
                <a:solidFill>
                  <a:srgbClr val="1F2D3A"/>
                </a:solidFill>
              </a:rPr>
              <a:t>; the memory it read was the process's own </a:t>
            </a:r>
            <a:r>
              <a:rPr sz="2000" b="1">
                <a:solidFill>
                  <a:srgbClr val="1F2D3A"/>
                </a:solidFill>
              </a:rPr>
              <a:t>valid</a:t>
            </a:r>
            <a:r>
              <a:rPr sz="2000" b="0">
                <a:solidFill>
                  <a:srgbClr val="1F2D3A"/>
                </a:solidFill>
              </a:rPr>
              <a:t> memory → it leaked without crashing.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Self-check (continued)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What does a canary do when it catches an overflow? Why is it still a problem?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What does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free(p); p = NULL;</a:t>
            </a:r>
            <a:r>
              <a:rPr sz="2000" b="0">
                <a:solidFill>
                  <a:srgbClr val="1F2D3A"/>
                </a:solidFill>
              </a:rPr>
              <a:t> prevent, and not prevent?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What does </a:t>
            </a:r>
            <a:r>
              <a:rPr sz="2000" b="0">
                <a:solidFill>
                  <a:srgbClr val="A1123F"/>
                </a:solidFill>
                <a:latin typeface="Consolas"/>
              </a:rPr>
              <a:t>mlock</a:t>
            </a:r>
            <a:r>
              <a:rPr sz="2000" b="0">
                <a:solidFill>
                  <a:srgbClr val="1F2D3A"/>
                </a:solidFill>
              </a:rPr>
              <a:t> prevent, and not prevent?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What is a "decryption oracle"? A countermeasure?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The three components of unique version identity?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Self-check — answers (continued 6–10)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291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When a canary is corrupted it </a:t>
            </a:r>
            <a:r>
              <a:rPr sz="2000" b="1">
                <a:solidFill>
                  <a:srgbClr val="1F2D3A"/>
                </a:solidFill>
              </a:rPr>
              <a:t>terminates</a:t>
            </a:r>
            <a:r>
              <a:rPr sz="2000" b="0">
                <a:solidFill>
                  <a:srgbClr val="1F2D3A"/>
                </a:solidFill>
              </a:rPr>
              <a:t> the program (denial of service); it does </a:t>
            </a:r>
            <a:r>
              <a:rPr sz="2000" b="1">
                <a:solidFill>
                  <a:srgbClr val="1F2D3A"/>
                </a:solidFill>
              </a:rPr>
              <a:t>not see</a:t>
            </a:r>
            <a:r>
              <a:rPr sz="2000" b="0">
                <a:solidFill>
                  <a:srgbClr val="1F2D3A"/>
                </a:solidFill>
              </a:rPr>
              <a:t> the overflow into the neighboring variable.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free(p); p=NULL;</a:t>
            </a:r>
            <a:r>
              <a:rPr sz="2000" b="0">
                <a:solidFill>
                  <a:srgbClr val="1F2D3A"/>
                </a:solidFill>
              </a:rPr>
              <a:t> prevents </a:t>
            </a:r>
            <a:r>
              <a:rPr sz="2000" b="1">
                <a:solidFill>
                  <a:srgbClr val="1F2D3A"/>
                </a:solidFill>
              </a:rPr>
              <a:t>double free/UAF</a:t>
            </a:r>
            <a:r>
              <a:rPr sz="2000" b="0">
                <a:solidFill>
                  <a:srgbClr val="1F2D3A"/>
                </a:solidFill>
              </a:rPr>
              <a:t>; it does </a:t>
            </a:r>
            <a:r>
              <a:rPr sz="2000" b="1">
                <a:solidFill>
                  <a:srgbClr val="1F2D3A"/>
                </a:solidFill>
              </a:rPr>
              <a:t>not</a:t>
            </a:r>
            <a:r>
              <a:rPr sz="2000" b="0">
                <a:solidFill>
                  <a:srgbClr val="1F2D3A"/>
                </a:solidFill>
              </a:rPr>
              <a:t> protect against </a:t>
            </a:r>
            <a:r>
              <a:rPr sz="2000" b="1">
                <a:solidFill>
                  <a:srgbClr val="1F2D3A"/>
                </a:solidFill>
              </a:rPr>
              <a:t>aliases</a:t>
            </a:r>
            <a:r>
              <a:rPr sz="2000" b="0">
                <a:solidFill>
                  <a:srgbClr val="1F2D3A"/>
                </a:solidFill>
              </a:rPr>
              <a:t> (another pointer to the same address).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mlock</a:t>
            </a:r>
            <a:r>
              <a:rPr sz="2000" b="0">
                <a:solidFill>
                  <a:srgbClr val="1F2D3A"/>
                </a:solidFill>
              </a:rPr>
              <a:t> prevents memory from being written to </a:t>
            </a:r>
            <a:r>
              <a:rPr sz="2000" b="1">
                <a:solidFill>
                  <a:srgbClr val="1F2D3A"/>
                </a:solidFill>
              </a:rPr>
              <a:t>swap</a:t>
            </a:r>
            <a:r>
              <a:rPr sz="2000" b="0">
                <a:solidFill>
                  <a:srgbClr val="1F2D3A"/>
                </a:solidFill>
              </a:rPr>
              <a:t>; it does not prevent it from being </a:t>
            </a:r>
            <a:r>
              <a:rPr sz="2000" b="1">
                <a:solidFill>
                  <a:srgbClr val="1F2D3A"/>
                </a:solidFill>
              </a:rPr>
              <a:t>read</a:t>
            </a:r>
            <a:r>
              <a:rPr sz="2000" b="0">
                <a:solidFill>
                  <a:srgbClr val="1F2D3A"/>
                </a:solidFill>
              </a:rPr>
              <a:t>, or a secret from staying unerased.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Decryption oracle:</a:t>
            </a:r>
            <a:r>
              <a:rPr sz="2000" b="0">
                <a:solidFill>
                  <a:srgbClr val="1F2D3A"/>
                </a:solidFill>
              </a:rPr>
              <a:t> the ability to decrypt without the key. Countermeasure: context/integrity checking, a call limit, </a:t>
            </a:r>
            <a:r>
              <a:rPr sz="2000" b="1">
                <a:solidFill>
                  <a:srgbClr val="1F2D3A"/>
                </a:solidFill>
              </a:rPr>
              <a:t>binding to the device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Unique version: </a:t>
            </a:r>
            <a:r>
              <a:rPr sz="2000" b="1">
                <a:solidFill>
                  <a:srgbClr val="1F2D3A"/>
                </a:solidFill>
              </a:rPr>
              <a:t>semantic version + git id + binary SHA-256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Glossary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9850"/>
                <a:gridCol w="7391685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Meaning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Confidentiality/integrity/availability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 attacker who owns the program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STRIDE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Six threat classes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Attack tree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Breaking a goal into sub-steps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DFD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Data flow diagram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Defence in depth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Many countermeasures together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Next Week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Week 2 — Computer Viruses and Security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We will apply the threat-modelling tools we built this week (STRIDE, attack trees) and the attacker model to a concrete class of threat — malware: how a virus spreads, how it hides, and which access-control models (DAC/MAC/RBAC) stop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197855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The CWE classification we met for this week's memory-safety bugs will deepen next week with CVE and CVSS.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Week 1 — Introduction to Secure Programming and the Application Protection Plan</dc:title>
  <dc:subject/>
  <dc:creator>Asst. Prof. Dr.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