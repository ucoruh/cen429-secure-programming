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treat whitebox cryptography as a security layer. Core rule: every published pure-software WBC design has been broken; WBC alone is not a solution — it is a layer that delays key extraction, and it only makes sense together with key rotation, device binding, and server-side risk checking. We study the attacks to test the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is whitebox cryptography. Students saw crypto in Weeks 3 and 10, but here we recap it from scratch. The main message is given up front: every published pure-software WBC has been broken; WBC is a layer,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Set this frame up front; we'll come back to it throughout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build up Chow AES's idea step by step. We'll teach the logic and the cost, not the math. Go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answer; after the break, attack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tell this history not to teach attacks, but to answer "how much can I trust this protection?"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synthetic, defence-oriented example that ties the whole week together in one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Whitebox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27.11.2026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399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455"/>
                <a:gridCol w="1188385"/>
                <a:gridCol w="8318695"/>
              </a:tblGrid>
              <a:tr h="57084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0:00–0:25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Black/grey/white box models; WBC attacker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0:25–0:50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the problem is hard; naive solutions: embedded key, XOR, code lifting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0:55–1:40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Table-based WBC (Chow AES): encoding, bijections, table size/speed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1:45–2:20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Attack history: BGE, DFA, DCA, WhibOx; "all broken" and countermeasures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7084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2:20–2:45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Its place in layered defence; hardware alternatives (TEE/SE, HSM/SoftHSM)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08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2:45–3:00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6–7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Flawed→attack→protection; project S8; self-check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This Week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9:</a:t>
            </a:r>
            <a:r>
              <a:rPr sz="2000" b="0">
                <a:solidFill>
                  <a:srgbClr val="1F2D3A"/>
                </a:solidFill>
              </a:rPr>
              <a:t> code obfuscation — we said "hiding doesn't protect the key"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This week (11):</a:t>
            </a:r>
            <a:r>
              <a:rPr sz="2000" b="0">
                <a:solidFill>
                  <a:srgbClr val="1F2D3A"/>
                </a:solidFill>
              </a:rPr>
              <a:t> so </a:t>
            </a:r>
            <a:r>
              <a:rPr sz="2000" b="1">
                <a:solidFill>
                  <a:srgbClr val="1F2D3A"/>
                </a:solidFill>
              </a:rPr>
              <a:t>how</a:t>
            </a:r>
            <a:r>
              <a:rPr sz="2000" b="0">
                <a:solidFill>
                  <a:srgbClr val="1F2D3A"/>
                </a:solidFill>
              </a:rPr>
              <a:t> do we protect the key in software? →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10:</a:t>
            </a:r>
            <a:r>
              <a:rPr sz="2000" b="0">
                <a:solidFill>
                  <a:srgbClr val="1F2D3A"/>
                </a:solidFill>
              </a:rPr>
              <a:t> correct use of cryptography, the key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Today we tackle the question: "what do we do while the key is in the attacker's hands?"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Learning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 is about </a:t>
            </a:r>
            <a:r>
              <a:rPr sz="2000" b="1">
                <a:solidFill>
                  <a:srgbClr val="1F2D3A"/>
                </a:solidFill>
              </a:rPr>
              <a:t>LO.2 / LO.4</a:t>
            </a:r>
            <a:r>
              <a:rPr sz="2000" b="0">
                <a:solidFill>
                  <a:srgbClr val="1F2D3A"/>
                </a:solidFill>
              </a:rPr>
              <a:t> (cryptography, secure communication).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By the end, you will be able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Distinguish the black/grey/white box models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Explain </a:t>
            </a:r>
            <a:r>
              <a:rPr sz="2000" b="1">
                <a:solidFill>
                  <a:srgbClr val="1F2D3A"/>
                </a:solidFill>
              </a:rPr>
              <a:t>what whitebox does and why it isn't enough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the right protection decision for a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Warning, Up 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</a:t>
            </a:r>
            <a:r>
              <a:rPr sz="2000" b="1">
                <a:solidFill>
                  <a:srgbClr val="1F2D3A"/>
                </a:solidFill>
              </a:rPr>
              <a:t>pure-software</a:t>
            </a:r>
            <a:r>
              <a:rPr sz="2000" b="0">
                <a:solidFill>
                  <a:srgbClr val="1F2D3A"/>
                </a:solidFill>
              </a:rPr>
              <a:t> whitebox design published to date has </a:t>
            </a:r>
            <a:r>
              <a:rPr sz="2000" b="1">
                <a:solidFill>
                  <a:srgbClr val="1F2D3A"/>
                </a:solidFill>
              </a:rPr>
              <a:t>been broken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 today we won't say "whitebox = secure key."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We'll say: whitebox is a layer that </a:t>
            </a:r>
            <a:r>
              <a:rPr sz="2000" b="1">
                <a:solidFill>
                  <a:srgbClr val="1F2D3A"/>
                </a:solidFill>
              </a:rPr>
              <a:t>delays</a:t>
            </a:r>
            <a:r>
              <a:rPr sz="2000" b="0">
                <a:solidFill>
                  <a:srgbClr val="1F2D3A"/>
                </a:solidFill>
              </a:rPr>
              <a:t> key extraction — and it is not sufficient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 (1)</a:t>
            </a:r>
          </a:p>
        </p:txBody>
      </p:sp>
      <p:pic>
        <p:nvPicPr>
          <p:cNvPr id="7" name="Picture 6" descr="h11-10-sifreleme-tem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055" y="1325880"/>
            <a:ext cx="3131585" cy="1549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85516"/>
            <a:ext cx="10911535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Encryption, key, symmetric/asymmetric</a:t>
            </a:r>
            <a:r>
              <a:rPr sz="1800" b="0">
                <a:solidFill>
                  <a:srgbClr val="1F2D3A"/>
                </a:solidFill>
              </a:rPr>
              <a:t> — turning plaintext into unreadable ciphertext with a key; security rests on the key's secrecy, not the algorithm's </a:t>
            </a:r>
            <a:r>
              <a:rPr sz="1800" b="1">
                <a:solidFill>
                  <a:srgbClr val="1F2D3A"/>
                </a:solidFill>
              </a:rPr>
              <a:t>(Week 3)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AES and bit security level</a:t>
            </a:r>
            <a:r>
              <a:rPr sz="1800" b="0">
                <a:solidFill>
                  <a:srgbClr val="1F2D3A"/>
                </a:solidFill>
              </a:rPr>
              <a:t> — the most widely used symmetric algorithm, 16-byte blocks, rounds; "n-bit security" ≈ 2ⁿ attempts </a:t>
            </a:r>
            <a:r>
              <a:rPr sz="1800" b="1">
                <a:solidFill>
                  <a:srgbClr val="1F2D3A"/>
                </a:solidFill>
              </a:rPr>
              <a:t>(Week 10)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XOR</a:t>
            </a:r>
            <a:r>
              <a:rPr sz="1800" b="0">
                <a:solidFill>
                  <a:srgbClr val="1F2D3A"/>
                </a:solidFill>
              </a:rPr>
              <a:t> — 1 if the bits differ, 0 if they match; reversible via </a:t>
            </a:r>
            <a:r>
              <a:rPr sz="1800" b="0">
                <a:solidFill>
                  <a:srgbClr val="A1123F"/>
                </a:solidFill>
                <a:latin typeface="Consolas"/>
              </a:rPr>
              <a:t>a^b^b=a</a:t>
            </a:r>
            <a:r>
              <a:rPr sz="1800" b="0">
                <a:solidFill>
                  <a:srgbClr val="1F2D3A"/>
                </a:solidFill>
              </a:rPr>
              <a:t>; AES's key-addition step is a XOR </a:t>
            </a:r>
            <a:r>
              <a:rPr sz="1800" b="1">
                <a:solidFill>
                  <a:srgbClr val="1F2D3A"/>
                </a:solidFill>
              </a:rPr>
              <a:t>(Week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Entropy</a:t>
            </a:r>
            <a:r>
              <a:rPr sz="1800" b="0">
                <a:solidFill>
                  <a:srgbClr val="1F2D3A"/>
                </a:solidFill>
              </a:rPr>
              <a:t> — a measure of how random a data's bytes look; encrypted/random blocks look high-entropy </a:t>
            </a:r>
            <a:r>
              <a:rPr sz="18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4700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week we reuse these tools in the </a:t>
            </a:r>
            <a:r>
              <a:rPr sz="1800" b="1">
                <a:solidFill>
                  <a:srgbClr val="1F2D3A"/>
                </a:solidFill>
              </a:rPr>
              <a:t>whitebox</a:t>
            </a:r>
            <a:r>
              <a:rPr sz="1800" b="0">
                <a:solidFill>
                  <a:srgbClr val="1F2D3A"/>
                </a:solidFill>
              </a:rPr>
              <a:t>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Debugger</a:t>
            </a:r>
            <a:r>
              <a:rPr sz="1800" b="0">
                <a:solidFill>
                  <a:srgbClr val="1F2D3A"/>
                </a:solidFill>
              </a:rPr>
              <a:t> — a tool that runs a program step by step and reads memory/registers (gdb, x64dbg) </a:t>
            </a:r>
            <a:r>
              <a:rPr sz="1800" b="1">
                <a:solidFill>
                  <a:srgbClr val="1F2D3A"/>
                </a:solidFill>
              </a:rPr>
              <a:t>(Week 6)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Static and dynamic analysis</a:t>
            </a:r>
            <a:r>
              <a:rPr sz="1800" b="0">
                <a:solidFill>
                  <a:srgbClr val="1F2D3A"/>
                </a:solidFill>
              </a:rPr>
              <a:t> — inspection without running / by running; we'll use this to classify attacks </a:t>
            </a:r>
            <a:r>
              <a:rPr sz="18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Instrumentation and emulator</a:t>
            </a:r>
            <a:r>
              <a:rPr sz="1800" b="0">
                <a:solidFill>
                  <a:srgbClr val="1F2D3A"/>
                </a:solidFill>
              </a:rPr>
              <a:t> — tools that automatically trace a program and that emulate a real processor in software </a:t>
            </a:r>
            <a:r>
              <a:rPr sz="1800" b="1">
                <a:solidFill>
                  <a:srgbClr val="1F2D3A"/>
                </a:solidFill>
              </a:rPr>
              <a:t>(Week 6)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HSM and SoftHSM</a:t>
            </a:r>
            <a:r>
              <a:rPr sz="1800" b="0">
                <a:solidFill>
                  <a:srgbClr val="1F2D3A"/>
                </a:solidFill>
              </a:rPr>
              <a:t> — dedicated hardware that never lets the key out, and its software emulation </a:t>
            </a:r>
            <a:r>
              <a:rPr sz="1800" b="1">
                <a:solidFill>
                  <a:srgbClr val="1F2D3A"/>
                </a:solidFill>
              </a:rPr>
              <a:t>(Week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873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This week we meet these again as the whitebox attacker's toolbox and our defence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2744"/>
                <a:gridCol w="1558790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Black/grey/white box, the WBC attacker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Why the problem is hard; naive solutions (embedded key, XOR, code lifting)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Table-based WBC: partial evaluation, internal/external encoding, bijection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history: BGE, DFA, DCA, WhibOx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Its place in layered defence; TEE/SE, HSM/SoftHSM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flawed → attack → protection scenario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S8, self-check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What Is an S-box?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S-box (substitution box):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fixed table</a:t>
            </a:r>
            <a:r>
              <a:rPr sz="2000" b="0">
                <a:solidFill>
                  <a:srgbClr val="1F2D3A"/>
                </a:solidFill>
              </a:rPr>
              <a:t> that replaces one byte with another.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AES's "byte substitution" step.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a 256-entry mapping such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S-box[0x53] = 0xED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Keep this table in mind; it's the heart of whitebox.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Lookup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Lookup table:</a:t>
            </a:r>
            <a:r>
              <a:rPr sz="2000" b="0">
                <a:solidFill>
                  <a:srgbClr val="1F2D3A"/>
                </a:solidFill>
              </a:rPr>
              <a:t> an array that gives "output for a given input".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</a:t>
            </a:r>
            <a:r>
              <a:rPr sz="2000" b="0">
                <a:solidFill>
                  <a:srgbClr val="1F2D3A"/>
                </a:solidFill>
              </a:rPr>
              <a:t> = the precomputed result for x.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computing, </a:t>
            </a:r>
            <a:r>
              <a:rPr sz="2000" b="1">
                <a:solidFill>
                  <a:srgbClr val="1F2D3A"/>
                </a:solidFill>
              </a:rPr>
              <a:t>you read from the table</a:t>
            </a:r>
            <a:r>
              <a:rPr sz="2000" b="0">
                <a:solidFill>
                  <a:srgbClr val="1F2D3A"/>
                </a:solidFill>
              </a:rPr>
              <a:t>; it's 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Whitebox buries computation inside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What Is a Side Channel?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Side channel:</a:t>
            </a:r>
            <a:r>
              <a:rPr sz="2000" b="0">
                <a:solidFill>
                  <a:srgbClr val="1F2D3A"/>
                </a:solidFill>
              </a:rPr>
              <a:t> an attack that uses not the algorithm's math but the </a:t>
            </a:r>
            <a:r>
              <a:rPr sz="2000" b="1">
                <a:solidFill>
                  <a:srgbClr val="1F2D3A"/>
                </a:solidFill>
              </a:rPr>
              <a:t>physical/indirect information it leaks</a:t>
            </a:r>
            <a:r>
              <a:rPr sz="2000" b="0">
                <a:solidFill>
                  <a:srgbClr val="1F2D3A"/>
                </a:solidFill>
              </a:rPr>
              <a:t> while running.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Examples: elapsed </a:t>
            </a:r>
            <a:r>
              <a:rPr sz="2000" b="1">
                <a:solidFill>
                  <a:srgbClr val="1F2D3A"/>
                </a:solidFill>
              </a:rPr>
              <a:t>time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power</a:t>
            </a:r>
            <a:r>
              <a:rPr sz="2000" b="0">
                <a:solidFill>
                  <a:srgbClr val="1F2D3A"/>
                </a:solidFill>
              </a:rPr>
              <a:t> consumption, electromagnetic emission.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Classic on smart cards; shortly we'll see whitebox's software equivalent.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DPA?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DPA (Differential Power Analysis):</a:t>
            </a:r>
            <a:r>
              <a:rPr sz="2000" b="0">
                <a:solidFill>
                  <a:srgbClr val="1F2D3A"/>
                </a:solidFill>
              </a:rPr>
              <a:t> a side-channel attack that applies statistics to a device's </a:t>
            </a:r>
            <a:r>
              <a:rPr sz="2000" b="1">
                <a:solidFill>
                  <a:srgbClr val="1F2D3A"/>
                </a:solidFill>
              </a:rPr>
              <a:t>power consumption</a:t>
            </a:r>
            <a:r>
              <a:rPr sz="2000" b="0">
                <a:solidFill>
                  <a:srgbClr val="1F2D3A"/>
                </a:solidFill>
              </a:rPr>
              <a:t> measurements to extract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doesn't look inside the device; it measures from the outside.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Keep this idea in mind; whitebox's strongest attack (DCA) is the software form of exactly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Bijection (a One-to-One, Onto Mapping)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Bijection:</a:t>
            </a:r>
            <a:r>
              <a:rPr sz="2000" b="0">
                <a:solidFill>
                  <a:srgbClr val="1F2D3A"/>
                </a:solidFill>
              </a:rPr>
              <a:t> a transformation that maps every input to exactly one output and is </a:t>
            </a:r>
            <a:r>
              <a:rPr sz="2000" b="1">
                <a:solidFill>
                  <a:srgbClr val="1F2D3A"/>
                </a:solidFill>
              </a:rPr>
              <a:t>invertible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f(x) = x ^ 0x5A</a:t>
            </a:r>
            <a:r>
              <a:rPr sz="2000" b="0">
                <a:solidFill>
                  <a:srgbClr val="1F2D3A"/>
                </a:solidFill>
              </a:rPr>
              <a:t> is a bijection (its own inverse).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Whitebox wraps tables in </a:t>
            </a:r>
            <a:r>
              <a:rPr sz="2000" b="1">
                <a:solidFill>
                  <a:srgbClr val="1F2D3A"/>
                </a:solidFill>
              </a:rPr>
              <a:t>secret bijections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 · TEE and Secure Element (SE)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TEE (Trusted Execution Environment):</a:t>
            </a:r>
            <a:r>
              <a:rPr sz="2000" b="0">
                <a:solidFill>
                  <a:srgbClr val="1F2D3A"/>
                </a:solidFill>
              </a:rPr>
              <a:t> a phone processor's secure region, </a:t>
            </a:r>
            <a:r>
              <a:rPr sz="2000" b="1">
                <a:solidFill>
                  <a:srgbClr val="1F2D3A"/>
                </a:solidFill>
              </a:rPr>
              <a:t>isolated</a:t>
            </a:r>
            <a:r>
              <a:rPr sz="2000" b="0">
                <a:solidFill>
                  <a:srgbClr val="1F2D3A"/>
                </a:solidFill>
              </a:rPr>
              <a:t> from the operating system.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Secure element (SE):</a:t>
            </a:r>
            <a:r>
              <a:rPr sz="2000" b="0">
                <a:solidFill>
                  <a:srgbClr val="1F2D3A"/>
                </a:solidFill>
              </a:rPr>
              <a:t> a separate, tamper-resistant </a:t>
            </a:r>
            <a:r>
              <a:rPr sz="2000" b="1">
                <a:solidFill>
                  <a:srgbClr val="1F2D3A"/>
                </a:solidFill>
              </a:rPr>
              <a:t>hardware</a:t>
            </a:r>
            <a:r>
              <a:rPr sz="2000" b="0">
                <a:solidFill>
                  <a:srgbClr val="1F2D3A"/>
                </a:solidFill>
              </a:rPr>
              <a:t> chip that stores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These are the strongest protection for a key; whitebox is for the case </a:t>
            </a:r>
            <a:r>
              <a:rPr sz="2000" b="1">
                <a:solidFill>
                  <a:srgbClr val="1F2D3A"/>
                </a:solidFill>
              </a:rPr>
              <a:t>when they aren't available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Now We're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Terms we know: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encryption/decryption · key · symmetric/asymmetric · AES · S-box · lookup table · XOR · bit security · side channel · DPA · bijection · TEE/SE · HSM/SoftHSM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Now to the real question: </a:t>
            </a:r>
            <a:r>
              <a:rPr sz="2000" b="1">
                <a:solidFill>
                  <a:srgbClr val="1F2D3A"/>
                </a:solidFill>
              </a:rPr>
              <a:t>what do we do while the key is in the attacker's hands?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Three Attacker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Whitebox Cryptography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1883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Kerckhoffs</a:t>
            </a:r>
            <a:r>
              <a:rPr sz="1800" b="0">
                <a:solidFill>
                  <a:srgbClr val="1F2D3A"/>
                </a:solidFill>
              </a:rPr>
              <a:t>: security must lie in the </a:t>
            </a:r>
            <a:r>
              <a:rPr sz="1800" b="1">
                <a:solidFill>
                  <a:srgbClr val="1F2D3A"/>
                </a:solidFill>
              </a:rPr>
              <a:t>key</a:t>
            </a:r>
            <a:r>
              <a:rPr sz="1800" b="0">
                <a:solidFill>
                  <a:srgbClr val="1F2D3A"/>
                </a:solidFill>
              </a:rPr>
              <a:t>, not in the secrecy of the system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Chow et al. publish the first </a:t>
            </a:r>
            <a:r>
              <a:rPr sz="1800" b="1">
                <a:solidFill>
                  <a:srgbClr val="1F2D3A"/>
                </a:solidFill>
              </a:rPr>
              <a:t>whitebox AES/DES</a:t>
            </a:r>
            <a:r>
              <a:rPr sz="1800" b="0">
                <a:solidFill>
                  <a:srgbClr val="1F2D3A"/>
                </a:solidFill>
              </a:rPr>
              <a:t> (for DRM) — the birth of WBC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2004</a:t>
            </a:r>
            <a:r>
              <a:rPr sz="1800" b="0">
                <a:solidFill>
                  <a:srgbClr val="1F2D3A"/>
                </a:solidFill>
              </a:rPr>
              <a:t> — the </a:t>
            </a:r>
            <a:r>
              <a:rPr sz="1800" b="1">
                <a:solidFill>
                  <a:srgbClr val="1F2D3A"/>
                </a:solidFill>
              </a:rPr>
              <a:t>BGE attack</a:t>
            </a:r>
            <a:r>
              <a:rPr sz="1800" b="0">
                <a:solidFill>
                  <a:srgbClr val="1F2D3A"/>
                </a:solidFill>
              </a:rPr>
              <a:t> breaks the first WB-AES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DCA</a:t>
            </a:r>
            <a:r>
              <a:rPr sz="1800" b="0">
                <a:solidFill>
                  <a:srgbClr val="1F2D3A"/>
                </a:solidFill>
              </a:rPr>
              <a:t> (Bos et al.): hardware DPA moves into software, breaks it automatically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2017–2024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WhibOx</a:t>
            </a:r>
            <a:r>
              <a:rPr sz="1800" b="0">
                <a:solidFill>
                  <a:srgbClr val="1F2D3A"/>
                </a:solidFill>
              </a:rPr>
              <a:t>: every published pure-software candidate is broken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Today's rule: WBC is a </a:t>
            </a:r>
            <a:r>
              <a:rPr sz="1800" b="1">
                <a:solidFill>
                  <a:srgbClr val="1F2D3A"/>
                </a:solidFill>
              </a:rPr>
              <a:t>delaying layer</a:t>
            </a:r>
            <a:r>
              <a:rPr sz="1800" b="0">
                <a:solidFill>
                  <a:srgbClr val="1F2D3A"/>
                </a:solidFill>
              </a:rPr>
              <a:t>; prefer </a:t>
            </a:r>
            <a:r>
              <a:rPr sz="1800" b="1">
                <a:solidFill>
                  <a:srgbClr val="1F2D3A"/>
                </a:solidFill>
              </a:rPr>
              <a:t>hardware</a:t>
            </a:r>
            <a:r>
              <a:rPr sz="1800" b="0">
                <a:solidFill>
                  <a:srgbClr val="1F2D3A"/>
                </a:solidFill>
              </a:rPr>
              <a:t> (TEE/SE/HSM) where possible.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"Model"?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Before designing a defence, we must determine </a:t>
            </a:r>
            <a:r>
              <a:rPr sz="2000" b="1">
                <a:solidFill>
                  <a:srgbClr val="1F2D3A"/>
                </a:solidFill>
              </a:rPr>
              <a:t>what the attacker can see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called the </a:t>
            </a:r>
            <a:r>
              <a:rPr sz="2000" b="1">
                <a:solidFill>
                  <a:srgbClr val="1F2D3A"/>
                </a:solidFill>
              </a:rPr>
              <a:t>attacker model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are three models: black, grey, white box.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Black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sees </a:t>
            </a:r>
            <a:r>
              <a:rPr sz="2000" b="1">
                <a:solidFill>
                  <a:srgbClr val="1F2D3A"/>
                </a:solidFill>
              </a:rPr>
              <a:t>only input and output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cannot see the inside (key, intermediate values).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setting: a </a:t>
            </a:r>
            <a:r>
              <a:rPr sz="2000" b="1">
                <a:solidFill>
                  <a:srgbClr val="1F2D3A"/>
                </a:solidFill>
              </a:rPr>
              <a:t>remote server</a:t>
            </a:r>
            <a:r>
              <a:rPr sz="2000" b="0">
                <a:solidFill>
                  <a:srgbClr val="1F2D3A"/>
                </a:solidFill>
              </a:rPr>
              <a:t> (the code is yours, the attacker connects over the network).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AES/RSA's security proofs assume this.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Grey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addition to input/output, the attacker sees </a:t>
            </a:r>
            <a:r>
              <a:rPr sz="2000" b="1">
                <a:solidFill>
                  <a:srgbClr val="1F2D3A"/>
                </a:solidFill>
              </a:rPr>
              <a:t>side channels</a:t>
            </a:r>
            <a:r>
              <a:rPr sz="2000" b="0">
                <a:solidFill>
                  <a:srgbClr val="1F2D3A"/>
                </a:solidFill>
              </a:rPr>
              <a:t> (time, power, EM).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can't read the inside directly, but they measure it </a:t>
            </a:r>
            <a:r>
              <a:rPr sz="2000" b="1">
                <a:solidFill>
                  <a:srgbClr val="1F2D3A"/>
                </a:solidFill>
              </a:rPr>
              <a:t>indirectly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setting: a </a:t>
            </a:r>
            <a:r>
              <a:rPr sz="2000" b="1">
                <a:solidFill>
                  <a:srgbClr val="1F2D3A"/>
                </a:solidFill>
              </a:rPr>
              <a:t>smart card</a:t>
            </a:r>
            <a:r>
              <a:rPr sz="2000" b="0">
                <a:solidFill>
                  <a:srgbClr val="1F2D3A"/>
                </a:solidFill>
              </a:rPr>
              <a:t> or an embedded device in the attacker's hands.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White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sees </a:t>
            </a:r>
            <a:r>
              <a:rPr sz="2000" b="1">
                <a:solidFill>
                  <a:srgbClr val="1F2D3A"/>
                </a:solidFill>
              </a:rPr>
              <a:t>everything</a:t>
            </a:r>
            <a:r>
              <a:rPr sz="2000" b="0">
                <a:solidFill>
                  <a:srgbClr val="1F2D3A"/>
                </a:solidFill>
              </a:rPr>
              <a:t>: code, memory, every intermediate value.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And they can </a:t>
            </a:r>
            <a:r>
              <a:rPr sz="2000" b="1">
                <a:solidFill>
                  <a:srgbClr val="1F2D3A"/>
                </a:solidFill>
              </a:rPr>
              <a:t>modify it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Typical setting: </a:t>
            </a:r>
            <a:r>
              <a:rPr sz="2000" b="1">
                <a:solidFill>
                  <a:srgbClr val="1F2D3A"/>
                </a:solidFill>
              </a:rPr>
              <a:t>software</a:t>
            </a:r>
            <a:r>
              <a:rPr sz="2000" b="0">
                <a:solidFill>
                  <a:srgbClr val="1F2D3A"/>
                </a:solidFill>
              </a:rPr>
              <a:t> running on the attacker's own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real situation for a mobile/desktop application.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Three Models Side by Side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4546472"/>
                <a:gridCol w="436461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Sees /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Input/output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Remote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side channel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Smart card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Everything + modifies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Software, own device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Crypto was designed for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; we're in </a:t>
            </a:r>
            <a:r>
              <a:rPr sz="1800" b="1">
                <a:solidFill>
                  <a:srgbClr val="1F2D3A"/>
                </a:solidFill>
              </a:rPr>
              <a:t>white box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Three Attacker Models — What Do They See?</a:t>
            </a:r>
          </a:p>
        </p:txBody>
      </p:sp>
      <p:pic>
        <p:nvPicPr>
          <p:cNvPr id="7" name="Picture 6" descr="h11-01-saldirgan-model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397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Here's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 is mathematically strong. But: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white box, the </a:t>
            </a:r>
            <a:r>
              <a:rPr sz="2000" b="1">
                <a:solidFill>
                  <a:srgbClr val="1F2D3A"/>
                </a:solidFill>
              </a:rPr>
              <a:t>key sits in memory</a:t>
            </a:r>
            <a:r>
              <a:rPr sz="2000" b="0">
                <a:solidFill>
                  <a:srgbClr val="1F2D3A"/>
                </a:solidFill>
              </a:rPr>
              <a:t> somewhere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can read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what good is AES's strength?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strong lock is useless if you hang the key next to the door.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Idea of Whitebox Cryptography (WBC)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WBC:</a:t>
            </a:r>
            <a:r>
              <a:rPr sz="2000" b="0">
                <a:solidFill>
                  <a:srgbClr val="1F2D3A"/>
                </a:solidFill>
              </a:rPr>
              <a:t> performing encryption so that the key </a:t>
            </a:r>
            <a:r>
              <a:rPr sz="2000" b="1">
                <a:solidFill>
                  <a:srgbClr val="1F2D3A"/>
                </a:solidFill>
              </a:rPr>
              <a:t>is never explicitly in memory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is embedded inside precomputed </a:t>
            </a:r>
            <a:r>
              <a:rPr sz="2000" b="1">
                <a:solidFill>
                  <a:srgbClr val="1F2D3A"/>
                </a:solidFill>
              </a:rPr>
              <a:t>lookup tables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is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byte sequence in memory you could point to and say "that's the key."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Is Not a Definition, It's an Attacker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 was defined in 2002 by Chow and colleagues.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It's really an </a:t>
            </a:r>
            <a:r>
              <a:rPr sz="2000" b="1">
                <a:solidFill>
                  <a:srgbClr val="1F2D3A"/>
                </a:solidFill>
              </a:rPr>
              <a:t>attacker model</a:t>
            </a:r>
            <a:r>
              <a:rPr sz="2000" b="0">
                <a:solidFill>
                  <a:srgbClr val="1F2D3A"/>
                </a:solidFill>
              </a:rPr>
              <a:t>: "how do you encrypt if the attacker can see and modify everything?"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Can the WBC Attacker Do?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Observes: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Accesses the instructions being executed at that moment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Watches the algorithm's 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Sees the memory</a:t>
            </a:r>
            <a:r>
              <a:rPr sz="2000" b="0">
                <a:solidFill>
                  <a:srgbClr val="1F2D3A"/>
                </a:solidFill>
              </a:rPr>
              <a:t> being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 they see every intermediate value the program sees.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Can the WBC Attacker Do?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Modifies: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Tampers with the program's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Runs </a:t>
            </a:r>
            <a:r>
              <a:rPr sz="2000" b="1">
                <a:solidFill>
                  <a:srgbClr val="1F2D3A"/>
                </a:solidFill>
              </a:rPr>
              <a:t>only a single round</a:t>
            </a:r>
            <a:r>
              <a:rPr sz="2000" b="0">
                <a:solidFill>
                  <a:srgbClr val="1F2D3A"/>
                </a:solidFill>
              </a:rPr>
              <a:t> of the algorithm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Alters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conditions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Alters loop counters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Injects a fault</a:t>
            </a:r>
            <a:r>
              <a:rPr sz="2000" b="0">
                <a:solidFill>
                  <a:srgbClr val="1F2D3A"/>
                </a:solidFill>
              </a:rPr>
              <a:t> (corrupts a value)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Source's Compliance Clause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technical guide opens this section with the following requirement: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"Cryptographic keys shall be </a:t>
            </a:r>
            <a:r>
              <a:rPr sz="2000" b="1">
                <a:solidFill>
                  <a:srgbClr val="1F2D3A"/>
                </a:solidFill>
              </a:rPr>
              <a:t>secured and/or hidden</a:t>
            </a:r>
            <a:r>
              <a:rPr sz="2000" b="0">
                <a:solidFill>
                  <a:srgbClr val="1F2D3A"/>
                </a:solidFill>
              </a:rPr>
              <a:t> to protect confidentiality and integrity."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But It Immediately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guide says that WBC is </a:t>
            </a:r>
            <a:r>
              <a:rPr sz="2000" b="1">
                <a:solidFill>
                  <a:srgbClr val="1F2D3A"/>
                </a:solidFill>
              </a:rPr>
              <a:t>not the only</a:t>
            </a:r>
            <a:r>
              <a:rPr sz="2000" b="0">
                <a:solidFill>
                  <a:srgbClr val="1F2D3A"/>
                </a:solidFill>
              </a:rPr>
              <a:t> thing protecting against these attacker capabilities: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protects the application and its assets is </a:t>
            </a:r>
            <a:r>
              <a:rPr sz="2000" b="1">
                <a:solidFill>
                  <a:srgbClr val="1F2D3A"/>
                </a:solidFill>
              </a:rPr>
              <a:t>code hardening (Week 9) and RASP (Week 6)</a:t>
            </a:r>
            <a:r>
              <a:rPr sz="2000" b="0">
                <a:solidFill>
                  <a:srgbClr val="1F2D3A"/>
                </a:solidFill>
              </a:rPr>
              <a:t>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501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 never presented </a:t>
            </a:r>
            <a:r>
              <a:rPr sz="2000" b="1">
                <a:solidFill>
                  <a:srgbClr val="1F2D3A"/>
                </a:solidFill>
              </a:rPr>
              <a:t>alone</a:t>
            </a:r>
            <a:r>
              <a:rPr sz="2000" b="0">
                <a:solidFill>
                  <a:srgbClr val="1F2D3A"/>
                </a:solidFill>
              </a:rPr>
              <a:t>, from the very first sentence.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The Problem and Naive Solutions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the Problem So Hard?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core tension: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</a:t>
            </a:r>
            <a:r>
              <a:rPr sz="2000" b="1">
                <a:solidFill>
                  <a:srgbClr val="1F2D3A"/>
                </a:solidFill>
              </a:rPr>
              <a:t>must access</a:t>
            </a:r>
            <a:r>
              <a:rPr sz="2000" b="0">
                <a:solidFill>
                  <a:srgbClr val="1F2D3A"/>
                </a:solidFill>
              </a:rPr>
              <a:t> the key to encrypt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sees everything the program sees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at some point the key is </a:t>
            </a:r>
            <a:r>
              <a:rPr sz="2000" b="1">
                <a:solidFill>
                  <a:srgbClr val="1F2D3A"/>
                </a:solidFill>
              </a:rPr>
              <a:t>somewhere the attacker can also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tries to get past this by "baking the key into tables."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Isn't Secrecy, It's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doesn't </a:t>
            </a:r>
            <a:r>
              <a:rPr sz="2000" b="1">
                <a:solidFill>
                  <a:srgbClr val="1F2D3A"/>
                </a:solidFill>
              </a:rPr>
              <a:t>move</a:t>
            </a:r>
            <a:r>
              <a:rPr sz="2000" b="0">
                <a:solidFill>
                  <a:srgbClr val="1F2D3A"/>
                </a:solidFill>
              </a:rPr>
              <a:t> secrecy away from the crypto.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</a:t>
            </a:r>
            <a:r>
              <a:rPr sz="2000" b="1">
                <a:solidFill>
                  <a:srgbClr val="1F2D3A"/>
                </a:solidFill>
              </a:rPr>
              <a:t>spreads</a:t>
            </a:r>
            <a:r>
              <a:rPr sz="2000" b="0">
                <a:solidFill>
                  <a:srgbClr val="1F2D3A"/>
                </a:solidFill>
              </a:rPr>
              <a:t> the key across tables with a mathematical transformation.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goal is the same as in Week 9: make extracting the key back out </a:t>
            </a:r>
            <a:r>
              <a:rPr sz="2000" b="1">
                <a:solidFill>
                  <a:srgbClr val="1F2D3A"/>
                </a:solidFill>
              </a:rPr>
              <a:t>much more 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Why Do Naive Solutions Collapse?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the Key Leaks From a Table — Diagram</a:t>
            </a:r>
          </a:p>
        </p:txBody>
      </p:sp>
      <p:pic>
        <p:nvPicPr>
          <p:cNvPr id="7" name="Picture 6" descr="h11-02-anahtar-sizm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9149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We Study What Collapses?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see why WBC is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failed "easy" solution turns into a secure-programming </a:t>
            </a:r>
            <a:r>
              <a:rPr sz="2000" b="1">
                <a:solidFill>
                  <a:srgbClr val="1F2D3A"/>
                </a:solidFill>
              </a:rPr>
              <a:t>rule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1 · Embed the Key in an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k[16] = { 0x2B, 0x7E, ... };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easiest way is the weakest way.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1 · How Is It Broken?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/ byte scan: the 16-byte block is visible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Entropy scan:</a:t>
            </a:r>
            <a:r>
              <a:rPr sz="2000" b="0">
                <a:solidFill>
                  <a:srgbClr val="1F2D3A"/>
                </a:solidFill>
              </a:rPr>
              <a:t> a high-entropy block says "the key is here" (the Shamir–van Someren observation)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Debugger: confirms this block is used in the encryption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Time:</a:t>
            </a:r>
            <a:r>
              <a:rPr sz="2000" b="0">
                <a:solidFill>
                  <a:srgbClr val="1F2D3A"/>
                </a:solidFill>
              </a:rPr>
              <a:t> minutes.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1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plainly embedded key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key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exactly Week 9's rule: "string hiding doesn't store the key."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2 · "Scramble" With XOR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k_gizli[16] = ...;   /* k ^ maske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çalışırken: k = k_gizli ^ maske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"I'll XOR the key with a mask and store that."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2 · Why Does It Collapse?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mask is also</a:t>
            </a:r>
            <a:r>
              <a:rPr sz="2000" b="0">
                <a:solidFill>
                  <a:srgbClr val="1F2D3A"/>
                </a:solidFill>
              </a:rPr>
              <a:t> in the binary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program can 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, the attacker can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Just one extra step; not a real barrier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Whatever the program can do, the white-box attacker can do too.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Threat 3 · Code Lifting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 WBC baked the key into tables.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copies the encrypting code fragment (tables + interpreter) </a:t>
            </a:r>
            <a:r>
              <a:rPr sz="2000" b="1">
                <a:solidFill>
                  <a:srgbClr val="1F2D3A"/>
                </a:solidFill>
              </a:rPr>
              <a:t>as is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without ever extracting</a:t>
            </a:r>
            <a:r>
              <a:rPr sz="2000" b="0">
                <a:solidFill>
                  <a:srgbClr val="1F2D3A"/>
                </a:solidFill>
              </a:rPr>
              <a:t>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use it in their own program: they </a:t>
            </a:r>
            <a:r>
              <a:rPr sz="2000" b="1">
                <a:solidFill>
                  <a:srgbClr val="1F2D3A"/>
                </a:solidFill>
              </a:rPr>
              <a:t>steal the function</a:t>
            </a:r>
            <a:r>
              <a:rPr sz="2000" b="0">
                <a:solidFill>
                  <a:srgbClr val="1F2D3A"/>
                </a:solidFill>
              </a:rPr>
              <a:t> without knowing the key.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Lifting — Diagram</a:t>
            </a:r>
          </a:p>
        </p:txBody>
      </p:sp>
      <p:pic>
        <p:nvPicPr>
          <p:cNvPr id="7" name="Picture 6" descr="h11-06-code-lif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9910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Lifting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 saying "I hid the key" isn't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Countering code lifting needs </a:t>
            </a:r>
            <a:r>
              <a:rPr sz="2000" b="1">
                <a:solidFill>
                  <a:srgbClr val="1F2D3A"/>
                </a:solidFill>
              </a:rPr>
              <a:t>device/version binding</a:t>
            </a:r>
            <a:r>
              <a:rPr sz="2000" b="0">
                <a:solidFill>
                  <a:srgbClr val="1F2D3A"/>
                </a:solidFill>
              </a:rPr>
              <a:t> (Section 3, shortly): the tables should only be meaningful on one specific device/version.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Naive Solutions: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0044"/>
                <a:gridCol w="635149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Naive solution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Broken by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Key embedded in an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entropy + gdb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XOR/whitening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mask is inside too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(even WBC)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code lifting → needs device 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1–2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difference between black, grey, white box?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AES is strong, so what's the problem in white box?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isn't embedding the key in an array protection?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1–2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145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Black:</a:t>
            </a:r>
            <a:r>
              <a:rPr sz="1800" b="0">
                <a:solidFill>
                  <a:srgbClr val="1F2D3A"/>
                </a:solidFill>
              </a:rPr>
              <a:t> input/output only · </a:t>
            </a:r>
            <a:r>
              <a:rPr sz="1800" b="1">
                <a:solidFill>
                  <a:srgbClr val="1F2D3A"/>
                </a:solidFill>
              </a:rPr>
              <a:t>Grey:</a:t>
            </a:r>
            <a:r>
              <a:rPr sz="1800" b="0">
                <a:solidFill>
                  <a:srgbClr val="1F2D3A"/>
                </a:solidFill>
              </a:rPr>
              <a:t> + side channels (time/power) · </a:t>
            </a:r>
            <a:r>
              <a:rPr sz="1800" b="1">
                <a:solidFill>
                  <a:srgbClr val="1F2D3A"/>
                </a:solidFill>
              </a:rPr>
              <a:t>White:</a:t>
            </a:r>
            <a:r>
              <a:rPr sz="1800" b="0">
                <a:solidFill>
                  <a:srgbClr val="1F2D3A"/>
                </a:solidFill>
              </a:rPr>
              <a:t> everything + modifies.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The key sits </a:t>
            </a:r>
            <a:r>
              <a:rPr sz="1800" b="1">
                <a:solidFill>
                  <a:srgbClr val="1F2D3A"/>
                </a:solidFill>
              </a:rPr>
              <a:t>in memory</a:t>
            </a:r>
            <a:r>
              <a:rPr sz="1800" b="0">
                <a:solidFill>
                  <a:srgbClr val="1F2D3A"/>
                </a:solidFill>
              </a:rPr>
              <a:t> at some point; the white-box attacker sees it. AES's strength rests on the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 assumption.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entropy</a:t>
            </a:r>
            <a:r>
              <a:rPr sz="1800" b="0">
                <a:solidFill>
                  <a:srgbClr val="1F2D3A"/>
                </a:solidFill>
              </a:rPr>
              <a:t> scan + gdb finds it in minutes; the program has to use it.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Table-Based WBC (Step by Step)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Will We Learn?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Chow and colleagues' 2002 AES design is the classic of table-based WBC.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</a:t>
            </a:r>
            <a:r>
              <a:rPr sz="2000" b="1">
                <a:solidFill>
                  <a:srgbClr val="1F2D3A"/>
                </a:solidFill>
              </a:rPr>
              <a:t>idea</a:t>
            </a:r>
            <a:r>
              <a:rPr sz="2000" b="0">
                <a:solidFill>
                  <a:srgbClr val="1F2D3A"/>
                </a:solidFill>
              </a:rPr>
              <a:t> (how it works)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 (table size, speed)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</a:t>
            </a:r>
            <a:r>
              <a:rPr sz="2000" b="1">
                <a:solidFill>
                  <a:srgbClr val="1F2D3A"/>
                </a:solidFill>
              </a:rPr>
              <a:t>limit</a:t>
            </a:r>
            <a:r>
              <a:rPr sz="2000" b="0">
                <a:solidFill>
                  <a:srgbClr val="1F2D3A"/>
                </a:solidFill>
              </a:rPr>
              <a:t> (why it isn't enough)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 math on the exam; </a:t>
            </a:r>
            <a:r>
              <a:rPr sz="2000" b="1">
                <a:solidFill>
                  <a:srgbClr val="1F2D3A"/>
                </a:solidFill>
              </a:rPr>
              <a:t>the idea and the limit</a:t>
            </a:r>
            <a:r>
              <a:rPr sz="2000" b="0">
                <a:solidFill>
                  <a:srgbClr val="1F2D3A"/>
                </a:solidFill>
              </a:rPr>
              <a:t> are.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Reminder: Two Steps of an AES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the state byte with the round key: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Pass the result through the </a:t>
            </a:r>
            <a:r>
              <a:rPr sz="2000" b="1">
                <a:solidFill>
                  <a:srgbClr val="1F2D3A"/>
                </a:solidFill>
              </a:rPr>
              <a:t>S-box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S-box[x ^ 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Can these two steps be combined for a fixed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? Yes.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"Bake" the Key Into a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Normal:  çıktı = S-box[ x ^ k 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WBC:     T[x]  = S-box[ x ^ k ]   (256 girişli tablo)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There's no longer a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variable in the code.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is baked </a:t>
            </a:r>
            <a:r>
              <a:rPr sz="2000" b="1">
                <a:solidFill>
                  <a:srgbClr val="1F2D3A"/>
                </a:solidFill>
              </a:rPr>
              <a:t>into</a:t>
            </a:r>
            <a:r>
              <a:rPr sz="2000" b="0">
                <a:solidFill>
                  <a:srgbClr val="1F2D3A"/>
                </a:solidFill>
              </a:rPr>
              <a:t> the table.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What Did We Gain?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There's no byte sequence named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in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There's only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table (256 entries)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key seems to have disappeared. But...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Why Is This Insecure on Its 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is the S-box </a:t>
            </a:r>
            <a:r>
              <a:rPr sz="2000" b="1">
                <a:solidFill>
                  <a:srgbClr val="1F2D3A"/>
                </a:solidFill>
              </a:rPr>
              <a:t>shifted</a:t>
            </a:r>
            <a:r>
              <a:rPr sz="2000" b="0">
                <a:solidFill>
                  <a:srgbClr val="1F2D3A"/>
                </a:solidFill>
              </a:rPr>
              <a:t> by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compares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with the known S-box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</a:t>
            </a:r>
            <a:r>
              <a:rPr sz="2000" b="1">
                <a:solidFill>
                  <a:srgbClr val="1F2D3A"/>
                </a:solidFill>
              </a:rPr>
              <a:t>recover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from the shift amount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why the tables need to be </a:t>
            </a:r>
            <a:r>
              <a:rPr sz="2000" b="1">
                <a:solidFill>
                  <a:srgbClr val="1F2D3A"/>
                </a:solidFill>
              </a:rPr>
              <a:t>encoded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Toy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Real AES works with 256-entry tables; that won't fit on a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We'll see the idea with a tiny </a:t>
            </a:r>
            <a:r>
              <a:rPr sz="2000" b="1">
                <a:solidFill>
                  <a:srgbClr val="1F2D3A"/>
                </a:solidFill>
              </a:rPr>
              <a:t>4-value</a:t>
            </a:r>
            <a:r>
              <a:rPr sz="2000" b="0">
                <a:solidFill>
                  <a:srgbClr val="1F2D3A"/>
                </a:solidFill>
              </a:rPr>
              <a:t> example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Goal: see by hand what "baking the key into a table" means.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Defining the Tiny S-box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Say we have 2-bit values (0,1,2,3) and this fixed S-box: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x:        0  1  2  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S-box[x]: 3  2  0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table is </a:t>
            </a:r>
            <a:r>
              <a:rPr sz="2000" b="1">
                <a:solidFill>
                  <a:srgbClr val="1F2D3A"/>
                </a:solidFill>
              </a:rPr>
              <a:t>public</a:t>
            </a:r>
            <a:r>
              <a:rPr sz="2000" b="0">
                <a:solidFill>
                  <a:srgbClr val="1F2D3A"/>
                </a:solidFill>
              </a:rPr>
              <a:t> (part of the algorithm, not a secret).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Key and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1</a:t>
            </a:r>
            <a:r>
              <a:rPr sz="2000" b="0">
                <a:solidFill>
                  <a:srgbClr val="1F2D3A"/>
                </a:solidFill>
              </a:rPr>
              <a:t> (secret).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Operation (a mini version of one AES round):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output = S-box[x ^ k]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 = XOR.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1</a:t>
            </a:r>
            <a:r>
              <a:rPr sz="2000" b="0">
                <a:solidFill>
                  <a:srgbClr val="1F2D3A"/>
                </a:solidFill>
              </a:rPr>
              <a:t>: 0↔1, 2↔3 (flips the last bit).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by Step: Normal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x=0 → x^1=1 → S-box[1]=2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x=1 → x^1=0 → S-box[0]=3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x=2 → x^1=3 → S-box[3]=1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x=3 → x^1=2 → S-box[2]=0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Here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is used </a:t>
            </a:r>
            <a:r>
              <a:rPr sz="2000" b="1">
                <a:solidFill>
                  <a:srgbClr val="1F2D3A"/>
                </a:solidFill>
              </a:rPr>
              <a:t>explicitly</a:t>
            </a:r>
            <a:r>
              <a:rPr sz="2000" b="0">
                <a:solidFill>
                  <a:srgbClr val="1F2D3A"/>
                </a:solidFill>
              </a:rPr>
              <a:t> in the code. The attacker sees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"Bake" the Key Into a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precompute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1]</a:t>
            </a:r>
            <a:r>
              <a:rPr sz="2000" b="0">
                <a:solidFill>
                  <a:srgbClr val="1F2D3A"/>
                </a:solidFill>
              </a:rPr>
              <a:t> as a table: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x:    0  1  2  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T[x]: 2  3  1 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There's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in the code anymore;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. The key seems to have disappeared.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But the Key Leaks! (Without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 compares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with the known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S-box: 3 2 0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T:     2 3 1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Knowing that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k]</a:t>
            </a:r>
            <a:r>
              <a:rPr sz="2000" b="0">
                <a:solidFill>
                  <a:srgbClr val="1F2D3A"/>
                </a:solidFill>
              </a:rPr>
              <a:t>, they try which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fits: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87192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Result:</a:t>
            </a:r>
            <a:r>
              <a:rPr sz="2000" b="0">
                <a:solidFill>
                  <a:srgbClr val="1F2D3A"/>
                </a:solidFill>
              </a:rPr>
              <a:t> an unencoded table gives the key away. This is exactly why internal/external encoding exists.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Grow the Tables (T-box)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a single-byte mapping, combine the S-box with AES's </a:t>
            </a:r>
            <a:r>
              <a:rPr sz="2000" b="1">
                <a:solidFill>
                  <a:srgbClr val="1F2D3A"/>
                </a:solidFill>
              </a:rPr>
              <a:t>mixing</a:t>
            </a:r>
            <a:r>
              <a:rPr sz="2000" b="0">
                <a:solidFill>
                  <a:srgbClr val="1F2D3A"/>
                </a:solidFill>
              </a:rPr>
              <a:t> step (MixColumns)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larger tables (</a:t>
            </a:r>
            <a:r>
              <a:rPr sz="2000" b="1">
                <a:solidFill>
                  <a:srgbClr val="1F2D3A"/>
                </a:solidFill>
              </a:rPr>
              <a:t>T-box</a:t>
            </a:r>
            <a:r>
              <a:rPr sz="2000" b="0">
                <a:solidFill>
                  <a:srgbClr val="1F2D3A"/>
                </a:solidFill>
              </a:rPr>
              <a:t>) that take 8 bits in and give </a:t>
            </a:r>
            <a:r>
              <a:rPr sz="2000" b="1">
                <a:solidFill>
                  <a:srgbClr val="1F2D3A"/>
                </a:solidFill>
              </a:rPr>
              <a:t>32 bits</a:t>
            </a:r>
            <a:r>
              <a:rPr sz="2000" b="0">
                <a:solidFill>
                  <a:srgbClr val="1F2D3A"/>
                </a:solidFill>
              </a:rPr>
              <a:t> 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XORs between bytes also become small </a:t>
            </a:r>
            <a:r>
              <a:rPr sz="2000" b="1">
                <a:solidFill>
                  <a:srgbClr val="1F2D3A"/>
                </a:solidFill>
              </a:rPr>
              <a:t>XOR tables</a:t>
            </a:r>
            <a:r>
              <a:rPr sz="2000" b="0">
                <a:solidFill>
                  <a:srgbClr val="1F2D3A"/>
                </a:solidFill>
              </a:rPr>
              <a:t> (4 bits)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whole round turns into a </a:t>
            </a:r>
            <a:r>
              <a:rPr sz="2000" b="1">
                <a:solidFill>
                  <a:srgbClr val="1F2D3A"/>
                </a:solidFill>
              </a:rPr>
              <a:t>network of lookup tables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explicit arithmetic key operation is visible anywhere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the tables can still be examined on their own → encoding is required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Internal Encodings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 a secret bijection to each table's </a:t>
            </a:r>
            <a:r>
              <a:rPr sz="2000" b="1">
                <a:solidFill>
                  <a:srgbClr val="1F2D3A"/>
                </a:solidFill>
              </a:rPr>
              <a:t>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 its inverse at the </a:t>
            </a:r>
            <a:r>
              <a:rPr sz="2000" b="1">
                <a:solidFill>
                  <a:srgbClr val="1F2D3A"/>
                </a:solidFill>
              </a:rPr>
              <a:t>input</a:t>
            </a:r>
            <a:r>
              <a:rPr sz="2000" b="0">
                <a:solidFill>
                  <a:srgbClr val="1F2D3A"/>
                </a:solidFill>
              </a:rPr>
              <a:t> of the next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Consecutive encodings </a:t>
            </a:r>
            <a:r>
              <a:rPr sz="2000" b="1">
                <a:solidFill>
                  <a:srgbClr val="1F2D3A"/>
                </a:solidFill>
              </a:rPr>
              <a:t>cancel out</a:t>
            </a:r>
            <a:r>
              <a:rPr sz="2000" b="0">
                <a:solidFill>
                  <a:srgbClr val="1F2D3A"/>
                </a:solidFill>
              </a:rPr>
              <a:t> → the result is still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But </a:t>
            </a:r>
            <a:r>
              <a:rPr sz="2000" b="1">
                <a:solidFill>
                  <a:srgbClr val="1F2D3A"/>
                </a:solidFill>
              </a:rPr>
              <a:t>intermediate values look scrambled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Internal Encoding — Diagram</a:t>
            </a:r>
          </a:p>
        </p:txBody>
      </p:sp>
      <p:pic>
        <p:nvPicPr>
          <p:cNvPr id="7" name="Picture 6" descr="h11-03-ic-kod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2230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What Does It Prevent?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aims to stop an attacker examining a table </a:t>
            </a:r>
            <a:r>
              <a:rPr sz="2000" b="1">
                <a:solidFill>
                  <a:srgbClr val="1F2D3A"/>
                </a:solidFill>
              </a:rPr>
              <a:t>on its own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Because that table's input/output has been scrambled by a secret encoding.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Idea of Encoding (Tiny)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Apply a secret mapping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to the output: </a:t>
            </a:r>
            <a:r>
              <a:rPr sz="2000" b="0">
                <a:solidFill>
                  <a:srgbClr val="A1123F"/>
                </a:solidFill>
                <a:latin typeface="Consolas"/>
              </a:rPr>
              <a:t>T'[x] = E(T[x])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E: 0→1, 1→3, 2→0, 3→2   (gizli bijeksiyon)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T':  E(2) E(3) E(1) E(0) = 0 2 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Now </a:t>
            </a:r>
            <a:r>
              <a:rPr sz="2000" b="0">
                <a:solidFill>
                  <a:srgbClr val="A1123F"/>
                </a:solidFill>
                <a:latin typeface="Consolas"/>
              </a:rPr>
              <a:t>T'</a:t>
            </a:r>
            <a:r>
              <a:rPr sz="2000" b="0">
                <a:solidFill>
                  <a:srgbClr val="1F2D3A"/>
                </a:solidFill>
              </a:rPr>
              <a:t> doesn't resemble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; a simple comparison doesn't give up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Price of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next step must apply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's </a:t>
            </a:r>
            <a:r>
              <a:rPr sz="2000" b="1">
                <a:solidFill>
                  <a:srgbClr val="1F2D3A"/>
                </a:solidFill>
              </a:rPr>
              <a:t>inverse</a:t>
            </a:r>
            <a:r>
              <a:rPr sz="2000" b="0">
                <a:solidFill>
                  <a:srgbClr val="1F2D3A"/>
                </a:solidFill>
              </a:rPr>
              <a:t> for the result to come out right.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real AES this is done by </a:t>
            </a:r>
            <a:r>
              <a:rPr sz="2000" b="1">
                <a:solidFill>
                  <a:srgbClr val="1F2D3A"/>
                </a:solidFill>
              </a:rPr>
              <a:t>chaining</a:t>
            </a:r>
            <a:r>
              <a:rPr sz="2000" b="0">
                <a:solidFill>
                  <a:srgbClr val="1F2D3A"/>
                </a:solidFill>
              </a:rPr>
              <a:t> tables (internal encodings).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encoding means an extra table and more size →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Even the tiny example shows the idea: secrecy isn't cheap.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Mixing Bijections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top of the internal encodings, linear </a:t>
            </a:r>
            <a:r>
              <a:rPr sz="2000" b="1">
                <a:solidFill>
                  <a:srgbClr val="1F2D3A"/>
                </a:solidFill>
              </a:rPr>
              <a:t>mixing matrices</a:t>
            </a:r>
            <a:r>
              <a:rPr sz="2000" b="0">
                <a:solidFill>
                  <a:srgbClr val="1F2D3A"/>
                </a:solidFill>
              </a:rPr>
              <a:t> over GF(2) (8×8, 32×32)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These </a:t>
            </a:r>
            <a:r>
              <a:rPr sz="2000" b="1">
                <a:solidFill>
                  <a:srgbClr val="1F2D3A"/>
                </a:solidFill>
              </a:rPr>
              <a:t>spread</a:t>
            </a:r>
            <a:r>
              <a:rPr sz="2000" b="0">
                <a:solidFill>
                  <a:srgbClr val="1F2D3A"/>
                </a:solidFill>
              </a:rPr>
              <a:t> information across tables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Information leaking from a single table alone doesn't mean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(GF(2) = the math of working with bits and XOR arithmetic; no detail needed.)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Table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Chow's design these encoded/mixed tables have </a:t>
            </a:r>
            <a:r>
              <a:rPr sz="2000" b="1">
                <a:solidFill>
                  <a:srgbClr val="1F2D3A"/>
                </a:solidFill>
              </a:rPr>
              <a:t>types</a:t>
            </a:r>
            <a:r>
              <a:rPr sz="2000" b="0">
                <a:solidFill>
                  <a:srgbClr val="1F2D3A"/>
                </a:solidFill>
              </a:rPr>
              <a:t> (types I–IV in the literature).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type plays a different role.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this course, it's enough to know: "the tables aren't all one type, they're varied."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External Encodings F and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the outermost layer, the whole cipher is wrapped with two secret bijections: </a:t>
            </a:r>
            <a:r>
              <a:rPr sz="2000" b="1">
                <a:solidFill>
                  <a:srgbClr val="1F2D3A"/>
                </a:solidFill>
              </a:rPr>
              <a:t>F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 guide: "the whitebox AES operation is encapsulated with two randomly chosen non-singular matrices called F and G"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the network is no longer plain AES:</a:t>
            </a:r>
          </a:p>
        </p:txBody>
      </p:sp>
      <p:pic>
        <p:nvPicPr>
          <p:cNvPr id="8" name="Picture 7" descr="h11-04-dis-kod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5208"/>
            <a:ext cx="10911535" cy="215775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Why Is External Encoding Strong?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the attacker sees at input/output is </a:t>
            </a:r>
            <a:r>
              <a:rPr sz="2000" b="1">
                <a:solidFill>
                  <a:srgbClr val="1F2D3A"/>
                </a:solidFill>
              </a:rPr>
              <a:t>not standard AES's input/output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makes many attacks (statistical/algebraic) that look only at the tables much harder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But This Is Also the Biggest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 ∘ AES ∘ F⁻¹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is not standard AES.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other side (server/other endpoint) gets a </a:t>
            </a:r>
            <a:r>
              <a:rPr sz="2000" b="1">
                <a:solidFill>
                  <a:srgbClr val="1F2D3A"/>
                </a:solidFill>
              </a:rPr>
              <a:t>meaningless</a:t>
            </a:r>
            <a:r>
              <a:rPr sz="2000" b="0">
                <a:solidFill>
                  <a:srgbClr val="1F2D3A"/>
                </a:solidFill>
              </a:rPr>
              <a:t> result unless it knows and undoes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F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externally-encoded WBC is only usable in a protocol where </a:t>
            </a:r>
            <a:r>
              <a:rPr sz="2000" b="1">
                <a:solidFill>
                  <a:srgbClr val="1F2D3A"/>
                </a:solidFill>
              </a:rPr>
              <a:t>you control both ends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may not be usable in a protocol like EMV that </a:t>
            </a:r>
            <a:r>
              <a:rPr sz="2000" b="1">
                <a:solidFill>
                  <a:srgbClr val="1F2D3A"/>
                </a:solidFill>
              </a:rPr>
              <a:t>expects standard AES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Five Steps ·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Bake the key into a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Grow the tables (T-box + XOR tables)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Internal encodings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Mixing bijections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External encodings (F,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Result: no explicit key; everything lives in encoded tables.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Lesson From the Tiny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Baking the key into a table doesn't make it </a:t>
            </a:r>
            <a:r>
              <a:rPr sz="2000" b="1">
                <a:solidFill>
                  <a:srgbClr val="1F2D3A"/>
                </a:solidFill>
              </a:rPr>
              <a:t>invisible</a:t>
            </a:r>
            <a:r>
              <a:rPr sz="2000" b="0">
                <a:solidFill>
                  <a:srgbClr val="1F2D3A"/>
                </a:solidFill>
              </a:rPr>
              <a:t> (encoding is required)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Encoding solves the problem but adds </a:t>
            </a:r>
            <a:r>
              <a:rPr sz="2000" b="1">
                <a:solidFill>
                  <a:srgbClr val="1F2D3A"/>
                </a:solidFill>
              </a:rPr>
              <a:t>size/complexity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In reality the tables run to hundreds of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</a:t>
            </a:r>
            <a:r>
              <a:rPr sz="2000" b="1">
                <a:solidFill>
                  <a:srgbClr val="1F2D3A"/>
                </a:solidFill>
              </a:rPr>
              <a:t>intuition</a:t>
            </a:r>
            <a:r>
              <a:rPr sz="2000" b="0">
                <a:solidFill>
                  <a:srgbClr val="1F2D3A"/>
                </a:solidFill>
              </a:rPr>
              <a:t> behind the five steps in Section 2.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Cost of WBC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Isn't Free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price of baking the key into tables: </a:t>
            </a:r>
            <a:r>
              <a:rPr sz="2000" b="1">
                <a:solidFill>
                  <a:srgbClr val="1F2D3A"/>
                </a:solidFill>
              </a:rPr>
              <a:t>huge tables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27480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672877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Approximate (order of magnitude)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Table 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Hundreds of KB (~770 KB)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Comparison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Standard AES key: 16–32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Isn't Free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303"/>
                <a:gridCol w="6308231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Approximate (order of magnitude)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Table lookups per round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Thousands (~3,000)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Speed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~50×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slower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than standard AES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Sense of Scale: a Table-Size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Example: 288 tables × 1 KB ≈ </a:t>
            </a:r>
            <a:r>
              <a:rPr sz="2000" b="1">
                <a:solidFill>
                  <a:srgbClr val="1F2D3A"/>
                </a:solidFill>
              </a:rPr>
              <a:t>294,912 bytes</a:t>
            </a:r>
            <a:r>
              <a:rPr sz="2000" b="0">
                <a:solidFill>
                  <a:srgbClr val="1F2D3A"/>
                </a:solidFill>
              </a:rPr>
              <a:t> (~288 KB).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point isn't the exact number, it's the </a:t>
            </a:r>
            <a:r>
              <a:rPr sz="2000" b="1">
                <a:solidFill>
                  <a:srgbClr val="1F2D3A"/>
                </a:solidFill>
              </a:rPr>
              <a:t>order of magnitude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WBC is applied only to </a:t>
            </a:r>
            <a:r>
              <a:rPr sz="2000" b="1">
                <a:solidFill>
                  <a:srgbClr val="1F2D3A"/>
                </a:solidFill>
              </a:rPr>
              <a:t>selected, critical</a:t>
            </a:r>
            <a:r>
              <a:rPr sz="2000" b="0">
                <a:solidFill>
                  <a:srgbClr val="1F2D3A"/>
                </a:solidFill>
              </a:rPr>
              <a:t> operations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logic as Week 9's virtualization (K-10)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k]</a:t>
            </a:r>
            <a:r>
              <a:rPr sz="2000" b="0">
                <a:solidFill>
                  <a:srgbClr val="1F2D3A"/>
                </a:solidFill>
              </a:rPr>
              <a:t> insecure on its own?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difference between internal and external encoding?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What's the biggest limit of external encoding (F, G)?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Why is WBC applied only to selected operations?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545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A1123F"/>
                </a:solidFill>
                <a:latin typeface="Consolas"/>
              </a:rPr>
              <a:t>T</a:t>
            </a:r>
            <a:r>
              <a:rPr sz="1800" b="0">
                <a:solidFill>
                  <a:srgbClr val="1F2D3A"/>
                </a:solidFill>
              </a:rPr>
              <a:t> is the known S-box shifted by </a:t>
            </a:r>
            <a:r>
              <a:rPr sz="1800" b="0">
                <a:solidFill>
                  <a:srgbClr val="A1123F"/>
                </a:solidFill>
                <a:latin typeface="Consolas"/>
              </a:rPr>
              <a:t>x^k</a:t>
            </a:r>
            <a:r>
              <a:rPr sz="1800" b="0">
                <a:solidFill>
                  <a:srgbClr val="1F2D3A"/>
                </a:solidFill>
              </a:rPr>
              <a:t>; comparing the two tables </a:t>
            </a:r>
            <a:r>
              <a:rPr sz="1800" b="1">
                <a:solidFill>
                  <a:srgbClr val="1F2D3A"/>
                </a:solidFill>
              </a:rPr>
              <a:t>recovers k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Internal:</a:t>
            </a:r>
            <a:r>
              <a:rPr sz="1800" b="0">
                <a:solidFill>
                  <a:srgbClr val="1F2D3A"/>
                </a:solidFill>
              </a:rPr>
              <a:t> scrambles the intermediate values between tables · </a:t>
            </a:r>
            <a:r>
              <a:rPr sz="1800" b="1">
                <a:solidFill>
                  <a:srgbClr val="1F2D3A"/>
                </a:solidFill>
              </a:rPr>
              <a:t>External (F,G):</a:t>
            </a:r>
            <a:r>
              <a:rPr sz="1800" b="0">
                <a:solidFill>
                  <a:srgbClr val="1F2D3A"/>
                </a:solidFill>
              </a:rPr>
              <a:t> wraps the whole cipher (</a:t>
            </a:r>
            <a:r>
              <a:rPr sz="1800" b="0">
                <a:solidFill>
                  <a:srgbClr val="A1123F"/>
                </a:solidFill>
                <a:latin typeface="Consolas"/>
              </a:rPr>
              <a:t>G∘AES∘F⁻¹</a:t>
            </a:r>
            <a:r>
              <a:rPr sz="18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It's no longer </a:t>
            </a:r>
            <a:r>
              <a:rPr sz="1800" b="1">
                <a:solidFill>
                  <a:srgbClr val="1F2D3A"/>
                </a:solidFill>
              </a:rPr>
              <a:t>standard AES</a:t>
            </a:r>
            <a:r>
              <a:rPr sz="1800" b="0">
                <a:solidFill>
                  <a:srgbClr val="1F2D3A"/>
                </a:solidFill>
              </a:rPr>
              <a:t>; the other side has to know F/G — it may not be usable in standards like EMV.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Tables run to hundreds of KB + ~50× slower; the cost limits it to </a:t>
            </a:r>
            <a:r>
              <a:rPr sz="1800" b="1">
                <a:solidFill>
                  <a:srgbClr val="1F2D3A"/>
                </a:solidFill>
              </a:rPr>
              <a:t>small/critical</a:t>
            </a:r>
            <a:r>
              <a:rPr sz="1800" b="0">
                <a:solidFill>
                  <a:srgbClr val="1F2D3A"/>
                </a:solidFill>
              </a:rPr>
              <a:t> operations only.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Attack History and Countermeasures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WBC's Breaking History — Diagram</a:t>
            </a:r>
          </a:p>
        </p:txBody>
      </p:sp>
      <p:pic>
        <p:nvPicPr>
          <p:cNvPr id="7" name="Picture 6" descr="h11-08-tarih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1343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We Look at History?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much you should trust a protection is told by its </a:t>
            </a:r>
            <a:r>
              <a:rPr sz="2000" b="1">
                <a:solidFill>
                  <a:srgbClr val="1F2D3A"/>
                </a:solidFill>
              </a:rPr>
              <a:t>history of being broken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row is an </a:t>
            </a:r>
            <a:r>
              <a:rPr sz="2000" b="1">
                <a:solidFill>
                  <a:srgbClr val="1F2D3A"/>
                </a:solidFill>
              </a:rPr>
              <a:t>inference</a:t>
            </a:r>
            <a:r>
              <a:rPr sz="2000" b="0">
                <a:solidFill>
                  <a:srgbClr val="1F2D3A"/>
                </a:solidFill>
              </a:rPr>
              <a:t> for the defender.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2002 · Birth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 and colleagues publish the WB-AES and WB-DES designs.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table-based approach is born.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the idea is promising; but untested.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2004 · The BGE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BGE</a:t>
            </a:r>
            <a:r>
              <a:rPr sz="2000" b="0">
                <a:solidFill>
                  <a:srgbClr val="1F2D3A"/>
                </a:solidFill>
              </a:rPr>
              <a:t> (Billet–Gilbert–Ech-Chatbi): breaks Chow AES in practical time (~2³⁰ operations).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Solves the internal encodings.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internal encodings alone are </a:t>
            </a:r>
            <a:r>
              <a:rPr sz="2000" b="1">
                <a:solidFill>
                  <a:srgbClr val="1F2D3A"/>
                </a:solidFill>
              </a:rPr>
              <a:t>not enough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2007 · WB-DES 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Goubin, Wyseur, and others break WB-DES and its externally-encoded variants.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DES-based WBC is abandoned.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2010s · The "More Tables" Attempt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Karroumi's "dual AES" hardening is also broken (~2²²).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more tables </a:t>
            </a:r>
            <a:r>
              <a:rPr sz="2000" b="1">
                <a:solidFill>
                  <a:srgbClr val="1F2D3A"/>
                </a:solidFill>
              </a:rPr>
              <a:t>is not</a:t>
            </a:r>
            <a:r>
              <a:rPr sz="2000" b="0">
                <a:solidFill>
                  <a:srgbClr val="1F2D3A"/>
                </a:solidFill>
              </a:rPr>
              <a:t> more strength.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2015 · DFA (Fault Injection)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DFA (Differential Fault Analysis):</a:t>
            </a:r>
            <a:r>
              <a:rPr sz="2000" b="0">
                <a:solidFill>
                  <a:srgbClr val="1F2D3A"/>
                </a:solidFill>
              </a:rPr>
              <a:t> injects a fault into a value while running and computes the key back from the corrupted output.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"Unboxing the White-Box" (Black Hat EU).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it can be broken </a:t>
            </a:r>
            <a:r>
              <a:rPr sz="2000" b="1">
                <a:solidFill>
                  <a:srgbClr val="1F2D3A"/>
                </a:solidFill>
              </a:rPr>
              <a:t>without knowing</a:t>
            </a:r>
            <a:r>
              <a:rPr sz="2000" b="0">
                <a:solidFill>
                  <a:srgbClr val="1F2D3A"/>
                </a:solidFill>
              </a:rPr>
              <a:t> the design's internal math.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2016 · DCA (the Most Important 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DCA (Differential Computation Analysis):</a:t>
            </a:r>
            <a:r>
              <a:rPr sz="2000" b="0">
                <a:solidFill>
                  <a:srgbClr val="1F2D3A"/>
                </a:solidFill>
              </a:rPr>
              <a:t> collects a </a:t>
            </a:r>
            <a:r>
              <a:rPr sz="2000" b="1">
                <a:solidFill>
                  <a:srgbClr val="1F2D3A"/>
                </a:solidFill>
              </a:rPr>
              <a:t>trace</a:t>
            </a:r>
            <a:r>
              <a:rPr sz="2000" b="0">
                <a:solidFill>
                  <a:srgbClr val="1F2D3A"/>
                </a:solidFill>
              </a:rPr>
              <a:t> of the intermediate values produced while running, and extracts the key with DPA-like statistics.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</a:t>
            </a:r>
            <a:r>
              <a:rPr sz="2000" b="1">
                <a:solidFill>
                  <a:srgbClr val="1F2D3A"/>
                </a:solidFill>
              </a:rPr>
              <a:t>ignores</a:t>
            </a:r>
            <a:r>
              <a:rPr sz="2000" b="0">
                <a:solidFill>
                  <a:srgbClr val="1F2D3A"/>
                </a:solidFill>
              </a:rPr>
              <a:t> internal encodings most of the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Inference:</a:t>
            </a:r>
            <a:r>
              <a:rPr sz="2000" b="0">
                <a:solidFill>
                  <a:srgbClr val="1F2D3A"/>
                </a:solidFill>
              </a:rPr>
              <a:t> classic side-channel defences are also needed for WBC.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DCA Attack — Diagram</a:t>
            </a:r>
          </a:p>
        </p:txBody>
      </p:sp>
      <p:pic>
        <p:nvPicPr>
          <p:cNvPr id="7" name="Picture 6" descr="h11-05-d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82769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Intuition: What Is It Tracking?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While WBC runs, it reads </a:t>
            </a:r>
            <a:r>
              <a:rPr sz="2000" b="1">
                <a:solidFill>
                  <a:srgbClr val="1F2D3A"/>
                </a:solidFill>
              </a:rPr>
              <a:t>intermediate values</a:t>
            </a:r>
            <a:r>
              <a:rPr sz="2000" b="0">
                <a:solidFill>
                  <a:srgbClr val="1F2D3A"/>
                </a:solidFill>
              </a:rPr>
              <a:t> from the tables.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These intermediate values change </a:t>
            </a:r>
            <a:r>
              <a:rPr sz="2000" b="1">
                <a:solidFill>
                  <a:srgbClr val="1F2D3A"/>
                </a:solidFill>
              </a:rPr>
              <a:t>depending on</a:t>
            </a:r>
            <a:r>
              <a:rPr sz="2000" b="0">
                <a:solidFill>
                  <a:srgbClr val="1F2D3A"/>
                </a:solidFill>
              </a:rPr>
              <a:t> the secret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DCA collects a trace of these values.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Does Statistics Give Up the Key?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makes a </a:t>
            </a:r>
            <a:r>
              <a:rPr sz="2000" b="1">
                <a:solidFill>
                  <a:srgbClr val="1F2D3A"/>
                </a:solidFill>
              </a:rPr>
              <a:t>guess</a:t>
            </a:r>
            <a:r>
              <a:rPr sz="2000" b="0">
                <a:solidFill>
                  <a:srgbClr val="1F2D3A"/>
                </a:solidFill>
              </a:rPr>
              <a:t> for one key byte.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From the guess, they compute how the intermediate value </a:t>
            </a:r>
            <a:r>
              <a:rPr sz="2000" b="1">
                <a:solidFill>
                  <a:srgbClr val="1F2D3A"/>
                </a:solidFill>
              </a:rPr>
              <a:t>should</a:t>
            </a:r>
            <a:r>
              <a:rPr sz="2000" b="0">
                <a:solidFill>
                  <a:srgbClr val="1F2D3A"/>
                </a:solidFill>
              </a:rPr>
              <a:t> behave.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Among the collected traces, the guess that </a:t>
            </a:r>
            <a:r>
              <a:rPr sz="2000" b="1">
                <a:solidFill>
                  <a:srgbClr val="1F2D3A"/>
                </a:solidFill>
              </a:rPr>
              <a:t>fits best</a:t>
            </a:r>
            <a:r>
              <a:rPr sz="2000" b="0">
                <a:solidFill>
                  <a:srgbClr val="1F2D3A"/>
                </a:solidFill>
              </a:rPr>
              <a:t> is the correct byte.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</a:t>
            </a:r>
            <a:r>
              <a:rPr sz="2000" b="1">
                <a:solidFill>
                  <a:srgbClr val="1F2D3A"/>
                </a:solidFill>
              </a:rPr>
              <a:t>software</a:t>
            </a:r>
            <a:r>
              <a:rPr sz="2000" b="0">
                <a:solidFill>
                  <a:srgbClr val="1F2D3A"/>
                </a:solidFill>
              </a:rPr>
              <a:t> form of DPA (power analysis).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Doesn't Internal Encoding Stop DCA?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Internal encoding </a:t>
            </a:r>
            <a:r>
              <a:rPr sz="2000" b="1">
                <a:solidFill>
                  <a:srgbClr val="1F2D3A"/>
                </a:solidFill>
              </a:rPr>
              <a:t>scrambles</a:t>
            </a:r>
            <a:r>
              <a:rPr sz="2000" b="0">
                <a:solidFill>
                  <a:srgbClr val="1F2D3A"/>
                </a:solidFill>
              </a:rPr>
              <a:t> the intermediate value but is a </a:t>
            </a:r>
            <a:r>
              <a:rPr sz="2000" b="1">
                <a:solidFill>
                  <a:srgbClr val="1F2D3A"/>
                </a:solidFill>
              </a:rPr>
              <a:t>one-to-one</a:t>
            </a:r>
            <a:r>
              <a:rPr sz="2000" b="0">
                <a:solidFill>
                  <a:srgbClr val="1F2D3A"/>
                </a:solidFill>
              </a:rPr>
              <a:t> mapping (bijection)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Statistical correlation often </a:t>
            </a:r>
            <a:r>
              <a:rPr sz="2000" b="1">
                <a:solidFill>
                  <a:srgbClr val="1F2D3A"/>
                </a:solidFill>
              </a:rPr>
              <a:t>survives</a:t>
            </a:r>
            <a:r>
              <a:rPr sz="2000" b="0">
                <a:solidFill>
                  <a:srgbClr val="1F2D3A"/>
                </a:solidFill>
              </a:rPr>
              <a:t>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WBC designs remained vulnerable to DCA after 2016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2017–2024 · WhibOx Competitions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Academia and industry submit their designs to a competition.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submitted design gets </a:t>
            </a:r>
            <a:r>
              <a:rPr sz="2000" b="1">
                <a:solidFill>
                  <a:srgbClr val="1F2D3A"/>
                </a:solidFill>
              </a:rPr>
              <a:t>broken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Inference (today):</a:t>
            </a:r>
            <a:r>
              <a:rPr sz="2000" b="0">
                <a:solidFill>
                  <a:srgbClr val="1F2D3A"/>
                </a:solidFill>
              </a:rPr>
              <a:t> there is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published pure-software WBC left standing.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Chronology ·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420"/>
                <a:gridCol w="3239361"/>
                <a:gridCol w="5796752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Inference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Chow WB-AES/DES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Internal encoding isn't enough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WB-DES broken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 abandoned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2010s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Karroumi broken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More tables ≠ strength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Without knowing the math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Side-channel defence needed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2017–24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All broken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DCA and DFA Also Hit New Designs?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Because neither one </a:t>
            </a:r>
            <a:r>
              <a:rPr sz="2000" b="1">
                <a:solidFill>
                  <a:srgbClr val="1F2D3A"/>
                </a:solidFill>
              </a:rPr>
              <a:t>tries to solve</a:t>
            </a:r>
            <a:r>
              <a:rPr sz="2000" b="0">
                <a:solidFill>
                  <a:srgbClr val="1F2D3A"/>
                </a:solidFill>
              </a:rPr>
              <a:t> the design's secret math: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DCA:</a:t>
            </a:r>
            <a:r>
              <a:rPr sz="2000" b="0">
                <a:solidFill>
                  <a:srgbClr val="1F2D3A"/>
                </a:solidFill>
              </a:rPr>
              <a:t> doesn't open the box; collects a </a:t>
            </a:r>
            <a:r>
              <a:rPr sz="2000" b="1">
                <a:solidFill>
                  <a:srgbClr val="1F2D3A"/>
                </a:solidFill>
              </a:rPr>
              <a:t>trace</a:t>
            </a:r>
            <a:r>
              <a:rPr sz="2000" b="0">
                <a:solidFill>
                  <a:srgbClr val="1F2D3A"/>
                </a:solidFill>
              </a:rPr>
              <a:t> while running, finds the key with statistics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injects a fault</a:t>
            </a:r>
            <a:r>
              <a:rPr sz="2000" b="0">
                <a:solidFill>
                  <a:srgbClr val="1F2D3A"/>
                </a:solidFill>
              </a:rPr>
              <a:t> while running, computes it from the corrupted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Because they're general and </a:t>
            </a:r>
            <a:r>
              <a:rPr sz="2000" b="1">
                <a:solidFill>
                  <a:srgbClr val="1F2D3A"/>
                </a:solidFill>
              </a:rPr>
              <a:t>portable</a:t>
            </a:r>
            <a:r>
              <a:rPr sz="2000" b="0">
                <a:solidFill>
                  <a:srgbClr val="1F2D3A"/>
                </a:solidFill>
              </a:rPr>
              <a:t>, they threaten every design.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 What Do We Do? (Countermeasures)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Research hasn't stopped; but no countermeasure says "now it's secure."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They all </a:t>
            </a:r>
            <a:r>
              <a:rPr sz="2000" b="1">
                <a:solidFill>
                  <a:srgbClr val="1F2D3A"/>
                </a:solidFill>
              </a:rPr>
              <a:t>raise the cost</a:t>
            </a:r>
            <a:r>
              <a:rPr sz="2000" b="0">
                <a:solidFill>
                  <a:srgbClr val="1F2D3A"/>
                </a:solidFill>
              </a:rPr>
              <a:t> and are used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. In order: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1 · Non-Linear Masking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Tries to break the </a:t>
            </a:r>
            <a:r>
              <a:rPr sz="2000" b="1">
                <a:solidFill>
                  <a:srgbClr val="1F2D3A"/>
                </a:solidFill>
              </a:rPr>
              <a:t>linear correlation</a:t>
            </a:r>
            <a:r>
              <a:rPr sz="2000" b="0">
                <a:solidFill>
                  <a:srgbClr val="1F2D3A"/>
                </a:solidFill>
              </a:rPr>
              <a:t> DCA relies on (e.g. Biryukov–Udovenko 2018).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Makes the statistical attack harder.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2 · External Encoding (F,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Makes DCA/DFA/BGE harder.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But</a:t>
            </a:r>
            <a:r>
              <a:rPr sz="2000" b="0">
                <a:solidFill>
                  <a:srgbClr val="1F2D3A"/>
                </a:solidFill>
              </a:rPr>
              <a:t> we already saw the limit: it breaks standard-AES compatibility.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3 · Layered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9's </a:t>
            </a:r>
            <a:r>
              <a:rPr sz="2000" b="1">
                <a:solidFill>
                  <a:srgbClr val="1F2D3A"/>
                </a:solidFill>
              </a:rPr>
              <a:t>obfuscation</a:t>
            </a:r>
            <a:r>
              <a:rPr sz="2000" b="0">
                <a:solidFill>
                  <a:srgbClr val="1F2D3A"/>
                </a:solidFill>
              </a:rPr>
              <a:t> rules around WBC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6's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 (anti-debug, tamper/integrity checking)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make DCA's trace collection and DFA's fault injection </a:t>
            </a:r>
            <a:r>
              <a:rPr sz="2000" b="1">
                <a:solidFill>
                  <a:srgbClr val="1F2D3A"/>
                </a:solidFill>
              </a:rPr>
              <a:t>harder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Layered WBC — Diagram</a:t>
            </a:r>
          </a:p>
        </p:txBody>
      </p:sp>
      <p:pic>
        <p:nvPicPr>
          <p:cNvPr id="7" name="Picture 6" descr="h11-09-katmanli-w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51141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4 · Key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key rotates often, extracting one key </a:t>
            </a:r>
            <a:r>
              <a:rPr sz="2000" b="1">
                <a:solidFill>
                  <a:srgbClr val="1F2D3A"/>
                </a:solidFill>
              </a:rPr>
              <a:t>is worth less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10: </a:t>
            </a:r>
            <a:r>
              <a:rPr sz="2000" b="1">
                <a:solidFill>
                  <a:srgbClr val="1F2D3A"/>
                </a:solidFill>
              </a:rPr>
              <a:t>crypto-period</a:t>
            </a:r>
            <a:r>
              <a:rPr sz="2000" b="0">
                <a:solidFill>
                  <a:srgbClr val="1F2D3A"/>
                </a:solidFill>
              </a:rPr>
              <a:t> (a key's lifetime)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5 · Device/Version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Tables are only meaningful on </a:t>
            </a:r>
            <a:r>
              <a:rPr sz="2000" b="1">
                <a:solidFill>
                  <a:srgbClr val="1F2D3A"/>
                </a:solidFill>
              </a:rPr>
              <a:t>one specific device/version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Blocks </a:t>
            </a:r>
            <a:r>
              <a:rPr sz="2000" b="1">
                <a:solidFill>
                  <a:srgbClr val="1F2D3A"/>
                </a:solidFill>
              </a:rPr>
              <a:t>code lifting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6 · Server-Side Risk Checking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Whatever protection exists on the edge, the transaction is </a:t>
            </a:r>
            <a:r>
              <a:rPr sz="2000" b="1">
                <a:solidFill>
                  <a:srgbClr val="1F2D3A"/>
                </a:solidFill>
              </a:rPr>
              <a:t>also</a:t>
            </a:r>
            <a:r>
              <a:rPr sz="2000" b="0">
                <a:solidFill>
                  <a:srgbClr val="1F2D3A"/>
                </a:solidFill>
              </a:rPr>
              <a:t> evaluated on the </a:t>
            </a:r>
            <a:r>
              <a:rPr sz="2000" b="1">
                <a:solidFill>
                  <a:srgbClr val="1F2D3A"/>
                </a:solidFill>
              </a:rPr>
              <a:t>server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Rate limiting, anomaly detection, counter/ATC checking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last and most reliable</a:t>
            </a:r>
            <a:r>
              <a:rPr sz="2000" b="0">
                <a:solidFill>
                  <a:srgbClr val="1F2D3A"/>
                </a:solidFill>
              </a:rPr>
              <a:t> defence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7 · Move to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possible, </a:t>
            </a:r>
            <a:r>
              <a:rPr sz="2000" b="1">
                <a:solidFill>
                  <a:srgbClr val="1F2D3A"/>
                </a:solidFill>
              </a:rPr>
              <a:t>never put the key in software</a:t>
            </a:r>
            <a:r>
              <a:rPr sz="2000" b="0">
                <a:solidFill>
                  <a:srgbClr val="1F2D3A"/>
                </a:solidFill>
              </a:rPr>
              <a:t>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TEE, secure element (SE), HSM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subject of the next section.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Core Rule (Again)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 a </a:t>
            </a:r>
            <a:r>
              <a:rPr sz="2000" b="1">
                <a:solidFill>
                  <a:srgbClr val="1F2D3A"/>
                </a:solidFill>
              </a:rPr>
              <a:t>layer</a:t>
            </a:r>
            <a:r>
              <a:rPr sz="2000" b="0">
                <a:solidFill>
                  <a:srgbClr val="1F2D3A"/>
                </a:solidFill>
              </a:rPr>
              <a:t>, not a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right statement: "I'm delaying key extraction by this much; my real assurance comes from key rotation, device binding, and server-side risk checking."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How does "all of them were broken" affect your decision?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Which classic attack does DCA resemble?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don't internal encodings always stop DCA?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Which is the most reliable last line of defence?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WBC is </a:t>
            </a:r>
            <a:r>
              <a:rPr sz="1800" b="1">
                <a:solidFill>
                  <a:srgbClr val="1F2D3A"/>
                </a:solidFill>
              </a:rPr>
              <a:t>not</a:t>
            </a:r>
            <a:r>
              <a:rPr sz="1800" b="0">
                <a:solidFill>
                  <a:srgbClr val="1F2D3A"/>
                </a:solidFill>
              </a:rPr>
              <a:t> assurance on its own; combine with key rotation + device binding + server checking + obfuscation; move to </a:t>
            </a:r>
            <a:r>
              <a:rPr sz="1800" b="1">
                <a:solidFill>
                  <a:srgbClr val="1F2D3A"/>
                </a:solidFill>
              </a:rPr>
              <a:t>hardware</a:t>
            </a:r>
            <a:r>
              <a:rPr sz="1800" b="0">
                <a:solidFill>
                  <a:srgbClr val="1F2D3A"/>
                </a:solidFill>
              </a:rPr>
              <a:t> where possible.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DPA</a:t>
            </a:r>
            <a:r>
              <a:rPr sz="1800" b="0">
                <a:solidFill>
                  <a:srgbClr val="1F2D3A"/>
                </a:solidFill>
              </a:rPr>
              <a:t> (power analysis) — DCA is its software form.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Internal encoding is a one-to-one mapping (bijection); statistical </a:t>
            </a:r>
            <a:r>
              <a:rPr sz="1800" b="1">
                <a:solidFill>
                  <a:srgbClr val="1F2D3A"/>
                </a:solidFill>
              </a:rPr>
              <a:t>correlation</a:t>
            </a:r>
            <a:r>
              <a:rPr sz="1800" b="0">
                <a:solidFill>
                  <a:srgbClr val="1F2D3A"/>
                </a:solidFill>
              </a:rPr>
              <a:t> often survives it.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Server-side</a:t>
            </a:r>
            <a:r>
              <a:rPr sz="1800" b="0">
                <a:solidFill>
                  <a:srgbClr val="1F2D3A"/>
                </a:solidFill>
              </a:rPr>
              <a:t> risk checking (the last and most reliable).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WBC's Place in Layered Defence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Protecting a Key: the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isn't the only option. There are several ways to protect a key; strength and cost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order, from weakest to strongest.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1 · Plain Key in a Fixed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the software, </a:t>
            </a:r>
            <a:r>
              <a:rPr sz="2000" b="1">
                <a:solidFill>
                  <a:srgbClr val="1F2D3A"/>
                </a:solidFill>
              </a:rPr>
              <a:t>in the clear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</a:t>
            </a:r>
            <a:r>
              <a:rPr sz="2000" b="1">
                <a:solidFill>
                  <a:srgbClr val="1F2D3A"/>
                </a:solidFill>
              </a:rPr>
              <a:t>none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</a:t>
            </a:r>
            <a:r>
              <a:rPr sz="2000" b="1">
                <a:solidFill>
                  <a:srgbClr val="1F2D3A"/>
                </a:solidFill>
              </a:rPr>
              <a:t>never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2 · Hidden/Split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the software, hidden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very 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only for low-value, short-lived secrets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3 · WBC + Layered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the software, </a:t>
            </a:r>
            <a:r>
              <a:rPr sz="2000" b="1">
                <a:solidFill>
                  <a:srgbClr val="1F2D3A"/>
                </a:solidFill>
              </a:rPr>
              <a:t>embedded in tables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medium (delays)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no hardware root available; </a:t>
            </a:r>
            <a:r>
              <a:rPr sz="2000" b="1">
                <a:solidFill>
                  <a:srgbClr val="1F2D3A"/>
                </a:solidFill>
              </a:rPr>
              <a:t>with key rotation + server checking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4 · TEE / Secure Element (SE)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</a:t>
            </a:r>
            <a:r>
              <a:rPr sz="2000" b="1">
                <a:solidFill>
                  <a:srgbClr val="1F2D3A"/>
                </a:solidFill>
              </a:rPr>
              <a:t>isolated by hardware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high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</a:t>
            </a:r>
            <a:r>
              <a:rPr sz="2000" b="1">
                <a:solidFill>
                  <a:srgbClr val="1F2D3A"/>
                </a:solidFill>
              </a:rPr>
              <a:t>preferred</a:t>
            </a:r>
            <a:r>
              <a:rPr sz="2000" b="0">
                <a:solidFill>
                  <a:srgbClr val="1F2D3A"/>
                </a:solidFill>
              </a:rPr>
              <a:t> if the device supports it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Option 5 · HSM / 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Key: in a hardware module (or its software emulation)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high (HSM); SoftHSM for testing only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When: </a:t>
            </a:r>
            <a:r>
              <a:rPr sz="2000" b="1">
                <a:solidFill>
                  <a:srgbClr val="1F2D3A"/>
                </a:solidFill>
              </a:rPr>
              <a:t>server-side</a:t>
            </a:r>
            <a:r>
              <a:rPr sz="2000" b="0">
                <a:solidFill>
                  <a:srgbClr val="1F2D3A"/>
                </a:solidFill>
              </a:rPr>
              <a:t>; the key never leaves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Options · One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5273908"/>
                <a:gridCol w="218230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Where's the 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Plain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 the clear, in software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Hidden/split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Hidden, in software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WBC + layers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Embedded in tables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TEE / 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Isolated by hardware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 /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Hardware module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Decision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If you </a:t>
            </a:r>
            <a:r>
              <a:rPr sz="2000" b="1">
                <a:solidFill>
                  <a:srgbClr val="1F2D3A"/>
                </a:solidFill>
              </a:rPr>
              <a:t>don't have to</a:t>
            </a:r>
            <a:r>
              <a:rPr sz="2000" b="0">
                <a:solidFill>
                  <a:srgbClr val="1F2D3A"/>
                </a:solidFill>
              </a:rPr>
              <a:t> put the key in software, </a:t>
            </a:r>
            <a:r>
              <a:rPr sz="2000" b="1">
                <a:solidFill>
                  <a:srgbClr val="1F2D3A"/>
                </a:solidFill>
              </a:rPr>
              <a:t>don't.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hardware root (TEE/SE/HSM) exists, </a:t>
            </a:r>
            <a:r>
              <a:rPr sz="2000" b="1">
                <a:solidFill>
                  <a:srgbClr val="1F2D3A"/>
                </a:solidFill>
              </a:rPr>
              <a:t>use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 is a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 solution for when there's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hardware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Always: together with key rotation + device binding + server checking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1:</a:t>
            </a:r>
            <a:r>
              <a:rPr sz="2000" b="0">
                <a:solidFill>
                  <a:srgbClr val="1F2D3A"/>
                </a:solidFill>
              </a:rPr>
              <a:t> Does the device have a TEE/secure element?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 → put the key there. </a:t>
            </a:r>
            <a:r>
              <a:rPr sz="2000" b="1">
                <a:solidFill>
                  <a:srgbClr val="1F2D3A"/>
                </a:solidFill>
              </a:rPr>
              <a:t>Done</a:t>
            </a:r>
            <a:r>
              <a:rPr sz="2000" b="0">
                <a:solidFill>
                  <a:srgbClr val="1F2D3A"/>
                </a:solidFill>
              </a:rPr>
              <a:t> (strongest).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→ continue.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2:</a:t>
            </a:r>
            <a:r>
              <a:rPr sz="2000" b="0">
                <a:solidFill>
                  <a:srgbClr val="1F2D3A"/>
                </a:solidFill>
              </a:rPr>
              <a:t> Is this a server-side key?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 → HSM/PKCS#11 (HSM in production, SoftHSM in testing).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(client, no hardware)</a:t>
            </a:r>
            <a:r>
              <a:rPr sz="2000" b="0">
                <a:solidFill>
                  <a:srgbClr val="1F2D3A"/>
                </a:solidFill>
              </a:rPr>
              <a:t> → continue.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3:</a:t>
            </a:r>
            <a:r>
              <a:rPr sz="2000" b="0">
                <a:solidFill>
                  <a:srgbClr val="1F2D3A"/>
                </a:solidFill>
              </a:rPr>
              <a:t> Does the asset's value justify the cost of protection?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Low</a:t>
            </a:r>
            <a:r>
              <a:rPr sz="2000" b="0">
                <a:solidFill>
                  <a:srgbClr val="1F2D3A"/>
                </a:solidFill>
              </a:rPr>
              <a:t> → light hiding + a short lifetime is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High</a:t>
            </a:r>
            <a:r>
              <a:rPr sz="2000" b="0">
                <a:solidFill>
                  <a:srgbClr val="1F2D3A"/>
                </a:solidFill>
              </a:rPr>
              <a:t> → WBC + layered defence + rotation + device binding + server checking.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"How Do I Protect This Key?" —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 every case: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embed the key </a:t>
            </a:r>
            <a:r>
              <a:rPr sz="2000" b="1">
                <a:solidFill>
                  <a:srgbClr val="1F2D3A"/>
                </a:solidFill>
              </a:rPr>
              <a:t>plainly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the decision and its rationale </a:t>
            </a:r>
            <a:r>
              <a:rPr sz="2000" b="1">
                <a:solidFill>
                  <a:srgbClr val="1F2D3A"/>
                </a:solidFill>
              </a:rPr>
              <a:t>into S8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State the remaining risk explicitly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Decision Flow · at a Glance</a:t>
            </a:r>
          </a:p>
        </p:txBody>
      </p:sp>
      <p:pic>
        <p:nvPicPr>
          <p:cNvPr id="7" name="Picture 6" descr="h11-07-anahtar-koru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112" y="1325880"/>
            <a:ext cx="74194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SoftHSM and PKCS#11 (Server-Side Bridge)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PKCS#11:</a:t>
            </a:r>
            <a:r>
              <a:rPr sz="2000" b="0">
                <a:solidFill>
                  <a:srgbClr val="1F2D3A"/>
                </a:solidFill>
              </a:rPr>
              <a:t> the standard interface for talking to key modules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never sees the key's </a:t>
            </a:r>
            <a:r>
              <a:rPr sz="2000" b="1">
                <a:solidFill>
                  <a:srgbClr val="1F2D3A"/>
                </a:solidFill>
              </a:rPr>
              <a:t>value</a:t>
            </a:r>
            <a:r>
              <a:rPr sz="2000" b="0">
                <a:solidFill>
                  <a:srgbClr val="1F2D3A"/>
                </a:solidFill>
              </a:rPr>
              <a:t>; it just says "sign/encrypt this"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SoftHSM:</a:t>
            </a:r>
            <a:r>
              <a:rPr sz="2000" b="0">
                <a:solidFill>
                  <a:srgbClr val="1F2D3A"/>
                </a:solidFill>
              </a:rPr>
              <a:t> a software emulation offering the same interface;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real hardware protection → for development/testing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is a client-side (edge) problem; this is the answer to the server's key problem.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Flawed → Attack → Protection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 · Flawed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İstemci uygulaması: veri şifreleme anahtarı gömülü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k[16] = { ... }; 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client embeds a data-encryption key in a fixed array.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 · Attack (Conceptual)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entropy scan</a:t>
            </a:r>
            <a:r>
              <a:rPr sz="2000" b="0">
                <a:solidFill>
                  <a:srgbClr val="1F2D3A"/>
                </a:solidFill>
              </a:rPr>
              <a:t> → a high-entropy 16-byte block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Debugger → confirms this block is used in the encryption call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key comes out in </a:t>
            </a:r>
            <a:r>
              <a:rPr sz="2000" b="1">
                <a:solidFill>
                  <a:srgbClr val="1F2D3A"/>
                </a:solidFill>
              </a:rPr>
              <a:t>minutes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Protection (Layered) —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Move the key to </a:t>
            </a:r>
            <a:r>
              <a:rPr sz="2000" b="1">
                <a:solidFill>
                  <a:srgbClr val="1F2D3A"/>
                </a:solidFill>
              </a:rPr>
              <a:t>TEE/SE</a:t>
            </a:r>
            <a:r>
              <a:rPr sz="2000" b="0">
                <a:solidFill>
                  <a:srgbClr val="1F2D3A"/>
                </a:solidFill>
              </a:rPr>
              <a:t> if possible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Otherwise, bake it into </a:t>
            </a:r>
            <a:r>
              <a:rPr sz="2000" b="1">
                <a:solidFill>
                  <a:srgbClr val="1F2D3A"/>
                </a:solidFill>
              </a:rPr>
              <a:t>WBC tables</a:t>
            </a:r>
            <a:r>
              <a:rPr sz="2000" b="0">
                <a:solidFill>
                  <a:srgbClr val="1F2D3A"/>
                </a:solidFill>
              </a:rPr>
              <a:t> (no plain byte array left)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Protection (Layered) —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Wrap WBC with Week 9's </a:t>
            </a:r>
            <a:r>
              <a:rPr sz="2000" b="1">
                <a:solidFill>
                  <a:srgbClr val="1F2D3A"/>
                </a:solidFill>
              </a:rPr>
              <a:t>obfuscation</a:t>
            </a:r>
            <a:r>
              <a:rPr sz="2000" b="0">
                <a:solidFill>
                  <a:srgbClr val="1F2D3A"/>
                </a:solidFill>
              </a:rPr>
              <a:t> and Week 6's </a:t>
            </a:r>
            <a:r>
              <a:rPr sz="2000" b="1">
                <a:solidFill>
                  <a:srgbClr val="1F2D3A"/>
                </a:solidFill>
              </a:rPr>
              <a:t>RASP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Collecting a trace for DCA and injecting a fault for DFA both get harder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Bind to device/version</a:t>
            </a:r>
            <a:r>
              <a:rPr sz="2000" b="0">
                <a:solidFill>
                  <a:srgbClr val="1F2D3A"/>
                </a:solidFill>
              </a:rPr>
              <a:t> → code lifting doesn't work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Protection (Layered) —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Rotate the key often</a:t>
            </a:r>
            <a:r>
              <a:rPr sz="2000" b="0">
                <a:solidFill>
                  <a:srgbClr val="1F2D3A"/>
                </a:solidFill>
              </a:rPr>
              <a:t> (short crypto-period)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Apply </a:t>
            </a:r>
            <a:r>
              <a:rPr sz="2000" b="1">
                <a:solidFill>
                  <a:srgbClr val="1F2D3A"/>
                </a:solidFill>
              </a:rPr>
              <a:t>risk checking on the server</a:t>
            </a:r>
            <a:r>
              <a:rPr sz="2000" b="0">
                <a:solidFill>
                  <a:srgbClr val="1F2D3A"/>
                </a:solidFill>
              </a:rPr>
              <a:t> (rate limiting, anomalies)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 · The Risk That Honestly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sufficiently determined attacker can still extract the key </a:t>
            </a:r>
            <a:r>
              <a:rPr sz="2000" b="1">
                <a:solidFill>
                  <a:srgbClr val="1F2D3A"/>
                </a:solidFill>
              </a:rPr>
              <a:t>on a single device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now: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Breaking one copy </a:t>
            </a:r>
            <a:r>
              <a:rPr sz="2000" b="1">
                <a:solidFill>
                  <a:srgbClr val="1F2D3A"/>
                </a:solidFill>
              </a:rPr>
              <a:t>doesn't open the whole system</a:t>
            </a:r>
            <a:r>
              <a:rPr sz="2000" b="0">
                <a:solidFill>
                  <a:srgbClr val="1F2D3A"/>
                </a:solidFill>
              </a:rPr>
              <a:t> (device binding)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extracted key has a </a:t>
            </a:r>
            <a:r>
              <a:rPr sz="2000" b="1">
                <a:solidFill>
                  <a:srgbClr val="1F2D3A"/>
                </a:solidFill>
              </a:rPr>
              <a:t>short lifetime</a:t>
            </a:r>
            <a:r>
              <a:rPr sz="2000" b="0">
                <a:solidFill>
                  <a:srgbClr val="1F2D3A"/>
                </a:solidFill>
              </a:rPr>
              <a:t> (rotation)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server catches abnormal use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Rules That Come Out of the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Don't embed the key in plain form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hardware root if one exists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leave WBC alone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Device binding + rotation + server checking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mobile app encrypts local data with a </a:t>
            </a:r>
            <a:r>
              <a:rPr sz="2000" b="1">
                <a:solidFill>
                  <a:srgbClr val="1F2D3A"/>
                </a:solidFill>
              </a:rPr>
              <a:t>session key</a:t>
            </a:r>
            <a:r>
              <a:rPr sz="2000" b="0">
                <a:solidFill>
                  <a:srgbClr val="1F2D3A"/>
                </a:solidFill>
              </a:rPr>
              <a:t> it downloads from the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Some devices have a TEE, some don't.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rotates once a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do we protect it?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Devices With a 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Put the key </a:t>
            </a:r>
            <a:r>
              <a:rPr sz="2000" b="1">
                <a:solidFill>
                  <a:srgbClr val="1F2D3A"/>
                </a:solidFill>
              </a:rPr>
              <a:t>in the TEE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 never sees the key; encryption happens inside the TEE.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strongest solution; extra WBC is unnecessary.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Devices Without a 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Bake the key into </a:t>
            </a:r>
            <a:r>
              <a:rPr sz="2000" b="1">
                <a:solidFill>
                  <a:srgbClr val="1F2D3A"/>
                </a:solidFill>
              </a:rPr>
              <a:t>WBC tables</a:t>
            </a:r>
            <a:r>
              <a:rPr sz="2000" b="0">
                <a:solidFill>
                  <a:srgbClr val="1F2D3A"/>
                </a:solidFill>
              </a:rPr>
              <a:t> (no plain array).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Wrap it with Week 9 obfuscation + Week 6 RASP.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Bind to the device:</a:t>
            </a:r>
            <a:r>
              <a:rPr sz="2000" b="0">
                <a:solidFill>
                  <a:srgbClr val="1F2D3A"/>
                </a:solidFill>
              </a:rPr>
              <a:t> the tables shouldn't work on another device.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Shared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key </a:t>
            </a:r>
            <a:r>
              <a:rPr sz="2000" b="1">
                <a:solidFill>
                  <a:srgbClr val="1F2D3A"/>
                </a:solidFill>
              </a:rPr>
              <a:t>rotates once a day</a:t>
            </a:r>
            <a:r>
              <a:rPr sz="2000" b="0">
                <a:solidFill>
                  <a:srgbClr val="1F2D3A"/>
                </a:solidFill>
              </a:rPr>
              <a:t> → a short lifetime for anything extracted.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server</a:t>
            </a:r>
            <a:r>
              <a:rPr sz="2000" b="0">
                <a:solidFill>
                  <a:srgbClr val="1F2D3A"/>
                </a:solidFill>
              </a:rPr>
              <a:t> catches abnormal use (too many requests, an odd location).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even if one device gets broken, the damage is limited.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Remaining Risk (Honest)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a device without a TEE, a determined attacker can extract the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But: limited to one device + 24-hour lifetime + server checking.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trade-off is </a:t>
            </a:r>
            <a:r>
              <a:rPr sz="2000" b="1">
                <a:solidFill>
                  <a:srgbClr val="1F2D3A"/>
                </a:solidFill>
              </a:rPr>
              <a:t>written explicitly into S8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is no single "magic"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Strength comes from the </a:t>
            </a:r>
            <a:r>
              <a:rPr sz="2000" b="1">
                <a:solidFill>
                  <a:srgbClr val="1F2D3A"/>
                </a:solidFill>
              </a:rPr>
              <a:t>combination of layers</a:t>
            </a:r>
            <a:r>
              <a:rPr sz="2000" b="0">
                <a:solidFill>
                  <a:srgbClr val="1F2D3A"/>
                </a:solidFill>
              </a:rPr>
              <a:t> and an </a:t>
            </a:r>
            <a:r>
              <a:rPr sz="2000" b="1">
                <a:solidFill>
                  <a:srgbClr val="1F2D3A"/>
                </a:solidFill>
              </a:rPr>
              <a:t>honest analysis of the remaining risk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exactly what the evaluator (Week 12) looks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0504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To </a:t>
            </a:r>
            <a:r>
              <a:rPr sz="2000" b="1">
                <a:solidFill>
                  <a:srgbClr val="1F2D3A"/>
                </a:solidFill>
              </a:rPr>
              <a:t>understand</a:t>
            </a:r>
            <a:r>
              <a:rPr sz="2000" b="0">
                <a:solidFill>
                  <a:srgbClr val="1F2D3A"/>
                </a:solidFill>
              </a:rPr>
              <a:t> WBC is to </a:t>
            </a:r>
            <a:r>
              <a:rPr sz="2000" b="1">
                <a:solidFill>
                  <a:srgbClr val="1F2D3A"/>
                </a:solidFill>
              </a:rPr>
              <a:t>put it in its right place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Project and Closing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 (Key Protection Rationale)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a protection decision and its </a:t>
            </a:r>
            <a:r>
              <a:rPr sz="2000" b="1">
                <a:solidFill>
                  <a:srgbClr val="1F2D3A"/>
                </a:solidFill>
              </a:rPr>
              <a:t>rationale</a:t>
            </a:r>
            <a:r>
              <a:rPr sz="2000" b="0">
                <a:solidFill>
                  <a:srgbClr val="1F2D3A"/>
                </a:solidFill>
              </a:rPr>
              <a:t> for at least one sensitive key: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Where does the key live, how is it protected? (if not plain: TEE/SE, WBC, hiding — which one, </a:t>
            </a:r>
            <a:r>
              <a:rPr sz="2000" b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</a:t>
            </a:r>
            <a:r>
              <a:rPr sz="2000" b="0">
                <a:solidFill>
                  <a:srgbClr val="1F2D3A"/>
                </a:solidFill>
              </a:rPr>
              <a:t> If the protection isn't sufficient (e.g. you're pure software), state this </a:t>
            </a:r>
            <a:r>
              <a:rPr sz="2000" b="1">
                <a:solidFill>
                  <a:srgbClr val="1F2D3A"/>
                </a:solidFill>
              </a:rPr>
              <a:t>explicitly</a:t>
            </a:r>
            <a:r>
              <a:rPr sz="2000" b="0">
                <a:solidFill>
                  <a:srgbClr val="1F2D3A"/>
                </a:solidFill>
              </a:rPr>
              <a:t> and list your compensating layers: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key rotation period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device/version binding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server-side risk checking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S8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</a:t>
            </a:r>
            <a:r>
              <a:rPr sz="2000" b="0">
                <a:solidFill>
                  <a:srgbClr val="1F2D3A"/>
                </a:solidFill>
              </a:rPr>
              <a:t> If you didn't use WBC, give the </a:t>
            </a:r>
            <a:r>
              <a:rPr sz="2000" b="1">
                <a:solidFill>
                  <a:srgbClr val="1F2D3A"/>
                </a:solidFill>
              </a:rPr>
              <a:t>reason why not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have a hardware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asset's value is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justified "we didn't use it" is a </a:t>
            </a:r>
            <a:r>
              <a:rPr sz="2000" b="1">
                <a:solidFill>
                  <a:srgbClr val="1F2D3A"/>
                </a:solidFill>
              </a:rPr>
              <a:t>complete</a:t>
            </a:r>
            <a:r>
              <a:rPr sz="2000" b="0">
                <a:solidFill>
                  <a:srgbClr val="1F2D3A"/>
                </a:solidFill>
              </a:rPr>
              <a:t> answer.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No Real Keys in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key file, table, and example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real key in the repo at certification time = one of the most severe findings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counts the same way in the project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50"/>
                <a:gridCol w="7391685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Black/grey/white 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What the attacker sees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 that runs in the white 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S-box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Fixed table that substitutes a byte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Bijection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Invertible one-to-one mapping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Internal/external encoding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Inside a table / secret transform wrapping the whole cipher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8183651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lifting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Copying the code without extracting the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DPA-like statistics applied to execution traces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Injecting a fault and computing the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Crypto-period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key's lifetime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TEE/SE/HSM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Hardware-based key 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Three attacker models; which one does the AES proof assume?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"Run only one round" and "inject a fault" set up which attacks?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Why isn't a key embedded in an array protection? (entropy)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What is code lifting, which countermeasure closes it?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Why is </a:t>
            </a:r>
            <a:r>
              <a:rPr sz="1800" b="0">
                <a:solidFill>
                  <a:srgbClr val="A1123F"/>
                </a:solidFill>
                <a:latin typeface="Consolas"/>
              </a:rPr>
              <a:t>T[x]=S-box[x^k]</a:t>
            </a:r>
            <a:r>
              <a:rPr sz="1800" b="0">
                <a:solidFill>
                  <a:srgbClr val="1F2D3A"/>
                </a:solidFill>
              </a:rPr>
              <a:t> insecure on its own?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Internal vs. external encoding; the limit of external encoding?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 (I/O only), </a:t>
            </a:r>
            <a:r>
              <a:rPr sz="1800" b="1">
                <a:solidFill>
                  <a:srgbClr val="1F2D3A"/>
                </a:solidFill>
              </a:rPr>
              <a:t>grey box</a:t>
            </a:r>
            <a:r>
              <a:rPr sz="1800" b="0">
                <a:solidFill>
                  <a:srgbClr val="1F2D3A"/>
                </a:solidFill>
              </a:rPr>
              <a:t> (+ side channel: power/time), </a:t>
            </a:r>
            <a:r>
              <a:rPr sz="1800" b="1">
                <a:solidFill>
                  <a:srgbClr val="1F2D3A"/>
                </a:solidFill>
              </a:rPr>
              <a:t>white box</a:t>
            </a:r>
            <a:r>
              <a:rPr sz="1800" b="0">
                <a:solidFill>
                  <a:srgbClr val="1F2D3A"/>
                </a:solidFill>
              </a:rPr>
              <a:t> (full access + modifies). The classic AES proof assumes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"Run one round/observe an intermediate value" → </a:t>
            </a:r>
            <a:r>
              <a:rPr sz="1800" b="1">
                <a:solidFill>
                  <a:srgbClr val="1F2D3A"/>
                </a:solidFill>
              </a:rPr>
              <a:t>DCA</a:t>
            </a:r>
            <a:r>
              <a:rPr sz="1800" b="0">
                <a:solidFill>
                  <a:srgbClr val="1F2D3A"/>
                </a:solidFill>
              </a:rPr>
              <a:t>; "inject a fault" → </a:t>
            </a:r>
            <a:r>
              <a:rPr sz="1800" b="1">
                <a:solidFill>
                  <a:srgbClr val="1F2D3A"/>
                </a:solidFill>
              </a:rPr>
              <a:t>DFA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The key sits as a </a:t>
            </a:r>
            <a:r>
              <a:rPr sz="1800" b="1">
                <a:solidFill>
                  <a:srgbClr val="1F2D3A"/>
                </a:solidFill>
              </a:rPr>
              <a:t>high-entropy</a:t>
            </a:r>
            <a:r>
              <a:rPr sz="1800" b="0">
                <a:solidFill>
                  <a:srgbClr val="1F2D3A"/>
                </a:solidFill>
              </a:rPr>
              <a:t> block → found by an entropy scan/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/pattern (demo </a:t>
            </a:r>
            <a:r>
              <a:rPr sz="1800" b="0">
                <a:solidFill>
                  <a:srgbClr val="A1123F"/>
                </a:solidFill>
                <a:latin typeface="Consolas"/>
              </a:rPr>
              <a:t>--scan</a:t>
            </a:r>
            <a:r>
              <a:rPr sz="1800" b="0">
                <a:solidFill>
                  <a:srgbClr val="1F2D3A"/>
                </a:solidFill>
              </a:rPr>
              <a:t>). Moving its location isn't hiding.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Code lifting:</a:t>
            </a:r>
            <a:r>
              <a:rPr sz="1800" b="0">
                <a:solidFill>
                  <a:srgbClr val="1F2D3A"/>
                </a:solidFill>
              </a:rPr>
              <a:t> copying a table/routine as-is and using it elsewhere. Closed by: </a:t>
            </a:r>
            <a:r>
              <a:rPr sz="1800" b="1">
                <a:solidFill>
                  <a:srgbClr val="1F2D3A"/>
                </a:solidFill>
              </a:rPr>
              <a:t>external encoding</a:t>
            </a:r>
            <a:r>
              <a:rPr sz="1800" b="0">
                <a:solidFill>
                  <a:srgbClr val="1F2D3A"/>
                </a:solidFill>
              </a:rPr>
              <a:t> (+ device binding/server checking).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A1123F"/>
                </a:solidFill>
                <a:latin typeface="Consolas"/>
              </a:rPr>
              <a:t>T[x]=S-box[x^k]</a:t>
            </a:r>
            <a:r>
              <a:rPr sz="1800" b="0">
                <a:solidFill>
                  <a:srgbClr val="1F2D3A"/>
                </a:solidFill>
              </a:rPr>
              <a:t> depends directly on k; comparing the table with S-box </a:t>
            </a:r>
            <a:r>
              <a:rPr sz="1800" b="1">
                <a:solidFill>
                  <a:srgbClr val="1F2D3A"/>
                </a:solidFill>
              </a:rPr>
              <a:t>recovers k</a:t>
            </a:r>
            <a:r>
              <a:rPr sz="1800" b="0">
                <a:solidFill>
                  <a:srgbClr val="1F2D3A"/>
                </a:solidFill>
              </a:rPr>
              <a:t>. </a:t>
            </a:r>
            <a:r>
              <a:rPr sz="1800" b="1">
                <a:solidFill>
                  <a:srgbClr val="1F2D3A"/>
                </a:solidFill>
              </a:rPr>
              <a:t>Mask it with internal encoding.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1">
                <a:solidFill>
                  <a:srgbClr val="1F2D3A"/>
                </a:solidFill>
              </a:rPr>
              <a:t>Internal encoding</a:t>
            </a:r>
            <a:r>
              <a:rPr sz="1800" b="0">
                <a:solidFill>
                  <a:srgbClr val="1F2D3A"/>
                </a:solidFill>
              </a:rPr>
              <a:t> masks intermediate values with secret bijections; </a:t>
            </a:r>
            <a:r>
              <a:rPr sz="1800" b="1">
                <a:solidFill>
                  <a:srgbClr val="1F2D3A"/>
                </a:solidFill>
              </a:rPr>
              <a:t>external encoding</a:t>
            </a:r>
            <a:r>
              <a:rPr sz="1800" b="0">
                <a:solidFill>
                  <a:srgbClr val="1F2D3A"/>
                </a:solidFill>
              </a:rPr>
              <a:t> transforms the input/output (makes code lifting harder). Limit: </a:t>
            </a:r>
            <a:r>
              <a:rPr sz="1800" b="1">
                <a:solidFill>
                  <a:srgbClr val="1F2D3A"/>
                </a:solidFill>
              </a:rPr>
              <a:t>the caller must match too</a:t>
            </a:r>
            <a:r>
              <a:rPr sz="1800" b="0">
                <a:solidFill>
                  <a:srgbClr val="1F2D3A"/>
                </a:solidFill>
              </a:rPr>
              <a:t> → breaks standard AES compatibility.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Table size/speed order of magnitude? Why only selected operations?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How does "all of them were broken" affect your decision?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Which hardware attack does DCA resemble?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Rank the key-protection options by strength/cost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What 3 layers should you add if you use WBC?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Write the S8 rationale for a key, in three sentences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2291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Tables run to </a:t>
            </a:r>
            <a:r>
              <a:rPr sz="1800" b="1">
                <a:solidFill>
                  <a:srgbClr val="1F2D3A"/>
                </a:solidFill>
              </a:rPr>
              <a:t>hundreds of KB</a:t>
            </a:r>
            <a:r>
              <a:rPr sz="1800" b="0">
                <a:solidFill>
                  <a:srgbClr val="1F2D3A"/>
                </a:solidFill>
              </a:rPr>
              <a:t> (standard AES key: 16–32 bytes) and are </a:t>
            </a:r>
            <a:r>
              <a:rPr sz="1800" b="1">
                <a:solidFill>
                  <a:srgbClr val="1F2D3A"/>
                </a:solidFill>
              </a:rPr>
              <a:t>~50× slower</a:t>
            </a:r>
            <a:r>
              <a:rPr sz="1800" b="0">
                <a:solidFill>
                  <a:srgbClr val="1F2D3A"/>
                </a:solidFill>
              </a:rPr>
              <a:t> → applied only to </a:t>
            </a:r>
            <a:r>
              <a:rPr sz="1800" b="1">
                <a:solidFill>
                  <a:srgbClr val="1F2D3A"/>
                </a:solidFill>
              </a:rPr>
              <a:t>selected/critical</a:t>
            </a:r>
            <a:r>
              <a:rPr sz="1800" b="0">
                <a:solidFill>
                  <a:srgbClr val="1F2D3A"/>
                </a:solidFill>
              </a:rPr>
              <a:t> operations.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We don't count WBC alone as key protection; we use it as a </a:t>
            </a:r>
            <a:r>
              <a:rPr sz="1800" b="1">
                <a:solidFill>
                  <a:srgbClr val="1F2D3A"/>
                </a:solidFill>
              </a:rPr>
              <a:t>delaying layer</a:t>
            </a:r>
            <a:r>
              <a:rPr sz="1800" b="0">
                <a:solidFill>
                  <a:srgbClr val="1F2D3A"/>
                </a:solidFill>
              </a:rPr>
              <a:t>, together with rotation + binding + server checking (hardware where possible).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DPA</a:t>
            </a:r>
            <a:r>
              <a:rPr sz="1800" b="0">
                <a:solidFill>
                  <a:srgbClr val="1F2D3A"/>
                </a:solidFill>
              </a:rPr>
              <a:t> (Differential Power Analysis); DCA replaces the power trace with a </a:t>
            </a:r>
            <a:r>
              <a:rPr sz="1800" b="1">
                <a:solidFill>
                  <a:srgbClr val="1F2D3A"/>
                </a:solidFill>
              </a:rPr>
              <a:t>software trace</a:t>
            </a:r>
            <a:r>
              <a:rPr sz="1800" b="0">
                <a:solidFill>
                  <a:srgbClr val="1F2D3A"/>
                </a:solidFill>
              </a:rPr>
              <a:t> (memory access/intermediate value).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(weak→strong) plain embedded key &lt; encoded table (pure-software WBC) &lt; WBC+binding/rotation &lt; </a:t>
            </a:r>
            <a:r>
              <a:rPr sz="1800" b="1">
                <a:solidFill>
                  <a:srgbClr val="1F2D3A"/>
                </a:solidFill>
              </a:rPr>
              <a:t>TEE/SE</a:t>
            </a:r>
            <a:r>
              <a:rPr sz="1800" b="0">
                <a:solidFill>
                  <a:srgbClr val="1F2D3A"/>
                </a:solidFill>
              </a:rPr>
              <a:t> &lt; </a:t>
            </a:r>
            <a:r>
              <a:rPr sz="1800" b="1">
                <a:solidFill>
                  <a:srgbClr val="1F2D3A"/>
                </a:solidFill>
              </a:rPr>
              <a:t>HSM/hardware</a:t>
            </a:r>
            <a:r>
              <a:rPr sz="1800" b="0">
                <a:solidFill>
                  <a:srgbClr val="1F2D3A"/>
                </a:solidFill>
              </a:rPr>
              <a:t>. Cost rises in the same direction.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Key rotation · device/application binding · server-side checking/revocation</a:t>
            </a:r>
            <a:r>
              <a:rPr sz="1800" b="0">
                <a:solidFill>
                  <a:srgbClr val="1F2D3A"/>
                </a:solidFill>
              </a:rPr>
              <a:t> (+ RASP/integrity).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Example: "The DEK protects data at rest with AES-256-GCM. It is generated/stored in an HSM, never kept in plain memory. Hardware was chosen because pure-software whitebox has been broken and the asset's value is high."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Summary: This Week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published pure-software whitebox has been broken; WBC is a layer that </a:t>
            </a:r>
            <a:r>
              <a:rPr sz="2000" b="1">
                <a:solidFill>
                  <a:srgbClr val="1F2D3A"/>
                </a:solidFill>
              </a:rPr>
              <a:t>delays</a:t>
            </a:r>
            <a:r>
              <a:rPr sz="2000" b="0">
                <a:solidFill>
                  <a:srgbClr val="1F2D3A"/>
                </a:solidFill>
              </a:rPr>
              <a:t> key extraction, and it only gains meaning together with rotation, device binding, and server checking.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secure programming technical guide</a:t>
            </a:r>
            <a:r>
              <a:rPr sz="2000" b="0">
                <a:solidFill>
                  <a:srgbClr val="1F2D3A"/>
                </a:solidFill>
              </a:rPr>
              <a:t> — the WBC attacker model, where whitebox AES sits in a product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Chow, Eisen, Johnson, van Oorschot — WB-AES (SAC 2002), WB-DES (DRM 2002)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Wyseur — "Hiding Keys in Software" (short introduction)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BGE (SAC 2004); Bos et al. DCA (CHES 2016); "Unboxing the White-Box" (BH EU 2015)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WhibOx competition results (2017–2024)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12 — Certification and Penetration-Test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Measuring how much a protection "actually withstands" → the independent-evaluation process and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11 — Whitebox Cryptography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