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see, step by step, how a product is evaluated at an independent laboratory and how a penetration test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learn how a product is evaluated at an independent laboratory and how we plan the penetration test of our own product. We'll set the ethical framework right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Do not skip this slide. The whole week operates within this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Then the 13-step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generalized version of a product being evaluated at a third-party laboratory. We go step by step; we tie every step back to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Continuity phase (10-13) kicks in as the finding count grows, and is skipped when there are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whatever the finding count, the order of the 13 steps never changes — only whether Continuity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After the break, methods and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approach these defensively, with the question "how do I test my own product before I deliver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on a mixed sample, highlight that no single method finds everything -- point out the best vs. the weakest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for logic bugs only code review and penetration testing work -- SAST/DAST/fuzzing stay weak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Then attack potential and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rating()'s real source lines and which threshold fires, using the program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in the hardest scenario, the calculation runs through the same five lines of code -- only the input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two axes combine into a single priority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at the extreme on both axes, priority still comes from reading BOTH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each finding going through the four stages and closing as closed/accepted/n-a/open, with the running tally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that this is a plan, not a result -- S16 needs the latter, by the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After the break, the penetration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"Planned" and "permitted" are not optional. A test whose scope/rules aren't written down isn't legitimate.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tree from scope root to threats to test-case leaves, and how the coverage percentage is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is the target state S16 aims for -- every leaf run, and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Then the project and the solved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five sections and how the "ready for production" verdict follows from the open/urgent finding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that the verdict is definitely NOT READY here -- a single open urgent finding is already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demo's real `card()` code, all six cards PASSING, and the exit code 0 -- exactly the table S16 wants.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remind them the exit code equals the number of failed tests, and how CI uses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Go through the questions one by one, let students answer first, then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2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2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4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2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2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2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Security Certifications and Penetration Test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04.12.2026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53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970"/>
                <a:gridCol w="967958"/>
                <a:gridCol w="9239606"/>
              </a:tblGrid>
              <a:tr h="73837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837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independent evaluation · the standards landscape · the evaluation process (13 steps)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837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Vulnerability-assessment methods · the tests the standards demand · attack potential and rating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83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6–9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Finding→recommendation→action and impact analysis · penetration test plan · reporting · project (S16)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1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 (LO.6 / LO.7):</a:t>
            </a:r>
            <a:r>
              <a:rPr sz="2000" b="0">
                <a:solidFill>
                  <a:srgbClr val="1F2D3A"/>
                </a:solidFill>
              </a:rPr>
              <a:t> explain the steps of independent evaluation · write a </a:t>
            </a:r>
            <a:r>
              <a:rPr sz="2000" b="1">
                <a:solidFill>
                  <a:srgbClr val="1F2D3A"/>
                </a:solidFill>
              </a:rPr>
              <a:t>penetration test plan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rate</a:t>
            </a:r>
            <a:r>
              <a:rPr sz="2000" b="0">
                <a:solidFill>
                  <a:srgbClr val="1F2D3A"/>
                </a:solidFill>
              </a:rPr>
              <a:t> a finding (attack potential, CVSS)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This Week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Weeks 4–11:</a:t>
            </a:r>
            <a:r>
              <a:rPr sz="2000" b="0">
                <a:solidFill>
                  <a:srgbClr val="1F2D3A"/>
                </a:solidFill>
              </a:rPr>
              <a:t> we learned the protections (memory, crypto, obfuscation, whitebox…)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This week (12):</a:t>
            </a:r>
            <a:r>
              <a:rPr sz="2000" b="0">
                <a:solidFill>
                  <a:srgbClr val="1F2D3A"/>
                </a:solidFill>
              </a:rPr>
              <a:t> but do these protections </a:t>
            </a:r>
            <a:r>
              <a:rPr sz="2000" b="1">
                <a:solidFill>
                  <a:srgbClr val="1F2D3A"/>
                </a:solidFill>
              </a:rPr>
              <a:t>really work</a:t>
            </a:r>
            <a:r>
              <a:rPr sz="2000" b="0">
                <a:solidFill>
                  <a:srgbClr val="1F2D3A"/>
                </a:solidFill>
              </a:rPr>
              <a:t>? How are they </a:t>
            </a:r>
            <a:r>
              <a:rPr sz="2000" b="1">
                <a:solidFill>
                  <a:srgbClr val="1F2D3A"/>
                </a:solidFill>
              </a:rPr>
              <a:t>tested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13:</a:t>
            </a:r>
            <a:r>
              <a:rPr sz="2000" b="0">
                <a:solidFill>
                  <a:srgbClr val="1F2D3A"/>
                </a:solidFill>
              </a:rPr>
              <a:t> security requirements and the compliance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Today: independent evaluation + penetration test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Ethical and Legal Framework (From the Start)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penetration test </a:t>
            </a:r>
            <a:r>
              <a:rPr sz="2000" b="1">
                <a:solidFill>
                  <a:srgbClr val="1F2D3A"/>
                </a:solidFill>
              </a:rPr>
              <a:t>cannot be done</a:t>
            </a:r>
            <a:r>
              <a:rPr sz="2000" b="0">
                <a:solidFill>
                  <a:srgbClr val="1F2D3A"/>
                </a:solidFill>
              </a:rPr>
              <a:t> without </a:t>
            </a:r>
            <a:r>
              <a:rPr sz="2000" b="1">
                <a:solidFill>
                  <a:srgbClr val="1F2D3A"/>
                </a:solidFill>
              </a:rPr>
              <a:t>written permission</a:t>
            </a:r>
            <a:r>
              <a:rPr sz="2000" b="0">
                <a:solidFill>
                  <a:srgbClr val="1F2D3A"/>
                </a:solidFill>
              </a:rPr>
              <a:t> and a contract with an explicitly defined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Unauthorized testing is a </a:t>
            </a:r>
            <a:r>
              <a:rPr sz="2000" b="1">
                <a:solidFill>
                  <a:srgbClr val="1F2D3A"/>
                </a:solidFill>
              </a:rPr>
              <a:t>crime</a:t>
            </a:r>
            <a:r>
              <a:rPr sz="2000" b="0">
                <a:solidFill>
                  <a:srgbClr val="1F2D3A"/>
                </a:solidFill>
              </a:rPr>
              <a:t>, whatever the intent.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this course, testing is done only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project.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data is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there is no real personal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97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Vulnerability</a:t>
            </a:r>
            <a:r>
              <a:rPr sz="1800" b="0">
                <a:solidFill>
                  <a:srgbClr val="1F2D3A"/>
                </a:solidFill>
              </a:rPr>
              <a:t> — a weak point that can be abused, e.g., an unbounded buffer </a:t>
            </a:r>
            <a:r>
              <a:rPr sz="18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Kerckhoffs's principle</a:t>
            </a:r>
            <a:r>
              <a:rPr sz="1800" b="0">
                <a:solidFill>
                  <a:srgbClr val="1F2D3A"/>
                </a:solidFill>
              </a:rPr>
              <a:t> — security must rest on the secrecy of the key, not on the secrecy of the design </a:t>
            </a:r>
            <a:r>
              <a:rPr sz="18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Static and dynamic analysis</a:t>
            </a:r>
            <a:r>
              <a:rPr sz="1800" b="0">
                <a:solidFill>
                  <a:srgbClr val="1F2D3A"/>
                </a:solidFill>
              </a:rPr>
              <a:t> — finding bugs without running the code (static) or while running it with sanitizers (dynamic) </a:t>
            </a:r>
            <a:r>
              <a:rPr sz="18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Fuzzing</a:t>
            </a:r>
            <a:r>
              <a:rPr sz="1800" b="0">
                <a:solidFill>
                  <a:srgbClr val="1F2D3A"/>
                </a:solidFill>
              </a:rPr>
              <a:t> — looking for crashes with unexpected/random input </a:t>
            </a:r>
            <a:r>
              <a:rPr sz="18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— a scoring system expressing a vulnerability's impact as a standard score (0–10) </a:t>
            </a:r>
            <a:r>
              <a:rPr sz="18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3308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week: we rebuild these concepts in the language of an independent </a:t>
            </a:r>
            <a:r>
              <a:rPr sz="1800" b="1">
                <a:solidFill>
                  <a:srgbClr val="1F2D3A"/>
                </a:solidFill>
              </a:rPr>
              <a:t>evaluation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9687"/>
                <a:gridCol w="1541847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evaluation, certification, standard, laboratory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TOE, white/black box, the 13-step evaluation process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Vulnerability, assessment methods (code review, SAST, DAST, fuzzing)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tests the standards demand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potential, 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Finding, recommendation, action, security impact analysis, delta assessment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Penetration test, penetration test plan, test card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10692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Now: </a:t>
            </a:r>
            <a:r>
              <a:rPr sz="1800" b="1">
                <a:solidFill>
                  <a:srgbClr val="1F2D3A"/>
                </a:solidFill>
              </a:rPr>
              <a:t>why independent evaluation?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Independent Evaluation?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Security Evaluation?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Security evaluation:</a:t>
            </a:r>
            <a:r>
              <a:rPr sz="2000" b="0">
                <a:solidFill>
                  <a:srgbClr val="1F2D3A"/>
                </a:solidFill>
              </a:rPr>
              <a:t> an </a:t>
            </a:r>
            <a:r>
              <a:rPr sz="2000" b="1">
                <a:solidFill>
                  <a:srgbClr val="1F2D3A"/>
                </a:solidFill>
              </a:rPr>
              <a:t>independent</a:t>
            </a:r>
            <a:r>
              <a:rPr sz="2000" b="0">
                <a:solidFill>
                  <a:srgbClr val="1F2D3A"/>
                </a:solidFill>
              </a:rPr>
              <a:t> party </a:t>
            </a:r>
            <a:r>
              <a:rPr sz="2000" b="1">
                <a:solidFill>
                  <a:srgbClr val="1F2D3A"/>
                </a:solidFill>
              </a:rPr>
              <a:t>testing</a:t>
            </a:r>
            <a:r>
              <a:rPr sz="2000" b="0">
                <a:solidFill>
                  <a:srgbClr val="1F2D3A"/>
                </a:solidFill>
              </a:rPr>
              <a:t> a product's security claims.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Saying "I am secure" is not enough;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testing</a:t>
            </a:r>
            <a:r>
              <a:rPr sz="2000" b="0">
                <a:solidFill>
                  <a:srgbClr val="1F2D3A"/>
                </a:solidFill>
              </a:rPr>
              <a:t> are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Certification?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Certification:</a:t>
            </a:r>
            <a:r>
              <a:rPr sz="2000" b="0">
                <a:solidFill>
                  <a:srgbClr val="1F2D3A"/>
                </a:solidFill>
              </a:rPr>
              <a:t> an authorized party </a:t>
            </a:r>
            <a:r>
              <a:rPr sz="2000" b="1">
                <a:solidFill>
                  <a:srgbClr val="1F2D3A"/>
                </a:solidFill>
              </a:rPr>
              <a:t>documenting</a:t>
            </a:r>
            <a:r>
              <a:rPr sz="2000" b="0">
                <a:solidFill>
                  <a:srgbClr val="1F2D3A"/>
                </a:solidFill>
              </a:rPr>
              <a:t> that a product/organisation complies with a given </a:t>
            </a:r>
            <a:r>
              <a:rPr sz="2000" b="1">
                <a:solidFill>
                  <a:srgbClr val="1F2D3A"/>
                </a:solidFill>
              </a:rPr>
              <a:t>standard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evaluation succeeds, a </a:t>
            </a:r>
            <a:r>
              <a:rPr sz="2000" b="1">
                <a:solidFill>
                  <a:srgbClr val="1F2D3A"/>
                </a:solidFill>
              </a:rPr>
              <a:t>certificate</a:t>
            </a:r>
            <a:r>
              <a:rPr sz="2000" b="0">
                <a:solidFill>
                  <a:srgbClr val="1F2D3A"/>
                </a:solidFill>
              </a:rPr>
              <a:t> is issued.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Who Is the Laboratory (Evaluator)?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Evaluation laboratory:</a:t>
            </a:r>
            <a:r>
              <a:rPr sz="2000" b="0">
                <a:solidFill>
                  <a:srgbClr val="1F2D3A"/>
                </a:solidFill>
              </a:rPr>
              <a:t> the independent, accredited organisation that tests the product.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the organisation that develops the product (for impartiality).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has access to all source code and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Standard?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Standard:</a:t>
            </a:r>
            <a:r>
              <a:rPr sz="2000" b="0">
                <a:solidFill>
                  <a:srgbClr val="1F2D3A"/>
                </a:solidFill>
              </a:rPr>
              <a:t> a common set of rules defining what should be done and how.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Examples: ISO/IEC 27001, Common Criteria, FIPS 140-3, PCI, OWASP MASVS.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measures something different (more on this shortly).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Independent Evaluation — Diagram</a:t>
            </a:r>
          </a:p>
        </p:txBody>
      </p:sp>
      <p:pic>
        <p:nvPicPr>
          <p:cNvPr id="7" name="Picture 6" descr="h12-04-bagimsiz-deger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3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"My Code Is Secure"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developer can be </a:t>
            </a:r>
            <a:r>
              <a:rPr sz="2000" b="1">
                <a:solidFill>
                  <a:srgbClr val="1F2D3A"/>
                </a:solidFill>
              </a:rPr>
              <a:t>blind</a:t>
            </a:r>
            <a:r>
              <a:rPr sz="2000" b="0">
                <a:solidFill>
                  <a:srgbClr val="1F2D3A"/>
                </a:solidFill>
              </a:rPr>
              <a:t> to their own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Conflict of interest: you want to say "my product is secure."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That's why </a:t>
            </a:r>
            <a:r>
              <a:rPr sz="2000" b="1">
                <a:solidFill>
                  <a:srgbClr val="1F2D3A"/>
                </a:solidFill>
              </a:rPr>
              <a:t>third-party</a:t>
            </a:r>
            <a:r>
              <a:rPr sz="2000" b="0">
                <a:solidFill>
                  <a:srgbClr val="1F2D3A"/>
                </a:solidFill>
              </a:rPr>
              <a:t> verification is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Trust Rest 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on claims, but on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testing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independent laboratory: impartial, accredited, expert.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a </a:t>
            </a:r>
            <a:r>
              <a:rPr sz="2000" b="1">
                <a:solidFill>
                  <a:srgbClr val="1F2D3A"/>
                </a:solidFill>
              </a:rPr>
              <a:t>certificate</a:t>
            </a:r>
            <a:r>
              <a:rPr sz="2000" b="0">
                <a:solidFill>
                  <a:srgbClr val="1F2D3A"/>
                </a:solidFill>
              </a:rPr>
              <a:t> or a </a:t>
            </a:r>
            <a:r>
              <a:rPr sz="2000" b="1">
                <a:solidFill>
                  <a:srgbClr val="1F2D3A"/>
                </a:solidFill>
              </a:rPr>
              <a:t>finding list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Short History — Evaluation and 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("Orange Book"): the first formal evaluation criteria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1991–93</a:t>
            </a:r>
            <a:r>
              <a:rPr sz="1800" b="0">
                <a:solidFill>
                  <a:srgbClr val="1F2D3A"/>
                </a:solidFill>
              </a:rPr>
              <a:t> — European </a:t>
            </a:r>
            <a:r>
              <a:rPr sz="1800" b="1">
                <a:solidFill>
                  <a:srgbClr val="1F2D3A"/>
                </a:solidFill>
              </a:rPr>
              <a:t>ITSEC</a:t>
            </a:r>
            <a:r>
              <a:rPr sz="1800" b="0">
                <a:solidFill>
                  <a:srgbClr val="1F2D3A"/>
                </a:solidFill>
              </a:rPr>
              <a:t>, Canadian </a:t>
            </a:r>
            <a:r>
              <a:rPr sz="1800" b="1">
                <a:solidFill>
                  <a:srgbClr val="1F2D3A"/>
                </a:solidFill>
              </a:rPr>
              <a:t>CTCPEC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Common Criteria (ISO/IEC 15408)</a:t>
            </a:r>
            <a:r>
              <a:rPr sz="1800" b="0">
                <a:solidFill>
                  <a:srgbClr val="1F2D3A"/>
                </a:solidFill>
              </a:rPr>
              <a:t>; the </a:t>
            </a:r>
            <a:r>
              <a:rPr sz="1800" b="1">
                <a:solidFill>
                  <a:srgbClr val="1F2D3A"/>
                </a:solidFill>
              </a:rPr>
              <a:t>EAL</a:t>
            </a:r>
            <a:r>
              <a:rPr sz="1800" b="0">
                <a:solidFill>
                  <a:srgbClr val="1F2D3A"/>
                </a:solidFill>
              </a:rPr>
              <a:t> scale comes from here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PTES/NIST SP 800-115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2005→2023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(v2→v4.0)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2010s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MASVS/MASTG</a:t>
            </a:r>
            <a:r>
              <a:rPr sz="1800" b="0">
                <a:solidFill>
                  <a:srgbClr val="1F2D3A"/>
                </a:solidFill>
              </a:rPr>
              <a:t> (mobile), </a:t>
            </a:r>
            <a:r>
              <a:rPr sz="1800" b="1">
                <a:solidFill>
                  <a:srgbClr val="1F2D3A"/>
                </a:solidFill>
              </a:rPr>
              <a:t>ETSI EN 303 645</a:t>
            </a:r>
            <a:r>
              <a:rPr sz="1800" b="0">
                <a:solidFill>
                  <a:srgbClr val="1F2D3A"/>
                </a:solidFill>
              </a:rPr>
              <a:t> (IoT)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One sentence: </a:t>
            </a:r>
            <a:r>
              <a:rPr sz="1800" b="1">
                <a:solidFill>
                  <a:srgbClr val="1F2D3A"/>
                </a:solidFill>
              </a:rPr>
              <a:t>a vendor cannot approve its own product</a:t>
            </a:r>
            <a:r>
              <a:rPr sz="1800" b="0">
                <a:solidFill>
                  <a:srgbClr val="1F2D3A"/>
                </a:solidFill>
              </a:rPr>
              <a:t> — independent, </a:t>
            </a:r>
            <a:r>
              <a:rPr sz="1800" b="1">
                <a:solidFill>
                  <a:srgbClr val="1F2D3A"/>
                </a:solidFill>
              </a:rPr>
              <a:t>evidence-based</a:t>
            </a:r>
            <a:r>
              <a:rPr sz="1800" b="0">
                <a:solidFill>
                  <a:srgbClr val="1F2D3A"/>
                </a:solidFill>
              </a:rPr>
              <a:t> evaluation.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Evaluator's Two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White-box:</a:t>
            </a:r>
            <a:r>
              <a:rPr sz="2000" b="0">
                <a:solidFill>
                  <a:srgbClr val="1F2D3A"/>
                </a:solidFill>
              </a:rPr>
              <a:t> it has access to all source code and documents.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Platform is untrusted:</a:t>
            </a:r>
            <a:r>
              <a:rPr sz="2000" b="0">
                <a:solidFill>
                  <a:srgbClr val="1F2D3A"/>
                </a:solidFill>
              </a:rPr>
              <a:t> the environment the product runs on is exposed to the attacker.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White-Box vs. Black-Box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White-box testing:</a:t>
            </a:r>
            <a:r>
              <a:rPr sz="2000" b="0">
                <a:solidFill>
                  <a:srgbClr val="1F2D3A"/>
                </a:solidFill>
              </a:rPr>
              <a:t> the tester has access to </a:t>
            </a:r>
            <a:r>
              <a:rPr sz="2000" b="1">
                <a:solidFill>
                  <a:srgbClr val="1F2D3A"/>
                </a:solidFill>
              </a:rPr>
              <a:t>source code + documentation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Black-box testing:</a:t>
            </a:r>
            <a:r>
              <a:rPr sz="2000" b="0">
                <a:solidFill>
                  <a:srgbClr val="1F2D3A"/>
                </a:solidFill>
              </a:rPr>
              <a:t> the tester accesses the system only from the outside (like a user).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evaluator usually works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(sees everything).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Consequence of These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protection merely </a:t>
            </a:r>
            <a:r>
              <a:rPr sz="2000" b="1">
                <a:solidFill>
                  <a:srgbClr val="1F2D3A"/>
                </a:solidFill>
              </a:rPr>
              <a:t>existing</a:t>
            </a:r>
            <a:r>
              <a:rPr sz="2000" b="0">
                <a:solidFill>
                  <a:srgbClr val="1F2D3A"/>
                </a:solidFill>
              </a:rPr>
              <a:t>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evaluator asks: </a:t>
            </a:r>
            <a:r>
              <a:rPr sz="2000" b="1">
                <a:solidFill>
                  <a:srgbClr val="1F2D3A"/>
                </a:solidFill>
              </a:rPr>
              <a:t>how easily is it bypassed?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 single protection,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time it takes to bypass protections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 Good Design the Attacker Is Forced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protection → bypassed in a single step.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Layered protection → the attacker must </a:t>
            </a:r>
            <a:r>
              <a:rPr sz="2000" b="1">
                <a:solidFill>
                  <a:srgbClr val="1F2D3A"/>
                </a:solidFill>
              </a:rPr>
              <a:t>chain</a:t>
            </a:r>
            <a:r>
              <a:rPr sz="2000" b="0">
                <a:solidFill>
                  <a:srgbClr val="1F2D3A"/>
                </a:solidFill>
              </a:rPr>
              <a:t> the layers.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evaluation counterpart of the "layered defence" idea from weeks 9 and 11.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Standards Landscape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Standards Map — Diagram</a:t>
            </a:r>
          </a:p>
        </p:txBody>
      </p:sp>
      <p:pic>
        <p:nvPicPr>
          <p:cNvPr id="7" name="Picture 6" descr="h12-05-standart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66" y="1325880"/>
            <a:ext cx="96257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Are There So Many Standards?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standard secures a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thing: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organisation, the product, or the crypto module?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domain (IoT, payments, mobile)?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Knowing which one your project is closest to tells you which tests to prioritise.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ISO/IEC 27001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What:</a:t>
            </a:r>
            <a:r>
              <a:rPr sz="2000" b="0">
                <a:solidFill>
                  <a:srgbClr val="1F2D3A"/>
                </a:solidFill>
              </a:rPr>
              <a:t> certifies the </a:t>
            </a:r>
            <a:r>
              <a:rPr sz="2000" b="1">
                <a:solidFill>
                  <a:srgbClr val="1F2D3A"/>
                </a:solidFill>
              </a:rPr>
              <a:t>organisation</a:t>
            </a:r>
            <a:r>
              <a:rPr sz="2000" b="0">
                <a:solidFill>
                  <a:srgbClr val="1F2D3A"/>
                </a:solidFill>
              </a:rPr>
              <a:t> (its processes).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the product, but the organisation's information security management.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Asks for </a:t>
            </a:r>
            <a:r>
              <a:rPr sz="2000" b="1">
                <a:solidFill>
                  <a:srgbClr val="1F2D3A"/>
                </a:solidFill>
              </a:rPr>
              <a:t>control evidence</a:t>
            </a:r>
            <a:r>
              <a:rPr sz="2000" b="0">
                <a:solidFill>
                  <a:srgbClr val="1F2D3A"/>
                </a:solidFill>
              </a:rPr>
              <a:t> instead of testing.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Criteria (ISO/IEC 15408)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What:</a:t>
            </a:r>
            <a:r>
              <a:rPr sz="2000" b="0">
                <a:solidFill>
                  <a:srgbClr val="1F2D3A"/>
                </a:solidFill>
              </a:rPr>
              <a:t> certifies the </a:t>
            </a:r>
            <a:r>
              <a:rPr sz="2000" b="1">
                <a:solidFill>
                  <a:srgbClr val="1F2D3A"/>
                </a:solidFill>
              </a:rPr>
              <a:t>product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 review + vulnerability analysis + penetration test +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Depth increases with </a:t>
            </a:r>
            <a:r>
              <a:rPr sz="2000" b="1">
                <a:solidFill>
                  <a:srgbClr val="1F2D3A"/>
                </a:solidFill>
              </a:rPr>
              <a:t>EAL</a:t>
            </a:r>
            <a:r>
              <a:rPr sz="2000" b="0">
                <a:solidFill>
                  <a:srgbClr val="1F2D3A"/>
                </a:solidFill>
              </a:rPr>
              <a:t> (week 13).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What: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1">
                <a:solidFill>
                  <a:srgbClr val="1F2D3A"/>
                </a:solidFill>
              </a:rPr>
              <a:t>cryptographic module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Algorithm validation, self-tests.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Covers only the </a:t>
            </a:r>
            <a:r>
              <a:rPr sz="2000" b="1">
                <a:solidFill>
                  <a:srgbClr val="1F2D3A"/>
                </a:solidFill>
              </a:rPr>
              <a:t>module</a:t>
            </a:r>
            <a:r>
              <a:rPr sz="2000" b="0">
                <a:solidFill>
                  <a:srgbClr val="1F2D3A"/>
                </a:solidFill>
              </a:rPr>
              <a:t>, not the whole application (week 13).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What:</a:t>
            </a:r>
            <a:r>
              <a:rPr sz="2000" b="0">
                <a:solidFill>
                  <a:srgbClr val="1F2D3A"/>
                </a:solidFill>
              </a:rPr>
              <a:t> baseline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security requirements.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light, broad-coverage baseline.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E.g., "store sensitive parameters securely".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payment</a:t>
            </a:r>
            <a:r>
              <a:rPr sz="2000" b="0">
                <a:solidFill>
                  <a:srgbClr val="1F2D3A"/>
                </a:solidFill>
              </a:rPr>
              <a:t> products.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Functional conformance + laboratory penetration test + attack potential.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Strict and detailed.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+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MASVS:</a:t>
            </a:r>
            <a:r>
              <a:rPr sz="2000" b="0">
                <a:solidFill>
                  <a:srgbClr val="1F2D3A"/>
                </a:solidFill>
              </a:rPr>
              <a:t> mobile application security </a:t>
            </a:r>
            <a:r>
              <a:rPr sz="2000" b="1">
                <a:solidFill>
                  <a:srgbClr val="1F2D3A"/>
                </a:solidFill>
              </a:rPr>
              <a:t>requirements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MASTG: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1">
                <a:solidFill>
                  <a:srgbClr val="1F2D3A"/>
                </a:solidFill>
              </a:rPr>
              <a:t>test guide</a:t>
            </a:r>
            <a:r>
              <a:rPr sz="2000" b="0">
                <a:solidFill>
                  <a:srgbClr val="1F2D3A"/>
                </a:solidFill>
              </a:rPr>
              <a:t> for testing them.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most applicable</a:t>
            </a:r>
            <a:r>
              <a:rPr sz="2000" b="0">
                <a:solidFill>
                  <a:srgbClr val="1F2D3A"/>
                </a:solidFill>
              </a:rPr>
              <a:t> guide for your project.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Standards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547368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472833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Certifies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Organisation (process)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Common Criteria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Product (EAL)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module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 baseline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Payments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Mobile application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Organisation or Product? (Often Confused)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ISO/IEC 27001:</a:t>
            </a:r>
            <a:r>
              <a:rPr sz="2000" b="0">
                <a:solidFill>
                  <a:srgbClr val="1F2D3A"/>
                </a:solidFill>
              </a:rPr>
              <a:t> organisation.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Common Criteria:</a:t>
            </a:r>
            <a:r>
              <a:rPr sz="2000" b="0">
                <a:solidFill>
                  <a:srgbClr val="1F2D3A"/>
                </a:solidFill>
              </a:rPr>
              <a:t>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organisation can hold ISO 27001 while its product has not been evaluated; the reverse is also true.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isn't it enough for the developer to say "it's secure"?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evaluator's two assumptions?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 ISO 27001 and Common Criteria certify separately?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developer is a </a:t>
            </a:r>
            <a:r>
              <a:rPr sz="2000" b="1">
                <a:solidFill>
                  <a:srgbClr val="1F2D3A"/>
                </a:solidFill>
              </a:rPr>
              <a:t>party with interest</a:t>
            </a:r>
            <a:r>
              <a:rPr sz="2000" b="0">
                <a:solidFill>
                  <a:srgbClr val="1F2D3A"/>
                </a:solidFill>
              </a:rPr>
              <a:t> (conflict of interest), is </a:t>
            </a:r>
            <a:r>
              <a:rPr sz="2000" b="1">
                <a:solidFill>
                  <a:srgbClr val="1F2D3A"/>
                </a:solidFill>
              </a:rPr>
              <a:t>blind</a:t>
            </a:r>
            <a:r>
              <a:rPr sz="2000" b="0">
                <a:solidFill>
                  <a:srgbClr val="1F2D3A"/>
                </a:solidFill>
              </a:rPr>
              <a:t> to its own mistakes, and has no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 in hand. An independent evaluator verifies with evidence.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The attacker </a:t>
            </a:r>
            <a:r>
              <a:rPr sz="2000" b="1">
                <a:solidFill>
                  <a:srgbClr val="1F2D3A"/>
                </a:solidFill>
              </a:rPr>
              <a:t>fully knows</a:t>
            </a:r>
            <a:r>
              <a:rPr sz="2000" b="0">
                <a:solidFill>
                  <a:srgbClr val="1F2D3A"/>
                </a:solidFill>
              </a:rPr>
              <a:t> the system (Kerckhoffs), (2) the attacker is </a:t>
            </a:r>
            <a:r>
              <a:rPr sz="2000" b="1">
                <a:solidFill>
                  <a:srgbClr val="1F2D3A"/>
                </a:solidFill>
              </a:rPr>
              <a:t>skilled and resourced</a:t>
            </a:r>
            <a:r>
              <a:rPr sz="2000" b="0">
                <a:solidFill>
                  <a:srgbClr val="1F2D3A"/>
                </a:solidFill>
              </a:rPr>
              <a:t>. Assume the worst case.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ISO 27001 certifies the organisation/process</a:t>
            </a:r>
            <a:r>
              <a:rPr sz="2000" b="0">
                <a:solidFill>
                  <a:srgbClr val="1F2D3A"/>
                </a:solidFill>
              </a:rPr>
              <a:t> (information security management), </a:t>
            </a:r>
            <a:r>
              <a:rPr sz="2000" b="1">
                <a:solidFill>
                  <a:srgbClr val="1F2D3A"/>
                </a:solidFill>
              </a:rPr>
              <a:t>Common Criteria certifies the product</a:t>
            </a:r>
            <a:r>
              <a:rPr sz="2000" b="0">
                <a:solidFill>
                  <a:srgbClr val="1F2D3A"/>
                </a:solidFill>
              </a:rPr>
              <a:t> (TOE) at a given assurance level.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The Evaluation Process: 13 Steps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Evaluation Process — Diagram</a:t>
            </a:r>
          </a:p>
        </p:txBody>
      </p:sp>
      <p:pic>
        <p:nvPicPr>
          <p:cNvPr id="7" name="Picture 6" descr="h12-01-degerlendirme-sure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95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process is split into three phases: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Preparation</a:t>
            </a:r>
            <a:r>
              <a:rPr sz="2000" b="0">
                <a:solidFill>
                  <a:srgbClr val="1F2D3A"/>
                </a:solidFill>
              </a:rPr>
              <a:t> (1–4)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Evaluation</a:t>
            </a:r>
            <a:r>
              <a:rPr sz="2000" b="0">
                <a:solidFill>
                  <a:srgbClr val="1F2D3A"/>
                </a:solidFill>
              </a:rPr>
              <a:t> (5–8)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Result and continuity</a:t>
            </a:r>
            <a:r>
              <a:rPr sz="2000" b="0">
                <a:solidFill>
                  <a:srgbClr val="1F2D3A"/>
                </a:solidFill>
              </a:rPr>
              <a:t> (9–13)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Now let's take them one by 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Preparation (Steps 1–4)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Preparation Steps — Diagram</a:t>
            </a:r>
          </a:p>
        </p:txBody>
      </p:sp>
      <p:pic>
        <p:nvPicPr>
          <p:cNvPr id="7" name="Picture 6" descr="h12-02-hazirlik-adim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9095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Target of Evaluation (TOE)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is to be evaluated is defined </a:t>
            </a:r>
            <a:r>
              <a:rPr sz="2000" b="1">
                <a:solidFill>
                  <a:srgbClr val="1F2D3A"/>
                </a:solidFill>
              </a:rPr>
              <a:t>uniquely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version number </a:t>
            </a:r>
            <a:r>
              <a:rPr sz="2000" b="1">
                <a:solidFill>
                  <a:srgbClr val="1F2D3A"/>
                </a:solidFill>
              </a:rPr>
              <a:t>is not enough</a:t>
            </a:r>
            <a:r>
              <a:rPr sz="2000" b="0">
                <a:solidFill>
                  <a:srgbClr val="1F2D3A"/>
                </a:solidFill>
              </a:rPr>
              <a:t>: binary + source + hash value/label.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Out-of-scope components are written down.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S0, S1 (version identity, week 1).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Identity — Diagram</a:t>
            </a:r>
          </a:p>
        </p:txBody>
      </p:sp>
      <p:pic>
        <p:nvPicPr>
          <p:cNvPr id="7" name="Picture 6" descr="h12-06-t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917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Why Unique?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report is only valid for the </a:t>
            </a:r>
            <a:r>
              <a:rPr sz="2000" b="1">
                <a:solidFill>
                  <a:srgbClr val="1F2D3A"/>
                </a:solidFill>
              </a:rPr>
              <a:t>binary examined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"v1.2" can point to two different builds.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hash value pins down exactly which file it is.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Delivery of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 code, API documentation, </a:t>
            </a:r>
            <a:r>
              <a:rPr sz="2000" b="1">
                <a:solidFill>
                  <a:srgbClr val="1F2D3A"/>
                </a:solidFill>
              </a:rPr>
              <a:t>security guide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Debug and release builds.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Delivered over a secure channel.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your repo + your guide.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Requirement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standard's </a:t>
            </a:r>
            <a:r>
              <a:rPr sz="2000" b="1">
                <a:solidFill>
                  <a:srgbClr val="1F2D3A"/>
                </a:solidFill>
              </a:rPr>
              <a:t>numbered</a:t>
            </a:r>
            <a:r>
              <a:rPr sz="2000" b="0">
                <a:solidFill>
                  <a:srgbClr val="1F2D3A"/>
                </a:solidFill>
              </a:rPr>
              <a:t> requirements.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each: the text, </a:t>
            </a:r>
            <a:r>
              <a:rPr sz="2000" b="1">
                <a:solidFill>
                  <a:srgbClr val="1F2D3A"/>
                </a:solidFill>
              </a:rPr>
              <a:t>test coverage</a:t>
            </a:r>
            <a:r>
              <a:rPr sz="2000" b="0">
                <a:solidFill>
                  <a:srgbClr val="1F2D3A"/>
                </a:solidFill>
              </a:rPr>
              <a:t>, the developer's </a:t>
            </a:r>
            <a:r>
              <a:rPr sz="2000" b="1">
                <a:solidFill>
                  <a:srgbClr val="1F2D3A"/>
                </a:solidFill>
              </a:rPr>
              <a:t>compliance rationale + document reference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Status: met / transferred / not met.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S17 compliance matrix (week 13).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control meets which requirement?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will gaps be closed?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document-update plan comes out of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Evaluation (Steps 5–8)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Source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source is reviewed in a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Dangerous patterns, incorrect crypto, leak points.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week 4 CERT, static analysis.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Where Does the Evaluator Look?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crypto usage correct? Where does the key come from/go to?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validation, memory (bounds, overflow, UAF).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Secret leakage in logs/errors.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Control-bypass paths.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Vulnerability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Assets and the </a:t>
            </a:r>
            <a:r>
              <a:rPr sz="2000" b="1">
                <a:solidFill>
                  <a:srgbClr val="1F2D3A"/>
                </a:solidFill>
              </a:rPr>
              <a:t>key hierarchy</a:t>
            </a:r>
            <a:r>
              <a:rPr sz="2000" b="0">
                <a:solidFill>
                  <a:srgbClr val="1F2D3A"/>
                </a:solidFill>
              </a:rPr>
              <a:t> are extracted.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every asset: "where, in what state, is it exposed?"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Output: finding list + </a:t>
            </a:r>
            <a:r>
              <a:rPr sz="2000" b="1">
                <a:solidFill>
                  <a:srgbClr val="1F2D3A"/>
                </a:solidFill>
              </a:rPr>
              <a:t>penetration test plan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S4, S5, S16.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Penetration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item in the plan is carried out with the </a:t>
            </a:r>
            <a:r>
              <a:rPr sz="2000" b="1">
                <a:solidFill>
                  <a:srgbClr val="1F2D3A"/>
                </a:solidFill>
              </a:rPr>
              <a:t>eight-field</a:t>
            </a:r>
            <a:r>
              <a:rPr sz="2000" b="0">
                <a:solidFill>
                  <a:srgbClr val="1F2D3A"/>
                </a:solidFill>
              </a:rPr>
              <a:t> template.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finding is rated with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Output: test result tables.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S16.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Penetration Test Plan — Diagram</a:t>
            </a:r>
          </a:p>
        </p:txBody>
      </p:sp>
      <p:pic>
        <p:nvPicPr>
          <p:cNvPr id="7" name="Picture 6" descr="h12-11-pentest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359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8 · Functional Conformance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product's standard functions (e.g., payment flows) are tested with the scheme's </a:t>
            </a:r>
            <a:r>
              <a:rPr sz="2000" b="1">
                <a:solidFill>
                  <a:srgbClr val="1F2D3A"/>
                </a:solidFill>
              </a:rPr>
              <a:t>test suite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Output: execution report.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unit tests.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Result and Continuity (Steps 9–13)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9 · Findings and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every finding, the laboratory produces a </a:t>
            </a:r>
            <a:r>
              <a:rPr sz="2000" b="1">
                <a:solidFill>
                  <a:srgbClr val="1F2D3A"/>
                </a:solidFill>
              </a:rPr>
              <a:t>recommendation</a:t>
            </a:r>
            <a:r>
              <a:rPr sz="2000" b="0">
                <a:solidFill>
                  <a:srgbClr val="1F2D3A"/>
                </a:solidFill>
              </a:rPr>
              <a:t>, the developer produces an </a:t>
            </a:r>
            <a:r>
              <a:rPr sz="2000" b="1">
                <a:solidFill>
                  <a:srgbClr val="1F2D3A"/>
                </a:solidFill>
              </a:rPr>
              <a:t>action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Some findings close as "not a security issue, a good-practice suggestion".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week 7 finding–action list.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Finding Cycle — Diagram</a:t>
            </a:r>
          </a:p>
        </p:txBody>
      </p:sp>
      <p:pic>
        <p:nvPicPr>
          <p:cNvPr id="7" name="Picture 6" descr="h12-09-bulgu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2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10 · Security Impact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fixes produce a new version: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change category (new feature / improvement / bug fix)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affected files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security impact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S13, change management.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Impact Analysis ↔ Delta — Diagram</a:t>
            </a:r>
          </a:p>
        </p:txBody>
      </p:sp>
      <p:pic>
        <p:nvPicPr>
          <p:cNvPr id="7" name="Picture 6" descr="h12-10-etki-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9741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11 · Delta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the </a:t>
            </a:r>
            <a:r>
              <a:rPr sz="2000" b="1">
                <a:solidFill>
                  <a:srgbClr val="1F2D3A"/>
                </a:solidFill>
              </a:rPr>
              <a:t>changed part</a:t>
            </a:r>
            <a:r>
              <a:rPr sz="2000" b="0">
                <a:solidFill>
                  <a:srgbClr val="1F2D3A"/>
                </a:solidFill>
              </a:rPr>
              <a:t> is re-evaluated.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laboratory asks for: marked-up documents, impact analysis, file list, the </a:t>
            </a:r>
            <a:r>
              <a:rPr sz="2000" b="1">
                <a:solidFill>
                  <a:srgbClr val="1F2D3A"/>
                </a:solidFill>
              </a:rPr>
              <a:t>new TOE identity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12 · Trade-Off and Residual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cost of every protection is measured.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Decisions are justified.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Residual risk is written explicitly.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week 1 trade-off record.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13 ·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Baseline → request → classification → approval → development and testing → release →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your project:</a:t>
            </a:r>
            <a:r>
              <a:rPr sz="2000" b="0">
                <a:solidFill>
                  <a:srgbClr val="1F2D3A"/>
                </a:solidFill>
              </a:rPr>
              <a:t> S13.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13 Steps ·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Preparation:</a:t>
            </a:r>
            <a:r>
              <a:rPr sz="1800" b="0">
                <a:solidFill>
                  <a:srgbClr val="1F2D3A"/>
                </a:solidFill>
              </a:rPr>
              <a:t> 1 TOE · 2 documents · 3 requirement template · 4 workshop </a:t>
            </a:r>
            <a:r>
              <a:rPr sz="1800" b="1">
                <a:solidFill>
                  <a:srgbClr val="1F2D3A"/>
                </a:solidFill>
              </a:rPr>
              <a:t>Evaluation:</a:t>
            </a:r>
            <a:r>
              <a:rPr sz="1800" b="0">
                <a:solidFill>
                  <a:srgbClr val="1F2D3A"/>
                </a:solidFill>
              </a:rPr>
              <a:t> 5 code review · 6 vulnerability · 7 penetration · 8 functional </a:t>
            </a:r>
            <a:r>
              <a:rPr sz="1800" b="1">
                <a:solidFill>
                  <a:srgbClr val="1F2D3A"/>
                </a:solidFill>
              </a:rPr>
              <a:t>Result:</a:t>
            </a:r>
            <a:r>
              <a:rPr sz="1800" b="0">
                <a:solidFill>
                  <a:srgbClr val="1F2D3A"/>
                </a:solidFill>
              </a:rPr>
              <a:t> 9 finding · 10 impact · 11 delta · 12 residual risk · 13 change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 Steps (Animation)</a:t>
            </a:r>
          </a:p>
        </p:txBody>
      </p:sp>
      <p:pic>
        <p:nvPicPr>
          <p:cNvPr id="7" name="Picture 6" descr="evaluation-process-pipeli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9" y="1325880"/>
            <a:ext cx="2861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 Steps — Edge Case: Most Findings</a:t>
            </a:r>
          </a:p>
        </p:txBody>
      </p:sp>
      <p:pic>
        <p:nvPicPr>
          <p:cNvPr id="7" name="Picture 6" descr="evaluation-process-pipeline--edge-many-finding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9" y="1325880"/>
            <a:ext cx="2861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End-to-End Example · NotKasa v1.0.0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 synthetic mobile application: </a:t>
            </a:r>
            <a:r>
              <a:rPr sz="2000" b="1">
                <a:solidFill>
                  <a:srgbClr val="FFFFFF"/>
                </a:solidFill>
              </a:rPr>
              <a:t>"NotKasa"</a:t>
            </a:r>
            <a:r>
              <a:rPr sz="2000" b="0">
                <a:solidFill>
                  <a:srgbClr val="FFFFFF"/>
                </a:solidFill>
              </a:rPr>
              <a:t> (keeps encrypted notes locally).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We'll evaluate this product start to finish.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Applying Step 1 · 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TOE:</a:t>
            </a:r>
            <a:r>
              <a:rPr sz="2000" b="0">
                <a:solidFill>
                  <a:srgbClr val="1F2D3A"/>
                </a:solidFill>
              </a:rPr>
              <a:t> NotKasa v1.0.0,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notkasa-1.0.0.apk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Hash (SHA-256): </a:t>
            </a:r>
            <a:r>
              <a:rPr sz="2000" b="0">
                <a:solidFill>
                  <a:srgbClr val="A1123F"/>
                </a:solidFill>
                <a:latin typeface="Consolas"/>
              </a:rPr>
              <a:t>a1b2…</a:t>
            </a:r>
            <a:r>
              <a:rPr sz="2000" b="0">
                <a:solidFill>
                  <a:srgbClr val="1F2D3A"/>
                </a:solidFill>
              </a:rPr>
              <a:t> (synthetic)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Source: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notkasa/</a:t>
            </a:r>
            <a:r>
              <a:rPr sz="2000" b="0">
                <a:solidFill>
                  <a:srgbClr val="1F2D3A"/>
                </a:solidFill>
              </a:rPr>
              <a:t> repository, tag </a:t>
            </a:r>
            <a:r>
              <a:rPr sz="2000" b="0">
                <a:solidFill>
                  <a:srgbClr val="A1123F"/>
                </a:solidFill>
                <a:latin typeface="Consolas"/>
              </a:rPr>
              <a:t>v1.0.0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 of scope: server infrastructure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Steps 2–3 · Documents and Requirement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Delivered: source, security guide, both debug and release APKs.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Requirement template: MASVS items numbered; each with status + evidence reference.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Code Review Findings (Synthetic)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B-01:</a:t>
            </a:r>
            <a:r>
              <a:rPr sz="2000" b="0">
                <a:solidFill>
                  <a:srgbClr val="1F2D3A"/>
                </a:solidFill>
              </a:rPr>
              <a:t> the key is erased in an intermediate variable, but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tmp</a:t>
            </a:r>
            <a:r>
              <a:rPr sz="2000" b="0">
                <a:solidFill>
                  <a:srgbClr val="1F2D3A"/>
                </a:solidFill>
              </a:rPr>
              <a:t> buffer is </a:t>
            </a:r>
            <a:r>
              <a:rPr sz="2000" b="1">
                <a:solidFill>
                  <a:srgbClr val="1F2D3A"/>
                </a:solidFill>
              </a:rPr>
              <a:t>not erased</a:t>
            </a:r>
            <a:r>
              <a:rPr sz="2000" b="0">
                <a:solidFill>
                  <a:srgbClr val="1F2D3A"/>
                </a:solidFill>
              </a:rPr>
              <a:t> (it stays in memory).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B-02:</a:t>
            </a:r>
            <a:r>
              <a:rPr sz="2000" b="0">
                <a:solidFill>
                  <a:srgbClr val="1F2D3A"/>
                </a:solidFill>
              </a:rPr>
              <a:t> the error message on a decode failure leaks internal detail.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Vulnerability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Assets: note content (C/I), data key (C/I), server token.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Question: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is each asset exposed?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Output: a penetration test plan (below).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Penetration Test Card (Summary)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T-01</a:t>
            </a:r>
            <a:r>
              <a:rPr sz="2000" b="0">
                <a:solidFill>
                  <a:srgbClr val="1F2D3A"/>
                </a:solidFill>
              </a:rPr>
              <a:t> plaintext on disk? → pass (encrypted)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T-02</a:t>
            </a:r>
            <a:r>
              <a:rPr sz="2000" b="0">
                <a:solidFill>
                  <a:srgbClr val="1F2D3A"/>
                </a:solidFill>
              </a:rPr>
              <a:t> does the key stay in memory? → </a:t>
            </a:r>
            <a:r>
              <a:rPr sz="2000" b="1">
                <a:solidFill>
                  <a:srgbClr val="1F2D3A"/>
                </a:solidFill>
              </a:rPr>
              <a:t>fail</a:t>
            </a:r>
            <a:r>
              <a:rPr sz="2000" b="0">
                <a:solidFill>
                  <a:srgbClr val="1F2D3A"/>
                </a:solidFill>
              </a:rPr>
              <a:t> (B-01 confirmed)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T-03</a:t>
            </a:r>
            <a:r>
              <a:rPr sz="2000" b="0">
                <a:solidFill>
                  <a:srgbClr val="1F2D3A"/>
                </a:solidFill>
              </a:rPr>
              <a:t> does the error message leak? → </a:t>
            </a:r>
            <a:r>
              <a:rPr sz="2000" b="1">
                <a:solidFill>
                  <a:srgbClr val="1F2D3A"/>
                </a:solidFill>
              </a:rPr>
              <a:t>fail</a:t>
            </a:r>
            <a:r>
              <a:rPr sz="2000" b="0">
                <a:solidFill>
                  <a:srgbClr val="1F2D3A"/>
                </a:solidFill>
              </a:rPr>
              <a:t> (B-02)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T-02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Time: low · expertise: moderate · knowledge: public · equipment: free (memory dump)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moderate-low attack potential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medium (confidentiality impact)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9 · Finding–Action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456"/>
                <a:gridCol w="4737903"/>
                <a:gridCol w="3302175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B-01 key residue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Erase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tmp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after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Added (memset-like)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B-02 error leak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 a single generic error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Fixed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Steps 10–11 · Impact Analysis +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fixes produced v1.0.1.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Impact analysis:</a:t>
            </a:r>
            <a:r>
              <a:rPr sz="2000" b="0">
                <a:solidFill>
                  <a:srgbClr val="1F2D3A"/>
                </a:solidFill>
              </a:rPr>
              <a:t> 2 files changed, both on the memory/error path; the crypto flow did not change.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Delta:</a:t>
            </a:r>
            <a:r>
              <a:rPr sz="2000" b="0">
                <a:solidFill>
                  <a:srgbClr val="1F2D3A"/>
                </a:solidFill>
              </a:rPr>
              <a:t> only these two files + the new TOE identity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notkasa-1.0.1.apk</a:t>
            </a:r>
            <a:r>
              <a:rPr sz="2000" b="0">
                <a:solidFill>
                  <a:srgbClr val="1F2D3A"/>
                </a:solidFill>
              </a:rPr>
              <a:t>) were re-evaluated.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12 · Residual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device is rooted, a memory dump is still possible.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Mitigation: short-lived key + server-side risk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Written explicitly.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13 steps aren't abstract; they're </a:t>
            </a:r>
            <a:r>
              <a:rPr sz="2000" b="1">
                <a:solidFill>
                  <a:srgbClr val="1F2D3A"/>
                </a:solidFill>
              </a:rPr>
              <a:t>concrete</a:t>
            </a:r>
            <a:r>
              <a:rPr sz="2000" b="0">
                <a:solidFill>
                  <a:srgbClr val="1F2D3A"/>
                </a:solidFill>
              </a:rPr>
              <a:t> in a small product.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Evaluation is a </a:t>
            </a:r>
            <a:r>
              <a:rPr sz="2000" b="1">
                <a:solidFill>
                  <a:srgbClr val="1F2D3A"/>
                </a:solidFill>
              </a:rPr>
              <a:t>cycle</a:t>
            </a:r>
            <a:r>
              <a:rPr sz="2000" b="0">
                <a:solidFill>
                  <a:srgbClr val="1F2D3A"/>
                </a:solidFill>
              </a:rPr>
              <a:t>: find → fix → re-evaluate.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project is a scaled-down version of this.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the Guide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security guide that is the source of this course's "How it's done in the field" notes = the </a:t>
            </a:r>
            <a:r>
              <a:rPr sz="2000" b="1">
                <a:solidFill>
                  <a:srgbClr val="1F2D3A"/>
                </a:solidFill>
              </a:rPr>
              <a:t>document delivered at step 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primary reader: the </a:t>
            </a:r>
            <a:r>
              <a:rPr sz="2000" b="1">
                <a:solidFill>
                  <a:srgbClr val="1F2D3A"/>
                </a:solidFill>
              </a:rPr>
              <a:t>laboratory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section opens with a requirement block ("requirement — status").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guide in your project is a scaled-down version of this.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three phases, and roughly which steps?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the TOE defined uniquely?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relationship between impact analysis and delta assessment?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Preparation</a:t>
            </a:r>
            <a:r>
              <a:rPr sz="2000" b="0">
                <a:solidFill>
                  <a:srgbClr val="1F2D3A"/>
                </a:solidFill>
              </a:rPr>
              <a:t> (TOE, scope, requirements, plan · 1–4), </a:t>
            </a:r>
            <a:r>
              <a:rPr sz="2000" b="1">
                <a:solidFill>
                  <a:srgbClr val="1F2D3A"/>
                </a:solidFill>
              </a:rPr>
              <a:t>Evaluation</a:t>
            </a:r>
            <a:r>
              <a:rPr sz="2000" b="0">
                <a:solidFill>
                  <a:srgbClr val="1F2D3A"/>
                </a:solidFill>
              </a:rPr>
              <a:t> (apply method, test, rate), </a:t>
            </a:r>
            <a:r>
              <a:rPr sz="2000" b="1">
                <a:solidFill>
                  <a:srgbClr val="1F2D3A"/>
                </a:solidFill>
              </a:rPr>
              <a:t>Result</a:t>
            </a:r>
            <a:r>
              <a:rPr sz="2000" b="0">
                <a:solidFill>
                  <a:srgbClr val="1F2D3A"/>
                </a:solidFill>
              </a:rPr>
              <a:t> (report, compliance, decision, ongoing delta maintenance).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To </a:t>
            </a:r>
            <a:r>
              <a:rPr sz="2000" b="1">
                <a:solidFill>
                  <a:srgbClr val="1F2D3A"/>
                </a:solidFill>
              </a:rPr>
              <a:t>pin down precisely</a:t>
            </a:r>
            <a:r>
              <a:rPr sz="2000" b="0">
                <a:solidFill>
                  <a:srgbClr val="1F2D3A"/>
                </a:solidFill>
              </a:rPr>
              <a:t> what is certified: version, build, hash, configuration. Otherwise a different version can appear "certified."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On a change, first the </a:t>
            </a:r>
            <a:r>
              <a:rPr sz="2000" b="1">
                <a:solidFill>
                  <a:srgbClr val="1F2D3A"/>
                </a:solidFill>
              </a:rPr>
              <a:t>impact analysis</a:t>
            </a:r>
            <a:r>
              <a:rPr sz="2000" b="0">
                <a:solidFill>
                  <a:srgbClr val="1F2D3A"/>
                </a:solidFill>
              </a:rPr>
              <a:t> (does it affect security?); if it does, not the whole product but only the </a:t>
            </a:r>
            <a:r>
              <a:rPr sz="2000" b="1">
                <a:solidFill>
                  <a:srgbClr val="1F2D3A"/>
                </a:solidFill>
              </a:rPr>
              <a:t>delta</a:t>
            </a:r>
            <a:r>
              <a:rPr sz="2000" b="0">
                <a:solidFill>
                  <a:srgbClr val="1F2D3A"/>
                </a:solidFill>
              </a:rPr>
              <a:t> (the changed part) is re-evaluated.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Vulnerability-Assessment Methods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Vulnerability?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Vulnerability: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weak point</a:t>
            </a:r>
            <a:r>
              <a:rPr sz="2000" b="0">
                <a:solidFill>
                  <a:srgbClr val="1F2D3A"/>
                </a:solidFill>
              </a:rPr>
              <a:t> in a system that can be abused (e.g., an unbounded buffer).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Vulnerability + abuse = a security incident.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Evaluation Methods — Diagram</a:t>
            </a:r>
          </a:p>
        </p:txBody>
      </p:sp>
      <p:pic>
        <p:nvPicPr>
          <p:cNvPr id="7" name="Picture 6" descr="h12-07-yontem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2845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Steps 5–6 of the process require using a set of methods </a:t>
            </a:r>
            <a:r>
              <a:rPr sz="2000" b="1">
                <a:solidFill>
                  <a:srgbClr val="1F2D3A"/>
                </a:solidFill>
              </a:rPr>
              <a:t>in the right order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Question: "How do I test my own product before I deliver it?"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Right Order: Cheap to Expensive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Source code review (manual)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Static analysis (SAST)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Dynamic analysis (DAST) + sanitizer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Fuzzing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Penetration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Cheap + broad → expensive + deep.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This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is cheap, scans broadly; but produces false positives.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Manual review</a:t>
            </a:r>
            <a:r>
              <a:rPr sz="2000" b="0">
                <a:solidFill>
                  <a:srgbClr val="1F2D3A"/>
                </a:solidFill>
              </a:rPr>
              <a:t> is expensive; but sees 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</a:t>
            </a:r>
            <a:r>
              <a:rPr sz="2000" b="0">
                <a:solidFill>
                  <a:srgbClr val="1F2D3A"/>
                </a:solidFill>
              </a:rPr>
              <a:t> requires running the program; finds what no one would think of.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Penetration test</a:t>
            </a:r>
            <a:r>
              <a:rPr sz="2000" b="0">
                <a:solidFill>
                  <a:srgbClr val="1F2D3A"/>
                </a:solidFill>
              </a:rPr>
              <a:t> is the most expensive; comes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Clear "easy" findings first with cheap methods → the penetration test can focus on real, combined problems.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 1 · Source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Finds </a:t>
            </a:r>
            <a:r>
              <a:rPr sz="2000" b="1">
                <a:solidFill>
                  <a:srgbClr val="1F2D3A"/>
                </a:solidFill>
              </a:rPr>
              <a:t>logic</a:t>
            </a:r>
            <a:r>
              <a:rPr sz="2000" b="0">
                <a:solidFill>
                  <a:srgbClr val="1F2D3A"/>
                </a:solidFill>
              </a:rPr>
              <a:t> errors that automated tools miss.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human eye sees context and intent.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Review · Where to Look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Crypto:</a:t>
            </a:r>
            <a:r>
              <a:rPr sz="2000" b="0">
                <a:solidFill>
                  <a:srgbClr val="1F2D3A"/>
                </a:solidFill>
              </a:rPr>
              <a:t> is the right algorithm/mode/padding used? Where does the key come from/go to/get erased? (weeks 3, 10, 11)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Review · Where to Look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Input/memory:</a:t>
            </a:r>
            <a:r>
              <a:rPr sz="2000" b="0">
                <a:solidFill>
                  <a:srgbClr val="1F2D3A"/>
                </a:solidFill>
              </a:rPr>
              <a:t> bounds checking, integer overflow, format string, UAF (week 4 CERT).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Leakage:</a:t>
            </a:r>
            <a:r>
              <a:rPr sz="2000" b="0">
                <a:solidFill>
                  <a:srgbClr val="1F2D3A"/>
                </a:solidFill>
              </a:rPr>
              <a:t> sensitive data in logs, internal state in errors.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Bypass:</a:t>
            </a:r>
            <a:r>
              <a:rPr sz="2000" b="0">
                <a:solidFill>
                  <a:srgbClr val="1F2D3A"/>
                </a:solidFill>
              </a:rPr>
              <a:t> a control that can be bypassed with a single branch/return (week 9).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 2 · Static Analysis (SAST)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Scans the source </a:t>
            </a:r>
            <a:r>
              <a:rPr sz="2000" b="1">
                <a:solidFill>
                  <a:srgbClr val="1F2D3A"/>
                </a:solidFill>
              </a:rPr>
              <a:t>without running 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Memory errors, dangerous calls, patterns.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Fast; but </a:t>
            </a:r>
            <a:r>
              <a:rPr sz="2000" b="1">
                <a:solidFill>
                  <a:srgbClr val="1F2D3A"/>
                </a:solidFill>
              </a:rPr>
              <a:t>false positives</a:t>
            </a:r>
            <a:r>
              <a:rPr sz="2000" b="0">
                <a:solidFill>
                  <a:srgbClr val="1F2D3A"/>
                </a:solidFill>
              </a:rPr>
              <a:t> must be handled.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 3 · Dynamic Analysis (DAST)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Tests the program </a:t>
            </a:r>
            <a:r>
              <a:rPr sz="2000" b="1">
                <a:solidFill>
                  <a:srgbClr val="1F2D3A"/>
                </a:solidFill>
              </a:rPr>
              <a:t>while running 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Sanitizers (ASan/UBSan) catch memory-access errors, undefined behaviour.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 4 ·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is fed </a:t>
            </a:r>
            <a:r>
              <a:rPr sz="2000" b="1">
                <a:solidFill>
                  <a:srgbClr val="1F2D3A"/>
                </a:solidFill>
              </a:rPr>
              <a:t>unexpected inputs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Crash/corruption paths are found.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Reveals cases a human would never think of.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 5 · Penetration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Combines</a:t>
            </a:r>
            <a:r>
              <a:rPr sz="2000" b="0">
                <a:solidFill>
                  <a:srgbClr val="1F2D3A"/>
                </a:solidFill>
              </a:rPr>
              <a:t> the methods above, tests exploitability from an attacker's viewpoint.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most expensive; comes last.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We'll plan it in detail in section 5.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Critical Point: The Developer Goes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tools must also be run </a:t>
            </a:r>
            <a:r>
              <a:rPr sz="2000" b="1">
                <a:solidFill>
                  <a:srgbClr val="1F2D3A"/>
                </a:solidFill>
              </a:rPr>
              <a:t>by the developer</a:t>
            </a:r>
            <a:r>
              <a:rPr sz="2000" b="0">
                <a:solidFill>
                  <a:srgbClr val="1F2D3A"/>
                </a:solidFill>
              </a:rPr>
              <a:t>, and the results (S16) presented.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big difference for the evaluator: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"no one has tested this" vs.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"these tools were run, these findings were closed".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counterpart of week 4's </a:t>
            </a:r>
            <a:r>
              <a:rPr sz="2000" b="1">
                <a:solidFill>
                  <a:srgbClr val="1F2D3A"/>
                </a:solidFill>
              </a:rPr>
              <a:t>secure build pipeline</a:t>
            </a:r>
            <a:r>
              <a:rPr sz="2000" b="0">
                <a:solidFill>
                  <a:srgbClr val="1F2D3A"/>
                </a:solidFill>
              </a:rPr>
              <a:t> (SAST + sanitizer + fuzz in CI).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Methods Side by Side (Animation)</a:t>
            </a:r>
          </a:p>
        </p:txBody>
      </p:sp>
      <p:pic>
        <p:nvPicPr>
          <p:cNvPr id="7" name="Picture 6" descr="vulnerability-assessment-method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04" y="1325880"/>
            <a:ext cx="725028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Methods — Edge Case: All Logic Bugs</a:t>
            </a:r>
          </a:p>
        </p:txBody>
      </p:sp>
      <p:pic>
        <p:nvPicPr>
          <p:cNvPr id="7" name="Picture 6" descr="vulnerability-assessment-methods--edge-all-logi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01" y="1325880"/>
            <a:ext cx="681969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do we order the methods cheap to expensive?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is SAST's weakness?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does it matter that the developer tests first?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Cheap/automated methods (SAST/DAST) </a:t>
            </a:r>
            <a:r>
              <a:rPr sz="2000" b="1">
                <a:solidFill>
                  <a:srgbClr val="1F2D3A"/>
                </a:solidFill>
              </a:rPr>
              <a:t>filter out</a:t>
            </a:r>
            <a:r>
              <a:rPr sz="2000" b="0">
                <a:solidFill>
                  <a:srgbClr val="1F2D3A"/>
                </a:solidFill>
              </a:rPr>
              <a:t> easy findings early; expensive human effort is spent only on what remains → efficient.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doesn't run the code → high </a:t>
            </a:r>
            <a:r>
              <a:rPr sz="2000" b="1">
                <a:solidFill>
                  <a:srgbClr val="1F2D3A"/>
                </a:solidFill>
              </a:rPr>
              <a:t>false positives</a:t>
            </a:r>
            <a:r>
              <a:rPr sz="2000" b="0">
                <a:solidFill>
                  <a:srgbClr val="1F2D3A"/>
                </a:solidFill>
              </a:rPr>
              <a:t>, cannot see runtime/configuration/business-logic flaws, doesn't know 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It closes easy findings </a:t>
            </a:r>
            <a:r>
              <a:rPr sz="2000" b="1">
                <a:solidFill>
                  <a:srgbClr val="1F2D3A"/>
                </a:solidFill>
              </a:rPr>
              <a:t>cheaply</a:t>
            </a:r>
            <a:r>
              <a:rPr sz="2000" b="0">
                <a:solidFill>
                  <a:srgbClr val="1F2D3A"/>
                </a:solidFill>
              </a:rPr>
              <a:t> (goes clean to the evaluator), lowers cost/delay → evaluation can focus on deep problems.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The Tests the Standards Demand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Each Standard Emphasises Different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Whichever family your project is closest to, do the tests it expects first.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Standards · Test Expectations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938"/>
                <a:gridCol w="825359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Primary 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Process/management audit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Common Criteria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Review + vulnerability + penetration + attack potential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module 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Baseline requirement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Functional + penetration + attack potential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Mobile static + dynamic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Methodology Guides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Mature public guides exist for </a:t>
            </a:r>
            <a:r>
              <a:rPr sz="2000" b="1">
                <a:solidFill>
                  <a:srgbClr val="1F2D3A"/>
                </a:solidFill>
              </a:rPr>
              <a:t>how</a:t>
            </a:r>
            <a:r>
              <a:rPr sz="2000" b="0">
                <a:solidFill>
                  <a:srgbClr val="1F2D3A"/>
                </a:solidFill>
              </a:rPr>
              <a:t> to run a penetration test: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(web)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MASTG</a:t>
            </a:r>
            <a:r>
              <a:rPr sz="2000" b="0">
                <a:solidFill>
                  <a:srgbClr val="1F2D3A"/>
                </a:solidFill>
              </a:rPr>
              <a:t> (mobile)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(general process)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These are not an "attack recipe," they are </a:t>
            </a:r>
            <a:r>
              <a:rPr sz="2000" b="1">
                <a:solidFill>
                  <a:srgbClr val="1F2D3A"/>
                </a:solidFill>
              </a:rPr>
              <a:t>methodology</a:t>
            </a:r>
            <a:r>
              <a:rPr sz="2000" b="0">
                <a:solidFill>
                  <a:srgbClr val="1F2D3A"/>
                </a:solidFill>
              </a:rPr>
              <a:t> — they make the result repeatable/comparable.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Attack Potential and Finding Rating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Attack Potential?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 potential: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how difficult</a:t>
            </a:r>
            <a:r>
              <a:rPr sz="2000" b="0">
                <a:solidFill>
                  <a:srgbClr val="1F2D3A"/>
                </a:solidFill>
              </a:rPr>
              <a:t> it is to carry out an attack.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Scored with factors such as time, expertise, and equipment.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Low potential (an easy attack) = a serious finding.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Not "Yes/No" but "How Hard?"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protection merely existing is not enough; </a:t>
            </a:r>
            <a:r>
              <a:rPr sz="2000" b="1">
                <a:solidFill>
                  <a:srgbClr val="1F2D3A"/>
                </a:solidFill>
              </a:rPr>
              <a:t>how easily it is bypassed</a:t>
            </a:r>
            <a:r>
              <a:rPr sz="2000" b="0">
                <a:solidFill>
                  <a:srgbClr val="1F2D3A"/>
                </a:solidFill>
              </a:rPr>
              <a:t> is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Common Criteria and payment schemes do this with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formal counterpart of week 9's "measuring obfuscation" (potency/resilience) framework.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Question: "What Did It Take to Break?"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finding's severity is decided by the answer to this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score it with five–six factors; the points are summed; the total maps to a </a:t>
            </a:r>
            <a:r>
              <a:rPr sz="2000" b="1">
                <a:solidFill>
                  <a:srgbClr val="1F2D3A"/>
                </a:solidFill>
              </a:rPr>
              <a:t>resistance level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Factor 1 · Elapsed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long did the attack take?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 score:</a:t>
            </a:r>
            <a:r>
              <a:rPr sz="2000" b="0">
                <a:solidFill>
                  <a:srgbClr val="1F2D3A"/>
                </a:solidFill>
              </a:rPr>
              <a:t> a day. </a:t>
            </a:r>
            <a:r>
              <a:rPr sz="2000" b="1">
                <a:solidFill>
                  <a:srgbClr val="1F2D3A"/>
                </a:solidFill>
              </a:rPr>
              <a:t>High score:</a:t>
            </a:r>
            <a:r>
              <a:rPr sz="2000" b="0">
                <a:solidFill>
                  <a:srgbClr val="1F2D3A"/>
                </a:solidFill>
              </a:rPr>
              <a:t> months.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Factor 2 ·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level of skill was required?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Low:</a:t>
            </a:r>
            <a:r>
              <a:rPr sz="2000" b="0">
                <a:solidFill>
                  <a:srgbClr val="1F2D3A"/>
                </a:solidFill>
              </a:rPr>
              <a:t> an ordinary user. </a:t>
            </a:r>
            <a:r>
              <a:rPr sz="2000" b="1">
                <a:solidFill>
                  <a:srgbClr val="1F2D3A"/>
                </a:solidFill>
              </a:rPr>
              <a:t>High:</a:t>
            </a:r>
            <a:r>
              <a:rPr sz="2000" b="0">
                <a:solidFill>
                  <a:srgbClr val="1F2D3A"/>
                </a:solidFill>
              </a:rPr>
              <a:t> a domain expert.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Factor 3 · Knowledge of the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needed to be known about the product?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Low:</a:t>
            </a:r>
            <a:r>
              <a:rPr sz="2000" b="0">
                <a:solidFill>
                  <a:srgbClr val="1F2D3A"/>
                </a:solidFill>
              </a:rPr>
              <a:t> publicly available information. </a:t>
            </a:r>
            <a:r>
              <a:rPr sz="2000" b="1">
                <a:solidFill>
                  <a:srgbClr val="1F2D3A"/>
                </a:solidFill>
              </a:rPr>
              <a:t>High:</a:t>
            </a:r>
            <a:r>
              <a:rPr sz="2000" b="0">
                <a:solidFill>
                  <a:srgbClr val="1F2D3A"/>
                </a:solidFill>
              </a:rPr>
              <a:t> internal/confidential documents.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Factor 4 · Window of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much access/how many attempts were needed?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Low:</a:t>
            </a:r>
            <a:r>
              <a:rPr sz="2000" b="0">
                <a:solidFill>
                  <a:srgbClr val="1F2D3A"/>
                </a:solidFill>
              </a:rPr>
              <a:t> unlimited/remote. </a:t>
            </a:r>
            <a:r>
              <a:rPr sz="2000" b="1">
                <a:solidFill>
                  <a:srgbClr val="1F2D3A"/>
                </a:solidFill>
              </a:rPr>
              <a:t>High:</a:t>
            </a:r>
            <a:r>
              <a:rPr sz="2000" b="0">
                <a:solidFill>
                  <a:srgbClr val="1F2D3A"/>
                </a:solidFill>
              </a:rPr>
              <a:t> restricted physical access.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Factor 5 ·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tools were needed?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Low:</a:t>
            </a:r>
            <a:r>
              <a:rPr sz="2000" b="0">
                <a:solidFill>
                  <a:srgbClr val="1F2D3A"/>
                </a:solidFill>
              </a:rPr>
              <a:t> standard, free. </a:t>
            </a:r>
            <a:r>
              <a:rPr sz="2000" b="1">
                <a:solidFill>
                  <a:srgbClr val="1F2D3A"/>
                </a:solidFill>
              </a:rPr>
              <a:t>High:</a:t>
            </a:r>
            <a:r>
              <a:rPr sz="2000" b="0">
                <a:solidFill>
                  <a:srgbClr val="1F2D3A"/>
                </a:solidFill>
              </a:rPr>
              <a:t> specialised, expensive.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Factors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976"/>
                <a:gridCol w="3117581"/>
                <a:gridCol w="389697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Elapsed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day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Expertise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Ordinary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Expert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Knowledge of 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Public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Confidential document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 of opportunity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Unlimited/remote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Restricted physical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Equipment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Specialised/expensive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Interpretation: Low Total = Serious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High</a:t>
            </a:r>
            <a:r>
              <a:rPr sz="2000" b="0">
                <a:solidFill>
                  <a:srgbClr val="1F2D3A"/>
                </a:solidFill>
              </a:rPr>
              <a:t> total → the attack is hard → the protection is good.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</a:t>
            </a:r>
            <a:r>
              <a:rPr sz="2000" b="0">
                <a:solidFill>
                  <a:srgbClr val="1F2D3A"/>
                </a:solidFill>
              </a:rPr>
              <a:t> total (ordinary user, one hour, free tool) → </a:t>
            </a:r>
            <a:r>
              <a:rPr sz="2000" b="1">
                <a:solidFill>
                  <a:srgbClr val="1F2D3A"/>
                </a:solidFill>
              </a:rPr>
              <a:t>serious finding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logic is the same as week 9's four metrics.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Worked Example (Synthetic)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"A licence check in the release build depended on a branch that an ordinary-level user, with a free disassembler, found in an hour and bypassed with a single-byte patch."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Time: low · expertise: moderate · knowledge: public · equipment: free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low attack potential → serious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Recommendation:</a:t>
            </a:r>
            <a:r>
              <a:rPr sz="2000" b="0">
                <a:solidFill>
                  <a:srgbClr val="1F2D3A"/>
                </a:solidFill>
              </a:rPr>
              <a:t> opaque boolean + random exit (week 9) + server-side check.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Potential — Five Factors</a:t>
            </a:r>
          </a:p>
        </p:txBody>
      </p:sp>
      <p:pic>
        <p:nvPicPr>
          <p:cNvPr id="7" name="Picture 6" descr="h12-03-saldiri-potansiy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55" y="1325880"/>
            <a:ext cx="79491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Potential Calculator (Animation)</a:t>
            </a:r>
          </a:p>
        </p:txBody>
      </p:sp>
      <p:pic>
        <p:nvPicPr>
          <p:cNvPr id="7" name="Picture 6" descr="attack-potential-calculato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65" y="1325880"/>
            <a:ext cx="87241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Calculator — Edge Case: Secure-Element Extraction</a:t>
            </a:r>
          </a:p>
        </p:txBody>
      </p:sp>
      <p:pic>
        <p:nvPicPr>
          <p:cNvPr id="7" name="Picture 6" descr="attack-potential-calculator--edge-secure-elemen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65" y="1325880"/>
            <a:ext cx="87241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CVSS?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 (Common Vulnerability Scoring System):</a:t>
            </a:r>
            <a:r>
              <a:rPr sz="2000" b="0">
                <a:solidFill>
                  <a:srgbClr val="1F2D3A"/>
                </a:solidFill>
              </a:rPr>
              <a:t> expresses a vulnerability's </a:t>
            </a:r>
            <a:r>
              <a:rPr sz="2000" b="1">
                <a:solidFill>
                  <a:srgbClr val="1F2D3A"/>
                </a:solidFill>
              </a:rPr>
              <a:t>impact</a:t>
            </a:r>
            <a:r>
              <a:rPr sz="2000" b="0">
                <a:solidFill>
                  <a:srgbClr val="1F2D3A"/>
                </a:solidFill>
              </a:rPr>
              <a:t> as a standard score (0–10).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Higher score = more severe impact.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Used for prioritisation.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Potential ↔ CVSS — Diagram</a:t>
            </a:r>
          </a:p>
        </p:txBody>
      </p:sp>
      <p:pic>
        <p:nvPicPr>
          <p:cNvPr id="7" name="Picture 6" descr="h12-08-potansiyel-cv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0049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CVSS Add?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Attack potential: "how </a:t>
            </a:r>
            <a:r>
              <a:rPr sz="2000" b="1">
                <a:solidFill>
                  <a:srgbClr val="1F2D3A"/>
                </a:solidFill>
              </a:rPr>
              <a:t>hard</a:t>
            </a:r>
            <a:r>
              <a:rPr sz="2000" b="0">
                <a:solidFill>
                  <a:srgbClr val="1F2D3A"/>
                </a:solidFill>
              </a:rPr>
              <a:t> is it to break?"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"how </a:t>
            </a:r>
            <a:r>
              <a:rPr sz="2000" b="1">
                <a:solidFill>
                  <a:srgbClr val="1F2D3A"/>
                </a:solidFill>
              </a:rPr>
              <a:t>big</a:t>
            </a:r>
            <a:r>
              <a:rPr sz="2000" b="0">
                <a:solidFill>
                  <a:srgbClr val="1F2D3A"/>
                </a:solidFill>
              </a:rPr>
              <a:t> is this vulnerability's impact?"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two complement each other.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· Likelihood vs.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weighs </a:t>
            </a:r>
            <a:r>
              <a:rPr sz="2000" b="1">
                <a:solidFill>
                  <a:srgbClr val="1F2D3A"/>
                </a:solidFill>
              </a:rPr>
              <a:t>likelihood</a:t>
            </a:r>
            <a:r>
              <a:rPr sz="2000" b="0">
                <a:solidFill>
                  <a:srgbClr val="1F2D3A"/>
                </a:solidFill>
              </a:rPr>
              <a:t> (the attack's difficulty), the other </a:t>
            </a:r>
            <a:r>
              <a:rPr sz="2000" b="1">
                <a:solidFill>
                  <a:srgbClr val="1F2D3A"/>
                </a:solidFill>
              </a:rPr>
              <a:t>impact</a:t>
            </a:r>
            <a:r>
              <a:rPr sz="2000" b="0">
                <a:solidFill>
                  <a:srgbClr val="1F2D3A"/>
                </a:solidFill>
              </a:rPr>
              <a:t> (loss of confidentiality/integrity/availability).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are usually given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in the report.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Prioritisation is based on both.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and Attack Potential (Animation)</a:t>
            </a:r>
          </a:p>
        </p:txBody>
      </p:sp>
      <p:pic>
        <p:nvPicPr>
          <p:cNvPr id="7" name="Picture 6" descr="cvss-vs-attack-potenti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CVSS/Potential — Edge Case: Both Highest</a:t>
            </a:r>
          </a:p>
        </p:txBody>
      </p:sp>
      <p:pic>
        <p:nvPicPr>
          <p:cNvPr id="7" name="Picture 6" descr="cvss-vs-attack-potential--edge-highe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five factors of attack potential?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a low attack potential a serious finding?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 attack potential and CVSS each measure?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Elapsed time · expertise · knowledge of the target · opportunity (access) · equipment.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It means the exploit can be done with </a:t>
            </a:r>
            <a:r>
              <a:rPr sz="2000" b="1">
                <a:solidFill>
                  <a:srgbClr val="1F2D3A"/>
                </a:solidFill>
              </a:rPr>
              <a:t>little</a:t>
            </a:r>
            <a:r>
              <a:rPr sz="2000" b="0">
                <a:solidFill>
                  <a:srgbClr val="1F2D3A"/>
                </a:solidFill>
              </a:rPr>
              <a:t> time/skill/tools → many more attackers can do it → a broad, likely threat → high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 measures the attack's </a:t>
            </a:r>
            <a:r>
              <a:rPr sz="2000" b="1">
                <a:solidFill>
                  <a:srgbClr val="1F2D3A"/>
                </a:solidFill>
              </a:rPr>
              <a:t>difficulty/cost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measures the vulnerability's </a:t>
            </a:r>
            <a:r>
              <a:rPr sz="2000" b="1">
                <a:solidFill>
                  <a:srgbClr val="1F2D3A"/>
                </a:solidFill>
              </a:rPr>
              <a:t>severity/impact</a:t>
            </a:r>
            <a:r>
              <a:rPr sz="2000" b="0">
                <a:solidFill>
                  <a:srgbClr val="1F2D3A"/>
                </a:solidFill>
              </a:rPr>
              <a:t>. Different axes, used together.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Finding → Recommendation → Action and Impact Analysis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Finding?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Finding:</a:t>
            </a:r>
            <a:r>
              <a:rPr sz="2000" b="0">
                <a:solidFill>
                  <a:srgbClr val="1F2D3A"/>
                </a:solidFill>
              </a:rPr>
              <a:t> a problem or improvement point identified during evaluation.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finding needs: evidence, severity, a </a:t>
            </a:r>
            <a:r>
              <a:rPr sz="2000" b="1">
                <a:solidFill>
                  <a:srgbClr val="1F2D3A"/>
                </a:solidFill>
              </a:rPr>
              <a:t>recommendation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Evaluation Is a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a "pass/fail" stamp, but an </a:t>
            </a:r>
            <a:r>
              <a:rPr sz="2000" b="1">
                <a:solidFill>
                  <a:srgbClr val="1F2D3A"/>
                </a:solidFill>
              </a:rPr>
              <a:t>improvement cycle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steps for every finding: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Finding:</a:t>
            </a:r>
            <a:r>
              <a:rPr sz="2000" b="0">
                <a:solidFill>
                  <a:srgbClr val="1F2D3A"/>
                </a:solidFill>
              </a:rPr>
              <a:t> what the laboratory found (with evidence, repeatable).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Recommendation:</a:t>
            </a:r>
            <a:r>
              <a:rPr sz="2000" b="0">
                <a:solidFill>
                  <a:srgbClr val="1F2D3A"/>
                </a:solidFill>
              </a:rPr>
              <a:t> the suggested direction of the fix.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Action:</a:t>
            </a:r>
            <a:r>
              <a:rPr sz="2000" b="0">
                <a:solidFill>
                  <a:srgbClr val="1F2D3A"/>
                </a:solidFill>
              </a:rPr>
              <a:t> what the developer did (or why not).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Closure:</a:t>
            </a:r>
            <a:r>
              <a:rPr sz="2000" b="0">
                <a:solidFill>
                  <a:srgbClr val="1F2D3A"/>
                </a:solidFill>
              </a:rPr>
              <a:t> some findings close as "not open, a good-practice suggestion".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cycle → the source of the post-midterm </a:t>
            </a:r>
            <a:r>
              <a:rPr sz="2000" b="1">
                <a:solidFill>
                  <a:srgbClr val="1F2D3A"/>
                </a:solidFill>
              </a:rPr>
              <a:t>finding–action list</a:t>
            </a:r>
            <a:r>
              <a:rPr sz="2000" b="0">
                <a:solidFill>
                  <a:srgbClr val="1F2D3A"/>
                </a:solidFill>
              </a:rPr>
              <a:t> (week 7).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Finding Cycle (Animation)</a:t>
            </a:r>
          </a:p>
        </p:txBody>
      </p:sp>
      <p:pic>
        <p:nvPicPr>
          <p:cNvPr id="7" name="Picture 6" descr="finding-recommendation-action-impac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4" y="1325880"/>
            <a:ext cx="105688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Finding Cycle — Edge Case: None Closed</a:t>
            </a:r>
          </a:p>
        </p:txBody>
      </p:sp>
      <p:pic>
        <p:nvPicPr>
          <p:cNvPr id="7" name="Picture 6" descr="finding-recommendation-action-impact--edge-all-ope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Need These?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Fixes produce a new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Re-evaluating everything from scratch is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documents come into play (steps 10–11).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Security Impact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Classifies changes: new feature / improvement / bug fix.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Lists affected files.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Writes the </a:t>
            </a:r>
            <a:r>
              <a:rPr sz="2000" b="1">
                <a:solidFill>
                  <a:srgbClr val="1F2D3A"/>
                </a:solidFill>
              </a:rPr>
              <a:t>security impact</a:t>
            </a:r>
            <a:r>
              <a:rPr sz="2000" b="0">
                <a:solidFill>
                  <a:srgbClr val="1F2D3A"/>
                </a:solidFill>
              </a:rPr>
              <a:t> of each change.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developer's</a:t>
            </a:r>
            <a:r>
              <a:rPr sz="2000" b="0">
                <a:solidFill>
                  <a:srgbClr val="1F2D3A"/>
                </a:solidFill>
              </a:rPr>
              <a:t> output.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Delta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Based on this document, re-evaluates </a:t>
            </a:r>
            <a:r>
              <a:rPr sz="2000" b="1">
                <a:solidFill>
                  <a:srgbClr val="1F2D3A"/>
                </a:solidFill>
              </a:rPr>
              <a:t>only the changed part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Asks for: marked-up documents, change list, file list, </a:t>
            </a:r>
            <a:r>
              <a:rPr sz="2000" b="1">
                <a:solidFill>
                  <a:srgbClr val="1F2D3A"/>
                </a:solidFill>
              </a:rPr>
              <a:t>new TOE identity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laboratory's</a:t>
            </a:r>
            <a:r>
              <a:rPr sz="2000" b="0">
                <a:solidFill>
                  <a:srgbClr val="1F2D3A"/>
                </a:solidFill>
              </a:rPr>
              <a:t> job.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Do Not Confuse the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Impact analysis: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 i="1">
                <a:solidFill>
                  <a:srgbClr val="1F2D3A"/>
                </a:solidFill>
              </a:rPr>
              <a:t>documents</a:t>
            </a:r>
            <a:r>
              <a:rPr sz="2000" b="0">
                <a:solidFill>
                  <a:srgbClr val="1F2D3A"/>
                </a:solidFill>
              </a:rPr>
              <a:t> the change's impact (developer).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assessment: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 i="1">
                <a:solidFill>
                  <a:srgbClr val="1F2D3A"/>
                </a:solidFill>
              </a:rPr>
              <a:t>re-evaluates</a:t>
            </a:r>
            <a:r>
              <a:rPr sz="2000" b="0">
                <a:solidFill>
                  <a:srgbClr val="1F2D3A"/>
                </a:solidFill>
              </a:rPr>
              <a:t> only the change (laboratory).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version identity/hash is inconsistent, delta </a:t>
            </a:r>
            <a:r>
              <a:rPr sz="2000" b="1">
                <a:solidFill>
                  <a:srgbClr val="1F2D3A"/>
                </a:solidFill>
              </a:rPr>
              <a:t>cannot be done</a:t>
            </a:r>
            <a:r>
              <a:rPr sz="2000" b="0">
                <a:solidFill>
                  <a:srgbClr val="1F2D3A"/>
                </a:solidFill>
              </a:rPr>
              <a:t> (the evaluated product becomes ambiguous).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6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Whose job is impact analysis, whose is delta?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6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Impact analysis is the developer's</a:t>
            </a:r>
            <a:r>
              <a:rPr sz="2000" b="0">
                <a:solidFill>
                  <a:srgbClr val="1F2D3A"/>
                </a:solidFill>
              </a:rPr>
              <a:t> job (they initiate the assessment of the change's impact); </a:t>
            </a:r>
            <a:r>
              <a:rPr sz="2000" b="1">
                <a:solidFill>
                  <a:srgbClr val="1F2D3A"/>
                </a:solidFill>
              </a:rPr>
              <a:t>delta assessment is the evaluator's</a:t>
            </a:r>
            <a:r>
              <a:rPr sz="2000" b="0">
                <a:solidFill>
                  <a:srgbClr val="1F2D3A"/>
                </a:solidFill>
              </a:rPr>
              <a:t> job (they independently re-review it).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Penetration Test Plan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Was a Penetration Test?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activity that </a:t>
            </a:r>
            <a:r>
              <a:rPr sz="2000" b="1">
                <a:solidFill>
                  <a:srgbClr val="1F2D3A"/>
                </a:solidFill>
              </a:rPr>
              <a:t>combines</a:t>
            </a:r>
            <a:r>
              <a:rPr sz="2000" b="0">
                <a:solidFill>
                  <a:srgbClr val="1F2D3A"/>
                </a:solidFill>
              </a:rPr>
              <a:t> the methods from an attacker's viewpoint, </a:t>
            </a:r>
            <a:r>
              <a:rPr sz="2000" b="1">
                <a:solidFill>
                  <a:srgbClr val="1F2D3A"/>
                </a:solidFill>
              </a:rPr>
              <a:t>planned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permitted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"Planned" and "permitted" are not optional.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plan contains at least four headings.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Heading 1 ·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will </a:t>
            </a:r>
            <a:r>
              <a:rPr sz="2000" b="1">
                <a:solidFill>
                  <a:srgbClr val="1F2D3A"/>
                </a:solidFill>
              </a:rPr>
              <a:t>and won't</a:t>
            </a:r>
            <a:r>
              <a:rPr sz="2000" b="0">
                <a:solidFill>
                  <a:srgbClr val="1F2D3A"/>
                </a:solidFill>
              </a:rPr>
              <a:t> be tested is written explicitly.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binary/version, which components, which environment (test or production), which data (synthetic only).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Out-of-scope items are also written down (third-party servers, real user data).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Heading 2 · Rules of Engagement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Written permission</a:t>
            </a:r>
            <a:r>
              <a:rPr sz="2000" b="0">
                <a:solidFill>
                  <a:srgbClr val="1F2D3A"/>
                </a:solidFill>
              </a:rPr>
              <a:t> and an authorised signature.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test window (date/time).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Permitted and </a:t>
            </a:r>
            <a:r>
              <a:rPr sz="2000" b="1">
                <a:solidFill>
                  <a:srgbClr val="1F2D3A"/>
                </a:solidFill>
              </a:rPr>
              <a:t>forbidden</a:t>
            </a:r>
            <a:r>
              <a:rPr sz="2000" b="0">
                <a:solidFill>
                  <a:srgbClr val="1F2D3A"/>
                </a:solidFill>
              </a:rPr>
              <a:t> methods (e.g., excluding those that cause service disruption).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Heading 2 · Rules of Engagement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rule: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real personal data; findings are confidential.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Kill switch:</a:t>
            </a:r>
            <a:r>
              <a:rPr sz="2000" b="0">
                <a:solidFill>
                  <a:srgbClr val="1F2D3A"/>
                </a:solidFill>
              </a:rPr>
              <a:t> if a critical impact is observed, the test stops, reported immediately.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Communication and escalation points.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Heading 3 ·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a recognised methodology and follow it: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mobile: </a:t>
            </a:r>
            <a:r>
              <a:rPr sz="2000" b="1">
                <a:solidFill>
                  <a:srgbClr val="1F2D3A"/>
                </a:solidFill>
              </a:rPr>
              <a:t>OWASP MASTG/MASVS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web: </a:t>
            </a:r>
            <a:r>
              <a:rPr sz="2000" b="1">
                <a:solidFill>
                  <a:srgbClr val="1F2D3A"/>
                </a:solidFill>
              </a:rPr>
              <a:t>OWASP WSTG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general: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the result is </a:t>
            </a:r>
            <a:r>
              <a:rPr sz="2000" b="1">
                <a:solidFill>
                  <a:srgbClr val="1F2D3A"/>
                </a:solidFill>
              </a:rPr>
              <a:t>repeatable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comparable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Heading 4 · Test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test is written with the same </a:t>
            </a:r>
            <a:r>
              <a:rPr sz="2000" b="1">
                <a:solidFill>
                  <a:srgbClr val="1F2D3A"/>
                </a:solidFill>
              </a:rPr>
              <a:t>eight-field</a:t>
            </a:r>
            <a:r>
              <a:rPr sz="2000" b="0">
                <a:solidFill>
                  <a:srgbClr val="1F2D3A"/>
                </a:solidFill>
              </a:rPr>
              <a:t> 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card is your project's </a:t>
            </a:r>
            <a:r>
              <a:rPr sz="2000" b="1">
                <a:solidFill>
                  <a:srgbClr val="1F2D3A"/>
                </a:solidFill>
              </a:rPr>
              <a:t>S16</a:t>
            </a:r>
            <a:r>
              <a:rPr sz="2000" b="0">
                <a:solidFill>
                  <a:srgbClr val="1F2D3A"/>
                </a:solidFill>
              </a:rPr>
              <a:t> skeleton. Let's look at the fields now.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Card · Fields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Test ID:</a:t>
            </a:r>
            <a:r>
              <a:rPr sz="2000" b="0">
                <a:solidFill>
                  <a:srgbClr val="1F2D3A"/>
                </a:solidFill>
              </a:rPr>
              <a:t> a unique number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Related requirement:</a:t>
            </a:r>
            <a:r>
              <a:rPr sz="2000" b="0">
                <a:solidFill>
                  <a:srgbClr val="1F2D3A"/>
                </a:solidFill>
              </a:rPr>
              <a:t> which asset/requirement it tests (S17 link)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what is being verified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Preconditions:</a:t>
            </a:r>
            <a:r>
              <a:rPr sz="2000" b="0">
                <a:solidFill>
                  <a:srgbClr val="1F2D3A"/>
                </a:solidFill>
              </a:rPr>
              <a:t> environment, version, data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Card · Fields 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Method/steps:</a:t>
            </a:r>
            <a:r>
              <a:rPr sz="2000" b="0">
                <a:solidFill>
                  <a:srgbClr val="1F2D3A"/>
                </a:solidFill>
              </a:rPr>
              <a:t> in repeatable form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Expected result:</a:t>
            </a:r>
            <a:r>
              <a:rPr sz="2000" b="0">
                <a:solidFill>
                  <a:srgbClr val="1F2D3A"/>
                </a:solidFill>
              </a:rPr>
              <a:t> what secure behaviour should be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Observed result:</a:t>
            </a:r>
            <a:r>
              <a:rPr sz="2000" b="0">
                <a:solidFill>
                  <a:srgbClr val="1F2D3A"/>
                </a:solidFill>
              </a:rPr>
              <a:t> what happened (with evidence)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Decision:</a:t>
            </a:r>
            <a:r>
              <a:rPr sz="2000" b="0">
                <a:solidFill>
                  <a:srgbClr val="1F2D3A"/>
                </a:solidFill>
              </a:rPr>
              <a:t> attack potential + pass/fail + recommendation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Test Card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8001792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Unique number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Link to S17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is verified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Precondition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Environment, version, 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Repeatable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Expected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behaviour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happened (evidence)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pot. + pass/fail + recommendation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Penetration-Test Plan Tree (Animation)</a:t>
            </a:r>
          </a:p>
        </p:txBody>
      </p:sp>
      <p:pic>
        <p:nvPicPr>
          <p:cNvPr id="7" name="Picture 6" descr="pentest-plan-t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18701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Plan Tree — Edge Case: 100% Coverage</a:t>
            </a:r>
          </a:p>
        </p:txBody>
      </p:sp>
      <p:pic>
        <p:nvPicPr>
          <p:cNvPr id="7" name="Picture 6" descr="pentest-plan-tree--edge-full-covera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43031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Worked Example · Test Card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ID:</a:t>
            </a:r>
            <a:r>
              <a:rPr sz="2000" b="0">
                <a:solidFill>
                  <a:srgbClr val="1F2D3A"/>
                </a:solidFill>
              </a:rPr>
              <a:t> T-05 </a:t>
            </a:r>
            <a:r>
              <a:rPr sz="2000" b="1">
                <a:solidFill>
                  <a:srgbClr val="1F2D3A"/>
                </a:solidFill>
              </a:rPr>
              <a:t>Requirement:</a:t>
            </a:r>
            <a:r>
              <a:rPr sz="2000" b="0">
                <a:solidFill>
                  <a:srgbClr val="1F2D3A"/>
                </a:solidFill>
              </a:rPr>
              <a:t> the sensitive record in the local database must be protected with AEAD (S17)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is the record found in plaintext on disk?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Worked Example · Test Card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Precondition:</a:t>
            </a:r>
            <a:r>
              <a:rPr sz="2000" b="0">
                <a:solidFill>
                  <a:srgbClr val="1F2D3A"/>
                </a:solidFill>
              </a:rPr>
              <a:t> release build, a synthetic record inserted </a:t>
            </a:r>
            <a:r>
              <a:rPr sz="2000" b="1">
                <a:solidFill>
                  <a:srgbClr val="1F2D3A"/>
                </a:solidFill>
              </a:rPr>
              <a:t>Steps:</a:t>
            </a:r>
            <a:r>
              <a:rPr sz="2000" b="0">
                <a:solidFill>
                  <a:srgbClr val="1F2D3A"/>
                </a:solidFill>
              </a:rPr>
              <a:t> run the application → add a record → scan the database file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Expected:</a:t>
            </a:r>
            <a:r>
              <a:rPr sz="2000" b="0">
                <a:solidFill>
                  <a:srgbClr val="1F2D3A"/>
                </a:solidFill>
              </a:rPr>
              <a:t> plaintext is </a:t>
            </a:r>
            <a:r>
              <a:rPr sz="2000" b="1">
                <a:solidFill>
                  <a:srgbClr val="1F2D3A"/>
                </a:solidFill>
              </a:rPr>
              <a:t>not visible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Worked Example · Test Card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Observed:</a:t>
            </a:r>
            <a:r>
              <a:rPr sz="2000" b="0">
                <a:solidFill>
                  <a:srgbClr val="1F2D3A"/>
                </a:solidFill>
              </a:rPr>
              <a:t> no plaintext visible (only an encrypted blob) — evidence: output screenshot </a:t>
            </a:r>
            <a:r>
              <a:rPr sz="2000" b="1">
                <a:solidFill>
                  <a:srgbClr val="1F2D3A"/>
                </a:solidFill>
              </a:rPr>
              <a:t>Decision:</a:t>
            </a:r>
            <a:r>
              <a:rPr sz="2000" b="0">
                <a:solidFill>
                  <a:srgbClr val="1F2D3A"/>
                </a:solidFill>
              </a:rPr>
              <a:t> pass · attack potential high (an easy attack failed)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goal isn't to find a flaw, it's to learn </a:t>
            </a:r>
            <a:r>
              <a:rPr sz="2000" b="1">
                <a:solidFill>
                  <a:srgbClr val="1F2D3A"/>
                </a:solidFill>
              </a:rPr>
              <a:t>to write a proper card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Team Activity (In Class)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team picks </a:t>
            </a:r>
            <a:r>
              <a:rPr sz="2000" b="1">
                <a:solidFill>
                  <a:srgbClr val="1F2D3A"/>
                </a:solidFill>
              </a:rPr>
              <a:t>one asset</a:t>
            </a:r>
            <a:r>
              <a:rPr sz="2000" b="0">
                <a:solidFill>
                  <a:srgbClr val="1F2D3A"/>
                </a:solidFill>
              </a:rPr>
              <a:t> from its own project.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Fills in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test card for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15 minutes; then a few cards are shared.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Card · Crypto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are notes really encrypted with AEAD?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Step:</a:t>
            </a:r>
            <a:r>
              <a:rPr sz="2000" b="0">
                <a:solidFill>
                  <a:srgbClr val="1F2D3A"/>
                </a:solidFill>
              </a:rPr>
              <a:t> inspect the encrypted blob's header/tag; is a corrupted tag rejected?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Expected:</a:t>
            </a:r>
            <a:r>
              <a:rPr sz="2000" b="0">
                <a:solidFill>
                  <a:srgbClr val="1F2D3A"/>
                </a:solidFill>
              </a:rPr>
              <a:t> corrupted tag → decryption is rejected.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Card · Key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is the key erased once the job is done?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Step:</a:t>
            </a:r>
            <a:r>
              <a:rPr sz="2000" b="0">
                <a:solidFill>
                  <a:srgbClr val="1F2D3A"/>
                </a:solidFill>
              </a:rPr>
              <a:t> scan memory after the operation.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Expected:</a:t>
            </a:r>
            <a:r>
              <a:rPr sz="2000" b="0">
                <a:solidFill>
                  <a:srgbClr val="1F2D3A"/>
                </a:solidFill>
              </a:rPr>
              <a:t> key bytes are not found.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Card · Release/Debug 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is logging really off in the release build?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Step:</a:t>
            </a:r>
            <a:r>
              <a:rPr sz="2000" b="0">
                <a:solidFill>
                  <a:srgbClr val="1F2D3A"/>
                </a:solidFill>
              </a:rPr>
              <a:t> search the release APK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for the log string.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Expected:</a:t>
            </a:r>
            <a:r>
              <a:rPr sz="2000" b="0">
                <a:solidFill>
                  <a:srgbClr val="1F2D3A"/>
                </a:solidFill>
              </a:rPr>
              <a:t> the log string is absent.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Card · Upgrade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Purpose:</a:t>
            </a:r>
            <a:r>
              <a:rPr sz="2000" b="0">
                <a:solidFill>
                  <a:srgbClr val="1F2D3A"/>
                </a:solidFill>
              </a:rPr>
              <a:t> can an old signed version be restored?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Step:</a:t>
            </a:r>
            <a:r>
              <a:rPr sz="2000" b="0">
                <a:solidFill>
                  <a:srgbClr val="1F2D3A"/>
                </a:solidFill>
              </a:rPr>
              <a:t> try installing a lower version.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Expected:</a:t>
            </a:r>
            <a:r>
              <a:rPr sz="2000" b="0">
                <a:solidFill>
                  <a:srgbClr val="1F2D3A"/>
                </a:solidFill>
              </a:rPr>
              <a:t> the downgrade is rejected.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When Writing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card must be </a:t>
            </a:r>
            <a:r>
              <a:rPr sz="2000" b="1">
                <a:solidFill>
                  <a:srgbClr val="1F2D3A"/>
                </a:solidFill>
              </a:rPr>
              <a:t>repeatable</a:t>
            </a:r>
            <a:r>
              <a:rPr sz="2000" b="0">
                <a:solidFill>
                  <a:srgbClr val="1F2D3A"/>
                </a:solidFill>
              </a:rPr>
              <a:t> (someone else must be able to follow the same steps).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card is linked to a </a:t>
            </a:r>
            <a:r>
              <a:rPr sz="2000" b="1">
                <a:solidFill>
                  <a:srgbClr val="1F2D3A"/>
                </a:solidFill>
              </a:rPr>
              <a:t>requirement</a:t>
            </a:r>
            <a:r>
              <a:rPr sz="2000" b="0">
                <a:solidFill>
                  <a:srgbClr val="1F2D3A"/>
                </a:solidFill>
              </a:rPr>
              <a:t> (S17).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"Observed" field is filled with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plan's four headings?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the "kill switch" exist?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field of the test card links to S17?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Scope · rules (RoE) · methodology · test cards</a:t>
            </a:r>
            <a:r>
              <a:rPr sz="2000" b="0">
                <a:solidFill>
                  <a:srgbClr val="1F2D3A"/>
                </a:solidFill>
              </a:rPr>
              <a:t> (+ kill switch, reporting).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To limit real </a:t>
            </a:r>
            <a:r>
              <a:rPr sz="2000" b="1">
                <a:solidFill>
                  <a:srgbClr val="1F2D3A"/>
                </a:solidFill>
              </a:rPr>
              <a:t>harm/data loss/disruption</a:t>
            </a:r>
            <a:r>
              <a:rPr sz="2000" b="0">
                <a:solidFill>
                  <a:srgbClr val="1F2D3A"/>
                </a:solidFill>
              </a:rPr>
              <a:t> risk; at a defined threshold the test </a:t>
            </a:r>
            <a:r>
              <a:rPr sz="2000" b="1">
                <a:solidFill>
                  <a:srgbClr val="1F2D3A"/>
                </a:solidFill>
              </a:rPr>
              <a:t>stops</a:t>
            </a:r>
            <a:r>
              <a:rPr sz="2000" b="0">
                <a:solidFill>
                  <a:srgbClr val="1F2D3A"/>
                </a:solidFill>
              </a:rPr>
              <a:t> → safe and ethical execution.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test card's </a:t>
            </a:r>
            <a:r>
              <a:rPr sz="2000" b="1">
                <a:solidFill>
                  <a:srgbClr val="1F2D3A"/>
                </a:solidFill>
              </a:rPr>
              <a:t>result/requirement-met</a:t>
            </a:r>
            <a:r>
              <a:rPr sz="2000" b="0">
                <a:solidFill>
                  <a:srgbClr val="1F2D3A"/>
                </a:solidFill>
              </a:rPr>
              <a:t> field → links as evidence to the </a:t>
            </a:r>
            <a:r>
              <a:rPr sz="2000" b="1">
                <a:solidFill>
                  <a:srgbClr val="1F2D3A"/>
                </a:solidFill>
              </a:rPr>
              <a:t>S17 compliance matrix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Reporting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Report's Four Sections — Diagram</a:t>
            </a:r>
          </a:p>
        </p:txBody>
      </p:sp>
      <p:pic>
        <p:nvPicPr>
          <p:cNvPr id="7" name="Picture 6" descr="h12-12-rapor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6" y="1325880"/>
            <a:ext cx="1083264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Good Report = a Decidable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a list of "you failed."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reader must be able to decide </a:t>
            </a:r>
            <a:r>
              <a:rPr sz="2000" b="1">
                <a:solidFill>
                  <a:srgbClr val="1F2D3A"/>
                </a:solidFill>
              </a:rPr>
              <a:t>what to do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Report Sections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Executive summary:</a:t>
            </a:r>
            <a:r>
              <a:rPr sz="2000" b="0">
                <a:solidFill>
                  <a:srgbClr val="1F2D3A"/>
                </a:solidFill>
              </a:rPr>
              <a:t> overall status for the non-technical reader + the three most critical findings.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Methodology and scope:</a:t>
            </a:r>
            <a:r>
              <a:rPr sz="2000" b="0">
                <a:solidFill>
                  <a:srgbClr val="1F2D3A"/>
                </a:solidFill>
              </a:rPr>
              <a:t> what was tested, what wasn't, with which methodology.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Report Sections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Findings:</a:t>
            </a:r>
            <a:r>
              <a:rPr sz="2000" b="0">
                <a:solidFill>
                  <a:srgbClr val="1F2D3A"/>
                </a:solidFill>
              </a:rPr>
              <a:t> each with evidence + attack potential + CVSS + recommendation.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Finding–action table:</a:t>
            </a:r>
            <a:r>
              <a:rPr sz="2000" b="0">
                <a:solidFill>
                  <a:srgbClr val="1F2D3A"/>
                </a:solidFill>
              </a:rPr>
              <a:t> the developer's response, closure.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Residual risk:</a:t>
            </a:r>
            <a:r>
              <a:rPr sz="2000" b="0">
                <a:solidFill>
                  <a:srgbClr val="1F2D3A"/>
                </a:solidFill>
              </a:rPr>
              <a:t> what wasn't closed/was transferred, with justification.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Report Structure (Animation)</a:t>
            </a:r>
          </a:p>
        </p:txBody>
      </p:sp>
      <p:pic>
        <p:nvPicPr>
          <p:cNvPr id="7" name="Picture 6" descr="report-structu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035" y="1325880"/>
            <a:ext cx="60436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Report Structure — Edge Case: All Open and Urgent</a:t>
            </a:r>
          </a:p>
        </p:txBody>
      </p:sp>
      <p:pic>
        <p:nvPicPr>
          <p:cNvPr id="7" name="Picture 6" descr="report-structure--edge-all-urgent-ope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035" y="1325880"/>
            <a:ext cx="60436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Critical-Reading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Read a short finding text together: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Was the attack potential rated correctly?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recommendation actionable?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the "met" row have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a rehearsal for reading the compliance matrix in week 13.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Term Project: This Week (S16)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S16 (Test Plan + Results)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Write </a:t>
            </a:r>
            <a:r>
              <a:rPr sz="2000" b="1">
                <a:solidFill>
                  <a:srgbClr val="1F2D3A"/>
                </a:solidFill>
              </a:rPr>
              <a:t>eight-field</a:t>
            </a:r>
            <a:r>
              <a:rPr sz="2000" b="0">
                <a:solidFill>
                  <a:srgbClr val="1F2D3A"/>
                </a:solidFill>
              </a:rPr>
              <a:t> test cards for the two–three most critical assets/requirements (linked to S17).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S16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Methodology:</a:t>
            </a:r>
            <a:r>
              <a:rPr sz="2000" b="0">
                <a:solidFill>
                  <a:srgbClr val="1F2D3A"/>
                </a:solidFill>
              </a:rPr>
              <a:t> state which methodology (MASTG / WSTG / PTES / NIST SP 800-115) you're basing it on.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S16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Results:</a:t>
            </a:r>
            <a:r>
              <a:rPr sz="2000" b="0">
                <a:solidFill>
                  <a:srgbClr val="1F2D3A"/>
                </a:solidFill>
              </a:rPr>
              <a:t> run the tests and write the </a:t>
            </a:r>
            <a:r>
              <a:rPr sz="2000" b="1">
                <a:solidFill>
                  <a:srgbClr val="1F2D3A"/>
                </a:solidFill>
              </a:rPr>
              <a:t>observed results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At the final, a plan is not expected, a </a:t>
            </a:r>
            <a:r>
              <a:rPr sz="2000" b="1">
                <a:solidFill>
                  <a:srgbClr val="1F2D3A"/>
                </a:solidFill>
              </a:rPr>
              <a:t>result</a:t>
            </a:r>
            <a:r>
              <a:rPr sz="2000" b="0">
                <a:solidFill>
                  <a:srgbClr val="1F2D3A"/>
                </a:solidFill>
              </a:rPr>
              <a:t> is.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S16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Finding–action:</a:t>
            </a:r>
            <a:r>
              <a:rPr sz="2000" b="0">
                <a:solidFill>
                  <a:srgbClr val="1F2D3A"/>
                </a:solidFill>
              </a:rPr>
              <a:t> pour your midterm feedback into a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Residual risk:</a:t>
            </a:r>
            <a:r>
              <a:rPr sz="2000" b="0">
                <a:solidFill>
                  <a:srgbClr val="1F2D3A"/>
                </a:solidFill>
              </a:rPr>
              <a:t> write the risks you didn't close and why.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Unit Test Runner (Animation)</a:t>
            </a:r>
          </a:p>
        </p:txBody>
      </p:sp>
      <p:pic>
        <p:nvPicPr>
          <p:cNvPr id="7" name="Picture 6" descr="unit-test-runn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49" y="1325880"/>
            <a:ext cx="62205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Runner — Edge Case: All FAIL</a:t>
            </a:r>
          </a:p>
        </p:txBody>
      </p:sp>
      <p:pic>
        <p:nvPicPr>
          <p:cNvPr id="7" name="Picture 6" descr="unit-test-runner--edge-all-fai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55" y="1325880"/>
            <a:ext cx="4291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Ethics (Again)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only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project and systems you're authorised for.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Unauthorised testing is a crime.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data is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no real secrets/personal data in the repo.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Common Mistakes ·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83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800"/>
                <a:gridCol w="2268735"/>
              </a:tblGrid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plan but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no result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assuming "we will test" is enough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 (S16)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"Met"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without evidence — no evidence reference in the compliance matrix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(S17)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Version inconsistency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the guide and the code are at different versions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(TOE)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Residual risk left empty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Midterm feedback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ignored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 /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Real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secrets/personal data in the repo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Ethical framework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6659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row is a </a:t>
            </a:r>
            <a:r>
              <a:rPr sz="1800" b="1">
                <a:solidFill>
                  <a:srgbClr val="1F2D3A"/>
                </a:solidFill>
              </a:rPr>
              <a:t>violation</a:t>
            </a:r>
            <a:r>
              <a:rPr sz="1800" b="0">
                <a:solidFill>
                  <a:srgbClr val="1F2D3A"/>
                </a:solidFill>
              </a:rPr>
              <a:t> of that section's discipline — go back and re-read the source.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Self-Check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Summarise the 13 steps in three phases.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Preparation (TOE, documents, requirement template, workshop) → Evaluation (code review, vulnerability, penetration, functional) → Result (finding, impact analysis, delta, residual risk, change management).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evaluator's two assumptions? What follows from them?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(1) white-box — full source/document access; (2) the platform is untrusted. Consequence: a protection existing is not enough, </a:t>
            </a:r>
            <a:r>
              <a:rPr sz="2000" b="1">
                <a:solidFill>
                  <a:srgbClr val="1F2D3A"/>
                </a:solidFill>
              </a:rPr>
              <a:t>how easily it is bypassed</a:t>
            </a:r>
            <a:r>
              <a:rPr sz="2000" b="0">
                <a:solidFill>
                  <a:srgbClr val="1F2D3A"/>
                </a:solidFill>
              </a:rPr>
              <a:t> is measured.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 we order the methods cheap to expensive?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Cheap/broad methods (SAST) clear easy findings; the expensive/deep method (pentest) can then focus on real, combined problems. Time and cost efficiency.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 ISO 27001 and Common Criteria certify separately?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ISO 27001 certifies the </a:t>
            </a:r>
            <a:r>
              <a:rPr sz="2000" b="1">
                <a:solidFill>
                  <a:srgbClr val="1F2D3A"/>
                </a:solidFill>
              </a:rPr>
              <a:t>organisation</a:t>
            </a:r>
            <a:r>
              <a:rPr sz="2000" b="0">
                <a:solidFill>
                  <a:srgbClr val="1F2D3A"/>
                </a:solidFill>
              </a:rPr>
              <a:t> (process), Common Criteria the </a:t>
            </a:r>
            <a:r>
              <a:rPr sz="2000" b="1">
                <a:solidFill>
                  <a:srgbClr val="1F2D3A"/>
                </a:solidFill>
              </a:rPr>
              <a:t>product</a:t>
            </a:r>
            <a:r>
              <a:rPr sz="2000" b="0">
                <a:solidFill>
                  <a:srgbClr val="1F2D3A"/>
                </a:solidFill>
              </a:rPr>
              <a:t>. One does not require the other.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five factors of attack potential? Why is a low score serious?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time, expertise, knowledge of the target, window of opportunity, equipment. A low total = an easy attack = a </a:t>
            </a:r>
            <a:r>
              <a:rPr sz="2000" b="1">
                <a:solidFill>
                  <a:srgbClr val="1F2D3A"/>
                </a:solidFill>
              </a:rPr>
              <a:t>serious finding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 attack potential and CVSS each measure? Why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Attack potential measures </a:t>
            </a:r>
            <a:r>
              <a:rPr sz="2000" b="1">
                <a:solidFill>
                  <a:srgbClr val="1F2D3A"/>
                </a:solidFill>
              </a:rPr>
              <a:t>likelihood</a:t>
            </a:r>
            <a:r>
              <a:rPr sz="2000" b="0">
                <a:solidFill>
                  <a:srgbClr val="1F2D3A"/>
                </a:solidFill>
              </a:rPr>
              <a:t> (difficulty), CVSS measures </a:t>
            </a:r>
            <a:r>
              <a:rPr sz="2000" b="1">
                <a:solidFill>
                  <a:srgbClr val="1F2D3A"/>
                </a:solidFill>
              </a:rPr>
              <a:t>impact</a:t>
            </a:r>
            <a:r>
              <a:rPr sz="2000" b="0">
                <a:solidFill>
                  <a:srgbClr val="1F2D3A"/>
                </a:solidFill>
              </a:rPr>
              <a:t> (loss of C/I/A). Both are given together for prioritisation.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finding–recommendation–action cycle. How can a finding close as "not open"?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laboratory produces a recommendation, the developer produces an action. Some findings close, with justification, as a </a:t>
            </a:r>
            <a:r>
              <a:rPr sz="2000" b="1">
                <a:solidFill>
                  <a:srgbClr val="1F2D3A"/>
                </a:solidFill>
              </a:rPr>
              <a:t>good-practice suggestion</a:t>
            </a:r>
            <a:r>
              <a:rPr sz="2000" b="0">
                <a:solidFill>
                  <a:srgbClr val="1F2D3A"/>
                </a:solidFill>
              </a:rPr>
              <a:t>, not a security vulnerability.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difference between impact analysis and delta assessment? Whose job is each?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Impact analysis </a:t>
            </a:r>
            <a:r>
              <a:rPr sz="2000" b="1">
                <a:solidFill>
                  <a:srgbClr val="1F2D3A"/>
                </a:solidFill>
              </a:rPr>
              <a:t>documents</a:t>
            </a:r>
            <a:r>
              <a:rPr sz="2000" b="0">
                <a:solidFill>
                  <a:srgbClr val="1F2D3A"/>
                </a:solidFill>
              </a:rPr>
              <a:t> the change's impact (developer); delta </a:t>
            </a:r>
            <a:r>
              <a:rPr sz="2000" b="1">
                <a:solidFill>
                  <a:srgbClr val="1F2D3A"/>
                </a:solidFill>
              </a:rPr>
              <a:t>re-evaluates</a:t>
            </a:r>
            <a:r>
              <a:rPr sz="2000" b="0">
                <a:solidFill>
                  <a:srgbClr val="1F2D3A"/>
                </a:solidFill>
              </a:rPr>
              <a:t> only the change (laboratory).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four headings of a penetration test plan?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scope, rules of engagement, methodology, test template. Each makes the result legitimate, repeatable, and safe.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a "kill switch" exist in the rules of engagement?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If a critical/unforeseen impact is observed, the test stops immediately and is reported; it limits harm and legal risk.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field of the test card links to S17?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"related requirement" field — every test is tied to a requirement/asset, tracked with the compliance matrix (S17).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mean that at the final S16 needs "results," not a "plan"?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Writing a test plan is not enough; you must </a:t>
            </a:r>
            <a:r>
              <a:rPr sz="2000" b="1">
                <a:solidFill>
                  <a:srgbClr val="1F2D3A"/>
                </a:solidFill>
              </a:rPr>
              <a:t>run the tests and present the observed results</a:t>
            </a:r>
            <a:r>
              <a:rPr sz="2000" b="0">
                <a:solidFill>
                  <a:srgbClr val="1F2D3A"/>
                </a:solidFill>
              </a:rPr>
              <a:t> and finding–action.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4"/>
                <a:gridCol w="750168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exact object evaluated (unique)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SAST/DAST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Static / dynamic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Finding crashes with random 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Penetration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Permitted, planned attacker-view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potential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Difficulty of breaking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880"/>
                <a:gridCol w="747365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Vulnerability impact 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Finding–action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Laboratory recommendation → developer response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Impact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impact of a change (developer)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assessment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Re-evaluating only the change (laboratory)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Rules of engagement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permission/scope/limit contract of a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Summary: This Week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Security is not a claim, it is a quality </a:t>
            </a:r>
            <a:r>
              <a:rPr sz="2000" b="1">
                <a:solidFill>
                  <a:srgbClr val="1F2D3A"/>
                </a:solidFill>
              </a:rPr>
              <a:t>independently tested and measured</a:t>
            </a:r>
            <a:r>
              <a:rPr sz="2000" b="0">
                <a:solidFill>
                  <a:srgbClr val="1F2D3A"/>
                </a:solidFill>
              </a:rPr>
              <a:t>; a protection existing is not enough, </a:t>
            </a:r>
            <a:r>
              <a:rPr sz="2000" b="1">
                <a:solidFill>
                  <a:srgbClr val="1F2D3A"/>
                </a:solidFill>
              </a:rPr>
              <a:t>how much it withstands</a:t>
            </a:r>
            <a:r>
              <a:rPr sz="2000" b="0">
                <a:solidFill>
                  <a:srgbClr val="1F2D3A"/>
                </a:solidFill>
              </a:rPr>
              <a:t> is measured in a planned, permitted, and repeatable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005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good test plan carries trust from </a:t>
            </a:r>
            <a:r>
              <a:rPr sz="2000" b="1">
                <a:solidFill>
                  <a:srgbClr val="1F2D3A"/>
                </a:solidFill>
              </a:rPr>
              <a:t>claim to evidence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References and Further Reading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Secure programming technical guide</a:t>
            </a:r>
            <a:r>
              <a:rPr sz="2000" b="0">
                <a:solidFill>
                  <a:srgbClr val="1F2D3A"/>
                </a:solidFill>
              </a:rPr>
              <a:t> — the delivered document, impact/delta structure, requirement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MASVS / MASTG</a:t>
            </a:r>
            <a:r>
              <a:rPr sz="2000" b="0">
                <a:solidFill>
                  <a:srgbClr val="1F2D3A"/>
                </a:solidFill>
              </a:rPr>
              <a:t> — mobile requirements + test guide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— web test guide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— penetration-test methodology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Common Criteria (ISO/IEC 15408)</a:t>
            </a:r>
            <a:r>
              <a:rPr sz="2000" b="0">
                <a:solidFill>
                  <a:srgbClr val="1F2D3A"/>
                </a:solidFill>
              </a:rPr>
              <a:t> + attack-potential guides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13 — Security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saw the "requirement template" and the "compliance matrix" inside the process; in week 13 we go into detail on how to write a good requirement, the traceability/compliance matrix, and the Common Criteria, FIPS 140-3, ETSI, EMVCo, PCI, and MASVS requirement 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12 — Security Certifications and Penetration Test Planning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