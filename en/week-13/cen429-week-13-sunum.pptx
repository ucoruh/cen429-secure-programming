
<file path=[Content_Types].xml><?xml version="1.0" encoding="utf-8"?>
<Types xmlns="http://schemas.openxmlformats.org/package/2006/content-types">
  <Default Extension="bin" ContentType="application/vnd.openxmlformats-officedocument.presentationml.printerSetting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 id="360" r:id="rId112"/>
    <p:sldId id="361" r:id="rId113"/>
    <p:sldId id="362" r:id="rId114"/>
    <p:sldId id="363" r:id="rId115"/>
    <p:sldId id="364" r:id="rId116"/>
    <p:sldId id="365" r:id="rId117"/>
    <p:sldId id="366" r:id="rId118"/>
    <p:sldId id="367" r:id="rId119"/>
    <p:sldId id="368" r:id="rId120"/>
    <p:sldId id="369" r:id="rId121"/>
    <p:sldId id="370" r:id="rId122"/>
    <p:sldId id="371" r:id="rId123"/>
    <p:sldId id="372" r:id="rId124"/>
    <p:sldId id="373" r:id="rId125"/>
    <p:sldId id="374" r:id="rId126"/>
    <p:sldId id="375" r:id="rId127"/>
    <p:sldId id="376" r:id="rId128"/>
    <p:sldId id="377" r:id="rId129"/>
    <p:sldId id="378" r:id="rId130"/>
    <p:sldId id="379" r:id="rId131"/>
    <p:sldId id="380" r:id="rId132"/>
    <p:sldId id="381" r:id="rId133"/>
    <p:sldId id="382" r:id="rId134"/>
    <p:sldId id="383" r:id="rId135"/>
    <p:sldId id="384" r:id="rId136"/>
    <p:sldId id="385" r:id="rId137"/>
    <p:sldId id="386" r:id="rId138"/>
    <p:sldId id="387" r:id="rId139"/>
    <p:sldId id="388" r:id="rId140"/>
    <p:sldId id="389" r:id="rId141"/>
    <p:sldId id="390" r:id="rId142"/>
    <p:sldId id="391" r:id="rId143"/>
    <p:sldId id="392" r:id="rId144"/>
    <p:sldId id="393" r:id="rId145"/>
    <p:sldId id="394" r:id="rId146"/>
    <p:sldId id="395" r:id="rId147"/>
    <p:sldId id="396" r:id="rId148"/>
    <p:sldId id="397" r:id="rId149"/>
    <p:sldId id="398" r:id="rId150"/>
    <p:sldId id="399" r:id="rId151"/>
    <p:sldId id="400" r:id="rId152"/>
    <p:sldId id="401" r:id="rId153"/>
    <p:sldId id="402" r:id="rId154"/>
    <p:sldId id="403" r:id="rId155"/>
    <p:sldId id="404" r:id="rId156"/>
    <p:sldId id="405" r:id="rId157"/>
    <p:sldId id="406" r:id="rId158"/>
    <p:sldId id="407" r:id="rId159"/>
    <p:sldId id="408" r:id="rId160"/>
    <p:sldId id="409" r:id="rId161"/>
    <p:sldId id="410" r:id="rId162"/>
    <p:sldId id="411" r:id="rId163"/>
    <p:sldId id="412" r:id="rId164"/>
    <p:sldId id="413" r:id="rId165"/>
    <p:sldId id="414" r:id="rId166"/>
    <p:sldId id="415" r:id="rId167"/>
    <p:sldId id="416" r:id="rId168"/>
    <p:sldId id="417" r:id="rId169"/>
    <p:sldId id="418" r:id="rId170"/>
    <p:sldId id="419" r:id="rId171"/>
    <p:sldId id="420" r:id="rId172"/>
    <p:sldId id="421" r:id="rId173"/>
    <p:sldId id="422" r:id="rId174"/>
    <p:sldId id="423" r:id="rId175"/>
    <p:sldId id="424" r:id="rId17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 Id="rId104" Type="http://schemas.openxmlformats.org/officeDocument/2006/relationships/slide" Target="slides/slide97.xml"/><Relationship Id="rId105" Type="http://schemas.openxmlformats.org/officeDocument/2006/relationships/slide" Target="slides/slide98.xml"/><Relationship Id="rId106" Type="http://schemas.openxmlformats.org/officeDocument/2006/relationships/slide" Target="slides/slide99.xml"/><Relationship Id="rId107" Type="http://schemas.openxmlformats.org/officeDocument/2006/relationships/slide" Target="slides/slide100.xml"/><Relationship Id="rId108" Type="http://schemas.openxmlformats.org/officeDocument/2006/relationships/slide" Target="slides/slide101.xml"/><Relationship Id="rId109" Type="http://schemas.openxmlformats.org/officeDocument/2006/relationships/slide" Target="slides/slide102.xml"/><Relationship Id="rId110" Type="http://schemas.openxmlformats.org/officeDocument/2006/relationships/slide" Target="slides/slide103.xml"/><Relationship Id="rId111" Type="http://schemas.openxmlformats.org/officeDocument/2006/relationships/slide" Target="slides/slide104.xml"/><Relationship Id="rId112" Type="http://schemas.openxmlformats.org/officeDocument/2006/relationships/slide" Target="slides/slide105.xml"/><Relationship Id="rId113" Type="http://schemas.openxmlformats.org/officeDocument/2006/relationships/slide" Target="slides/slide106.xml"/><Relationship Id="rId114" Type="http://schemas.openxmlformats.org/officeDocument/2006/relationships/slide" Target="slides/slide107.xml"/><Relationship Id="rId115" Type="http://schemas.openxmlformats.org/officeDocument/2006/relationships/slide" Target="slides/slide108.xml"/><Relationship Id="rId116" Type="http://schemas.openxmlformats.org/officeDocument/2006/relationships/slide" Target="slides/slide109.xml"/><Relationship Id="rId117" Type="http://schemas.openxmlformats.org/officeDocument/2006/relationships/slide" Target="slides/slide110.xml"/><Relationship Id="rId118" Type="http://schemas.openxmlformats.org/officeDocument/2006/relationships/slide" Target="slides/slide111.xml"/><Relationship Id="rId119" Type="http://schemas.openxmlformats.org/officeDocument/2006/relationships/slide" Target="slides/slide112.xml"/><Relationship Id="rId120" Type="http://schemas.openxmlformats.org/officeDocument/2006/relationships/slide" Target="slides/slide113.xml"/><Relationship Id="rId121" Type="http://schemas.openxmlformats.org/officeDocument/2006/relationships/slide" Target="slides/slide114.xml"/><Relationship Id="rId122" Type="http://schemas.openxmlformats.org/officeDocument/2006/relationships/slide" Target="slides/slide115.xml"/><Relationship Id="rId123" Type="http://schemas.openxmlformats.org/officeDocument/2006/relationships/slide" Target="slides/slide116.xml"/><Relationship Id="rId124" Type="http://schemas.openxmlformats.org/officeDocument/2006/relationships/slide" Target="slides/slide117.xml"/><Relationship Id="rId125" Type="http://schemas.openxmlformats.org/officeDocument/2006/relationships/slide" Target="slides/slide118.xml"/><Relationship Id="rId126" Type="http://schemas.openxmlformats.org/officeDocument/2006/relationships/slide" Target="slides/slide119.xml"/><Relationship Id="rId127" Type="http://schemas.openxmlformats.org/officeDocument/2006/relationships/slide" Target="slides/slide120.xml"/><Relationship Id="rId128" Type="http://schemas.openxmlformats.org/officeDocument/2006/relationships/slide" Target="slides/slide121.xml"/><Relationship Id="rId129" Type="http://schemas.openxmlformats.org/officeDocument/2006/relationships/slide" Target="slides/slide122.xml"/><Relationship Id="rId130" Type="http://schemas.openxmlformats.org/officeDocument/2006/relationships/slide" Target="slides/slide123.xml"/><Relationship Id="rId131" Type="http://schemas.openxmlformats.org/officeDocument/2006/relationships/slide" Target="slides/slide124.xml"/><Relationship Id="rId132" Type="http://schemas.openxmlformats.org/officeDocument/2006/relationships/slide" Target="slides/slide125.xml"/><Relationship Id="rId133" Type="http://schemas.openxmlformats.org/officeDocument/2006/relationships/slide" Target="slides/slide126.xml"/><Relationship Id="rId134" Type="http://schemas.openxmlformats.org/officeDocument/2006/relationships/slide" Target="slides/slide127.xml"/><Relationship Id="rId135" Type="http://schemas.openxmlformats.org/officeDocument/2006/relationships/slide" Target="slides/slide128.xml"/><Relationship Id="rId136" Type="http://schemas.openxmlformats.org/officeDocument/2006/relationships/slide" Target="slides/slide129.xml"/><Relationship Id="rId137" Type="http://schemas.openxmlformats.org/officeDocument/2006/relationships/slide" Target="slides/slide130.xml"/><Relationship Id="rId138" Type="http://schemas.openxmlformats.org/officeDocument/2006/relationships/slide" Target="slides/slide131.xml"/><Relationship Id="rId139" Type="http://schemas.openxmlformats.org/officeDocument/2006/relationships/slide" Target="slides/slide132.xml"/><Relationship Id="rId140" Type="http://schemas.openxmlformats.org/officeDocument/2006/relationships/slide" Target="slides/slide133.xml"/><Relationship Id="rId141" Type="http://schemas.openxmlformats.org/officeDocument/2006/relationships/slide" Target="slides/slide134.xml"/><Relationship Id="rId142" Type="http://schemas.openxmlformats.org/officeDocument/2006/relationships/slide" Target="slides/slide135.xml"/><Relationship Id="rId143" Type="http://schemas.openxmlformats.org/officeDocument/2006/relationships/slide" Target="slides/slide136.xml"/><Relationship Id="rId144" Type="http://schemas.openxmlformats.org/officeDocument/2006/relationships/slide" Target="slides/slide137.xml"/><Relationship Id="rId145" Type="http://schemas.openxmlformats.org/officeDocument/2006/relationships/slide" Target="slides/slide138.xml"/><Relationship Id="rId146" Type="http://schemas.openxmlformats.org/officeDocument/2006/relationships/slide" Target="slides/slide139.xml"/><Relationship Id="rId147" Type="http://schemas.openxmlformats.org/officeDocument/2006/relationships/slide" Target="slides/slide140.xml"/><Relationship Id="rId148" Type="http://schemas.openxmlformats.org/officeDocument/2006/relationships/slide" Target="slides/slide141.xml"/><Relationship Id="rId149" Type="http://schemas.openxmlformats.org/officeDocument/2006/relationships/slide" Target="slides/slide142.xml"/><Relationship Id="rId150" Type="http://schemas.openxmlformats.org/officeDocument/2006/relationships/slide" Target="slides/slide143.xml"/><Relationship Id="rId151" Type="http://schemas.openxmlformats.org/officeDocument/2006/relationships/slide" Target="slides/slide144.xml"/><Relationship Id="rId152" Type="http://schemas.openxmlformats.org/officeDocument/2006/relationships/slide" Target="slides/slide145.xml"/><Relationship Id="rId153" Type="http://schemas.openxmlformats.org/officeDocument/2006/relationships/slide" Target="slides/slide146.xml"/><Relationship Id="rId154" Type="http://schemas.openxmlformats.org/officeDocument/2006/relationships/slide" Target="slides/slide147.xml"/><Relationship Id="rId155" Type="http://schemas.openxmlformats.org/officeDocument/2006/relationships/slide" Target="slides/slide148.xml"/><Relationship Id="rId156" Type="http://schemas.openxmlformats.org/officeDocument/2006/relationships/slide" Target="slides/slide149.xml"/><Relationship Id="rId157" Type="http://schemas.openxmlformats.org/officeDocument/2006/relationships/slide" Target="slides/slide150.xml"/><Relationship Id="rId158" Type="http://schemas.openxmlformats.org/officeDocument/2006/relationships/slide" Target="slides/slide151.xml"/><Relationship Id="rId159" Type="http://schemas.openxmlformats.org/officeDocument/2006/relationships/slide" Target="slides/slide152.xml"/><Relationship Id="rId160" Type="http://schemas.openxmlformats.org/officeDocument/2006/relationships/slide" Target="slides/slide153.xml"/><Relationship Id="rId161" Type="http://schemas.openxmlformats.org/officeDocument/2006/relationships/slide" Target="slides/slide154.xml"/><Relationship Id="rId162" Type="http://schemas.openxmlformats.org/officeDocument/2006/relationships/slide" Target="slides/slide155.xml"/><Relationship Id="rId163" Type="http://schemas.openxmlformats.org/officeDocument/2006/relationships/slide" Target="slides/slide156.xml"/><Relationship Id="rId164" Type="http://schemas.openxmlformats.org/officeDocument/2006/relationships/slide" Target="slides/slide157.xml"/><Relationship Id="rId165" Type="http://schemas.openxmlformats.org/officeDocument/2006/relationships/slide" Target="slides/slide158.xml"/><Relationship Id="rId166" Type="http://schemas.openxmlformats.org/officeDocument/2006/relationships/slide" Target="slides/slide159.xml"/><Relationship Id="rId167" Type="http://schemas.openxmlformats.org/officeDocument/2006/relationships/slide" Target="slides/slide160.xml"/><Relationship Id="rId168" Type="http://schemas.openxmlformats.org/officeDocument/2006/relationships/slide" Target="slides/slide161.xml"/><Relationship Id="rId169" Type="http://schemas.openxmlformats.org/officeDocument/2006/relationships/slide" Target="slides/slide162.xml"/><Relationship Id="rId170" Type="http://schemas.openxmlformats.org/officeDocument/2006/relationships/slide" Target="slides/slide163.xml"/><Relationship Id="rId171" Type="http://schemas.openxmlformats.org/officeDocument/2006/relationships/slide" Target="slides/slide164.xml"/><Relationship Id="rId172" Type="http://schemas.openxmlformats.org/officeDocument/2006/relationships/slide" Target="slides/slide165.xml"/><Relationship Id="rId173" Type="http://schemas.openxmlformats.org/officeDocument/2006/relationships/slide" Target="slides/slide166.xml"/><Relationship Id="rId174" Type="http://schemas.openxmlformats.org/officeDocument/2006/relationships/slide" Target="slides/slide167.xml"/><Relationship Id="rId175" Type="http://schemas.openxmlformats.org/officeDocument/2006/relationships/slide" Target="slides/slide168.xml"/><Relationship Id="rId176" Type="http://schemas.openxmlformats.org/officeDocument/2006/relationships/slide" Target="slides/slide16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4.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5.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6.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6.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7.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 This week we learn to read security requirements and map them onto our own project: requirement, status, evidence.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 Today we learn to read security requirements and map them onto our own project: requirement → control → verification → evidence. Zero prior knowledge; we will define every term.</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 run the six steps live on "The application must protect user data." — watch which word gets added at each step.</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 even a very short sentence needs all six steps — a single vague word is enough to make it untestable.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 this is the demo tool `02-requirement-quality` — watch which rule (vague phrase, no measurable basis) fires on each sample sentence.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 not vague, but no number and no concrete technical term — the "no measurable basis" rule alone is enough.</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 the real compliance_matrix.c rule — a "met" or "delegated" row with an empty evidence column is a gap, scanned row by row.</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 an unrealistic matrix on purpose — shows the pattern of the finding message repeating on every single row.</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 Next, the requirement block and deferred requirements.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 fill in the same [Family] Id — Status block for a met and a delegated requirement; watch the three deferral questions get answered one at a time.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 "to whom" and "how" are answered but "why" is blank — still an incomplete block, still a finding.</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 Next, Common Criteria and FIPS.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 pick a target EAL and watch the SAR ladder fill in from EAL1 up — each level keeps everything the previous one required.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 formally verified design — very high risk, small systems only; almost never the right target for a term project.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 the four levels are cumulative — watch what each one adds on top of the level below it.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 a tamper-hostile field device — the only realistic case for Level 4 in most student projects is "we don't need this".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 Next, sector standards.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 EMVCo's own family list is almost identical to ours — watch why the GSMA column stays mostly empty (a facility audit, not a product one).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 not every "gap" in the matrix is a mistake — sometimes it just means the standard is asking a different kind of question.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 Next, carrying requirements into the project.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 walk CEN429-CR-03 through all six steps live, from "does this apply?" to a task in the release plan.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 step 1 alone can end the process — but only when the rationale is written down, never silently.</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 Next, the project and the solved self-check.</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4.gif"/><Relationship Id="rId4" Type="http://schemas.openxmlformats.org/officeDocument/2006/relationships/notesSlide" Target="../notesSlides/notesSlide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5.gif"/><Relationship Id="rId4" Type="http://schemas.openxmlformats.org/officeDocument/2006/relationships/notesSlide" Target="../notesSlides/notesSlide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6.gif"/><Relationship Id="rId4" Type="http://schemas.openxmlformats.org/officeDocument/2006/relationships/notesSlide" Target="../notesSlides/notesSlide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7.gif"/><Relationship Id="rId4" Type="http://schemas.openxmlformats.org/officeDocument/2006/relationships/notesSlide" Target="../notesSlides/notesSlide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8.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9.gif"/><Relationship Id="rId4" Type="http://schemas.openxmlformats.org/officeDocument/2006/relationships/notesSlide" Target="../notesSlides/notesSlide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10.gif"/><Relationship Id="rId4" Type="http://schemas.openxmlformats.org/officeDocument/2006/relationships/notesSlide" Target="../notesSlides/notesSlide8.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11.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12.gif"/><Relationship Id="rId4" Type="http://schemas.openxmlformats.org/officeDocument/2006/relationships/notesSlide" Target="../notesSlides/notesSlide10.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13.gif"/><Relationship Id="rId4" Type="http://schemas.openxmlformats.org/officeDocument/2006/relationships/notesSlide" Target="../notesSlides/notesSlide11.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14.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15.gif"/><Relationship Id="rId4" Type="http://schemas.openxmlformats.org/officeDocument/2006/relationships/notesSlide" Target="../notesSlides/notesSlide1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16.gif"/><Relationship Id="rId4" Type="http://schemas.openxmlformats.org/officeDocument/2006/relationships/notesSlide" Target="../notesSlides/notesSlide1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17.pn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18.gif"/><Relationship Id="rId4" Type="http://schemas.openxmlformats.org/officeDocument/2006/relationships/notesSlide" Target="../notesSlides/notesSlide15.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19.gif"/><Relationship Id="rId4" Type="http://schemas.openxmlformats.org/officeDocument/2006/relationships/notesSlide" Target="../notesSlides/notesSlide16.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0.png"/></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1.gif"/><Relationship Id="rId4" Type="http://schemas.openxmlformats.org/officeDocument/2006/relationships/notesSlide" Target="../notesSlides/notesSlide18.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2.gif"/><Relationship Id="rId4" Type="http://schemas.openxmlformats.org/officeDocument/2006/relationships/notesSlide" Target="../notesSlides/notesSlide19.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20.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3.png"/></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4.png"/></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5.png"/></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6.gif"/><Relationship Id="rId4" Type="http://schemas.openxmlformats.org/officeDocument/2006/relationships/notesSlide" Target="../notesSlides/notesSlide21.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7.gif"/><Relationship Id="rId4" Type="http://schemas.openxmlformats.org/officeDocument/2006/relationships/notesSlide" Target="../notesSlides/notesSlide2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8.png"/></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23.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13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640080" y="2194560"/>
            <a:ext cx="10911535" cy="1280160"/>
          </a:xfrm>
          <a:prstGeom prst="rect">
            <a:avLst/>
          </a:prstGeom>
          <a:noFill/>
        </p:spPr>
        <p:txBody>
          <a:bodyPr wrap="square" lIns="45720" rIns="45720">
            <a:spAutoFit/>
          </a:bodyPr>
          <a:lstStyle/>
          <a:p>
            <a:pPr algn="ctr"/>
            <a:r>
              <a:rPr sz="4000" b="1">
                <a:solidFill>
                  <a:srgbClr val="006D77"/>
                </a:solidFill>
              </a:rPr>
              <a:t>Security Requirements</a:t>
            </a:r>
          </a:p>
        </p:txBody>
      </p:sp>
      <p:sp>
        <p:nvSpPr>
          <p:cNvPr id="6" name="TextBox 5"/>
          <p:cNvSpPr txBox="1"/>
          <p:nvPr/>
        </p:nvSpPr>
        <p:spPr>
          <a:xfrm>
            <a:off x="640080" y="3566160"/>
            <a:ext cx="10911535" cy="439928"/>
          </a:xfrm>
          <a:prstGeom prst="rect">
            <a:avLst/>
          </a:prstGeom>
          <a:noFill/>
        </p:spPr>
        <p:txBody>
          <a:bodyPr wrap="square" lIns="45720" rIns="45720">
            <a:spAutoFit/>
          </a:bodyPr>
          <a:lstStyle/>
          <a:p>
            <a:pPr algn="ctr"/>
            <a:r>
              <a:rPr sz="2000" b="1">
                <a:solidFill>
                  <a:srgbClr val="1F2D3A"/>
                </a:solidFill>
              </a:rPr>
              <a:t>CEN429 Secure Programming — Week 13</a:t>
            </a:r>
          </a:p>
        </p:txBody>
      </p:sp>
      <p:sp>
        <p:nvSpPr>
          <p:cNvPr id="7" name="TextBox 6"/>
          <p:cNvSpPr txBox="1"/>
          <p:nvPr/>
        </p:nvSpPr>
        <p:spPr>
          <a:xfrm>
            <a:off x="640080" y="4051808"/>
            <a:ext cx="10911535" cy="439928"/>
          </a:xfrm>
          <a:prstGeom prst="rect">
            <a:avLst/>
          </a:prstGeom>
          <a:noFill/>
        </p:spPr>
        <p:txBody>
          <a:bodyPr wrap="square" lIns="45720" rIns="45720">
            <a:spAutoFit/>
          </a:bodyPr>
          <a:lstStyle/>
          <a:p>
            <a:pPr algn="ctr"/>
            <a:r>
              <a:rPr sz="2000" b="0">
                <a:solidFill>
                  <a:srgbClr val="1F2D3A"/>
                </a:solidFill>
              </a:rPr>
              <a:t>Asst. Prof. Dr. Uğur CORUH · 11.12.2026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13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2</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2600" b="1">
                <a:solidFill>
                  <a:srgbClr val="006D77"/>
                </a:solidFill>
              </a:rPr>
              <a:t>Today (3 Hours)</a:t>
            </a:r>
          </a:p>
        </p:txBody>
      </p:sp>
      <p:graphicFrame>
        <p:nvGraphicFramePr>
          <p:cNvPr id="7" name="Table 6"/>
          <p:cNvGraphicFramePr>
            <a:graphicFrameLocks noGrp="1"/>
          </p:cNvGraphicFramePr>
          <p:nvPr/>
        </p:nvGraphicFramePr>
        <p:xfrm>
          <a:off x="640080" y="1325880"/>
          <a:ext cx="10911533" cy="3897172"/>
        </p:xfrm>
        <a:graphic>
          <a:graphicData uri="http://schemas.openxmlformats.org/drawingml/2006/table">
            <a:tbl>
              <a:tblPr firstRow="1" bandRow="1">
                <a:tableStyleId>{5C22544A-7EE6-4342-B048-85BDC9FD1C3A}</a:tableStyleId>
              </a:tblPr>
              <a:tblGrid>
                <a:gridCol w="958445"/>
                <a:gridCol w="810992"/>
                <a:gridCol w="9142096"/>
              </a:tblGrid>
              <a:tr h="389717">
                <a:tc>
                  <a:txBody>
                    <a:bodyPr wrap="square"/>
                    <a:lstStyle/>
                    <a:p>
                      <a:r>
                        <a:rPr sz="1152" b="1">
                          <a:solidFill>
                            <a:srgbClr val="FFFFFF"/>
                          </a:solidFill>
                        </a:rPr>
                        <a:t>Time</a:t>
                      </a:r>
                    </a:p>
                  </a:txBody>
                  <a:tcPr marL="54864" marR="54864" marT="27432" marB="27432" anchor="ctr">
                    <a:solidFill>
                      <a:srgbClr val="006D77"/>
                    </a:solidFill>
                  </a:tcPr>
                </a:tc>
                <a:tc>
                  <a:txBody>
                    <a:bodyPr wrap="square"/>
                    <a:lstStyle/>
                    <a:p>
                      <a:r>
                        <a:rPr sz="1152" b="1">
                          <a:solidFill>
                            <a:srgbClr val="FFFFFF"/>
                          </a:solidFill>
                        </a:rPr>
                        <a:t>Section</a:t>
                      </a:r>
                    </a:p>
                  </a:txBody>
                  <a:tcPr marL="54864" marR="54864" marT="27432" marB="27432" anchor="ctr">
                    <a:solidFill>
                      <a:srgbClr val="006D77"/>
                    </a:solidFill>
                  </a:tcPr>
                </a:tc>
                <a:tc>
                  <a:txBody>
                    <a:bodyPr wrap="square"/>
                    <a:lstStyle/>
                    <a:p>
                      <a:r>
                        <a:rPr sz="1152" b="1">
                          <a:solidFill>
                            <a:srgbClr val="FFFFFF"/>
                          </a:solidFill>
                        </a:rPr>
                        <a:t>What Happens</a:t>
                      </a:r>
                    </a:p>
                  </a:txBody>
                  <a:tcPr marL="54864" marR="54864" marT="27432" marB="27432" anchor="ctr">
                    <a:solidFill>
                      <a:srgbClr val="006D77"/>
                    </a:solidFill>
                  </a:tcPr>
                </a:tc>
              </a:tr>
              <a:tr h="389717">
                <a:tc>
                  <a:txBody>
                    <a:bodyPr wrap="square"/>
                    <a:lstStyle/>
                    <a:p>
                      <a:r>
                        <a:rPr sz="1152" b="0">
                          <a:solidFill>
                            <a:srgbClr val="1F2D3A"/>
                          </a:solidFill>
                        </a:rPr>
                        <a:t>0:00–0:20</a:t>
                      </a:r>
                    </a:p>
                  </a:txBody>
                  <a:tcPr marL="54864" marR="54864" marT="27432" marB="27432" anchor="ctr">
                    <a:solidFill>
                      <a:srgbClr val="FFFFFF"/>
                    </a:solidFill>
                  </a:tcPr>
                </a:tc>
                <a:tc>
                  <a:txBody>
                    <a:bodyPr wrap="square"/>
                    <a:lstStyle/>
                    <a:p>
                      <a:r>
                        <a:rPr sz="1152" b="0">
                          <a:solidFill>
                            <a:srgbClr val="1F2D3A"/>
                          </a:solidFill>
                        </a:rPr>
                        <a:t>1</a:t>
                      </a:r>
                    </a:p>
                  </a:txBody>
                  <a:tcPr marL="54864" marR="54864" marT="27432" marB="27432" anchor="ctr">
                    <a:solidFill>
                      <a:srgbClr val="FFFFFF"/>
                    </a:solidFill>
                  </a:tcPr>
                </a:tc>
                <a:tc>
                  <a:txBody>
                    <a:bodyPr wrap="square"/>
                    <a:lstStyle/>
                    <a:p>
                      <a:r>
                        <a:rPr sz="1152" b="0">
                          <a:solidFill>
                            <a:srgbClr val="1F2D3A"/>
                          </a:solidFill>
                        </a:rPr>
                        <a:t>What is a requirement, how do you write a good one?</a:t>
                      </a:r>
                    </a:p>
                  </a:txBody>
                  <a:tcPr marL="54864" marR="54864" marT="27432" marB="27432" anchor="ctr">
                    <a:solidFill>
                      <a:srgbClr val="FFFFFF"/>
                    </a:solidFill>
                  </a:tcPr>
                </a:tc>
              </a:tr>
              <a:tr h="389717">
                <a:tc>
                  <a:txBody>
                    <a:bodyPr wrap="square"/>
                    <a:lstStyle/>
                    <a:p>
                      <a:r>
                        <a:rPr sz="1152" b="0">
                          <a:solidFill>
                            <a:srgbClr val="1F2D3A"/>
                          </a:solidFill>
                        </a:rPr>
                        <a:t>0:20–0:50</a:t>
                      </a:r>
                    </a:p>
                  </a:txBody>
                  <a:tcPr marL="54864" marR="54864" marT="27432" marB="27432" anchor="ctr">
                    <a:solidFill>
                      <a:srgbClr val="EEF7F8"/>
                    </a:solidFill>
                  </a:tcPr>
                </a:tc>
                <a:tc>
                  <a:txBody>
                    <a:bodyPr wrap="square"/>
                    <a:lstStyle/>
                    <a:p>
                      <a:r>
                        <a:rPr sz="1152" b="0">
                          <a:solidFill>
                            <a:srgbClr val="1F2D3A"/>
                          </a:solidFill>
                        </a:rPr>
                        <a:t>2–3</a:t>
                      </a:r>
                    </a:p>
                  </a:txBody>
                  <a:tcPr marL="54864" marR="54864" marT="27432" marB="27432" anchor="ctr">
                    <a:solidFill>
                      <a:srgbClr val="EEF7F8"/>
                    </a:solidFill>
                  </a:tcPr>
                </a:tc>
                <a:tc>
                  <a:txBody>
                    <a:bodyPr wrap="square"/>
                    <a:lstStyle/>
                    <a:p>
                      <a:r>
                        <a:rPr sz="1152" b="0">
                          <a:solidFill>
                            <a:srgbClr val="1F2D3A"/>
                          </a:solidFill>
                        </a:rPr>
                        <a:t>Requirement-to-evidence traceability; the requirement-block pattern and deferred requirements</a:t>
                      </a:r>
                    </a:p>
                  </a:txBody>
                  <a:tcPr marL="54864" marR="54864" marT="27432" marB="27432" anchor="ctr">
                    <a:solidFill>
                      <a:srgbClr val="EEF7F8"/>
                    </a:solidFill>
                  </a:tcPr>
                </a:tc>
              </a:tr>
              <a:tr h="389717">
                <a:tc>
                  <a:txBody>
                    <a:bodyPr wrap="square"/>
                    <a:lstStyle/>
                    <a:p>
                      <a:r>
                        <a:rPr sz="1152" b="0">
                          <a:solidFill>
                            <a:srgbClr val="1F2D3A"/>
                          </a:solidFill>
                        </a:rPr>
                        <a:t>0:50–1:00</a:t>
                      </a:r>
                    </a:p>
                  </a:txBody>
                  <a:tcPr marL="54864" marR="54864" marT="27432" marB="27432" anchor="ctr">
                    <a:solidFill>
                      <a:srgbClr val="FFFFFF"/>
                    </a:solidFill>
                  </a:tcPr>
                </a:tc>
                <a:tc>
                  <a:txBody>
                    <a:bodyPr wrap="square"/>
                    <a:lstStyle/>
                    <a:p>
                      <a:r>
                        <a:rPr sz="1152" b="0">
                          <a:solidFill>
                            <a:srgbClr val="1F2D3A"/>
                          </a:solidFill>
                        </a:rPr>
                        <a:t>Break</a:t>
                      </a:r>
                    </a:p>
                  </a:txBody>
                  <a:tcPr marL="54864" marR="54864" marT="27432" marB="27432" anchor="ctr">
                    <a:solidFill>
                      <a:srgbClr val="FFFFFF"/>
                    </a:solidFill>
                  </a:tcPr>
                </a:tc>
                <a:tc>
                  <a:txBody>
                    <a:bodyPr wrap="square"/>
                    <a:lstStyle/>
                    <a:p/>
                  </a:txBody>
                  <a:tcPr marL="54864" marR="54864" marT="27432" marB="27432" anchor="ctr">
                    <a:solidFill>
                      <a:srgbClr val="FFFFFF"/>
                    </a:solidFill>
                  </a:tcPr>
                </a:tc>
              </a:tr>
              <a:tr h="389717">
                <a:tc>
                  <a:txBody>
                    <a:bodyPr wrap="square"/>
                    <a:lstStyle/>
                    <a:p>
                      <a:r>
                        <a:rPr sz="1152" b="0">
                          <a:solidFill>
                            <a:srgbClr val="1F2D3A"/>
                          </a:solidFill>
                        </a:rPr>
                        <a:t>1:00–1:30</a:t>
                      </a:r>
                    </a:p>
                  </a:txBody>
                  <a:tcPr marL="54864" marR="54864" marT="27432" marB="27432" anchor="ctr">
                    <a:solidFill>
                      <a:srgbClr val="EEF7F8"/>
                    </a:solidFill>
                  </a:tcPr>
                </a:tc>
                <a:tc>
                  <a:txBody>
                    <a:bodyPr wrap="square"/>
                    <a:lstStyle/>
                    <a:p>
                      <a:r>
                        <a:rPr sz="1152" b="0">
                          <a:solidFill>
                            <a:srgbClr val="1F2D3A"/>
                          </a:solidFill>
                        </a:rPr>
                        <a:t>4</a:t>
                      </a:r>
                    </a:p>
                  </a:txBody>
                  <a:tcPr marL="54864" marR="54864" marT="27432" marB="27432" anchor="ctr">
                    <a:solidFill>
                      <a:srgbClr val="EEF7F8"/>
                    </a:solidFill>
                  </a:tcPr>
                </a:tc>
                <a:tc>
                  <a:txBody>
                    <a:bodyPr wrap="square"/>
                    <a:lstStyle/>
                    <a:p>
                      <a:r>
                        <a:rPr sz="1152" b="0">
                          <a:solidFill>
                            <a:srgbClr val="1F2D3A"/>
                          </a:solidFill>
                        </a:rPr>
                        <a:t>Common Criteria: TOE, ST, PP, SFR/SAR, EAL</a:t>
                      </a:r>
                    </a:p>
                  </a:txBody>
                  <a:tcPr marL="54864" marR="54864" marT="27432" marB="27432" anchor="ctr">
                    <a:solidFill>
                      <a:srgbClr val="EEF7F8"/>
                    </a:solidFill>
                  </a:tcPr>
                </a:tc>
              </a:tr>
              <a:tr h="389717">
                <a:tc>
                  <a:txBody>
                    <a:bodyPr wrap="square"/>
                    <a:lstStyle/>
                    <a:p>
                      <a:r>
                        <a:rPr sz="1152" b="0">
                          <a:solidFill>
                            <a:srgbClr val="1F2D3A"/>
                          </a:solidFill>
                        </a:rPr>
                        <a:t>1:30–1:50</a:t>
                      </a:r>
                    </a:p>
                  </a:txBody>
                  <a:tcPr marL="54864" marR="54864" marT="27432" marB="27432" anchor="ctr">
                    <a:solidFill>
                      <a:srgbClr val="FFFFFF"/>
                    </a:solidFill>
                  </a:tcPr>
                </a:tc>
                <a:tc>
                  <a:txBody>
                    <a:bodyPr wrap="square"/>
                    <a:lstStyle/>
                    <a:p>
                      <a:r>
                        <a:rPr sz="1152" b="0">
                          <a:solidFill>
                            <a:srgbClr val="1F2D3A"/>
                          </a:solidFill>
                        </a:rPr>
                        <a:t>5</a:t>
                      </a:r>
                    </a:p>
                  </a:txBody>
                  <a:tcPr marL="54864" marR="54864" marT="27432" marB="27432" anchor="ctr">
                    <a:solidFill>
                      <a:srgbClr val="FFFFFF"/>
                    </a:solidFill>
                  </a:tcPr>
                </a:tc>
                <a:tc>
                  <a:txBody>
                    <a:bodyPr wrap="square"/>
                    <a:lstStyle/>
                    <a:p>
                      <a:r>
                        <a:rPr sz="1152" b="0">
                          <a:solidFill>
                            <a:srgbClr val="1F2D3A"/>
                          </a:solidFill>
                        </a:rPr>
                        <a:t>FIPS 140-3 and cryptographic module validation</a:t>
                      </a:r>
                    </a:p>
                  </a:txBody>
                  <a:tcPr marL="54864" marR="54864" marT="27432" marB="27432" anchor="ctr">
                    <a:solidFill>
                      <a:srgbClr val="FFFFFF"/>
                    </a:solidFill>
                  </a:tcPr>
                </a:tc>
              </a:tr>
              <a:tr h="389717">
                <a:tc>
                  <a:txBody>
                    <a:bodyPr wrap="square"/>
                    <a:lstStyle/>
                    <a:p>
                      <a:r>
                        <a:rPr sz="1152" b="0">
                          <a:solidFill>
                            <a:srgbClr val="1F2D3A"/>
                          </a:solidFill>
                        </a:rPr>
                        <a:t>1:50–2:00</a:t>
                      </a:r>
                    </a:p>
                  </a:txBody>
                  <a:tcPr marL="54864" marR="54864" marT="27432" marB="27432" anchor="ctr">
                    <a:solidFill>
                      <a:srgbClr val="EEF7F8"/>
                    </a:solidFill>
                  </a:tcPr>
                </a:tc>
                <a:tc>
                  <a:txBody>
                    <a:bodyPr wrap="square"/>
                    <a:lstStyle/>
                    <a:p>
                      <a:r>
                        <a:rPr sz="1152" b="0">
                          <a:solidFill>
                            <a:srgbClr val="1F2D3A"/>
                          </a:solidFill>
                        </a:rPr>
                        <a:t>Break</a:t>
                      </a:r>
                    </a:p>
                  </a:txBody>
                  <a:tcPr marL="54864" marR="54864" marT="27432" marB="27432" anchor="ctr">
                    <a:solidFill>
                      <a:srgbClr val="EEF7F8"/>
                    </a:solidFill>
                  </a:tcPr>
                </a:tc>
                <a:tc>
                  <a:txBody>
                    <a:bodyPr wrap="square"/>
                    <a:lstStyle/>
                    <a:p/>
                  </a:txBody>
                  <a:tcPr marL="54864" marR="54864" marT="27432" marB="27432" anchor="ctr">
                    <a:solidFill>
                      <a:srgbClr val="EEF7F8"/>
                    </a:solidFill>
                  </a:tcPr>
                </a:tc>
              </a:tr>
              <a:tr h="389717">
                <a:tc>
                  <a:txBody>
                    <a:bodyPr wrap="square"/>
                    <a:lstStyle/>
                    <a:p>
                      <a:r>
                        <a:rPr sz="1152" b="0">
                          <a:solidFill>
                            <a:srgbClr val="1F2D3A"/>
                          </a:solidFill>
                        </a:rPr>
                        <a:t>2:00–2:25</a:t>
                      </a:r>
                    </a:p>
                  </a:txBody>
                  <a:tcPr marL="54864" marR="54864" marT="27432" marB="27432" anchor="ctr">
                    <a:solidFill>
                      <a:srgbClr val="FFFFFF"/>
                    </a:solidFill>
                  </a:tcPr>
                </a:tc>
                <a:tc>
                  <a:txBody>
                    <a:bodyPr wrap="square"/>
                    <a:lstStyle/>
                    <a:p>
                      <a:r>
                        <a:rPr sz="1152" b="0">
                          <a:solidFill>
                            <a:srgbClr val="1F2D3A"/>
                          </a:solidFill>
                        </a:rPr>
                        <a:t>6</a:t>
                      </a:r>
                    </a:p>
                  </a:txBody>
                  <a:tcPr marL="54864" marR="54864" marT="27432" marB="27432" anchor="ctr">
                    <a:solidFill>
                      <a:srgbClr val="FFFFFF"/>
                    </a:solidFill>
                  </a:tcPr>
                </a:tc>
                <a:tc>
                  <a:txBody>
                    <a:bodyPr wrap="square"/>
                    <a:lstStyle/>
                    <a:p>
                      <a:r>
                        <a:rPr sz="1152" b="0">
                          <a:solidFill>
                            <a:srgbClr val="1F2D3A"/>
                          </a:solidFill>
                        </a:rPr>
                        <a:t>ETSI, GSMA, EMVCo, PCI MPoC, OWASP MASVS</a:t>
                      </a:r>
                    </a:p>
                  </a:txBody>
                  <a:tcPr marL="54864" marR="54864" marT="27432" marB="27432" anchor="ctr">
                    <a:solidFill>
                      <a:srgbClr val="FFFFFF"/>
                    </a:solidFill>
                  </a:tcPr>
                </a:tc>
              </a:tr>
              <a:tr h="389717">
                <a:tc>
                  <a:txBody>
                    <a:bodyPr wrap="square"/>
                    <a:lstStyle/>
                    <a:p>
                      <a:r>
                        <a:rPr sz="1152" b="0">
                          <a:solidFill>
                            <a:srgbClr val="1F2D3A"/>
                          </a:solidFill>
                        </a:rPr>
                        <a:t>2:25–2:50</a:t>
                      </a:r>
                    </a:p>
                  </a:txBody>
                  <a:tcPr marL="54864" marR="54864" marT="27432" marB="27432" anchor="ctr">
                    <a:solidFill>
                      <a:srgbClr val="EEF7F8"/>
                    </a:solidFill>
                  </a:tcPr>
                </a:tc>
                <a:tc>
                  <a:txBody>
                    <a:bodyPr wrap="square"/>
                    <a:lstStyle/>
                    <a:p>
                      <a:r>
                        <a:rPr sz="1152" b="0">
                          <a:solidFill>
                            <a:srgbClr val="1F2D3A"/>
                          </a:solidFill>
                        </a:rPr>
                        <a:t>7–8</a:t>
                      </a:r>
                    </a:p>
                  </a:txBody>
                  <a:tcPr marL="54864" marR="54864" marT="27432" marB="27432" anchor="ctr">
                    <a:solidFill>
                      <a:srgbClr val="EEF7F8"/>
                    </a:solidFill>
                  </a:tcPr>
                </a:tc>
                <a:tc>
                  <a:txBody>
                    <a:bodyPr wrap="square"/>
                    <a:lstStyle/>
                    <a:p>
                      <a:r>
                        <a:rPr sz="1152" b="0">
                          <a:solidFill>
                            <a:srgbClr val="1F2D3A"/>
                          </a:solidFill>
                        </a:rPr>
                        <a:t>Carrying requirements into the plan and asset management; the course's requirement families — compliance matrix activity</a:t>
                      </a:r>
                    </a:p>
                  </a:txBody>
                  <a:tcPr marL="54864" marR="54864" marT="27432" marB="27432" anchor="ctr">
                    <a:solidFill>
                      <a:srgbClr val="EEF7F8"/>
                    </a:solidFill>
                  </a:tcPr>
                </a:tc>
              </a:tr>
              <a:tr h="389719">
                <a:tc>
                  <a:txBody>
                    <a:bodyPr wrap="square"/>
                    <a:lstStyle/>
                    <a:p>
                      <a:r>
                        <a:rPr sz="1152" b="0">
                          <a:solidFill>
                            <a:srgbClr val="1F2D3A"/>
                          </a:solidFill>
                        </a:rPr>
                        <a:t>2:50–3:00</a:t>
                      </a:r>
                    </a:p>
                  </a:txBody>
                  <a:tcPr marL="54864" marR="54864" marT="27432" marB="27432" anchor="ctr">
                    <a:solidFill>
                      <a:srgbClr val="FFFFFF"/>
                    </a:solidFill>
                  </a:tcPr>
                </a:tc>
                <a:tc>
                  <a:txBody>
                    <a:bodyPr wrap="square"/>
                    <a:lstStyle/>
                    <a:p>
                      <a:r>
                        <a:rPr sz="1152" b="0">
                          <a:solidFill>
                            <a:srgbClr val="1F2D3A"/>
                          </a:solidFill>
                        </a:rPr>
                        <a:t>9+</a:t>
                      </a:r>
                    </a:p>
                  </a:txBody>
                  <a:tcPr marL="54864" marR="54864" marT="27432" marB="27432" anchor="ctr">
                    <a:solidFill>
                      <a:srgbClr val="FFFFFF"/>
                    </a:solidFill>
                  </a:tcPr>
                </a:tc>
                <a:tc>
                  <a:txBody>
                    <a:bodyPr wrap="square"/>
                    <a:lstStyle/>
                    <a:p>
                      <a:r>
                        <a:rPr sz="1152" b="0">
                          <a:solidFill>
                            <a:srgbClr val="1F2D3A"/>
                          </a:solidFill>
                        </a:rPr>
                        <a:t>Project step (S14, S17), self-check</a:t>
                      </a:r>
                    </a:p>
                  </a:txBody>
                  <a:tcPr marL="54864" marR="54864" marT="27432" marB="27432" anchor="ctr">
                    <a:solidFill>
                      <a:srgbClr val="FFFFFF"/>
                    </a:solidFill>
                  </a:tcPr>
                </a:tc>
              </a:tr>
            </a:tbl>
          </a:graphicData>
        </a:graphic>
      </p:graphicFrame>
      <p:sp>
        <p:nvSpPr>
          <p:cNvPr id="8" name="TextBox 7"/>
          <p:cNvSpPr txBox="1"/>
          <p:nvPr/>
        </p:nvSpPr>
        <p:spPr>
          <a:xfrm>
            <a:off x="640080" y="5332780"/>
            <a:ext cx="10911535" cy="638048"/>
          </a:xfrm>
          <a:prstGeom prst="rect">
            <a:avLst/>
          </a:prstGeom>
          <a:noFill/>
        </p:spPr>
        <p:txBody>
          <a:bodyPr wrap="square" lIns="45720" rIns="45720">
            <a:spAutoFit/>
          </a:bodyPr>
          <a:lstStyle/>
          <a:p>
            <a:pPr algn="l"/>
            <a:r>
              <a:rPr sz="1600" b="1">
                <a:solidFill>
                  <a:srgbClr val="1F2D3A"/>
                </a:solidFill>
              </a:rPr>
              <a:t>Learning outcomes (LO.5, 7):</a:t>
            </a:r>
            <a:r>
              <a:rPr sz="1600" b="0">
                <a:solidFill>
                  <a:srgbClr val="1F2D3A"/>
                </a:solidFill>
              </a:rPr>
              <a:t> tell a good security requirement apart from a bad one · build a traceability/compliance matrix · compare what CC, FIPS, ETSI, EMVCo, PCI, and MASVS ask for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13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3</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What We Bring from Earlier Weeks</a:t>
            </a:r>
          </a:p>
        </p:txBody>
      </p:sp>
      <p:sp>
        <p:nvSpPr>
          <p:cNvPr id="7" name="TextBox 6"/>
          <p:cNvSpPr txBox="1"/>
          <p:nvPr/>
        </p:nvSpPr>
        <p:spPr>
          <a:xfrm>
            <a:off x="640080" y="1325880"/>
            <a:ext cx="10911535" cy="2824480"/>
          </a:xfrm>
          <a:prstGeom prst="rect">
            <a:avLst/>
          </a:prstGeom>
          <a:noFill/>
        </p:spPr>
        <p:txBody>
          <a:bodyPr wrap="square" lIns="45720" rIns="45720">
            <a:spAutoFit/>
          </a:bodyPr>
          <a:lstStyle/>
          <a:p>
            <a:pPr>
              <a:spcAft>
                <a:spcPts val="300"/>
              </a:spcAft>
            </a:pPr>
            <a:r>
              <a:rPr sz="2000" b="1">
                <a:solidFill>
                  <a:srgbClr val="006D77"/>
                </a:solidFill>
              </a:rPr>
              <a:t>• </a:t>
            </a:r>
            <a:r>
              <a:rPr sz="2000" b="1">
                <a:solidFill>
                  <a:srgbClr val="1F2D3A"/>
                </a:solidFill>
              </a:rPr>
              <a:t>Asset, threat, and the application protection plan</a:t>
            </a:r>
            <a:r>
              <a:rPr sz="2000" b="0">
                <a:solidFill>
                  <a:srgbClr val="1F2D3A"/>
                </a:solidFill>
              </a:rPr>
              <a:t> — the written plan that governs a piece of software's security: scope, architecture, assets, threats, controls, verification, residual risk; where each asset lives, when it is created and destroyed, and which protection (C/I) it needs are listed in an </a:t>
            </a:r>
            <a:r>
              <a:rPr sz="2000" b="1">
                <a:solidFill>
                  <a:srgbClr val="1F2D3A"/>
                </a:solidFill>
              </a:rPr>
              <a:t>asset table</a:t>
            </a:r>
            <a:r>
              <a:rPr sz="2000" b="0">
                <a:solidFill>
                  <a:srgbClr val="1F2D3A"/>
                </a:solidFill>
              </a:rPr>
              <a:t> </a:t>
            </a:r>
            <a:r>
              <a:rPr sz="2000" b="1">
                <a:solidFill>
                  <a:srgbClr val="1F2D3A"/>
                </a:solidFill>
              </a:rPr>
              <a:t>(Week 1)</a:t>
            </a:r>
          </a:p>
          <a:p>
            <a:pPr>
              <a:spcAft>
                <a:spcPts val="300"/>
              </a:spcAft>
            </a:pPr>
            <a:r>
              <a:rPr sz="2000" b="1">
                <a:solidFill>
                  <a:srgbClr val="006D77"/>
                </a:solidFill>
              </a:rPr>
              <a:t>• </a:t>
            </a:r>
            <a:r>
              <a:rPr sz="2000" b="1">
                <a:solidFill>
                  <a:srgbClr val="1F2D3A"/>
                </a:solidFill>
              </a:rPr>
              <a:t>Independent evaluation, findings, and evidence</a:t>
            </a:r>
            <a:r>
              <a:rPr sz="2000" b="0">
                <a:solidFill>
                  <a:srgbClr val="1F2D3A"/>
                </a:solidFill>
              </a:rPr>
              <a:t> — the evidence-based evaluation process run by an independent laboratory rather than the product's own developer; every gap the evaluator documents is a </a:t>
            </a:r>
            <a:r>
              <a:rPr sz="2000" b="1">
                <a:solidFill>
                  <a:srgbClr val="1F2D3A"/>
                </a:solidFill>
              </a:rPr>
              <a:t>finding</a:t>
            </a:r>
            <a:r>
              <a:rPr sz="2000" b="0">
                <a:solidFill>
                  <a:srgbClr val="1F2D3A"/>
                </a:solidFill>
              </a:rPr>
              <a:t> </a:t>
            </a:r>
            <a:r>
              <a:rPr sz="2000" b="1">
                <a:solidFill>
                  <a:srgbClr val="1F2D3A"/>
                </a:solidFill>
              </a:rPr>
              <a:t>(Week 12)</a:t>
            </a:r>
          </a:p>
        </p:txBody>
      </p:sp>
      <p:sp>
        <p:nvSpPr>
          <p:cNvPr id="8" name="TextBox 7"/>
          <p:cNvSpPr txBox="1"/>
          <p:nvPr/>
        </p:nvSpPr>
        <p:spPr>
          <a:xfrm>
            <a:off x="640080" y="4260088"/>
            <a:ext cx="10911535" cy="1100327"/>
          </a:xfrm>
          <a:prstGeom prst="rect">
            <a:avLst/>
          </a:prstGeom>
          <a:noFill/>
        </p:spPr>
        <p:txBody>
          <a:bodyPr wrap="square" lIns="45720" rIns="45720">
            <a:spAutoFit/>
          </a:bodyPr>
          <a:lstStyle/>
          <a:p>
            <a:pPr algn="l"/>
            <a:r>
              <a:rPr sz="2000" b="0">
                <a:solidFill>
                  <a:srgbClr val="1F2D3A"/>
                </a:solidFill>
              </a:rPr>
              <a:t>This week: we link the asset table to every requirement, and we use the independent-evaluation discipline as a "requirement-to-evidence traceability chain" — the output is your project's </a:t>
            </a:r>
            <a:r>
              <a:rPr sz="2000" b="1">
                <a:solidFill>
                  <a:srgbClr val="1F2D3A"/>
                </a:solidFill>
              </a:rPr>
              <a:t>compliance matrix (S17)</a:t>
            </a:r>
            <a:r>
              <a:rPr sz="2000" b="0">
                <a:solidFill>
                  <a:srgbClr val="1F2D3A"/>
                </a:solidFill>
              </a:rPr>
              <a:t> and </a:t>
            </a:r>
            <a:r>
              <a:rPr sz="2000" b="1">
                <a:solidFill>
                  <a:srgbClr val="1F2D3A"/>
                </a:solidFill>
              </a:rPr>
              <a:t>deferred requirements (S14)</a:t>
            </a:r>
            <a:r>
              <a:rPr sz="2000" b="0">
                <a:solidFill>
                  <a:srgbClr val="1F2D3A"/>
                </a:solidFill>
              </a:rPr>
              <a: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13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4</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2600" b="1">
                <a:solidFill>
                  <a:srgbClr val="006D77"/>
                </a:solidFill>
              </a:rPr>
              <a:t>This Week's Concepts</a:t>
            </a:r>
          </a:p>
        </p:txBody>
      </p:sp>
      <p:sp>
        <p:nvSpPr>
          <p:cNvPr id="7" name="TextBox 6"/>
          <p:cNvSpPr txBox="1"/>
          <p:nvPr/>
        </p:nvSpPr>
        <p:spPr>
          <a:xfrm>
            <a:off x="640080" y="1325880"/>
            <a:ext cx="10911535" cy="390398"/>
          </a:xfrm>
          <a:prstGeom prst="rect">
            <a:avLst/>
          </a:prstGeom>
          <a:noFill/>
        </p:spPr>
        <p:txBody>
          <a:bodyPr wrap="square" lIns="45720" rIns="45720">
            <a:spAutoFit/>
          </a:bodyPr>
          <a:lstStyle/>
          <a:p>
            <a:pPr algn="l"/>
            <a:r>
              <a:rPr sz="1700" b="0">
                <a:solidFill>
                  <a:srgbClr val="1F2D3A"/>
                </a:solidFill>
              </a:rPr>
              <a:t>Each term is defined once, where it first appears in the body; here we only mark </a:t>
            </a:r>
            <a:r>
              <a:rPr sz="1700" b="1">
                <a:solidFill>
                  <a:srgbClr val="1F2D3A"/>
                </a:solidFill>
              </a:rPr>
              <a:t>where</a:t>
            </a:r>
            <a:r>
              <a:rPr sz="1700" b="0">
                <a:solidFill>
                  <a:srgbClr val="1F2D3A"/>
                </a:solidFill>
              </a:rPr>
              <a:t>.</a:t>
            </a:r>
          </a:p>
        </p:txBody>
      </p:sp>
      <p:graphicFrame>
        <p:nvGraphicFramePr>
          <p:cNvPr id="8" name="Table 7"/>
          <p:cNvGraphicFramePr>
            <a:graphicFrameLocks noGrp="1"/>
          </p:cNvGraphicFramePr>
          <p:nvPr/>
        </p:nvGraphicFramePr>
        <p:xfrm>
          <a:off x="640080" y="1826006"/>
          <a:ext cx="7819932" cy="4190695"/>
        </p:xfrm>
        <a:graphic>
          <a:graphicData uri="http://schemas.openxmlformats.org/drawingml/2006/table">
            <a:tbl>
              <a:tblPr firstRow="1" bandRow="1">
                <a:tableStyleId>{5C22544A-7EE6-4342-B048-85BDC9FD1C3A}</a:tableStyleId>
              </a:tblPr>
              <a:tblGrid>
                <a:gridCol w="5455767"/>
                <a:gridCol w="2364165"/>
              </a:tblGrid>
              <a:tr h="322361">
                <a:tc>
                  <a:txBody>
                    <a:bodyPr wrap="square"/>
                    <a:lstStyle/>
                    <a:p>
                      <a:r>
                        <a:rPr sz="1224" b="1">
                          <a:solidFill>
                            <a:srgbClr val="FFFFFF"/>
                          </a:solidFill>
                        </a:rPr>
                        <a:t>Concept</a:t>
                      </a:r>
                    </a:p>
                  </a:txBody>
                  <a:tcPr marL="54864" marR="54864" marT="27432" marB="27432" anchor="ctr">
                    <a:solidFill>
                      <a:srgbClr val="006D77"/>
                    </a:solidFill>
                  </a:tcPr>
                </a:tc>
                <a:tc>
                  <a:txBody>
                    <a:bodyPr wrap="square"/>
                    <a:lstStyle/>
                    <a:p>
                      <a:r>
                        <a:rPr sz="1224" b="1">
                          <a:solidFill>
                            <a:srgbClr val="FFFFFF"/>
                          </a:solidFill>
                        </a:rPr>
                        <a:t>Where</a:t>
                      </a:r>
                    </a:p>
                  </a:txBody>
                  <a:tcPr marL="54864" marR="54864" marT="27432" marB="27432" anchor="ctr">
                    <a:solidFill>
                      <a:srgbClr val="006D77"/>
                    </a:solidFill>
                  </a:tcPr>
                </a:tc>
              </a:tr>
              <a:tr h="322361">
                <a:tc>
                  <a:txBody>
                    <a:bodyPr wrap="square"/>
                    <a:lstStyle/>
                    <a:p>
                      <a:r>
                        <a:rPr sz="1224" b="0">
                          <a:solidFill>
                            <a:srgbClr val="1F2D3A"/>
                          </a:solidFill>
                        </a:rPr>
                        <a:t>Requirement</a:t>
                      </a:r>
                    </a:p>
                  </a:txBody>
                  <a:tcPr marL="54864" marR="54864" marT="27432" marB="27432" anchor="ctr">
                    <a:solidFill>
                      <a:srgbClr val="FFFFFF"/>
                    </a:solidFill>
                  </a:tcPr>
                </a:tc>
                <a:tc>
                  <a:txBody>
                    <a:bodyPr wrap="square"/>
                    <a:lstStyle/>
                    <a:p>
                      <a:r>
                        <a:rPr sz="1224" b="0">
                          <a:solidFill>
                            <a:srgbClr val="1F2D3A"/>
                          </a:solidFill>
                        </a:rPr>
                        <a:t>Section 1</a:t>
                      </a:r>
                    </a:p>
                  </a:txBody>
                  <a:tcPr marL="54864" marR="54864" marT="27432" marB="27432" anchor="ctr">
                    <a:solidFill>
                      <a:srgbClr val="FFFFFF"/>
                    </a:solidFill>
                  </a:tcPr>
                </a:tc>
              </a:tr>
              <a:tr h="322361">
                <a:tc>
                  <a:txBody>
                    <a:bodyPr wrap="square"/>
                    <a:lstStyle/>
                    <a:p>
                      <a:r>
                        <a:rPr sz="1224" b="0">
                          <a:solidFill>
                            <a:srgbClr val="1F2D3A"/>
                          </a:solidFill>
                        </a:rPr>
                        <a:t>Three types of requirement</a:t>
                      </a:r>
                    </a:p>
                  </a:txBody>
                  <a:tcPr marL="54864" marR="54864" marT="27432" marB="27432" anchor="ctr">
                    <a:solidFill>
                      <a:srgbClr val="EEF7F8"/>
                    </a:solidFill>
                  </a:tcPr>
                </a:tc>
                <a:tc>
                  <a:txBody>
                    <a:bodyPr wrap="square"/>
                    <a:lstStyle/>
                    <a:p>
                      <a:r>
                        <a:rPr sz="1224" b="0">
                          <a:solidFill>
                            <a:srgbClr val="1F2D3A"/>
                          </a:solidFill>
                        </a:rPr>
                        <a:t>Section 1</a:t>
                      </a:r>
                    </a:p>
                  </a:txBody>
                  <a:tcPr marL="54864" marR="54864" marT="27432" marB="27432" anchor="ctr">
                    <a:solidFill>
                      <a:srgbClr val="EEF7F8"/>
                    </a:solidFill>
                  </a:tcPr>
                </a:tc>
              </a:tr>
              <a:tr h="322361">
                <a:tc>
                  <a:txBody>
                    <a:bodyPr wrap="square"/>
                    <a:lstStyle/>
                    <a:p>
                      <a:r>
                        <a:rPr sz="1224" b="0">
                          <a:solidFill>
                            <a:srgbClr val="1F2D3A"/>
                          </a:solidFill>
                        </a:rPr>
                        <a:t>Good vs. bad requirement</a:t>
                      </a:r>
                    </a:p>
                  </a:txBody>
                  <a:tcPr marL="54864" marR="54864" marT="27432" marB="27432" anchor="ctr">
                    <a:solidFill>
                      <a:srgbClr val="FFFFFF"/>
                    </a:solidFill>
                  </a:tcPr>
                </a:tc>
                <a:tc>
                  <a:txBody>
                    <a:bodyPr wrap="square"/>
                    <a:lstStyle/>
                    <a:p>
                      <a:r>
                        <a:rPr sz="1224" b="0">
                          <a:solidFill>
                            <a:srgbClr val="1F2D3A"/>
                          </a:solidFill>
                        </a:rPr>
                        <a:t>Section 1</a:t>
                      </a:r>
                    </a:p>
                  </a:txBody>
                  <a:tcPr marL="54864" marR="54864" marT="27432" marB="27432" anchor="ctr">
                    <a:solidFill>
                      <a:srgbClr val="FFFFFF"/>
                    </a:solidFill>
                  </a:tcPr>
                </a:tc>
              </a:tr>
              <a:tr h="322361">
                <a:tc>
                  <a:txBody>
                    <a:bodyPr wrap="square"/>
                    <a:lstStyle/>
                    <a:p>
                      <a:r>
                        <a:rPr sz="1224" b="0">
                          <a:solidFill>
                            <a:srgbClr val="1F2D3A"/>
                          </a:solidFill>
                        </a:rPr>
                        <a:t>Traceability</a:t>
                      </a:r>
                    </a:p>
                  </a:txBody>
                  <a:tcPr marL="54864" marR="54864" marT="27432" marB="27432" anchor="ctr">
                    <a:solidFill>
                      <a:srgbClr val="EEF7F8"/>
                    </a:solidFill>
                  </a:tcPr>
                </a:tc>
                <a:tc>
                  <a:txBody>
                    <a:bodyPr wrap="square"/>
                    <a:lstStyle/>
                    <a:p>
                      <a:r>
                        <a:rPr sz="1224" b="0">
                          <a:solidFill>
                            <a:srgbClr val="1F2D3A"/>
                          </a:solidFill>
                        </a:rPr>
                        <a:t>Section 2</a:t>
                      </a:r>
                    </a:p>
                  </a:txBody>
                  <a:tcPr marL="54864" marR="54864" marT="27432" marB="27432" anchor="ctr">
                    <a:solidFill>
                      <a:srgbClr val="EEF7F8"/>
                    </a:solidFill>
                  </a:tcPr>
                </a:tc>
              </a:tr>
              <a:tr h="322361">
                <a:tc>
                  <a:txBody>
                    <a:bodyPr wrap="square"/>
                    <a:lstStyle/>
                    <a:p>
                      <a:r>
                        <a:rPr sz="1224" b="0">
                          <a:solidFill>
                            <a:srgbClr val="1F2D3A"/>
                          </a:solidFill>
                        </a:rPr>
                        <a:t>Compliance matrix</a:t>
                      </a:r>
                    </a:p>
                  </a:txBody>
                  <a:tcPr marL="54864" marR="54864" marT="27432" marB="27432" anchor="ctr">
                    <a:solidFill>
                      <a:srgbClr val="FFFFFF"/>
                    </a:solidFill>
                  </a:tcPr>
                </a:tc>
                <a:tc>
                  <a:txBody>
                    <a:bodyPr wrap="square"/>
                    <a:lstStyle/>
                    <a:p>
                      <a:r>
                        <a:rPr sz="1224" b="0">
                          <a:solidFill>
                            <a:srgbClr val="1F2D3A"/>
                          </a:solidFill>
                        </a:rPr>
                        <a:t>Section 2</a:t>
                      </a:r>
                    </a:p>
                  </a:txBody>
                  <a:tcPr marL="54864" marR="54864" marT="27432" marB="27432" anchor="ctr">
                    <a:solidFill>
                      <a:srgbClr val="FFFFFF"/>
                    </a:solidFill>
                  </a:tcPr>
                </a:tc>
              </a:tr>
              <a:tr h="322361">
                <a:tc>
                  <a:txBody>
                    <a:bodyPr wrap="square"/>
                    <a:lstStyle/>
                    <a:p>
                      <a:r>
                        <a:rPr sz="1224" b="0">
                          <a:solidFill>
                            <a:srgbClr val="1F2D3A"/>
                          </a:solidFill>
                        </a:rPr>
                        <a:t>Requirement statuses</a:t>
                      </a:r>
                    </a:p>
                  </a:txBody>
                  <a:tcPr marL="54864" marR="54864" marT="27432" marB="27432" anchor="ctr">
                    <a:solidFill>
                      <a:srgbClr val="EEF7F8"/>
                    </a:solidFill>
                  </a:tcPr>
                </a:tc>
                <a:tc>
                  <a:txBody>
                    <a:bodyPr wrap="square"/>
                    <a:lstStyle/>
                    <a:p>
                      <a:r>
                        <a:rPr sz="1224" b="0">
                          <a:solidFill>
                            <a:srgbClr val="1F2D3A"/>
                          </a:solidFill>
                        </a:rPr>
                        <a:t>Section 2</a:t>
                      </a:r>
                    </a:p>
                  </a:txBody>
                  <a:tcPr marL="54864" marR="54864" marT="27432" marB="27432" anchor="ctr">
                    <a:solidFill>
                      <a:srgbClr val="EEF7F8"/>
                    </a:solidFill>
                  </a:tcPr>
                </a:tc>
              </a:tr>
              <a:tr h="322361">
                <a:tc>
                  <a:txBody>
                    <a:bodyPr wrap="square"/>
                    <a:lstStyle/>
                    <a:p>
                      <a:r>
                        <a:rPr sz="1224" b="0">
                          <a:solidFill>
                            <a:srgbClr val="1F2D3A"/>
                          </a:solidFill>
                        </a:rPr>
                        <a:t>Deferred requirement</a:t>
                      </a:r>
                    </a:p>
                  </a:txBody>
                  <a:tcPr marL="54864" marR="54864" marT="27432" marB="27432" anchor="ctr">
                    <a:solidFill>
                      <a:srgbClr val="FFFFFF"/>
                    </a:solidFill>
                  </a:tcPr>
                </a:tc>
                <a:tc>
                  <a:txBody>
                    <a:bodyPr wrap="square"/>
                    <a:lstStyle/>
                    <a:p>
                      <a:r>
                        <a:rPr sz="1224" b="0">
                          <a:solidFill>
                            <a:srgbClr val="1F2D3A"/>
                          </a:solidFill>
                        </a:rPr>
                        <a:t>Section 3</a:t>
                      </a:r>
                    </a:p>
                  </a:txBody>
                  <a:tcPr marL="54864" marR="54864" marT="27432" marB="27432" anchor="ctr">
                    <a:solidFill>
                      <a:srgbClr val="FFFFFF"/>
                    </a:solidFill>
                  </a:tcPr>
                </a:tc>
              </a:tr>
              <a:tr h="322361">
                <a:tc>
                  <a:txBody>
                    <a:bodyPr wrap="square"/>
                    <a:lstStyle/>
                    <a:p>
                      <a:r>
                        <a:rPr sz="1224" b="0">
                          <a:solidFill>
                            <a:srgbClr val="1F2D3A"/>
                          </a:solidFill>
                        </a:rPr>
                        <a:t>Common Criteria (CC)</a:t>
                      </a:r>
                    </a:p>
                  </a:txBody>
                  <a:tcPr marL="54864" marR="54864" marT="27432" marB="27432" anchor="ctr">
                    <a:solidFill>
                      <a:srgbClr val="EEF7F8"/>
                    </a:solidFill>
                  </a:tcPr>
                </a:tc>
                <a:tc>
                  <a:txBody>
                    <a:bodyPr wrap="square"/>
                    <a:lstStyle/>
                    <a:p>
                      <a:r>
                        <a:rPr sz="1224" b="0">
                          <a:solidFill>
                            <a:srgbClr val="1F2D3A"/>
                          </a:solidFill>
                        </a:rPr>
                        <a:t>Section 4</a:t>
                      </a:r>
                    </a:p>
                  </a:txBody>
                  <a:tcPr marL="54864" marR="54864" marT="27432" marB="27432" anchor="ctr">
                    <a:solidFill>
                      <a:srgbClr val="EEF7F8"/>
                    </a:solidFill>
                  </a:tcPr>
                </a:tc>
              </a:tr>
              <a:tr h="322361">
                <a:tc>
                  <a:txBody>
                    <a:bodyPr wrap="square"/>
                    <a:lstStyle/>
                    <a:p>
                      <a:r>
                        <a:rPr sz="1224" b="0">
                          <a:solidFill>
                            <a:srgbClr val="1F2D3A"/>
                          </a:solidFill>
                        </a:rPr>
                        <a:t>TOE, ST, PP</a:t>
                      </a:r>
                    </a:p>
                  </a:txBody>
                  <a:tcPr marL="54864" marR="54864" marT="27432" marB="27432" anchor="ctr">
                    <a:solidFill>
                      <a:srgbClr val="FFFFFF"/>
                    </a:solidFill>
                  </a:tcPr>
                </a:tc>
                <a:tc>
                  <a:txBody>
                    <a:bodyPr wrap="square"/>
                    <a:lstStyle/>
                    <a:p>
                      <a:r>
                        <a:rPr sz="1224" b="0">
                          <a:solidFill>
                            <a:srgbClr val="1F2D3A"/>
                          </a:solidFill>
                        </a:rPr>
                        <a:t>Section 4</a:t>
                      </a:r>
                    </a:p>
                  </a:txBody>
                  <a:tcPr marL="54864" marR="54864" marT="27432" marB="27432" anchor="ctr">
                    <a:solidFill>
                      <a:srgbClr val="FFFFFF"/>
                    </a:solidFill>
                  </a:tcPr>
                </a:tc>
              </a:tr>
              <a:tr h="322361">
                <a:tc>
                  <a:txBody>
                    <a:bodyPr wrap="square"/>
                    <a:lstStyle/>
                    <a:p>
                      <a:r>
                        <a:rPr sz="1224" b="0">
                          <a:solidFill>
                            <a:srgbClr val="1F2D3A"/>
                          </a:solidFill>
                        </a:rPr>
                        <a:t>SFR, SAR, EAL</a:t>
                      </a:r>
                    </a:p>
                  </a:txBody>
                  <a:tcPr marL="54864" marR="54864" marT="27432" marB="27432" anchor="ctr">
                    <a:solidFill>
                      <a:srgbClr val="EEF7F8"/>
                    </a:solidFill>
                  </a:tcPr>
                </a:tc>
                <a:tc>
                  <a:txBody>
                    <a:bodyPr wrap="square"/>
                    <a:lstStyle/>
                    <a:p>
                      <a:r>
                        <a:rPr sz="1224" b="0">
                          <a:solidFill>
                            <a:srgbClr val="1F2D3A"/>
                          </a:solidFill>
                        </a:rPr>
                        <a:t>Section 4</a:t>
                      </a:r>
                    </a:p>
                  </a:txBody>
                  <a:tcPr marL="54864" marR="54864" marT="27432" marB="27432" anchor="ctr">
                    <a:solidFill>
                      <a:srgbClr val="EEF7F8"/>
                    </a:solidFill>
                  </a:tcPr>
                </a:tc>
              </a:tr>
              <a:tr h="322361">
                <a:tc>
                  <a:txBody>
                    <a:bodyPr wrap="square"/>
                    <a:lstStyle/>
                    <a:p>
                      <a:r>
                        <a:rPr sz="1224" b="0">
                          <a:solidFill>
                            <a:srgbClr val="1F2D3A"/>
                          </a:solidFill>
                        </a:rPr>
                        <a:t>FIPS 140-3</a:t>
                      </a:r>
                    </a:p>
                  </a:txBody>
                  <a:tcPr marL="54864" marR="54864" marT="27432" marB="27432" anchor="ctr">
                    <a:solidFill>
                      <a:srgbClr val="FFFFFF"/>
                    </a:solidFill>
                  </a:tcPr>
                </a:tc>
                <a:tc>
                  <a:txBody>
                    <a:bodyPr wrap="square"/>
                    <a:lstStyle/>
                    <a:p>
                      <a:r>
                        <a:rPr sz="1224" b="0">
                          <a:solidFill>
                            <a:srgbClr val="1F2D3A"/>
                          </a:solidFill>
                        </a:rPr>
                        <a:t>Section 5</a:t>
                      </a:r>
                    </a:p>
                  </a:txBody>
                  <a:tcPr marL="54864" marR="54864" marT="27432" marB="27432" anchor="ctr">
                    <a:solidFill>
                      <a:srgbClr val="FFFFFF"/>
                    </a:solidFill>
                  </a:tcPr>
                </a:tc>
              </a:tr>
              <a:tr h="322363">
                <a:tc>
                  <a:txBody>
                    <a:bodyPr wrap="square"/>
                    <a:lstStyle/>
                    <a:p>
                      <a:r>
                        <a:rPr sz="1224" b="0">
                          <a:solidFill>
                            <a:srgbClr val="1F2D3A"/>
                          </a:solidFill>
                        </a:rPr>
                        <a:t>Sector standards</a:t>
                      </a:r>
                    </a:p>
                  </a:txBody>
                  <a:tcPr marL="54864" marR="54864" marT="27432" marB="27432" anchor="ctr">
                    <a:solidFill>
                      <a:srgbClr val="EEF7F8"/>
                    </a:solidFill>
                  </a:tcPr>
                </a:tc>
                <a:tc>
                  <a:txBody>
                    <a:bodyPr wrap="square"/>
                    <a:lstStyle/>
                    <a:p>
                      <a:r>
                        <a:rPr sz="1224" b="0">
                          <a:solidFill>
                            <a:srgbClr val="1F2D3A"/>
                          </a:solidFill>
                        </a:rPr>
                        <a:t>Section 6</a:t>
                      </a:r>
                    </a:p>
                  </a:txBody>
                  <a:tcPr marL="54864" marR="54864" marT="27432" marB="27432" anchor="ctr">
                    <a:solidFill>
                      <a:srgbClr val="EEF7F8"/>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06D77"/>
        </a:solidFill>
        <a:effectLst/>
      </p:bgPr>
    </p:bg>
    <p:spTree>
      <p:nvGrpSpPr>
        <p:cNvPr id="1" name=""/>
        <p:cNvGrpSpPr/>
        <p:nvPr/>
      </p:nvGrpSpPr>
      <p:grpSpPr/>
      <p:sp>
        <p:nvSpPr>
          <p:cNvPr id="2" name="TextBox 1"/>
          <p:cNvSpPr txBox="1"/>
          <p:nvPr/>
        </p:nvSpPr>
        <p:spPr>
          <a:xfrm>
            <a:off x="1051560" y="182880"/>
            <a:ext cx="7315200" cy="320040"/>
          </a:xfrm>
          <a:prstGeom prst="rect">
            <a:avLst/>
          </a:prstGeom>
          <a:noFill/>
        </p:spPr>
        <p:txBody>
          <a:bodyPr wrap="square" lIns="45720" rIns="45720">
            <a:spAutoFit/>
          </a:bodyPr>
          <a:lstStyle/>
          <a:p>
            <a:r>
              <a:rPr sz="1100" b="0">
                <a:solidFill>
                  <a:srgbClr val="D8F0F2"/>
                </a:solidFill>
              </a:rPr>
              <a:t>CEN429 Secure Programming · Week 13</a:t>
            </a:r>
          </a:p>
        </p:txBody>
      </p:sp>
      <p:sp>
        <p:nvSpPr>
          <p:cNvPr id="3" name="TextBox 2"/>
          <p:cNvSpPr txBox="1"/>
          <p:nvPr/>
        </p:nvSpPr>
        <p:spPr>
          <a:xfrm>
            <a:off x="640080" y="6446520"/>
            <a:ext cx="7315200" cy="274320"/>
          </a:xfrm>
          <a:prstGeom prst="rect">
            <a:avLst/>
          </a:prstGeom>
          <a:noFill/>
        </p:spPr>
        <p:txBody>
          <a:bodyPr wrap="square" lIns="45720" rIns="45720">
            <a:spAutoFit/>
          </a:bodyPr>
          <a:lstStyle/>
          <a:p>
            <a:r>
              <a:rPr sz="1000" b="0">
                <a:solidFill>
                  <a:srgbClr val="D8F0F2"/>
                </a:solidFill>
              </a:rPr>
              <a:t>RTEU Computer Engineering · 2026-2027 Fall</a:t>
            </a:r>
          </a:p>
        </p:txBody>
      </p:sp>
      <p:sp>
        <p:nvSpPr>
          <p:cNvPr id="4" name="TextBox 3"/>
          <p:cNvSpPr txBox="1"/>
          <p:nvPr/>
        </p:nvSpPr>
        <p:spPr>
          <a:xfrm>
            <a:off x="10637215" y="6446520"/>
            <a:ext cx="914400" cy="274320"/>
          </a:xfrm>
          <a:prstGeom prst="rect">
            <a:avLst/>
          </a:prstGeom>
          <a:noFill/>
        </p:spPr>
        <p:txBody>
          <a:bodyPr wrap="square" lIns="45720" rIns="45720">
            <a:spAutoFit/>
          </a:bodyPr>
          <a:lstStyle/>
          <a:p>
            <a:pPr algn="r"/>
            <a:r>
              <a:rPr sz="1000" b="0">
                <a:solidFill>
                  <a:srgbClr val="D8F0F2"/>
                </a:solidFill>
              </a:rPr>
              <a:t>5</a:t>
            </a:r>
          </a:p>
        </p:txBody>
      </p:sp>
      <p:sp>
        <p:nvSpPr>
          <p:cNvPr id="5" name="TextBox 4"/>
          <p:cNvSpPr txBox="1"/>
          <p:nvPr/>
        </p:nvSpPr>
        <p:spPr>
          <a:xfrm>
            <a:off x="640080" y="2743200"/>
            <a:ext cx="10911535" cy="1280160"/>
          </a:xfrm>
          <a:prstGeom prst="rect">
            <a:avLst/>
          </a:prstGeom>
          <a:noFill/>
        </p:spPr>
        <p:txBody>
          <a:bodyPr wrap="square" lIns="45720" rIns="45720">
            <a:spAutoFit/>
          </a:bodyPr>
          <a:lstStyle/>
          <a:p>
            <a:pPr algn="l"/>
            <a:r>
              <a:rPr sz="4000" b="1">
                <a:solidFill>
                  <a:srgbClr val="FFFFFF"/>
                </a:solidFill>
              </a:rPr>
              <a:t>1. How Do You Write a Good Requirement?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13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6</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2600" b="1">
                <a:solidFill>
                  <a:srgbClr val="006D77"/>
                </a:solidFill>
              </a:rPr>
              <a:t>A Brief History (1) — the Foundational Standards</a:t>
            </a:r>
          </a:p>
        </p:txBody>
      </p:sp>
      <p:sp>
        <p:nvSpPr>
          <p:cNvPr id="7" name="TextBox 6"/>
          <p:cNvSpPr txBox="1"/>
          <p:nvPr/>
        </p:nvSpPr>
        <p:spPr>
          <a:xfrm>
            <a:off x="640080" y="1325880"/>
            <a:ext cx="10911535" cy="1714500"/>
          </a:xfrm>
          <a:prstGeom prst="rect">
            <a:avLst/>
          </a:prstGeom>
          <a:noFill/>
        </p:spPr>
        <p:txBody>
          <a:bodyPr wrap="square" lIns="45720" rIns="45720">
            <a:spAutoFit/>
          </a:bodyPr>
          <a:lstStyle/>
          <a:p>
            <a:pPr>
              <a:spcAft>
                <a:spcPts val="300"/>
              </a:spcAft>
            </a:pPr>
            <a:r>
              <a:rPr sz="1800" b="1">
                <a:solidFill>
                  <a:srgbClr val="006D77"/>
                </a:solidFill>
              </a:rPr>
              <a:t>• </a:t>
            </a:r>
            <a:r>
              <a:rPr sz="1800" b="1">
                <a:solidFill>
                  <a:srgbClr val="1F2D3A"/>
                </a:solidFill>
              </a:rPr>
              <a:t>1983/1985</a:t>
            </a:r>
            <a:r>
              <a:rPr sz="1800" b="0">
                <a:solidFill>
                  <a:srgbClr val="1F2D3A"/>
                </a:solidFill>
              </a:rPr>
              <a:t> — </a:t>
            </a:r>
            <a:r>
              <a:rPr sz="1800" b="1">
                <a:solidFill>
                  <a:srgbClr val="1F2D3A"/>
                </a:solidFill>
              </a:rPr>
              <a:t>TCSEC</a:t>
            </a:r>
            <a:r>
              <a:rPr sz="1800" b="0">
                <a:solidFill>
                  <a:srgbClr val="1F2D3A"/>
                </a:solidFill>
              </a:rPr>
              <a:t> (Orange Book), the US DoD's first attempt at security requirement levels</a:t>
            </a:r>
          </a:p>
          <a:p>
            <a:pPr>
              <a:spcAft>
                <a:spcPts val="300"/>
              </a:spcAft>
            </a:pPr>
            <a:r>
              <a:rPr sz="1800" b="1">
                <a:solidFill>
                  <a:srgbClr val="006D77"/>
                </a:solidFill>
              </a:rPr>
              <a:t>• </a:t>
            </a:r>
            <a:r>
              <a:rPr sz="1800" b="1">
                <a:solidFill>
                  <a:srgbClr val="1F2D3A"/>
                </a:solidFill>
              </a:rPr>
              <a:t>1984/1998</a:t>
            </a:r>
            <a:r>
              <a:rPr sz="1800" b="0">
                <a:solidFill>
                  <a:srgbClr val="1F2D3A"/>
                </a:solidFill>
              </a:rPr>
              <a:t> — </a:t>
            </a:r>
            <a:r>
              <a:rPr sz="1800" b="1">
                <a:solidFill>
                  <a:srgbClr val="1F2D3A"/>
                </a:solidFill>
              </a:rPr>
              <a:t>IEEE 830</a:t>
            </a:r>
            <a:r>
              <a:rPr sz="1800" b="0">
                <a:solidFill>
                  <a:srgbClr val="1F2D3A"/>
                </a:solidFill>
              </a:rPr>
              <a:t>, how to write ANY software requirements specification → superseded by </a:t>
            </a:r>
            <a:r>
              <a:rPr sz="1800" b="1">
                <a:solidFill>
                  <a:srgbClr val="1F2D3A"/>
                </a:solidFill>
              </a:rPr>
              <a:t>ISO/IEC/IEEE 29148</a:t>
            </a:r>
            <a:r>
              <a:rPr sz="1800" b="0">
                <a:solidFill>
                  <a:srgbClr val="1F2D3A"/>
                </a:solidFill>
              </a:rPr>
              <a:t> (</a:t>
            </a:r>
            <a:r>
              <a:rPr sz="1800" b="1">
                <a:solidFill>
                  <a:srgbClr val="1F2D3A"/>
                </a:solidFill>
              </a:rPr>
              <a:t>2011</a:t>
            </a:r>
            <a:r>
              <a:rPr sz="1800" b="0">
                <a:solidFill>
                  <a:srgbClr val="1F2D3A"/>
                </a:solidFill>
              </a:rPr>
              <a:t>)</a:t>
            </a:r>
          </a:p>
          <a:p>
            <a:pPr>
              <a:spcAft>
                <a:spcPts val="300"/>
              </a:spcAft>
            </a:pPr>
            <a:r>
              <a:rPr sz="1800" b="1">
                <a:solidFill>
                  <a:srgbClr val="006D77"/>
                </a:solidFill>
              </a:rPr>
              <a:t>• </a:t>
            </a:r>
            <a:r>
              <a:rPr sz="1800" b="1">
                <a:solidFill>
                  <a:srgbClr val="1F2D3A"/>
                </a:solidFill>
              </a:rPr>
              <a:t>1991</a:t>
            </a:r>
            <a:r>
              <a:rPr sz="1800" b="0">
                <a:solidFill>
                  <a:srgbClr val="1F2D3A"/>
                </a:solidFill>
              </a:rPr>
              <a:t> — </a:t>
            </a:r>
            <a:r>
              <a:rPr sz="1800" b="1">
                <a:solidFill>
                  <a:srgbClr val="1F2D3A"/>
                </a:solidFill>
              </a:rPr>
              <a:t>ITSEC</a:t>
            </a:r>
            <a:r>
              <a:rPr sz="1800" b="0">
                <a:solidFill>
                  <a:srgbClr val="1F2D3A"/>
                </a:solidFill>
              </a:rPr>
              <a:t>, Europe's own evaluation criteria (parallel to TCSEC)</a:t>
            </a:r>
          </a:p>
        </p:txBody>
      </p:sp>
      <p:sp>
        <p:nvSpPr>
          <p:cNvPr id="8" name="Rectangle 7"/>
          <p:cNvSpPr/>
          <p:nvPr/>
        </p:nvSpPr>
        <p:spPr>
          <a:xfrm>
            <a:off x="640080" y="3150108"/>
            <a:ext cx="10911535" cy="868680"/>
          </a:xfrm>
          <a:prstGeom prst="rect">
            <a:avLst/>
          </a:prstGeom>
          <a:solidFill>
            <a:srgbClr val="EEF7F8"/>
          </a:solidFill>
          <a:ln>
            <a:solidFill>
              <a:srgbClr val="006D77"/>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l"/>
            <a:r>
              <a:rPr sz="1800" b="0">
                <a:solidFill>
                  <a:srgbClr val="1F2D3A"/>
                </a:solidFill>
              </a:rPr>
              <a:t>Requirements engineering is older than security certification — security just adds "and prove it, independently."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13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7</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2600" b="1">
                <a:solidFill>
                  <a:srgbClr val="006D77"/>
                </a:solidFill>
              </a:rPr>
              <a:t>A Brief History (2) — Certification and Sector Standards</a:t>
            </a:r>
          </a:p>
        </p:txBody>
      </p:sp>
      <p:sp>
        <p:nvSpPr>
          <p:cNvPr id="7" name="TextBox 6"/>
          <p:cNvSpPr txBox="1"/>
          <p:nvPr/>
        </p:nvSpPr>
        <p:spPr>
          <a:xfrm>
            <a:off x="640080" y="1325880"/>
            <a:ext cx="10911535" cy="1417320"/>
          </a:xfrm>
          <a:prstGeom prst="rect">
            <a:avLst/>
          </a:prstGeom>
          <a:noFill/>
        </p:spPr>
        <p:txBody>
          <a:bodyPr wrap="square" lIns="45720" rIns="45720">
            <a:spAutoFit/>
          </a:bodyPr>
          <a:lstStyle/>
          <a:p>
            <a:pPr>
              <a:spcAft>
                <a:spcPts val="300"/>
              </a:spcAft>
            </a:pPr>
            <a:r>
              <a:rPr sz="1800" b="1">
                <a:solidFill>
                  <a:srgbClr val="006D77"/>
                </a:solidFill>
              </a:rPr>
              <a:t>• </a:t>
            </a:r>
            <a:r>
              <a:rPr sz="1800" b="1">
                <a:solidFill>
                  <a:srgbClr val="1F2D3A"/>
                </a:solidFill>
              </a:rPr>
              <a:t>1994 → 1998 → 1999</a:t>
            </a:r>
            <a:r>
              <a:rPr sz="1800" b="0">
                <a:solidFill>
                  <a:srgbClr val="1F2D3A"/>
                </a:solidFill>
              </a:rPr>
              <a:t> — </a:t>
            </a:r>
            <a:r>
              <a:rPr sz="1800" b="1">
                <a:solidFill>
                  <a:srgbClr val="1F2D3A"/>
                </a:solidFill>
              </a:rPr>
              <a:t>Common Criteria</a:t>
            </a:r>
            <a:r>
              <a:rPr sz="1800" b="0">
                <a:solidFill>
                  <a:srgbClr val="1F2D3A"/>
                </a:solidFill>
              </a:rPr>
              <a:t> v1.0 → v2.0 → </a:t>
            </a:r>
            <a:r>
              <a:rPr sz="1800" b="1">
                <a:solidFill>
                  <a:srgbClr val="1F2D3A"/>
                </a:solidFill>
              </a:rPr>
              <a:t>ISO/IEC 15408</a:t>
            </a:r>
            <a:r>
              <a:rPr sz="1800" b="0">
                <a:solidFill>
                  <a:srgbClr val="1F2D3A"/>
                </a:solidFill>
              </a:rPr>
              <a:t> (still revised today: </a:t>
            </a:r>
            <a:r>
              <a:rPr sz="1800" b="1">
                <a:solidFill>
                  <a:srgbClr val="1F2D3A"/>
                </a:solidFill>
              </a:rPr>
              <a:t>CC:2022</a:t>
            </a:r>
            <a:r>
              <a:rPr sz="1800" b="0">
                <a:solidFill>
                  <a:srgbClr val="1F2D3A"/>
                </a:solidFill>
              </a:rPr>
              <a:t>)</a:t>
            </a:r>
          </a:p>
          <a:p>
            <a:pPr>
              <a:spcAft>
                <a:spcPts val="300"/>
              </a:spcAft>
            </a:pPr>
            <a:r>
              <a:rPr sz="1800" b="1">
                <a:solidFill>
                  <a:srgbClr val="006D77"/>
                </a:solidFill>
              </a:rPr>
              <a:t>• </a:t>
            </a:r>
            <a:r>
              <a:rPr sz="1800" b="1">
                <a:solidFill>
                  <a:srgbClr val="1F2D3A"/>
                </a:solidFill>
              </a:rPr>
              <a:t>1994 → 2001 → 2019</a:t>
            </a:r>
            <a:r>
              <a:rPr sz="1800" b="0">
                <a:solidFill>
                  <a:srgbClr val="1F2D3A"/>
                </a:solidFill>
              </a:rPr>
              <a:t> — </a:t>
            </a:r>
            <a:r>
              <a:rPr sz="1800" b="1">
                <a:solidFill>
                  <a:srgbClr val="1F2D3A"/>
                </a:solidFill>
              </a:rPr>
              <a:t>FIPS 140-1</a:t>
            </a:r>
            <a:r>
              <a:rPr sz="1800" b="0">
                <a:solidFill>
                  <a:srgbClr val="1F2D3A"/>
                </a:solidFill>
              </a:rPr>
              <a:t> → </a:t>
            </a:r>
            <a:r>
              <a:rPr sz="1800" b="1">
                <a:solidFill>
                  <a:srgbClr val="1F2D3A"/>
                </a:solidFill>
              </a:rPr>
              <a:t>140-2</a:t>
            </a:r>
            <a:r>
              <a:rPr sz="1800" b="0">
                <a:solidFill>
                  <a:srgbClr val="1F2D3A"/>
                </a:solidFill>
              </a:rPr>
              <a:t> → </a:t>
            </a:r>
            <a:r>
              <a:rPr sz="1800" b="1">
                <a:solidFill>
                  <a:srgbClr val="1F2D3A"/>
                </a:solidFill>
              </a:rPr>
              <a:t>140-3</a:t>
            </a:r>
            <a:r>
              <a:rPr sz="1800" b="0">
                <a:solidFill>
                  <a:srgbClr val="1F2D3A"/>
                </a:solidFill>
              </a:rPr>
              <a:t>, cryptographic module requirements</a:t>
            </a:r>
          </a:p>
          <a:p>
            <a:pPr>
              <a:spcAft>
                <a:spcPts val="300"/>
              </a:spcAft>
            </a:pPr>
            <a:r>
              <a:rPr sz="1800" b="1">
                <a:solidFill>
                  <a:srgbClr val="006D77"/>
                </a:solidFill>
              </a:rPr>
              <a:t>• </a:t>
            </a:r>
            <a:r>
              <a:rPr sz="1800" b="1">
                <a:solidFill>
                  <a:srgbClr val="1F2D3A"/>
                </a:solidFill>
              </a:rPr>
              <a:t>2004</a:t>
            </a:r>
            <a:r>
              <a:rPr sz="1800" b="0">
                <a:solidFill>
                  <a:srgbClr val="1F2D3A"/>
                </a:solidFill>
              </a:rPr>
              <a:t> — </a:t>
            </a:r>
            <a:r>
              <a:rPr sz="1800" b="1">
                <a:solidFill>
                  <a:srgbClr val="1F2D3A"/>
                </a:solidFill>
              </a:rPr>
              <a:t>PCI DSS</a:t>
            </a:r>
            <a:r>
              <a:rPr sz="1800" b="0">
                <a:solidFill>
                  <a:srgbClr val="1F2D3A"/>
                </a:solidFill>
              </a:rPr>
              <a:t> (payment) · </a:t>
            </a:r>
            <a:r>
              <a:rPr sz="1800" b="1">
                <a:solidFill>
                  <a:srgbClr val="1F2D3A"/>
                </a:solidFill>
              </a:rPr>
              <a:t>2009</a:t>
            </a:r>
            <a:r>
              <a:rPr sz="1800" b="0">
                <a:solidFill>
                  <a:srgbClr val="1F2D3A"/>
                </a:solidFill>
              </a:rPr>
              <a:t> — </a:t>
            </a:r>
            <a:r>
              <a:rPr sz="1800" b="1">
                <a:solidFill>
                  <a:srgbClr val="1F2D3A"/>
                </a:solidFill>
              </a:rPr>
              <a:t>OWASP ASVS</a:t>
            </a:r>
            <a:r>
              <a:rPr sz="1800" b="0">
                <a:solidFill>
                  <a:srgbClr val="1F2D3A"/>
                </a:solidFill>
              </a:rPr>
              <a:t> (web) · </a:t>
            </a:r>
            <a:r>
              <a:rPr sz="1800" b="1">
                <a:solidFill>
                  <a:srgbClr val="1F2D3A"/>
                </a:solidFill>
              </a:rPr>
              <a:t>2016</a:t>
            </a:r>
            <a:r>
              <a:rPr sz="1800" b="0">
                <a:solidFill>
                  <a:srgbClr val="1F2D3A"/>
                </a:solidFill>
              </a:rPr>
              <a:t> — </a:t>
            </a:r>
            <a:r>
              <a:rPr sz="1800" b="1">
                <a:solidFill>
                  <a:srgbClr val="1F2D3A"/>
                </a:solidFill>
              </a:rPr>
              <a:t>OWASP MASVS</a:t>
            </a:r>
            <a:r>
              <a:rPr sz="1800" b="0">
                <a:solidFill>
                  <a:srgbClr val="1F2D3A"/>
                </a:solidFill>
              </a:rPr>
              <a:t> (mobile)</a:t>
            </a:r>
          </a:p>
        </p:txBody>
      </p:sp>
      <p:sp>
        <p:nvSpPr>
          <p:cNvPr id="8" name="Rectangle 7"/>
          <p:cNvSpPr/>
          <p:nvPr/>
        </p:nvSpPr>
        <p:spPr>
          <a:xfrm>
            <a:off x="640080" y="2852928"/>
            <a:ext cx="10911535" cy="868680"/>
          </a:xfrm>
          <a:prstGeom prst="rect">
            <a:avLst/>
          </a:prstGeom>
          <a:solidFill>
            <a:srgbClr val="EEF7F8"/>
          </a:solidFill>
          <a:ln>
            <a:solidFill>
              <a:srgbClr val="006D77"/>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l"/>
            <a:r>
              <a:rPr sz="1800" b="0">
                <a:solidFill>
                  <a:srgbClr val="1F2D3A"/>
                </a:solidFill>
              </a:rPr>
              <a:t>The unchanging principle: a requirement must be </a:t>
            </a:r>
            <a:r>
              <a:rPr sz="1800" b="1">
                <a:solidFill>
                  <a:srgbClr val="1F2D3A"/>
                </a:solidFill>
              </a:rPr>
              <a:t>measurable</a:t>
            </a:r>
            <a:r>
              <a:rPr sz="1800" b="0">
                <a:solidFill>
                  <a:srgbClr val="1F2D3A"/>
                </a:solidFill>
              </a:rPr>
              <a:t> and </a:t>
            </a:r>
            <a:r>
              <a:rPr sz="1800" b="1">
                <a:solidFill>
                  <a:srgbClr val="1F2D3A"/>
                </a:solidFill>
              </a:rPr>
              <a:t>traceable</a:t>
            </a:r>
            <a:r>
              <a:rPr sz="1800" b="0">
                <a:solidFill>
                  <a:srgbClr val="1F2D3A"/>
                </a:solidFill>
              </a:rPr>
              <a:t>; a "met" with no evidence is invalid.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13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8</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What Is a Requirement?</a:t>
            </a:r>
          </a:p>
        </p:txBody>
      </p:sp>
      <p:sp>
        <p:nvSpPr>
          <p:cNvPr id="7" name="TextBox 6"/>
          <p:cNvSpPr txBox="1"/>
          <p:nvPr/>
        </p:nvSpPr>
        <p:spPr>
          <a:xfrm>
            <a:off x="640080" y="1325880"/>
            <a:ext cx="10911535" cy="1219200"/>
          </a:xfrm>
          <a:prstGeom prst="rect">
            <a:avLst/>
          </a:prstGeom>
          <a:noFill/>
        </p:spPr>
        <p:txBody>
          <a:bodyPr wrap="square" lIns="45720" rIns="45720">
            <a:spAutoFit/>
          </a:bodyPr>
          <a:lstStyle/>
          <a:p>
            <a:pPr>
              <a:spcAft>
                <a:spcPts val="300"/>
              </a:spcAft>
            </a:pPr>
            <a:r>
              <a:rPr sz="2000" b="1">
                <a:solidFill>
                  <a:srgbClr val="006D77"/>
                </a:solidFill>
              </a:rPr>
              <a:t>• </a:t>
            </a:r>
            <a:r>
              <a:rPr sz="2000" b="1">
                <a:solidFill>
                  <a:srgbClr val="1F2D3A"/>
                </a:solidFill>
              </a:rPr>
              <a:t>Requirement:</a:t>
            </a:r>
            <a:r>
              <a:rPr sz="2000" b="0">
                <a:solidFill>
                  <a:srgbClr val="1F2D3A"/>
                </a:solidFill>
              </a:rPr>
              <a:t> a condition the system </a:t>
            </a:r>
            <a:r>
              <a:rPr sz="2000" b="1">
                <a:solidFill>
                  <a:srgbClr val="1F2D3A"/>
                </a:solidFill>
              </a:rPr>
              <a:t>must meet</a:t>
            </a:r>
            <a:r>
              <a:rPr sz="2000" b="0">
                <a:solidFill>
                  <a:srgbClr val="1F2D3A"/>
                </a:solidFill>
              </a:rPr>
              <a:t>.</a:t>
            </a:r>
          </a:p>
          <a:p>
            <a:pPr>
              <a:spcAft>
                <a:spcPts val="300"/>
              </a:spcAft>
            </a:pPr>
            <a:r>
              <a:rPr sz="2000" b="1">
                <a:solidFill>
                  <a:srgbClr val="006D77"/>
                </a:solidFill>
              </a:rPr>
              <a:t>• </a:t>
            </a:r>
            <a:r>
              <a:rPr sz="2000" b="0">
                <a:solidFill>
                  <a:srgbClr val="1F2D3A"/>
                </a:solidFill>
              </a:rPr>
              <a:t>A security requirement: a security condition.</a:t>
            </a:r>
          </a:p>
          <a:p>
            <a:pPr>
              <a:spcAft>
                <a:spcPts val="300"/>
              </a:spcAft>
            </a:pPr>
            <a:r>
              <a:rPr sz="2000" b="1">
                <a:solidFill>
                  <a:srgbClr val="006D77"/>
                </a:solidFill>
              </a:rPr>
              <a:t>• </a:t>
            </a:r>
            <a:r>
              <a:rPr sz="2000" b="0">
                <a:solidFill>
                  <a:srgbClr val="1F2D3A"/>
                </a:solidFill>
              </a:rPr>
              <a:t>A good requirement is </a:t>
            </a:r>
            <a:r>
              <a:rPr sz="2000" b="1">
                <a:solidFill>
                  <a:srgbClr val="1F2D3A"/>
                </a:solidFill>
              </a:rPr>
              <a:t>verifiable</a:t>
            </a:r>
            <a:r>
              <a:rPr sz="2000" b="0">
                <a:solidFill>
                  <a:srgbClr val="1F2D3A"/>
                </a:solidFill>
              </a:rPr>
              <a:t> (testable).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13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9</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Criteria of a Good Requirement — Diagram</a:t>
            </a:r>
          </a:p>
        </p:txBody>
      </p:sp>
      <p:pic>
        <p:nvPicPr>
          <p:cNvPr id="7" name="Picture 6" descr="h13-03-iyi-gereksinim.png"/>
          <p:cNvPicPr>
            <a:picLocks noChangeAspect="1"/>
          </p:cNvPicPr>
          <p:nvPr/>
        </p:nvPicPr>
        <p:blipFill>
          <a:blip r:embed="rId3"/>
          <a:stretch>
            <a:fillRect/>
          </a:stretch>
        </p:blipFill>
        <p:spPr>
          <a:xfrm>
            <a:off x="2650679" y="1325880"/>
            <a:ext cx="6890337" cy="4828032"/>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13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10</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Three Types (Recap)</a:t>
            </a:r>
          </a:p>
        </p:txBody>
      </p:sp>
      <p:graphicFrame>
        <p:nvGraphicFramePr>
          <p:cNvPr id="7" name="Table 6"/>
          <p:cNvGraphicFramePr>
            <a:graphicFrameLocks noGrp="1"/>
          </p:cNvGraphicFramePr>
          <p:nvPr/>
        </p:nvGraphicFramePr>
        <p:xfrm>
          <a:off x="640080" y="1325880"/>
          <a:ext cx="10911533" cy="1527048"/>
        </p:xfrm>
        <a:graphic>
          <a:graphicData uri="http://schemas.openxmlformats.org/drawingml/2006/table">
            <a:tbl>
              <a:tblPr firstRow="1" bandRow="1">
                <a:tableStyleId>{5C22544A-7EE6-4342-B048-85BDC9FD1C3A}</a:tableStyleId>
              </a:tblPr>
              <a:tblGrid>
                <a:gridCol w="1697349"/>
                <a:gridCol w="4243374"/>
                <a:gridCol w="4970810"/>
              </a:tblGrid>
              <a:tr h="381762">
                <a:tc>
                  <a:txBody>
                    <a:bodyPr wrap="square"/>
                    <a:lstStyle/>
                    <a:p>
                      <a:r>
                        <a:rPr sz="1439" b="1">
                          <a:solidFill>
                            <a:srgbClr val="FFFFFF"/>
                          </a:solidFill>
                        </a:rPr>
                        <a:t>Type</a:t>
                      </a:r>
                    </a:p>
                  </a:txBody>
                  <a:tcPr marL="54864" marR="54864" marT="27432" marB="27432" anchor="ctr">
                    <a:solidFill>
                      <a:srgbClr val="006D77"/>
                    </a:solidFill>
                  </a:tcPr>
                </a:tc>
                <a:tc>
                  <a:txBody>
                    <a:bodyPr wrap="square"/>
                    <a:lstStyle/>
                    <a:p>
                      <a:r>
                        <a:rPr sz="1439" b="1">
                          <a:solidFill>
                            <a:srgbClr val="FFFFFF"/>
                          </a:solidFill>
                        </a:rPr>
                        <a:t>Question</a:t>
                      </a:r>
                    </a:p>
                  </a:txBody>
                  <a:tcPr marL="54864" marR="54864" marT="27432" marB="27432" anchor="ctr">
                    <a:solidFill>
                      <a:srgbClr val="006D77"/>
                    </a:solidFill>
                  </a:tcPr>
                </a:tc>
                <a:tc>
                  <a:txBody>
                    <a:bodyPr wrap="square"/>
                    <a:lstStyle/>
                    <a:p>
                      <a:r>
                        <a:rPr sz="1439" b="1">
                          <a:solidFill>
                            <a:srgbClr val="FFFFFF"/>
                          </a:solidFill>
                        </a:rPr>
                        <a:t>Example</a:t>
                      </a:r>
                    </a:p>
                  </a:txBody>
                  <a:tcPr marL="54864" marR="54864" marT="27432" marB="27432" anchor="ctr">
                    <a:solidFill>
                      <a:srgbClr val="006D77"/>
                    </a:solidFill>
                  </a:tcPr>
                </a:tc>
              </a:tr>
              <a:tr h="381762">
                <a:tc>
                  <a:txBody>
                    <a:bodyPr wrap="square"/>
                    <a:lstStyle/>
                    <a:p>
                      <a:r>
                        <a:rPr sz="1439" b="0">
                          <a:solidFill>
                            <a:srgbClr val="1F2D3A"/>
                          </a:solidFill>
                        </a:rPr>
                        <a:t>Functional</a:t>
                      </a:r>
                    </a:p>
                  </a:txBody>
                  <a:tcPr marL="54864" marR="54864" marT="27432" marB="27432" anchor="ctr">
                    <a:solidFill>
                      <a:srgbClr val="FFFFFF"/>
                    </a:solidFill>
                  </a:tcPr>
                </a:tc>
                <a:tc>
                  <a:txBody>
                    <a:bodyPr wrap="square"/>
                    <a:lstStyle/>
                    <a:p>
                      <a:r>
                        <a:rPr sz="1439" b="0">
                          <a:solidFill>
                            <a:srgbClr val="1F2D3A"/>
                          </a:solidFill>
                        </a:rPr>
                        <a:t>Which security function?</a:t>
                      </a:r>
                    </a:p>
                  </a:txBody>
                  <a:tcPr marL="54864" marR="54864" marT="27432" marB="27432" anchor="ctr">
                    <a:solidFill>
                      <a:srgbClr val="FFFFFF"/>
                    </a:solidFill>
                  </a:tcPr>
                </a:tc>
                <a:tc>
                  <a:txBody>
                    <a:bodyPr wrap="square"/>
                    <a:lstStyle/>
                    <a:p>
                      <a:r>
                        <a:rPr sz="1439" b="0">
                          <a:solidFill>
                            <a:srgbClr val="1F2D3A"/>
                          </a:solidFill>
                        </a:rPr>
                        <a:t>Sensitive data is protected with AEAD</a:t>
                      </a:r>
                    </a:p>
                  </a:txBody>
                  <a:tcPr marL="54864" marR="54864" marT="27432" marB="27432" anchor="ctr">
                    <a:solidFill>
                      <a:srgbClr val="FFFFFF"/>
                    </a:solidFill>
                  </a:tcPr>
                </a:tc>
              </a:tr>
              <a:tr h="381762">
                <a:tc>
                  <a:txBody>
                    <a:bodyPr wrap="square"/>
                    <a:lstStyle/>
                    <a:p>
                      <a:r>
                        <a:rPr sz="1439" b="0">
                          <a:solidFill>
                            <a:srgbClr val="1F2D3A"/>
                          </a:solidFill>
                        </a:rPr>
                        <a:t>Assurance</a:t>
                      </a:r>
                    </a:p>
                  </a:txBody>
                  <a:tcPr marL="54864" marR="54864" marT="27432" marB="27432" anchor="ctr">
                    <a:solidFill>
                      <a:srgbClr val="EEF7F8"/>
                    </a:solidFill>
                  </a:tcPr>
                </a:tc>
                <a:tc>
                  <a:txBody>
                    <a:bodyPr wrap="square"/>
                    <a:lstStyle/>
                    <a:p>
                      <a:r>
                        <a:rPr sz="1439" b="0">
                          <a:solidFill>
                            <a:srgbClr val="1F2D3A"/>
                          </a:solidFill>
                        </a:rPr>
                        <a:t>Was it done correctly?</a:t>
                      </a:r>
                    </a:p>
                  </a:txBody>
                  <a:tcPr marL="54864" marR="54864" marT="27432" marB="27432" anchor="ctr">
                    <a:solidFill>
                      <a:srgbClr val="EEF7F8"/>
                    </a:solidFill>
                  </a:tcPr>
                </a:tc>
                <a:tc>
                  <a:txBody>
                    <a:bodyPr wrap="square"/>
                    <a:lstStyle/>
                    <a:p>
                      <a:r>
                        <a:rPr sz="1439" b="0">
                          <a:solidFill>
                            <a:srgbClr val="1F2D3A"/>
                          </a:solidFill>
                        </a:rPr>
                        <a:t>Static analysis + test report</a:t>
                      </a:r>
                    </a:p>
                  </a:txBody>
                  <a:tcPr marL="54864" marR="54864" marT="27432" marB="27432" anchor="ctr">
                    <a:solidFill>
                      <a:srgbClr val="EEF7F8"/>
                    </a:solidFill>
                  </a:tcPr>
                </a:tc>
              </a:tr>
              <a:tr h="381762">
                <a:tc>
                  <a:txBody>
                    <a:bodyPr wrap="square"/>
                    <a:lstStyle/>
                    <a:p>
                      <a:r>
                        <a:rPr sz="1439" b="0">
                          <a:solidFill>
                            <a:srgbClr val="1F2D3A"/>
                          </a:solidFill>
                        </a:rPr>
                        <a:t>Process</a:t>
                      </a:r>
                    </a:p>
                  </a:txBody>
                  <a:tcPr marL="54864" marR="54864" marT="27432" marB="27432" anchor="ctr">
                    <a:solidFill>
                      <a:srgbClr val="FFFFFF"/>
                    </a:solidFill>
                  </a:tcPr>
                </a:tc>
                <a:tc>
                  <a:txBody>
                    <a:bodyPr wrap="square"/>
                    <a:lstStyle/>
                    <a:p>
                      <a:r>
                        <a:rPr sz="1439" b="0">
                          <a:solidFill>
                            <a:srgbClr val="1F2D3A"/>
                          </a:solidFill>
                        </a:rPr>
                        <a:t>How does the organisation work?</a:t>
                      </a:r>
                    </a:p>
                  </a:txBody>
                  <a:tcPr marL="54864" marR="54864" marT="27432" marB="27432" anchor="ctr">
                    <a:solidFill>
                      <a:srgbClr val="FFFFFF"/>
                    </a:solidFill>
                  </a:tcPr>
                </a:tc>
                <a:tc>
                  <a:txBody>
                    <a:bodyPr wrap="square"/>
                    <a:lstStyle/>
                    <a:p>
                      <a:r>
                        <a:rPr sz="1439" b="0">
                          <a:solidFill>
                            <a:srgbClr val="1F2D3A"/>
                          </a:solidFill>
                        </a:rPr>
                        <a:t>Every change is reviewed</a:t>
                      </a:r>
                    </a:p>
                  </a:txBody>
                  <a:tcPr marL="54864" marR="54864" marT="27432" marB="27432" anchor="ctr">
                    <a:solidFill>
                      <a:srgbClr val="FFFFFF"/>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13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11</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Criteria of a Good Requirement</a:t>
            </a:r>
          </a:p>
        </p:txBody>
      </p:sp>
      <p:sp>
        <p:nvSpPr>
          <p:cNvPr id="7" name="TextBox 6"/>
          <p:cNvSpPr txBox="1"/>
          <p:nvPr/>
        </p:nvSpPr>
        <p:spPr>
          <a:xfrm>
            <a:off x="640080" y="1325880"/>
            <a:ext cx="10911535" cy="1595120"/>
          </a:xfrm>
          <a:prstGeom prst="rect">
            <a:avLst/>
          </a:prstGeom>
          <a:noFill/>
        </p:spPr>
        <p:txBody>
          <a:bodyPr wrap="square" lIns="45720" rIns="45720">
            <a:spAutoFit/>
          </a:bodyPr>
          <a:lstStyle/>
          <a:p>
            <a:pPr>
              <a:spcAft>
                <a:spcPts val="300"/>
              </a:spcAft>
            </a:pPr>
            <a:r>
              <a:rPr sz="2000" b="1">
                <a:solidFill>
                  <a:srgbClr val="006D77"/>
                </a:solidFill>
              </a:rPr>
              <a:t>• </a:t>
            </a:r>
            <a:r>
              <a:rPr sz="2000" b="1">
                <a:solidFill>
                  <a:srgbClr val="1F2D3A"/>
                </a:solidFill>
              </a:rPr>
              <a:t>Verifiable:</a:t>
            </a:r>
            <a:r>
              <a:rPr sz="2000" b="0">
                <a:solidFill>
                  <a:srgbClr val="1F2D3A"/>
                </a:solidFill>
              </a:rPr>
              <a:t> can it be tested?</a:t>
            </a:r>
          </a:p>
          <a:p>
            <a:pPr>
              <a:spcAft>
                <a:spcPts val="300"/>
              </a:spcAft>
            </a:pPr>
            <a:r>
              <a:rPr sz="2000" b="1">
                <a:solidFill>
                  <a:srgbClr val="006D77"/>
                </a:solidFill>
              </a:rPr>
              <a:t>• </a:t>
            </a:r>
            <a:r>
              <a:rPr sz="2000" b="1">
                <a:solidFill>
                  <a:srgbClr val="1F2D3A"/>
                </a:solidFill>
              </a:rPr>
              <a:t>Singular:</a:t>
            </a:r>
            <a:r>
              <a:rPr sz="2000" b="0">
                <a:solidFill>
                  <a:srgbClr val="1F2D3A"/>
                </a:solidFill>
              </a:rPr>
              <a:t> does it state a single thing?</a:t>
            </a:r>
          </a:p>
          <a:p>
            <a:pPr>
              <a:spcAft>
                <a:spcPts val="300"/>
              </a:spcAft>
            </a:pPr>
            <a:r>
              <a:rPr sz="2000" b="1">
                <a:solidFill>
                  <a:srgbClr val="006D77"/>
                </a:solidFill>
              </a:rPr>
              <a:t>• </a:t>
            </a:r>
            <a:r>
              <a:rPr sz="2000" b="1">
                <a:solidFill>
                  <a:srgbClr val="1F2D3A"/>
                </a:solidFill>
              </a:rPr>
              <a:t>Measurable:</a:t>
            </a:r>
            <a:r>
              <a:rPr sz="2000" b="0">
                <a:solidFill>
                  <a:srgbClr val="1F2D3A"/>
                </a:solidFill>
              </a:rPr>
              <a:t> is it concrete?</a:t>
            </a:r>
          </a:p>
          <a:p>
            <a:pPr>
              <a:spcAft>
                <a:spcPts val="300"/>
              </a:spcAft>
            </a:pPr>
            <a:r>
              <a:rPr sz="2000" b="1">
                <a:solidFill>
                  <a:srgbClr val="006D77"/>
                </a:solidFill>
              </a:rPr>
              <a:t>• </a:t>
            </a:r>
            <a:r>
              <a:rPr sz="2000" b="1">
                <a:solidFill>
                  <a:srgbClr val="1F2D3A"/>
                </a:solidFill>
              </a:rPr>
              <a:t>Feasible:</a:t>
            </a:r>
            <a:r>
              <a:rPr sz="2000" b="0">
                <a:solidFill>
                  <a:srgbClr val="1F2D3A"/>
                </a:solidFill>
              </a:rPr>
              <a:t> is it achievable?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13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12</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Bad → Good (1)</a:t>
            </a:r>
          </a:p>
        </p:txBody>
      </p:sp>
      <p:sp>
        <p:nvSpPr>
          <p:cNvPr id="7" name="TextBox 6"/>
          <p:cNvSpPr txBox="1"/>
          <p:nvPr/>
        </p:nvSpPr>
        <p:spPr>
          <a:xfrm>
            <a:off x="640080" y="1325880"/>
            <a:ext cx="10911535" cy="1173480"/>
          </a:xfrm>
          <a:prstGeom prst="rect">
            <a:avLst/>
          </a:prstGeom>
          <a:noFill/>
        </p:spPr>
        <p:txBody>
          <a:bodyPr wrap="square" lIns="45720" rIns="45720">
            <a:spAutoFit/>
          </a:bodyPr>
          <a:lstStyle/>
          <a:p>
            <a:pPr>
              <a:spcAft>
                <a:spcPts val="300"/>
              </a:spcAft>
            </a:pPr>
            <a:r>
              <a:rPr sz="2000" b="1">
                <a:solidFill>
                  <a:srgbClr val="006D77"/>
                </a:solidFill>
              </a:rPr>
              <a:t>• </a:t>
            </a:r>
            <a:r>
              <a:rPr sz="2000" b="1">
                <a:solidFill>
                  <a:srgbClr val="1F2D3A"/>
                </a:solidFill>
              </a:rPr>
              <a:t>Bad:</a:t>
            </a:r>
            <a:r>
              <a:rPr sz="2000" b="0">
                <a:solidFill>
                  <a:srgbClr val="1F2D3A"/>
                </a:solidFill>
              </a:rPr>
              <a:t> "The application must be secure."</a:t>
            </a:r>
          </a:p>
          <a:p>
            <a:pPr>
              <a:spcAft>
                <a:spcPts val="300"/>
              </a:spcAft>
            </a:pPr>
            <a:r>
              <a:rPr sz="2000" b="1">
                <a:solidFill>
                  <a:srgbClr val="006D77"/>
                </a:solidFill>
              </a:rPr>
              <a:t>• </a:t>
            </a:r>
            <a:r>
              <a:rPr sz="2000" b="1">
                <a:solidFill>
                  <a:srgbClr val="1F2D3A"/>
                </a:solidFill>
              </a:rPr>
              <a:t>Good:</a:t>
            </a:r>
            <a:r>
              <a:rPr sz="2000" b="0">
                <a:solidFill>
                  <a:srgbClr val="1F2D3A"/>
                </a:solidFill>
              </a:rPr>
              <a:t> "The release build must be produced with a stack canary, PIE, and full RELRO."</a:t>
            </a:r>
          </a:p>
        </p:txBody>
      </p:sp>
      <p:sp>
        <p:nvSpPr>
          <p:cNvPr id="8" name="TextBox 7"/>
          <p:cNvSpPr txBox="1"/>
          <p:nvPr/>
        </p:nvSpPr>
        <p:spPr>
          <a:xfrm>
            <a:off x="640080" y="2609088"/>
            <a:ext cx="10911535" cy="439928"/>
          </a:xfrm>
          <a:prstGeom prst="rect">
            <a:avLst/>
          </a:prstGeom>
          <a:noFill/>
        </p:spPr>
        <p:txBody>
          <a:bodyPr wrap="square" lIns="45720" rIns="45720">
            <a:spAutoFit/>
          </a:bodyPr>
          <a:lstStyle/>
          <a:p>
            <a:pPr algn="l"/>
            <a:r>
              <a:rPr sz="2000" b="0">
                <a:solidFill>
                  <a:srgbClr val="1F2D3A"/>
                </a:solidFill>
              </a:rPr>
              <a:t>Why is it good? </a:t>
            </a:r>
            <a:r>
              <a:rPr sz="2000" b="1">
                <a:solidFill>
                  <a:srgbClr val="1F2D3A"/>
                </a:solidFill>
              </a:rPr>
              <a:t>Testable</a:t>
            </a:r>
            <a:r>
              <a:rPr sz="2000" b="0">
                <a:solidFill>
                  <a:srgbClr val="1F2D3A"/>
                </a:solidFill>
              </a:rPr>
              <a:t> (checksec).</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13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13</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Bad → Good Requirement — Diagram</a:t>
            </a:r>
          </a:p>
        </p:txBody>
      </p:sp>
      <p:pic>
        <p:nvPicPr>
          <p:cNvPr id="7" name="Picture 6" descr="h13-04-kotu-iyi.png"/>
          <p:cNvPicPr>
            <a:picLocks noChangeAspect="1"/>
          </p:cNvPicPr>
          <p:nvPr/>
        </p:nvPicPr>
        <p:blipFill>
          <a:blip r:embed="rId3"/>
          <a:stretch>
            <a:fillRect/>
          </a:stretch>
        </p:blipFill>
        <p:spPr>
          <a:xfrm>
            <a:off x="1862884" y="1325880"/>
            <a:ext cx="8465926" cy="4828032"/>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13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14</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Bad → Good (2)</a:t>
            </a:r>
          </a:p>
        </p:txBody>
      </p:sp>
      <p:sp>
        <p:nvSpPr>
          <p:cNvPr id="7" name="TextBox 6"/>
          <p:cNvSpPr txBox="1"/>
          <p:nvPr/>
        </p:nvSpPr>
        <p:spPr>
          <a:xfrm>
            <a:off x="640080" y="1325880"/>
            <a:ext cx="10911535" cy="1173480"/>
          </a:xfrm>
          <a:prstGeom prst="rect">
            <a:avLst/>
          </a:prstGeom>
          <a:noFill/>
        </p:spPr>
        <p:txBody>
          <a:bodyPr wrap="square" lIns="45720" rIns="45720">
            <a:spAutoFit/>
          </a:bodyPr>
          <a:lstStyle/>
          <a:p>
            <a:pPr>
              <a:spcAft>
                <a:spcPts val="300"/>
              </a:spcAft>
            </a:pPr>
            <a:r>
              <a:rPr sz="2000" b="1">
                <a:solidFill>
                  <a:srgbClr val="006D77"/>
                </a:solidFill>
              </a:rPr>
              <a:t>• </a:t>
            </a:r>
            <a:r>
              <a:rPr sz="2000" b="1">
                <a:solidFill>
                  <a:srgbClr val="1F2D3A"/>
                </a:solidFill>
              </a:rPr>
              <a:t>Bad:</a:t>
            </a:r>
            <a:r>
              <a:rPr sz="2000" b="0">
                <a:solidFill>
                  <a:srgbClr val="1F2D3A"/>
                </a:solidFill>
              </a:rPr>
              <a:t> "Data must be encrypted."</a:t>
            </a:r>
          </a:p>
          <a:p>
            <a:pPr>
              <a:spcAft>
                <a:spcPts val="300"/>
              </a:spcAft>
            </a:pPr>
            <a:r>
              <a:rPr sz="2000" b="1">
                <a:solidFill>
                  <a:srgbClr val="006D77"/>
                </a:solidFill>
              </a:rPr>
              <a:t>• </a:t>
            </a:r>
            <a:r>
              <a:rPr sz="2000" b="1">
                <a:solidFill>
                  <a:srgbClr val="1F2D3A"/>
                </a:solidFill>
              </a:rPr>
              <a:t>Good:</a:t>
            </a:r>
            <a:r>
              <a:rPr sz="2000" b="0">
                <a:solidFill>
                  <a:srgbClr val="1F2D3A"/>
                </a:solidFill>
              </a:rPr>
              <a:t> "Every class-C asset must be encrypted at rest with AEAD at a level of ≥128 bits."</a:t>
            </a:r>
          </a:p>
        </p:txBody>
      </p:sp>
      <p:sp>
        <p:nvSpPr>
          <p:cNvPr id="8" name="TextBox 7"/>
          <p:cNvSpPr txBox="1"/>
          <p:nvPr/>
        </p:nvSpPr>
        <p:spPr>
          <a:xfrm>
            <a:off x="640080" y="2609088"/>
            <a:ext cx="10911535" cy="439928"/>
          </a:xfrm>
          <a:prstGeom prst="rect">
            <a:avLst/>
          </a:prstGeom>
          <a:noFill/>
        </p:spPr>
        <p:txBody>
          <a:bodyPr wrap="square" lIns="45720" rIns="45720">
            <a:spAutoFit/>
          </a:bodyPr>
          <a:lstStyle/>
          <a:p>
            <a:pPr algn="l"/>
            <a:r>
              <a:rPr sz="2000" b="0">
                <a:solidFill>
                  <a:srgbClr val="1F2D3A"/>
                </a:solidFill>
              </a:rPr>
              <a:t>Why is it good? Which data, which level, which method is clear.</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13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15</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Bad → Good (3)</a:t>
            </a:r>
          </a:p>
        </p:txBody>
      </p:sp>
      <p:sp>
        <p:nvSpPr>
          <p:cNvPr id="7" name="TextBox 6"/>
          <p:cNvSpPr txBox="1"/>
          <p:nvPr/>
        </p:nvSpPr>
        <p:spPr>
          <a:xfrm>
            <a:off x="640080" y="1325880"/>
            <a:ext cx="10911535" cy="1173480"/>
          </a:xfrm>
          <a:prstGeom prst="rect">
            <a:avLst/>
          </a:prstGeom>
          <a:noFill/>
        </p:spPr>
        <p:txBody>
          <a:bodyPr wrap="square" lIns="45720" rIns="45720">
            <a:spAutoFit/>
          </a:bodyPr>
          <a:lstStyle/>
          <a:p>
            <a:pPr>
              <a:spcAft>
                <a:spcPts val="300"/>
              </a:spcAft>
            </a:pPr>
            <a:r>
              <a:rPr sz="2000" b="1">
                <a:solidFill>
                  <a:srgbClr val="006D77"/>
                </a:solidFill>
              </a:rPr>
              <a:t>• </a:t>
            </a:r>
            <a:r>
              <a:rPr sz="2000" b="1">
                <a:solidFill>
                  <a:srgbClr val="1F2D3A"/>
                </a:solidFill>
              </a:rPr>
              <a:t>Bad:</a:t>
            </a:r>
            <a:r>
              <a:rPr sz="2000" b="0">
                <a:solidFill>
                  <a:srgbClr val="1F2D3A"/>
                </a:solidFill>
              </a:rPr>
              <a:t> "Keys must be well managed."</a:t>
            </a:r>
          </a:p>
          <a:p>
            <a:pPr>
              <a:spcAft>
                <a:spcPts val="300"/>
              </a:spcAft>
            </a:pPr>
            <a:r>
              <a:rPr sz="2000" b="1">
                <a:solidFill>
                  <a:srgbClr val="006D77"/>
                </a:solidFill>
              </a:rPr>
              <a:t>• </a:t>
            </a:r>
            <a:r>
              <a:rPr sz="2000" b="1">
                <a:solidFill>
                  <a:srgbClr val="1F2D3A"/>
                </a:solidFill>
              </a:rPr>
              <a:t>Good:</a:t>
            </a:r>
            <a:r>
              <a:rPr sz="2000" b="0">
                <a:solidFill>
                  <a:srgbClr val="1F2D3A"/>
                </a:solidFill>
              </a:rPr>
              <a:t> "(1) Every key's purpose, cryptoperiod, and destruction are documented. (2) It is erased from memory once its job is done."</a:t>
            </a:r>
          </a:p>
        </p:txBody>
      </p:sp>
      <p:sp>
        <p:nvSpPr>
          <p:cNvPr id="8" name="TextBox 7"/>
          <p:cNvSpPr txBox="1"/>
          <p:nvPr/>
        </p:nvSpPr>
        <p:spPr>
          <a:xfrm>
            <a:off x="640080" y="2609088"/>
            <a:ext cx="10911535" cy="439928"/>
          </a:xfrm>
          <a:prstGeom prst="rect">
            <a:avLst/>
          </a:prstGeom>
          <a:noFill/>
        </p:spPr>
        <p:txBody>
          <a:bodyPr wrap="square" lIns="45720" rIns="45720">
            <a:spAutoFit/>
          </a:bodyPr>
          <a:lstStyle/>
          <a:p>
            <a:pPr algn="l"/>
            <a:r>
              <a:rPr sz="2000" b="0">
                <a:solidFill>
                  <a:srgbClr val="1F2D3A"/>
                </a:solidFill>
              </a:rPr>
              <a:t>Singular, verifiable items.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13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16</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Worked Example · Improving a Bad Requirement</a:t>
            </a:r>
          </a:p>
        </p:txBody>
      </p:sp>
      <p:sp>
        <p:nvSpPr>
          <p:cNvPr id="7" name="TextBox 6"/>
          <p:cNvSpPr txBox="1"/>
          <p:nvPr/>
        </p:nvSpPr>
        <p:spPr>
          <a:xfrm>
            <a:off x="640080" y="1325880"/>
            <a:ext cx="10911535" cy="439928"/>
          </a:xfrm>
          <a:prstGeom prst="rect">
            <a:avLst/>
          </a:prstGeom>
          <a:noFill/>
        </p:spPr>
        <p:txBody>
          <a:bodyPr wrap="square" lIns="45720" rIns="45720">
            <a:spAutoFit/>
          </a:bodyPr>
          <a:lstStyle/>
          <a:p>
            <a:pPr algn="l"/>
            <a:r>
              <a:rPr sz="2000" b="0">
                <a:solidFill>
                  <a:srgbClr val="1F2D3A"/>
                </a:solidFill>
              </a:rPr>
              <a:t>Starting sentence (from a real draft):</a:t>
            </a:r>
          </a:p>
        </p:txBody>
      </p:sp>
      <p:sp>
        <p:nvSpPr>
          <p:cNvPr id="8" name="Rectangle 7"/>
          <p:cNvSpPr/>
          <p:nvPr/>
        </p:nvSpPr>
        <p:spPr>
          <a:xfrm>
            <a:off x="640080" y="1875536"/>
            <a:ext cx="10911535" cy="604520"/>
          </a:xfrm>
          <a:prstGeom prst="rect">
            <a:avLst/>
          </a:prstGeom>
          <a:solidFill>
            <a:srgbClr val="EEF7F8"/>
          </a:solidFill>
          <a:ln>
            <a:solidFill>
              <a:srgbClr val="006D77"/>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l"/>
            <a:r>
              <a:rPr sz="2000" b="0">
                <a:solidFill>
                  <a:srgbClr val="1F2D3A"/>
                </a:solidFill>
              </a:rPr>
              <a:t>"The application must protect user data."</a:t>
            </a:r>
          </a:p>
        </p:txBody>
      </p:sp>
      <p:sp>
        <p:nvSpPr>
          <p:cNvPr id="9" name="TextBox 8"/>
          <p:cNvSpPr txBox="1"/>
          <p:nvPr/>
        </p:nvSpPr>
        <p:spPr>
          <a:xfrm>
            <a:off x="640080" y="2589784"/>
            <a:ext cx="10911535" cy="770128"/>
          </a:xfrm>
          <a:prstGeom prst="rect">
            <a:avLst/>
          </a:prstGeom>
          <a:noFill/>
        </p:spPr>
        <p:txBody>
          <a:bodyPr wrap="square" lIns="45720" rIns="45720">
            <a:spAutoFit/>
          </a:bodyPr>
          <a:lstStyle/>
          <a:p>
            <a:pPr algn="l"/>
            <a:r>
              <a:rPr sz="2000" b="0">
                <a:solidFill>
                  <a:srgbClr val="1F2D3A"/>
                </a:solidFill>
              </a:rPr>
              <a:t>We will turn this sentence into a good requirement in six steps; at every step, </a:t>
            </a:r>
            <a:r>
              <a:rPr sz="2000" b="1">
                <a:solidFill>
                  <a:srgbClr val="1F2D3A"/>
                </a:solidFill>
              </a:rPr>
              <a:t>before/after</a:t>
            </a:r>
            <a:r>
              <a:rPr sz="2000" b="0">
                <a:solidFill>
                  <a:srgbClr val="1F2D3A"/>
                </a:solidFill>
              </a:rPr>
              <a:t> and </a:t>
            </a:r>
            <a:r>
              <a:rPr sz="2000" b="1">
                <a:solidFill>
                  <a:srgbClr val="1F2D3A"/>
                </a:solidFill>
              </a:rPr>
              <a:t>why it changed</a:t>
            </a:r>
            <a:r>
              <a:rPr sz="2000" b="0">
                <a:solidFill>
                  <a:srgbClr val="1F2D3A"/>
                </a:solidFill>
              </a:rPr>
              <a: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13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17</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Step 1 — Flag the Vague Words</a:t>
            </a:r>
          </a:p>
        </p:txBody>
      </p:sp>
      <p:sp>
        <p:nvSpPr>
          <p:cNvPr id="7" name="TextBox 6"/>
          <p:cNvSpPr txBox="1"/>
          <p:nvPr/>
        </p:nvSpPr>
        <p:spPr>
          <a:xfrm>
            <a:off x="640080" y="1325880"/>
            <a:ext cx="10911535" cy="1879600"/>
          </a:xfrm>
          <a:prstGeom prst="rect">
            <a:avLst/>
          </a:prstGeom>
          <a:noFill/>
        </p:spPr>
        <p:txBody>
          <a:bodyPr wrap="square" lIns="45720" rIns="45720">
            <a:spAutoFit/>
          </a:bodyPr>
          <a:lstStyle/>
          <a:p>
            <a:pPr>
              <a:spcAft>
                <a:spcPts val="300"/>
              </a:spcAft>
            </a:pPr>
            <a:r>
              <a:rPr sz="2000" b="1">
                <a:solidFill>
                  <a:srgbClr val="006D77"/>
                </a:solidFill>
              </a:rPr>
              <a:t>• </a:t>
            </a:r>
            <a:r>
              <a:rPr sz="2000" b="1">
                <a:solidFill>
                  <a:srgbClr val="1F2D3A"/>
                </a:solidFill>
              </a:rPr>
              <a:t>Before:</a:t>
            </a:r>
            <a:r>
              <a:rPr sz="2000" b="0">
                <a:solidFill>
                  <a:srgbClr val="1F2D3A"/>
                </a:solidFill>
              </a:rPr>
              <a:t> "The application must protect user data."</a:t>
            </a:r>
          </a:p>
          <a:p>
            <a:pPr>
              <a:spcAft>
                <a:spcPts val="300"/>
              </a:spcAft>
            </a:pPr>
            <a:r>
              <a:rPr sz="2000" b="1">
                <a:solidFill>
                  <a:srgbClr val="006D77"/>
                </a:solidFill>
              </a:rPr>
              <a:t>• </a:t>
            </a:r>
            <a:r>
              <a:rPr sz="2000" b="0">
                <a:solidFill>
                  <a:srgbClr val="1F2D3A"/>
                </a:solidFill>
              </a:rPr>
              <a:t>Vague words: "user data" (which data?), "must protect" (against what, at what level?).</a:t>
            </a:r>
          </a:p>
          <a:p>
            <a:pPr>
              <a:spcAft>
                <a:spcPts val="300"/>
              </a:spcAft>
            </a:pPr>
            <a:r>
              <a:rPr sz="2000" b="1">
                <a:solidFill>
                  <a:srgbClr val="006D77"/>
                </a:solidFill>
              </a:rPr>
              <a:t>• </a:t>
            </a:r>
            <a:r>
              <a:rPr sz="2000" b="1">
                <a:solidFill>
                  <a:srgbClr val="1F2D3A"/>
                </a:solidFill>
              </a:rPr>
              <a:t>Why it changed:</a:t>
            </a:r>
            <a:r>
              <a:rPr sz="2000" b="0">
                <a:solidFill>
                  <a:srgbClr val="1F2D3A"/>
                </a:solidFill>
              </a:rPr>
              <a:t> when an evaluator reads this sentence, they find nothing to test.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13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18</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Step 2 — Link It to the Asset Table</a:t>
            </a:r>
          </a:p>
        </p:txBody>
      </p:sp>
      <p:sp>
        <p:nvSpPr>
          <p:cNvPr id="7" name="TextBox 6"/>
          <p:cNvSpPr txBox="1"/>
          <p:nvPr/>
        </p:nvSpPr>
        <p:spPr>
          <a:xfrm>
            <a:off x="640080" y="1325880"/>
            <a:ext cx="10911535" cy="1879599"/>
          </a:xfrm>
          <a:prstGeom prst="rect">
            <a:avLst/>
          </a:prstGeom>
          <a:noFill/>
        </p:spPr>
        <p:txBody>
          <a:bodyPr wrap="square" lIns="45720" rIns="45720">
            <a:spAutoFit/>
          </a:bodyPr>
          <a:lstStyle/>
          <a:p>
            <a:pPr>
              <a:spcAft>
                <a:spcPts val="300"/>
              </a:spcAft>
            </a:pPr>
            <a:r>
              <a:rPr sz="2000" b="1">
                <a:solidFill>
                  <a:srgbClr val="006D77"/>
                </a:solidFill>
              </a:rPr>
              <a:t>• </a:t>
            </a:r>
            <a:r>
              <a:rPr sz="2000" b="1">
                <a:solidFill>
                  <a:srgbClr val="1F2D3A"/>
                </a:solidFill>
              </a:rPr>
              <a:t>After:</a:t>
            </a:r>
            <a:r>
              <a:rPr sz="2000" b="0">
                <a:solidFill>
                  <a:srgbClr val="1F2D3A"/>
                </a:solidFill>
              </a:rPr>
              <a:t> "</a:t>
            </a:r>
            <a:r>
              <a:rPr sz="2000" b="1">
                <a:solidFill>
                  <a:srgbClr val="1F2D3A"/>
                </a:solidFill>
              </a:rPr>
              <a:t>Class-C</a:t>
            </a:r>
            <a:r>
              <a:rPr sz="2000" b="0">
                <a:solidFill>
                  <a:srgbClr val="1F2D3A"/>
                </a:solidFill>
              </a:rPr>
              <a:t> fields in the local database must be protected."</a:t>
            </a:r>
          </a:p>
          <a:p>
            <a:pPr>
              <a:spcAft>
                <a:spcPts val="300"/>
              </a:spcAft>
            </a:pPr>
            <a:r>
              <a:rPr sz="2000" b="1">
                <a:solidFill>
                  <a:srgbClr val="006D77"/>
                </a:solidFill>
              </a:rPr>
              <a:t>• </a:t>
            </a:r>
            <a:r>
              <a:rPr sz="2000" b="1">
                <a:solidFill>
                  <a:srgbClr val="1F2D3A"/>
                </a:solidFill>
              </a:rPr>
              <a:t>Why it changed:</a:t>
            </a:r>
            <a:r>
              <a:rPr sz="2000" b="0">
                <a:solidFill>
                  <a:srgbClr val="1F2D3A"/>
                </a:solidFill>
              </a:rPr>
              <a:t> "user data" is not a single thing; it is separate rows in the asset table (Week 1) — session token, profile, payment token... each in a different class.</a:t>
            </a:r>
          </a:p>
          <a:p>
            <a:pPr>
              <a:spcAft>
                <a:spcPts val="300"/>
              </a:spcAft>
            </a:pPr>
            <a:r>
              <a:rPr sz="2000" b="1">
                <a:solidFill>
                  <a:srgbClr val="006D77"/>
                </a:solidFill>
              </a:rPr>
              <a:t>• </a:t>
            </a:r>
            <a:r>
              <a:rPr sz="2000" b="0">
                <a:solidFill>
                  <a:srgbClr val="1F2D3A"/>
                </a:solidFill>
              </a:rPr>
              <a:t>"Must be protected" still isn't measurable → next step.</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13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19</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Step 3 — Clarify the Protection Goal</a:t>
            </a:r>
          </a:p>
        </p:txBody>
      </p:sp>
      <p:sp>
        <p:nvSpPr>
          <p:cNvPr id="7" name="TextBox 6"/>
          <p:cNvSpPr txBox="1"/>
          <p:nvPr/>
        </p:nvSpPr>
        <p:spPr>
          <a:xfrm>
            <a:off x="640080" y="1325880"/>
            <a:ext cx="10911535" cy="1833880"/>
          </a:xfrm>
          <a:prstGeom prst="rect">
            <a:avLst/>
          </a:prstGeom>
          <a:noFill/>
        </p:spPr>
        <p:txBody>
          <a:bodyPr wrap="square" lIns="45720" rIns="45720">
            <a:spAutoFit/>
          </a:bodyPr>
          <a:lstStyle/>
          <a:p>
            <a:pPr>
              <a:spcAft>
                <a:spcPts val="300"/>
              </a:spcAft>
            </a:pPr>
            <a:r>
              <a:rPr sz="2000" b="1">
                <a:solidFill>
                  <a:srgbClr val="006D77"/>
                </a:solidFill>
              </a:rPr>
              <a:t>• </a:t>
            </a:r>
            <a:r>
              <a:rPr sz="2000" b="1">
                <a:solidFill>
                  <a:srgbClr val="1F2D3A"/>
                </a:solidFill>
              </a:rPr>
              <a:t>After:</a:t>
            </a:r>
            <a:r>
              <a:rPr sz="2000" b="0">
                <a:solidFill>
                  <a:srgbClr val="1F2D3A"/>
                </a:solidFill>
              </a:rPr>
              <a:t> "...the </a:t>
            </a:r>
            <a:r>
              <a:rPr sz="2000" b="1">
                <a:solidFill>
                  <a:srgbClr val="1F2D3A"/>
                </a:solidFill>
              </a:rPr>
              <a:t>confidentiality and integrity</a:t>
            </a:r>
            <a:r>
              <a:rPr sz="2000" b="0">
                <a:solidFill>
                  <a:srgbClr val="1F2D3A"/>
                </a:solidFill>
              </a:rPr>
              <a:t> of class-C fields must be protected."</a:t>
            </a:r>
          </a:p>
          <a:p>
            <a:pPr>
              <a:spcAft>
                <a:spcPts val="300"/>
              </a:spcAft>
            </a:pPr>
            <a:r>
              <a:rPr sz="2000" b="1">
                <a:solidFill>
                  <a:srgbClr val="006D77"/>
                </a:solidFill>
              </a:rPr>
              <a:t>• </a:t>
            </a:r>
            <a:r>
              <a:rPr sz="2000" b="1">
                <a:solidFill>
                  <a:srgbClr val="1F2D3A"/>
                </a:solidFill>
              </a:rPr>
              <a:t>Why it changed:</a:t>
            </a:r>
            <a:r>
              <a:rPr sz="2000" b="0">
                <a:solidFill>
                  <a:srgbClr val="1F2D3A"/>
                </a:solidFill>
              </a:rPr>
              <a:t> the threat model shows both "reading the file" (confidentiality) and "modifying the file" (integrity) as risks; both are needed at the same time.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13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20</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Step 4 — Add a Measurable Technical Criterion</a:t>
            </a:r>
          </a:p>
        </p:txBody>
      </p:sp>
      <p:sp>
        <p:nvSpPr>
          <p:cNvPr id="7" name="TextBox 6"/>
          <p:cNvSpPr txBox="1"/>
          <p:nvPr/>
        </p:nvSpPr>
        <p:spPr>
          <a:xfrm>
            <a:off x="640080" y="1325880"/>
            <a:ext cx="10911535" cy="1503680"/>
          </a:xfrm>
          <a:prstGeom prst="rect">
            <a:avLst/>
          </a:prstGeom>
          <a:noFill/>
        </p:spPr>
        <p:txBody>
          <a:bodyPr wrap="square" lIns="45720" rIns="45720">
            <a:spAutoFit/>
          </a:bodyPr>
          <a:lstStyle/>
          <a:p>
            <a:pPr>
              <a:spcAft>
                <a:spcPts val="300"/>
              </a:spcAft>
            </a:pPr>
            <a:r>
              <a:rPr sz="2000" b="1">
                <a:solidFill>
                  <a:srgbClr val="006D77"/>
                </a:solidFill>
              </a:rPr>
              <a:t>• </a:t>
            </a:r>
            <a:r>
              <a:rPr sz="2000" b="1">
                <a:solidFill>
                  <a:srgbClr val="1F2D3A"/>
                </a:solidFill>
              </a:rPr>
              <a:t>After:</a:t>
            </a:r>
            <a:r>
              <a:rPr sz="2000" b="0">
                <a:solidFill>
                  <a:srgbClr val="1F2D3A"/>
                </a:solidFill>
              </a:rPr>
              <a:t> "...must be protected with authenticated encryption (</a:t>
            </a:r>
            <a:r>
              <a:rPr sz="2000" b="1">
                <a:solidFill>
                  <a:srgbClr val="1F2D3A"/>
                </a:solidFill>
              </a:rPr>
              <a:t>AEAD</a:t>
            </a:r>
            <a:r>
              <a:rPr sz="2000" b="0">
                <a:solidFill>
                  <a:srgbClr val="1F2D3A"/>
                </a:solidFill>
              </a:rPr>
              <a:t>)."</a:t>
            </a:r>
          </a:p>
          <a:p>
            <a:pPr>
              <a:spcAft>
                <a:spcPts val="300"/>
              </a:spcAft>
            </a:pPr>
            <a:r>
              <a:rPr sz="2000" b="1">
                <a:solidFill>
                  <a:srgbClr val="006D77"/>
                </a:solidFill>
              </a:rPr>
              <a:t>• </a:t>
            </a:r>
            <a:r>
              <a:rPr sz="2000" b="1">
                <a:solidFill>
                  <a:srgbClr val="1F2D3A"/>
                </a:solidFill>
              </a:rPr>
              <a:t>Why it changed:</a:t>
            </a:r>
            <a:r>
              <a:rPr sz="2000" b="0">
                <a:solidFill>
                  <a:srgbClr val="1F2D3A"/>
                </a:solidFill>
              </a:rPr>
              <a:t> Week 9's rule — if confidentiality and integrity are both wanted </a:t>
            </a:r>
            <a:r>
              <a:rPr sz="2000" b="1">
                <a:solidFill>
                  <a:srgbClr val="1F2D3A"/>
                </a:solidFill>
              </a:rPr>
              <a:t>at the same time</a:t>
            </a:r>
            <a:r>
              <a:rPr sz="2000" b="0">
                <a:solidFill>
                  <a:srgbClr val="1F2D3A"/>
                </a:solidFill>
              </a:rPr>
              <a:t>, the right tool class is AEAD; still no specific library name is given.</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13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21</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Step 5 — Add the State and the Obligation Keyword</a:t>
            </a:r>
          </a:p>
        </p:txBody>
      </p:sp>
      <p:sp>
        <p:nvSpPr>
          <p:cNvPr id="7" name="TextBox 6"/>
          <p:cNvSpPr txBox="1"/>
          <p:nvPr/>
        </p:nvSpPr>
        <p:spPr>
          <a:xfrm>
            <a:off x="640080" y="1325880"/>
            <a:ext cx="10911535" cy="1833880"/>
          </a:xfrm>
          <a:prstGeom prst="rect">
            <a:avLst/>
          </a:prstGeom>
          <a:noFill/>
        </p:spPr>
        <p:txBody>
          <a:bodyPr wrap="square" lIns="45720" rIns="45720">
            <a:spAutoFit/>
          </a:bodyPr>
          <a:lstStyle/>
          <a:p>
            <a:pPr>
              <a:spcAft>
                <a:spcPts val="300"/>
              </a:spcAft>
            </a:pPr>
            <a:r>
              <a:rPr sz="2000" b="1">
                <a:solidFill>
                  <a:srgbClr val="006D77"/>
                </a:solidFill>
              </a:rPr>
              <a:t>• </a:t>
            </a:r>
            <a:r>
              <a:rPr sz="2000" b="1">
                <a:solidFill>
                  <a:srgbClr val="1F2D3A"/>
                </a:solidFill>
              </a:rPr>
              <a:t>After:</a:t>
            </a:r>
            <a:r>
              <a:rPr sz="2000" b="0">
                <a:solidFill>
                  <a:srgbClr val="1F2D3A"/>
                </a:solidFill>
              </a:rPr>
              <a:t> "Sensitive class-C data </a:t>
            </a:r>
            <a:r>
              <a:rPr sz="2000" b="1">
                <a:solidFill>
                  <a:srgbClr val="1F2D3A"/>
                </a:solidFill>
              </a:rPr>
              <a:t>at rest</a:t>
            </a:r>
            <a:r>
              <a:rPr sz="2000" b="0">
                <a:solidFill>
                  <a:srgbClr val="1F2D3A"/>
                </a:solidFill>
              </a:rPr>
              <a:t> must be protected with authenticated encryption (AEAD)." (</a:t>
            </a:r>
            <a:r>
              <a:rPr sz="2000" b="1">
                <a:solidFill>
                  <a:srgbClr val="1F2D3A"/>
                </a:solidFill>
              </a:rPr>
              <a:t>MUST</a:t>
            </a:r>
            <a:r>
              <a:rPr sz="2000" b="0">
                <a:solidFill>
                  <a:srgbClr val="1F2D3A"/>
                </a:solidFill>
              </a:rPr>
              <a:t>)</a:t>
            </a:r>
          </a:p>
          <a:p>
            <a:pPr>
              <a:spcAft>
                <a:spcPts val="300"/>
              </a:spcAft>
            </a:pPr>
            <a:r>
              <a:rPr sz="2000" b="1">
                <a:solidFill>
                  <a:srgbClr val="006D77"/>
                </a:solidFill>
              </a:rPr>
              <a:t>• </a:t>
            </a:r>
            <a:r>
              <a:rPr sz="2000" b="1">
                <a:solidFill>
                  <a:srgbClr val="1F2D3A"/>
                </a:solidFill>
              </a:rPr>
              <a:t>Why it changed:</a:t>
            </a:r>
            <a:r>
              <a:rPr sz="2000" b="0">
                <a:solidFill>
                  <a:srgbClr val="1F2D3A"/>
                </a:solidFill>
              </a:rPr>
              <a:t> the data here is at rest (on disk); "must" was chosen because this is an indispensable condition against the threat — if it were "may," it would be treated as optional.</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13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22</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Step 6 — Give It an Id and Link It to the Threat</a:t>
            </a:r>
          </a:p>
        </p:txBody>
      </p:sp>
      <p:sp>
        <p:nvSpPr>
          <p:cNvPr id="7" name="TextBox 6"/>
          <p:cNvSpPr txBox="1"/>
          <p:nvPr/>
        </p:nvSpPr>
        <p:spPr>
          <a:xfrm>
            <a:off x="640080" y="1325880"/>
            <a:ext cx="10911535" cy="1503680"/>
          </a:xfrm>
          <a:prstGeom prst="rect">
            <a:avLst/>
          </a:prstGeom>
          <a:noFill/>
        </p:spPr>
        <p:txBody>
          <a:bodyPr wrap="square" lIns="45720" rIns="45720">
            <a:spAutoFit/>
          </a:bodyPr>
          <a:lstStyle/>
          <a:p>
            <a:pPr>
              <a:spcAft>
                <a:spcPts val="300"/>
              </a:spcAft>
            </a:pPr>
            <a:r>
              <a:rPr sz="2000" b="1">
                <a:solidFill>
                  <a:srgbClr val="006D77"/>
                </a:solidFill>
              </a:rPr>
              <a:t>• </a:t>
            </a:r>
            <a:r>
              <a:rPr sz="2000" b="1">
                <a:solidFill>
                  <a:srgbClr val="1F2D3A"/>
                </a:solidFill>
              </a:rPr>
              <a:t>After (final form):</a:t>
            </a:r>
            <a:r>
              <a:rPr sz="2000" b="0">
                <a:solidFill>
                  <a:srgbClr val="1F2D3A"/>
                </a:solidFill>
              </a:rPr>
              <a:t> </a:t>
            </a:r>
            <a:r>
              <a:rPr sz="2000" b="0">
                <a:solidFill>
                  <a:srgbClr val="A1123F"/>
                </a:solidFill>
                <a:latin typeface="Consolas"/>
              </a:rPr>
              <a:t>CEN429-DR-01</a:t>
            </a:r>
            <a:r>
              <a:rPr sz="2000" b="0">
                <a:solidFill>
                  <a:srgbClr val="1F2D3A"/>
                </a:solidFill>
              </a:rPr>
              <a:t> — "Sensitive class-C data at rest must be protected with authenticated encryption (AEAD)." </a:t>
            </a:r>
            <a:r>
              <a:rPr sz="2000" b="0" i="1">
                <a:solidFill>
                  <a:srgbClr val="1F2D3A"/>
                </a:solidFill>
              </a:rPr>
              <a:t>(Threat: T-03, "an attacker who compromises the device reads/modifies the database file".)</a:t>
            </a:r>
          </a:p>
          <a:p>
            <a:pPr>
              <a:spcAft>
                <a:spcPts val="300"/>
              </a:spcAft>
            </a:pPr>
            <a:r>
              <a:rPr sz="2000" b="1">
                <a:solidFill>
                  <a:srgbClr val="006D77"/>
                </a:solidFill>
              </a:rPr>
              <a:t>• </a:t>
            </a:r>
            <a:r>
              <a:rPr sz="2000" b="1">
                <a:solidFill>
                  <a:srgbClr val="1F2D3A"/>
                </a:solidFill>
              </a:rPr>
              <a:t>Why it changed:</a:t>
            </a:r>
            <a:r>
              <a:rPr sz="2000" b="0">
                <a:solidFill>
                  <a:srgbClr val="1F2D3A"/>
                </a:solidFill>
              </a:rPr>
              <a:t> a requirement with no id never enters the traceability chain.</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13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23</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2600" b="1">
                <a:solidFill>
                  <a:srgbClr val="006D77"/>
                </a:solidFill>
              </a:rPr>
              <a:t>Six Steps · Which Ambiguity Did Each Remove?</a:t>
            </a:r>
          </a:p>
        </p:txBody>
      </p:sp>
      <p:graphicFrame>
        <p:nvGraphicFramePr>
          <p:cNvPr id="7" name="Table 6"/>
          <p:cNvGraphicFramePr>
            <a:graphicFrameLocks noGrp="1"/>
          </p:cNvGraphicFramePr>
          <p:nvPr/>
        </p:nvGraphicFramePr>
        <p:xfrm>
          <a:off x="640080" y="1325880"/>
          <a:ext cx="9092944" cy="2403043"/>
        </p:xfrm>
        <a:graphic>
          <a:graphicData uri="http://schemas.openxmlformats.org/drawingml/2006/table">
            <a:tbl>
              <a:tblPr firstRow="1" bandRow="1">
                <a:tableStyleId>{5C22544A-7EE6-4342-B048-85BDC9FD1C3A}</a:tableStyleId>
              </a:tblPr>
              <a:tblGrid>
                <a:gridCol w="1454871"/>
                <a:gridCol w="7638073"/>
              </a:tblGrid>
              <a:tr h="343291">
                <a:tc>
                  <a:txBody>
                    <a:bodyPr wrap="square"/>
                    <a:lstStyle/>
                    <a:p>
                      <a:r>
                        <a:rPr sz="1296" b="1">
                          <a:solidFill>
                            <a:srgbClr val="FFFFFF"/>
                          </a:solidFill>
                        </a:rPr>
                        <a:t>Step</a:t>
                      </a:r>
                    </a:p>
                  </a:txBody>
                  <a:tcPr marL="54864" marR="54864" marT="27432" marB="27432" anchor="ctr">
                    <a:solidFill>
                      <a:srgbClr val="006D77"/>
                    </a:solidFill>
                  </a:tcPr>
                </a:tc>
                <a:tc>
                  <a:txBody>
                    <a:bodyPr wrap="square"/>
                    <a:lstStyle/>
                    <a:p>
                      <a:r>
                        <a:rPr sz="1296" b="1">
                          <a:solidFill>
                            <a:srgbClr val="FFFFFF"/>
                          </a:solidFill>
                        </a:rPr>
                        <a:t>Ambiguity removed</a:t>
                      </a:r>
                    </a:p>
                  </a:txBody>
                  <a:tcPr marL="54864" marR="54864" marT="27432" marB="27432" anchor="ctr">
                    <a:solidFill>
                      <a:srgbClr val="006D77"/>
                    </a:solidFill>
                  </a:tcPr>
                </a:tc>
              </a:tr>
              <a:tr h="343291">
                <a:tc>
                  <a:txBody>
                    <a:bodyPr wrap="square"/>
                    <a:lstStyle/>
                    <a:p>
                      <a:r>
                        <a:rPr sz="1296" b="0">
                          <a:solidFill>
                            <a:srgbClr val="1F2D3A"/>
                          </a:solidFill>
                        </a:rPr>
                        <a:t>1</a:t>
                      </a:r>
                    </a:p>
                  </a:txBody>
                  <a:tcPr marL="54864" marR="54864" marT="27432" marB="27432" anchor="ctr">
                    <a:solidFill>
                      <a:srgbClr val="FFFFFF"/>
                    </a:solidFill>
                  </a:tcPr>
                </a:tc>
                <a:tc>
                  <a:txBody>
                    <a:bodyPr wrap="square"/>
                    <a:lstStyle/>
                    <a:p>
                      <a:r>
                        <a:rPr sz="1296" b="0">
                          <a:solidFill>
                            <a:srgbClr val="1F2D3A"/>
                          </a:solidFill>
                        </a:rPr>
                        <a:t>Flagging the vague word</a:t>
                      </a:r>
                    </a:p>
                  </a:txBody>
                  <a:tcPr marL="54864" marR="54864" marT="27432" marB="27432" anchor="ctr">
                    <a:solidFill>
                      <a:srgbClr val="FFFFFF"/>
                    </a:solidFill>
                  </a:tcPr>
                </a:tc>
              </a:tr>
              <a:tr h="343291">
                <a:tc>
                  <a:txBody>
                    <a:bodyPr wrap="square"/>
                    <a:lstStyle/>
                    <a:p>
                      <a:r>
                        <a:rPr sz="1296" b="0">
                          <a:solidFill>
                            <a:srgbClr val="1F2D3A"/>
                          </a:solidFill>
                        </a:rPr>
                        <a:t>2</a:t>
                      </a:r>
                    </a:p>
                  </a:txBody>
                  <a:tcPr marL="54864" marR="54864" marT="27432" marB="27432" anchor="ctr">
                    <a:solidFill>
                      <a:srgbClr val="EEF7F8"/>
                    </a:solidFill>
                  </a:tcPr>
                </a:tc>
                <a:tc>
                  <a:txBody>
                    <a:bodyPr wrap="square"/>
                    <a:lstStyle/>
                    <a:p>
                      <a:r>
                        <a:rPr sz="1296" b="0">
                          <a:solidFill>
                            <a:srgbClr val="1F2D3A"/>
                          </a:solidFill>
                        </a:rPr>
                        <a:t>Which data (asset table)</a:t>
                      </a:r>
                    </a:p>
                  </a:txBody>
                  <a:tcPr marL="54864" marR="54864" marT="27432" marB="27432" anchor="ctr">
                    <a:solidFill>
                      <a:srgbClr val="EEF7F8"/>
                    </a:solidFill>
                  </a:tcPr>
                </a:tc>
              </a:tr>
              <a:tr h="343291">
                <a:tc>
                  <a:txBody>
                    <a:bodyPr wrap="square"/>
                    <a:lstStyle/>
                    <a:p>
                      <a:r>
                        <a:rPr sz="1296" b="0">
                          <a:solidFill>
                            <a:srgbClr val="1F2D3A"/>
                          </a:solidFill>
                        </a:rPr>
                        <a:t>3</a:t>
                      </a:r>
                    </a:p>
                  </a:txBody>
                  <a:tcPr marL="54864" marR="54864" marT="27432" marB="27432" anchor="ctr">
                    <a:solidFill>
                      <a:srgbClr val="FFFFFF"/>
                    </a:solidFill>
                  </a:tcPr>
                </a:tc>
                <a:tc>
                  <a:txBody>
                    <a:bodyPr wrap="square"/>
                    <a:lstStyle/>
                    <a:p>
                      <a:r>
                        <a:rPr sz="1296" b="0">
                          <a:solidFill>
                            <a:srgbClr val="1F2D3A"/>
                          </a:solidFill>
                        </a:rPr>
                        <a:t>Which goal (confidentiality/integrity)</a:t>
                      </a:r>
                    </a:p>
                  </a:txBody>
                  <a:tcPr marL="54864" marR="54864" marT="27432" marB="27432" anchor="ctr">
                    <a:solidFill>
                      <a:srgbClr val="FFFFFF"/>
                    </a:solidFill>
                  </a:tcPr>
                </a:tc>
              </a:tr>
              <a:tr h="343291">
                <a:tc>
                  <a:txBody>
                    <a:bodyPr wrap="square"/>
                    <a:lstStyle/>
                    <a:p>
                      <a:r>
                        <a:rPr sz="1296" b="0">
                          <a:solidFill>
                            <a:srgbClr val="1F2D3A"/>
                          </a:solidFill>
                        </a:rPr>
                        <a:t>4</a:t>
                      </a:r>
                    </a:p>
                  </a:txBody>
                  <a:tcPr marL="54864" marR="54864" marT="27432" marB="27432" anchor="ctr">
                    <a:solidFill>
                      <a:srgbClr val="EEF7F8"/>
                    </a:solidFill>
                  </a:tcPr>
                </a:tc>
                <a:tc>
                  <a:txBody>
                    <a:bodyPr wrap="square"/>
                    <a:lstStyle/>
                    <a:p>
                      <a:r>
                        <a:rPr sz="1296" b="0">
                          <a:solidFill>
                            <a:srgbClr val="1F2D3A"/>
                          </a:solidFill>
                        </a:rPr>
                        <a:t>Which tool class (AEAD)</a:t>
                      </a:r>
                    </a:p>
                  </a:txBody>
                  <a:tcPr marL="54864" marR="54864" marT="27432" marB="27432" anchor="ctr">
                    <a:solidFill>
                      <a:srgbClr val="EEF7F8"/>
                    </a:solidFill>
                  </a:tcPr>
                </a:tc>
              </a:tr>
              <a:tr h="343291">
                <a:tc>
                  <a:txBody>
                    <a:bodyPr wrap="square"/>
                    <a:lstStyle/>
                    <a:p>
                      <a:r>
                        <a:rPr sz="1296" b="0">
                          <a:solidFill>
                            <a:srgbClr val="1F2D3A"/>
                          </a:solidFill>
                        </a:rPr>
                        <a:t>5</a:t>
                      </a:r>
                    </a:p>
                  </a:txBody>
                  <a:tcPr marL="54864" marR="54864" marT="27432" marB="27432" anchor="ctr">
                    <a:solidFill>
                      <a:srgbClr val="FFFFFF"/>
                    </a:solidFill>
                  </a:tcPr>
                </a:tc>
                <a:tc>
                  <a:txBody>
                    <a:bodyPr wrap="square"/>
                    <a:lstStyle/>
                    <a:p>
                      <a:r>
                        <a:rPr sz="1296" b="0">
                          <a:solidFill>
                            <a:srgbClr val="1F2D3A"/>
                          </a:solidFill>
                        </a:rPr>
                        <a:t>Which state, which obligation</a:t>
                      </a:r>
                    </a:p>
                  </a:txBody>
                  <a:tcPr marL="54864" marR="54864" marT="27432" marB="27432" anchor="ctr">
                    <a:solidFill>
                      <a:srgbClr val="FFFFFF"/>
                    </a:solidFill>
                  </a:tcPr>
                </a:tc>
              </a:tr>
              <a:tr h="343297">
                <a:tc>
                  <a:txBody>
                    <a:bodyPr wrap="square"/>
                    <a:lstStyle/>
                    <a:p>
                      <a:r>
                        <a:rPr sz="1296" b="0">
                          <a:solidFill>
                            <a:srgbClr val="1F2D3A"/>
                          </a:solidFill>
                        </a:rPr>
                        <a:t>6</a:t>
                      </a:r>
                    </a:p>
                  </a:txBody>
                  <a:tcPr marL="54864" marR="54864" marT="27432" marB="27432" anchor="ctr">
                    <a:solidFill>
                      <a:srgbClr val="EEF7F8"/>
                    </a:solidFill>
                  </a:tcPr>
                </a:tc>
                <a:tc>
                  <a:txBody>
                    <a:bodyPr wrap="square"/>
                    <a:lstStyle/>
                    <a:p>
                      <a:r>
                        <a:rPr sz="1296" b="0">
                          <a:solidFill>
                            <a:srgbClr val="1F2D3A"/>
                          </a:solidFill>
                        </a:rPr>
                        <a:t>Id and threat link</a:t>
                      </a:r>
                    </a:p>
                  </a:txBody>
                  <a:tcPr marL="54864" marR="54864" marT="27432" marB="27432" anchor="ctr">
                    <a:solidFill>
                      <a:srgbClr val="EEF7F8"/>
                    </a:solidFill>
                  </a:tcPr>
                </a:tc>
              </a:tr>
            </a:tbl>
          </a:graphicData>
        </a:graphic>
      </p:graphicFrame>
      <p:sp>
        <p:nvSpPr>
          <p:cNvPr id="8" name="TextBox 7"/>
          <p:cNvSpPr txBox="1"/>
          <p:nvPr/>
        </p:nvSpPr>
        <p:spPr>
          <a:xfrm>
            <a:off x="640080" y="3838651"/>
            <a:ext cx="10911535" cy="406908"/>
          </a:xfrm>
          <a:prstGeom prst="rect">
            <a:avLst/>
          </a:prstGeom>
          <a:noFill/>
        </p:spPr>
        <p:txBody>
          <a:bodyPr wrap="square" lIns="45720" rIns="45720">
            <a:spAutoFit/>
          </a:bodyPr>
          <a:lstStyle/>
          <a:p>
            <a:pPr algn="l"/>
            <a:r>
              <a:rPr sz="1800" b="0">
                <a:solidFill>
                  <a:srgbClr val="1F2D3A"/>
                </a:solidFill>
              </a:rPr>
              <a:t>If any one is missing, the requirement stays open to debate; the evaluator sends it back.</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13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24</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A Requirement's Life (animation)</a:t>
            </a:r>
          </a:p>
        </p:txBody>
      </p:sp>
      <p:pic>
        <p:nvPicPr>
          <p:cNvPr id="7" name="Picture 6" descr="requirement-lifecycle.en.gif"/>
          <p:cNvPicPr>
            <a:picLocks noChangeAspect="1"/>
          </p:cNvPicPr>
          <p:nvPr/>
        </p:nvPicPr>
        <p:blipFill>
          <a:blip r:embed="rId3"/>
          <a:stretch>
            <a:fillRect/>
          </a:stretch>
        </p:blipFill>
        <p:spPr>
          <a:xfrm>
            <a:off x="1343422" y="1325880"/>
            <a:ext cx="9504850" cy="4828032"/>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13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25</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A Requirement's Life — edge case: a one-word vagueness</a:t>
            </a:r>
          </a:p>
        </p:txBody>
      </p:sp>
      <p:pic>
        <p:nvPicPr>
          <p:cNvPr id="7" name="Picture 6" descr="requirement-lifecycle--edge-minimal.en.gif"/>
          <p:cNvPicPr>
            <a:picLocks noChangeAspect="1"/>
          </p:cNvPicPr>
          <p:nvPr/>
        </p:nvPicPr>
        <p:blipFill>
          <a:blip r:embed="rId3"/>
          <a:stretch>
            <a:fillRect/>
          </a:stretch>
        </p:blipFill>
        <p:spPr>
          <a:xfrm>
            <a:off x="1497722" y="1325880"/>
            <a:ext cx="9196251" cy="4828032"/>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13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26</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2600" b="1">
                <a:solidFill>
                  <a:srgbClr val="006D77"/>
                </a:solidFill>
              </a:rPr>
              <a:t>Second and Third Examples</a:t>
            </a:r>
          </a:p>
        </p:txBody>
      </p:sp>
      <p:sp>
        <p:nvSpPr>
          <p:cNvPr id="7" name="TextBox 6"/>
          <p:cNvSpPr txBox="1"/>
          <p:nvPr/>
        </p:nvSpPr>
        <p:spPr>
          <a:xfrm>
            <a:off x="640080" y="1325880"/>
            <a:ext cx="10911535" cy="2263140"/>
          </a:xfrm>
          <a:prstGeom prst="rect">
            <a:avLst/>
          </a:prstGeom>
          <a:noFill/>
        </p:spPr>
        <p:txBody>
          <a:bodyPr wrap="square" lIns="45720" rIns="45720">
            <a:spAutoFit/>
          </a:bodyPr>
          <a:lstStyle/>
          <a:p>
            <a:pPr>
              <a:spcAft>
                <a:spcPts val="300"/>
              </a:spcAft>
            </a:pPr>
            <a:r>
              <a:rPr sz="1800" b="1">
                <a:solidFill>
                  <a:srgbClr val="006D77"/>
                </a:solidFill>
              </a:rPr>
              <a:t>• </a:t>
            </a:r>
            <a:r>
              <a:rPr sz="1800" b="1">
                <a:solidFill>
                  <a:srgbClr val="1F2D3A"/>
                </a:solidFill>
              </a:rPr>
              <a:t>Second example (speed test):</a:t>
            </a:r>
            <a:r>
              <a:rPr sz="1800" b="0">
                <a:solidFill>
                  <a:srgbClr val="1F2D3A"/>
                </a:solidFill>
              </a:rPr>
              <a:t> "Must be fast and secure" → two separate requirements in one sentence. Run through the same six steps: </a:t>
            </a:r>
            <a:r>
              <a:rPr sz="1800" b="0">
                <a:solidFill>
                  <a:srgbClr val="A1123F"/>
                </a:solidFill>
                <a:latin typeface="Consolas"/>
              </a:rPr>
              <a:t>CEN429-ID-04</a:t>
            </a:r>
            <a:r>
              <a:rPr sz="1800" b="0">
                <a:solidFill>
                  <a:srgbClr val="1F2D3A"/>
                </a:solidFill>
              </a:rPr>
              <a:t> — "Every login attempt must be validated server-side; client-side checking alone must not be considered sufficient."</a:t>
            </a:r>
          </a:p>
          <a:p>
            <a:pPr>
              <a:spcAft>
                <a:spcPts val="300"/>
              </a:spcAft>
            </a:pPr>
            <a:r>
              <a:rPr sz="1800" b="1">
                <a:solidFill>
                  <a:srgbClr val="006D77"/>
                </a:solidFill>
              </a:rPr>
              <a:t>• </a:t>
            </a:r>
            <a:r>
              <a:rPr sz="1800" b="1">
                <a:solidFill>
                  <a:srgbClr val="1F2D3A"/>
                </a:solidFill>
              </a:rPr>
              <a:t>Third example (process):</a:t>
            </a:r>
            <a:r>
              <a:rPr sz="1800" b="0">
                <a:solidFill>
                  <a:srgbClr val="1F2D3A"/>
                </a:solidFill>
              </a:rPr>
              <a:t> "Code review must be performed." → Which change? Who reviews it? When? Good version: "Every change must be reviewed by at least one person other than the developer who wrote it, before being merged into the main branch, and the approval must be recorded in the version control system."</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13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27</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2600" b="1">
                <a:solidFill>
                  <a:srgbClr val="006D77"/>
                </a:solidFill>
              </a:rPr>
              <a:t>Section 1's Rule and the Obligation Keywords</a:t>
            </a:r>
          </a:p>
        </p:txBody>
      </p:sp>
      <p:sp>
        <p:nvSpPr>
          <p:cNvPr id="7" name="TextBox 6"/>
          <p:cNvSpPr txBox="1"/>
          <p:nvPr/>
        </p:nvSpPr>
        <p:spPr>
          <a:xfrm>
            <a:off x="640080" y="1325880"/>
            <a:ext cx="10911535" cy="2948940"/>
          </a:xfrm>
          <a:prstGeom prst="rect">
            <a:avLst/>
          </a:prstGeom>
          <a:noFill/>
        </p:spPr>
        <p:txBody>
          <a:bodyPr wrap="square" lIns="45720" rIns="45720">
            <a:spAutoFit/>
          </a:bodyPr>
          <a:lstStyle/>
          <a:p>
            <a:pPr>
              <a:spcAft>
                <a:spcPts val="300"/>
              </a:spcAft>
            </a:pPr>
            <a:r>
              <a:rPr sz="1800" b="1">
                <a:solidFill>
                  <a:srgbClr val="006D77"/>
                </a:solidFill>
              </a:rPr>
              <a:t>• </a:t>
            </a:r>
            <a:r>
              <a:rPr sz="1800" b="0">
                <a:solidFill>
                  <a:srgbClr val="1F2D3A"/>
                </a:solidFill>
              </a:rPr>
              <a:t>Write </a:t>
            </a:r>
            <a:r>
              <a:rPr sz="1800" b="1">
                <a:solidFill>
                  <a:srgbClr val="1F2D3A"/>
                </a:solidFill>
              </a:rPr>
              <a:t>what</a:t>
            </a:r>
            <a:r>
              <a:rPr sz="1800" b="0">
                <a:solidFill>
                  <a:srgbClr val="1F2D3A"/>
                </a:solidFill>
              </a:rPr>
              <a:t> is being asked for in the requirement column; write </a:t>
            </a:r>
            <a:r>
              <a:rPr sz="1800" b="1">
                <a:solidFill>
                  <a:srgbClr val="1F2D3A"/>
                </a:solidFill>
              </a:rPr>
              <a:t>how</a:t>
            </a:r>
            <a:r>
              <a:rPr sz="1800" b="0">
                <a:solidFill>
                  <a:srgbClr val="1F2D3A"/>
                </a:solidFill>
              </a:rPr>
              <a:t> you meet it in a separate control sentence.</a:t>
            </a:r>
          </a:p>
          <a:p>
            <a:pPr>
              <a:spcAft>
                <a:spcPts val="300"/>
              </a:spcAft>
            </a:pPr>
            <a:r>
              <a:rPr sz="1800" b="1">
                <a:solidFill>
                  <a:srgbClr val="006D77"/>
                </a:solidFill>
              </a:rPr>
              <a:t>• </a:t>
            </a:r>
            <a:r>
              <a:rPr sz="1800" b="1">
                <a:solidFill>
                  <a:srgbClr val="1F2D3A"/>
                </a:solidFill>
              </a:rPr>
              <a:t>Common mistake:</a:t>
            </a:r>
            <a:r>
              <a:rPr sz="1800" b="0">
                <a:solidFill>
                  <a:srgbClr val="1F2D3A"/>
                </a:solidFill>
              </a:rPr>
              <a:t> "Requirement: AES-256-GCM must be used." → this is a </a:t>
            </a:r>
            <a:r>
              <a:rPr sz="1800" b="1">
                <a:solidFill>
                  <a:srgbClr val="1F2D3A"/>
                </a:solidFill>
              </a:rPr>
              <a:t>control</a:t>
            </a:r>
            <a:r>
              <a:rPr sz="1800" b="0">
                <a:solidFill>
                  <a:srgbClr val="1F2D3A"/>
                </a:solidFill>
              </a:rPr>
              <a:t>, not a requirement; correct: "...must be protected with AEAD" (requirement) + "AES-256-GCM, S7.2" (control).</a:t>
            </a:r>
          </a:p>
          <a:p>
            <a:pPr>
              <a:spcAft>
                <a:spcPts val="300"/>
              </a:spcAft>
            </a:pPr>
            <a:r>
              <a:rPr sz="1800" b="1">
                <a:solidFill>
                  <a:srgbClr val="006D77"/>
                </a:solidFill>
              </a:rPr>
              <a:t>• </a:t>
            </a:r>
            <a:r>
              <a:rPr sz="1800" b="0">
                <a:solidFill>
                  <a:srgbClr val="1F2D3A"/>
                </a:solidFill>
              </a:rPr>
              <a:t>Write the </a:t>
            </a:r>
            <a:r>
              <a:rPr sz="1800" b="1">
                <a:solidFill>
                  <a:srgbClr val="1F2D3A"/>
                </a:solidFill>
              </a:rPr>
              <a:t>tool class</a:t>
            </a:r>
            <a:r>
              <a:rPr sz="1800" b="0">
                <a:solidFill>
                  <a:srgbClr val="1F2D3A"/>
                </a:solidFill>
              </a:rPr>
              <a:t> (AEAD, CSPRNG, TLS 1.2+) in the requirement text; put a specific library/version name in the control.</a:t>
            </a:r>
          </a:p>
          <a:p>
            <a:pPr>
              <a:spcAft>
                <a:spcPts val="300"/>
              </a:spcAft>
            </a:pPr>
            <a:r>
              <a:rPr sz="1800" b="1">
                <a:solidFill>
                  <a:srgbClr val="006D77"/>
                </a:solidFill>
              </a:rPr>
              <a:t>• </a:t>
            </a:r>
            <a:r>
              <a:rPr sz="1800" b="1">
                <a:solidFill>
                  <a:srgbClr val="1F2D3A"/>
                </a:solidFill>
              </a:rPr>
              <a:t>must (MUST):</a:t>
            </a:r>
            <a:r>
              <a:rPr sz="1800" b="0">
                <a:solidFill>
                  <a:srgbClr val="1F2D3A"/>
                </a:solidFill>
              </a:rPr>
              <a:t> mandatory, a direct finding if not met. </a:t>
            </a:r>
            <a:r>
              <a:rPr sz="1800" b="1">
                <a:solidFill>
                  <a:srgbClr val="1F2D3A"/>
                </a:solidFill>
              </a:rPr>
              <a:t>should (SHOULD):</a:t>
            </a:r>
            <a:r>
              <a:rPr sz="1800" b="0">
                <a:solidFill>
                  <a:srgbClr val="1F2D3A"/>
                </a:solidFill>
              </a:rPr>
              <a:t> strong recommendation, needs a rationale. </a:t>
            </a:r>
            <a:r>
              <a:rPr sz="1800" b="1">
                <a:solidFill>
                  <a:srgbClr val="1F2D3A"/>
                </a:solidFill>
              </a:rPr>
              <a:t>may (MAY):</a:t>
            </a:r>
            <a:r>
              <a:rPr sz="1800" b="0">
                <a:solidFill>
                  <a:srgbClr val="1F2D3A"/>
                </a:solidFill>
              </a:rPr>
              <a:t> optional, not a finding.</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13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28</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Requirement Quality Checker (animation)</a:t>
            </a:r>
          </a:p>
        </p:txBody>
      </p:sp>
      <p:pic>
        <p:nvPicPr>
          <p:cNvPr id="7" name="Picture 6" descr="requirement-quality-checker.en.gif"/>
          <p:cNvPicPr>
            <a:picLocks noChangeAspect="1"/>
          </p:cNvPicPr>
          <p:nvPr/>
        </p:nvPicPr>
        <p:blipFill>
          <a:blip r:embed="rId3"/>
          <a:stretch>
            <a:fillRect/>
          </a:stretch>
        </p:blipFill>
        <p:spPr>
          <a:xfrm>
            <a:off x="3012634" y="1325880"/>
            <a:ext cx="6166426" cy="4828032"/>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13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29</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Requirement Quality Checker — edge case: a single sentence, a single rule</a:t>
            </a:r>
          </a:p>
        </p:txBody>
      </p:sp>
      <p:pic>
        <p:nvPicPr>
          <p:cNvPr id="7" name="Picture 6" descr="requirement-quality-checker--edge-single-weak.en.gif"/>
          <p:cNvPicPr>
            <a:picLocks noChangeAspect="1"/>
          </p:cNvPicPr>
          <p:nvPr/>
        </p:nvPicPr>
        <p:blipFill>
          <a:blip r:embed="rId3"/>
          <a:stretch>
            <a:fillRect/>
          </a:stretch>
        </p:blipFill>
        <p:spPr>
          <a:xfrm>
            <a:off x="640080" y="1325880"/>
            <a:ext cx="10911535" cy="2777481"/>
          </a:xfrm>
          <a:prstGeom prst="rect">
            <a:avLst/>
          </a:prstGeom>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06D77"/>
        </a:solidFill>
        <a:effectLst/>
      </p:bgPr>
    </p:bg>
    <p:spTree>
      <p:nvGrpSpPr>
        <p:cNvPr id="1" name=""/>
        <p:cNvGrpSpPr/>
        <p:nvPr/>
      </p:nvGrpSpPr>
      <p:grpSpPr/>
      <p:sp>
        <p:nvSpPr>
          <p:cNvPr id="2" name="TextBox 1"/>
          <p:cNvSpPr txBox="1"/>
          <p:nvPr/>
        </p:nvSpPr>
        <p:spPr>
          <a:xfrm>
            <a:off x="1051560" y="182880"/>
            <a:ext cx="7315200" cy="320040"/>
          </a:xfrm>
          <a:prstGeom prst="rect">
            <a:avLst/>
          </a:prstGeom>
          <a:noFill/>
        </p:spPr>
        <p:txBody>
          <a:bodyPr wrap="square" lIns="45720" rIns="45720">
            <a:spAutoFit/>
          </a:bodyPr>
          <a:lstStyle/>
          <a:p>
            <a:r>
              <a:rPr sz="1100" b="0">
                <a:solidFill>
                  <a:srgbClr val="D8F0F2"/>
                </a:solidFill>
              </a:rPr>
              <a:t>CEN429 Secure Programming · Week 13</a:t>
            </a:r>
          </a:p>
        </p:txBody>
      </p:sp>
      <p:sp>
        <p:nvSpPr>
          <p:cNvPr id="3" name="TextBox 2"/>
          <p:cNvSpPr txBox="1"/>
          <p:nvPr/>
        </p:nvSpPr>
        <p:spPr>
          <a:xfrm>
            <a:off x="640080" y="6446520"/>
            <a:ext cx="7315200" cy="274320"/>
          </a:xfrm>
          <a:prstGeom prst="rect">
            <a:avLst/>
          </a:prstGeom>
          <a:noFill/>
        </p:spPr>
        <p:txBody>
          <a:bodyPr wrap="square" lIns="45720" rIns="45720">
            <a:spAutoFit/>
          </a:bodyPr>
          <a:lstStyle/>
          <a:p>
            <a:r>
              <a:rPr sz="1000" b="0">
                <a:solidFill>
                  <a:srgbClr val="D8F0F2"/>
                </a:solidFill>
              </a:rPr>
              <a:t>RTEU Computer Engineering · 2026-2027 Fall</a:t>
            </a:r>
          </a:p>
        </p:txBody>
      </p:sp>
      <p:sp>
        <p:nvSpPr>
          <p:cNvPr id="4" name="TextBox 3"/>
          <p:cNvSpPr txBox="1"/>
          <p:nvPr/>
        </p:nvSpPr>
        <p:spPr>
          <a:xfrm>
            <a:off x="10637215" y="6446520"/>
            <a:ext cx="914400" cy="274320"/>
          </a:xfrm>
          <a:prstGeom prst="rect">
            <a:avLst/>
          </a:prstGeom>
          <a:noFill/>
        </p:spPr>
        <p:txBody>
          <a:bodyPr wrap="square" lIns="45720" rIns="45720">
            <a:spAutoFit/>
          </a:bodyPr>
          <a:lstStyle/>
          <a:p>
            <a:pPr algn="r"/>
            <a:r>
              <a:rPr sz="1000" b="0">
                <a:solidFill>
                  <a:srgbClr val="D8F0F2"/>
                </a:solidFill>
              </a:rPr>
              <a:t>30</a:t>
            </a:r>
          </a:p>
        </p:txBody>
      </p:sp>
      <p:sp>
        <p:nvSpPr>
          <p:cNvPr id="5" name="TextBox 4"/>
          <p:cNvSpPr txBox="1"/>
          <p:nvPr/>
        </p:nvSpPr>
        <p:spPr>
          <a:xfrm>
            <a:off x="640080" y="2743200"/>
            <a:ext cx="10911535" cy="1280160"/>
          </a:xfrm>
          <a:prstGeom prst="rect">
            <a:avLst/>
          </a:prstGeom>
          <a:noFill/>
        </p:spPr>
        <p:txBody>
          <a:bodyPr wrap="square" lIns="45720" rIns="45720">
            <a:spAutoFit/>
          </a:bodyPr>
          <a:lstStyle/>
          <a:p>
            <a:pPr algn="l"/>
            <a:r>
              <a:rPr sz="4000" b="1">
                <a:solidFill>
                  <a:srgbClr val="FFFFFF"/>
                </a:solidFill>
              </a:rPr>
              <a:t>2. From Requirement to Evidence: Traceability</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13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31</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The Chain</a:t>
            </a:r>
          </a:p>
        </p:txBody>
      </p:sp>
      <p:pic>
        <p:nvPicPr>
          <p:cNvPr id="7" name="Picture 6" descr="h13-01-izlenebilirlik.png"/>
          <p:cNvPicPr>
            <a:picLocks noChangeAspect="1"/>
          </p:cNvPicPr>
          <p:nvPr/>
        </p:nvPicPr>
        <p:blipFill>
          <a:blip r:embed="rId3"/>
          <a:stretch>
            <a:fillRect/>
          </a:stretch>
        </p:blipFill>
        <p:spPr>
          <a:xfrm>
            <a:off x="3071153" y="1325880"/>
            <a:ext cx="6049389" cy="4278376"/>
          </a:xfrm>
          <a:prstGeom prst="rect">
            <a:avLst/>
          </a:prstGeom>
        </p:spPr>
      </p:pic>
      <p:sp>
        <p:nvSpPr>
          <p:cNvPr id="8" name="TextBox 7"/>
          <p:cNvSpPr txBox="1"/>
          <p:nvPr/>
        </p:nvSpPr>
        <p:spPr>
          <a:xfrm>
            <a:off x="640080" y="5713984"/>
            <a:ext cx="10911535" cy="439928"/>
          </a:xfrm>
          <a:prstGeom prst="rect">
            <a:avLst/>
          </a:prstGeom>
          <a:noFill/>
        </p:spPr>
        <p:txBody>
          <a:bodyPr wrap="square" lIns="45720" rIns="45720">
            <a:spAutoFit/>
          </a:bodyPr>
          <a:lstStyle/>
          <a:p>
            <a:pPr algn="l"/>
            <a:r>
              <a:rPr sz="2000" b="0">
                <a:solidFill>
                  <a:srgbClr val="1F2D3A"/>
                </a:solidFill>
              </a:rPr>
              <a:t>Every requirement must be linked to </a:t>
            </a:r>
            <a:r>
              <a:rPr sz="2000" b="1">
                <a:solidFill>
                  <a:srgbClr val="1F2D3A"/>
                </a:solidFill>
              </a:rPr>
              <a:t>evidence</a:t>
            </a:r>
            <a:r>
              <a:rPr sz="2000" b="0">
                <a:solidFill>
                  <a:srgbClr val="1F2D3A"/>
                </a:solidFill>
              </a:rPr>
              <a:t> through this chain.</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13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32</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2600" b="1">
                <a:solidFill>
                  <a:srgbClr val="006D77"/>
                </a:solidFill>
              </a:rPr>
              <a:t>Status and Decision Words — Summary</a:t>
            </a:r>
          </a:p>
        </p:txBody>
      </p:sp>
      <p:graphicFrame>
        <p:nvGraphicFramePr>
          <p:cNvPr id="7" name="Table 6"/>
          <p:cNvGraphicFramePr>
            <a:graphicFrameLocks noGrp="1"/>
          </p:cNvGraphicFramePr>
          <p:nvPr/>
        </p:nvGraphicFramePr>
        <p:xfrm>
          <a:off x="640080" y="1325880"/>
          <a:ext cx="10911534" cy="2617012"/>
        </p:xfrm>
        <a:graphic>
          <a:graphicData uri="http://schemas.openxmlformats.org/drawingml/2006/table">
            <a:tbl>
              <a:tblPr firstRow="1" bandRow="1">
                <a:tableStyleId>{5C22544A-7EE6-4342-B048-85BDC9FD1C3A}</a:tableStyleId>
              </a:tblPr>
              <a:tblGrid>
                <a:gridCol w="1993453"/>
                <a:gridCol w="5036093"/>
                <a:gridCol w="3881988"/>
              </a:tblGrid>
              <a:tr h="373858">
                <a:tc>
                  <a:txBody>
                    <a:bodyPr wrap="square"/>
                    <a:lstStyle/>
                    <a:p>
                      <a:r>
                        <a:rPr sz="1296" b="1">
                          <a:solidFill>
                            <a:srgbClr val="FFFFFF"/>
                          </a:solidFill>
                        </a:rPr>
                        <a:t>Word</a:t>
                      </a:r>
                    </a:p>
                  </a:txBody>
                  <a:tcPr marL="54864" marR="54864" marT="27432" marB="27432" anchor="ctr">
                    <a:solidFill>
                      <a:srgbClr val="006D77"/>
                    </a:solidFill>
                  </a:tcPr>
                </a:tc>
                <a:tc>
                  <a:txBody>
                    <a:bodyPr wrap="square"/>
                    <a:lstStyle/>
                    <a:p>
                      <a:r>
                        <a:rPr sz="1296" b="1">
                          <a:solidFill>
                            <a:srgbClr val="FFFFFF"/>
                          </a:solidFill>
                        </a:rPr>
                        <a:t>When to use it</a:t>
                      </a:r>
                    </a:p>
                  </a:txBody>
                  <a:tcPr marL="54864" marR="54864" marT="27432" marB="27432" anchor="ctr">
                    <a:solidFill>
                      <a:srgbClr val="006D77"/>
                    </a:solidFill>
                  </a:tcPr>
                </a:tc>
                <a:tc>
                  <a:txBody>
                    <a:bodyPr wrap="square"/>
                    <a:lstStyle/>
                    <a:p>
                      <a:r>
                        <a:rPr sz="1296" b="1">
                          <a:solidFill>
                            <a:srgbClr val="FFFFFF"/>
                          </a:solidFill>
                        </a:rPr>
                        <a:t>What must accompany it</a:t>
                      </a:r>
                    </a:p>
                  </a:txBody>
                  <a:tcPr marL="54864" marR="54864" marT="27432" marB="27432" anchor="ctr">
                    <a:solidFill>
                      <a:srgbClr val="006D77"/>
                    </a:solidFill>
                  </a:tcPr>
                </a:tc>
              </a:tr>
              <a:tr h="373858">
                <a:tc>
                  <a:txBody>
                    <a:bodyPr wrap="square"/>
                    <a:lstStyle/>
                    <a:p>
                      <a:r>
                        <a:rPr sz="1296" b="0">
                          <a:solidFill>
                            <a:srgbClr val="1F2D3A"/>
                          </a:solidFill>
                        </a:rPr>
                        <a:t>Met</a:t>
                      </a:r>
                    </a:p>
                  </a:txBody>
                  <a:tcPr marL="54864" marR="54864" marT="27432" marB="27432" anchor="ctr">
                    <a:solidFill>
                      <a:srgbClr val="FFFFFF"/>
                    </a:solidFill>
                  </a:tcPr>
                </a:tc>
                <a:tc>
                  <a:txBody>
                    <a:bodyPr wrap="square"/>
                    <a:lstStyle/>
                    <a:p>
                      <a:r>
                        <a:rPr sz="1296" b="0">
                          <a:solidFill>
                            <a:srgbClr val="1F2D3A"/>
                          </a:solidFill>
                        </a:rPr>
                        <a:t>The product satisfies the requirement itself</a:t>
                      </a:r>
                    </a:p>
                  </a:txBody>
                  <a:tcPr marL="54864" marR="54864" marT="27432" marB="27432" anchor="ctr">
                    <a:solidFill>
                      <a:srgbClr val="FFFFFF"/>
                    </a:solidFill>
                  </a:tcPr>
                </a:tc>
                <a:tc>
                  <a:txBody>
                    <a:bodyPr wrap="square"/>
                    <a:lstStyle/>
                    <a:p>
                      <a:r>
                        <a:rPr sz="1296" b="0">
                          <a:solidFill>
                            <a:srgbClr val="1F2D3A"/>
                          </a:solidFill>
                        </a:rPr>
                        <a:t>Control + verification + evidence</a:t>
                      </a:r>
                    </a:p>
                  </a:txBody>
                  <a:tcPr marL="54864" marR="54864" marT="27432" marB="27432" anchor="ctr">
                    <a:solidFill>
                      <a:srgbClr val="FFFFFF"/>
                    </a:solidFill>
                  </a:tcPr>
                </a:tc>
              </a:tr>
              <a:tr h="373858">
                <a:tc>
                  <a:txBody>
                    <a:bodyPr wrap="square"/>
                    <a:lstStyle/>
                    <a:p>
                      <a:r>
                        <a:rPr sz="1296" b="0">
                          <a:solidFill>
                            <a:srgbClr val="1F2D3A"/>
                          </a:solidFill>
                        </a:rPr>
                        <a:t>Deferred</a:t>
                      </a:r>
                    </a:p>
                  </a:txBody>
                  <a:tcPr marL="54864" marR="54864" marT="27432" marB="27432" anchor="ctr">
                    <a:solidFill>
                      <a:srgbClr val="EEF7F8"/>
                    </a:solidFill>
                  </a:tcPr>
                </a:tc>
                <a:tc>
                  <a:txBody>
                    <a:bodyPr wrap="square"/>
                    <a:lstStyle/>
                    <a:p>
                      <a:r>
                        <a:rPr sz="1296" b="0">
                          <a:solidFill>
                            <a:srgbClr val="1F2D3A"/>
                          </a:solidFill>
                        </a:rPr>
                        <a:t>Another party satisfies it</a:t>
                      </a:r>
                    </a:p>
                  </a:txBody>
                  <a:tcPr marL="54864" marR="54864" marT="27432" marB="27432" anchor="ctr">
                    <a:solidFill>
                      <a:srgbClr val="EEF7F8"/>
                    </a:solidFill>
                  </a:tcPr>
                </a:tc>
                <a:tc>
                  <a:txBody>
                    <a:bodyPr wrap="square"/>
                    <a:lstStyle/>
                    <a:p>
                      <a:r>
                        <a:rPr sz="1296" b="0">
                          <a:solidFill>
                            <a:srgbClr val="1F2D3A"/>
                          </a:solidFill>
                        </a:rPr>
                        <a:t>To whom + why + how</a:t>
                      </a:r>
                    </a:p>
                  </a:txBody>
                  <a:tcPr marL="54864" marR="54864" marT="27432" marB="27432" anchor="ctr">
                    <a:solidFill>
                      <a:srgbClr val="EEF7F8"/>
                    </a:solidFill>
                  </a:tcPr>
                </a:tc>
              </a:tr>
              <a:tr h="373858">
                <a:tc>
                  <a:txBody>
                    <a:bodyPr wrap="square"/>
                    <a:lstStyle/>
                    <a:p>
                      <a:r>
                        <a:rPr sz="1296" b="0">
                          <a:solidFill>
                            <a:srgbClr val="1F2D3A"/>
                          </a:solidFill>
                        </a:rPr>
                        <a:t>Not met</a:t>
                      </a:r>
                    </a:p>
                  </a:txBody>
                  <a:tcPr marL="54864" marR="54864" marT="27432" marB="27432" anchor="ctr">
                    <a:solidFill>
                      <a:srgbClr val="FFFFFF"/>
                    </a:solidFill>
                  </a:tcPr>
                </a:tc>
                <a:tc>
                  <a:txBody>
                    <a:bodyPr wrap="square"/>
                    <a:lstStyle/>
                    <a:p>
                      <a:r>
                        <a:rPr sz="1296" b="0">
                          <a:solidFill>
                            <a:srgbClr val="1F2D3A"/>
                          </a:solidFill>
                        </a:rPr>
                        <a:t>Applies but not yet satisfied</a:t>
                      </a:r>
                    </a:p>
                  </a:txBody>
                  <a:tcPr marL="54864" marR="54864" marT="27432" marB="27432" anchor="ctr">
                    <a:solidFill>
                      <a:srgbClr val="FFFFFF"/>
                    </a:solidFill>
                  </a:tcPr>
                </a:tc>
                <a:tc>
                  <a:txBody>
                    <a:bodyPr wrap="square"/>
                    <a:lstStyle/>
                    <a:p>
                      <a:r>
                        <a:rPr sz="1296" b="0">
                          <a:solidFill>
                            <a:srgbClr val="1F2D3A"/>
                          </a:solidFill>
                        </a:rPr>
                        <a:t>Residual risk + planned fix</a:t>
                      </a:r>
                    </a:p>
                  </a:txBody>
                  <a:tcPr marL="54864" marR="54864" marT="27432" marB="27432" anchor="ctr">
                    <a:solidFill>
                      <a:srgbClr val="FFFFFF"/>
                    </a:solidFill>
                  </a:tcPr>
                </a:tc>
              </a:tr>
              <a:tr h="373858">
                <a:tc>
                  <a:txBody>
                    <a:bodyPr wrap="square"/>
                    <a:lstStyle/>
                    <a:p>
                      <a:r>
                        <a:rPr sz="1296" b="0">
                          <a:solidFill>
                            <a:srgbClr val="1F2D3A"/>
                          </a:solidFill>
                        </a:rPr>
                        <a:t>Not applicable</a:t>
                      </a:r>
                    </a:p>
                  </a:txBody>
                  <a:tcPr marL="54864" marR="54864" marT="27432" marB="27432" anchor="ctr">
                    <a:solidFill>
                      <a:srgbClr val="EEF7F8"/>
                    </a:solidFill>
                  </a:tcPr>
                </a:tc>
                <a:tc>
                  <a:txBody>
                    <a:bodyPr wrap="square"/>
                    <a:lstStyle/>
                    <a:p>
                      <a:r>
                        <a:rPr sz="1296" b="0">
                          <a:solidFill>
                            <a:srgbClr val="1F2D3A"/>
                          </a:solidFill>
                        </a:rPr>
                        <a:t>Does not apply to the product at all</a:t>
                      </a:r>
                    </a:p>
                  </a:txBody>
                  <a:tcPr marL="54864" marR="54864" marT="27432" marB="27432" anchor="ctr">
                    <a:solidFill>
                      <a:srgbClr val="EEF7F8"/>
                    </a:solidFill>
                  </a:tcPr>
                </a:tc>
                <a:tc>
                  <a:txBody>
                    <a:bodyPr wrap="square"/>
                    <a:lstStyle/>
                    <a:p>
                      <a:r>
                        <a:rPr sz="1296" b="0">
                          <a:solidFill>
                            <a:srgbClr val="1F2D3A"/>
                          </a:solidFill>
                        </a:rPr>
                        <a:t>Rationale</a:t>
                      </a:r>
                    </a:p>
                  </a:txBody>
                  <a:tcPr marL="54864" marR="54864" marT="27432" marB="27432" anchor="ctr">
                    <a:solidFill>
                      <a:srgbClr val="EEF7F8"/>
                    </a:solidFill>
                  </a:tcPr>
                </a:tc>
              </a:tr>
              <a:tr h="373858">
                <a:tc>
                  <a:txBody>
                    <a:bodyPr wrap="square"/>
                    <a:lstStyle/>
                    <a:p>
                      <a:r>
                        <a:rPr sz="1296" b="0">
                          <a:solidFill>
                            <a:srgbClr val="1F2D3A"/>
                          </a:solidFill>
                        </a:rPr>
                        <a:t>must (MUST)</a:t>
                      </a:r>
                    </a:p>
                  </a:txBody>
                  <a:tcPr marL="54864" marR="54864" marT="27432" marB="27432" anchor="ctr">
                    <a:solidFill>
                      <a:srgbClr val="FFFFFF"/>
                    </a:solidFill>
                  </a:tcPr>
                </a:tc>
                <a:tc>
                  <a:txBody>
                    <a:bodyPr wrap="square"/>
                    <a:lstStyle/>
                    <a:p>
                      <a:r>
                        <a:rPr sz="1296" b="0">
                          <a:solidFill>
                            <a:srgbClr val="1F2D3A"/>
                          </a:solidFill>
                        </a:rPr>
                        <a:t>Mandatory</a:t>
                      </a:r>
                    </a:p>
                  </a:txBody>
                  <a:tcPr marL="54864" marR="54864" marT="27432" marB="27432" anchor="ctr">
                    <a:solidFill>
                      <a:srgbClr val="FFFFFF"/>
                    </a:solidFill>
                  </a:tcPr>
                </a:tc>
                <a:tc>
                  <a:txBody>
                    <a:bodyPr wrap="square"/>
                    <a:lstStyle/>
                    <a:p>
                      <a:r>
                        <a:rPr sz="1296" b="0">
                          <a:solidFill>
                            <a:srgbClr val="1F2D3A"/>
                          </a:solidFill>
                        </a:rPr>
                        <a:t>A direct finding if not met</a:t>
                      </a:r>
                    </a:p>
                  </a:txBody>
                  <a:tcPr marL="54864" marR="54864" marT="27432" marB="27432" anchor="ctr">
                    <a:solidFill>
                      <a:srgbClr val="FFFFFF"/>
                    </a:solidFill>
                  </a:tcPr>
                </a:tc>
              </a:tr>
              <a:tr h="373864">
                <a:tc>
                  <a:txBody>
                    <a:bodyPr wrap="square"/>
                    <a:lstStyle/>
                    <a:p>
                      <a:r>
                        <a:rPr sz="1296" b="0">
                          <a:solidFill>
                            <a:srgbClr val="1F2D3A"/>
                          </a:solidFill>
                        </a:rPr>
                        <a:t>should (SHOULD)</a:t>
                      </a:r>
                    </a:p>
                  </a:txBody>
                  <a:tcPr marL="54864" marR="54864" marT="27432" marB="27432" anchor="ctr">
                    <a:solidFill>
                      <a:srgbClr val="EEF7F8"/>
                    </a:solidFill>
                  </a:tcPr>
                </a:tc>
                <a:tc>
                  <a:txBody>
                    <a:bodyPr wrap="square"/>
                    <a:lstStyle/>
                    <a:p>
                      <a:r>
                        <a:rPr sz="1296" b="0">
                          <a:solidFill>
                            <a:srgbClr val="1F2D3A"/>
                          </a:solidFill>
                        </a:rPr>
                        <a:t>Strong recommendation</a:t>
                      </a:r>
                    </a:p>
                  </a:txBody>
                  <a:tcPr marL="54864" marR="54864" marT="27432" marB="27432" anchor="ctr">
                    <a:solidFill>
                      <a:srgbClr val="EEF7F8"/>
                    </a:solidFill>
                  </a:tcPr>
                </a:tc>
                <a:tc>
                  <a:txBody>
                    <a:bodyPr wrap="square"/>
                    <a:lstStyle/>
                    <a:p>
                      <a:r>
                        <a:rPr sz="1296" b="0">
                          <a:solidFill>
                            <a:srgbClr val="1F2D3A"/>
                          </a:solidFill>
                        </a:rPr>
                        <a:t>A written rationale if not met</a:t>
                      </a:r>
                    </a:p>
                  </a:txBody>
                  <a:tcPr marL="54864" marR="54864" marT="27432" marB="27432" anchor="ctr">
                    <a:solidFill>
                      <a:srgbClr val="EEF7F8"/>
                    </a:solidFill>
                  </a:tcPr>
                </a:tc>
              </a:tr>
            </a:tbl>
          </a:graphicData>
        </a:graphic>
      </p:graphicFrame>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13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33</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Why Is Traceability Important?</a:t>
            </a:r>
          </a:p>
        </p:txBody>
      </p:sp>
      <p:sp>
        <p:nvSpPr>
          <p:cNvPr id="7" name="TextBox 6"/>
          <p:cNvSpPr txBox="1"/>
          <p:nvPr/>
        </p:nvSpPr>
        <p:spPr>
          <a:xfrm>
            <a:off x="640080" y="1325880"/>
            <a:ext cx="10911535" cy="1219200"/>
          </a:xfrm>
          <a:prstGeom prst="rect">
            <a:avLst/>
          </a:prstGeom>
          <a:noFill/>
        </p:spPr>
        <p:txBody>
          <a:bodyPr wrap="square" lIns="45720" rIns="45720">
            <a:spAutoFit/>
          </a:bodyPr>
          <a:lstStyle/>
          <a:p>
            <a:pPr>
              <a:spcAft>
                <a:spcPts val="300"/>
              </a:spcAft>
            </a:pPr>
            <a:r>
              <a:rPr sz="2000" b="1">
                <a:solidFill>
                  <a:srgbClr val="006D77"/>
                </a:solidFill>
              </a:rPr>
              <a:t>• </a:t>
            </a:r>
            <a:r>
              <a:rPr sz="2000" b="0">
                <a:solidFill>
                  <a:srgbClr val="1F2D3A"/>
                </a:solidFill>
              </a:rPr>
              <a:t>The evaluator asks "where is this requirement?"</a:t>
            </a:r>
          </a:p>
          <a:p>
            <a:pPr>
              <a:spcAft>
                <a:spcPts val="300"/>
              </a:spcAft>
            </a:pPr>
            <a:r>
              <a:rPr sz="2000" b="1">
                <a:solidFill>
                  <a:srgbClr val="006D77"/>
                </a:solidFill>
              </a:rPr>
              <a:t>• </a:t>
            </a:r>
            <a:r>
              <a:rPr sz="2000" b="0">
                <a:solidFill>
                  <a:srgbClr val="1F2D3A"/>
                </a:solidFill>
              </a:rPr>
              <a:t>Without traceability: searching everything from scratch.</a:t>
            </a:r>
          </a:p>
          <a:p>
            <a:pPr>
              <a:spcAft>
                <a:spcPts val="300"/>
              </a:spcAft>
            </a:pPr>
            <a:r>
              <a:rPr sz="2000" b="1">
                <a:solidFill>
                  <a:srgbClr val="006D77"/>
                </a:solidFill>
              </a:rPr>
              <a:t>• </a:t>
            </a:r>
            <a:r>
              <a:rPr sz="2000" b="0">
                <a:solidFill>
                  <a:srgbClr val="1F2D3A"/>
                </a:solidFill>
              </a:rPr>
              <a:t>With it: found directly from the matrix.</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13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34</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A Traceability Example</a:t>
            </a:r>
          </a:p>
        </p:txBody>
      </p:sp>
      <p:graphicFrame>
        <p:nvGraphicFramePr>
          <p:cNvPr id="7" name="Table 6"/>
          <p:cNvGraphicFramePr>
            <a:graphicFrameLocks noGrp="1"/>
          </p:cNvGraphicFramePr>
          <p:nvPr/>
        </p:nvGraphicFramePr>
        <p:xfrm>
          <a:off x="640080" y="1325880"/>
          <a:ext cx="10911533" cy="1179576"/>
        </p:xfrm>
        <a:graphic>
          <a:graphicData uri="http://schemas.openxmlformats.org/drawingml/2006/table">
            <a:tbl>
              <a:tblPr firstRow="1" bandRow="1">
                <a:tableStyleId>{5C22544A-7EE6-4342-B048-85BDC9FD1C3A}</a:tableStyleId>
              </a:tblPr>
              <a:tblGrid>
                <a:gridCol w="3585218"/>
                <a:gridCol w="1714669"/>
                <a:gridCol w="2494065"/>
                <a:gridCol w="3117581"/>
              </a:tblGrid>
              <a:tr h="393192">
                <a:tc>
                  <a:txBody>
                    <a:bodyPr wrap="square"/>
                    <a:lstStyle/>
                    <a:p>
                      <a:r>
                        <a:rPr sz="1439" b="1">
                          <a:solidFill>
                            <a:srgbClr val="FFFFFF"/>
                          </a:solidFill>
                        </a:rPr>
                        <a:t>Requirement</a:t>
                      </a:r>
                    </a:p>
                  </a:txBody>
                  <a:tcPr marL="54864" marR="54864" marT="27432" marB="27432" anchor="ctr">
                    <a:solidFill>
                      <a:srgbClr val="006D77"/>
                    </a:solidFill>
                  </a:tcPr>
                </a:tc>
                <a:tc>
                  <a:txBody>
                    <a:bodyPr wrap="square"/>
                    <a:lstStyle/>
                    <a:p>
                      <a:r>
                        <a:rPr sz="1439" b="1">
                          <a:solidFill>
                            <a:srgbClr val="FFFFFF"/>
                          </a:solidFill>
                        </a:rPr>
                        <a:t>Control</a:t>
                      </a:r>
                    </a:p>
                  </a:txBody>
                  <a:tcPr marL="54864" marR="54864" marT="27432" marB="27432" anchor="ctr">
                    <a:solidFill>
                      <a:srgbClr val="006D77"/>
                    </a:solidFill>
                  </a:tcPr>
                </a:tc>
                <a:tc>
                  <a:txBody>
                    <a:bodyPr wrap="square"/>
                    <a:lstStyle/>
                    <a:p>
                      <a:r>
                        <a:rPr sz="1439" b="1">
                          <a:solidFill>
                            <a:srgbClr val="FFFFFF"/>
                          </a:solidFill>
                        </a:rPr>
                        <a:t>Verification</a:t>
                      </a:r>
                    </a:p>
                  </a:txBody>
                  <a:tcPr marL="54864" marR="54864" marT="27432" marB="27432" anchor="ctr">
                    <a:solidFill>
                      <a:srgbClr val="006D77"/>
                    </a:solidFill>
                  </a:tcPr>
                </a:tc>
                <a:tc>
                  <a:txBody>
                    <a:bodyPr wrap="square"/>
                    <a:lstStyle/>
                    <a:p>
                      <a:r>
                        <a:rPr sz="1439" b="1">
                          <a:solidFill>
                            <a:srgbClr val="FFFFFF"/>
                          </a:solidFill>
                        </a:rPr>
                        <a:t>Evidence</a:t>
                      </a:r>
                    </a:p>
                  </a:txBody>
                  <a:tcPr marL="54864" marR="54864" marT="27432" marB="27432" anchor="ctr">
                    <a:solidFill>
                      <a:srgbClr val="006D77"/>
                    </a:solidFill>
                  </a:tcPr>
                </a:tc>
              </a:tr>
              <a:tr h="393192">
                <a:tc>
                  <a:txBody>
                    <a:bodyPr wrap="square"/>
                    <a:lstStyle/>
                    <a:p>
                      <a:r>
                        <a:rPr sz="1439" b="0">
                          <a:solidFill>
                            <a:srgbClr val="1F2D3A"/>
                          </a:solidFill>
                        </a:rPr>
                        <a:t>Data with AEAD</a:t>
                      </a:r>
                    </a:p>
                  </a:txBody>
                  <a:tcPr marL="54864" marR="54864" marT="27432" marB="27432" anchor="ctr">
                    <a:solidFill>
                      <a:srgbClr val="FFFFFF"/>
                    </a:solidFill>
                  </a:tcPr>
                </a:tc>
                <a:tc>
                  <a:txBody>
                    <a:bodyPr wrap="square"/>
                    <a:lstStyle/>
                    <a:p>
                      <a:r>
                        <a:rPr sz="1439" b="0">
                          <a:solidFill>
                            <a:srgbClr val="1F2D3A"/>
                          </a:solidFill>
                        </a:rPr>
                        <a:t>AES-GCM</a:t>
                      </a:r>
                    </a:p>
                  </a:txBody>
                  <a:tcPr marL="54864" marR="54864" marT="27432" marB="27432" anchor="ctr">
                    <a:solidFill>
                      <a:srgbClr val="FFFFFF"/>
                    </a:solidFill>
                  </a:tcPr>
                </a:tc>
                <a:tc>
                  <a:txBody>
                    <a:bodyPr wrap="square"/>
                    <a:lstStyle/>
                    <a:p>
                      <a:r>
                        <a:rPr sz="1439" b="0">
                          <a:solidFill>
                            <a:srgbClr val="1F2D3A"/>
                          </a:solidFill>
                        </a:rPr>
                        <a:t>Unit test</a:t>
                      </a:r>
                    </a:p>
                  </a:txBody>
                  <a:tcPr marL="54864" marR="54864" marT="27432" marB="27432" anchor="ctr">
                    <a:solidFill>
                      <a:srgbClr val="FFFFFF"/>
                    </a:solidFill>
                  </a:tcPr>
                </a:tc>
                <a:tc>
                  <a:txBody>
                    <a:bodyPr wrap="square"/>
                    <a:lstStyle/>
                    <a:p>
                      <a:r>
                        <a:rPr sz="1439" b="0">
                          <a:solidFill>
                            <a:srgbClr val="1F2D3A"/>
                          </a:solidFill>
                        </a:rPr>
                        <a:t>Test output</a:t>
                      </a:r>
                    </a:p>
                  </a:txBody>
                  <a:tcPr marL="54864" marR="54864" marT="27432" marB="27432" anchor="ctr">
                    <a:solidFill>
                      <a:srgbClr val="FFFFFF"/>
                    </a:solidFill>
                  </a:tcPr>
                </a:tc>
              </a:tr>
              <a:tr h="393192">
                <a:tc>
                  <a:txBody>
                    <a:bodyPr wrap="square"/>
                    <a:lstStyle/>
                    <a:p>
                      <a:r>
                        <a:rPr sz="1439" b="0">
                          <a:solidFill>
                            <a:srgbClr val="1F2D3A"/>
                          </a:solidFill>
                        </a:rPr>
                        <a:t>Release protections</a:t>
                      </a:r>
                    </a:p>
                  </a:txBody>
                  <a:tcPr marL="54864" marR="54864" marT="27432" marB="27432" anchor="ctr">
                    <a:solidFill>
                      <a:srgbClr val="EEF7F8"/>
                    </a:solidFill>
                  </a:tcPr>
                </a:tc>
                <a:tc>
                  <a:txBody>
                    <a:bodyPr wrap="square"/>
                    <a:lstStyle/>
                    <a:p>
                      <a:r>
                        <a:rPr sz="1439" b="0">
                          <a:solidFill>
                            <a:srgbClr val="1F2D3A"/>
                          </a:solidFill>
                        </a:rPr>
                        <a:t>Flags</a:t>
                      </a:r>
                    </a:p>
                  </a:txBody>
                  <a:tcPr marL="54864" marR="54864" marT="27432" marB="27432" anchor="ctr">
                    <a:solidFill>
                      <a:srgbClr val="EEF7F8"/>
                    </a:solidFill>
                  </a:tcPr>
                </a:tc>
                <a:tc>
                  <a:txBody>
                    <a:bodyPr wrap="square"/>
                    <a:lstStyle/>
                    <a:p>
                      <a:r>
                        <a:rPr sz="1439" b="0">
                          <a:solidFill>
                            <a:srgbClr val="1F2D3A"/>
                          </a:solidFill>
                        </a:rPr>
                        <a:t>checksec</a:t>
                      </a:r>
                    </a:p>
                  </a:txBody>
                  <a:tcPr marL="54864" marR="54864" marT="27432" marB="27432" anchor="ctr">
                    <a:solidFill>
                      <a:srgbClr val="EEF7F8"/>
                    </a:solidFill>
                  </a:tcPr>
                </a:tc>
                <a:tc>
                  <a:txBody>
                    <a:bodyPr wrap="square"/>
                    <a:lstStyle/>
                    <a:p>
                      <a:r>
                        <a:rPr sz="1439" b="0">
                          <a:solidFill>
                            <a:srgbClr val="1F2D3A"/>
                          </a:solidFill>
                        </a:rPr>
                        <a:t>Protection table</a:t>
                      </a:r>
                    </a:p>
                  </a:txBody>
                  <a:tcPr marL="54864" marR="54864" marT="27432" marB="27432" anchor="ctr">
                    <a:solidFill>
                      <a:srgbClr val="EEF7F8"/>
                    </a:solidFill>
                  </a:tcPr>
                </a:tc>
              </a:tr>
            </a:tbl>
          </a:graphicData>
        </a:graphic>
      </p:graphicFrame>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13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35</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Two Directions</a:t>
            </a:r>
          </a:p>
        </p:txBody>
      </p:sp>
      <p:sp>
        <p:nvSpPr>
          <p:cNvPr id="7" name="TextBox 6"/>
          <p:cNvSpPr txBox="1"/>
          <p:nvPr/>
        </p:nvSpPr>
        <p:spPr>
          <a:xfrm>
            <a:off x="640080" y="1325880"/>
            <a:ext cx="10911535" cy="1219200"/>
          </a:xfrm>
          <a:prstGeom prst="rect">
            <a:avLst/>
          </a:prstGeom>
          <a:noFill/>
        </p:spPr>
        <p:txBody>
          <a:bodyPr wrap="square" lIns="45720" rIns="45720">
            <a:spAutoFit/>
          </a:bodyPr>
          <a:lstStyle/>
          <a:p>
            <a:pPr>
              <a:spcAft>
                <a:spcPts val="300"/>
              </a:spcAft>
            </a:pPr>
            <a:r>
              <a:rPr sz="2000" b="1">
                <a:solidFill>
                  <a:srgbClr val="006D77"/>
                </a:solidFill>
              </a:rPr>
              <a:t>• </a:t>
            </a:r>
            <a:r>
              <a:rPr sz="2000" b="1">
                <a:solidFill>
                  <a:srgbClr val="1F2D3A"/>
                </a:solidFill>
              </a:rPr>
              <a:t>Forward:</a:t>
            </a:r>
            <a:r>
              <a:rPr sz="2000" b="0">
                <a:solidFill>
                  <a:srgbClr val="1F2D3A"/>
                </a:solidFill>
              </a:rPr>
              <a:t> requirement → where was it met?</a:t>
            </a:r>
          </a:p>
          <a:p>
            <a:pPr>
              <a:spcAft>
                <a:spcPts val="300"/>
              </a:spcAft>
            </a:pPr>
            <a:r>
              <a:rPr sz="2000" b="1">
                <a:solidFill>
                  <a:srgbClr val="006D77"/>
                </a:solidFill>
              </a:rPr>
              <a:t>• </a:t>
            </a:r>
            <a:r>
              <a:rPr sz="2000" b="1">
                <a:solidFill>
                  <a:srgbClr val="1F2D3A"/>
                </a:solidFill>
              </a:rPr>
              <a:t>Backward:</a:t>
            </a:r>
            <a:r>
              <a:rPr sz="2000" b="0">
                <a:solidFill>
                  <a:srgbClr val="1F2D3A"/>
                </a:solidFill>
              </a:rPr>
              <a:t> this code/test → which requirement does it meet?</a:t>
            </a:r>
          </a:p>
          <a:p>
            <a:pPr>
              <a:spcAft>
                <a:spcPts val="300"/>
              </a:spcAft>
            </a:pPr>
            <a:r>
              <a:rPr sz="2000" b="1">
                <a:solidFill>
                  <a:srgbClr val="006D77"/>
                </a:solidFill>
              </a:rPr>
              <a:t>• </a:t>
            </a:r>
            <a:r>
              <a:rPr sz="2000" b="0">
                <a:solidFill>
                  <a:srgbClr val="1F2D3A"/>
                </a:solidFill>
              </a:rPr>
              <a:t>A good matrix is traceable in </a:t>
            </a:r>
            <a:r>
              <a:rPr sz="2000" b="1">
                <a:solidFill>
                  <a:srgbClr val="1F2D3A"/>
                </a:solidFill>
              </a:rPr>
              <a:t>both directions</a:t>
            </a:r>
            <a:r>
              <a:rPr sz="2000" b="0">
                <a:solidFill>
                  <a:srgbClr val="1F2D3A"/>
                </a:solidFill>
              </a:rPr>
              <a:t>.</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13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36</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 A "Met" With No Evidence</a:t>
            </a:r>
          </a:p>
        </p:txBody>
      </p:sp>
      <p:sp>
        <p:nvSpPr>
          <p:cNvPr id="7" name="TextBox 6"/>
          <p:cNvSpPr txBox="1"/>
          <p:nvPr/>
        </p:nvSpPr>
        <p:spPr>
          <a:xfrm>
            <a:off x="640080" y="1325880"/>
            <a:ext cx="10911535" cy="1219200"/>
          </a:xfrm>
          <a:prstGeom prst="rect">
            <a:avLst/>
          </a:prstGeom>
          <a:noFill/>
        </p:spPr>
        <p:txBody>
          <a:bodyPr wrap="square" lIns="45720" rIns="45720">
            <a:spAutoFit/>
          </a:bodyPr>
          <a:lstStyle/>
          <a:p>
            <a:pPr>
              <a:spcAft>
                <a:spcPts val="300"/>
              </a:spcAft>
            </a:pPr>
            <a:r>
              <a:rPr sz="2000" b="1">
                <a:solidFill>
                  <a:srgbClr val="006D77"/>
                </a:solidFill>
              </a:rPr>
              <a:t>• </a:t>
            </a:r>
            <a:r>
              <a:rPr sz="2000" b="0">
                <a:solidFill>
                  <a:srgbClr val="1F2D3A"/>
                </a:solidFill>
              </a:rPr>
              <a:t>If the matrix says "met" but there is no evidence...</a:t>
            </a:r>
          </a:p>
          <a:p>
            <a:pPr>
              <a:spcAft>
                <a:spcPts val="300"/>
              </a:spcAft>
            </a:pPr>
            <a:r>
              <a:rPr sz="2000" b="1">
                <a:solidFill>
                  <a:srgbClr val="006D77"/>
                </a:solidFill>
              </a:rPr>
              <a:t>• </a:t>
            </a:r>
            <a:r>
              <a:rPr sz="2000" b="0">
                <a:solidFill>
                  <a:srgbClr val="1F2D3A"/>
                </a:solidFill>
              </a:rPr>
              <a:t>In the evaluator's eyes it counts as </a:t>
            </a:r>
            <a:r>
              <a:rPr sz="2000" b="1">
                <a:solidFill>
                  <a:srgbClr val="1F2D3A"/>
                </a:solidFill>
              </a:rPr>
              <a:t>not met</a:t>
            </a:r>
            <a:r>
              <a:rPr sz="2000" b="0">
                <a:solidFill>
                  <a:srgbClr val="1F2D3A"/>
                </a:solidFill>
              </a:rPr>
              <a:t>.</a:t>
            </a:r>
          </a:p>
          <a:p>
            <a:pPr>
              <a:spcAft>
                <a:spcPts val="300"/>
              </a:spcAft>
            </a:pPr>
            <a:r>
              <a:rPr sz="2000" b="1">
                <a:solidFill>
                  <a:srgbClr val="006D77"/>
                </a:solidFill>
              </a:rPr>
              <a:t>• </a:t>
            </a:r>
            <a:r>
              <a:rPr sz="2000" b="0">
                <a:solidFill>
                  <a:srgbClr val="1F2D3A"/>
                </a:solidFill>
              </a:rPr>
              <a:t>It becomes one of the first findings.</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13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37</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Worked Example · An End-to-End Chain</a:t>
            </a:r>
          </a:p>
        </p:txBody>
      </p:sp>
      <p:sp>
        <p:nvSpPr>
          <p:cNvPr id="7" name="TextBox 6"/>
          <p:cNvSpPr txBox="1"/>
          <p:nvPr/>
        </p:nvSpPr>
        <p:spPr>
          <a:xfrm>
            <a:off x="640080" y="1325880"/>
            <a:ext cx="10911535" cy="770128"/>
          </a:xfrm>
          <a:prstGeom prst="rect">
            <a:avLst/>
          </a:prstGeom>
          <a:noFill/>
        </p:spPr>
        <p:txBody>
          <a:bodyPr wrap="square" lIns="45720" rIns="45720">
            <a:spAutoFit/>
          </a:bodyPr>
          <a:lstStyle/>
          <a:p>
            <a:pPr algn="l"/>
            <a:r>
              <a:rPr sz="2000" b="0">
                <a:solidFill>
                  <a:srgbClr val="1F2D3A"/>
                </a:solidFill>
              </a:rPr>
              <a:t>Let's fill in how the chain is built, start to finish, through a single asset: the user's </a:t>
            </a:r>
            <a:r>
              <a:rPr sz="2000" b="1">
                <a:solidFill>
                  <a:srgbClr val="1F2D3A"/>
                </a:solidFill>
              </a:rPr>
              <a:t>session token</a:t>
            </a:r>
            <a:r>
              <a:rPr sz="2000" b="0">
                <a:solidFill>
                  <a:srgbClr val="1F2D3A"/>
                </a:solidFill>
              </a:rPr>
              <a:t>.</a:t>
            </a:r>
          </a:p>
        </p:txBody>
      </p:sp>
      <p:sp>
        <p:nvSpPr>
          <p:cNvPr id="8" name="TextBox 7"/>
          <p:cNvSpPr txBox="1"/>
          <p:nvPr/>
        </p:nvSpPr>
        <p:spPr>
          <a:xfrm>
            <a:off x="640080" y="2205736"/>
            <a:ext cx="10911535" cy="439928"/>
          </a:xfrm>
          <a:prstGeom prst="rect">
            <a:avLst/>
          </a:prstGeom>
          <a:noFill/>
        </p:spPr>
        <p:txBody>
          <a:bodyPr wrap="square" lIns="45720" rIns="45720">
            <a:spAutoFit/>
          </a:bodyPr>
          <a:lstStyle/>
          <a:p>
            <a:pPr algn="l"/>
            <a:r>
              <a:rPr sz="2000" b="0">
                <a:solidFill>
                  <a:srgbClr val="1F2D3A"/>
                </a:solidFill>
              </a:rPr>
              <a:t>Six links: asset → threat → requirement → control → verification → evidence.</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13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38</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1. Asset</a:t>
            </a:r>
          </a:p>
        </p:txBody>
      </p:sp>
      <p:graphicFrame>
        <p:nvGraphicFramePr>
          <p:cNvPr id="7" name="Table 6"/>
          <p:cNvGraphicFramePr>
            <a:graphicFrameLocks noGrp="1"/>
          </p:cNvGraphicFramePr>
          <p:nvPr/>
        </p:nvGraphicFramePr>
        <p:xfrm>
          <a:off x="640080" y="1325880"/>
          <a:ext cx="10911534" cy="2350008"/>
        </p:xfrm>
        <a:graphic>
          <a:graphicData uri="http://schemas.openxmlformats.org/drawingml/2006/table">
            <a:tbl>
              <a:tblPr firstRow="1" bandRow="1">
                <a:tableStyleId>{5C22544A-7EE6-4342-B048-85BDC9FD1C3A}</a:tableStyleId>
              </a:tblPr>
              <a:tblGrid>
                <a:gridCol w="1558790"/>
                <a:gridCol w="9352744"/>
              </a:tblGrid>
              <a:tr h="470001">
                <a:tc>
                  <a:txBody>
                    <a:bodyPr wrap="square"/>
                    <a:lstStyle/>
                    <a:p>
                      <a:r>
                        <a:rPr sz="1439" b="1">
                          <a:solidFill>
                            <a:srgbClr val="FFFFFF"/>
                          </a:solidFill>
                        </a:rPr>
                        <a:t>Field</a:t>
                      </a:r>
                    </a:p>
                  </a:txBody>
                  <a:tcPr marL="54864" marR="54864" marT="27432" marB="27432" anchor="ctr">
                    <a:solidFill>
                      <a:srgbClr val="006D77"/>
                    </a:solidFill>
                  </a:tcPr>
                </a:tc>
                <a:tc>
                  <a:txBody>
                    <a:bodyPr wrap="square"/>
                    <a:lstStyle/>
                    <a:p>
                      <a:r>
                        <a:rPr sz="1439" b="1">
                          <a:solidFill>
                            <a:srgbClr val="FFFFFF"/>
                          </a:solidFill>
                        </a:rPr>
                        <a:t>Value</a:t>
                      </a:r>
                    </a:p>
                  </a:txBody>
                  <a:tcPr marL="54864" marR="54864" marT="27432" marB="27432" anchor="ctr">
                    <a:solidFill>
                      <a:srgbClr val="006D77"/>
                    </a:solidFill>
                  </a:tcPr>
                </a:tc>
              </a:tr>
              <a:tr h="470001">
                <a:tc>
                  <a:txBody>
                    <a:bodyPr wrap="square"/>
                    <a:lstStyle/>
                    <a:p>
                      <a:r>
                        <a:rPr sz="1439" b="0">
                          <a:solidFill>
                            <a:srgbClr val="1F2D3A"/>
                          </a:solidFill>
                        </a:rPr>
                        <a:t>Asset</a:t>
                      </a:r>
                    </a:p>
                  </a:txBody>
                  <a:tcPr marL="54864" marR="54864" marT="27432" marB="27432" anchor="ctr">
                    <a:solidFill>
                      <a:srgbClr val="FFFFFF"/>
                    </a:solidFill>
                  </a:tcPr>
                </a:tc>
                <a:tc>
                  <a:txBody>
                    <a:bodyPr wrap="square"/>
                    <a:lstStyle/>
                    <a:p>
                      <a:r>
                        <a:rPr sz="1439" b="0">
                          <a:solidFill>
                            <a:srgbClr val="1F2D3A"/>
                          </a:solidFill>
                        </a:rPr>
                        <a:t>The user's session token</a:t>
                      </a:r>
                    </a:p>
                  </a:txBody>
                  <a:tcPr marL="54864" marR="54864" marT="27432" marB="27432" anchor="ctr">
                    <a:solidFill>
                      <a:srgbClr val="FFFFFF"/>
                    </a:solidFill>
                  </a:tcPr>
                </a:tc>
              </a:tr>
              <a:tr h="470001">
                <a:tc>
                  <a:txBody>
                    <a:bodyPr wrap="square"/>
                    <a:lstStyle/>
                    <a:p>
                      <a:r>
                        <a:rPr sz="1439" b="0">
                          <a:solidFill>
                            <a:srgbClr val="1F2D3A"/>
                          </a:solidFill>
                        </a:rPr>
                        <a:t>Location</a:t>
                      </a:r>
                    </a:p>
                  </a:txBody>
                  <a:tcPr marL="54864" marR="54864" marT="27432" marB="27432" anchor="ctr">
                    <a:solidFill>
                      <a:srgbClr val="EEF7F8"/>
                    </a:solidFill>
                  </a:tcPr>
                </a:tc>
                <a:tc>
                  <a:txBody>
                    <a:bodyPr wrap="square"/>
                    <a:lstStyle/>
                    <a:p>
                      <a:r>
                        <a:rPr sz="1439" b="0">
                          <a:solidFill>
                            <a:srgbClr val="1F2D3A"/>
                          </a:solidFill>
                        </a:rPr>
                        <a:t>Client memory; carried in the HTTP header on every request</a:t>
                      </a:r>
                    </a:p>
                  </a:txBody>
                  <a:tcPr marL="54864" marR="54864" marT="27432" marB="27432" anchor="ctr">
                    <a:solidFill>
                      <a:srgbClr val="EEF7F8"/>
                    </a:solidFill>
                  </a:tcPr>
                </a:tc>
              </a:tr>
              <a:tr h="470001">
                <a:tc>
                  <a:txBody>
                    <a:bodyPr wrap="square"/>
                    <a:lstStyle/>
                    <a:p>
                      <a:r>
                        <a:rPr sz="1439" b="0">
                          <a:solidFill>
                            <a:srgbClr val="1F2D3A"/>
                          </a:solidFill>
                        </a:rPr>
                        <a:t>Class</a:t>
                      </a:r>
                    </a:p>
                  </a:txBody>
                  <a:tcPr marL="54864" marR="54864" marT="27432" marB="27432" anchor="ctr">
                    <a:solidFill>
                      <a:srgbClr val="FFFFFF"/>
                    </a:solidFill>
                  </a:tcPr>
                </a:tc>
                <a:tc>
                  <a:txBody>
                    <a:bodyPr wrap="square"/>
                    <a:lstStyle/>
                    <a:p>
                      <a:r>
                        <a:rPr sz="1439" b="1">
                          <a:solidFill>
                            <a:srgbClr val="1F2D3A"/>
                          </a:solidFill>
                        </a:rPr>
                        <a:t>C</a:t>
                      </a:r>
                      <a:r>
                        <a:rPr sz="1439" b="0">
                          <a:solidFill>
                            <a:srgbClr val="1F2D3A"/>
                          </a:solidFill>
                        </a:rPr>
                        <a:t> (confidentiality)</a:t>
                      </a:r>
                    </a:p>
                  </a:txBody>
                  <a:tcPr marL="54864" marR="54864" marT="27432" marB="27432" anchor="ctr">
                    <a:solidFill>
                      <a:srgbClr val="FFFFFF"/>
                    </a:solidFill>
                  </a:tcPr>
                </a:tc>
              </a:tr>
              <a:tr h="470004">
                <a:tc>
                  <a:txBody>
                    <a:bodyPr wrap="square"/>
                    <a:lstStyle/>
                    <a:p>
                      <a:r>
                        <a:rPr sz="1439" b="0">
                          <a:solidFill>
                            <a:srgbClr val="1F2D3A"/>
                          </a:solidFill>
                        </a:rPr>
                        <a:t>Lifecycle</a:t>
                      </a:r>
                    </a:p>
                  </a:txBody>
                  <a:tcPr marL="54864" marR="54864" marT="27432" marB="27432" anchor="ctr">
                    <a:solidFill>
                      <a:srgbClr val="EEF7F8"/>
                    </a:solidFill>
                  </a:tcPr>
                </a:tc>
                <a:tc>
                  <a:txBody>
                    <a:bodyPr wrap="square"/>
                    <a:lstStyle/>
                    <a:p>
                      <a:r>
                        <a:rPr sz="1439" b="0">
                          <a:solidFill>
                            <a:srgbClr val="1F2D3A"/>
                          </a:solidFill>
                        </a:rPr>
                        <a:t>Generated at login → used on every request → invalidated at logout/timeout</a:t>
                      </a:r>
                    </a:p>
                  </a:txBody>
                  <a:tcPr marL="54864" marR="54864" marT="27432" marB="27432" anchor="ctr">
                    <a:solidFill>
                      <a:srgbClr val="EEF7F8"/>
                    </a:solidFill>
                  </a:tcPr>
                </a:tc>
              </a:tr>
            </a:tbl>
          </a:graphicData>
        </a:graphic>
      </p:graphicFrame>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13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39</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2. Threat</a:t>
            </a:r>
          </a:p>
        </p:txBody>
      </p:sp>
      <p:sp>
        <p:nvSpPr>
          <p:cNvPr id="7" name="TextBox 6"/>
          <p:cNvSpPr txBox="1"/>
          <p:nvPr/>
        </p:nvSpPr>
        <p:spPr>
          <a:xfrm>
            <a:off x="640080" y="1325880"/>
            <a:ext cx="10911535" cy="1549400"/>
          </a:xfrm>
          <a:prstGeom prst="rect">
            <a:avLst/>
          </a:prstGeom>
          <a:noFill/>
        </p:spPr>
        <p:txBody>
          <a:bodyPr wrap="square" lIns="45720" rIns="45720">
            <a:spAutoFit/>
          </a:bodyPr>
          <a:lstStyle/>
          <a:p>
            <a:pPr>
              <a:spcAft>
                <a:spcPts val="300"/>
              </a:spcAft>
            </a:pPr>
            <a:r>
              <a:rPr sz="2000" b="1">
                <a:solidFill>
                  <a:srgbClr val="006D77"/>
                </a:solidFill>
              </a:rPr>
              <a:t>• </a:t>
            </a:r>
            <a:r>
              <a:rPr sz="2000" b="0">
                <a:solidFill>
                  <a:srgbClr val="1F2D3A"/>
                </a:solidFill>
              </a:rPr>
              <a:t>An attacker positioned on the network (e.g., on the same public Wi-Fi) can listen on an unencrypted connection and capture the token.</a:t>
            </a:r>
          </a:p>
          <a:p>
            <a:pPr>
              <a:spcAft>
                <a:spcPts val="300"/>
              </a:spcAft>
            </a:pPr>
            <a:r>
              <a:rPr sz="2000" b="1">
                <a:solidFill>
                  <a:srgbClr val="006D77"/>
                </a:solidFill>
              </a:rPr>
              <a:t>• </a:t>
            </a:r>
            <a:r>
              <a:rPr sz="2000" b="0">
                <a:solidFill>
                  <a:srgbClr val="1F2D3A"/>
                </a:solidFill>
              </a:rPr>
              <a:t>Using the captured token in their own requests, they can </a:t>
            </a:r>
            <a:r>
              <a:rPr sz="2000" b="1">
                <a:solidFill>
                  <a:srgbClr val="1F2D3A"/>
                </a:solidFill>
              </a:rPr>
              <a:t>act as the user</a:t>
            </a:r>
            <a:r>
              <a:rPr sz="2000" b="0">
                <a:solidFill>
                  <a:srgbClr val="1F2D3A"/>
                </a:solidFill>
              </a:rPr>
              <a:t>.</a:t>
            </a:r>
          </a:p>
          <a:p>
            <a:pPr>
              <a:spcAft>
                <a:spcPts val="300"/>
              </a:spcAft>
            </a:pPr>
            <a:r>
              <a:rPr sz="2000" b="1">
                <a:solidFill>
                  <a:srgbClr val="006D77"/>
                </a:solidFill>
              </a:rPr>
              <a:t>• </a:t>
            </a:r>
            <a:r>
              <a:rPr sz="2000" b="0">
                <a:solidFill>
                  <a:srgbClr val="1F2D3A"/>
                </a:solidFill>
              </a:rPr>
              <a:t>STRIDE: </a:t>
            </a:r>
            <a:r>
              <a:rPr sz="2000" b="1">
                <a:solidFill>
                  <a:srgbClr val="1F2D3A"/>
                </a:solidFill>
              </a:rPr>
              <a:t>Spoofing</a:t>
            </a:r>
            <a:r>
              <a:rPr sz="2000" b="0">
                <a:solidFill>
                  <a:srgbClr val="1F2D3A"/>
                </a:solidFill>
              </a:rPr>
              <a:t> + </a:t>
            </a:r>
            <a:r>
              <a:rPr sz="2000" b="1">
                <a:solidFill>
                  <a:srgbClr val="1F2D3A"/>
                </a:solidFill>
              </a:rPr>
              <a:t>Information Disclosure</a:t>
            </a:r>
            <a:r>
              <a:rPr sz="2000" b="0">
                <a:solidFill>
                  <a:srgbClr val="1F2D3A"/>
                </a:solidFill>
              </a:rPr>
              <a:t> (Week 1 terminology).</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13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40</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3. Requirement</a:t>
            </a:r>
          </a:p>
        </p:txBody>
      </p:sp>
      <p:sp>
        <p:nvSpPr>
          <p:cNvPr id="7" name="TextBox 6"/>
          <p:cNvSpPr txBox="1"/>
          <p:nvPr/>
        </p:nvSpPr>
        <p:spPr>
          <a:xfrm>
            <a:off x="640080" y="1325880"/>
            <a:ext cx="10911535" cy="770128"/>
          </a:xfrm>
          <a:prstGeom prst="rect">
            <a:avLst/>
          </a:prstGeom>
          <a:noFill/>
        </p:spPr>
        <p:txBody>
          <a:bodyPr wrap="square" lIns="45720" rIns="45720">
            <a:spAutoFit/>
          </a:bodyPr>
          <a:lstStyle/>
          <a:p>
            <a:pPr algn="l"/>
            <a:r>
              <a:rPr sz="2000" b="0">
                <a:solidFill>
                  <a:srgbClr val="1F2D3A"/>
                </a:solidFill>
              </a:rPr>
              <a:t>The asset → threat → goal (confidentiality+identity) → tool class → state → obligation chain is briefly reapplied:</a:t>
            </a:r>
          </a:p>
        </p:txBody>
      </p:sp>
      <p:sp>
        <p:nvSpPr>
          <p:cNvPr id="8" name="Rectangle 7"/>
          <p:cNvSpPr/>
          <p:nvPr/>
        </p:nvSpPr>
        <p:spPr>
          <a:xfrm>
            <a:off x="640080" y="2205736"/>
            <a:ext cx="10911535" cy="934719"/>
          </a:xfrm>
          <a:prstGeom prst="rect">
            <a:avLst/>
          </a:prstGeom>
          <a:solidFill>
            <a:srgbClr val="EEF7F8"/>
          </a:solidFill>
          <a:ln>
            <a:solidFill>
              <a:srgbClr val="006D77"/>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l"/>
            <a:r>
              <a:rPr sz="2000" b="0">
                <a:solidFill>
                  <a:srgbClr val="A1123F"/>
                </a:solidFill>
                <a:latin typeface="Consolas"/>
              </a:rPr>
              <a:t>CEN429-DT-01</a:t>
            </a:r>
            <a:r>
              <a:rPr sz="2000" b="0">
                <a:solidFill>
                  <a:srgbClr val="1F2D3A"/>
                </a:solidFill>
              </a:rPr>
              <a:t> — "The session token must be carried over a channel using TLS 1.2 or higher, with the server certificate validated."</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13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41</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4. Control</a:t>
            </a:r>
          </a:p>
        </p:txBody>
      </p:sp>
      <p:sp>
        <p:nvSpPr>
          <p:cNvPr id="7" name="TextBox 6"/>
          <p:cNvSpPr txBox="1"/>
          <p:nvPr/>
        </p:nvSpPr>
        <p:spPr>
          <a:xfrm>
            <a:off x="640080" y="1325880"/>
            <a:ext cx="10911535" cy="439928"/>
          </a:xfrm>
          <a:prstGeom prst="rect">
            <a:avLst/>
          </a:prstGeom>
          <a:noFill/>
        </p:spPr>
        <p:txBody>
          <a:bodyPr wrap="square" lIns="45720" rIns="45720">
            <a:spAutoFit/>
          </a:bodyPr>
          <a:lstStyle/>
          <a:p>
            <a:pPr algn="l"/>
            <a:r>
              <a:rPr sz="2000" b="0">
                <a:solidFill>
                  <a:srgbClr val="1F2D3A"/>
                </a:solidFill>
              </a:rPr>
              <a:t>The guide's </a:t>
            </a:r>
            <a:r>
              <a:rPr sz="2000" b="1">
                <a:solidFill>
                  <a:srgbClr val="1F2D3A"/>
                </a:solidFill>
              </a:rPr>
              <a:t>S10.3 "Transport security"</a:t>
            </a:r>
            <a:r>
              <a:rPr sz="2000" b="0">
                <a:solidFill>
                  <a:srgbClr val="1F2D3A"/>
                </a:solidFill>
              </a:rPr>
              <a:t> section:</a:t>
            </a:r>
          </a:p>
        </p:txBody>
      </p:sp>
      <p:sp>
        <p:nvSpPr>
          <p:cNvPr id="8" name="Rectangle 7"/>
          <p:cNvSpPr/>
          <p:nvPr/>
        </p:nvSpPr>
        <p:spPr>
          <a:xfrm>
            <a:off x="640080" y="1875536"/>
            <a:ext cx="10911535" cy="1264920"/>
          </a:xfrm>
          <a:prstGeom prst="rect">
            <a:avLst/>
          </a:prstGeom>
          <a:solidFill>
            <a:srgbClr val="EEF7F8"/>
          </a:solidFill>
          <a:ln>
            <a:solidFill>
              <a:srgbClr val="006D77"/>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l"/>
            <a:r>
              <a:rPr sz="2000" b="0">
                <a:solidFill>
                  <a:srgbClr val="1F2D3A"/>
                </a:solidFill>
              </a:rPr>
              <a:t>"The client performs a TLS 1.2+ handshake on every connection to the server; the certificate chain and hostname are validated (see Week 10). No request is sent before the channel is established."</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13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42</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5. Verification</a:t>
            </a:r>
          </a:p>
        </p:txBody>
      </p:sp>
      <p:sp>
        <p:nvSpPr>
          <p:cNvPr id="7" name="TextBox 6"/>
          <p:cNvSpPr txBox="1"/>
          <p:nvPr/>
        </p:nvSpPr>
        <p:spPr>
          <a:xfrm>
            <a:off x="640080" y="1325880"/>
            <a:ext cx="10911535" cy="770128"/>
          </a:xfrm>
          <a:prstGeom prst="rect">
            <a:avLst/>
          </a:prstGeom>
          <a:noFill/>
        </p:spPr>
        <p:txBody>
          <a:bodyPr wrap="square" lIns="45720" rIns="45720">
            <a:spAutoFit/>
          </a:bodyPr>
          <a:lstStyle/>
          <a:p>
            <a:pPr algn="l"/>
            <a:r>
              <a:rPr sz="2000" b="0">
                <a:solidFill>
                  <a:srgbClr val="1F2D3A"/>
                </a:solidFill>
              </a:rPr>
              <a:t>The security testing team tries to intercept the connection with a MITM (man-in-the-middle) tool:</a:t>
            </a:r>
          </a:p>
        </p:txBody>
      </p:sp>
      <p:sp>
        <p:nvSpPr>
          <p:cNvPr id="8" name="TextBox 7"/>
          <p:cNvSpPr txBox="1"/>
          <p:nvPr/>
        </p:nvSpPr>
        <p:spPr>
          <a:xfrm>
            <a:off x="640080" y="2205736"/>
            <a:ext cx="10911535" cy="1173480"/>
          </a:xfrm>
          <a:prstGeom prst="rect">
            <a:avLst/>
          </a:prstGeom>
          <a:noFill/>
        </p:spPr>
        <p:txBody>
          <a:bodyPr wrap="square" lIns="45720" rIns="45720">
            <a:spAutoFit/>
          </a:bodyPr>
          <a:lstStyle/>
          <a:p>
            <a:pPr>
              <a:spcAft>
                <a:spcPts val="300"/>
              </a:spcAft>
            </a:pPr>
            <a:r>
              <a:rPr sz="2000" b="1">
                <a:solidFill>
                  <a:srgbClr val="006D77"/>
                </a:solidFill>
              </a:rPr>
              <a:t>• </a:t>
            </a:r>
            <a:r>
              <a:rPr sz="2000" b="0">
                <a:solidFill>
                  <a:srgbClr val="1F2D3A"/>
                </a:solidFill>
              </a:rPr>
              <a:t>Verifies the connection is </a:t>
            </a:r>
            <a:r>
              <a:rPr sz="2000" b="1">
                <a:solidFill>
                  <a:srgbClr val="1F2D3A"/>
                </a:solidFill>
              </a:rPr>
              <a:t>rejected</a:t>
            </a:r>
            <a:r>
              <a:rPr sz="2000" b="0">
                <a:solidFill>
                  <a:srgbClr val="1F2D3A"/>
                </a:solidFill>
              </a:rPr>
              <a:t> when an invalid/self-signed certificate is presented.</a:t>
            </a:r>
          </a:p>
          <a:p>
            <a:pPr>
              <a:spcAft>
                <a:spcPts val="300"/>
              </a:spcAft>
            </a:pPr>
            <a:r>
              <a:rPr sz="2000" b="1">
                <a:solidFill>
                  <a:srgbClr val="006D77"/>
                </a:solidFill>
              </a:rPr>
              <a:t>• </a:t>
            </a:r>
            <a:r>
              <a:rPr sz="2000" b="0">
                <a:solidFill>
                  <a:srgbClr val="1F2D3A"/>
                </a:solidFill>
              </a:rPr>
              <a:t>Verifies a plaintext (non-TLS) connection attempt is </a:t>
            </a:r>
            <a:r>
              <a:rPr sz="2000" b="1">
                <a:solidFill>
                  <a:srgbClr val="1F2D3A"/>
                </a:solidFill>
              </a:rPr>
              <a:t>rejected</a:t>
            </a:r>
            <a:r>
              <a:rPr sz="2000" b="0">
                <a:solidFill>
                  <a:srgbClr val="1F2D3A"/>
                </a:solidFill>
              </a:rPr>
              <a:t>.</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13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43</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6. Evidence</a:t>
            </a:r>
          </a:p>
        </p:txBody>
      </p:sp>
      <p:sp>
        <p:nvSpPr>
          <p:cNvPr id="7" name="TextBox 6"/>
          <p:cNvSpPr txBox="1"/>
          <p:nvPr/>
        </p:nvSpPr>
        <p:spPr>
          <a:xfrm>
            <a:off x="640080" y="1325880"/>
            <a:ext cx="10911535" cy="1925320"/>
          </a:xfrm>
          <a:prstGeom prst="rect">
            <a:avLst/>
          </a:prstGeom>
          <a:noFill/>
        </p:spPr>
        <p:txBody>
          <a:bodyPr wrap="square" lIns="45720" rIns="45720">
            <a:spAutoFit/>
          </a:bodyPr>
          <a:lstStyle/>
          <a:p>
            <a:pPr>
              <a:spcAft>
                <a:spcPts val="300"/>
              </a:spcAft>
            </a:pPr>
            <a:r>
              <a:rPr sz="2000" b="1">
                <a:solidFill>
                  <a:srgbClr val="006D77"/>
                </a:solidFill>
              </a:rPr>
              <a:t>• </a:t>
            </a:r>
            <a:r>
              <a:rPr sz="2000" b="0">
                <a:solidFill>
                  <a:srgbClr val="1F2D3A"/>
                </a:solidFill>
              </a:rPr>
              <a:t>The test tool's log output: </a:t>
            </a:r>
            <a:r>
              <a:rPr sz="2000" b="0">
                <a:solidFill>
                  <a:srgbClr val="A1123F"/>
                </a:solidFill>
                <a:latin typeface="Consolas"/>
              </a:rPr>
              <a:t>mitm_test_2026-11-03.log</a:t>
            </a:r>
          </a:p>
          <a:p>
            <a:pPr>
              <a:spcAft>
                <a:spcPts val="300"/>
              </a:spcAft>
            </a:pPr>
            <a:r>
              <a:rPr sz="2000" b="1">
                <a:solidFill>
                  <a:srgbClr val="006D77"/>
                </a:solidFill>
              </a:rPr>
              <a:t>• </a:t>
            </a:r>
            <a:r>
              <a:rPr sz="2000" b="0">
                <a:solidFill>
                  <a:srgbClr val="1F2D3A"/>
                </a:solidFill>
              </a:rPr>
              <a:t>CI run record: </a:t>
            </a:r>
            <a:r>
              <a:rPr sz="2000" b="1">
                <a:solidFill>
                  <a:srgbClr val="1F2D3A"/>
                </a:solidFill>
              </a:rPr>
              <a:t>#617</a:t>
            </a:r>
          </a:p>
          <a:p>
            <a:pPr>
              <a:spcAft>
                <a:spcPts val="300"/>
              </a:spcAft>
            </a:pPr>
            <a:r>
              <a:rPr sz="2000" b="1">
                <a:solidFill>
                  <a:srgbClr val="006D77"/>
                </a:solidFill>
              </a:rPr>
              <a:t>• </a:t>
            </a:r>
            <a:r>
              <a:rPr sz="2000" b="0">
                <a:solidFill>
                  <a:srgbClr val="1F2D3A"/>
                </a:solidFill>
              </a:rPr>
              <a:t>TLS handshake packet capture: </a:t>
            </a:r>
            <a:r>
              <a:rPr sz="2000" b="0">
                <a:solidFill>
                  <a:srgbClr val="A1123F"/>
                </a:solidFill>
                <a:latin typeface="Consolas"/>
              </a:rPr>
              <a:t>handshake.pcapng</a:t>
            </a:r>
          </a:p>
          <a:p>
            <a:pPr>
              <a:spcAft>
                <a:spcPts val="300"/>
              </a:spcAft>
            </a:pPr>
            <a:r>
              <a:rPr sz="2000" b="1">
                <a:solidFill>
                  <a:srgbClr val="006D77"/>
                </a:solidFill>
              </a:rPr>
              <a:t>• </a:t>
            </a:r>
            <a:r>
              <a:rPr sz="2000" b="0">
                <a:solidFill>
                  <a:srgbClr val="1F2D3A"/>
                </a:solidFill>
              </a:rPr>
              <a:t>Stored in the </a:t>
            </a:r>
            <a:r>
              <a:rPr sz="2000" b="0">
                <a:solidFill>
                  <a:srgbClr val="A1123F"/>
                </a:solidFill>
                <a:latin typeface="Consolas"/>
              </a:rPr>
              <a:t>evidence/week13/</a:t>
            </a:r>
            <a:r>
              <a:rPr sz="2000" b="0">
                <a:solidFill>
                  <a:srgbClr val="1F2D3A"/>
                </a:solidFill>
              </a:rPr>
              <a:t> folder, referenced by these file names in the matrix.</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13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44</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2600" b="1">
                <a:solidFill>
                  <a:srgbClr val="006D77"/>
                </a:solidFill>
              </a:rPr>
              <a:t>The Chain's Filled-In Row</a:t>
            </a:r>
          </a:p>
        </p:txBody>
      </p:sp>
      <p:graphicFrame>
        <p:nvGraphicFramePr>
          <p:cNvPr id="7" name="Table 6"/>
          <p:cNvGraphicFramePr>
            <a:graphicFrameLocks noGrp="1"/>
          </p:cNvGraphicFramePr>
          <p:nvPr/>
        </p:nvGraphicFramePr>
        <p:xfrm>
          <a:off x="640080" y="1325880"/>
          <a:ext cx="10911533" cy="1426464"/>
        </p:xfrm>
        <a:graphic>
          <a:graphicData uri="http://schemas.openxmlformats.org/drawingml/2006/table">
            <a:tbl>
              <a:tblPr firstRow="1" bandRow="1">
                <a:tableStyleId>{5C22544A-7EE6-4342-B048-85BDC9FD1C3A}</a:tableStyleId>
              </a:tblPr>
              <a:tblGrid>
                <a:gridCol w="782890"/>
                <a:gridCol w="3620868"/>
                <a:gridCol w="489306"/>
                <a:gridCol w="538237"/>
                <a:gridCol w="2593324"/>
                <a:gridCol w="2886908"/>
              </a:tblGrid>
              <a:tr h="713232">
                <a:tc>
                  <a:txBody>
                    <a:bodyPr wrap="square"/>
                    <a:lstStyle/>
                    <a:p>
                      <a:r>
                        <a:rPr sz="1296" b="1">
                          <a:solidFill>
                            <a:srgbClr val="FFFFFF"/>
                          </a:solidFill>
                        </a:rPr>
                        <a:t>Id</a:t>
                      </a:r>
                    </a:p>
                  </a:txBody>
                  <a:tcPr marL="54864" marR="54864" marT="27432" marB="27432" anchor="ctr">
                    <a:solidFill>
                      <a:srgbClr val="006D77"/>
                    </a:solidFill>
                  </a:tcPr>
                </a:tc>
                <a:tc>
                  <a:txBody>
                    <a:bodyPr wrap="square"/>
                    <a:lstStyle/>
                    <a:p>
                      <a:r>
                        <a:rPr sz="1296" b="1">
                          <a:solidFill>
                            <a:srgbClr val="FFFFFF"/>
                          </a:solidFill>
                        </a:rPr>
                        <a:t>Requirement</a:t>
                      </a:r>
                    </a:p>
                  </a:txBody>
                  <a:tcPr marL="54864" marR="54864" marT="27432" marB="27432" anchor="ctr">
                    <a:solidFill>
                      <a:srgbClr val="006D77"/>
                    </a:solidFill>
                  </a:tcPr>
                </a:tc>
                <a:tc>
                  <a:txBody>
                    <a:bodyPr wrap="square"/>
                    <a:lstStyle/>
                    <a:p>
                      <a:r>
                        <a:rPr sz="1296" b="1">
                          <a:solidFill>
                            <a:srgbClr val="FFFFFF"/>
                          </a:solidFill>
                        </a:rPr>
                        <a:t>Status</a:t>
                      </a:r>
                    </a:p>
                  </a:txBody>
                  <a:tcPr marL="54864" marR="54864" marT="27432" marB="27432" anchor="ctr">
                    <a:solidFill>
                      <a:srgbClr val="006D77"/>
                    </a:solidFill>
                  </a:tcPr>
                </a:tc>
                <a:tc>
                  <a:txBody>
                    <a:bodyPr wrap="square"/>
                    <a:lstStyle/>
                    <a:p>
                      <a:r>
                        <a:rPr sz="1296" b="1">
                          <a:solidFill>
                            <a:srgbClr val="FFFFFF"/>
                          </a:solidFill>
                        </a:rPr>
                        <a:t>Control</a:t>
                      </a:r>
                    </a:p>
                  </a:txBody>
                  <a:tcPr marL="54864" marR="54864" marT="27432" marB="27432" anchor="ctr">
                    <a:solidFill>
                      <a:srgbClr val="006D77"/>
                    </a:solidFill>
                  </a:tcPr>
                </a:tc>
                <a:tc>
                  <a:txBody>
                    <a:bodyPr wrap="square"/>
                    <a:lstStyle/>
                    <a:p>
                      <a:r>
                        <a:rPr sz="1296" b="1">
                          <a:solidFill>
                            <a:srgbClr val="FFFFFF"/>
                          </a:solidFill>
                        </a:rPr>
                        <a:t>Verification</a:t>
                      </a:r>
                    </a:p>
                  </a:txBody>
                  <a:tcPr marL="54864" marR="54864" marT="27432" marB="27432" anchor="ctr">
                    <a:solidFill>
                      <a:srgbClr val="006D77"/>
                    </a:solidFill>
                  </a:tcPr>
                </a:tc>
                <a:tc>
                  <a:txBody>
                    <a:bodyPr wrap="square"/>
                    <a:lstStyle/>
                    <a:p>
                      <a:r>
                        <a:rPr sz="1296" b="1">
                          <a:solidFill>
                            <a:srgbClr val="FFFFFF"/>
                          </a:solidFill>
                        </a:rPr>
                        <a:t>Evidence</a:t>
                      </a:r>
                    </a:p>
                  </a:txBody>
                  <a:tcPr marL="54864" marR="54864" marT="27432" marB="27432" anchor="ctr">
                    <a:solidFill>
                      <a:srgbClr val="006D77"/>
                    </a:solidFill>
                  </a:tcPr>
                </a:tc>
              </a:tr>
              <a:tr h="713232">
                <a:tc>
                  <a:txBody>
                    <a:bodyPr wrap="square"/>
                    <a:lstStyle/>
                    <a:p>
                      <a:r>
                        <a:rPr sz="1296" b="0">
                          <a:solidFill>
                            <a:srgbClr val="1F2D3A"/>
                          </a:solidFill>
                        </a:rPr>
                        <a:t>CEN429-DT-01</a:t>
                      </a:r>
                    </a:p>
                  </a:txBody>
                  <a:tcPr marL="54864" marR="54864" marT="27432" marB="27432" anchor="ctr">
                    <a:solidFill>
                      <a:srgbClr val="FFFFFF"/>
                    </a:solidFill>
                  </a:tcPr>
                </a:tc>
                <a:tc>
                  <a:txBody>
                    <a:bodyPr wrap="square"/>
                    <a:lstStyle/>
                    <a:p>
                      <a:r>
                        <a:rPr sz="1296" b="0">
                          <a:solidFill>
                            <a:srgbClr val="1F2D3A"/>
                          </a:solidFill>
                        </a:rPr>
                        <a:t>Session token must be carried over TLS 1.2+ with certificate validated</a:t>
                      </a:r>
                    </a:p>
                  </a:txBody>
                  <a:tcPr marL="54864" marR="54864" marT="27432" marB="27432" anchor="ctr">
                    <a:solidFill>
                      <a:srgbClr val="FFFFFF"/>
                    </a:solidFill>
                  </a:tcPr>
                </a:tc>
                <a:tc>
                  <a:txBody>
                    <a:bodyPr wrap="square"/>
                    <a:lstStyle/>
                    <a:p>
                      <a:r>
                        <a:rPr sz="1296" b="0">
                          <a:solidFill>
                            <a:srgbClr val="1F2D3A"/>
                          </a:solidFill>
                        </a:rPr>
                        <a:t>Met</a:t>
                      </a:r>
                    </a:p>
                  </a:txBody>
                  <a:tcPr marL="54864" marR="54864" marT="27432" marB="27432" anchor="ctr">
                    <a:solidFill>
                      <a:srgbClr val="FFFFFF"/>
                    </a:solidFill>
                  </a:tcPr>
                </a:tc>
                <a:tc>
                  <a:txBody>
                    <a:bodyPr wrap="square"/>
                    <a:lstStyle/>
                    <a:p>
                      <a:r>
                        <a:rPr sz="1296" b="0">
                          <a:solidFill>
                            <a:srgbClr val="1F2D3A"/>
                          </a:solidFill>
                        </a:rPr>
                        <a:t>S10.3</a:t>
                      </a:r>
                    </a:p>
                  </a:txBody>
                  <a:tcPr marL="54864" marR="54864" marT="27432" marB="27432" anchor="ctr">
                    <a:solidFill>
                      <a:srgbClr val="FFFFFF"/>
                    </a:solidFill>
                  </a:tcPr>
                </a:tc>
                <a:tc>
                  <a:txBody>
                    <a:bodyPr wrap="square"/>
                    <a:lstStyle/>
                    <a:p>
                      <a:r>
                        <a:rPr sz="1296" b="0">
                          <a:solidFill>
                            <a:srgbClr val="1F2D3A"/>
                          </a:solidFill>
                        </a:rPr>
                        <a:t>MITM test: invalid certificate/plaintext rejected</a:t>
                      </a:r>
                    </a:p>
                  </a:txBody>
                  <a:tcPr marL="54864" marR="54864" marT="27432" marB="27432" anchor="ctr">
                    <a:solidFill>
                      <a:srgbClr val="FFFFFF"/>
                    </a:solidFill>
                  </a:tcPr>
                </a:tc>
                <a:tc>
                  <a:txBody>
                    <a:bodyPr wrap="square"/>
                    <a:lstStyle/>
                    <a:p>
                      <a:r>
                        <a:rPr sz="1296" b="0">
                          <a:solidFill>
                            <a:srgbClr val="A1123F"/>
                          </a:solidFill>
                          <a:latin typeface="Consolas"/>
                        </a:rPr>
                        <a:t>mitm_test_2026-11-03.log</a:t>
                      </a:r>
                      <a:r>
                        <a:rPr sz="1296" b="0">
                          <a:solidFill>
                            <a:srgbClr val="1F2D3A"/>
                          </a:solidFill>
                        </a:rPr>
                        <a:t>, CI #617, </a:t>
                      </a:r>
                      <a:r>
                        <a:rPr sz="1296" b="0">
                          <a:solidFill>
                            <a:srgbClr val="A1123F"/>
                          </a:solidFill>
                          <a:latin typeface="Consolas"/>
                        </a:rPr>
                        <a:t>handshake.pcapng</a:t>
                      </a:r>
                    </a:p>
                  </a:txBody>
                  <a:tcPr marL="54864" marR="54864" marT="27432" marB="27432" anchor="ctr">
                    <a:solidFill>
                      <a:srgbClr val="FFFFFF"/>
                    </a:solidFill>
                  </a:tcPr>
                </a:tc>
              </a:tr>
            </a:tbl>
          </a:graphicData>
        </a:graphic>
      </p:graphicFrame>
      <p:sp>
        <p:nvSpPr>
          <p:cNvPr id="8" name="TextBox 7"/>
          <p:cNvSpPr txBox="1"/>
          <p:nvPr/>
        </p:nvSpPr>
        <p:spPr>
          <a:xfrm>
            <a:off x="640080" y="2862072"/>
            <a:ext cx="10911535" cy="1298448"/>
          </a:xfrm>
          <a:prstGeom prst="rect">
            <a:avLst/>
          </a:prstGeom>
          <a:noFill/>
        </p:spPr>
        <p:txBody>
          <a:bodyPr wrap="square" lIns="45720" rIns="45720">
            <a:spAutoFit/>
          </a:bodyPr>
          <a:lstStyle/>
          <a:p>
            <a:pPr algn="l"/>
            <a:r>
              <a:rPr sz="1800" b="0">
                <a:solidFill>
                  <a:srgbClr val="1F2D3A"/>
                </a:solidFill>
              </a:rPr>
              <a:t>If one link were missing: without the asset, "which data" stays unclear; without the threat, the requirement looks arbitrary; without the control, the claim is unsupported; without verification, "how was it tested" goes unanswered; without evidence, the row becomes the </a:t>
            </a:r>
            <a:r>
              <a:rPr sz="1800" b="1">
                <a:solidFill>
                  <a:srgbClr val="1F2D3A"/>
                </a:solidFill>
              </a:rPr>
              <a:t>first finding</a:t>
            </a:r>
            <a:r>
              <a:rPr sz="1800" b="0">
                <a:solidFill>
                  <a:srgbClr val="1F2D3A"/>
                </a:solidFill>
              </a:rPr>
              <a:t>.</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13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45</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2600" b="1">
                <a:solidFill>
                  <a:srgbClr val="006D77"/>
                </a:solidFill>
              </a:rPr>
              <a:t>The Full Chain of the "Not Met" Status</a:t>
            </a:r>
          </a:p>
        </p:txBody>
      </p:sp>
      <p:graphicFrame>
        <p:nvGraphicFramePr>
          <p:cNvPr id="7" name="Table 6"/>
          <p:cNvGraphicFramePr>
            <a:graphicFrameLocks noGrp="1"/>
          </p:cNvGraphicFramePr>
          <p:nvPr/>
        </p:nvGraphicFramePr>
        <p:xfrm>
          <a:off x="640080" y="1325880"/>
          <a:ext cx="10911534" cy="2079345"/>
        </p:xfrm>
        <a:graphic>
          <a:graphicData uri="http://schemas.openxmlformats.org/drawingml/2006/table">
            <a:tbl>
              <a:tblPr firstRow="1" bandRow="1">
                <a:tableStyleId>{5C22544A-7EE6-4342-B048-85BDC9FD1C3A}</a:tableStyleId>
              </a:tblPr>
              <a:tblGrid>
                <a:gridCol w="1918511"/>
                <a:gridCol w="4076837"/>
                <a:gridCol w="4916186"/>
              </a:tblGrid>
              <a:tr h="346557">
                <a:tc>
                  <a:txBody>
                    <a:bodyPr wrap="square"/>
                    <a:lstStyle/>
                    <a:p>
                      <a:r>
                        <a:rPr sz="1296" b="1">
                          <a:solidFill>
                            <a:srgbClr val="FFFFFF"/>
                          </a:solidFill>
                        </a:rPr>
                        <a:t>Link</a:t>
                      </a:r>
                    </a:p>
                  </a:txBody>
                  <a:tcPr marL="54864" marR="54864" marT="27432" marB="27432" anchor="ctr">
                    <a:solidFill>
                      <a:srgbClr val="006D77"/>
                    </a:solidFill>
                  </a:tcPr>
                </a:tc>
                <a:tc>
                  <a:txBody>
                    <a:bodyPr wrap="square"/>
                    <a:lstStyle/>
                    <a:p>
                      <a:r>
                        <a:rPr sz="1296" b="1">
                          <a:solidFill>
                            <a:srgbClr val="FFFFFF"/>
                          </a:solidFill>
                        </a:rPr>
                        <a:t>Met (DT-01)</a:t>
                      </a:r>
                    </a:p>
                  </a:txBody>
                  <a:tcPr marL="54864" marR="54864" marT="27432" marB="27432" anchor="ctr">
                    <a:solidFill>
                      <a:srgbClr val="006D77"/>
                    </a:solidFill>
                  </a:tcPr>
                </a:tc>
                <a:tc>
                  <a:txBody>
                    <a:bodyPr wrap="square"/>
                    <a:lstStyle/>
                    <a:p>
                      <a:r>
                        <a:rPr sz="1296" b="1">
                          <a:solidFill>
                            <a:srgbClr val="FFFFFF"/>
                          </a:solidFill>
                        </a:rPr>
                        <a:t>Not met (DT-04)</a:t>
                      </a:r>
                    </a:p>
                  </a:txBody>
                  <a:tcPr marL="54864" marR="54864" marT="27432" marB="27432" anchor="ctr">
                    <a:solidFill>
                      <a:srgbClr val="006D77"/>
                    </a:solidFill>
                  </a:tcPr>
                </a:tc>
              </a:tr>
              <a:tr h="346557">
                <a:tc>
                  <a:txBody>
                    <a:bodyPr wrap="square"/>
                    <a:lstStyle/>
                    <a:p>
                      <a:r>
                        <a:rPr sz="1296" b="0">
                          <a:solidFill>
                            <a:srgbClr val="1F2D3A"/>
                          </a:solidFill>
                        </a:rPr>
                        <a:t>Requirement</a:t>
                      </a:r>
                    </a:p>
                  </a:txBody>
                  <a:tcPr marL="54864" marR="54864" marT="27432" marB="27432" anchor="ctr">
                    <a:solidFill>
                      <a:srgbClr val="FFFFFF"/>
                    </a:solidFill>
                  </a:tcPr>
                </a:tc>
                <a:tc>
                  <a:txBody>
                    <a:bodyPr wrap="square"/>
                    <a:lstStyle/>
                    <a:p>
                      <a:r>
                        <a:rPr sz="1296" b="0">
                          <a:solidFill>
                            <a:srgbClr val="1F2D3A"/>
                          </a:solidFill>
                        </a:rPr>
                        <a:t>Session token carried over TLS</a:t>
                      </a:r>
                    </a:p>
                  </a:txBody>
                  <a:tcPr marL="54864" marR="54864" marT="27432" marB="27432" anchor="ctr">
                    <a:solidFill>
                      <a:srgbClr val="FFFFFF"/>
                    </a:solidFill>
                  </a:tcPr>
                </a:tc>
                <a:tc>
                  <a:txBody>
                    <a:bodyPr wrap="square"/>
                    <a:lstStyle/>
                    <a:p>
                      <a:r>
                        <a:rPr sz="1296" b="0">
                          <a:solidFill>
                            <a:srgbClr val="1F2D3A"/>
                          </a:solidFill>
                        </a:rPr>
                        <a:t>Server certificate must be pinned</a:t>
                      </a:r>
                    </a:p>
                  </a:txBody>
                  <a:tcPr marL="54864" marR="54864" marT="27432" marB="27432" anchor="ctr">
                    <a:solidFill>
                      <a:srgbClr val="FFFFFF"/>
                    </a:solidFill>
                  </a:tcPr>
                </a:tc>
              </a:tr>
              <a:tr h="346557">
                <a:tc>
                  <a:txBody>
                    <a:bodyPr wrap="square"/>
                    <a:lstStyle/>
                    <a:p>
                      <a:r>
                        <a:rPr sz="1296" b="0">
                          <a:solidFill>
                            <a:srgbClr val="1F2D3A"/>
                          </a:solidFill>
                        </a:rPr>
                        <a:t>Status</a:t>
                      </a:r>
                    </a:p>
                  </a:txBody>
                  <a:tcPr marL="54864" marR="54864" marT="27432" marB="27432" anchor="ctr">
                    <a:solidFill>
                      <a:srgbClr val="EEF7F8"/>
                    </a:solidFill>
                  </a:tcPr>
                </a:tc>
                <a:tc>
                  <a:txBody>
                    <a:bodyPr wrap="square"/>
                    <a:lstStyle/>
                    <a:p>
                      <a:r>
                        <a:rPr sz="1296" b="0">
                          <a:solidFill>
                            <a:srgbClr val="1F2D3A"/>
                          </a:solidFill>
                        </a:rPr>
                        <a:t>Met</a:t>
                      </a:r>
                    </a:p>
                  </a:txBody>
                  <a:tcPr marL="54864" marR="54864" marT="27432" marB="27432" anchor="ctr">
                    <a:solidFill>
                      <a:srgbClr val="EEF7F8"/>
                    </a:solidFill>
                  </a:tcPr>
                </a:tc>
                <a:tc>
                  <a:txBody>
                    <a:bodyPr wrap="square"/>
                    <a:lstStyle/>
                    <a:p>
                      <a:r>
                        <a:rPr sz="1296" b="1">
                          <a:solidFill>
                            <a:srgbClr val="1F2D3A"/>
                          </a:solidFill>
                        </a:rPr>
                        <a:t>Not met</a:t>
                      </a:r>
                    </a:p>
                  </a:txBody>
                  <a:tcPr marL="54864" marR="54864" marT="27432" marB="27432" anchor="ctr">
                    <a:solidFill>
                      <a:srgbClr val="EEF7F8"/>
                    </a:solidFill>
                  </a:tcPr>
                </a:tc>
              </a:tr>
              <a:tr h="346557">
                <a:tc>
                  <a:txBody>
                    <a:bodyPr wrap="square"/>
                    <a:lstStyle/>
                    <a:p>
                      <a:r>
                        <a:rPr sz="1296" b="0">
                          <a:solidFill>
                            <a:srgbClr val="1F2D3A"/>
                          </a:solidFill>
                        </a:rPr>
                        <a:t>Control</a:t>
                      </a:r>
                    </a:p>
                  </a:txBody>
                  <a:tcPr marL="54864" marR="54864" marT="27432" marB="27432" anchor="ctr">
                    <a:solidFill>
                      <a:srgbClr val="FFFFFF"/>
                    </a:solidFill>
                  </a:tcPr>
                </a:tc>
                <a:tc>
                  <a:txBody>
                    <a:bodyPr wrap="square"/>
                    <a:lstStyle/>
                    <a:p>
                      <a:r>
                        <a:rPr sz="1296" b="0">
                          <a:solidFill>
                            <a:srgbClr val="1F2D3A"/>
                          </a:solidFill>
                        </a:rPr>
                        <a:t>S10.3</a:t>
                      </a:r>
                    </a:p>
                  </a:txBody>
                  <a:tcPr marL="54864" marR="54864" marT="27432" marB="27432" anchor="ctr">
                    <a:solidFill>
                      <a:srgbClr val="FFFFFF"/>
                    </a:solidFill>
                  </a:tcPr>
                </a:tc>
                <a:tc>
                  <a:txBody>
                    <a:bodyPr wrap="square"/>
                    <a:lstStyle/>
                    <a:p>
                      <a:r>
                        <a:rPr sz="1296" b="0">
                          <a:solidFill>
                            <a:srgbClr val="1F2D3A"/>
                          </a:solidFill>
                        </a:rPr>
                        <a:t>— (not yet)</a:t>
                      </a:r>
                    </a:p>
                  </a:txBody>
                  <a:tcPr marL="54864" marR="54864" marT="27432" marB="27432" anchor="ctr">
                    <a:solidFill>
                      <a:srgbClr val="FFFFFF"/>
                    </a:solidFill>
                  </a:tcPr>
                </a:tc>
              </a:tr>
              <a:tr h="346557">
                <a:tc>
                  <a:txBody>
                    <a:bodyPr wrap="square"/>
                    <a:lstStyle/>
                    <a:p>
                      <a:r>
                        <a:rPr sz="1296" b="0">
                          <a:solidFill>
                            <a:srgbClr val="1F2D3A"/>
                          </a:solidFill>
                        </a:rPr>
                        <a:t>Verification</a:t>
                      </a:r>
                    </a:p>
                  </a:txBody>
                  <a:tcPr marL="54864" marR="54864" marT="27432" marB="27432" anchor="ctr">
                    <a:solidFill>
                      <a:srgbClr val="EEF7F8"/>
                    </a:solidFill>
                  </a:tcPr>
                </a:tc>
                <a:tc>
                  <a:txBody>
                    <a:bodyPr wrap="square"/>
                    <a:lstStyle/>
                    <a:p>
                      <a:r>
                        <a:rPr sz="1296" b="0">
                          <a:solidFill>
                            <a:srgbClr val="1F2D3A"/>
                          </a:solidFill>
                        </a:rPr>
                        <a:t>MITM test passed</a:t>
                      </a:r>
                    </a:p>
                  </a:txBody>
                  <a:tcPr marL="54864" marR="54864" marT="27432" marB="27432" anchor="ctr">
                    <a:solidFill>
                      <a:srgbClr val="EEF7F8"/>
                    </a:solidFill>
                  </a:tcPr>
                </a:tc>
                <a:tc>
                  <a:txBody>
                    <a:bodyPr wrap="square"/>
                    <a:lstStyle/>
                    <a:p>
                      <a:r>
                        <a:rPr sz="1296" b="0">
                          <a:solidFill>
                            <a:srgbClr val="1F2D3A"/>
                          </a:solidFill>
                        </a:rPr>
                        <a:t>—</a:t>
                      </a:r>
                    </a:p>
                  </a:txBody>
                  <a:tcPr marL="54864" marR="54864" marT="27432" marB="27432" anchor="ctr">
                    <a:solidFill>
                      <a:srgbClr val="EEF7F8"/>
                    </a:solidFill>
                  </a:tcPr>
                </a:tc>
              </a:tr>
              <a:tr h="346560">
                <a:tc>
                  <a:txBody>
                    <a:bodyPr wrap="square"/>
                    <a:lstStyle/>
                    <a:p>
                      <a:r>
                        <a:rPr sz="1296" b="0">
                          <a:solidFill>
                            <a:srgbClr val="1F2D3A"/>
                          </a:solidFill>
                        </a:rPr>
                        <a:t>Evidence</a:t>
                      </a:r>
                    </a:p>
                  </a:txBody>
                  <a:tcPr marL="54864" marR="54864" marT="27432" marB="27432" anchor="ctr">
                    <a:solidFill>
                      <a:srgbClr val="FFFFFF"/>
                    </a:solidFill>
                  </a:tcPr>
                </a:tc>
                <a:tc>
                  <a:txBody>
                    <a:bodyPr wrap="square"/>
                    <a:lstStyle/>
                    <a:p>
                      <a:r>
                        <a:rPr sz="1296" b="0">
                          <a:solidFill>
                            <a:srgbClr val="1F2D3A"/>
                          </a:solidFill>
                        </a:rPr>
                        <a:t>Test log</a:t>
                      </a:r>
                    </a:p>
                  </a:txBody>
                  <a:tcPr marL="54864" marR="54864" marT="27432" marB="27432" anchor="ctr">
                    <a:solidFill>
                      <a:srgbClr val="FFFFFF"/>
                    </a:solidFill>
                  </a:tcPr>
                </a:tc>
                <a:tc>
                  <a:txBody>
                    <a:bodyPr wrap="square"/>
                    <a:lstStyle/>
                    <a:p>
                      <a:r>
                        <a:rPr sz="1296" b="1">
                          <a:solidFill>
                            <a:srgbClr val="1F2D3A"/>
                          </a:solidFill>
                        </a:rPr>
                        <a:t>Residual risk:</a:t>
                      </a:r>
                      <a:r>
                        <a:rPr sz="1296" b="0">
                          <a:solidFill>
                            <a:srgbClr val="1F2D3A"/>
                          </a:solidFill>
                        </a:rPr>
                        <a:t> written into S16.4</a:t>
                      </a:r>
                    </a:p>
                  </a:txBody>
                  <a:tcPr marL="54864" marR="54864" marT="27432" marB="27432" anchor="ctr">
                    <a:solidFill>
                      <a:srgbClr val="FFFFFF"/>
                    </a:solidFill>
                  </a:tcPr>
                </a:tc>
              </a:tr>
            </a:tbl>
          </a:graphicData>
        </a:graphic>
      </p:graphicFrame>
      <p:sp>
        <p:nvSpPr>
          <p:cNvPr id="8" name="TextBox 7"/>
          <p:cNvSpPr txBox="1"/>
          <p:nvPr/>
        </p:nvSpPr>
        <p:spPr>
          <a:xfrm>
            <a:off x="640080" y="3514953"/>
            <a:ext cx="10911535" cy="704088"/>
          </a:xfrm>
          <a:prstGeom prst="rect">
            <a:avLst/>
          </a:prstGeom>
          <a:noFill/>
        </p:spPr>
        <p:txBody>
          <a:bodyPr wrap="square" lIns="45720" rIns="45720">
            <a:spAutoFit/>
          </a:bodyPr>
          <a:lstStyle/>
          <a:p>
            <a:pPr algn="l"/>
            <a:r>
              <a:rPr sz="1800" b="0">
                <a:solidFill>
                  <a:srgbClr val="1F2D3A"/>
                </a:solidFill>
              </a:rPr>
              <a:t>In "not met," the control/verification can stay blank, but the </a:t>
            </a:r>
            <a:r>
              <a:rPr sz="1800" b="1">
                <a:solidFill>
                  <a:srgbClr val="1F2D3A"/>
                </a:solidFill>
              </a:rPr>
              <a:t>evidence</a:t>
            </a:r>
            <a:r>
              <a:rPr sz="1800" b="0">
                <a:solidFill>
                  <a:srgbClr val="1F2D3A"/>
                </a:solidFill>
              </a:rPr>
              <a:t> (where the residual risk is documented) cannot.</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13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46</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Traceability Chain (animation)</a:t>
            </a:r>
          </a:p>
        </p:txBody>
      </p:sp>
      <p:pic>
        <p:nvPicPr>
          <p:cNvPr id="7" name="Picture 6" descr="traceability-matrix.en.gif"/>
          <p:cNvPicPr>
            <a:picLocks noChangeAspect="1"/>
          </p:cNvPicPr>
          <p:nvPr/>
        </p:nvPicPr>
        <p:blipFill>
          <a:blip r:embed="rId3"/>
          <a:stretch>
            <a:fillRect/>
          </a:stretch>
        </p:blipFill>
        <p:spPr>
          <a:xfrm>
            <a:off x="3333384" y="1325880"/>
            <a:ext cx="5524926" cy="4828032"/>
          </a:xfrm>
          <a:prstGeom prst="rect">
            <a:avLst/>
          </a:prstGeom>
        </p:spPr>
      </p:pic>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13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47</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Traceability Chain — edge case: every row a gap</a:t>
            </a:r>
          </a:p>
        </p:txBody>
      </p:sp>
      <p:pic>
        <p:nvPicPr>
          <p:cNvPr id="7" name="Picture 6" descr="traceability-matrix--edge-all-gaps.en.gif"/>
          <p:cNvPicPr>
            <a:picLocks noChangeAspect="1"/>
          </p:cNvPicPr>
          <p:nvPr/>
        </p:nvPicPr>
        <p:blipFill>
          <a:blip r:embed="rId3"/>
          <a:stretch>
            <a:fillRect/>
          </a:stretch>
        </p:blipFill>
        <p:spPr>
          <a:xfrm>
            <a:off x="3533321" y="1325880"/>
            <a:ext cx="5125052" cy="4828032"/>
          </a:xfrm>
          <a:prstGeom prst="rect">
            <a:avLst/>
          </a:prstGeom>
        </p:spPr>
      </p:pic>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13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48</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Section 2's Rule</a:t>
            </a:r>
          </a:p>
        </p:txBody>
      </p:sp>
      <p:sp>
        <p:nvSpPr>
          <p:cNvPr id="7" name="TextBox 6"/>
          <p:cNvSpPr txBox="1"/>
          <p:nvPr/>
        </p:nvSpPr>
        <p:spPr>
          <a:xfrm>
            <a:off x="640080" y="1325880"/>
            <a:ext cx="10911535" cy="1549400"/>
          </a:xfrm>
          <a:prstGeom prst="rect">
            <a:avLst/>
          </a:prstGeom>
          <a:noFill/>
        </p:spPr>
        <p:txBody>
          <a:bodyPr wrap="square" lIns="45720" rIns="45720">
            <a:spAutoFit/>
          </a:bodyPr>
          <a:lstStyle/>
          <a:p>
            <a:pPr>
              <a:spcAft>
                <a:spcPts val="300"/>
              </a:spcAft>
            </a:pPr>
            <a:r>
              <a:rPr sz="2000" b="1">
                <a:solidFill>
                  <a:srgbClr val="006D77"/>
                </a:solidFill>
              </a:rPr>
              <a:t>• </a:t>
            </a:r>
            <a:r>
              <a:rPr sz="2000" b="0">
                <a:solidFill>
                  <a:srgbClr val="1F2D3A"/>
                </a:solidFill>
              </a:rPr>
              <a:t>Every "met" row's evidence column must have a </a:t>
            </a:r>
            <a:r>
              <a:rPr sz="2000" b="1">
                <a:solidFill>
                  <a:srgbClr val="1F2D3A"/>
                </a:solidFill>
              </a:rPr>
              <a:t>findable, named</a:t>
            </a:r>
            <a:r>
              <a:rPr sz="2000" b="0">
                <a:solidFill>
                  <a:srgbClr val="1F2D3A"/>
                </a:solidFill>
              </a:rPr>
              <a:t> reference: a file name, a CI number, a test report section.</a:t>
            </a:r>
          </a:p>
          <a:p>
            <a:pPr>
              <a:spcAft>
                <a:spcPts val="300"/>
              </a:spcAft>
            </a:pPr>
            <a:r>
              <a:rPr sz="2000" b="1">
                <a:solidFill>
                  <a:srgbClr val="006D77"/>
                </a:solidFill>
              </a:rPr>
              <a:t>• </a:t>
            </a:r>
            <a:r>
              <a:rPr sz="2000" b="0">
                <a:solidFill>
                  <a:srgbClr val="1F2D3A"/>
                </a:solidFill>
              </a:rPr>
              <a:t>"Exists," "tested" is not evidence, it is a </a:t>
            </a:r>
            <a:r>
              <a:rPr sz="2000" b="1">
                <a:solidFill>
                  <a:srgbClr val="1F2D3A"/>
                </a:solidFill>
              </a:rPr>
              <a:t>promise</a:t>
            </a:r>
            <a:r>
              <a:rPr sz="2000" b="0">
                <a:solidFill>
                  <a:srgbClr val="1F2D3A"/>
                </a:solidFill>
              </a:rPr>
              <a:t> of evidence.</a:t>
            </a:r>
          </a:p>
          <a:p>
            <a:pPr>
              <a:spcAft>
                <a:spcPts val="300"/>
              </a:spcAft>
            </a:pPr>
            <a:r>
              <a:rPr sz="2000" b="1">
                <a:solidFill>
                  <a:srgbClr val="006D77"/>
                </a:solidFill>
              </a:rPr>
              <a:t>• </a:t>
            </a:r>
            <a:r>
              <a:rPr sz="2000" b="0">
                <a:solidFill>
                  <a:srgbClr val="1F2D3A"/>
                </a:solidFill>
              </a:rPr>
              <a:t>The evaluator's most common finding: </a:t>
            </a:r>
            <a:r>
              <a:rPr sz="2000" b="1">
                <a:solidFill>
                  <a:srgbClr val="1F2D3A"/>
                </a:solidFill>
              </a:rPr>
              <a:t>a "met" with no evidence</a:t>
            </a:r>
            <a:r>
              <a:rPr sz="2000" b="0">
                <a:solidFill>
                  <a:srgbClr val="1F2D3A"/>
                </a:solidFill>
              </a:rPr>
              <a:t>.</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13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49</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Sections 1–2 — Quick Check</a:t>
            </a:r>
          </a:p>
        </p:txBody>
      </p:sp>
      <p:sp>
        <p:nvSpPr>
          <p:cNvPr id="7" name="TextBox 6"/>
          <p:cNvSpPr txBox="1"/>
          <p:nvPr/>
        </p:nvSpPr>
        <p:spPr>
          <a:xfrm>
            <a:off x="640080" y="1325880"/>
            <a:ext cx="10911535" cy="1219200"/>
          </a:xfrm>
          <a:prstGeom prst="rect">
            <a:avLst/>
          </a:prstGeom>
          <a:noFill/>
        </p:spPr>
        <p:txBody>
          <a:bodyPr wrap="square" lIns="45720" rIns="45720">
            <a:spAutoFit/>
          </a:bodyPr>
          <a:lstStyle/>
          <a:p>
            <a:pPr>
              <a:spcAft>
                <a:spcPts val="300"/>
              </a:spcAft>
            </a:pPr>
            <a:r>
              <a:rPr sz="2000" b="1">
                <a:solidFill>
                  <a:srgbClr val="006D77"/>
                </a:solidFill>
              </a:rPr>
              <a:t>1. </a:t>
            </a:r>
            <a:r>
              <a:rPr sz="2000" b="0">
                <a:solidFill>
                  <a:srgbClr val="1F2D3A"/>
                </a:solidFill>
              </a:rPr>
              <a:t>What are the four criteria of a good requirement?</a:t>
            </a:r>
          </a:p>
          <a:p>
            <a:pPr>
              <a:spcAft>
                <a:spcPts val="300"/>
              </a:spcAft>
            </a:pPr>
            <a:r>
              <a:rPr sz="2000" b="1">
                <a:solidFill>
                  <a:srgbClr val="006D77"/>
                </a:solidFill>
              </a:rPr>
              <a:t>2. </a:t>
            </a:r>
            <a:r>
              <a:rPr sz="2000" b="0">
                <a:solidFill>
                  <a:srgbClr val="1F2D3A"/>
                </a:solidFill>
              </a:rPr>
              <a:t>Why is "the application must be secure" bad?</a:t>
            </a:r>
          </a:p>
          <a:p>
            <a:pPr>
              <a:spcAft>
                <a:spcPts val="300"/>
              </a:spcAft>
            </a:pPr>
            <a:r>
              <a:rPr sz="2000" b="1">
                <a:solidFill>
                  <a:srgbClr val="006D77"/>
                </a:solidFill>
              </a:rPr>
              <a:t>3. </a:t>
            </a:r>
            <a:r>
              <a:rPr sz="2000" b="0">
                <a:solidFill>
                  <a:srgbClr val="1F2D3A"/>
                </a:solidFill>
              </a:rPr>
              <a:t>What is the traceability chain?</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13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50</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Sections 1–2 — Answers</a:t>
            </a:r>
          </a:p>
        </p:txBody>
      </p:sp>
      <p:sp>
        <p:nvSpPr>
          <p:cNvPr id="7" name="TextBox 6"/>
          <p:cNvSpPr txBox="1"/>
          <p:nvPr/>
        </p:nvSpPr>
        <p:spPr>
          <a:xfrm>
            <a:off x="640080" y="1325880"/>
            <a:ext cx="10911535" cy="1879600"/>
          </a:xfrm>
          <a:prstGeom prst="rect">
            <a:avLst/>
          </a:prstGeom>
          <a:noFill/>
        </p:spPr>
        <p:txBody>
          <a:bodyPr wrap="square" lIns="45720" rIns="45720">
            <a:spAutoFit/>
          </a:bodyPr>
          <a:lstStyle/>
          <a:p>
            <a:pPr>
              <a:spcAft>
                <a:spcPts val="300"/>
              </a:spcAft>
            </a:pPr>
            <a:r>
              <a:rPr sz="2000" b="1">
                <a:solidFill>
                  <a:srgbClr val="006D77"/>
                </a:solidFill>
              </a:rPr>
              <a:t>1. </a:t>
            </a:r>
            <a:r>
              <a:rPr sz="2000" b="1">
                <a:solidFill>
                  <a:srgbClr val="1F2D3A"/>
                </a:solidFill>
              </a:rPr>
              <a:t>Specific · measurable/verifiable · singular · traceable</a:t>
            </a:r>
            <a:r>
              <a:rPr sz="2000" b="0">
                <a:solidFill>
                  <a:srgbClr val="1F2D3A"/>
                </a:solidFill>
              </a:rPr>
              <a:t> (feasible, atomic).</a:t>
            </a:r>
          </a:p>
          <a:p>
            <a:pPr>
              <a:spcAft>
                <a:spcPts val="300"/>
              </a:spcAft>
            </a:pPr>
            <a:r>
              <a:rPr sz="2000" b="1">
                <a:solidFill>
                  <a:srgbClr val="006D77"/>
                </a:solidFill>
              </a:rPr>
              <a:t>2. </a:t>
            </a:r>
            <a:r>
              <a:rPr sz="2000" b="1">
                <a:solidFill>
                  <a:srgbClr val="1F2D3A"/>
                </a:solidFill>
              </a:rPr>
              <a:t>Vague and unmeasurable</a:t>
            </a:r>
            <a:r>
              <a:rPr sz="2000" b="0">
                <a:solidFill>
                  <a:srgbClr val="1F2D3A"/>
                </a:solidFill>
              </a:rPr>
              <a:t>; "secure" has no definition → cannot be tested, everyone understands it differently.</a:t>
            </a:r>
          </a:p>
          <a:p>
            <a:pPr>
              <a:spcAft>
                <a:spcPts val="300"/>
              </a:spcAft>
            </a:pPr>
            <a:r>
              <a:rPr sz="2000" b="1">
                <a:solidFill>
                  <a:srgbClr val="006D77"/>
                </a:solidFill>
              </a:rPr>
              <a:t>3. </a:t>
            </a:r>
            <a:r>
              <a:rPr sz="2000" b="1">
                <a:solidFill>
                  <a:srgbClr val="1F2D3A"/>
                </a:solidFill>
              </a:rPr>
              <a:t>Threat/standard → requirement → design/code → test/evidence.</a:t>
            </a:r>
            <a:r>
              <a:rPr sz="2000" b="0">
                <a:solidFill>
                  <a:srgbClr val="1F2D3A"/>
                </a:solidFill>
              </a:rPr>
              <a:t> Every requirement is linked </a:t>
            </a:r>
            <a:r>
              <a:rPr sz="2000" b="1">
                <a:solidFill>
                  <a:srgbClr val="1F2D3A"/>
                </a:solidFill>
              </a:rPr>
              <a:t>both ways</a:t>
            </a:r>
            <a:r>
              <a:rPr sz="2000" b="0">
                <a:solidFill>
                  <a:srgbClr val="1F2D3A"/>
                </a:solidFill>
              </a:rPr>
              <a:t> to a source and to evidence.</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006D77"/>
        </a:solidFill>
        <a:effectLst/>
      </p:bgPr>
    </p:bg>
    <p:spTree>
      <p:nvGrpSpPr>
        <p:cNvPr id="1" name=""/>
        <p:cNvGrpSpPr/>
        <p:nvPr/>
      </p:nvGrpSpPr>
      <p:grpSpPr/>
      <p:sp>
        <p:nvSpPr>
          <p:cNvPr id="2" name="TextBox 1"/>
          <p:cNvSpPr txBox="1"/>
          <p:nvPr/>
        </p:nvSpPr>
        <p:spPr>
          <a:xfrm>
            <a:off x="1051560" y="182880"/>
            <a:ext cx="7315200" cy="320040"/>
          </a:xfrm>
          <a:prstGeom prst="rect">
            <a:avLst/>
          </a:prstGeom>
          <a:noFill/>
        </p:spPr>
        <p:txBody>
          <a:bodyPr wrap="square" lIns="45720" rIns="45720">
            <a:spAutoFit/>
          </a:bodyPr>
          <a:lstStyle/>
          <a:p>
            <a:r>
              <a:rPr sz="1100" b="0">
                <a:solidFill>
                  <a:srgbClr val="D8F0F2"/>
                </a:solidFill>
              </a:rPr>
              <a:t>CEN429 Secure Programming · Week 13</a:t>
            </a:r>
          </a:p>
        </p:txBody>
      </p:sp>
      <p:sp>
        <p:nvSpPr>
          <p:cNvPr id="3" name="TextBox 2"/>
          <p:cNvSpPr txBox="1"/>
          <p:nvPr/>
        </p:nvSpPr>
        <p:spPr>
          <a:xfrm>
            <a:off x="640080" y="6446520"/>
            <a:ext cx="7315200" cy="274320"/>
          </a:xfrm>
          <a:prstGeom prst="rect">
            <a:avLst/>
          </a:prstGeom>
          <a:noFill/>
        </p:spPr>
        <p:txBody>
          <a:bodyPr wrap="square" lIns="45720" rIns="45720">
            <a:spAutoFit/>
          </a:bodyPr>
          <a:lstStyle/>
          <a:p>
            <a:r>
              <a:rPr sz="1000" b="0">
                <a:solidFill>
                  <a:srgbClr val="D8F0F2"/>
                </a:solidFill>
              </a:rPr>
              <a:t>RTEU Computer Engineering · 2026-2027 Fall</a:t>
            </a:r>
          </a:p>
        </p:txBody>
      </p:sp>
      <p:sp>
        <p:nvSpPr>
          <p:cNvPr id="4" name="TextBox 3"/>
          <p:cNvSpPr txBox="1"/>
          <p:nvPr/>
        </p:nvSpPr>
        <p:spPr>
          <a:xfrm>
            <a:off x="10637215" y="6446520"/>
            <a:ext cx="914400" cy="274320"/>
          </a:xfrm>
          <a:prstGeom prst="rect">
            <a:avLst/>
          </a:prstGeom>
          <a:noFill/>
        </p:spPr>
        <p:txBody>
          <a:bodyPr wrap="square" lIns="45720" rIns="45720">
            <a:spAutoFit/>
          </a:bodyPr>
          <a:lstStyle/>
          <a:p>
            <a:pPr algn="r"/>
            <a:r>
              <a:rPr sz="1000" b="0">
                <a:solidFill>
                  <a:srgbClr val="D8F0F2"/>
                </a:solidFill>
              </a:rPr>
              <a:t>51</a:t>
            </a:r>
          </a:p>
        </p:txBody>
      </p:sp>
      <p:sp>
        <p:nvSpPr>
          <p:cNvPr id="5" name="TextBox 4"/>
          <p:cNvSpPr txBox="1"/>
          <p:nvPr/>
        </p:nvSpPr>
        <p:spPr>
          <a:xfrm>
            <a:off x="640080" y="2743200"/>
            <a:ext cx="10911535" cy="1280160"/>
          </a:xfrm>
          <a:prstGeom prst="rect">
            <a:avLst/>
          </a:prstGeom>
          <a:noFill/>
        </p:spPr>
        <p:txBody>
          <a:bodyPr wrap="square" lIns="45720" rIns="45720">
            <a:spAutoFit/>
          </a:bodyPr>
          <a:lstStyle/>
          <a:p>
            <a:pPr algn="l"/>
            <a:r>
              <a:rPr sz="4000" b="1">
                <a:solidFill>
                  <a:srgbClr val="FFFFFF"/>
                </a:solidFill>
              </a:rPr>
              <a:t>3. The Requirement Block and Deferred Requirements</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13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52</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Three Deferral Questions — Diagram</a:t>
            </a:r>
          </a:p>
        </p:txBody>
      </p:sp>
      <p:pic>
        <p:nvPicPr>
          <p:cNvPr id="7" name="Picture 6" descr="h13-06-devretme.png"/>
          <p:cNvPicPr>
            <a:picLocks noChangeAspect="1"/>
          </p:cNvPicPr>
          <p:nvPr/>
        </p:nvPicPr>
        <p:blipFill>
          <a:blip r:embed="rId3"/>
          <a:stretch>
            <a:fillRect/>
          </a:stretch>
        </p:blipFill>
        <p:spPr>
          <a:xfrm>
            <a:off x="640080" y="1325880"/>
            <a:ext cx="10911535" cy="3531717"/>
          </a:xfrm>
          <a:prstGeom prst="rect">
            <a:avLst/>
          </a:prstGeom>
        </p:spPr>
      </p:pic>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13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53</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The Requirement-Block Pattern</a:t>
            </a:r>
          </a:p>
        </p:txBody>
      </p:sp>
      <p:sp>
        <p:nvSpPr>
          <p:cNvPr id="7" name="TextBox 6"/>
          <p:cNvSpPr txBox="1"/>
          <p:nvPr/>
        </p:nvSpPr>
        <p:spPr>
          <a:xfrm>
            <a:off x="640080" y="1325880"/>
            <a:ext cx="10911535" cy="439928"/>
          </a:xfrm>
          <a:prstGeom prst="rect">
            <a:avLst/>
          </a:prstGeom>
          <a:noFill/>
        </p:spPr>
        <p:txBody>
          <a:bodyPr wrap="square" lIns="45720" rIns="45720">
            <a:spAutoFit/>
          </a:bodyPr>
          <a:lstStyle/>
          <a:p>
            <a:pPr algn="l"/>
            <a:r>
              <a:rPr sz="2000" b="0">
                <a:solidFill>
                  <a:srgbClr val="1F2D3A"/>
                </a:solidFill>
              </a:rPr>
              <a:t>Every requirement is written as a </a:t>
            </a:r>
            <a:r>
              <a:rPr sz="2000" b="1">
                <a:solidFill>
                  <a:srgbClr val="1F2D3A"/>
                </a:solidFill>
              </a:rPr>
              <a:t>block</a:t>
            </a:r>
            <a:r>
              <a:rPr sz="2000" b="0">
                <a:solidFill>
                  <a:srgbClr val="1F2D3A"/>
                </a:solidFill>
              </a:rPr>
              <a:t>:</a:t>
            </a:r>
          </a:p>
        </p:txBody>
      </p:sp>
      <p:sp>
        <p:nvSpPr>
          <p:cNvPr id="8" name="TextBox 7"/>
          <p:cNvSpPr txBox="1"/>
          <p:nvPr/>
        </p:nvSpPr>
        <p:spPr>
          <a:xfrm>
            <a:off x="640080" y="1875536"/>
            <a:ext cx="10911535" cy="1971040"/>
          </a:xfrm>
          <a:prstGeom prst="rect">
            <a:avLst/>
          </a:prstGeom>
          <a:noFill/>
        </p:spPr>
        <p:txBody>
          <a:bodyPr wrap="square" lIns="45720" rIns="45720">
            <a:spAutoFit/>
          </a:bodyPr>
          <a:lstStyle/>
          <a:p>
            <a:pPr>
              <a:spcAft>
                <a:spcPts val="300"/>
              </a:spcAft>
            </a:pPr>
            <a:r>
              <a:rPr sz="2000" b="1">
                <a:solidFill>
                  <a:srgbClr val="006D77"/>
                </a:solidFill>
              </a:rPr>
              <a:t>• </a:t>
            </a:r>
            <a:r>
              <a:rPr sz="2000" b="1">
                <a:solidFill>
                  <a:srgbClr val="1F2D3A"/>
                </a:solidFill>
              </a:rPr>
              <a:t>Id:</a:t>
            </a:r>
            <a:r>
              <a:rPr sz="2000" b="0">
                <a:solidFill>
                  <a:srgbClr val="1F2D3A"/>
                </a:solidFill>
              </a:rPr>
              <a:t> a unique number (e.g., CEN429-DU-01)</a:t>
            </a:r>
          </a:p>
          <a:p>
            <a:pPr>
              <a:spcAft>
                <a:spcPts val="300"/>
              </a:spcAft>
            </a:pPr>
            <a:r>
              <a:rPr sz="2000" b="1">
                <a:solidFill>
                  <a:srgbClr val="006D77"/>
                </a:solidFill>
              </a:rPr>
              <a:t>• </a:t>
            </a:r>
            <a:r>
              <a:rPr sz="2000" b="1">
                <a:solidFill>
                  <a:srgbClr val="1F2D3A"/>
                </a:solidFill>
              </a:rPr>
              <a:t>Text:</a:t>
            </a:r>
            <a:r>
              <a:rPr sz="2000" b="0">
                <a:solidFill>
                  <a:srgbClr val="1F2D3A"/>
                </a:solidFill>
              </a:rPr>
              <a:t> what is asked for (singular, measurable)</a:t>
            </a:r>
          </a:p>
          <a:p>
            <a:pPr>
              <a:spcAft>
                <a:spcPts val="300"/>
              </a:spcAft>
            </a:pPr>
            <a:r>
              <a:rPr sz="2000" b="1">
                <a:solidFill>
                  <a:srgbClr val="006D77"/>
                </a:solidFill>
              </a:rPr>
              <a:t>• </a:t>
            </a:r>
            <a:r>
              <a:rPr sz="2000" b="1">
                <a:solidFill>
                  <a:srgbClr val="1F2D3A"/>
                </a:solidFill>
              </a:rPr>
              <a:t>Status:</a:t>
            </a:r>
            <a:r>
              <a:rPr sz="2000" b="0">
                <a:solidFill>
                  <a:srgbClr val="1F2D3A"/>
                </a:solidFill>
              </a:rPr>
              <a:t> met / deferred / not met</a:t>
            </a:r>
          </a:p>
          <a:p>
            <a:pPr>
              <a:spcAft>
                <a:spcPts val="300"/>
              </a:spcAft>
            </a:pPr>
            <a:r>
              <a:rPr sz="2000" b="1">
                <a:solidFill>
                  <a:srgbClr val="006D77"/>
                </a:solidFill>
              </a:rPr>
              <a:t>• </a:t>
            </a:r>
            <a:r>
              <a:rPr sz="2000" b="1">
                <a:solidFill>
                  <a:srgbClr val="1F2D3A"/>
                </a:solidFill>
              </a:rPr>
              <a:t>Compliance:</a:t>
            </a:r>
            <a:r>
              <a:rPr sz="2000" b="0">
                <a:solidFill>
                  <a:srgbClr val="1F2D3A"/>
                </a:solidFill>
              </a:rPr>
              <a:t> how it was met</a:t>
            </a:r>
          </a:p>
          <a:p>
            <a:pPr>
              <a:spcAft>
                <a:spcPts val="300"/>
              </a:spcAft>
            </a:pPr>
            <a:r>
              <a:rPr sz="2000" b="1">
                <a:solidFill>
                  <a:srgbClr val="006D77"/>
                </a:solidFill>
              </a:rPr>
              <a:t>• </a:t>
            </a:r>
            <a:r>
              <a:rPr sz="2000" b="1">
                <a:solidFill>
                  <a:srgbClr val="1F2D3A"/>
                </a:solidFill>
              </a:rPr>
              <a:t>Verification + evidence</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13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54</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Example Block</a:t>
            </a:r>
          </a:p>
        </p:txBody>
      </p:sp>
      <p:sp>
        <p:nvSpPr>
          <p:cNvPr id="7" name="Rectangle 6"/>
          <p:cNvSpPr/>
          <p:nvPr/>
        </p:nvSpPr>
        <p:spPr>
          <a:xfrm>
            <a:off x="640080" y="1325880"/>
            <a:ext cx="10911535" cy="1408176"/>
          </a:xfrm>
          <a:prstGeom prst="rect">
            <a:avLst/>
          </a:prstGeom>
          <a:solidFill>
            <a:srgbClr val="F3F4F6"/>
          </a:solidFill>
          <a:ln>
            <a:solidFill>
              <a:srgbClr val="D9DEE3"/>
            </a:solidFill>
          </a:ln>
        </p:spPr>
        <p:style>
          <a:lnRef idx="1">
            <a:schemeClr val="accent1"/>
          </a:lnRef>
          <a:fillRef idx="3">
            <a:schemeClr val="accent1"/>
          </a:fillRef>
          <a:effectRef idx="2">
            <a:schemeClr val="accent1"/>
          </a:effectRef>
          <a:fontRef idx="minor">
            <a:schemeClr val="lt1"/>
          </a:fontRef>
        </p:style>
        <p:txBody>
          <a:bodyPr rtlCol="0" anchor="t" wrap="none" lIns="137160" rIns="137160" tIns="91440" bIns="91440"/>
          <a:lstStyle/>
          <a:p>
            <a:pPr algn="l"/>
            <a:r>
              <a:rPr sz="1240">
                <a:solidFill>
                  <a:srgbClr val="1F2D3A"/>
                </a:solidFill>
                <a:latin typeface="Consolas"/>
              </a:rPr>
              <a:t>CEN429-DU-01</a:t>
            </a:r>
          </a:p>
          <a:p>
            <a:pPr algn="l"/>
            <a:r>
              <a:rPr sz="1240">
                <a:solidFill>
                  <a:srgbClr val="1F2D3A"/>
                </a:solidFill>
                <a:latin typeface="Consolas"/>
              </a:rPr>
              <a:t>Metin: Yerel DB'deki C sınıfı veri AEAD ile şifrelenir.</a:t>
            </a:r>
          </a:p>
          <a:p>
            <a:pPr algn="l"/>
            <a:r>
              <a:rPr sz="1240">
                <a:solidFill>
                  <a:srgbClr val="1F2D3A"/>
                </a:solidFill>
                <a:latin typeface="Consolas"/>
              </a:rPr>
              <a:t>Durum: Karşılandı</a:t>
            </a:r>
          </a:p>
          <a:p>
            <a:pPr algn="l"/>
            <a:r>
              <a:rPr sz="1240">
                <a:solidFill>
                  <a:srgbClr val="1F2D3A"/>
                </a:solidFill>
                <a:latin typeface="Consolas"/>
              </a:rPr>
              <a:t>Karşılama: AES-256-GCM, anahtar TEE'de</a:t>
            </a:r>
          </a:p>
          <a:p>
            <a:pPr algn="l"/>
            <a:r>
              <a:rPr sz="1240">
                <a:solidFill>
                  <a:srgbClr val="1F2D3A"/>
                </a:solidFill>
                <a:latin typeface="Consolas"/>
              </a:rPr>
              <a:t>Doğrulama: T-05 birim testi</a:t>
            </a:r>
          </a:p>
          <a:p>
            <a:pPr algn="l"/>
            <a:r>
              <a:rPr sz="1240">
                <a:solidFill>
                  <a:srgbClr val="1F2D3A"/>
                </a:solidFill>
                <a:latin typeface="Consolas"/>
              </a:rPr>
              <a:t>Kanıt: test çıktısı, S16</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13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55</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Why a Block?</a:t>
            </a:r>
          </a:p>
        </p:txBody>
      </p:sp>
      <p:sp>
        <p:nvSpPr>
          <p:cNvPr id="7" name="TextBox 6"/>
          <p:cNvSpPr txBox="1"/>
          <p:nvPr/>
        </p:nvSpPr>
        <p:spPr>
          <a:xfrm>
            <a:off x="640080" y="1325880"/>
            <a:ext cx="10911535" cy="1219200"/>
          </a:xfrm>
          <a:prstGeom prst="rect">
            <a:avLst/>
          </a:prstGeom>
          <a:noFill/>
        </p:spPr>
        <p:txBody>
          <a:bodyPr wrap="square" lIns="45720" rIns="45720">
            <a:spAutoFit/>
          </a:bodyPr>
          <a:lstStyle/>
          <a:p>
            <a:pPr>
              <a:spcAft>
                <a:spcPts val="300"/>
              </a:spcAft>
            </a:pPr>
            <a:r>
              <a:rPr sz="2000" b="1">
                <a:solidFill>
                  <a:srgbClr val="006D77"/>
                </a:solidFill>
              </a:rPr>
              <a:t>• </a:t>
            </a:r>
            <a:r>
              <a:rPr sz="2000" b="0">
                <a:solidFill>
                  <a:srgbClr val="1F2D3A"/>
                </a:solidFill>
              </a:rPr>
              <a:t>Every requirement has the same structure → </a:t>
            </a:r>
            <a:r>
              <a:rPr sz="2000" b="1">
                <a:solidFill>
                  <a:srgbClr val="1F2D3A"/>
                </a:solidFill>
              </a:rPr>
              <a:t>comparable</a:t>
            </a:r>
            <a:r>
              <a:rPr sz="2000" b="0">
                <a:solidFill>
                  <a:srgbClr val="1F2D3A"/>
                </a:solidFill>
              </a:rPr>
              <a:t>.</a:t>
            </a:r>
          </a:p>
          <a:p>
            <a:pPr>
              <a:spcAft>
                <a:spcPts val="300"/>
              </a:spcAft>
            </a:pPr>
            <a:r>
              <a:rPr sz="2000" b="1">
                <a:solidFill>
                  <a:srgbClr val="006D77"/>
                </a:solidFill>
              </a:rPr>
              <a:t>• </a:t>
            </a:r>
            <a:r>
              <a:rPr sz="2000" b="0">
                <a:solidFill>
                  <a:srgbClr val="1F2D3A"/>
                </a:solidFill>
              </a:rPr>
              <a:t>The evaluator reads it fast.</a:t>
            </a:r>
          </a:p>
          <a:p>
            <a:pPr>
              <a:spcAft>
                <a:spcPts val="300"/>
              </a:spcAft>
            </a:pPr>
            <a:r>
              <a:rPr sz="2000" b="1">
                <a:solidFill>
                  <a:srgbClr val="006D77"/>
                </a:solidFill>
              </a:rPr>
              <a:t>• </a:t>
            </a:r>
            <a:r>
              <a:rPr sz="2000" b="0">
                <a:solidFill>
                  <a:srgbClr val="1F2D3A"/>
                </a:solidFill>
              </a:rPr>
              <a:t>The compliance matrix is produced from these blocks.</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13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56</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What Is a Deferred Requirement?</a:t>
            </a:r>
          </a:p>
        </p:txBody>
      </p:sp>
      <p:sp>
        <p:nvSpPr>
          <p:cNvPr id="7" name="TextBox 6"/>
          <p:cNvSpPr txBox="1"/>
          <p:nvPr/>
        </p:nvSpPr>
        <p:spPr>
          <a:xfrm>
            <a:off x="640080" y="1325880"/>
            <a:ext cx="10911535" cy="1219200"/>
          </a:xfrm>
          <a:prstGeom prst="rect">
            <a:avLst/>
          </a:prstGeom>
          <a:noFill/>
        </p:spPr>
        <p:txBody>
          <a:bodyPr wrap="square" lIns="45720" rIns="45720">
            <a:spAutoFit/>
          </a:bodyPr>
          <a:lstStyle/>
          <a:p>
            <a:pPr>
              <a:spcAft>
                <a:spcPts val="300"/>
              </a:spcAft>
            </a:pPr>
            <a:r>
              <a:rPr sz="2000" b="1">
                <a:solidFill>
                  <a:srgbClr val="006D77"/>
                </a:solidFill>
              </a:rPr>
              <a:t>• </a:t>
            </a:r>
            <a:r>
              <a:rPr sz="2000" b="0">
                <a:solidFill>
                  <a:srgbClr val="1F2D3A"/>
                </a:solidFill>
              </a:rPr>
              <a:t>A component </a:t>
            </a:r>
            <a:r>
              <a:rPr sz="2000" b="1">
                <a:solidFill>
                  <a:srgbClr val="1F2D3A"/>
                </a:solidFill>
              </a:rPr>
              <a:t>cannot meet</a:t>
            </a:r>
            <a:r>
              <a:rPr sz="2000" b="0">
                <a:solidFill>
                  <a:srgbClr val="1F2D3A"/>
                </a:solidFill>
              </a:rPr>
              <a:t> a requirement </a:t>
            </a:r>
            <a:r>
              <a:rPr sz="2000" b="1">
                <a:solidFill>
                  <a:srgbClr val="1F2D3A"/>
                </a:solidFill>
              </a:rPr>
              <a:t>itself</a:t>
            </a:r>
            <a:r>
              <a:rPr sz="2000" b="0">
                <a:solidFill>
                  <a:srgbClr val="1F2D3A"/>
                </a:solidFill>
              </a:rPr>
              <a:t>.</a:t>
            </a:r>
          </a:p>
          <a:p>
            <a:pPr>
              <a:spcAft>
                <a:spcPts val="300"/>
              </a:spcAft>
            </a:pPr>
            <a:r>
              <a:rPr sz="2000" b="1">
                <a:solidFill>
                  <a:srgbClr val="006D77"/>
                </a:solidFill>
              </a:rPr>
              <a:t>• </a:t>
            </a:r>
            <a:r>
              <a:rPr sz="2000" b="0">
                <a:solidFill>
                  <a:srgbClr val="1F2D3A"/>
                </a:solidFill>
              </a:rPr>
              <a:t>It </a:t>
            </a:r>
            <a:r>
              <a:rPr sz="2000" b="1">
                <a:solidFill>
                  <a:srgbClr val="1F2D3A"/>
                </a:solidFill>
              </a:rPr>
              <a:t>defers</a:t>
            </a:r>
            <a:r>
              <a:rPr sz="2000" b="0">
                <a:solidFill>
                  <a:srgbClr val="1F2D3A"/>
                </a:solidFill>
              </a:rPr>
              <a:t> the responsibility to the parent application/OS/hardware.</a:t>
            </a:r>
          </a:p>
          <a:p>
            <a:pPr>
              <a:spcAft>
                <a:spcPts val="300"/>
              </a:spcAft>
            </a:pPr>
            <a:r>
              <a:rPr sz="2000" b="1">
                <a:solidFill>
                  <a:srgbClr val="006D77"/>
                </a:solidFill>
              </a:rPr>
              <a:t>• </a:t>
            </a:r>
            <a:r>
              <a:rPr sz="2000" b="0">
                <a:solidFill>
                  <a:srgbClr val="1F2D3A"/>
                </a:solidFill>
              </a:rPr>
              <a:t>This is not an escape, it is an </a:t>
            </a:r>
            <a:r>
              <a:rPr sz="2000" b="1">
                <a:solidFill>
                  <a:srgbClr val="1F2D3A"/>
                </a:solidFill>
              </a:rPr>
              <a:t>explicit contract</a:t>
            </a:r>
            <a:r>
              <a:rPr sz="2000" b="0">
                <a:solidFill>
                  <a:srgbClr val="1F2D3A"/>
                </a:solidFill>
              </a:rPr>
              <a:t>.</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13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57</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Three Questions When Deferring</a:t>
            </a:r>
          </a:p>
        </p:txBody>
      </p:sp>
      <p:sp>
        <p:nvSpPr>
          <p:cNvPr id="7" name="TextBox 6"/>
          <p:cNvSpPr txBox="1"/>
          <p:nvPr/>
        </p:nvSpPr>
        <p:spPr>
          <a:xfrm>
            <a:off x="640080" y="1325880"/>
            <a:ext cx="10911535" cy="439928"/>
          </a:xfrm>
          <a:prstGeom prst="rect">
            <a:avLst/>
          </a:prstGeom>
          <a:noFill/>
        </p:spPr>
        <p:txBody>
          <a:bodyPr wrap="square" lIns="45720" rIns="45720">
            <a:spAutoFit/>
          </a:bodyPr>
          <a:lstStyle/>
          <a:p>
            <a:pPr algn="l"/>
            <a:r>
              <a:rPr sz="2000" b="0">
                <a:solidFill>
                  <a:srgbClr val="1F2D3A"/>
                </a:solidFill>
              </a:rPr>
              <a:t>Write, for every deferred requirement:</a:t>
            </a:r>
          </a:p>
        </p:txBody>
      </p:sp>
      <p:sp>
        <p:nvSpPr>
          <p:cNvPr id="8" name="TextBox 7"/>
          <p:cNvSpPr txBox="1"/>
          <p:nvPr/>
        </p:nvSpPr>
        <p:spPr>
          <a:xfrm>
            <a:off x="640080" y="1875536"/>
            <a:ext cx="10911535" cy="1219200"/>
          </a:xfrm>
          <a:prstGeom prst="rect">
            <a:avLst/>
          </a:prstGeom>
          <a:noFill/>
        </p:spPr>
        <p:txBody>
          <a:bodyPr wrap="square" lIns="45720" rIns="45720">
            <a:spAutoFit/>
          </a:bodyPr>
          <a:lstStyle/>
          <a:p>
            <a:pPr>
              <a:spcAft>
                <a:spcPts val="300"/>
              </a:spcAft>
            </a:pPr>
            <a:r>
              <a:rPr sz="2000" b="1">
                <a:solidFill>
                  <a:srgbClr val="006D77"/>
                </a:solidFill>
              </a:rPr>
              <a:t>• </a:t>
            </a:r>
            <a:r>
              <a:rPr sz="2000" b="1">
                <a:solidFill>
                  <a:srgbClr val="1F2D3A"/>
                </a:solidFill>
              </a:rPr>
              <a:t>To whom?</a:t>
            </a:r>
            <a:r>
              <a:rPr sz="2000" b="0">
                <a:solidFill>
                  <a:srgbClr val="1F2D3A"/>
                </a:solidFill>
              </a:rPr>
              <a:t> (parent application / OS / hardware)</a:t>
            </a:r>
          </a:p>
          <a:p>
            <a:pPr>
              <a:spcAft>
                <a:spcPts val="300"/>
              </a:spcAft>
            </a:pPr>
            <a:r>
              <a:rPr sz="2000" b="1">
                <a:solidFill>
                  <a:srgbClr val="006D77"/>
                </a:solidFill>
              </a:rPr>
              <a:t>• </a:t>
            </a:r>
            <a:r>
              <a:rPr sz="2000" b="1">
                <a:solidFill>
                  <a:srgbClr val="1F2D3A"/>
                </a:solidFill>
              </a:rPr>
              <a:t>Why?</a:t>
            </a:r>
            <a:r>
              <a:rPr sz="2000" b="0">
                <a:solidFill>
                  <a:srgbClr val="1F2D3A"/>
                </a:solidFill>
              </a:rPr>
              <a:t> (why this component cannot meet it)</a:t>
            </a:r>
          </a:p>
          <a:p>
            <a:pPr>
              <a:spcAft>
                <a:spcPts val="300"/>
              </a:spcAft>
            </a:pPr>
            <a:r>
              <a:rPr sz="2000" b="1">
                <a:solidFill>
                  <a:srgbClr val="006D77"/>
                </a:solidFill>
              </a:rPr>
              <a:t>• </a:t>
            </a:r>
            <a:r>
              <a:rPr sz="2000" b="1">
                <a:solidFill>
                  <a:srgbClr val="1F2D3A"/>
                </a:solidFill>
              </a:rPr>
              <a:t>How?</a:t>
            </a:r>
            <a:r>
              <a:rPr sz="2000" b="0">
                <a:solidFill>
                  <a:srgbClr val="1F2D3A"/>
                </a:solidFill>
              </a:rPr>
              <a:t> (how the other party will meet it)</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13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58</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Deferred · Example</a:t>
            </a:r>
          </a:p>
        </p:txBody>
      </p:sp>
      <p:sp>
        <p:nvSpPr>
          <p:cNvPr id="7" name="Rectangle 6"/>
          <p:cNvSpPr/>
          <p:nvPr/>
        </p:nvSpPr>
        <p:spPr>
          <a:xfrm>
            <a:off x="640080" y="1325880"/>
            <a:ext cx="10911535" cy="1219200"/>
          </a:xfrm>
          <a:prstGeom prst="rect">
            <a:avLst/>
          </a:prstGeom>
          <a:solidFill>
            <a:srgbClr val="F3F4F6"/>
          </a:solidFill>
          <a:ln>
            <a:solidFill>
              <a:srgbClr val="D9DEE3"/>
            </a:solidFill>
          </a:ln>
        </p:spPr>
        <p:style>
          <a:lnRef idx="1">
            <a:schemeClr val="accent1"/>
          </a:lnRef>
          <a:fillRef idx="3">
            <a:schemeClr val="accent1"/>
          </a:fillRef>
          <a:effectRef idx="2">
            <a:schemeClr val="accent1"/>
          </a:effectRef>
          <a:fontRef idx="minor">
            <a:schemeClr val="lt1"/>
          </a:fontRef>
        </p:style>
        <p:txBody>
          <a:bodyPr rtlCol="0" anchor="t" wrap="none" lIns="137160" rIns="137160" tIns="91440" bIns="91440"/>
          <a:lstStyle/>
          <a:p>
            <a:pPr algn="l"/>
            <a:r>
              <a:rPr sz="1240">
                <a:solidFill>
                  <a:srgbClr val="1F2D3A"/>
                </a:solidFill>
                <a:latin typeface="Consolas"/>
              </a:rPr>
              <a:t>CEN429-AP-03: Güvenli kurulum ve güncelleme</a:t>
            </a:r>
          </a:p>
          <a:p>
            <a:pPr algn="l"/>
            <a:r>
              <a:rPr sz="1240">
                <a:solidFill>
                  <a:srgbClr val="1F2D3A"/>
                </a:solidFill>
                <a:latin typeface="Consolas"/>
              </a:rPr>
              <a:t>Durum: Devredildi</a:t>
            </a:r>
          </a:p>
          <a:p>
            <a:pPr algn="l"/>
            <a:r>
              <a:rPr sz="1240">
                <a:solidFill>
                  <a:srgbClr val="1F2D3A"/>
                </a:solidFill>
                <a:latin typeface="Consolas"/>
              </a:rPr>
              <a:t>Kime: Üst mobil uygulama (MPA)</a:t>
            </a:r>
          </a:p>
          <a:p>
            <a:pPr algn="l"/>
            <a:r>
              <a:rPr sz="1240">
                <a:solidFill>
                  <a:srgbClr val="1F2D3A"/>
                </a:solidFill>
                <a:latin typeface="Consolas"/>
              </a:rPr>
              <a:t>Neden: SDK dağıtım kanalına sahip değil</a:t>
            </a:r>
          </a:p>
          <a:p>
            <a:pPr algn="l"/>
            <a:r>
              <a:rPr sz="1240">
                <a:solidFill>
                  <a:srgbClr val="1F2D3A"/>
                </a:solidFill>
                <a:latin typeface="Consolas"/>
              </a:rPr>
              <a:t>Nasıl: MPA imzalı güncelleme + sürüm denetimi sağlar</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13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59</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 No Silent Deferring</a:t>
            </a:r>
          </a:p>
        </p:txBody>
      </p:sp>
      <p:sp>
        <p:nvSpPr>
          <p:cNvPr id="7" name="TextBox 6"/>
          <p:cNvSpPr txBox="1"/>
          <p:nvPr/>
        </p:nvSpPr>
        <p:spPr>
          <a:xfrm>
            <a:off x="640080" y="1325880"/>
            <a:ext cx="10911535" cy="1219200"/>
          </a:xfrm>
          <a:prstGeom prst="rect">
            <a:avLst/>
          </a:prstGeom>
          <a:noFill/>
        </p:spPr>
        <p:txBody>
          <a:bodyPr wrap="square" lIns="45720" rIns="45720">
            <a:spAutoFit/>
          </a:bodyPr>
          <a:lstStyle/>
          <a:p>
            <a:pPr>
              <a:spcAft>
                <a:spcPts val="300"/>
              </a:spcAft>
            </a:pPr>
            <a:r>
              <a:rPr sz="2000" b="1">
                <a:solidFill>
                  <a:srgbClr val="006D77"/>
                </a:solidFill>
              </a:rPr>
              <a:t>• </a:t>
            </a:r>
            <a:r>
              <a:rPr sz="2000" b="0">
                <a:solidFill>
                  <a:srgbClr val="1F2D3A"/>
                </a:solidFill>
              </a:rPr>
              <a:t>If you don't meet a requirement and </a:t>
            </a:r>
            <a:r>
              <a:rPr sz="2000" b="1">
                <a:solidFill>
                  <a:srgbClr val="1F2D3A"/>
                </a:solidFill>
              </a:rPr>
              <a:t>don't write it down</a:t>
            </a:r>
            <a:r>
              <a:rPr sz="2000" b="0">
                <a:solidFill>
                  <a:srgbClr val="1F2D3A"/>
                </a:solidFill>
              </a:rPr>
              <a:t> → a gap.</a:t>
            </a:r>
          </a:p>
          <a:p>
            <a:pPr>
              <a:spcAft>
                <a:spcPts val="300"/>
              </a:spcAft>
            </a:pPr>
            <a:r>
              <a:rPr sz="2000" b="1">
                <a:solidFill>
                  <a:srgbClr val="006D77"/>
                </a:solidFill>
              </a:rPr>
              <a:t>• </a:t>
            </a:r>
            <a:r>
              <a:rPr sz="2000" b="0">
                <a:solidFill>
                  <a:srgbClr val="1F2D3A"/>
                </a:solidFill>
              </a:rPr>
              <a:t>Deferring must be </a:t>
            </a:r>
            <a:r>
              <a:rPr sz="2000" b="1">
                <a:solidFill>
                  <a:srgbClr val="1F2D3A"/>
                </a:solidFill>
              </a:rPr>
              <a:t>documented</a:t>
            </a:r>
            <a:r>
              <a:rPr sz="2000" b="0">
                <a:solidFill>
                  <a:srgbClr val="1F2D3A"/>
                </a:solidFill>
              </a:rPr>
              <a:t>; otherwise it counts as "not met."</a:t>
            </a:r>
          </a:p>
          <a:p>
            <a:pPr>
              <a:spcAft>
                <a:spcPts val="300"/>
              </a:spcAft>
            </a:pPr>
            <a:r>
              <a:rPr sz="2000" b="1">
                <a:solidFill>
                  <a:srgbClr val="006D77"/>
                </a:solidFill>
              </a:rPr>
              <a:t>• </a:t>
            </a:r>
            <a:r>
              <a:rPr sz="2000" b="0">
                <a:solidFill>
                  <a:srgbClr val="1F2D3A"/>
                </a:solidFill>
              </a:rPr>
              <a:t>The S14 section exists exactly for this.</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13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60</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Met, or Deferred?</a:t>
            </a:r>
          </a:p>
        </p:txBody>
      </p:sp>
      <p:graphicFrame>
        <p:nvGraphicFramePr>
          <p:cNvPr id="7" name="Table 6"/>
          <p:cNvGraphicFramePr>
            <a:graphicFrameLocks noGrp="1"/>
          </p:cNvGraphicFramePr>
          <p:nvPr/>
        </p:nvGraphicFramePr>
        <p:xfrm>
          <a:off x="640080" y="1325880"/>
          <a:ext cx="10729675" cy="1527048"/>
        </p:xfrm>
        <a:graphic>
          <a:graphicData uri="http://schemas.openxmlformats.org/drawingml/2006/table">
            <a:tbl>
              <a:tblPr firstRow="1" bandRow="1">
                <a:tableStyleId>{5C22544A-7EE6-4342-B048-85BDC9FD1C3A}</a:tableStyleId>
              </a:tblPr>
              <a:tblGrid>
                <a:gridCol w="2182306"/>
                <a:gridCol w="8547369"/>
              </a:tblGrid>
              <a:tr h="381762">
                <a:tc>
                  <a:txBody>
                    <a:bodyPr wrap="square"/>
                    <a:lstStyle/>
                    <a:p>
                      <a:r>
                        <a:rPr sz="1439" b="1">
                          <a:solidFill>
                            <a:srgbClr val="FFFFFF"/>
                          </a:solidFill>
                        </a:rPr>
                        <a:t>Status</a:t>
                      </a:r>
                    </a:p>
                  </a:txBody>
                  <a:tcPr marL="54864" marR="54864" marT="27432" marB="27432" anchor="ctr">
                    <a:solidFill>
                      <a:srgbClr val="006D77"/>
                    </a:solidFill>
                  </a:tcPr>
                </a:tc>
                <a:tc>
                  <a:txBody>
                    <a:bodyPr wrap="square"/>
                    <a:lstStyle/>
                    <a:p>
                      <a:r>
                        <a:rPr sz="1439" b="1">
                          <a:solidFill>
                            <a:srgbClr val="FFFFFF"/>
                          </a:solidFill>
                        </a:rPr>
                        <a:t>Meaning</a:t>
                      </a:r>
                    </a:p>
                  </a:txBody>
                  <a:tcPr marL="54864" marR="54864" marT="27432" marB="27432" anchor="ctr">
                    <a:solidFill>
                      <a:srgbClr val="006D77"/>
                    </a:solidFill>
                  </a:tcPr>
                </a:tc>
              </a:tr>
              <a:tr h="381762">
                <a:tc>
                  <a:txBody>
                    <a:bodyPr wrap="square"/>
                    <a:lstStyle/>
                    <a:p>
                      <a:r>
                        <a:rPr sz="1439" b="0">
                          <a:solidFill>
                            <a:srgbClr val="1F2D3A"/>
                          </a:solidFill>
                        </a:rPr>
                        <a:t>Met</a:t>
                      </a:r>
                    </a:p>
                  </a:txBody>
                  <a:tcPr marL="54864" marR="54864" marT="27432" marB="27432" anchor="ctr">
                    <a:solidFill>
                      <a:srgbClr val="FFFFFF"/>
                    </a:solidFill>
                  </a:tcPr>
                </a:tc>
                <a:tc>
                  <a:txBody>
                    <a:bodyPr wrap="square"/>
                    <a:lstStyle/>
                    <a:p>
                      <a:r>
                        <a:rPr sz="1439" b="0">
                          <a:solidFill>
                            <a:srgbClr val="1F2D3A"/>
                          </a:solidFill>
                        </a:rPr>
                        <a:t>The product provides it (with evidence)</a:t>
                      </a:r>
                    </a:p>
                  </a:txBody>
                  <a:tcPr marL="54864" marR="54864" marT="27432" marB="27432" anchor="ctr">
                    <a:solidFill>
                      <a:srgbClr val="FFFFFF"/>
                    </a:solidFill>
                  </a:tcPr>
                </a:tc>
              </a:tr>
              <a:tr h="381762">
                <a:tc>
                  <a:txBody>
                    <a:bodyPr wrap="square"/>
                    <a:lstStyle/>
                    <a:p>
                      <a:r>
                        <a:rPr sz="1439" b="0">
                          <a:solidFill>
                            <a:srgbClr val="1F2D3A"/>
                          </a:solidFill>
                        </a:rPr>
                        <a:t>Deferred</a:t>
                      </a:r>
                    </a:p>
                  </a:txBody>
                  <a:tcPr marL="54864" marR="54864" marT="27432" marB="27432" anchor="ctr">
                    <a:solidFill>
                      <a:srgbClr val="EEF7F8"/>
                    </a:solidFill>
                  </a:tcPr>
                </a:tc>
                <a:tc>
                  <a:txBody>
                    <a:bodyPr wrap="square"/>
                    <a:lstStyle/>
                    <a:p>
                      <a:r>
                        <a:rPr sz="1439" b="0">
                          <a:solidFill>
                            <a:srgbClr val="1F2D3A"/>
                          </a:solidFill>
                        </a:rPr>
                        <a:t>Another party provides it (to whom/why/how)</a:t>
                      </a:r>
                    </a:p>
                  </a:txBody>
                  <a:tcPr marL="54864" marR="54864" marT="27432" marB="27432" anchor="ctr">
                    <a:solidFill>
                      <a:srgbClr val="EEF7F8"/>
                    </a:solidFill>
                  </a:tcPr>
                </a:tc>
              </a:tr>
              <a:tr h="381762">
                <a:tc>
                  <a:txBody>
                    <a:bodyPr wrap="square"/>
                    <a:lstStyle/>
                    <a:p>
                      <a:r>
                        <a:rPr sz="1439" b="0">
                          <a:solidFill>
                            <a:srgbClr val="1F2D3A"/>
                          </a:solidFill>
                        </a:rPr>
                        <a:t>Not met</a:t>
                      </a:r>
                    </a:p>
                  </a:txBody>
                  <a:tcPr marL="54864" marR="54864" marT="27432" marB="27432" anchor="ctr">
                    <a:solidFill>
                      <a:srgbClr val="FFFFFF"/>
                    </a:solidFill>
                  </a:tcPr>
                </a:tc>
                <a:tc>
                  <a:txBody>
                    <a:bodyPr wrap="square"/>
                    <a:lstStyle/>
                    <a:p>
                      <a:r>
                        <a:rPr sz="1439" b="0">
                          <a:solidFill>
                            <a:srgbClr val="1F2D3A"/>
                          </a:solidFill>
                        </a:rPr>
                        <a:t>Not yet there (residual risk)</a:t>
                      </a:r>
                    </a:p>
                  </a:txBody>
                  <a:tcPr marL="54864" marR="54864" marT="27432" marB="27432" anchor="ctr">
                    <a:solidFill>
                      <a:srgbClr val="FFFFFF"/>
                    </a:solidFill>
                  </a:tcPr>
                </a:tc>
              </a:tr>
            </a:tbl>
          </a:graphicData>
        </a:graphic>
      </p:graphicFrame>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13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61</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Worked Example · Filling In the Block (Met)</a:t>
            </a:r>
          </a:p>
        </p:txBody>
      </p:sp>
      <p:sp>
        <p:nvSpPr>
          <p:cNvPr id="7" name="TextBox 6"/>
          <p:cNvSpPr txBox="1"/>
          <p:nvPr/>
        </p:nvSpPr>
        <p:spPr>
          <a:xfrm>
            <a:off x="640080" y="1325880"/>
            <a:ext cx="10911535" cy="439928"/>
          </a:xfrm>
          <a:prstGeom prst="rect">
            <a:avLst/>
          </a:prstGeom>
          <a:noFill/>
        </p:spPr>
        <p:txBody>
          <a:bodyPr wrap="square" lIns="45720" rIns="45720">
            <a:spAutoFit/>
          </a:bodyPr>
          <a:lstStyle/>
          <a:p>
            <a:pPr algn="l"/>
            <a:r>
              <a:rPr sz="2000" b="0">
                <a:solidFill>
                  <a:srgbClr val="1F2D3A"/>
                </a:solidFill>
              </a:rPr>
              <a:t>This is the </a:t>
            </a:r>
            <a:r>
              <a:rPr sz="2000" b="1">
                <a:solidFill>
                  <a:srgbClr val="1F2D3A"/>
                </a:solidFill>
              </a:rPr>
              <a:t>written-into-the-guide</a:t>
            </a:r>
            <a:r>
              <a:rPr sz="2000" b="0">
                <a:solidFill>
                  <a:srgbClr val="1F2D3A"/>
                </a:solidFill>
              </a:rPr>
              <a:t> form of the </a:t>
            </a:r>
            <a:r>
              <a:rPr sz="2000" b="0">
                <a:solidFill>
                  <a:srgbClr val="A1123F"/>
                </a:solidFill>
                <a:latin typeface="Consolas"/>
              </a:rPr>
              <a:t>CEN429-DR-01</a:t>
            </a:r>
            <a:r>
              <a:rPr sz="2000" b="0">
                <a:solidFill>
                  <a:srgbClr val="1F2D3A"/>
                </a:solidFill>
              </a:rPr>
              <a:t> chain from Section 2:</a:t>
            </a:r>
          </a:p>
        </p:txBody>
      </p:sp>
      <p:sp>
        <p:nvSpPr>
          <p:cNvPr id="8" name="Rectangle 7"/>
          <p:cNvSpPr/>
          <p:nvPr/>
        </p:nvSpPr>
        <p:spPr>
          <a:xfrm>
            <a:off x="640080" y="1875536"/>
            <a:ext cx="10911535" cy="2255519"/>
          </a:xfrm>
          <a:prstGeom prst="rect">
            <a:avLst/>
          </a:prstGeom>
          <a:solidFill>
            <a:srgbClr val="EEF7F8"/>
          </a:solidFill>
          <a:ln>
            <a:solidFill>
              <a:srgbClr val="006D77"/>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l"/>
            <a:r>
              <a:rPr sz="2000" b="0">
                <a:solidFill>
                  <a:srgbClr val="1F2D3A"/>
                </a:solidFill>
              </a:rPr>
              <a:t>CEN429-DR</a:t>
            </a:r>
            <a:r>
              <a:rPr sz="2000" b="0">
                <a:solidFill>
                  <a:srgbClr val="A1123F"/>
                </a:solidFill>
                <a:latin typeface="Consolas"/>
              </a:rPr>
              <a:t>evidence/week13/test_butunluk_ci482.log</a:t>
            </a:r>
            <a:r>
              <a:rPr sz="2000" b="0">
                <a:solidFill>
                  <a:srgbClr val="1F2D3A"/>
                </a:solidFill>
              </a:rPr>
              <a:t>.</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13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62</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The Same Pattern · Deferred</a:t>
            </a:r>
          </a:p>
        </p:txBody>
      </p:sp>
      <p:sp>
        <p:nvSpPr>
          <p:cNvPr id="7" name="Rectangle 6"/>
          <p:cNvSpPr/>
          <p:nvPr/>
        </p:nvSpPr>
        <p:spPr>
          <a:xfrm>
            <a:off x="640080" y="1325880"/>
            <a:ext cx="10911535" cy="2255519"/>
          </a:xfrm>
          <a:prstGeom prst="rect">
            <a:avLst/>
          </a:prstGeom>
          <a:solidFill>
            <a:srgbClr val="EEF7F8"/>
          </a:solidFill>
          <a:ln>
            <a:solidFill>
              <a:srgbClr val="006D77"/>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l"/>
            <a:r>
              <a:rPr sz="2000" b="0">
                <a:solidFill>
                  <a:srgbClr val="1F2D3A"/>
                </a:solidFill>
              </a:rPr>
              <a:t>CEN429-AP</a:t>
            </a:r>
          </a:p>
        </p:txBody>
      </p:sp>
      <p:sp>
        <p:nvSpPr>
          <p:cNvPr id="8" name="TextBox 7"/>
          <p:cNvSpPr txBox="1"/>
          <p:nvPr/>
        </p:nvSpPr>
        <p:spPr>
          <a:xfrm>
            <a:off x="640080" y="3691128"/>
            <a:ext cx="10911535" cy="770128"/>
          </a:xfrm>
          <a:prstGeom prst="rect">
            <a:avLst/>
          </a:prstGeom>
          <a:noFill/>
        </p:spPr>
        <p:txBody>
          <a:bodyPr wrap="square" lIns="45720" rIns="45720">
            <a:spAutoFit/>
          </a:bodyPr>
          <a:lstStyle/>
          <a:p>
            <a:pPr algn="l"/>
            <a:r>
              <a:rPr sz="2000" b="0">
                <a:solidFill>
                  <a:srgbClr val="1F2D3A"/>
                </a:solidFill>
              </a:rPr>
              <a:t>A deferred block also has a </a:t>
            </a:r>
            <a:r>
              <a:rPr sz="2000" b="1">
                <a:solidFill>
                  <a:srgbClr val="1F2D3A"/>
                </a:solidFill>
              </a:rPr>
              <a:t>Compliance</a:t>
            </a:r>
            <a:r>
              <a:rPr sz="2000" b="0">
                <a:solidFill>
                  <a:srgbClr val="1F2D3A"/>
                </a:solidFill>
              </a:rPr>
              <a:t> field — but it answers "how must the other party do it, why aren't we doing it" instead.</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13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63</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The Same Pattern · Not Met</a:t>
            </a:r>
          </a:p>
        </p:txBody>
      </p:sp>
      <p:sp>
        <p:nvSpPr>
          <p:cNvPr id="7" name="Rectangle 6"/>
          <p:cNvSpPr/>
          <p:nvPr/>
        </p:nvSpPr>
        <p:spPr>
          <a:xfrm>
            <a:off x="640080" y="1325880"/>
            <a:ext cx="10911535" cy="1595120"/>
          </a:xfrm>
          <a:prstGeom prst="rect">
            <a:avLst/>
          </a:prstGeom>
          <a:solidFill>
            <a:srgbClr val="EEF7F8"/>
          </a:solidFill>
          <a:ln>
            <a:solidFill>
              <a:srgbClr val="006D77"/>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l"/>
            <a:r>
              <a:rPr sz="2000" b="0">
                <a:solidFill>
                  <a:srgbClr val="1F2D3A"/>
                </a:solidFill>
              </a:rPr>
              <a:t>CEN429-DT</a:t>
            </a:r>
          </a:p>
        </p:txBody>
      </p:sp>
      <p:sp>
        <p:nvSpPr>
          <p:cNvPr id="8" name="TextBox 7"/>
          <p:cNvSpPr txBox="1"/>
          <p:nvPr/>
        </p:nvSpPr>
        <p:spPr>
          <a:xfrm>
            <a:off x="640080" y="3030728"/>
            <a:ext cx="10911535" cy="770128"/>
          </a:xfrm>
          <a:prstGeom prst="rect">
            <a:avLst/>
          </a:prstGeom>
          <a:noFill/>
        </p:spPr>
        <p:txBody>
          <a:bodyPr wrap="square" lIns="45720" rIns="45720">
            <a:spAutoFit/>
          </a:bodyPr>
          <a:lstStyle/>
          <a:p>
            <a:pPr algn="l"/>
            <a:r>
              <a:rPr sz="2000" b="0">
                <a:solidFill>
                  <a:srgbClr val="1F2D3A"/>
                </a:solidFill>
              </a:rPr>
              <a:t>The "not met" block fills in the </a:t>
            </a:r>
            <a:r>
              <a:rPr sz="2000" b="1">
                <a:solidFill>
                  <a:srgbClr val="1F2D3A"/>
                </a:solidFill>
              </a:rPr>
              <a:t>Status</a:t>
            </a:r>
            <a:r>
              <a:rPr sz="2000" b="0">
                <a:solidFill>
                  <a:srgbClr val="1F2D3A"/>
                </a:solidFill>
              </a:rPr>
              <a:t> and </a:t>
            </a:r>
            <a:r>
              <a:rPr sz="2000" b="1">
                <a:solidFill>
                  <a:srgbClr val="1F2D3A"/>
                </a:solidFill>
              </a:rPr>
              <a:t>Residual risk</a:t>
            </a:r>
            <a:r>
              <a:rPr sz="2000" b="0">
                <a:solidFill>
                  <a:srgbClr val="1F2D3A"/>
                </a:solidFill>
              </a:rPr>
              <a:t> fields instead of </a:t>
            </a:r>
            <a:r>
              <a:rPr sz="2000" b="1">
                <a:solidFill>
                  <a:srgbClr val="1F2D3A"/>
                </a:solidFill>
              </a:rPr>
              <a:t>Compliance</a:t>
            </a:r>
            <a:r>
              <a:rPr sz="2000" b="0">
                <a:solidFill>
                  <a:srgbClr val="1F2D3A"/>
                </a:solidFill>
              </a:rPr>
              <a:t>.</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13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64</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The Role of the Block's Fields</a:t>
            </a:r>
          </a:p>
        </p:txBody>
      </p:sp>
      <p:sp>
        <p:nvSpPr>
          <p:cNvPr id="7" name="TextBox 6"/>
          <p:cNvSpPr txBox="1"/>
          <p:nvPr/>
        </p:nvSpPr>
        <p:spPr>
          <a:xfrm>
            <a:off x="640080" y="1325880"/>
            <a:ext cx="10911535" cy="2255520"/>
          </a:xfrm>
          <a:prstGeom prst="rect">
            <a:avLst/>
          </a:prstGeom>
          <a:noFill/>
        </p:spPr>
        <p:txBody>
          <a:bodyPr wrap="square" lIns="45720" rIns="45720">
            <a:spAutoFit/>
          </a:bodyPr>
          <a:lstStyle/>
          <a:p>
            <a:pPr>
              <a:spcAft>
                <a:spcPts val="300"/>
              </a:spcAft>
            </a:pPr>
            <a:r>
              <a:rPr sz="2000" b="1">
                <a:solidFill>
                  <a:srgbClr val="006D77"/>
                </a:solidFill>
              </a:rPr>
              <a:t>• </a:t>
            </a:r>
            <a:r>
              <a:rPr sz="2000" b="1">
                <a:solidFill>
                  <a:srgbClr val="1F2D3A"/>
                </a:solidFill>
              </a:rPr>
              <a:t>Header line</a:t>
            </a:r>
            <a:r>
              <a:rPr sz="2000" b="0">
                <a:solidFill>
                  <a:srgbClr val="1F2D3A"/>
                </a:solidFill>
              </a:rPr>
              <a:t> ([Family] Id — Status): tells the evaluator's eye quickly where to go.</a:t>
            </a:r>
          </a:p>
          <a:p>
            <a:pPr>
              <a:spcAft>
                <a:spcPts val="300"/>
              </a:spcAft>
            </a:pPr>
            <a:r>
              <a:rPr sz="2000" b="1">
                <a:solidFill>
                  <a:srgbClr val="006D77"/>
                </a:solidFill>
              </a:rPr>
              <a:t>• </a:t>
            </a:r>
            <a:r>
              <a:rPr sz="2000" b="1">
                <a:solidFill>
                  <a:srgbClr val="1F2D3A"/>
                </a:solidFill>
              </a:rPr>
              <a:t>Requirement</a:t>
            </a:r>
            <a:r>
              <a:rPr sz="2000" b="0">
                <a:solidFill>
                  <a:srgbClr val="1F2D3A"/>
                </a:solidFill>
              </a:rPr>
              <a:t> line: repeats the "what" from the standard/threat, not reinterpreted.</a:t>
            </a:r>
          </a:p>
          <a:p>
            <a:pPr>
              <a:spcAft>
                <a:spcPts val="300"/>
              </a:spcAft>
            </a:pPr>
            <a:r>
              <a:rPr sz="2000" b="1">
                <a:solidFill>
                  <a:srgbClr val="006D77"/>
                </a:solidFill>
              </a:rPr>
              <a:t>• </a:t>
            </a:r>
            <a:r>
              <a:rPr sz="2000" b="1">
                <a:solidFill>
                  <a:srgbClr val="1F2D3A"/>
                </a:solidFill>
              </a:rPr>
              <a:t>Compliance:</a:t>
            </a:r>
            <a:r>
              <a:rPr sz="2000" b="0">
                <a:solidFill>
                  <a:srgbClr val="1F2D3A"/>
                </a:solidFill>
              </a:rPr>
              <a:t> describes the "how" with concrete file/section names.</a:t>
            </a:r>
          </a:p>
          <a:p>
            <a:pPr>
              <a:spcAft>
                <a:spcPts val="300"/>
              </a:spcAft>
            </a:pPr>
            <a:r>
              <a:rPr sz="2000" b="1">
                <a:solidFill>
                  <a:srgbClr val="006D77"/>
                </a:solidFill>
              </a:rPr>
              <a:t>• </a:t>
            </a:r>
            <a:r>
              <a:rPr sz="2000" b="1">
                <a:solidFill>
                  <a:srgbClr val="1F2D3A"/>
                </a:solidFill>
              </a:rPr>
              <a:t>Verification + Evidence:</a:t>
            </a:r>
            <a:r>
              <a:rPr sz="2000" b="0">
                <a:solidFill>
                  <a:srgbClr val="1F2D3A"/>
                </a:solidFill>
              </a:rPr>
              <a:t> the last two links of the traceability chain.</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13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65</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2600" b="1">
                <a:solidFill>
                  <a:srgbClr val="006D77"/>
                </a:solidFill>
              </a:rPr>
              <a:t>Deferring to Hardware and Section 3's Rule</a:t>
            </a:r>
          </a:p>
        </p:txBody>
      </p:sp>
      <p:sp>
        <p:nvSpPr>
          <p:cNvPr id="7" name="TextBox 6"/>
          <p:cNvSpPr txBox="1"/>
          <p:nvPr/>
        </p:nvSpPr>
        <p:spPr>
          <a:xfrm>
            <a:off x="640080" y="1325880"/>
            <a:ext cx="10911535" cy="2011680"/>
          </a:xfrm>
          <a:prstGeom prst="rect">
            <a:avLst/>
          </a:prstGeom>
          <a:noFill/>
        </p:spPr>
        <p:txBody>
          <a:bodyPr wrap="square" lIns="45720" rIns="45720">
            <a:spAutoFit/>
          </a:bodyPr>
          <a:lstStyle/>
          <a:p>
            <a:pPr>
              <a:spcAft>
                <a:spcPts val="300"/>
              </a:spcAft>
            </a:pPr>
            <a:r>
              <a:rPr sz="1800" b="1">
                <a:solidFill>
                  <a:srgbClr val="006D77"/>
                </a:solidFill>
              </a:rPr>
              <a:t>• </a:t>
            </a:r>
            <a:r>
              <a:rPr sz="1800" b="1">
                <a:solidFill>
                  <a:srgbClr val="1F2D3A"/>
                </a:solidFill>
              </a:rPr>
              <a:t>If</a:t>
            </a:r>
            <a:r>
              <a:rPr sz="1800" b="0">
                <a:solidFill>
                  <a:srgbClr val="1F2D3A"/>
                </a:solidFill>
              </a:rPr>
              <a:t> a secure element/TEE exists: the requirement can be deferred to hardware.</a:t>
            </a:r>
          </a:p>
          <a:p>
            <a:pPr>
              <a:spcAft>
                <a:spcPts val="300"/>
              </a:spcAft>
            </a:pPr>
            <a:r>
              <a:rPr sz="1800" b="1">
                <a:solidFill>
                  <a:srgbClr val="006D77"/>
                </a:solidFill>
              </a:rPr>
              <a:t>• </a:t>
            </a:r>
            <a:r>
              <a:rPr sz="1800" b="1">
                <a:solidFill>
                  <a:srgbClr val="1F2D3A"/>
                </a:solidFill>
              </a:rPr>
              <a:t>If not</a:t>
            </a:r>
            <a:r>
              <a:rPr sz="1800" b="0">
                <a:solidFill>
                  <a:srgbClr val="1F2D3A"/>
                </a:solidFill>
              </a:rPr>
              <a:t>: it cannot be deferred — there is no party to defer to; the product must take a software-based control or write "not met" + residual risk. Writing "deferred to hardware" here is an </a:t>
            </a:r>
            <a:r>
              <a:rPr sz="1800" b="1">
                <a:solidFill>
                  <a:srgbClr val="1F2D3A"/>
                </a:solidFill>
              </a:rPr>
              <a:t>invalid deferral</a:t>
            </a:r>
            <a:r>
              <a:rPr sz="1800" b="0">
                <a:solidFill>
                  <a:srgbClr val="1F2D3A"/>
                </a:solidFill>
              </a:rPr>
              <a:t>.</a:t>
            </a:r>
          </a:p>
          <a:p>
            <a:pPr>
              <a:spcAft>
                <a:spcPts val="300"/>
              </a:spcAft>
            </a:pPr>
            <a:r>
              <a:rPr sz="1800" b="1">
                <a:solidFill>
                  <a:srgbClr val="006D77"/>
                </a:solidFill>
              </a:rPr>
              <a:t>• </a:t>
            </a:r>
            <a:r>
              <a:rPr sz="1800" b="1">
                <a:solidFill>
                  <a:srgbClr val="1F2D3A"/>
                </a:solidFill>
              </a:rPr>
              <a:t>Rule:</a:t>
            </a:r>
            <a:r>
              <a:rPr sz="1800" b="0">
                <a:solidFill>
                  <a:srgbClr val="1F2D3A"/>
                </a:solidFill>
              </a:rPr>
              <a:t> the compliance text must always end with a concrete reference; before deferring, verify the other party can </a:t>
            </a:r>
            <a:r>
              <a:rPr sz="1800" b="1">
                <a:solidFill>
                  <a:srgbClr val="1F2D3A"/>
                </a:solidFill>
              </a:rPr>
              <a:t>actually</a:t>
            </a:r>
            <a:r>
              <a:rPr sz="1800" b="0">
                <a:solidFill>
                  <a:srgbClr val="1F2D3A"/>
                </a:solidFill>
              </a:rPr>
              <a:t> meet it.</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13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66</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The Requirement Block (animation)</a:t>
            </a:r>
          </a:p>
        </p:txBody>
      </p:sp>
      <p:pic>
        <p:nvPicPr>
          <p:cNvPr id="7" name="Picture 6" descr="requirement-block-deferral.en.gif"/>
          <p:cNvPicPr>
            <a:picLocks noChangeAspect="1"/>
          </p:cNvPicPr>
          <p:nvPr/>
        </p:nvPicPr>
        <p:blipFill>
          <a:blip r:embed="rId3"/>
          <a:stretch>
            <a:fillRect/>
          </a:stretch>
        </p:blipFill>
        <p:spPr>
          <a:xfrm>
            <a:off x="2464507" y="1325880"/>
            <a:ext cx="7262680" cy="4828032"/>
          </a:xfrm>
          <a:prstGeom prst="rect">
            <a:avLst/>
          </a:prstGeom>
        </p:spPr>
      </p:pic>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13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67</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The Requirement Block — edge case: a silent hand-off</a:t>
            </a:r>
          </a:p>
        </p:txBody>
      </p:sp>
      <p:pic>
        <p:nvPicPr>
          <p:cNvPr id="7" name="Picture 6" descr="requirement-block-deferral--edge-silent-handoff.en.gif"/>
          <p:cNvPicPr>
            <a:picLocks noChangeAspect="1"/>
          </p:cNvPicPr>
          <p:nvPr/>
        </p:nvPicPr>
        <p:blipFill>
          <a:blip r:embed="rId3"/>
          <a:stretch>
            <a:fillRect/>
          </a:stretch>
        </p:blipFill>
        <p:spPr>
          <a:xfrm>
            <a:off x="1517541" y="1325880"/>
            <a:ext cx="9156612" cy="4828032"/>
          </a:xfrm>
          <a:prstGeom prst="rect">
            <a:avLst/>
          </a:prstGeom>
        </p:spPr>
      </p:pic>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13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68</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Section 3 — Quick Check</a:t>
            </a:r>
          </a:p>
        </p:txBody>
      </p:sp>
      <p:sp>
        <p:nvSpPr>
          <p:cNvPr id="7" name="TextBox 6"/>
          <p:cNvSpPr txBox="1"/>
          <p:nvPr/>
        </p:nvSpPr>
        <p:spPr>
          <a:xfrm>
            <a:off x="640080" y="1325880"/>
            <a:ext cx="10911535" cy="1219200"/>
          </a:xfrm>
          <a:prstGeom prst="rect">
            <a:avLst/>
          </a:prstGeom>
          <a:noFill/>
        </p:spPr>
        <p:txBody>
          <a:bodyPr wrap="square" lIns="45720" rIns="45720">
            <a:spAutoFit/>
          </a:bodyPr>
          <a:lstStyle/>
          <a:p>
            <a:pPr>
              <a:spcAft>
                <a:spcPts val="300"/>
              </a:spcAft>
            </a:pPr>
            <a:r>
              <a:rPr sz="2000" b="1">
                <a:solidFill>
                  <a:srgbClr val="006D77"/>
                </a:solidFill>
              </a:rPr>
              <a:t>1. </a:t>
            </a:r>
            <a:r>
              <a:rPr sz="2000" b="0">
                <a:solidFill>
                  <a:srgbClr val="1F2D3A"/>
                </a:solidFill>
              </a:rPr>
              <a:t>What are the requirement block's fields?</a:t>
            </a:r>
          </a:p>
          <a:p>
            <a:pPr>
              <a:spcAft>
                <a:spcPts val="300"/>
              </a:spcAft>
            </a:pPr>
            <a:r>
              <a:rPr sz="2000" b="1">
                <a:solidFill>
                  <a:srgbClr val="006D77"/>
                </a:solidFill>
              </a:rPr>
              <a:t>2. </a:t>
            </a:r>
            <a:r>
              <a:rPr sz="2000" b="0">
                <a:solidFill>
                  <a:srgbClr val="1F2D3A"/>
                </a:solidFill>
              </a:rPr>
              <a:t>Which three questions are answered when deferring?</a:t>
            </a:r>
          </a:p>
          <a:p>
            <a:pPr>
              <a:spcAft>
                <a:spcPts val="300"/>
              </a:spcAft>
            </a:pPr>
            <a:r>
              <a:rPr sz="2000" b="1">
                <a:solidFill>
                  <a:srgbClr val="006D77"/>
                </a:solidFill>
              </a:rPr>
              <a:t>3. </a:t>
            </a:r>
            <a:r>
              <a:rPr sz="2000" b="0">
                <a:solidFill>
                  <a:srgbClr val="1F2D3A"/>
                </a:solidFill>
              </a:rPr>
              <a:t>Why is silent deferring a problem?</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13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69</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Section 3 — Answers</a:t>
            </a:r>
          </a:p>
        </p:txBody>
      </p:sp>
      <p:sp>
        <p:nvSpPr>
          <p:cNvPr id="7" name="TextBox 6"/>
          <p:cNvSpPr txBox="1"/>
          <p:nvPr/>
        </p:nvSpPr>
        <p:spPr>
          <a:xfrm>
            <a:off x="640080" y="1325880"/>
            <a:ext cx="10911535" cy="2209800"/>
          </a:xfrm>
          <a:prstGeom prst="rect">
            <a:avLst/>
          </a:prstGeom>
          <a:noFill/>
        </p:spPr>
        <p:txBody>
          <a:bodyPr wrap="square" lIns="45720" rIns="45720">
            <a:spAutoFit/>
          </a:bodyPr>
          <a:lstStyle/>
          <a:p>
            <a:pPr>
              <a:spcAft>
                <a:spcPts val="300"/>
              </a:spcAft>
            </a:pPr>
            <a:r>
              <a:rPr sz="2000" b="1">
                <a:solidFill>
                  <a:srgbClr val="006D77"/>
                </a:solidFill>
              </a:rPr>
              <a:t>1. </a:t>
            </a:r>
            <a:r>
              <a:rPr sz="2000" b="1">
                <a:solidFill>
                  <a:srgbClr val="1F2D3A"/>
                </a:solidFill>
              </a:rPr>
              <a:t>Id · measurable statement · source/rationale · related asset/threat · verification method (evidence) · status/priority.</a:t>
            </a:r>
          </a:p>
          <a:p>
            <a:pPr>
              <a:spcAft>
                <a:spcPts val="300"/>
              </a:spcAft>
            </a:pPr>
            <a:r>
              <a:rPr sz="2000" b="1">
                <a:solidFill>
                  <a:srgbClr val="006D77"/>
                </a:solidFill>
              </a:rPr>
              <a:t>2. </a:t>
            </a:r>
            <a:r>
              <a:rPr sz="2000" b="0">
                <a:solidFill>
                  <a:srgbClr val="1F2D3A"/>
                </a:solidFill>
              </a:rPr>
              <a:t>(1) </a:t>
            </a:r>
            <a:r>
              <a:rPr sz="2000" b="1">
                <a:solidFill>
                  <a:srgbClr val="1F2D3A"/>
                </a:solidFill>
              </a:rPr>
              <a:t>Why</a:t>
            </a:r>
            <a:r>
              <a:rPr sz="2000" b="0">
                <a:solidFill>
                  <a:srgbClr val="1F2D3A"/>
                </a:solidFill>
              </a:rPr>
              <a:t> isn't it met now? (2) </a:t>
            </a:r>
            <a:r>
              <a:rPr sz="2000" b="1">
                <a:solidFill>
                  <a:srgbClr val="1F2D3A"/>
                </a:solidFill>
              </a:rPr>
              <a:t>What's the risk, who accepts it</a:t>
            </a:r>
            <a:r>
              <a:rPr sz="2000" b="0">
                <a:solidFill>
                  <a:srgbClr val="1F2D3A"/>
                </a:solidFill>
              </a:rPr>
              <a:t> (approval)? (3) </a:t>
            </a:r>
            <a:r>
              <a:rPr sz="2000" b="1">
                <a:solidFill>
                  <a:srgbClr val="1F2D3A"/>
                </a:solidFill>
              </a:rPr>
              <a:t>When/how</a:t>
            </a:r>
            <a:r>
              <a:rPr sz="2000" b="0">
                <a:solidFill>
                  <a:srgbClr val="1F2D3A"/>
                </a:solidFill>
              </a:rPr>
              <a:t> will it be met (plan/mitigation)?</a:t>
            </a:r>
          </a:p>
          <a:p>
            <a:pPr>
              <a:spcAft>
                <a:spcPts val="300"/>
              </a:spcAft>
            </a:pPr>
            <a:r>
              <a:rPr sz="2000" b="1">
                <a:solidFill>
                  <a:srgbClr val="006D77"/>
                </a:solidFill>
              </a:rPr>
              <a:t>3. </a:t>
            </a:r>
            <a:r>
              <a:rPr sz="2000" b="0">
                <a:solidFill>
                  <a:srgbClr val="1F2D3A"/>
                </a:solidFill>
              </a:rPr>
              <a:t>Without a record/approval, the requirement gets skipped → a </a:t>
            </a:r>
            <a:r>
              <a:rPr sz="2000" b="1">
                <a:solidFill>
                  <a:srgbClr val="1F2D3A"/>
                </a:solidFill>
              </a:rPr>
              <a:t>hidden gap</a:t>
            </a:r>
            <a:r>
              <a:rPr sz="2000" b="0">
                <a:solidFill>
                  <a:srgbClr val="1F2D3A"/>
                </a:solidFill>
              </a:rPr>
              <a:t>, no one owns it, it blows up in the audit. Defer openly, with a rationale, and approved.</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006D77"/>
        </a:solidFill>
        <a:effectLst/>
      </p:bgPr>
    </p:bg>
    <p:spTree>
      <p:nvGrpSpPr>
        <p:cNvPr id="1" name=""/>
        <p:cNvGrpSpPr/>
        <p:nvPr/>
      </p:nvGrpSpPr>
      <p:grpSpPr/>
      <p:sp>
        <p:nvSpPr>
          <p:cNvPr id="2" name="TextBox 1"/>
          <p:cNvSpPr txBox="1"/>
          <p:nvPr/>
        </p:nvSpPr>
        <p:spPr>
          <a:xfrm>
            <a:off x="1051560" y="182880"/>
            <a:ext cx="7315200" cy="320040"/>
          </a:xfrm>
          <a:prstGeom prst="rect">
            <a:avLst/>
          </a:prstGeom>
          <a:noFill/>
        </p:spPr>
        <p:txBody>
          <a:bodyPr wrap="square" lIns="45720" rIns="45720">
            <a:spAutoFit/>
          </a:bodyPr>
          <a:lstStyle/>
          <a:p>
            <a:r>
              <a:rPr sz="1100" b="0">
                <a:solidFill>
                  <a:srgbClr val="D8F0F2"/>
                </a:solidFill>
              </a:rPr>
              <a:t>CEN429 Secure Programming · Week 13</a:t>
            </a:r>
          </a:p>
        </p:txBody>
      </p:sp>
      <p:sp>
        <p:nvSpPr>
          <p:cNvPr id="3" name="TextBox 2"/>
          <p:cNvSpPr txBox="1"/>
          <p:nvPr/>
        </p:nvSpPr>
        <p:spPr>
          <a:xfrm>
            <a:off x="640080" y="6446520"/>
            <a:ext cx="7315200" cy="274320"/>
          </a:xfrm>
          <a:prstGeom prst="rect">
            <a:avLst/>
          </a:prstGeom>
          <a:noFill/>
        </p:spPr>
        <p:txBody>
          <a:bodyPr wrap="square" lIns="45720" rIns="45720">
            <a:spAutoFit/>
          </a:bodyPr>
          <a:lstStyle/>
          <a:p>
            <a:r>
              <a:rPr sz="1000" b="0">
                <a:solidFill>
                  <a:srgbClr val="D8F0F2"/>
                </a:solidFill>
              </a:rPr>
              <a:t>RTEU Computer Engineering · 2026-2027 Fall</a:t>
            </a:r>
          </a:p>
        </p:txBody>
      </p:sp>
      <p:sp>
        <p:nvSpPr>
          <p:cNvPr id="4" name="TextBox 3"/>
          <p:cNvSpPr txBox="1"/>
          <p:nvPr/>
        </p:nvSpPr>
        <p:spPr>
          <a:xfrm>
            <a:off x="10637215" y="6446520"/>
            <a:ext cx="914400" cy="274320"/>
          </a:xfrm>
          <a:prstGeom prst="rect">
            <a:avLst/>
          </a:prstGeom>
          <a:noFill/>
        </p:spPr>
        <p:txBody>
          <a:bodyPr wrap="square" lIns="45720" rIns="45720">
            <a:spAutoFit/>
          </a:bodyPr>
          <a:lstStyle/>
          <a:p>
            <a:pPr algn="r"/>
            <a:r>
              <a:rPr sz="1000" b="0">
                <a:solidFill>
                  <a:srgbClr val="D8F0F2"/>
                </a:solidFill>
              </a:rPr>
              <a:t>70</a:t>
            </a:r>
          </a:p>
        </p:txBody>
      </p:sp>
      <p:sp>
        <p:nvSpPr>
          <p:cNvPr id="5" name="TextBox 4"/>
          <p:cNvSpPr txBox="1"/>
          <p:nvPr/>
        </p:nvSpPr>
        <p:spPr>
          <a:xfrm>
            <a:off x="640080" y="2743200"/>
            <a:ext cx="10911535" cy="1280160"/>
          </a:xfrm>
          <a:prstGeom prst="rect">
            <a:avLst/>
          </a:prstGeom>
          <a:noFill/>
        </p:spPr>
        <p:txBody>
          <a:bodyPr wrap="square" lIns="45720" rIns="45720">
            <a:spAutoFit/>
          </a:bodyPr>
          <a:lstStyle/>
          <a:p>
            <a:pPr algn="l"/>
            <a:r>
              <a:rPr sz="4000" b="1">
                <a:solidFill>
                  <a:srgbClr val="FFFFFF"/>
                </a:solidFill>
              </a:rPr>
              <a:t>4. Common Criteria (ISO/IEC 15408)</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13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71</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Common Criteria — Diagram</a:t>
            </a:r>
          </a:p>
        </p:txBody>
      </p:sp>
      <p:pic>
        <p:nvPicPr>
          <p:cNvPr id="7" name="Picture 6" descr="h13-07-ortak-kriterler.png"/>
          <p:cNvPicPr>
            <a:picLocks noChangeAspect="1"/>
          </p:cNvPicPr>
          <p:nvPr/>
        </p:nvPicPr>
        <p:blipFill>
          <a:blip r:embed="rId3"/>
          <a:stretch>
            <a:fillRect/>
          </a:stretch>
        </p:blipFill>
        <p:spPr>
          <a:xfrm>
            <a:off x="2461231" y="1325880"/>
            <a:ext cx="7269232" cy="4828032"/>
          </a:xfrm>
          <a:prstGeom prst="rect">
            <a:avLst/>
          </a:prstGeom>
        </p:spPr>
      </p:pic>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13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72</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What Is CC?</a:t>
            </a:r>
          </a:p>
        </p:txBody>
      </p:sp>
      <p:sp>
        <p:nvSpPr>
          <p:cNvPr id="7" name="TextBox 6"/>
          <p:cNvSpPr txBox="1"/>
          <p:nvPr/>
        </p:nvSpPr>
        <p:spPr>
          <a:xfrm>
            <a:off x="640080" y="1325880"/>
            <a:ext cx="10911535" cy="1219200"/>
          </a:xfrm>
          <a:prstGeom prst="rect">
            <a:avLst/>
          </a:prstGeom>
          <a:noFill/>
        </p:spPr>
        <p:txBody>
          <a:bodyPr wrap="square" lIns="45720" rIns="45720">
            <a:spAutoFit/>
          </a:bodyPr>
          <a:lstStyle/>
          <a:p>
            <a:pPr>
              <a:spcAft>
                <a:spcPts val="300"/>
              </a:spcAft>
            </a:pPr>
            <a:r>
              <a:rPr sz="2000" b="1">
                <a:solidFill>
                  <a:srgbClr val="006D77"/>
                </a:solidFill>
              </a:rPr>
              <a:t>• </a:t>
            </a:r>
            <a:r>
              <a:rPr sz="2000" b="1">
                <a:solidFill>
                  <a:srgbClr val="1F2D3A"/>
                </a:solidFill>
              </a:rPr>
              <a:t>Common Criteria:</a:t>
            </a:r>
            <a:r>
              <a:rPr sz="2000" b="0">
                <a:solidFill>
                  <a:srgbClr val="1F2D3A"/>
                </a:solidFill>
              </a:rPr>
              <a:t> the international standard for evaluating product security.</a:t>
            </a:r>
          </a:p>
          <a:p>
            <a:pPr>
              <a:spcAft>
                <a:spcPts val="300"/>
              </a:spcAft>
            </a:pPr>
            <a:r>
              <a:rPr sz="2000" b="1">
                <a:solidFill>
                  <a:srgbClr val="006D77"/>
                </a:solidFill>
              </a:rPr>
              <a:t>• </a:t>
            </a:r>
            <a:r>
              <a:rPr sz="2000" b="0">
                <a:solidFill>
                  <a:srgbClr val="1F2D3A"/>
                </a:solidFill>
              </a:rPr>
              <a:t>Provides a common </a:t>
            </a:r>
            <a:r>
              <a:rPr sz="2000" b="1">
                <a:solidFill>
                  <a:srgbClr val="1F2D3A"/>
                </a:solidFill>
              </a:rPr>
              <a:t>language</a:t>
            </a:r>
            <a:r>
              <a:rPr sz="2000" b="0">
                <a:solidFill>
                  <a:srgbClr val="1F2D3A"/>
                </a:solidFill>
              </a:rPr>
              <a:t> and </a:t>
            </a:r>
            <a:r>
              <a:rPr sz="2000" b="1">
                <a:solidFill>
                  <a:srgbClr val="1F2D3A"/>
                </a:solidFill>
              </a:rPr>
              <a:t>method</a:t>
            </a:r>
            <a:r>
              <a:rPr sz="2000" b="0">
                <a:solidFill>
                  <a:srgbClr val="1F2D3A"/>
                </a:solidFill>
              </a:rPr>
              <a:t>.</a:t>
            </a:r>
          </a:p>
          <a:p>
            <a:pPr>
              <a:spcAft>
                <a:spcPts val="300"/>
              </a:spcAft>
            </a:pPr>
            <a:r>
              <a:rPr sz="2000" b="1">
                <a:solidFill>
                  <a:srgbClr val="006D77"/>
                </a:solidFill>
              </a:rPr>
              <a:t>• </a:t>
            </a:r>
            <a:r>
              <a:rPr sz="2000" b="0">
                <a:solidFill>
                  <a:srgbClr val="1F2D3A"/>
                </a:solidFill>
              </a:rPr>
              <a:t>Countries recognise each other's evaluations.</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13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73</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TOE · Target of Evaluation</a:t>
            </a:r>
          </a:p>
        </p:txBody>
      </p:sp>
      <p:sp>
        <p:nvSpPr>
          <p:cNvPr id="7" name="TextBox 6"/>
          <p:cNvSpPr txBox="1"/>
          <p:nvPr/>
        </p:nvSpPr>
        <p:spPr>
          <a:xfrm>
            <a:off x="640080" y="1325880"/>
            <a:ext cx="10911535" cy="1219200"/>
          </a:xfrm>
          <a:prstGeom prst="rect">
            <a:avLst/>
          </a:prstGeom>
          <a:noFill/>
        </p:spPr>
        <p:txBody>
          <a:bodyPr wrap="square" lIns="45720" rIns="45720">
            <a:spAutoFit/>
          </a:bodyPr>
          <a:lstStyle/>
          <a:p>
            <a:pPr>
              <a:spcAft>
                <a:spcPts val="300"/>
              </a:spcAft>
            </a:pPr>
            <a:r>
              <a:rPr sz="2000" b="1">
                <a:solidFill>
                  <a:srgbClr val="006D77"/>
                </a:solidFill>
              </a:rPr>
              <a:t>• </a:t>
            </a:r>
            <a:r>
              <a:rPr sz="2000" b="1">
                <a:solidFill>
                  <a:srgbClr val="1F2D3A"/>
                </a:solidFill>
              </a:rPr>
              <a:t>TOE (Target of Evaluation):</a:t>
            </a:r>
            <a:r>
              <a:rPr sz="2000" b="0">
                <a:solidFill>
                  <a:srgbClr val="1F2D3A"/>
                </a:solidFill>
              </a:rPr>
              <a:t> the complete product being evaluated.</a:t>
            </a:r>
          </a:p>
          <a:p>
            <a:pPr>
              <a:spcAft>
                <a:spcPts val="300"/>
              </a:spcAft>
            </a:pPr>
            <a:r>
              <a:rPr sz="2000" b="1">
                <a:solidFill>
                  <a:srgbClr val="006D77"/>
                </a:solidFill>
              </a:rPr>
              <a:t>• </a:t>
            </a:r>
            <a:r>
              <a:rPr sz="2000" b="0">
                <a:solidFill>
                  <a:srgbClr val="1F2D3A"/>
                </a:solidFill>
              </a:rPr>
              <a:t>Uniquely identified (Week 12): version + binary + hash.</a:t>
            </a:r>
          </a:p>
          <a:p>
            <a:pPr>
              <a:spcAft>
                <a:spcPts val="300"/>
              </a:spcAft>
            </a:pPr>
            <a:r>
              <a:rPr sz="2000" b="1">
                <a:solidFill>
                  <a:srgbClr val="006D77"/>
                </a:solidFill>
              </a:rPr>
              <a:t>• </a:t>
            </a:r>
            <a:r>
              <a:rPr sz="2000" b="0">
                <a:solidFill>
                  <a:srgbClr val="1F2D3A"/>
                </a:solidFill>
              </a:rPr>
              <a:t>Out-of-scope components are written down.</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13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74</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ST · Security Target</a:t>
            </a:r>
          </a:p>
        </p:txBody>
      </p:sp>
      <p:sp>
        <p:nvSpPr>
          <p:cNvPr id="7" name="TextBox 6"/>
          <p:cNvSpPr txBox="1"/>
          <p:nvPr/>
        </p:nvSpPr>
        <p:spPr>
          <a:xfrm>
            <a:off x="640080" y="1325880"/>
            <a:ext cx="10911535" cy="1219200"/>
          </a:xfrm>
          <a:prstGeom prst="rect">
            <a:avLst/>
          </a:prstGeom>
          <a:noFill/>
        </p:spPr>
        <p:txBody>
          <a:bodyPr wrap="square" lIns="45720" rIns="45720">
            <a:spAutoFit/>
          </a:bodyPr>
          <a:lstStyle/>
          <a:p>
            <a:pPr>
              <a:spcAft>
                <a:spcPts val="300"/>
              </a:spcAft>
            </a:pPr>
            <a:r>
              <a:rPr sz="2000" b="1">
                <a:solidFill>
                  <a:srgbClr val="006D77"/>
                </a:solidFill>
              </a:rPr>
              <a:t>• </a:t>
            </a:r>
            <a:r>
              <a:rPr sz="2000" b="1">
                <a:solidFill>
                  <a:srgbClr val="1F2D3A"/>
                </a:solidFill>
              </a:rPr>
              <a:t>ST (Security Target):</a:t>
            </a:r>
            <a:r>
              <a:rPr sz="2000" b="0">
                <a:solidFill>
                  <a:srgbClr val="1F2D3A"/>
                </a:solidFill>
              </a:rPr>
              <a:t> </a:t>
            </a:r>
            <a:r>
              <a:rPr sz="2000" b="1">
                <a:solidFill>
                  <a:srgbClr val="1F2D3A"/>
                </a:solidFill>
              </a:rPr>
              <a:t>this</a:t>
            </a:r>
            <a:r>
              <a:rPr sz="2000" b="0">
                <a:solidFill>
                  <a:srgbClr val="1F2D3A"/>
                </a:solidFill>
              </a:rPr>
              <a:t> product's security-target document.</a:t>
            </a:r>
          </a:p>
          <a:p>
            <a:pPr>
              <a:spcAft>
                <a:spcPts val="300"/>
              </a:spcAft>
            </a:pPr>
            <a:r>
              <a:rPr sz="2000" b="1">
                <a:solidFill>
                  <a:srgbClr val="006D77"/>
                </a:solidFill>
              </a:rPr>
              <a:t>• </a:t>
            </a:r>
            <a:r>
              <a:rPr sz="2000" b="0">
                <a:solidFill>
                  <a:srgbClr val="1F2D3A"/>
                </a:solidFill>
              </a:rPr>
              <a:t>Contains: threats, objectives, requirements (SFR/SAR).</a:t>
            </a:r>
          </a:p>
          <a:p>
            <a:pPr>
              <a:spcAft>
                <a:spcPts val="300"/>
              </a:spcAft>
            </a:pPr>
            <a:r>
              <a:rPr sz="2000" b="1">
                <a:solidFill>
                  <a:srgbClr val="006D77"/>
                </a:solidFill>
              </a:rPr>
              <a:t>• </a:t>
            </a:r>
            <a:r>
              <a:rPr sz="2000" b="0">
                <a:solidFill>
                  <a:srgbClr val="1F2D3A"/>
                </a:solidFill>
              </a:rPr>
              <a:t>Specific to the product.</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13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75</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PP · Protection Profile</a:t>
            </a:r>
          </a:p>
        </p:txBody>
      </p:sp>
      <p:sp>
        <p:nvSpPr>
          <p:cNvPr id="7" name="TextBox 6"/>
          <p:cNvSpPr txBox="1"/>
          <p:nvPr/>
        </p:nvSpPr>
        <p:spPr>
          <a:xfrm>
            <a:off x="640080" y="1325880"/>
            <a:ext cx="10911535" cy="1219200"/>
          </a:xfrm>
          <a:prstGeom prst="rect">
            <a:avLst/>
          </a:prstGeom>
          <a:noFill/>
        </p:spPr>
        <p:txBody>
          <a:bodyPr wrap="square" lIns="45720" rIns="45720">
            <a:spAutoFit/>
          </a:bodyPr>
          <a:lstStyle/>
          <a:p>
            <a:pPr>
              <a:spcAft>
                <a:spcPts val="300"/>
              </a:spcAft>
            </a:pPr>
            <a:r>
              <a:rPr sz="2000" b="1">
                <a:solidFill>
                  <a:srgbClr val="006D77"/>
                </a:solidFill>
              </a:rPr>
              <a:t>• </a:t>
            </a:r>
            <a:r>
              <a:rPr sz="2000" b="1">
                <a:solidFill>
                  <a:srgbClr val="1F2D3A"/>
                </a:solidFill>
              </a:rPr>
              <a:t>PP (Protection Profile):</a:t>
            </a:r>
            <a:r>
              <a:rPr sz="2000" b="0">
                <a:solidFill>
                  <a:srgbClr val="1F2D3A"/>
                </a:solidFill>
              </a:rPr>
              <a:t> a common requirement set for a product </a:t>
            </a:r>
            <a:r>
              <a:rPr sz="2000" b="1">
                <a:solidFill>
                  <a:srgbClr val="1F2D3A"/>
                </a:solidFill>
              </a:rPr>
              <a:t>class</a:t>
            </a:r>
            <a:r>
              <a:rPr sz="2000" b="0">
                <a:solidFill>
                  <a:srgbClr val="1F2D3A"/>
                </a:solidFill>
              </a:rPr>
              <a:t>.</a:t>
            </a:r>
          </a:p>
          <a:p>
            <a:pPr>
              <a:spcAft>
                <a:spcPts val="300"/>
              </a:spcAft>
            </a:pPr>
            <a:r>
              <a:rPr sz="2000" b="1">
                <a:solidFill>
                  <a:srgbClr val="006D77"/>
                </a:solidFill>
              </a:rPr>
              <a:t>• </a:t>
            </a:r>
            <a:r>
              <a:rPr sz="2000" b="0">
                <a:solidFill>
                  <a:srgbClr val="1F2D3A"/>
                </a:solidFill>
              </a:rPr>
              <a:t>Example: "mobile device PP," "smart card PP."</a:t>
            </a:r>
          </a:p>
          <a:p>
            <a:pPr>
              <a:spcAft>
                <a:spcPts val="300"/>
              </a:spcAft>
            </a:pPr>
            <a:r>
              <a:rPr sz="2000" b="1">
                <a:solidFill>
                  <a:srgbClr val="006D77"/>
                </a:solidFill>
              </a:rPr>
              <a:t>• </a:t>
            </a:r>
            <a:r>
              <a:rPr sz="2000" b="0">
                <a:solidFill>
                  <a:srgbClr val="1F2D3A"/>
                </a:solidFill>
              </a:rPr>
              <a:t>STs generally build on a PP.</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13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76</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ST vs. PP</a:t>
            </a:r>
          </a:p>
        </p:txBody>
      </p:sp>
      <p:graphicFrame>
        <p:nvGraphicFramePr>
          <p:cNvPr id="7" name="Table 6"/>
          <p:cNvGraphicFramePr>
            <a:graphicFrameLocks noGrp="1"/>
          </p:cNvGraphicFramePr>
          <p:nvPr/>
        </p:nvGraphicFramePr>
        <p:xfrm>
          <a:off x="640080" y="1325880"/>
          <a:ext cx="10911534" cy="1527048"/>
        </p:xfrm>
        <a:graphic>
          <a:graphicData uri="http://schemas.openxmlformats.org/drawingml/2006/table">
            <a:tbl>
              <a:tblPr firstRow="1" bandRow="1">
                <a:tableStyleId>{5C22544A-7EE6-4342-B048-85BDC9FD1C3A}</a:tableStyleId>
              </a:tblPr>
              <a:tblGrid>
                <a:gridCol w="2463895"/>
                <a:gridCol w="4399812"/>
                <a:gridCol w="4047827"/>
              </a:tblGrid>
              <a:tr h="381762">
                <a:tc>
                  <a:txBody>
                    <a:bodyPr wrap="square"/>
                    <a:lstStyle/>
                    <a:p/>
                  </a:txBody>
                  <a:tcPr marL="54864" marR="54864" marT="27432" marB="27432" anchor="ctr">
                    <a:solidFill>
                      <a:srgbClr val="006D77"/>
                    </a:solidFill>
                  </a:tcPr>
                </a:tc>
                <a:tc>
                  <a:txBody>
                    <a:bodyPr wrap="square"/>
                    <a:lstStyle/>
                    <a:p>
                      <a:r>
                        <a:rPr sz="1439" b="1">
                          <a:solidFill>
                            <a:srgbClr val="FFFFFF"/>
                          </a:solidFill>
                        </a:rPr>
                        <a:t>ST</a:t>
                      </a:r>
                    </a:p>
                  </a:txBody>
                  <a:tcPr marL="54864" marR="54864" marT="27432" marB="27432" anchor="ctr">
                    <a:solidFill>
                      <a:srgbClr val="006D77"/>
                    </a:solidFill>
                  </a:tcPr>
                </a:tc>
                <a:tc>
                  <a:txBody>
                    <a:bodyPr wrap="square"/>
                    <a:lstStyle/>
                    <a:p>
                      <a:r>
                        <a:rPr sz="1439" b="1">
                          <a:solidFill>
                            <a:srgbClr val="FFFFFF"/>
                          </a:solidFill>
                        </a:rPr>
                        <a:t>PP</a:t>
                      </a:r>
                    </a:p>
                  </a:txBody>
                  <a:tcPr marL="54864" marR="54864" marT="27432" marB="27432" anchor="ctr">
                    <a:solidFill>
                      <a:srgbClr val="006D77"/>
                    </a:solidFill>
                  </a:tcPr>
                </a:tc>
              </a:tr>
              <a:tr h="381762">
                <a:tc>
                  <a:txBody>
                    <a:bodyPr wrap="square"/>
                    <a:lstStyle/>
                    <a:p>
                      <a:r>
                        <a:rPr sz="1439" b="0">
                          <a:solidFill>
                            <a:srgbClr val="1F2D3A"/>
                          </a:solidFill>
                        </a:rPr>
                        <a:t>Scope</a:t>
                      </a:r>
                    </a:p>
                  </a:txBody>
                  <a:tcPr marL="54864" marR="54864" marT="27432" marB="27432" anchor="ctr">
                    <a:solidFill>
                      <a:srgbClr val="FFFFFF"/>
                    </a:solidFill>
                  </a:tcPr>
                </a:tc>
                <a:tc>
                  <a:txBody>
                    <a:bodyPr wrap="square"/>
                    <a:lstStyle/>
                    <a:p>
                      <a:r>
                        <a:rPr sz="1439" b="0">
                          <a:solidFill>
                            <a:srgbClr val="1F2D3A"/>
                          </a:solidFill>
                        </a:rPr>
                        <a:t>Single product</a:t>
                      </a:r>
                    </a:p>
                  </a:txBody>
                  <a:tcPr marL="54864" marR="54864" marT="27432" marB="27432" anchor="ctr">
                    <a:solidFill>
                      <a:srgbClr val="FFFFFF"/>
                    </a:solidFill>
                  </a:tcPr>
                </a:tc>
                <a:tc>
                  <a:txBody>
                    <a:bodyPr wrap="square"/>
                    <a:lstStyle/>
                    <a:p>
                      <a:r>
                        <a:rPr sz="1439" b="0">
                          <a:solidFill>
                            <a:srgbClr val="1F2D3A"/>
                          </a:solidFill>
                        </a:rPr>
                        <a:t>Product class</a:t>
                      </a:r>
                    </a:p>
                  </a:txBody>
                  <a:tcPr marL="54864" marR="54864" marT="27432" marB="27432" anchor="ctr">
                    <a:solidFill>
                      <a:srgbClr val="FFFFFF"/>
                    </a:solidFill>
                  </a:tcPr>
                </a:tc>
              </a:tr>
              <a:tr h="381762">
                <a:tc>
                  <a:txBody>
                    <a:bodyPr wrap="square"/>
                    <a:lstStyle/>
                    <a:p>
                      <a:r>
                        <a:rPr sz="1439" b="0">
                          <a:solidFill>
                            <a:srgbClr val="1F2D3A"/>
                          </a:solidFill>
                        </a:rPr>
                        <a:t>Written by</a:t>
                      </a:r>
                    </a:p>
                  </a:txBody>
                  <a:tcPr marL="54864" marR="54864" marT="27432" marB="27432" anchor="ctr">
                    <a:solidFill>
                      <a:srgbClr val="EEF7F8"/>
                    </a:solidFill>
                  </a:tcPr>
                </a:tc>
                <a:tc>
                  <a:txBody>
                    <a:bodyPr wrap="square"/>
                    <a:lstStyle/>
                    <a:p>
                      <a:r>
                        <a:rPr sz="1439" b="0">
                          <a:solidFill>
                            <a:srgbClr val="1F2D3A"/>
                          </a:solidFill>
                        </a:rPr>
                        <a:t>Developer</a:t>
                      </a:r>
                    </a:p>
                  </a:txBody>
                  <a:tcPr marL="54864" marR="54864" marT="27432" marB="27432" anchor="ctr">
                    <a:solidFill>
                      <a:srgbClr val="EEF7F8"/>
                    </a:solidFill>
                  </a:tcPr>
                </a:tc>
                <a:tc>
                  <a:txBody>
                    <a:bodyPr wrap="square"/>
                    <a:lstStyle/>
                    <a:p>
                      <a:r>
                        <a:rPr sz="1439" b="0">
                          <a:solidFill>
                            <a:srgbClr val="1F2D3A"/>
                          </a:solidFill>
                        </a:rPr>
                        <a:t>Community/authority</a:t>
                      </a:r>
                    </a:p>
                  </a:txBody>
                  <a:tcPr marL="54864" marR="54864" marT="27432" marB="27432" anchor="ctr">
                    <a:solidFill>
                      <a:srgbClr val="EEF7F8"/>
                    </a:solidFill>
                  </a:tcPr>
                </a:tc>
              </a:tr>
              <a:tr h="381762">
                <a:tc>
                  <a:txBody>
                    <a:bodyPr wrap="square"/>
                    <a:lstStyle/>
                    <a:p>
                      <a:r>
                        <a:rPr sz="1439" b="0">
                          <a:solidFill>
                            <a:srgbClr val="1F2D3A"/>
                          </a:solidFill>
                        </a:rPr>
                        <a:t>Role</a:t>
                      </a:r>
                    </a:p>
                  </a:txBody>
                  <a:tcPr marL="54864" marR="54864" marT="27432" marB="27432" anchor="ctr">
                    <a:solidFill>
                      <a:srgbClr val="FFFFFF"/>
                    </a:solidFill>
                  </a:tcPr>
                </a:tc>
                <a:tc>
                  <a:txBody>
                    <a:bodyPr wrap="square"/>
                    <a:lstStyle/>
                    <a:p>
                      <a:r>
                        <a:rPr sz="1439" b="0">
                          <a:solidFill>
                            <a:srgbClr val="1F2D3A"/>
                          </a:solidFill>
                        </a:rPr>
                        <a:t>This product's target</a:t>
                      </a:r>
                    </a:p>
                  </a:txBody>
                  <a:tcPr marL="54864" marR="54864" marT="27432" marB="27432" anchor="ctr">
                    <a:solidFill>
                      <a:srgbClr val="FFFFFF"/>
                    </a:solidFill>
                  </a:tcPr>
                </a:tc>
                <a:tc>
                  <a:txBody>
                    <a:bodyPr wrap="square"/>
                    <a:lstStyle/>
                    <a:p>
                      <a:r>
                        <a:rPr sz="1439" b="0">
                          <a:solidFill>
                            <a:srgbClr val="1F2D3A"/>
                          </a:solidFill>
                        </a:rPr>
                        <a:t>Common baseline</a:t>
                      </a:r>
                    </a:p>
                  </a:txBody>
                  <a:tcPr marL="54864" marR="54864" marT="27432" marB="27432" anchor="ctr">
                    <a:solidFill>
                      <a:srgbClr val="FFFFFF"/>
                    </a:solidFill>
                  </a:tcPr>
                </a:tc>
              </a:tr>
            </a:tbl>
          </a:graphicData>
        </a:graphic>
      </p:graphicFrame>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13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77</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SFR · Functional Requirements</a:t>
            </a:r>
          </a:p>
        </p:txBody>
      </p:sp>
      <p:sp>
        <p:nvSpPr>
          <p:cNvPr id="7" name="TextBox 6"/>
          <p:cNvSpPr txBox="1"/>
          <p:nvPr/>
        </p:nvSpPr>
        <p:spPr>
          <a:xfrm>
            <a:off x="640080" y="1325880"/>
            <a:ext cx="10911535" cy="1219200"/>
          </a:xfrm>
          <a:prstGeom prst="rect">
            <a:avLst/>
          </a:prstGeom>
          <a:noFill/>
        </p:spPr>
        <p:txBody>
          <a:bodyPr wrap="square" lIns="45720" rIns="45720">
            <a:spAutoFit/>
          </a:bodyPr>
          <a:lstStyle/>
          <a:p>
            <a:pPr>
              <a:spcAft>
                <a:spcPts val="300"/>
              </a:spcAft>
            </a:pPr>
            <a:r>
              <a:rPr sz="2000" b="1">
                <a:solidFill>
                  <a:srgbClr val="006D77"/>
                </a:solidFill>
              </a:rPr>
              <a:t>• </a:t>
            </a:r>
            <a:r>
              <a:rPr sz="2000" b="1">
                <a:solidFill>
                  <a:srgbClr val="1F2D3A"/>
                </a:solidFill>
              </a:rPr>
              <a:t>SFR (Security Functional Requirements):</a:t>
            </a:r>
            <a:r>
              <a:rPr sz="2000" b="0">
                <a:solidFill>
                  <a:srgbClr val="1F2D3A"/>
                </a:solidFill>
              </a:rPr>
              <a:t> what the product </a:t>
            </a:r>
            <a:r>
              <a:rPr sz="2000" b="1">
                <a:solidFill>
                  <a:srgbClr val="1F2D3A"/>
                </a:solidFill>
              </a:rPr>
              <a:t>will do</a:t>
            </a:r>
            <a:r>
              <a:rPr sz="2000" b="0">
                <a:solidFill>
                  <a:srgbClr val="1F2D3A"/>
                </a:solidFill>
              </a:rPr>
              <a:t>.</a:t>
            </a:r>
          </a:p>
          <a:p>
            <a:pPr>
              <a:spcAft>
                <a:spcPts val="300"/>
              </a:spcAft>
            </a:pPr>
            <a:r>
              <a:rPr sz="2000" b="1">
                <a:solidFill>
                  <a:srgbClr val="006D77"/>
                </a:solidFill>
              </a:rPr>
              <a:t>• </a:t>
            </a:r>
            <a:r>
              <a:rPr sz="2000" b="0">
                <a:solidFill>
                  <a:srgbClr val="1F2D3A"/>
                </a:solidFill>
              </a:rPr>
              <a:t>Example: encryption, access control, logging.</a:t>
            </a:r>
          </a:p>
          <a:p>
            <a:pPr>
              <a:spcAft>
                <a:spcPts val="300"/>
              </a:spcAft>
            </a:pPr>
            <a:r>
              <a:rPr sz="2000" b="1">
                <a:solidFill>
                  <a:srgbClr val="006D77"/>
                </a:solidFill>
              </a:rPr>
              <a:t>• </a:t>
            </a:r>
            <a:r>
              <a:rPr sz="2000" b="0">
                <a:solidFill>
                  <a:srgbClr val="1F2D3A"/>
                </a:solidFill>
              </a:rPr>
              <a:t>Chosen from a standard catalogue.</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13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78</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SAR · Assurance Requirements</a:t>
            </a:r>
          </a:p>
        </p:txBody>
      </p:sp>
      <p:sp>
        <p:nvSpPr>
          <p:cNvPr id="7" name="TextBox 6"/>
          <p:cNvSpPr txBox="1"/>
          <p:nvPr/>
        </p:nvSpPr>
        <p:spPr>
          <a:xfrm>
            <a:off x="640080" y="1325880"/>
            <a:ext cx="10911535" cy="1219200"/>
          </a:xfrm>
          <a:prstGeom prst="rect">
            <a:avLst/>
          </a:prstGeom>
          <a:noFill/>
        </p:spPr>
        <p:txBody>
          <a:bodyPr wrap="square" lIns="45720" rIns="45720">
            <a:spAutoFit/>
          </a:bodyPr>
          <a:lstStyle/>
          <a:p>
            <a:pPr>
              <a:spcAft>
                <a:spcPts val="300"/>
              </a:spcAft>
            </a:pPr>
            <a:r>
              <a:rPr sz="2000" b="1">
                <a:solidFill>
                  <a:srgbClr val="006D77"/>
                </a:solidFill>
              </a:rPr>
              <a:t>• </a:t>
            </a:r>
            <a:r>
              <a:rPr sz="2000" b="1">
                <a:solidFill>
                  <a:srgbClr val="1F2D3A"/>
                </a:solidFill>
              </a:rPr>
              <a:t>SAR (Security Assurance Requirements):</a:t>
            </a:r>
            <a:r>
              <a:rPr sz="2000" b="0">
                <a:solidFill>
                  <a:srgbClr val="1F2D3A"/>
                </a:solidFill>
              </a:rPr>
              <a:t> </a:t>
            </a:r>
            <a:r>
              <a:rPr sz="2000" b="1">
                <a:solidFill>
                  <a:srgbClr val="1F2D3A"/>
                </a:solidFill>
              </a:rPr>
              <a:t>how we will trust</a:t>
            </a:r>
            <a:r>
              <a:rPr sz="2000" b="0">
                <a:solidFill>
                  <a:srgbClr val="1F2D3A"/>
                </a:solidFill>
              </a:rPr>
              <a:t> it was done correctly.</a:t>
            </a:r>
          </a:p>
          <a:p>
            <a:pPr>
              <a:spcAft>
                <a:spcPts val="300"/>
              </a:spcAft>
            </a:pPr>
            <a:r>
              <a:rPr sz="2000" b="1">
                <a:solidFill>
                  <a:srgbClr val="006D77"/>
                </a:solidFill>
              </a:rPr>
              <a:t>• </a:t>
            </a:r>
            <a:r>
              <a:rPr sz="2000" b="0">
                <a:solidFill>
                  <a:srgbClr val="1F2D3A"/>
                </a:solidFill>
              </a:rPr>
              <a:t>Example: source review, test depth, vulnerability analysis.</a:t>
            </a:r>
          </a:p>
          <a:p>
            <a:pPr>
              <a:spcAft>
                <a:spcPts val="300"/>
              </a:spcAft>
            </a:pPr>
            <a:r>
              <a:rPr sz="2000" b="1">
                <a:solidFill>
                  <a:srgbClr val="006D77"/>
                </a:solidFill>
              </a:rPr>
              <a:t>• </a:t>
            </a:r>
            <a:r>
              <a:rPr sz="2000" b="0">
                <a:solidFill>
                  <a:srgbClr val="1F2D3A"/>
                </a:solidFill>
              </a:rPr>
              <a:t>EAL determines these.</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13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79</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EAL · Evaluation Depth</a:t>
            </a:r>
          </a:p>
        </p:txBody>
      </p:sp>
      <p:sp>
        <p:nvSpPr>
          <p:cNvPr id="7" name="TextBox 6"/>
          <p:cNvSpPr txBox="1"/>
          <p:nvPr/>
        </p:nvSpPr>
        <p:spPr>
          <a:xfrm>
            <a:off x="640080" y="1325880"/>
            <a:ext cx="10911535" cy="1219200"/>
          </a:xfrm>
          <a:prstGeom prst="rect">
            <a:avLst/>
          </a:prstGeom>
          <a:noFill/>
        </p:spPr>
        <p:txBody>
          <a:bodyPr wrap="square" lIns="45720" rIns="45720">
            <a:spAutoFit/>
          </a:bodyPr>
          <a:lstStyle/>
          <a:p>
            <a:pPr>
              <a:spcAft>
                <a:spcPts val="300"/>
              </a:spcAft>
            </a:pPr>
            <a:r>
              <a:rPr sz="2000" b="1">
                <a:solidFill>
                  <a:srgbClr val="006D77"/>
                </a:solidFill>
              </a:rPr>
              <a:t>• </a:t>
            </a:r>
            <a:r>
              <a:rPr sz="2000" b="1">
                <a:solidFill>
                  <a:srgbClr val="1F2D3A"/>
                </a:solidFill>
              </a:rPr>
              <a:t>EAL (Evaluation Assurance Level):</a:t>
            </a:r>
            <a:r>
              <a:rPr sz="2000" b="0">
                <a:solidFill>
                  <a:srgbClr val="1F2D3A"/>
                </a:solidFill>
              </a:rPr>
              <a:t> depth from 1 to 7.</a:t>
            </a:r>
          </a:p>
          <a:p>
            <a:pPr>
              <a:spcAft>
                <a:spcPts val="300"/>
              </a:spcAft>
            </a:pPr>
            <a:r>
              <a:rPr sz="2000" b="1">
                <a:solidFill>
                  <a:srgbClr val="006D77"/>
                </a:solidFill>
              </a:rPr>
              <a:t>• </a:t>
            </a:r>
            <a:r>
              <a:rPr sz="2000" b="0">
                <a:solidFill>
                  <a:srgbClr val="1F2D3A"/>
                </a:solidFill>
              </a:rPr>
              <a:t>A higher EAL = a deeper review.</a:t>
            </a:r>
          </a:p>
          <a:p>
            <a:pPr>
              <a:spcAft>
                <a:spcPts val="300"/>
              </a:spcAft>
            </a:pPr>
            <a:r>
              <a:rPr sz="2000" b="1">
                <a:solidFill>
                  <a:srgbClr val="006D77"/>
                </a:solidFill>
              </a:rPr>
              <a:t>• </a:t>
            </a:r>
            <a:r>
              <a:rPr sz="2000" b="0">
                <a:solidFill>
                  <a:srgbClr val="1F2D3A"/>
                </a:solidFill>
              </a:rPr>
              <a:t>"+" shows additional assurance components (EAL4+).</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13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80</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 A Common Misunderstanding of EAL</a:t>
            </a:r>
          </a:p>
        </p:txBody>
      </p:sp>
      <p:sp>
        <p:nvSpPr>
          <p:cNvPr id="7" name="TextBox 6"/>
          <p:cNvSpPr txBox="1"/>
          <p:nvPr/>
        </p:nvSpPr>
        <p:spPr>
          <a:xfrm>
            <a:off x="640080" y="1325880"/>
            <a:ext cx="10911535" cy="1219200"/>
          </a:xfrm>
          <a:prstGeom prst="rect">
            <a:avLst/>
          </a:prstGeom>
          <a:noFill/>
        </p:spPr>
        <p:txBody>
          <a:bodyPr wrap="square" lIns="45720" rIns="45720">
            <a:spAutoFit/>
          </a:bodyPr>
          <a:lstStyle/>
          <a:p>
            <a:pPr>
              <a:spcAft>
                <a:spcPts val="300"/>
              </a:spcAft>
            </a:pPr>
            <a:r>
              <a:rPr sz="2000" b="1">
                <a:solidFill>
                  <a:srgbClr val="006D77"/>
                </a:solidFill>
              </a:rPr>
              <a:t>• </a:t>
            </a:r>
            <a:r>
              <a:rPr sz="2000" b="0">
                <a:solidFill>
                  <a:srgbClr val="1F2D3A"/>
                </a:solidFill>
              </a:rPr>
              <a:t>EAL is the </a:t>
            </a:r>
            <a:r>
              <a:rPr sz="2000" b="1">
                <a:solidFill>
                  <a:srgbClr val="1F2D3A"/>
                </a:solidFill>
              </a:rPr>
              <a:t>depth</a:t>
            </a:r>
            <a:r>
              <a:rPr sz="2000" b="0">
                <a:solidFill>
                  <a:srgbClr val="1F2D3A"/>
                </a:solidFill>
              </a:rPr>
              <a:t> of security review, not the </a:t>
            </a:r>
            <a:r>
              <a:rPr sz="2000" b="1">
                <a:solidFill>
                  <a:srgbClr val="1F2D3A"/>
                </a:solidFill>
              </a:rPr>
              <a:t>amount</a:t>
            </a:r>
            <a:r>
              <a:rPr sz="2000" b="0">
                <a:solidFill>
                  <a:srgbClr val="1F2D3A"/>
                </a:solidFill>
              </a:rPr>
              <a:t> of security.</a:t>
            </a:r>
          </a:p>
          <a:p>
            <a:pPr>
              <a:spcAft>
                <a:spcPts val="300"/>
              </a:spcAft>
            </a:pPr>
            <a:r>
              <a:rPr sz="2000" b="1">
                <a:solidFill>
                  <a:srgbClr val="006D77"/>
                </a:solidFill>
              </a:rPr>
              <a:t>• </a:t>
            </a:r>
            <a:r>
              <a:rPr sz="2000" b="0">
                <a:solidFill>
                  <a:srgbClr val="1F2D3A"/>
                </a:solidFill>
              </a:rPr>
              <a:t>Saying "EAL4+ &gt; EAL2 is more secure" is </a:t>
            </a:r>
            <a:r>
              <a:rPr sz="2000" b="1">
                <a:solidFill>
                  <a:srgbClr val="1F2D3A"/>
                </a:solidFill>
              </a:rPr>
              <a:t>wrong</a:t>
            </a:r>
            <a:r>
              <a:rPr sz="2000" b="0">
                <a:solidFill>
                  <a:srgbClr val="1F2D3A"/>
                </a:solidFill>
              </a:rPr>
              <a:t>.</a:t>
            </a:r>
          </a:p>
          <a:p>
            <a:pPr>
              <a:spcAft>
                <a:spcPts val="300"/>
              </a:spcAft>
            </a:pPr>
            <a:r>
              <a:rPr sz="2000" b="1">
                <a:solidFill>
                  <a:srgbClr val="006D77"/>
                </a:solidFill>
              </a:rPr>
              <a:t>• </a:t>
            </a:r>
            <a:r>
              <a:rPr sz="2000" b="0">
                <a:solidFill>
                  <a:srgbClr val="1F2D3A"/>
                </a:solidFill>
              </a:rPr>
              <a:t>Security depends on the </a:t>
            </a:r>
            <a:r>
              <a:rPr sz="2000" b="1">
                <a:solidFill>
                  <a:srgbClr val="1F2D3A"/>
                </a:solidFill>
              </a:rPr>
              <a:t>threats and objectives in the ST</a:t>
            </a:r>
            <a:r>
              <a:rPr sz="2000" b="0">
                <a:solidFill>
                  <a:srgbClr val="1F2D3A"/>
                </a:solidFill>
              </a:rPr>
              <a:t>.</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13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81</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Worked Example · ST Skeleton — TOE</a:t>
            </a:r>
          </a:p>
        </p:txBody>
      </p:sp>
      <p:sp>
        <p:nvSpPr>
          <p:cNvPr id="7" name="TextBox 6"/>
          <p:cNvSpPr txBox="1"/>
          <p:nvPr/>
        </p:nvSpPr>
        <p:spPr>
          <a:xfrm>
            <a:off x="640080" y="1325880"/>
            <a:ext cx="10911535" cy="439928"/>
          </a:xfrm>
          <a:prstGeom prst="rect">
            <a:avLst/>
          </a:prstGeom>
          <a:noFill/>
        </p:spPr>
        <p:txBody>
          <a:bodyPr wrap="square" lIns="45720" rIns="45720">
            <a:spAutoFit/>
          </a:bodyPr>
          <a:lstStyle/>
          <a:p>
            <a:pPr algn="l"/>
            <a:r>
              <a:rPr sz="2000" b="0">
                <a:solidFill>
                  <a:srgbClr val="1F2D3A"/>
                </a:solidFill>
              </a:rPr>
              <a:t>Let's fill this in for a mobile payment component in three steps.</a:t>
            </a:r>
          </a:p>
        </p:txBody>
      </p:sp>
      <p:sp>
        <p:nvSpPr>
          <p:cNvPr id="8" name="TextBox 7"/>
          <p:cNvSpPr txBox="1"/>
          <p:nvPr/>
        </p:nvSpPr>
        <p:spPr>
          <a:xfrm>
            <a:off x="640080" y="1875536"/>
            <a:ext cx="10911535" cy="439928"/>
          </a:xfrm>
          <a:prstGeom prst="rect">
            <a:avLst/>
          </a:prstGeom>
          <a:noFill/>
        </p:spPr>
        <p:txBody>
          <a:bodyPr wrap="square" lIns="45720" rIns="45720">
            <a:spAutoFit/>
          </a:bodyPr>
          <a:lstStyle/>
          <a:p>
            <a:pPr algn="l"/>
            <a:r>
              <a:rPr sz="2000" b="1">
                <a:solidFill>
                  <a:srgbClr val="1F2D3A"/>
                </a:solidFill>
              </a:rPr>
              <a:t>Step 1 — Define the TOE:</a:t>
            </a:r>
          </a:p>
        </p:txBody>
      </p:sp>
      <p:sp>
        <p:nvSpPr>
          <p:cNvPr id="9" name="Rectangle 8"/>
          <p:cNvSpPr/>
          <p:nvPr/>
        </p:nvSpPr>
        <p:spPr>
          <a:xfrm>
            <a:off x="640080" y="2425192"/>
            <a:ext cx="10911535" cy="1264920"/>
          </a:xfrm>
          <a:prstGeom prst="rect">
            <a:avLst/>
          </a:prstGeom>
          <a:solidFill>
            <a:srgbClr val="EEF7F8"/>
          </a:solidFill>
          <a:ln>
            <a:solidFill>
              <a:srgbClr val="006D77"/>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l"/>
            <a:r>
              <a:rPr sz="2000" b="0">
                <a:solidFill>
                  <a:srgbClr val="1F2D3A"/>
                </a:solidFill>
              </a:rPr>
              <a:t>TOE: the "CEN429-Pay" library, version 1.0, Android ARM64 build only. </a:t>
            </a:r>
            <a:r>
              <a:rPr sz="2000" b="1">
                <a:solidFill>
                  <a:srgbClr val="1F2D3A"/>
                </a:solidFill>
              </a:rPr>
              <a:t>Out of scope:</a:t>
            </a:r>
            <a:r>
              <a:rPr sz="2000" b="0">
                <a:solidFill>
                  <a:srgbClr val="1F2D3A"/>
                </a:solidFill>
              </a:rPr>
              <a:t> the parent application's interface, server-side components, the operating system kernel.</a:t>
            </a:r>
          </a:p>
        </p:txBody>
      </p:sp>
      <p:sp>
        <p:nvSpPr>
          <p:cNvPr id="10" name="TextBox 9"/>
          <p:cNvSpPr txBox="1"/>
          <p:nvPr/>
        </p:nvSpPr>
        <p:spPr>
          <a:xfrm>
            <a:off x="640080" y="3799840"/>
            <a:ext cx="10911535" cy="439928"/>
          </a:xfrm>
          <a:prstGeom prst="rect">
            <a:avLst/>
          </a:prstGeom>
          <a:noFill/>
        </p:spPr>
        <p:txBody>
          <a:bodyPr wrap="square" lIns="45720" rIns="45720">
            <a:spAutoFit/>
          </a:bodyPr>
          <a:lstStyle/>
          <a:p>
            <a:pPr algn="l"/>
            <a:r>
              <a:rPr sz="2000" b="0">
                <a:solidFill>
                  <a:srgbClr val="1F2D3A"/>
                </a:solidFill>
              </a:rPr>
              <a:t>Writing what's out of scope matters as much as writing the scope.</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13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82</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2600" b="1">
                <a:solidFill>
                  <a:srgbClr val="006D77"/>
                </a:solidFill>
              </a:rPr>
              <a:t>Threat → Objective → SFR Mapping</a:t>
            </a:r>
          </a:p>
        </p:txBody>
      </p:sp>
      <p:graphicFrame>
        <p:nvGraphicFramePr>
          <p:cNvPr id="7" name="Table 6"/>
          <p:cNvGraphicFramePr>
            <a:graphicFrameLocks noGrp="1"/>
          </p:cNvGraphicFramePr>
          <p:nvPr/>
        </p:nvGraphicFramePr>
        <p:xfrm>
          <a:off x="640080" y="1325880"/>
          <a:ext cx="10911535" cy="1859889"/>
        </p:xfrm>
        <a:graphic>
          <a:graphicData uri="http://schemas.openxmlformats.org/drawingml/2006/table">
            <a:tbl>
              <a:tblPr firstRow="1" bandRow="1">
                <a:tableStyleId>{5C22544A-7EE6-4342-B048-85BDC9FD1C3A}</a:tableStyleId>
              </a:tblPr>
              <a:tblGrid>
                <a:gridCol w="1620525"/>
                <a:gridCol w="5401750"/>
                <a:gridCol w="1512490"/>
                <a:gridCol w="2376770"/>
              </a:tblGrid>
              <a:tr h="464972">
                <a:tc>
                  <a:txBody>
                    <a:bodyPr wrap="square"/>
                    <a:lstStyle/>
                    <a:p>
                      <a:r>
                        <a:rPr sz="1296" b="1">
                          <a:solidFill>
                            <a:srgbClr val="FFFFFF"/>
                          </a:solidFill>
                        </a:rPr>
                        <a:t>Threat</a:t>
                      </a:r>
                    </a:p>
                  </a:txBody>
                  <a:tcPr marL="54864" marR="54864" marT="27432" marB="27432" anchor="ctr">
                    <a:solidFill>
                      <a:srgbClr val="006D77"/>
                    </a:solidFill>
                  </a:tcPr>
                </a:tc>
                <a:tc>
                  <a:txBody>
                    <a:bodyPr wrap="square"/>
                    <a:lstStyle/>
                    <a:p>
                      <a:r>
                        <a:rPr sz="1296" b="1">
                          <a:solidFill>
                            <a:srgbClr val="FFFFFF"/>
                          </a:solidFill>
                        </a:rPr>
                        <a:t>Security objective</a:t>
                      </a:r>
                    </a:p>
                  </a:txBody>
                  <a:tcPr marL="54864" marR="54864" marT="27432" marB="27432" anchor="ctr">
                    <a:solidFill>
                      <a:srgbClr val="006D77"/>
                    </a:solidFill>
                  </a:tcPr>
                </a:tc>
                <a:tc>
                  <a:txBody>
                    <a:bodyPr wrap="square"/>
                    <a:lstStyle/>
                    <a:p>
                      <a:r>
                        <a:rPr sz="1296" b="1">
                          <a:solidFill>
                            <a:srgbClr val="FFFFFF"/>
                          </a:solidFill>
                        </a:rPr>
                        <a:t>SFR family</a:t>
                      </a:r>
                    </a:p>
                  </a:txBody>
                  <a:tcPr marL="54864" marR="54864" marT="27432" marB="27432" anchor="ctr">
                    <a:solidFill>
                      <a:srgbClr val="006D77"/>
                    </a:solidFill>
                  </a:tcPr>
                </a:tc>
                <a:tc>
                  <a:txBody>
                    <a:bodyPr wrap="square"/>
                    <a:lstStyle/>
                    <a:p>
                      <a:r>
                        <a:rPr sz="1296" b="1">
                          <a:solidFill>
                            <a:srgbClr val="FFFFFF"/>
                          </a:solidFill>
                        </a:rPr>
                        <a:t>Course requirement</a:t>
                      </a:r>
                    </a:p>
                  </a:txBody>
                  <a:tcPr marL="54864" marR="54864" marT="27432" marB="27432" anchor="ctr">
                    <a:solidFill>
                      <a:srgbClr val="006D77"/>
                    </a:solidFill>
                  </a:tcPr>
                </a:tc>
              </a:tr>
              <a:tr h="464972">
                <a:tc>
                  <a:txBody>
                    <a:bodyPr wrap="square"/>
                    <a:lstStyle/>
                    <a:p>
                      <a:r>
                        <a:rPr sz="1296" b="0">
                          <a:solidFill>
                            <a:srgbClr val="1F2D3A"/>
                          </a:solidFill>
                        </a:rPr>
                        <a:t>T.EAVESDROP</a:t>
                      </a:r>
                    </a:p>
                  </a:txBody>
                  <a:tcPr marL="54864" marR="54864" marT="27432" marB="27432" anchor="ctr">
                    <a:solidFill>
                      <a:srgbClr val="FFFFFF"/>
                    </a:solidFill>
                  </a:tcPr>
                </a:tc>
                <a:tc>
                  <a:txBody>
                    <a:bodyPr wrap="square"/>
                    <a:lstStyle/>
                    <a:p>
                      <a:r>
                        <a:rPr sz="1296" b="0">
                          <a:solidFill>
                            <a:srgbClr val="1F2D3A"/>
                          </a:solidFill>
                        </a:rPr>
                        <a:t>Transmitted data must stay confidential/intact</a:t>
                      </a:r>
                    </a:p>
                  </a:txBody>
                  <a:tcPr marL="54864" marR="54864" marT="27432" marB="27432" anchor="ctr">
                    <a:solidFill>
                      <a:srgbClr val="FFFFFF"/>
                    </a:solidFill>
                  </a:tcPr>
                </a:tc>
                <a:tc>
                  <a:txBody>
                    <a:bodyPr wrap="square"/>
                    <a:lstStyle/>
                    <a:p>
                      <a:r>
                        <a:rPr sz="1296" b="0">
                          <a:solidFill>
                            <a:srgbClr val="1F2D3A"/>
                          </a:solidFill>
                        </a:rPr>
                        <a:t>FCS, FTP</a:t>
                      </a:r>
                    </a:p>
                  </a:txBody>
                  <a:tcPr marL="54864" marR="54864" marT="27432" marB="27432" anchor="ctr">
                    <a:solidFill>
                      <a:srgbClr val="FFFFFF"/>
                    </a:solidFill>
                  </a:tcPr>
                </a:tc>
                <a:tc>
                  <a:txBody>
                    <a:bodyPr wrap="square"/>
                    <a:lstStyle/>
                    <a:p>
                      <a:r>
                        <a:rPr sz="1296" b="0">
                          <a:solidFill>
                            <a:srgbClr val="1F2D3A"/>
                          </a:solidFill>
                        </a:rPr>
                        <a:t>CEN429-DT-01</a:t>
                      </a:r>
                    </a:p>
                  </a:txBody>
                  <a:tcPr marL="54864" marR="54864" marT="27432" marB="27432" anchor="ctr">
                    <a:solidFill>
                      <a:srgbClr val="FFFFFF"/>
                    </a:solidFill>
                  </a:tcPr>
                </a:tc>
              </a:tr>
              <a:tr h="464972">
                <a:tc>
                  <a:txBody>
                    <a:bodyPr wrap="square"/>
                    <a:lstStyle/>
                    <a:p>
                      <a:r>
                        <a:rPr sz="1296" b="0">
                          <a:solidFill>
                            <a:srgbClr val="1F2D3A"/>
                          </a:solidFill>
                        </a:rPr>
                        <a:t>T.TAMPER</a:t>
                      </a:r>
                    </a:p>
                  </a:txBody>
                  <a:tcPr marL="54864" marR="54864" marT="27432" marB="27432" anchor="ctr">
                    <a:solidFill>
                      <a:srgbClr val="EEF7F8"/>
                    </a:solidFill>
                  </a:tcPr>
                </a:tc>
                <a:tc>
                  <a:txBody>
                    <a:bodyPr wrap="square"/>
                    <a:lstStyle/>
                    <a:p>
                      <a:r>
                        <a:rPr sz="1296" b="0">
                          <a:solidFill>
                            <a:srgbClr val="1F2D3A"/>
                          </a:solidFill>
                        </a:rPr>
                        <a:t>The application must check its integrity</a:t>
                      </a:r>
                    </a:p>
                  </a:txBody>
                  <a:tcPr marL="54864" marR="54864" marT="27432" marB="27432" anchor="ctr">
                    <a:solidFill>
                      <a:srgbClr val="EEF7F8"/>
                    </a:solidFill>
                  </a:tcPr>
                </a:tc>
                <a:tc>
                  <a:txBody>
                    <a:bodyPr wrap="square"/>
                    <a:lstStyle/>
                    <a:p>
                      <a:r>
                        <a:rPr sz="1296" b="0">
                          <a:solidFill>
                            <a:srgbClr val="1F2D3A"/>
                          </a:solidFill>
                        </a:rPr>
                        <a:t>FPT</a:t>
                      </a:r>
                    </a:p>
                  </a:txBody>
                  <a:tcPr marL="54864" marR="54864" marT="27432" marB="27432" anchor="ctr">
                    <a:solidFill>
                      <a:srgbClr val="EEF7F8"/>
                    </a:solidFill>
                  </a:tcPr>
                </a:tc>
                <a:tc>
                  <a:txBody>
                    <a:bodyPr wrap="square"/>
                    <a:lstStyle/>
                    <a:p>
                      <a:r>
                        <a:rPr sz="1296" b="0">
                          <a:solidFill>
                            <a:srgbClr val="1F2D3A"/>
                          </a:solidFill>
                        </a:rPr>
                        <a:t>CEN429-AP-04</a:t>
                      </a:r>
                    </a:p>
                  </a:txBody>
                  <a:tcPr marL="54864" marR="54864" marT="27432" marB="27432" anchor="ctr">
                    <a:solidFill>
                      <a:srgbClr val="EEF7F8"/>
                    </a:solidFill>
                  </a:tcPr>
                </a:tc>
              </a:tr>
              <a:tr h="464973">
                <a:tc>
                  <a:txBody>
                    <a:bodyPr wrap="square"/>
                    <a:lstStyle/>
                    <a:p>
                      <a:r>
                        <a:rPr sz="1296" b="0">
                          <a:solidFill>
                            <a:srgbClr val="1F2D3A"/>
                          </a:solidFill>
                        </a:rPr>
                        <a:t>—</a:t>
                      </a:r>
                    </a:p>
                  </a:txBody>
                  <a:tcPr marL="54864" marR="54864" marT="27432" marB="27432" anchor="ctr">
                    <a:solidFill>
                      <a:srgbClr val="FFFFFF"/>
                    </a:solidFill>
                  </a:tcPr>
                </a:tc>
                <a:tc>
                  <a:txBody>
                    <a:bodyPr wrap="square"/>
                    <a:lstStyle/>
                    <a:p>
                      <a:r>
                        <a:rPr sz="1296" b="0">
                          <a:solidFill>
                            <a:srgbClr val="1F2D3A"/>
                          </a:solidFill>
                        </a:rPr>
                        <a:t>Identity must be verified</a:t>
                      </a:r>
                    </a:p>
                  </a:txBody>
                  <a:tcPr marL="54864" marR="54864" marT="27432" marB="27432" anchor="ctr">
                    <a:solidFill>
                      <a:srgbClr val="FFFFFF"/>
                    </a:solidFill>
                  </a:tcPr>
                </a:tc>
                <a:tc>
                  <a:txBody>
                    <a:bodyPr wrap="square"/>
                    <a:lstStyle/>
                    <a:p>
                      <a:r>
                        <a:rPr sz="1296" b="0">
                          <a:solidFill>
                            <a:srgbClr val="1F2D3A"/>
                          </a:solidFill>
                        </a:rPr>
                        <a:t>FIA</a:t>
                      </a:r>
                    </a:p>
                  </a:txBody>
                  <a:tcPr marL="54864" marR="54864" marT="27432" marB="27432" anchor="ctr">
                    <a:solidFill>
                      <a:srgbClr val="FFFFFF"/>
                    </a:solidFill>
                  </a:tcPr>
                </a:tc>
                <a:tc>
                  <a:txBody>
                    <a:bodyPr wrap="square"/>
                    <a:lstStyle/>
                    <a:p>
                      <a:r>
                        <a:rPr sz="1296" b="0">
                          <a:solidFill>
                            <a:srgbClr val="1F2D3A"/>
                          </a:solidFill>
                        </a:rPr>
                        <a:t>CEN429-ID-02</a:t>
                      </a:r>
                    </a:p>
                  </a:txBody>
                  <a:tcPr marL="54864" marR="54864" marT="27432" marB="27432" anchor="ctr">
                    <a:solidFill>
                      <a:srgbClr val="FFFFFF"/>
                    </a:solidFill>
                  </a:tcPr>
                </a:tc>
              </a:tr>
            </a:tbl>
          </a:graphicData>
        </a:graphic>
      </p:graphicFrame>
      <p:sp>
        <p:nvSpPr>
          <p:cNvPr id="8" name="TextBox 7"/>
          <p:cNvSpPr txBox="1"/>
          <p:nvPr/>
        </p:nvSpPr>
        <p:spPr>
          <a:xfrm>
            <a:off x="640080" y="3295497"/>
            <a:ext cx="10911535" cy="704088"/>
          </a:xfrm>
          <a:prstGeom prst="rect">
            <a:avLst/>
          </a:prstGeom>
          <a:noFill/>
        </p:spPr>
        <p:txBody>
          <a:bodyPr wrap="square" lIns="45720" rIns="45720">
            <a:spAutoFit/>
          </a:bodyPr>
          <a:lstStyle/>
          <a:p>
            <a:pPr algn="l"/>
            <a:r>
              <a:rPr sz="1800" b="0">
                <a:solidFill>
                  <a:srgbClr val="1F2D3A"/>
                </a:solidFill>
              </a:rPr>
              <a:t>This table is the heart of the ST: every row is a bridge between "why this requirement exists" and "what evidence is requested."</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13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83</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The EAL Ladder (animation)</a:t>
            </a:r>
          </a:p>
        </p:txBody>
      </p:sp>
      <p:pic>
        <p:nvPicPr>
          <p:cNvPr id="7" name="Picture 6" descr="common-criteria-ladder.en.gif"/>
          <p:cNvPicPr>
            <a:picLocks noChangeAspect="1"/>
          </p:cNvPicPr>
          <p:nvPr/>
        </p:nvPicPr>
        <p:blipFill>
          <a:blip r:embed="rId3"/>
          <a:stretch>
            <a:fillRect/>
          </a:stretch>
        </p:blipFill>
        <p:spPr>
          <a:xfrm>
            <a:off x="3557814" y="1325880"/>
            <a:ext cx="5076067" cy="4828032"/>
          </a:xfrm>
          <a:prstGeom prst="rect">
            <a:avLst/>
          </a:prstGeom>
        </p:spPr>
      </p:pic>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13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84</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The EAL Ladder — edge case: EAL7, the whole ladder</a:t>
            </a:r>
          </a:p>
        </p:txBody>
      </p:sp>
      <p:pic>
        <p:nvPicPr>
          <p:cNvPr id="7" name="Picture 6" descr="common-criteria-ladder--edge-eal7.en.gif"/>
          <p:cNvPicPr>
            <a:picLocks noChangeAspect="1"/>
          </p:cNvPicPr>
          <p:nvPr/>
        </p:nvPicPr>
        <p:blipFill>
          <a:blip r:embed="rId3"/>
          <a:stretch>
            <a:fillRect/>
          </a:stretch>
        </p:blipFill>
        <p:spPr>
          <a:xfrm>
            <a:off x="2852589" y="1325880"/>
            <a:ext cx="6486516" cy="4828032"/>
          </a:xfrm>
          <a:prstGeom prst="rect">
            <a:avLst/>
          </a:prstGeom>
        </p:spPr>
      </p:pic>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13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85</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2600" b="1">
                <a:solidFill>
                  <a:srgbClr val="006D77"/>
                </a:solidFill>
              </a:rPr>
              <a:t>Section 4's Rule</a:t>
            </a:r>
          </a:p>
        </p:txBody>
      </p:sp>
      <p:sp>
        <p:nvSpPr>
          <p:cNvPr id="7" name="TextBox 6"/>
          <p:cNvSpPr txBox="1"/>
          <p:nvPr/>
        </p:nvSpPr>
        <p:spPr>
          <a:xfrm>
            <a:off x="640080" y="1325880"/>
            <a:ext cx="10911535" cy="1714500"/>
          </a:xfrm>
          <a:prstGeom prst="rect">
            <a:avLst/>
          </a:prstGeom>
          <a:noFill/>
        </p:spPr>
        <p:txBody>
          <a:bodyPr wrap="square" lIns="45720" rIns="45720">
            <a:spAutoFit/>
          </a:bodyPr>
          <a:lstStyle/>
          <a:p>
            <a:pPr>
              <a:spcAft>
                <a:spcPts val="300"/>
              </a:spcAft>
            </a:pPr>
            <a:r>
              <a:rPr sz="1800" b="1">
                <a:solidFill>
                  <a:srgbClr val="006D77"/>
                </a:solidFill>
              </a:rPr>
              <a:t>• </a:t>
            </a:r>
            <a:r>
              <a:rPr sz="1800" b="0">
                <a:solidFill>
                  <a:srgbClr val="1F2D3A"/>
                </a:solidFill>
              </a:rPr>
              <a:t>A TOE definition always lists </a:t>
            </a:r>
            <a:r>
              <a:rPr sz="1800" b="1">
                <a:solidFill>
                  <a:srgbClr val="1F2D3A"/>
                </a:solidFill>
              </a:rPr>
              <a:t>both what it includes and what it leaves out</a:t>
            </a:r>
            <a:r>
              <a:rPr sz="1800" b="0">
                <a:solidFill>
                  <a:srgbClr val="1F2D3A"/>
                </a:solidFill>
              </a:rPr>
              <a:t>.</a:t>
            </a:r>
          </a:p>
          <a:p>
            <a:pPr>
              <a:spcAft>
                <a:spcPts val="300"/>
              </a:spcAft>
            </a:pPr>
            <a:r>
              <a:rPr sz="1800" b="1">
                <a:solidFill>
                  <a:srgbClr val="006D77"/>
                </a:solidFill>
              </a:rPr>
              <a:t>• </a:t>
            </a:r>
            <a:r>
              <a:rPr sz="1800" b="0">
                <a:solidFill>
                  <a:srgbClr val="1F2D3A"/>
                </a:solidFill>
              </a:rPr>
              <a:t>SFRs are chosen from the catalogue, </a:t>
            </a:r>
            <a:r>
              <a:rPr sz="1800" b="1">
                <a:solidFill>
                  <a:srgbClr val="1F2D3A"/>
                </a:solidFill>
              </a:rPr>
              <a:t>not invented</a:t>
            </a:r>
            <a:r>
              <a:rPr sz="1800" b="0">
                <a:solidFill>
                  <a:srgbClr val="1F2D3A"/>
                </a:solidFill>
              </a:rPr>
              <a:t>; if there's no counterpart, justify it as an "extended component."</a:t>
            </a:r>
          </a:p>
          <a:p>
            <a:pPr>
              <a:spcAft>
                <a:spcPts val="300"/>
              </a:spcAft>
            </a:pPr>
            <a:r>
              <a:rPr sz="1800" b="1">
                <a:solidFill>
                  <a:srgbClr val="006D77"/>
                </a:solidFill>
              </a:rPr>
              <a:t>• </a:t>
            </a:r>
            <a:r>
              <a:rPr sz="1800" b="0">
                <a:solidFill>
                  <a:srgbClr val="1F2D3A"/>
                </a:solidFill>
              </a:rPr>
              <a:t>The evaluator checks that every threat links to an objective, and every objective to an SFR.</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006D77"/>
        </a:solidFill>
        <a:effectLst/>
      </p:bgPr>
    </p:bg>
    <p:spTree>
      <p:nvGrpSpPr>
        <p:cNvPr id="1" name=""/>
        <p:cNvGrpSpPr/>
        <p:nvPr/>
      </p:nvGrpSpPr>
      <p:grpSpPr/>
      <p:sp>
        <p:nvSpPr>
          <p:cNvPr id="2" name="TextBox 1"/>
          <p:cNvSpPr txBox="1"/>
          <p:nvPr/>
        </p:nvSpPr>
        <p:spPr>
          <a:xfrm>
            <a:off x="1051560" y="182880"/>
            <a:ext cx="7315200" cy="320040"/>
          </a:xfrm>
          <a:prstGeom prst="rect">
            <a:avLst/>
          </a:prstGeom>
          <a:noFill/>
        </p:spPr>
        <p:txBody>
          <a:bodyPr wrap="square" lIns="45720" rIns="45720">
            <a:spAutoFit/>
          </a:bodyPr>
          <a:lstStyle/>
          <a:p>
            <a:r>
              <a:rPr sz="1100" b="0">
                <a:solidFill>
                  <a:srgbClr val="D8F0F2"/>
                </a:solidFill>
              </a:rPr>
              <a:t>CEN429 Secure Programming · Week 13</a:t>
            </a:r>
          </a:p>
        </p:txBody>
      </p:sp>
      <p:sp>
        <p:nvSpPr>
          <p:cNvPr id="3" name="TextBox 2"/>
          <p:cNvSpPr txBox="1"/>
          <p:nvPr/>
        </p:nvSpPr>
        <p:spPr>
          <a:xfrm>
            <a:off x="640080" y="6446520"/>
            <a:ext cx="7315200" cy="274320"/>
          </a:xfrm>
          <a:prstGeom prst="rect">
            <a:avLst/>
          </a:prstGeom>
          <a:noFill/>
        </p:spPr>
        <p:txBody>
          <a:bodyPr wrap="square" lIns="45720" rIns="45720">
            <a:spAutoFit/>
          </a:bodyPr>
          <a:lstStyle/>
          <a:p>
            <a:r>
              <a:rPr sz="1000" b="0">
                <a:solidFill>
                  <a:srgbClr val="D8F0F2"/>
                </a:solidFill>
              </a:rPr>
              <a:t>RTEU Computer Engineering · 2026-2027 Fall</a:t>
            </a:r>
          </a:p>
        </p:txBody>
      </p:sp>
      <p:sp>
        <p:nvSpPr>
          <p:cNvPr id="4" name="TextBox 3"/>
          <p:cNvSpPr txBox="1"/>
          <p:nvPr/>
        </p:nvSpPr>
        <p:spPr>
          <a:xfrm>
            <a:off x="10637215" y="6446520"/>
            <a:ext cx="914400" cy="274320"/>
          </a:xfrm>
          <a:prstGeom prst="rect">
            <a:avLst/>
          </a:prstGeom>
          <a:noFill/>
        </p:spPr>
        <p:txBody>
          <a:bodyPr wrap="square" lIns="45720" rIns="45720">
            <a:spAutoFit/>
          </a:bodyPr>
          <a:lstStyle/>
          <a:p>
            <a:pPr algn="r"/>
            <a:r>
              <a:rPr sz="1000" b="0">
                <a:solidFill>
                  <a:srgbClr val="D8F0F2"/>
                </a:solidFill>
              </a:rPr>
              <a:t>86</a:t>
            </a:r>
          </a:p>
        </p:txBody>
      </p:sp>
      <p:sp>
        <p:nvSpPr>
          <p:cNvPr id="5" name="TextBox 4"/>
          <p:cNvSpPr txBox="1"/>
          <p:nvPr/>
        </p:nvSpPr>
        <p:spPr>
          <a:xfrm>
            <a:off x="640080" y="2743200"/>
            <a:ext cx="10911535" cy="1280160"/>
          </a:xfrm>
          <a:prstGeom prst="rect">
            <a:avLst/>
          </a:prstGeom>
          <a:noFill/>
        </p:spPr>
        <p:txBody>
          <a:bodyPr wrap="square" lIns="45720" rIns="45720">
            <a:spAutoFit/>
          </a:bodyPr>
          <a:lstStyle/>
          <a:p>
            <a:pPr algn="l"/>
            <a:r>
              <a:rPr sz="4000" b="1">
                <a:solidFill>
                  <a:srgbClr val="FFFFFF"/>
                </a:solidFill>
              </a:rPr>
              <a:t>5. FIPS 140-3</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13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87</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FIPS 140-3 Levels — Diagram</a:t>
            </a:r>
          </a:p>
        </p:txBody>
      </p:sp>
      <p:pic>
        <p:nvPicPr>
          <p:cNvPr id="7" name="Picture 6" descr="h13-08-fips.png"/>
          <p:cNvPicPr>
            <a:picLocks noChangeAspect="1"/>
          </p:cNvPicPr>
          <p:nvPr/>
        </p:nvPicPr>
        <p:blipFill>
          <a:blip r:embed="rId3"/>
          <a:stretch>
            <a:fillRect/>
          </a:stretch>
        </p:blipFill>
        <p:spPr>
          <a:xfrm>
            <a:off x="1813917" y="1325880"/>
            <a:ext cx="8563861" cy="4828032"/>
          </a:xfrm>
          <a:prstGeom prst="rect">
            <a:avLst/>
          </a:prstGeom>
        </p:spPr>
      </p:pic>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13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88</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What Is FIPS 140-3?</a:t>
            </a:r>
          </a:p>
        </p:txBody>
      </p:sp>
      <p:sp>
        <p:nvSpPr>
          <p:cNvPr id="7" name="TextBox 6"/>
          <p:cNvSpPr txBox="1"/>
          <p:nvPr/>
        </p:nvSpPr>
        <p:spPr>
          <a:xfrm>
            <a:off x="640080" y="1325880"/>
            <a:ext cx="10911535" cy="1219200"/>
          </a:xfrm>
          <a:prstGeom prst="rect">
            <a:avLst/>
          </a:prstGeom>
          <a:noFill/>
        </p:spPr>
        <p:txBody>
          <a:bodyPr wrap="square" lIns="45720" rIns="45720">
            <a:spAutoFit/>
          </a:bodyPr>
          <a:lstStyle/>
          <a:p>
            <a:pPr>
              <a:spcAft>
                <a:spcPts val="300"/>
              </a:spcAft>
            </a:pPr>
            <a:r>
              <a:rPr sz="2000" b="1">
                <a:solidFill>
                  <a:srgbClr val="006D77"/>
                </a:solidFill>
              </a:rPr>
              <a:t>• </a:t>
            </a:r>
            <a:r>
              <a:rPr sz="2000" b="0">
                <a:solidFill>
                  <a:srgbClr val="1F2D3A"/>
                </a:solidFill>
              </a:rPr>
              <a:t>The standard for validating </a:t>
            </a:r>
            <a:r>
              <a:rPr sz="2000" b="1">
                <a:solidFill>
                  <a:srgbClr val="1F2D3A"/>
                </a:solidFill>
              </a:rPr>
              <a:t>cryptographic modules</a:t>
            </a:r>
            <a:r>
              <a:rPr sz="2000" b="0">
                <a:solidFill>
                  <a:srgbClr val="1F2D3A"/>
                </a:solidFill>
              </a:rPr>
              <a:t>.</a:t>
            </a:r>
          </a:p>
          <a:p>
            <a:pPr>
              <a:spcAft>
                <a:spcPts val="300"/>
              </a:spcAft>
            </a:pPr>
            <a:r>
              <a:rPr sz="2000" b="1">
                <a:solidFill>
                  <a:srgbClr val="006D77"/>
                </a:solidFill>
              </a:rPr>
              <a:t>• </a:t>
            </a:r>
            <a:r>
              <a:rPr sz="2000" b="0">
                <a:solidFill>
                  <a:srgbClr val="1F2D3A"/>
                </a:solidFill>
              </a:rPr>
              <a:t>The module's algorithms, self-test, key management.</a:t>
            </a:r>
          </a:p>
          <a:p>
            <a:pPr>
              <a:spcAft>
                <a:spcPts val="300"/>
              </a:spcAft>
            </a:pPr>
            <a:r>
              <a:rPr sz="2000" b="1">
                <a:solidFill>
                  <a:srgbClr val="006D77"/>
                </a:solidFill>
              </a:rPr>
              <a:t>• </a:t>
            </a:r>
            <a:r>
              <a:rPr sz="2000" b="0">
                <a:solidFill>
                  <a:srgbClr val="1F2D3A"/>
                </a:solidFill>
              </a:rPr>
              <a:t>Covers only the </a:t>
            </a:r>
            <a:r>
              <a:rPr sz="2000" b="1">
                <a:solidFill>
                  <a:srgbClr val="1F2D3A"/>
                </a:solidFill>
              </a:rPr>
              <a:t>module</a:t>
            </a:r>
            <a:r>
              <a:rPr sz="2000" b="0">
                <a:solidFill>
                  <a:srgbClr val="1F2D3A"/>
                </a:solidFill>
              </a:rPr>
              <a:t>.</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13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89</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Security Levels (1–4)</a:t>
            </a:r>
          </a:p>
        </p:txBody>
      </p:sp>
      <p:graphicFrame>
        <p:nvGraphicFramePr>
          <p:cNvPr id="7" name="Table 6"/>
          <p:cNvGraphicFramePr>
            <a:graphicFrameLocks noGrp="1"/>
          </p:cNvGraphicFramePr>
          <p:nvPr/>
        </p:nvGraphicFramePr>
        <p:xfrm>
          <a:off x="640080" y="1325880"/>
          <a:ext cx="8547368" cy="1874519"/>
        </p:xfrm>
        <a:graphic>
          <a:graphicData uri="http://schemas.openxmlformats.org/drawingml/2006/table">
            <a:tbl>
              <a:tblPr firstRow="1" bandRow="1">
                <a:tableStyleId>{5C22544A-7EE6-4342-B048-85BDC9FD1C3A}</a:tableStyleId>
              </a:tblPr>
              <a:tblGrid>
                <a:gridCol w="1636730"/>
                <a:gridCol w="6910638"/>
              </a:tblGrid>
              <a:tr h="374903">
                <a:tc>
                  <a:txBody>
                    <a:bodyPr wrap="square"/>
                    <a:lstStyle/>
                    <a:p>
                      <a:r>
                        <a:rPr sz="1439" b="1">
                          <a:solidFill>
                            <a:srgbClr val="FFFFFF"/>
                          </a:solidFill>
                        </a:rPr>
                        <a:t>Level</a:t>
                      </a:r>
                    </a:p>
                  </a:txBody>
                  <a:tcPr marL="54864" marR="54864" marT="27432" marB="27432" anchor="ctr">
                    <a:solidFill>
                      <a:srgbClr val="006D77"/>
                    </a:solidFill>
                  </a:tcPr>
                </a:tc>
                <a:tc>
                  <a:txBody>
                    <a:bodyPr wrap="square"/>
                    <a:lstStyle/>
                    <a:p>
                      <a:r>
                        <a:rPr sz="1439" b="1">
                          <a:solidFill>
                            <a:srgbClr val="FFFFFF"/>
                          </a:solidFill>
                        </a:rPr>
                        <a:t>Roughly</a:t>
                      </a:r>
                    </a:p>
                  </a:txBody>
                  <a:tcPr marL="54864" marR="54864" marT="27432" marB="27432" anchor="ctr">
                    <a:solidFill>
                      <a:srgbClr val="006D77"/>
                    </a:solidFill>
                  </a:tcPr>
                </a:tc>
              </a:tr>
              <a:tr h="374903">
                <a:tc>
                  <a:txBody>
                    <a:bodyPr wrap="square"/>
                    <a:lstStyle/>
                    <a:p>
                      <a:r>
                        <a:rPr sz="1439" b="0">
                          <a:solidFill>
                            <a:srgbClr val="1F2D3A"/>
                          </a:solidFill>
                        </a:rPr>
                        <a:t>1</a:t>
                      </a:r>
                    </a:p>
                  </a:txBody>
                  <a:tcPr marL="54864" marR="54864" marT="27432" marB="27432" anchor="ctr">
                    <a:solidFill>
                      <a:srgbClr val="FFFFFF"/>
                    </a:solidFill>
                  </a:tcPr>
                </a:tc>
                <a:tc>
                  <a:txBody>
                    <a:bodyPr wrap="square"/>
                    <a:lstStyle/>
                    <a:p>
                      <a:r>
                        <a:rPr sz="1439" b="0">
                          <a:solidFill>
                            <a:srgbClr val="1F2D3A"/>
                          </a:solidFill>
                        </a:rPr>
                        <a:t>Basic; approved algorithms</a:t>
                      </a:r>
                    </a:p>
                  </a:txBody>
                  <a:tcPr marL="54864" marR="54864" marT="27432" marB="27432" anchor="ctr">
                    <a:solidFill>
                      <a:srgbClr val="FFFFFF"/>
                    </a:solidFill>
                  </a:tcPr>
                </a:tc>
              </a:tr>
              <a:tr h="374903">
                <a:tc>
                  <a:txBody>
                    <a:bodyPr wrap="square"/>
                    <a:lstStyle/>
                    <a:p>
                      <a:r>
                        <a:rPr sz="1439" b="0">
                          <a:solidFill>
                            <a:srgbClr val="1F2D3A"/>
                          </a:solidFill>
                        </a:rPr>
                        <a:t>2</a:t>
                      </a:r>
                    </a:p>
                  </a:txBody>
                  <a:tcPr marL="54864" marR="54864" marT="27432" marB="27432" anchor="ctr">
                    <a:solidFill>
                      <a:srgbClr val="EEF7F8"/>
                    </a:solidFill>
                  </a:tcPr>
                </a:tc>
                <a:tc>
                  <a:txBody>
                    <a:bodyPr wrap="square"/>
                    <a:lstStyle/>
                    <a:p>
                      <a:r>
                        <a:rPr sz="1439" b="0">
                          <a:solidFill>
                            <a:srgbClr val="1F2D3A"/>
                          </a:solidFill>
                        </a:rPr>
                        <a:t>Tamper </a:t>
                      </a:r>
                      <a:r>
                        <a:rPr sz="1439" b="1">
                          <a:solidFill>
                            <a:srgbClr val="1F2D3A"/>
                          </a:solidFill>
                        </a:rPr>
                        <a:t>evidence</a:t>
                      </a:r>
                    </a:p>
                  </a:txBody>
                  <a:tcPr marL="54864" marR="54864" marT="27432" marB="27432" anchor="ctr">
                    <a:solidFill>
                      <a:srgbClr val="EEF7F8"/>
                    </a:solidFill>
                  </a:tcPr>
                </a:tc>
              </a:tr>
              <a:tr h="374903">
                <a:tc>
                  <a:txBody>
                    <a:bodyPr wrap="square"/>
                    <a:lstStyle/>
                    <a:p>
                      <a:r>
                        <a:rPr sz="1439" b="0">
                          <a:solidFill>
                            <a:srgbClr val="1F2D3A"/>
                          </a:solidFill>
                        </a:rPr>
                        <a:t>3</a:t>
                      </a:r>
                    </a:p>
                  </a:txBody>
                  <a:tcPr marL="54864" marR="54864" marT="27432" marB="27432" anchor="ctr">
                    <a:solidFill>
                      <a:srgbClr val="FFFFFF"/>
                    </a:solidFill>
                  </a:tcPr>
                </a:tc>
                <a:tc>
                  <a:txBody>
                    <a:bodyPr wrap="square"/>
                    <a:lstStyle/>
                    <a:p>
                      <a:r>
                        <a:rPr sz="1439" b="0">
                          <a:solidFill>
                            <a:srgbClr val="1F2D3A"/>
                          </a:solidFill>
                        </a:rPr>
                        <a:t>Tamper </a:t>
                      </a:r>
                      <a:r>
                        <a:rPr sz="1439" b="1">
                          <a:solidFill>
                            <a:srgbClr val="1F2D3A"/>
                          </a:solidFill>
                        </a:rPr>
                        <a:t>resistance</a:t>
                      </a:r>
                      <a:r>
                        <a:rPr sz="1439" b="0">
                          <a:solidFill>
                            <a:srgbClr val="1F2D3A"/>
                          </a:solidFill>
                        </a:rPr>
                        <a:t> and response</a:t>
                      </a:r>
                    </a:p>
                  </a:txBody>
                  <a:tcPr marL="54864" marR="54864" marT="27432" marB="27432" anchor="ctr">
                    <a:solidFill>
                      <a:srgbClr val="FFFFFF"/>
                    </a:solidFill>
                  </a:tcPr>
                </a:tc>
              </a:tr>
              <a:tr h="374907">
                <a:tc>
                  <a:txBody>
                    <a:bodyPr wrap="square"/>
                    <a:lstStyle/>
                    <a:p>
                      <a:r>
                        <a:rPr sz="1439" b="0">
                          <a:solidFill>
                            <a:srgbClr val="1F2D3A"/>
                          </a:solidFill>
                        </a:rPr>
                        <a:t>4</a:t>
                      </a:r>
                    </a:p>
                  </a:txBody>
                  <a:tcPr marL="54864" marR="54864" marT="27432" marB="27432" anchor="ctr">
                    <a:solidFill>
                      <a:srgbClr val="EEF7F8"/>
                    </a:solidFill>
                  </a:tcPr>
                </a:tc>
                <a:tc>
                  <a:txBody>
                    <a:bodyPr wrap="square"/>
                    <a:lstStyle/>
                    <a:p>
                      <a:r>
                        <a:rPr sz="1439" b="0">
                          <a:solidFill>
                            <a:srgbClr val="1F2D3A"/>
                          </a:solidFill>
                        </a:rPr>
                        <a:t>The highest physical protection</a:t>
                      </a:r>
                    </a:p>
                  </a:txBody>
                  <a:tcPr marL="54864" marR="54864" marT="27432" marB="27432" anchor="ctr">
                    <a:solidFill>
                      <a:srgbClr val="EEF7F8"/>
                    </a:solidFill>
                  </a:tcPr>
                </a:tc>
              </a:tr>
            </a:tbl>
          </a:graphicData>
        </a:graphic>
      </p:graphicFrame>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13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90</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FIPS 140-3 Levels (animation)</a:t>
            </a:r>
          </a:p>
        </p:txBody>
      </p:sp>
      <p:pic>
        <p:nvPicPr>
          <p:cNvPr id="7" name="Picture 6" descr="fips-140-3-levels.en.gif"/>
          <p:cNvPicPr>
            <a:picLocks noChangeAspect="1"/>
          </p:cNvPicPr>
          <p:nvPr/>
        </p:nvPicPr>
        <p:blipFill>
          <a:blip r:embed="rId3"/>
          <a:stretch>
            <a:fillRect/>
          </a:stretch>
        </p:blipFill>
        <p:spPr>
          <a:xfrm>
            <a:off x="3201659" y="1325880"/>
            <a:ext cx="5788376" cy="4828032"/>
          </a:xfrm>
          <a:prstGeom prst="rect">
            <a:avLst/>
          </a:prstGeom>
        </p:spPr>
      </p:pic>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13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91</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FIPS 140-3 Levels — edge case: Level 4</a:t>
            </a:r>
          </a:p>
        </p:txBody>
      </p:sp>
      <p:pic>
        <p:nvPicPr>
          <p:cNvPr id="7" name="Picture 6" descr="fips-140-3-levels--edge-level4.en.gif"/>
          <p:cNvPicPr>
            <a:picLocks noChangeAspect="1"/>
          </p:cNvPicPr>
          <p:nvPr/>
        </p:nvPicPr>
        <p:blipFill>
          <a:blip r:embed="rId3"/>
          <a:stretch>
            <a:fillRect/>
          </a:stretch>
        </p:blipFill>
        <p:spPr>
          <a:xfrm>
            <a:off x="3244392" y="1325880"/>
            <a:ext cx="5702910" cy="4828032"/>
          </a:xfrm>
          <a:prstGeom prst="rect">
            <a:avLst/>
          </a:prstGeom>
        </p:spPr>
      </p:pic>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13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92</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 The FIPS Compliance Trap</a:t>
            </a:r>
          </a:p>
        </p:txBody>
      </p:sp>
      <p:sp>
        <p:nvSpPr>
          <p:cNvPr id="7" name="TextBox 6"/>
          <p:cNvSpPr txBox="1"/>
          <p:nvPr/>
        </p:nvSpPr>
        <p:spPr>
          <a:xfrm>
            <a:off x="640080" y="1325880"/>
            <a:ext cx="10911535" cy="1549400"/>
          </a:xfrm>
          <a:prstGeom prst="rect">
            <a:avLst/>
          </a:prstGeom>
          <a:noFill/>
        </p:spPr>
        <p:txBody>
          <a:bodyPr wrap="square" lIns="45720" rIns="45720">
            <a:spAutoFit/>
          </a:bodyPr>
          <a:lstStyle/>
          <a:p>
            <a:pPr>
              <a:spcAft>
                <a:spcPts val="300"/>
              </a:spcAft>
            </a:pPr>
            <a:r>
              <a:rPr sz="2000" b="1">
                <a:solidFill>
                  <a:srgbClr val="006D77"/>
                </a:solidFill>
              </a:rPr>
              <a:t>• </a:t>
            </a:r>
            <a:r>
              <a:rPr sz="2000" b="0">
                <a:solidFill>
                  <a:srgbClr val="1F2D3A"/>
                </a:solidFill>
              </a:rPr>
              <a:t>Using a FIPS-</a:t>
            </a:r>
            <a:r>
              <a:rPr sz="2000" b="1">
                <a:solidFill>
                  <a:srgbClr val="1F2D3A"/>
                </a:solidFill>
              </a:rPr>
              <a:t>validated</a:t>
            </a:r>
            <a:r>
              <a:rPr sz="2000" b="0">
                <a:solidFill>
                  <a:srgbClr val="1F2D3A"/>
                </a:solidFill>
              </a:rPr>
              <a:t> library does </a:t>
            </a:r>
            <a:r>
              <a:rPr sz="2000" b="1">
                <a:solidFill>
                  <a:srgbClr val="1F2D3A"/>
                </a:solidFill>
              </a:rPr>
              <a:t>not</a:t>
            </a:r>
            <a:r>
              <a:rPr sz="2000" b="0">
                <a:solidFill>
                  <a:srgbClr val="1F2D3A"/>
                </a:solidFill>
              </a:rPr>
              <a:t> automatically make the application FIPS-compliant.</a:t>
            </a:r>
          </a:p>
          <a:p>
            <a:pPr>
              <a:spcAft>
                <a:spcPts val="300"/>
              </a:spcAft>
            </a:pPr>
            <a:r>
              <a:rPr sz="2000" b="1">
                <a:solidFill>
                  <a:srgbClr val="006D77"/>
                </a:solidFill>
              </a:rPr>
              <a:t>• </a:t>
            </a:r>
            <a:r>
              <a:rPr sz="2000" b="0">
                <a:solidFill>
                  <a:srgbClr val="1F2D3A"/>
                </a:solidFill>
              </a:rPr>
              <a:t>The application must use the module in </a:t>
            </a:r>
            <a:r>
              <a:rPr sz="2000" b="1">
                <a:solidFill>
                  <a:srgbClr val="1F2D3A"/>
                </a:solidFill>
              </a:rPr>
              <a:t>approved mode</a:t>
            </a:r>
            <a:r>
              <a:rPr sz="2000" b="0">
                <a:solidFill>
                  <a:srgbClr val="1F2D3A"/>
                </a:solidFill>
              </a:rPr>
              <a:t> and </a:t>
            </a:r>
            <a:r>
              <a:rPr sz="2000" b="1">
                <a:solidFill>
                  <a:srgbClr val="1F2D3A"/>
                </a:solidFill>
              </a:rPr>
              <a:t>correctly</a:t>
            </a:r>
            <a:r>
              <a:rPr sz="2000" b="0">
                <a:solidFill>
                  <a:srgbClr val="1F2D3A"/>
                </a:solidFill>
              </a:rPr>
              <a:t>.</a:t>
            </a:r>
          </a:p>
          <a:p>
            <a:pPr>
              <a:spcAft>
                <a:spcPts val="300"/>
              </a:spcAft>
            </a:pPr>
            <a:r>
              <a:rPr sz="2000" b="1">
                <a:solidFill>
                  <a:srgbClr val="006D77"/>
                </a:solidFill>
              </a:rPr>
              <a:t>• </a:t>
            </a:r>
            <a:r>
              <a:rPr sz="2000" b="0">
                <a:solidFill>
                  <a:srgbClr val="1F2D3A"/>
                </a:solidFill>
              </a:rPr>
              <a:t>It must also manage keys correctly.</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13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93</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CC and FIPS Together</a:t>
            </a:r>
          </a:p>
        </p:txBody>
      </p:sp>
      <p:sp>
        <p:nvSpPr>
          <p:cNvPr id="7" name="TextBox 6"/>
          <p:cNvSpPr txBox="1"/>
          <p:nvPr/>
        </p:nvSpPr>
        <p:spPr>
          <a:xfrm>
            <a:off x="640080" y="1325880"/>
            <a:ext cx="10911535" cy="1219200"/>
          </a:xfrm>
          <a:prstGeom prst="rect">
            <a:avLst/>
          </a:prstGeom>
          <a:noFill/>
        </p:spPr>
        <p:txBody>
          <a:bodyPr wrap="square" lIns="45720" rIns="45720">
            <a:spAutoFit/>
          </a:bodyPr>
          <a:lstStyle/>
          <a:p>
            <a:pPr>
              <a:spcAft>
                <a:spcPts val="300"/>
              </a:spcAft>
            </a:pPr>
            <a:r>
              <a:rPr sz="2000" b="1">
                <a:solidFill>
                  <a:srgbClr val="006D77"/>
                </a:solidFill>
              </a:rPr>
              <a:t>• </a:t>
            </a:r>
            <a:r>
              <a:rPr sz="2000" b="1">
                <a:solidFill>
                  <a:srgbClr val="1F2D3A"/>
                </a:solidFill>
              </a:rPr>
              <a:t>CC:</a:t>
            </a:r>
            <a:r>
              <a:rPr sz="2000" b="0">
                <a:solidFill>
                  <a:srgbClr val="1F2D3A"/>
                </a:solidFill>
              </a:rPr>
              <a:t> evaluates the whole product.</a:t>
            </a:r>
          </a:p>
          <a:p>
            <a:pPr>
              <a:spcAft>
                <a:spcPts val="300"/>
              </a:spcAft>
            </a:pPr>
            <a:r>
              <a:rPr sz="2000" b="1">
                <a:solidFill>
                  <a:srgbClr val="006D77"/>
                </a:solidFill>
              </a:rPr>
              <a:t>• </a:t>
            </a:r>
            <a:r>
              <a:rPr sz="2000" b="1">
                <a:solidFill>
                  <a:srgbClr val="1F2D3A"/>
                </a:solidFill>
              </a:rPr>
              <a:t>FIPS:</a:t>
            </a:r>
            <a:r>
              <a:rPr sz="2000" b="0">
                <a:solidFill>
                  <a:srgbClr val="1F2D3A"/>
                </a:solidFill>
              </a:rPr>
              <a:t> validates the crypto module.</a:t>
            </a:r>
          </a:p>
          <a:p>
            <a:pPr>
              <a:spcAft>
                <a:spcPts val="300"/>
              </a:spcAft>
            </a:pPr>
            <a:r>
              <a:rPr sz="2000" b="1">
                <a:solidFill>
                  <a:srgbClr val="006D77"/>
                </a:solidFill>
              </a:rPr>
              <a:t>• </a:t>
            </a:r>
            <a:r>
              <a:rPr sz="2000" b="0">
                <a:solidFill>
                  <a:srgbClr val="1F2D3A"/>
                </a:solidFill>
              </a:rPr>
              <a:t>A product can use a FIPS-validated module inside a CC evaluation.</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13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94</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Worked Example · A FIPS Level 1 Audit</a:t>
            </a:r>
          </a:p>
        </p:txBody>
      </p:sp>
      <p:sp>
        <p:nvSpPr>
          <p:cNvPr id="7" name="TextBox 6"/>
          <p:cNvSpPr txBox="1"/>
          <p:nvPr/>
        </p:nvSpPr>
        <p:spPr>
          <a:xfrm>
            <a:off x="640080" y="1325880"/>
            <a:ext cx="10911535" cy="770128"/>
          </a:xfrm>
          <a:prstGeom prst="rect">
            <a:avLst/>
          </a:prstGeom>
          <a:noFill/>
        </p:spPr>
        <p:txBody>
          <a:bodyPr wrap="square" lIns="45720" rIns="45720">
            <a:spAutoFit/>
          </a:bodyPr>
          <a:lstStyle/>
          <a:p>
            <a:pPr algn="l"/>
            <a:r>
              <a:rPr sz="2000" b="0">
                <a:solidFill>
                  <a:srgbClr val="1F2D3A"/>
                </a:solidFill>
              </a:rPr>
              <a:t>The project's crypto layer: OpenSSL's </a:t>
            </a:r>
            <a:r>
              <a:rPr sz="2000" b="0">
                <a:solidFill>
                  <a:srgbClr val="A1123F"/>
                </a:solidFill>
                <a:latin typeface="Consolas"/>
              </a:rPr>
              <a:t>EVP</a:t>
            </a:r>
            <a:r>
              <a:rPr sz="2000" b="0">
                <a:solidFill>
                  <a:srgbClr val="1F2D3A"/>
                </a:solidFill>
              </a:rPr>
              <a:t> interface, AES-256-GCM, keys generated from </a:t>
            </a:r>
            <a:r>
              <a:rPr sz="2000" b="0">
                <a:solidFill>
                  <a:srgbClr val="A1123F"/>
                </a:solidFill>
                <a:latin typeface="Consolas"/>
              </a:rPr>
              <a:t>getrandom()</a:t>
            </a:r>
            <a:r>
              <a:rPr sz="2000" b="0">
                <a:solidFill>
                  <a:srgbClr val="1F2D3A"/>
                </a:solidFill>
              </a:rPr>
              <a:t>, and it </a:t>
            </a:r>
            <a:r>
              <a:rPr sz="2000" b="1">
                <a:solidFill>
                  <a:srgbClr val="1F2D3A"/>
                </a:solidFill>
              </a:rPr>
              <a:t>silently falls back to a default key on error</a:t>
            </a:r>
            <a:r>
              <a:rPr sz="2000" b="0">
                <a:solidFill>
                  <a:srgbClr val="1F2D3A"/>
                </a:solidFill>
              </a:rPr>
              <a:t>.</a:t>
            </a:r>
          </a:p>
        </p:txBody>
      </p:sp>
      <p:sp>
        <p:nvSpPr>
          <p:cNvPr id="8" name="TextBox 7"/>
          <p:cNvSpPr txBox="1"/>
          <p:nvPr/>
        </p:nvSpPr>
        <p:spPr>
          <a:xfrm>
            <a:off x="640080" y="2205736"/>
            <a:ext cx="10911535" cy="439928"/>
          </a:xfrm>
          <a:prstGeom prst="rect">
            <a:avLst/>
          </a:prstGeom>
          <a:noFill/>
        </p:spPr>
        <p:txBody>
          <a:bodyPr wrap="square" lIns="45720" rIns="45720">
            <a:spAutoFit/>
          </a:bodyPr>
          <a:lstStyle/>
          <a:p>
            <a:pPr algn="l"/>
            <a:r>
              <a:rPr sz="2000" b="0">
                <a:solidFill>
                  <a:srgbClr val="1F2D3A"/>
                </a:solidFill>
              </a:rPr>
              <a:t>Let's check off the Level 1 expectations one by one.</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13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95</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2600" b="1">
                <a:solidFill>
                  <a:srgbClr val="006D77"/>
                </a:solidFill>
              </a:rPr>
              <a:t>Level 1 · Status Table</a:t>
            </a:r>
          </a:p>
        </p:txBody>
      </p:sp>
      <p:graphicFrame>
        <p:nvGraphicFramePr>
          <p:cNvPr id="7" name="Table 6"/>
          <p:cNvGraphicFramePr>
            <a:graphicFrameLocks noGrp="1"/>
          </p:cNvGraphicFramePr>
          <p:nvPr/>
        </p:nvGraphicFramePr>
        <p:xfrm>
          <a:off x="640080" y="1325880"/>
          <a:ext cx="10911534" cy="2293315"/>
        </p:xfrm>
        <a:graphic>
          <a:graphicData uri="http://schemas.openxmlformats.org/drawingml/2006/table">
            <a:tbl>
              <a:tblPr firstRow="1" bandRow="1">
                <a:tableStyleId>{5C22544A-7EE6-4342-B048-85BDC9FD1C3A}</a:tableStyleId>
              </a:tblPr>
              <a:tblGrid>
                <a:gridCol w="4453687"/>
                <a:gridCol w="1224764"/>
                <a:gridCol w="5233083"/>
              </a:tblGrid>
              <a:tr h="382219">
                <a:tc>
                  <a:txBody>
                    <a:bodyPr wrap="square"/>
                    <a:lstStyle/>
                    <a:p>
                      <a:r>
                        <a:rPr sz="1296" b="1">
                          <a:solidFill>
                            <a:srgbClr val="FFFFFF"/>
                          </a:solidFill>
                        </a:rPr>
                        <a:t>Level 1 expectation</a:t>
                      </a:r>
                    </a:p>
                  </a:txBody>
                  <a:tcPr marL="54864" marR="54864" marT="27432" marB="27432" anchor="ctr">
                    <a:solidFill>
                      <a:srgbClr val="006D77"/>
                    </a:solidFill>
                  </a:tcPr>
                </a:tc>
                <a:tc>
                  <a:txBody>
                    <a:bodyPr wrap="square"/>
                    <a:lstStyle/>
                    <a:p>
                      <a:r>
                        <a:rPr sz="1296" b="1">
                          <a:solidFill>
                            <a:srgbClr val="FFFFFF"/>
                          </a:solidFill>
                        </a:rPr>
                        <a:t>Status</a:t>
                      </a:r>
                    </a:p>
                  </a:txBody>
                  <a:tcPr marL="54864" marR="54864" marT="27432" marB="27432" anchor="ctr">
                    <a:solidFill>
                      <a:srgbClr val="006D77"/>
                    </a:solidFill>
                  </a:tcPr>
                </a:tc>
                <a:tc>
                  <a:txBody>
                    <a:bodyPr wrap="square"/>
                    <a:lstStyle/>
                    <a:p>
                      <a:r>
                        <a:rPr sz="1296" b="1">
                          <a:solidFill>
                            <a:srgbClr val="FFFFFF"/>
                          </a:solidFill>
                        </a:rPr>
                        <a:t>Why</a:t>
                      </a:r>
                    </a:p>
                  </a:txBody>
                  <a:tcPr marL="54864" marR="54864" marT="27432" marB="27432" anchor="ctr">
                    <a:solidFill>
                      <a:srgbClr val="006D77"/>
                    </a:solidFill>
                  </a:tcPr>
                </a:tc>
              </a:tr>
              <a:tr h="382219">
                <a:tc>
                  <a:txBody>
                    <a:bodyPr wrap="square"/>
                    <a:lstStyle/>
                    <a:p>
                      <a:r>
                        <a:rPr sz="1296" b="0">
                          <a:solidFill>
                            <a:srgbClr val="1F2D3A"/>
                          </a:solidFill>
                        </a:rPr>
                        <a:t>Approved algorithm, in approved mode</a:t>
                      </a:r>
                    </a:p>
                  </a:txBody>
                  <a:tcPr marL="54864" marR="54864" marT="27432" marB="27432" anchor="ctr">
                    <a:solidFill>
                      <a:srgbClr val="FFFFFF"/>
                    </a:solidFill>
                  </a:tcPr>
                </a:tc>
                <a:tc>
                  <a:txBody>
                    <a:bodyPr wrap="square"/>
                    <a:lstStyle/>
                    <a:p>
                      <a:r>
                        <a:rPr sz="1296" b="0">
                          <a:solidFill>
                            <a:srgbClr val="1F2D3A"/>
                          </a:solidFill>
                        </a:rPr>
                        <a:t>Partial</a:t>
                      </a:r>
                    </a:p>
                  </a:txBody>
                  <a:tcPr marL="54864" marR="54864" marT="27432" marB="27432" anchor="ctr">
                    <a:solidFill>
                      <a:srgbClr val="FFFFFF"/>
                    </a:solidFill>
                  </a:tcPr>
                </a:tc>
                <a:tc>
                  <a:txBody>
                    <a:bodyPr wrap="square"/>
                    <a:lstStyle/>
                    <a:p>
                      <a:r>
                        <a:rPr sz="1296" b="0">
                          <a:solidFill>
                            <a:srgbClr val="1F2D3A"/>
                          </a:solidFill>
                        </a:rPr>
                        <a:t>Can't be claimed without a CAVP certificate</a:t>
                      </a:r>
                    </a:p>
                  </a:txBody>
                  <a:tcPr marL="54864" marR="54864" marT="27432" marB="27432" anchor="ctr">
                    <a:solidFill>
                      <a:srgbClr val="FFFFFF"/>
                    </a:solidFill>
                  </a:tcPr>
                </a:tc>
              </a:tr>
              <a:tr h="382219">
                <a:tc>
                  <a:txBody>
                    <a:bodyPr wrap="square"/>
                    <a:lstStyle/>
                    <a:p>
                      <a:r>
                        <a:rPr sz="1296" b="0">
                          <a:solidFill>
                            <a:srgbClr val="1F2D3A"/>
                          </a:solidFill>
                        </a:rPr>
                        <a:t>Power-up/conditional self-tests</a:t>
                      </a:r>
                    </a:p>
                  </a:txBody>
                  <a:tcPr marL="54864" marR="54864" marT="27432" marB="27432" anchor="ctr">
                    <a:solidFill>
                      <a:srgbClr val="EEF7F8"/>
                    </a:solidFill>
                  </a:tcPr>
                </a:tc>
                <a:tc>
                  <a:txBody>
                    <a:bodyPr wrap="square"/>
                    <a:lstStyle/>
                    <a:p>
                      <a:r>
                        <a:rPr sz="1296" b="0">
                          <a:solidFill>
                            <a:srgbClr val="1F2D3A"/>
                          </a:solidFill>
                        </a:rPr>
                        <a:t>Not met</a:t>
                      </a:r>
                    </a:p>
                  </a:txBody>
                  <a:tcPr marL="54864" marR="54864" marT="27432" marB="27432" anchor="ctr">
                    <a:solidFill>
                      <a:srgbClr val="EEF7F8"/>
                    </a:solidFill>
                  </a:tcPr>
                </a:tc>
                <a:tc>
                  <a:txBody>
                    <a:bodyPr wrap="square"/>
                    <a:lstStyle/>
                    <a:p>
                      <a:r>
                        <a:rPr sz="1296" b="0">
                          <a:solidFill>
                            <a:srgbClr val="1F2D3A"/>
                          </a:solidFill>
                        </a:rPr>
                        <a:t>The project doesn't run its own self-tests</a:t>
                      </a:r>
                    </a:p>
                  </a:txBody>
                  <a:tcPr marL="54864" marR="54864" marT="27432" marB="27432" anchor="ctr">
                    <a:solidFill>
                      <a:srgbClr val="EEF7F8"/>
                    </a:solidFill>
                  </a:tcPr>
                </a:tc>
              </a:tr>
              <a:tr h="382219">
                <a:tc>
                  <a:txBody>
                    <a:bodyPr wrap="square"/>
                    <a:lstStyle/>
                    <a:p>
                      <a:r>
                        <a:rPr sz="1296" b="0">
                          <a:solidFill>
                            <a:srgbClr val="1F2D3A"/>
                          </a:solidFill>
                        </a:rPr>
                        <a:t>Roles and services defined</a:t>
                      </a:r>
                    </a:p>
                  </a:txBody>
                  <a:tcPr marL="54864" marR="54864" marT="27432" marB="27432" anchor="ctr">
                    <a:solidFill>
                      <a:srgbClr val="FFFFFF"/>
                    </a:solidFill>
                  </a:tcPr>
                </a:tc>
                <a:tc>
                  <a:txBody>
                    <a:bodyPr wrap="square"/>
                    <a:lstStyle/>
                    <a:p>
                      <a:r>
                        <a:rPr sz="1296" b="0">
                          <a:solidFill>
                            <a:srgbClr val="1F2D3A"/>
                          </a:solidFill>
                        </a:rPr>
                        <a:t>Not met</a:t>
                      </a:r>
                    </a:p>
                  </a:txBody>
                  <a:tcPr marL="54864" marR="54864" marT="27432" marB="27432" anchor="ctr">
                    <a:solidFill>
                      <a:srgbClr val="FFFFFF"/>
                    </a:solidFill>
                  </a:tcPr>
                </a:tc>
                <a:tc>
                  <a:txBody>
                    <a:bodyPr wrap="square"/>
                    <a:lstStyle/>
                    <a:p>
                      <a:r>
                        <a:rPr sz="1296" b="0">
                          <a:solidFill>
                            <a:srgbClr val="1F2D3A"/>
                          </a:solidFill>
                        </a:rPr>
                        <a:t>The code does no role separation</a:t>
                      </a:r>
                    </a:p>
                  </a:txBody>
                  <a:tcPr marL="54864" marR="54864" marT="27432" marB="27432" anchor="ctr">
                    <a:solidFill>
                      <a:srgbClr val="FFFFFF"/>
                    </a:solidFill>
                  </a:tcPr>
                </a:tc>
              </a:tr>
              <a:tr h="382219">
                <a:tc>
                  <a:txBody>
                    <a:bodyPr wrap="square"/>
                    <a:lstStyle/>
                    <a:p>
                      <a:r>
                        <a:rPr sz="1296" b="0">
                          <a:solidFill>
                            <a:srgbClr val="1F2D3A"/>
                          </a:solidFill>
                        </a:rPr>
                        <a:t>Zeroization of parameters</a:t>
                      </a:r>
                    </a:p>
                  </a:txBody>
                  <a:tcPr marL="54864" marR="54864" marT="27432" marB="27432" anchor="ctr">
                    <a:solidFill>
                      <a:srgbClr val="EEF7F8"/>
                    </a:solidFill>
                  </a:tcPr>
                </a:tc>
                <a:tc>
                  <a:txBody>
                    <a:bodyPr wrap="square"/>
                    <a:lstStyle/>
                    <a:p>
                      <a:r>
                        <a:rPr sz="1296" b="0">
                          <a:solidFill>
                            <a:srgbClr val="1F2D3A"/>
                          </a:solidFill>
                        </a:rPr>
                        <a:t>Not met</a:t>
                      </a:r>
                    </a:p>
                  </a:txBody>
                  <a:tcPr marL="54864" marR="54864" marT="27432" marB="27432" anchor="ctr">
                    <a:solidFill>
                      <a:srgbClr val="EEF7F8"/>
                    </a:solidFill>
                  </a:tcPr>
                </a:tc>
                <a:tc>
                  <a:txBody>
                    <a:bodyPr wrap="square"/>
                    <a:lstStyle/>
                    <a:p>
                      <a:r>
                        <a:rPr sz="1296" b="0">
                          <a:solidFill>
                            <a:srgbClr val="1F2D3A"/>
                          </a:solidFill>
                        </a:rPr>
                        <a:t>Falls back to a default key on error</a:t>
                      </a:r>
                    </a:p>
                  </a:txBody>
                  <a:tcPr marL="54864" marR="54864" marT="27432" marB="27432" anchor="ctr">
                    <a:solidFill>
                      <a:srgbClr val="EEF7F8"/>
                    </a:solidFill>
                  </a:tcPr>
                </a:tc>
              </a:tr>
              <a:tr h="382220">
                <a:tc>
                  <a:txBody>
                    <a:bodyPr wrap="square"/>
                    <a:lstStyle/>
                    <a:p>
                      <a:r>
                        <a:rPr sz="1296" b="0">
                          <a:solidFill>
                            <a:srgbClr val="1F2D3A"/>
                          </a:solidFill>
                        </a:rPr>
                        <a:t>Security policy document</a:t>
                      </a:r>
                    </a:p>
                  </a:txBody>
                  <a:tcPr marL="54864" marR="54864" marT="27432" marB="27432" anchor="ctr">
                    <a:solidFill>
                      <a:srgbClr val="FFFFFF"/>
                    </a:solidFill>
                  </a:tcPr>
                </a:tc>
                <a:tc>
                  <a:txBody>
                    <a:bodyPr wrap="square"/>
                    <a:lstStyle/>
                    <a:p>
                      <a:r>
                        <a:rPr sz="1296" b="0">
                          <a:solidFill>
                            <a:srgbClr val="1F2D3A"/>
                          </a:solidFill>
                        </a:rPr>
                        <a:t>Not met</a:t>
                      </a:r>
                    </a:p>
                  </a:txBody>
                  <a:tcPr marL="54864" marR="54864" marT="27432" marB="27432" anchor="ctr">
                    <a:solidFill>
                      <a:srgbClr val="FFFFFF"/>
                    </a:solidFill>
                  </a:tcPr>
                </a:tc>
                <a:tc>
                  <a:txBody>
                    <a:bodyPr wrap="square"/>
                    <a:lstStyle/>
                    <a:p>
                      <a:r>
                        <a:rPr sz="1296" b="0">
                          <a:solidFill>
                            <a:srgbClr val="1F2D3A"/>
                          </a:solidFill>
                        </a:rPr>
                        <a:t>No such document exists</a:t>
                      </a:r>
                    </a:p>
                  </a:txBody>
                  <a:tcPr marL="54864" marR="54864" marT="27432" marB="27432" anchor="ctr">
                    <a:solidFill>
                      <a:srgbClr val="FFFFFF"/>
                    </a:solidFill>
                  </a:tcPr>
                </a:tc>
              </a:tr>
            </a:tbl>
          </a:graphicData>
        </a:graphic>
      </p:graphicFrame>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13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96</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2600" b="1">
                <a:solidFill>
                  <a:srgbClr val="006D77"/>
                </a:solidFill>
              </a:rPr>
              <a:t>The Most Critical Gap and Section 5's Rule</a:t>
            </a:r>
          </a:p>
        </p:txBody>
      </p:sp>
      <p:sp>
        <p:nvSpPr>
          <p:cNvPr id="7" name="TextBox 6"/>
          <p:cNvSpPr txBox="1"/>
          <p:nvPr/>
        </p:nvSpPr>
        <p:spPr>
          <a:xfrm>
            <a:off x="640080" y="1325880"/>
            <a:ext cx="10911535" cy="2011680"/>
          </a:xfrm>
          <a:prstGeom prst="rect">
            <a:avLst/>
          </a:prstGeom>
          <a:noFill/>
        </p:spPr>
        <p:txBody>
          <a:bodyPr wrap="square" lIns="45720" rIns="45720">
            <a:spAutoFit/>
          </a:bodyPr>
          <a:lstStyle/>
          <a:p>
            <a:pPr>
              <a:spcAft>
                <a:spcPts val="300"/>
              </a:spcAft>
            </a:pPr>
            <a:r>
              <a:rPr sz="1800" b="1">
                <a:solidFill>
                  <a:srgbClr val="006D77"/>
                </a:solidFill>
              </a:rPr>
              <a:t>• </a:t>
            </a:r>
            <a:r>
              <a:rPr sz="1800" b="0">
                <a:solidFill>
                  <a:srgbClr val="1F2D3A"/>
                </a:solidFill>
              </a:rPr>
              <a:t>Falling back to "a default key" on error is the </a:t>
            </a:r>
            <a:r>
              <a:rPr sz="1800" b="1">
                <a:solidFill>
                  <a:srgbClr val="1F2D3A"/>
                </a:solidFill>
              </a:rPr>
              <a:t>exact opposite of the zeroization principle</a:t>
            </a:r>
            <a:r>
              <a:rPr sz="1800" b="0">
                <a:solidFill>
                  <a:srgbClr val="1F2D3A"/>
                </a:solidFill>
              </a:rPr>
              <a:t>.</a:t>
            </a:r>
          </a:p>
          <a:p>
            <a:pPr>
              <a:spcAft>
                <a:spcPts val="300"/>
              </a:spcAft>
            </a:pPr>
            <a:r>
              <a:rPr sz="1800" b="1">
                <a:solidFill>
                  <a:srgbClr val="006D77"/>
                </a:solidFill>
              </a:rPr>
              <a:t>• </a:t>
            </a:r>
            <a:r>
              <a:rPr sz="1800" b="0">
                <a:solidFill>
                  <a:srgbClr val="1F2D3A"/>
                </a:solidFill>
              </a:rPr>
              <a:t>Week 3's rule: "if the random generator fails, </a:t>
            </a:r>
            <a:r>
              <a:rPr sz="1800" b="1">
                <a:solidFill>
                  <a:srgbClr val="1F2D3A"/>
                </a:solidFill>
              </a:rPr>
              <a:t>stop</a:t>
            </a:r>
            <a:r>
              <a:rPr sz="1800" b="0">
                <a:solidFill>
                  <a:srgbClr val="1F2D3A"/>
                </a:solidFill>
              </a:rPr>
              <a:t>, don't continue" — the opposite is done here.</a:t>
            </a:r>
          </a:p>
          <a:p>
            <a:pPr>
              <a:spcAft>
                <a:spcPts val="300"/>
              </a:spcAft>
            </a:pPr>
            <a:r>
              <a:rPr sz="1800" b="1">
                <a:solidFill>
                  <a:srgbClr val="006D77"/>
                </a:solidFill>
              </a:rPr>
              <a:t>• </a:t>
            </a:r>
            <a:r>
              <a:rPr sz="1800" b="1">
                <a:solidFill>
                  <a:srgbClr val="1F2D3A"/>
                </a:solidFill>
              </a:rPr>
              <a:t>Rule:</a:t>
            </a:r>
            <a:r>
              <a:rPr sz="1800" b="0">
                <a:solidFill>
                  <a:srgbClr val="1F2D3A"/>
                </a:solidFill>
              </a:rPr>
              <a:t> a FIPS claim must always have a </a:t>
            </a:r>
            <a:r>
              <a:rPr sz="1800" b="1">
                <a:solidFill>
                  <a:srgbClr val="1F2D3A"/>
                </a:solidFill>
              </a:rPr>
              <a:t>CMVP certificate number and scope</a:t>
            </a:r>
            <a:r>
              <a:rPr sz="1800" b="0">
                <a:solidFill>
                  <a:srgbClr val="1F2D3A"/>
                </a:solidFill>
              </a:rPr>
              <a:t> behind it; if not, honestly narrow it to "we use FIPS-approved algorithms (not a validated module)."</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13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97</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Sections 4–5 — Quick Check</a:t>
            </a:r>
          </a:p>
        </p:txBody>
      </p:sp>
      <p:sp>
        <p:nvSpPr>
          <p:cNvPr id="7" name="TextBox 6"/>
          <p:cNvSpPr txBox="1"/>
          <p:nvPr/>
        </p:nvSpPr>
        <p:spPr>
          <a:xfrm>
            <a:off x="640080" y="1325880"/>
            <a:ext cx="10911535" cy="1595120"/>
          </a:xfrm>
          <a:prstGeom prst="rect">
            <a:avLst/>
          </a:prstGeom>
          <a:noFill/>
        </p:spPr>
        <p:txBody>
          <a:bodyPr wrap="square" lIns="45720" rIns="45720">
            <a:spAutoFit/>
          </a:bodyPr>
          <a:lstStyle/>
          <a:p>
            <a:pPr>
              <a:spcAft>
                <a:spcPts val="300"/>
              </a:spcAft>
            </a:pPr>
            <a:r>
              <a:rPr sz="2000" b="1">
                <a:solidFill>
                  <a:srgbClr val="006D77"/>
                </a:solidFill>
              </a:rPr>
              <a:t>1. </a:t>
            </a:r>
            <a:r>
              <a:rPr sz="2000" b="0">
                <a:solidFill>
                  <a:srgbClr val="1F2D3A"/>
                </a:solidFill>
              </a:rPr>
              <a:t>What is the difference between ST and PP?</a:t>
            </a:r>
          </a:p>
          <a:p>
            <a:pPr>
              <a:spcAft>
                <a:spcPts val="300"/>
              </a:spcAft>
            </a:pPr>
            <a:r>
              <a:rPr sz="2000" b="1">
                <a:solidFill>
                  <a:srgbClr val="006D77"/>
                </a:solidFill>
              </a:rPr>
              <a:t>2. </a:t>
            </a:r>
            <a:r>
              <a:rPr sz="2000" b="0">
                <a:solidFill>
                  <a:srgbClr val="1F2D3A"/>
                </a:solidFill>
              </a:rPr>
              <a:t>What are SFR and SAR?</a:t>
            </a:r>
          </a:p>
          <a:p>
            <a:pPr>
              <a:spcAft>
                <a:spcPts val="300"/>
              </a:spcAft>
            </a:pPr>
            <a:r>
              <a:rPr sz="2000" b="1">
                <a:solidFill>
                  <a:srgbClr val="006D77"/>
                </a:solidFill>
              </a:rPr>
              <a:t>3. </a:t>
            </a:r>
            <a:r>
              <a:rPr sz="2000" b="0">
                <a:solidFill>
                  <a:srgbClr val="1F2D3A"/>
                </a:solidFill>
              </a:rPr>
              <a:t>Why is "EAL4+ is always more secure" wrong?</a:t>
            </a:r>
          </a:p>
          <a:p>
            <a:pPr>
              <a:spcAft>
                <a:spcPts val="300"/>
              </a:spcAft>
            </a:pPr>
            <a:r>
              <a:rPr sz="2000" b="1">
                <a:solidFill>
                  <a:srgbClr val="006D77"/>
                </a:solidFill>
              </a:rPr>
              <a:t>4. </a:t>
            </a:r>
            <a:r>
              <a:rPr sz="2000" b="0">
                <a:solidFill>
                  <a:srgbClr val="1F2D3A"/>
                </a:solidFill>
              </a:rPr>
              <a:t>Does a FIPS-validated library make the application FIPS-compliant?</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13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98</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Sections 4–5 — Answers</a:t>
            </a:r>
          </a:p>
        </p:txBody>
      </p:sp>
      <p:sp>
        <p:nvSpPr>
          <p:cNvPr id="7" name="TextBox 6"/>
          <p:cNvSpPr txBox="1"/>
          <p:nvPr/>
        </p:nvSpPr>
        <p:spPr>
          <a:xfrm>
            <a:off x="640080" y="1325880"/>
            <a:ext cx="10911535" cy="2915920"/>
          </a:xfrm>
          <a:prstGeom prst="rect">
            <a:avLst/>
          </a:prstGeom>
          <a:noFill/>
        </p:spPr>
        <p:txBody>
          <a:bodyPr wrap="square" lIns="45720" rIns="45720">
            <a:spAutoFit/>
          </a:bodyPr>
          <a:lstStyle/>
          <a:p>
            <a:pPr>
              <a:spcAft>
                <a:spcPts val="300"/>
              </a:spcAft>
            </a:pPr>
            <a:r>
              <a:rPr sz="2000" b="1">
                <a:solidFill>
                  <a:srgbClr val="006D77"/>
                </a:solidFill>
              </a:rPr>
              <a:t>1. </a:t>
            </a:r>
            <a:r>
              <a:rPr sz="2000" b="1">
                <a:solidFill>
                  <a:srgbClr val="1F2D3A"/>
                </a:solidFill>
              </a:rPr>
              <a:t>PP</a:t>
            </a:r>
            <a:r>
              <a:rPr sz="2000" b="0">
                <a:solidFill>
                  <a:srgbClr val="1F2D3A"/>
                </a:solidFill>
              </a:rPr>
              <a:t> is a standard requirement set for a product </a:t>
            </a:r>
            <a:r>
              <a:rPr sz="2000" b="1">
                <a:solidFill>
                  <a:srgbClr val="1F2D3A"/>
                </a:solidFill>
              </a:rPr>
              <a:t>class</a:t>
            </a:r>
            <a:r>
              <a:rPr sz="2000" b="0">
                <a:solidFill>
                  <a:srgbClr val="1F2D3A"/>
                </a:solidFill>
              </a:rPr>
              <a:t>; </a:t>
            </a:r>
            <a:r>
              <a:rPr sz="2000" b="1">
                <a:solidFill>
                  <a:srgbClr val="1F2D3A"/>
                </a:solidFill>
              </a:rPr>
              <a:t>ST</a:t>
            </a:r>
            <a:r>
              <a:rPr sz="2000" b="0">
                <a:solidFill>
                  <a:srgbClr val="1F2D3A"/>
                </a:solidFill>
              </a:rPr>
              <a:t> is the document that says what a specific </a:t>
            </a:r>
            <a:r>
              <a:rPr sz="2000" b="1">
                <a:solidFill>
                  <a:srgbClr val="1F2D3A"/>
                </a:solidFill>
              </a:rPr>
              <a:t>product (TOE)</a:t>
            </a:r>
            <a:r>
              <a:rPr sz="2000" b="0">
                <a:solidFill>
                  <a:srgbClr val="1F2D3A"/>
                </a:solidFill>
              </a:rPr>
              <a:t> meets.</a:t>
            </a:r>
          </a:p>
          <a:p>
            <a:pPr>
              <a:spcAft>
                <a:spcPts val="300"/>
              </a:spcAft>
            </a:pPr>
            <a:r>
              <a:rPr sz="2000" b="1">
                <a:solidFill>
                  <a:srgbClr val="006D77"/>
                </a:solidFill>
              </a:rPr>
              <a:t>2. </a:t>
            </a:r>
            <a:r>
              <a:rPr sz="2000" b="1">
                <a:solidFill>
                  <a:srgbClr val="1F2D3A"/>
                </a:solidFill>
              </a:rPr>
              <a:t>SFR</a:t>
            </a:r>
            <a:r>
              <a:rPr sz="2000" b="0">
                <a:solidFill>
                  <a:srgbClr val="1F2D3A"/>
                </a:solidFill>
              </a:rPr>
              <a:t> is what the product </a:t>
            </a:r>
            <a:r>
              <a:rPr sz="2000" b="1">
                <a:solidFill>
                  <a:srgbClr val="1F2D3A"/>
                </a:solidFill>
              </a:rPr>
              <a:t>will do</a:t>
            </a:r>
            <a:r>
              <a:rPr sz="2000" b="0">
                <a:solidFill>
                  <a:srgbClr val="1F2D3A"/>
                </a:solidFill>
              </a:rPr>
              <a:t> (functional); </a:t>
            </a:r>
            <a:r>
              <a:rPr sz="2000" b="1">
                <a:solidFill>
                  <a:srgbClr val="1F2D3A"/>
                </a:solidFill>
              </a:rPr>
              <a:t>SAR</a:t>
            </a:r>
            <a:r>
              <a:rPr sz="2000" b="0">
                <a:solidFill>
                  <a:srgbClr val="1F2D3A"/>
                </a:solidFill>
              </a:rPr>
              <a:t> is </a:t>
            </a:r>
            <a:r>
              <a:rPr sz="2000" b="1">
                <a:solidFill>
                  <a:srgbClr val="1F2D3A"/>
                </a:solidFill>
              </a:rPr>
              <a:t>how much it will be trusted</a:t>
            </a:r>
            <a:r>
              <a:rPr sz="2000" b="0">
                <a:solidFill>
                  <a:srgbClr val="1F2D3A"/>
                </a:solidFill>
              </a:rPr>
              <a:t> (assurance; EAL comes from here).</a:t>
            </a:r>
          </a:p>
          <a:p>
            <a:pPr>
              <a:spcAft>
                <a:spcPts val="300"/>
              </a:spcAft>
            </a:pPr>
            <a:r>
              <a:rPr sz="2000" b="1">
                <a:solidFill>
                  <a:srgbClr val="006D77"/>
                </a:solidFill>
              </a:rPr>
              <a:t>3. </a:t>
            </a:r>
            <a:r>
              <a:rPr sz="2000" b="0">
                <a:solidFill>
                  <a:srgbClr val="1F2D3A"/>
                </a:solidFill>
              </a:rPr>
              <a:t>EAL measures </a:t>
            </a:r>
            <a:r>
              <a:rPr sz="2000" b="1">
                <a:solidFill>
                  <a:srgbClr val="1F2D3A"/>
                </a:solidFill>
              </a:rPr>
              <a:t>assurance depth</a:t>
            </a:r>
            <a:r>
              <a:rPr sz="2000" b="0">
                <a:solidFill>
                  <a:srgbClr val="1F2D3A"/>
                </a:solidFill>
              </a:rPr>
              <a:t>, not the amount of security; if the </a:t>
            </a:r>
            <a:r>
              <a:rPr sz="2000" b="1">
                <a:solidFill>
                  <a:srgbClr val="1F2D3A"/>
                </a:solidFill>
              </a:rPr>
              <a:t>scope (ST/TOE)</a:t>
            </a:r>
            <a:r>
              <a:rPr sz="2000" b="0">
                <a:solidFill>
                  <a:srgbClr val="1F2D3A"/>
                </a:solidFill>
              </a:rPr>
              <a:t> is narrow, a high EAL covers little.</a:t>
            </a:r>
          </a:p>
          <a:p>
            <a:pPr>
              <a:spcAft>
                <a:spcPts val="300"/>
              </a:spcAft>
            </a:pPr>
            <a:r>
              <a:rPr sz="2000" b="1">
                <a:solidFill>
                  <a:srgbClr val="006D77"/>
                </a:solidFill>
              </a:rPr>
              <a:t>4. </a:t>
            </a:r>
            <a:r>
              <a:rPr sz="2000" b="1">
                <a:solidFill>
                  <a:srgbClr val="1F2D3A"/>
                </a:solidFill>
              </a:rPr>
              <a:t>No.</a:t>
            </a:r>
            <a:r>
              <a:rPr sz="2000" b="0">
                <a:solidFill>
                  <a:srgbClr val="1F2D3A"/>
                </a:solidFill>
              </a:rPr>
              <a:t> The module must be used in the </a:t>
            </a:r>
            <a:r>
              <a:rPr sz="2000" b="1">
                <a:solidFill>
                  <a:srgbClr val="1F2D3A"/>
                </a:solidFill>
              </a:rPr>
              <a:t>correct mode/configuration, with approved algorithms</a:t>
            </a:r>
            <a:r>
              <a:rPr sz="2000" b="0">
                <a:solidFill>
                  <a:srgbClr val="1F2D3A"/>
                </a:solidFill>
              </a:rPr>
              <a:t>. Module certificate ≠ application compliance.</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bg>
      <p:bgPr>
        <a:solidFill>
          <a:srgbClr val="006D77"/>
        </a:solidFill>
        <a:effectLst/>
      </p:bgPr>
    </p:bg>
    <p:spTree>
      <p:nvGrpSpPr>
        <p:cNvPr id="1" name=""/>
        <p:cNvGrpSpPr/>
        <p:nvPr/>
      </p:nvGrpSpPr>
      <p:grpSpPr/>
      <p:sp>
        <p:nvSpPr>
          <p:cNvPr id="2" name="TextBox 1"/>
          <p:cNvSpPr txBox="1"/>
          <p:nvPr/>
        </p:nvSpPr>
        <p:spPr>
          <a:xfrm>
            <a:off x="1051560" y="182880"/>
            <a:ext cx="7315200" cy="320040"/>
          </a:xfrm>
          <a:prstGeom prst="rect">
            <a:avLst/>
          </a:prstGeom>
          <a:noFill/>
        </p:spPr>
        <p:txBody>
          <a:bodyPr wrap="square" lIns="45720" rIns="45720">
            <a:spAutoFit/>
          </a:bodyPr>
          <a:lstStyle/>
          <a:p>
            <a:r>
              <a:rPr sz="1100" b="0">
                <a:solidFill>
                  <a:srgbClr val="D8F0F2"/>
                </a:solidFill>
              </a:rPr>
              <a:t>CEN429 Secure Programming · Week 13</a:t>
            </a:r>
          </a:p>
        </p:txBody>
      </p:sp>
      <p:sp>
        <p:nvSpPr>
          <p:cNvPr id="3" name="TextBox 2"/>
          <p:cNvSpPr txBox="1"/>
          <p:nvPr/>
        </p:nvSpPr>
        <p:spPr>
          <a:xfrm>
            <a:off x="640080" y="6446520"/>
            <a:ext cx="7315200" cy="274320"/>
          </a:xfrm>
          <a:prstGeom prst="rect">
            <a:avLst/>
          </a:prstGeom>
          <a:noFill/>
        </p:spPr>
        <p:txBody>
          <a:bodyPr wrap="square" lIns="45720" rIns="45720">
            <a:spAutoFit/>
          </a:bodyPr>
          <a:lstStyle/>
          <a:p>
            <a:r>
              <a:rPr sz="1000" b="0">
                <a:solidFill>
                  <a:srgbClr val="D8F0F2"/>
                </a:solidFill>
              </a:rPr>
              <a:t>RTEU Computer Engineering · 2026-2027 Fall</a:t>
            </a:r>
          </a:p>
        </p:txBody>
      </p:sp>
      <p:sp>
        <p:nvSpPr>
          <p:cNvPr id="4" name="TextBox 3"/>
          <p:cNvSpPr txBox="1"/>
          <p:nvPr/>
        </p:nvSpPr>
        <p:spPr>
          <a:xfrm>
            <a:off x="10637215" y="6446520"/>
            <a:ext cx="914400" cy="274320"/>
          </a:xfrm>
          <a:prstGeom prst="rect">
            <a:avLst/>
          </a:prstGeom>
          <a:noFill/>
        </p:spPr>
        <p:txBody>
          <a:bodyPr wrap="square" lIns="45720" rIns="45720">
            <a:spAutoFit/>
          </a:bodyPr>
          <a:lstStyle/>
          <a:p>
            <a:pPr algn="r"/>
            <a:r>
              <a:rPr sz="1000" b="0">
                <a:solidFill>
                  <a:srgbClr val="D8F0F2"/>
                </a:solidFill>
              </a:rPr>
              <a:t>99</a:t>
            </a:r>
          </a:p>
        </p:txBody>
      </p:sp>
      <p:sp>
        <p:nvSpPr>
          <p:cNvPr id="5" name="TextBox 4"/>
          <p:cNvSpPr txBox="1"/>
          <p:nvPr/>
        </p:nvSpPr>
        <p:spPr>
          <a:xfrm>
            <a:off x="640080" y="2743200"/>
            <a:ext cx="10911535" cy="1280160"/>
          </a:xfrm>
          <a:prstGeom prst="rect">
            <a:avLst/>
          </a:prstGeom>
          <a:noFill/>
        </p:spPr>
        <p:txBody>
          <a:bodyPr wrap="square" lIns="45720" rIns="45720">
            <a:spAutoFit/>
          </a:bodyPr>
          <a:lstStyle/>
          <a:p>
            <a:pPr algn="l"/>
            <a:r>
              <a:rPr sz="4000" b="1">
                <a:solidFill>
                  <a:srgbClr val="FFFFFF"/>
                </a:solidFill>
              </a:rPr>
              <a:t>6. Sector-Specific Requirement Sets</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13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100</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Sector Standards — Diagram</a:t>
            </a:r>
          </a:p>
        </p:txBody>
      </p:sp>
      <p:pic>
        <p:nvPicPr>
          <p:cNvPr id="7" name="Picture 6" descr="h13-09-sektor.png"/>
          <p:cNvPicPr>
            <a:picLocks noChangeAspect="1"/>
          </p:cNvPicPr>
          <p:nvPr/>
        </p:nvPicPr>
        <p:blipFill>
          <a:blip r:embed="rId3"/>
          <a:stretch>
            <a:fillRect/>
          </a:stretch>
        </p:blipFill>
        <p:spPr>
          <a:xfrm>
            <a:off x="1808406" y="1325880"/>
            <a:ext cx="8574883" cy="4828032"/>
          </a:xfrm>
          <a:prstGeom prst="rect">
            <a:avLst/>
          </a:prstGeom>
        </p:spPr>
      </p:pic>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13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101</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Why Sector Standards?</a:t>
            </a:r>
          </a:p>
        </p:txBody>
      </p:sp>
      <p:sp>
        <p:nvSpPr>
          <p:cNvPr id="7" name="TextBox 6"/>
          <p:cNvSpPr txBox="1"/>
          <p:nvPr/>
        </p:nvSpPr>
        <p:spPr>
          <a:xfrm>
            <a:off x="640080" y="1325880"/>
            <a:ext cx="10911535" cy="1549400"/>
          </a:xfrm>
          <a:prstGeom prst="rect">
            <a:avLst/>
          </a:prstGeom>
          <a:noFill/>
        </p:spPr>
        <p:txBody>
          <a:bodyPr wrap="square" lIns="45720" rIns="45720">
            <a:spAutoFit/>
          </a:bodyPr>
          <a:lstStyle/>
          <a:p>
            <a:pPr>
              <a:spcAft>
                <a:spcPts val="300"/>
              </a:spcAft>
            </a:pPr>
            <a:r>
              <a:rPr sz="2000" b="1">
                <a:solidFill>
                  <a:srgbClr val="006D77"/>
                </a:solidFill>
              </a:rPr>
              <a:t>• </a:t>
            </a:r>
            <a:r>
              <a:rPr sz="2000" b="0">
                <a:solidFill>
                  <a:srgbClr val="1F2D3A"/>
                </a:solidFill>
              </a:rPr>
              <a:t>CC/FIPS are general; sectors want </a:t>
            </a:r>
            <a:r>
              <a:rPr sz="2000" b="1">
                <a:solidFill>
                  <a:srgbClr val="1F2D3A"/>
                </a:solidFill>
              </a:rPr>
              <a:t>additional</a:t>
            </a:r>
            <a:r>
              <a:rPr sz="2000" b="0">
                <a:solidFill>
                  <a:srgbClr val="1F2D3A"/>
                </a:solidFill>
              </a:rPr>
              <a:t> requirements suited to their own risks.</a:t>
            </a:r>
          </a:p>
          <a:p>
            <a:pPr>
              <a:spcAft>
                <a:spcPts val="300"/>
              </a:spcAft>
            </a:pPr>
            <a:r>
              <a:rPr sz="2000" b="1">
                <a:solidFill>
                  <a:srgbClr val="006D77"/>
                </a:solidFill>
              </a:rPr>
              <a:t>• </a:t>
            </a:r>
            <a:r>
              <a:rPr sz="2000" b="0">
                <a:solidFill>
                  <a:srgbClr val="1F2D3A"/>
                </a:solidFill>
              </a:rPr>
              <a:t>IoT, mobile, payment are different threat environments.</a:t>
            </a:r>
          </a:p>
          <a:p>
            <a:pPr>
              <a:spcAft>
                <a:spcPts val="300"/>
              </a:spcAft>
            </a:pPr>
            <a:r>
              <a:rPr sz="2000" b="1">
                <a:solidFill>
                  <a:srgbClr val="006D77"/>
                </a:solidFill>
              </a:rPr>
              <a:t>• </a:t>
            </a:r>
            <a:r>
              <a:rPr sz="2000" b="0">
                <a:solidFill>
                  <a:srgbClr val="1F2D3A"/>
                </a:solidFill>
              </a:rPr>
              <a:t>Follow whichever your project is closest to.</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13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102</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ETSI EN 303 645 (IoT)</a:t>
            </a:r>
          </a:p>
        </p:txBody>
      </p:sp>
      <p:sp>
        <p:nvSpPr>
          <p:cNvPr id="7" name="TextBox 6"/>
          <p:cNvSpPr txBox="1"/>
          <p:nvPr/>
        </p:nvSpPr>
        <p:spPr>
          <a:xfrm>
            <a:off x="640080" y="1325880"/>
            <a:ext cx="10911535" cy="1549400"/>
          </a:xfrm>
          <a:prstGeom prst="rect">
            <a:avLst/>
          </a:prstGeom>
          <a:noFill/>
        </p:spPr>
        <p:txBody>
          <a:bodyPr wrap="square" lIns="45720" rIns="45720">
            <a:spAutoFit/>
          </a:bodyPr>
          <a:lstStyle/>
          <a:p>
            <a:pPr>
              <a:spcAft>
                <a:spcPts val="300"/>
              </a:spcAft>
            </a:pPr>
            <a:r>
              <a:rPr sz="2000" b="1">
                <a:solidFill>
                  <a:srgbClr val="006D77"/>
                </a:solidFill>
              </a:rPr>
              <a:t>• </a:t>
            </a:r>
            <a:r>
              <a:rPr sz="2000" b="1">
                <a:solidFill>
                  <a:srgbClr val="1F2D3A"/>
                </a:solidFill>
              </a:rPr>
              <a:t>Baseline</a:t>
            </a:r>
            <a:r>
              <a:rPr sz="2000" b="0">
                <a:solidFill>
                  <a:srgbClr val="1F2D3A"/>
                </a:solidFill>
              </a:rPr>
              <a:t> security requirements for consumer IoT.</a:t>
            </a:r>
          </a:p>
          <a:p>
            <a:pPr>
              <a:spcAft>
                <a:spcPts val="300"/>
              </a:spcAft>
            </a:pPr>
            <a:r>
              <a:rPr sz="2000" b="1">
                <a:solidFill>
                  <a:srgbClr val="006D77"/>
                </a:solidFill>
              </a:rPr>
              <a:t>• </a:t>
            </a:r>
            <a:r>
              <a:rPr sz="2000" b="0">
                <a:solidFill>
                  <a:srgbClr val="1F2D3A"/>
                </a:solidFill>
              </a:rPr>
              <a:t>Example: no default passwords, secure updates, store sensitive parameters securely.</a:t>
            </a:r>
          </a:p>
          <a:p>
            <a:pPr>
              <a:spcAft>
                <a:spcPts val="300"/>
              </a:spcAft>
            </a:pPr>
            <a:r>
              <a:rPr sz="2000" b="1">
                <a:solidFill>
                  <a:srgbClr val="006D77"/>
                </a:solidFill>
              </a:rPr>
              <a:t>• </a:t>
            </a:r>
            <a:r>
              <a:rPr sz="2000" b="0">
                <a:solidFill>
                  <a:srgbClr val="1F2D3A"/>
                </a:solidFill>
              </a:rPr>
              <a:t>A broad, applicable baseline.</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13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103</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ETSI · Example Provisions</a:t>
            </a:r>
          </a:p>
        </p:txBody>
      </p:sp>
      <p:sp>
        <p:nvSpPr>
          <p:cNvPr id="7" name="TextBox 6"/>
          <p:cNvSpPr txBox="1"/>
          <p:nvPr/>
        </p:nvSpPr>
        <p:spPr>
          <a:xfrm>
            <a:off x="640080" y="1325880"/>
            <a:ext cx="10911535" cy="1219200"/>
          </a:xfrm>
          <a:prstGeom prst="rect">
            <a:avLst/>
          </a:prstGeom>
          <a:noFill/>
        </p:spPr>
        <p:txBody>
          <a:bodyPr wrap="square" lIns="45720" rIns="45720">
            <a:spAutoFit/>
          </a:bodyPr>
          <a:lstStyle/>
          <a:p>
            <a:pPr>
              <a:spcAft>
                <a:spcPts val="300"/>
              </a:spcAft>
            </a:pPr>
            <a:r>
              <a:rPr sz="2000" b="1">
                <a:solidFill>
                  <a:srgbClr val="006D77"/>
                </a:solidFill>
              </a:rPr>
              <a:t>• </a:t>
            </a:r>
            <a:r>
              <a:rPr sz="2000" b="0">
                <a:solidFill>
                  <a:srgbClr val="1F2D3A"/>
                </a:solidFill>
              </a:rPr>
              <a:t>Unique passwords (no common default).</a:t>
            </a:r>
          </a:p>
          <a:p>
            <a:pPr>
              <a:spcAft>
                <a:spcPts val="300"/>
              </a:spcAft>
            </a:pPr>
            <a:r>
              <a:rPr sz="2000" b="1">
                <a:solidFill>
                  <a:srgbClr val="006D77"/>
                </a:solidFill>
              </a:rPr>
              <a:t>• </a:t>
            </a:r>
            <a:r>
              <a:rPr sz="2000" b="0">
                <a:solidFill>
                  <a:srgbClr val="1F2D3A"/>
                </a:solidFill>
              </a:rPr>
              <a:t>Manage security updates.</a:t>
            </a:r>
          </a:p>
          <a:p>
            <a:pPr>
              <a:spcAft>
                <a:spcPts val="300"/>
              </a:spcAft>
            </a:pPr>
            <a:r>
              <a:rPr sz="2000" b="1">
                <a:solidFill>
                  <a:srgbClr val="006D77"/>
                </a:solidFill>
              </a:rPr>
              <a:t>• </a:t>
            </a:r>
            <a:r>
              <a:rPr sz="2000" b="1">
                <a:solidFill>
                  <a:srgbClr val="1F2D3A"/>
                </a:solidFill>
              </a:rPr>
              <a:t>Securely store sensitive security parameters</a:t>
            </a:r>
            <a:r>
              <a:rPr sz="2000" b="0">
                <a:solidFill>
                  <a:srgbClr val="1F2D3A"/>
                </a:solidFill>
              </a:rPr>
              <a:t> (→ project S5/S7/S8).</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13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104</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GSMA</a:t>
            </a:r>
          </a:p>
        </p:txBody>
      </p:sp>
      <p:sp>
        <p:nvSpPr>
          <p:cNvPr id="7" name="TextBox 6"/>
          <p:cNvSpPr txBox="1"/>
          <p:nvPr/>
        </p:nvSpPr>
        <p:spPr>
          <a:xfrm>
            <a:off x="640080" y="1325880"/>
            <a:ext cx="10911535" cy="1219200"/>
          </a:xfrm>
          <a:prstGeom prst="rect">
            <a:avLst/>
          </a:prstGeom>
          <a:noFill/>
        </p:spPr>
        <p:txBody>
          <a:bodyPr wrap="square" lIns="45720" rIns="45720">
            <a:spAutoFit/>
          </a:bodyPr>
          <a:lstStyle/>
          <a:p>
            <a:pPr>
              <a:spcAft>
                <a:spcPts val="300"/>
              </a:spcAft>
            </a:pPr>
            <a:r>
              <a:rPr sz="2000" b="1">
                <a:solidFill>
                  <a:srgbClr val="006D77"/>
                </a:solidFill>
              </a:rPr>
              <a:t>• </a:t>
            </a:r>
            <a:r>
              <a:rPr sz="2000" b="0">
                <a:solidFill>
                  <a:srgbClr val="1F2D3A"/>
                </a:solidFill>
              </a:rPr>
              <a:t>Security guidelines for the mobile operator ecosystem.</a:t>
            </a:r>
          </a:p>
          <a:p>
            <a:pPr>
              <a:spcAft>
                <a:spcPts val="300"/>
              </a:spcAft>
            </a:pPr>
            <a:r>
              <a:rPr sz="2000" b="1">
                <a:solidFill>
                  <a:srgbClr val="006D77"/>
                </a:solidFill>
              </a:rPr>
              <a:t>• </a:t>
            </a:r>
            <a:r>
              <a:rPr sz="2000" b="0">
                <a:solidFill>
                  <a:srgbClr val="1F2D3A"/>
                </a:solidFill>
              </a:rPr>
              <a:t>Device, network, service security.</a:t>
            </a:r>
          </a:p>
          <a:p>
            <a:pPr>
              <a:spcAft>
                <a:spcPts val="300"/>
              </a:spcAft>
            </a:pPr>
            <a:r>
              <a:rPr sz="2000" b="1">
                <a:solidFill>
                  <a:srgbClr val="006D77"/>
                </a:solidFill>
              </a:rPr>
              <a:t>• </a:t>
            </a:r>
            <a:r>
              <a:rPr sz="2000" b="0">
                <a:solidFill>
                  <a:srgbClr val="1F2D3A"/>
                </a:solidFill>
              </a:rPr>
              <a:t>SIM/eSIM, identity.</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13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105</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EMVCo</a:t>
            </a:r>
          </a:p>
        </p:txBody>
      </p:sp>
      <p:sp>
        <p:nvSpPr>
          <p:cNvPr id="7" name="TextBox 6"/>
          <p:cNvSpPr txBox="1"/>
          <p:nvPr/>
        </p:nvSpPr>
        <p:spPr>
          <a:xfrm>
            <a:off x="640080" y="1325880"/>
            <a:ext cx="10911535" cy="1219200"/>
          </a:xfrm>
          <a:prstGeom prst="rect">
            <a:avLst/>
          </a:prstGeom>
          <a:noFill/>
        </p:spPr>
        <p:txBody>
          <a:bodyPr wrap="square" lIns="45720" rIns="45720">
            <a:spAutoFit/>
          </a:bodyPr>
          <a:lstStyle/>
          <a:p>
            <a:pPr>
              <a:spcAft>
                <a:spcPts val="300"/>
              </a:spcAft>
            </a:pPr>
            <a:r>
              <a:rPr sz="2000" b="1">
                <a:solidFill>
                  <a:srgbClr val="006D77"/>
                </a:solidFill>
              </a:rPr>
              <a:t>• </a:t>
            </a:r>
            <a:r>
              <a:rPr sz="2000" b="0">
                <a:solidFill>
                  <a:srgbClr val="1F2D3A"/>
                </a:solidFill>
              </a:rPr>
              <a:t>Card payment ecosystem standards (cards, terminals, mobile payment).</a:t>
            </a:r>
          </a:p>
          <a:p>
            <a:pPr>
              <a:spcAft>
                <a:spcPts val="300"/>
              </a:spcAft>
            </a:pPr>
            <a:r>
              <a:rPr sz="2000" b="1">
                <a:solidFill>
                  <a:srgbClr val="006D77"/>
                </a:solidFill>
              </a:rPr>
              <a:t>• </a:t>
            </a:r>
            <a:r>
              <a:rPr sz="2000" b="0">
                <a:solidFill>
                  <a:srgbClr val="1F2D3A"/>
                </a:solidFill>
              </a:rPr>
              <a:t>Functional conformance + security evaluation.</a:t>
            </a:r>
          </a:p>
          <a:p>
            <a:pPr>
              <a:spcAft>
                <a:spcPts val="300"/>
              </a:spcAft>
            </a:pPr>
            <a:r>
              <a:rPr sz="2000" b="1">
                <a:solidFill>
                  <a:srgbClr val="006D77"/>
                </a:solidFill>
              </a:rPr>
              <a:t>• </a:t>
            </a:r>
            <a:r>
              <a:rPr sz="2000" b="0">
                <a:solidFill>
                  <a:srgbClr val="1F2D3A"/>
                </a:solidFill>
              </a:rPr>
              <a:t>Attack potential scoring (Week 12).</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13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106</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PCI</a:t>
            </a:r>
          </a:p>
        </p:txBody>
      </p:sp>
      <p:sp>
        <p:nvSpPr>
          <p:cNvPr id="7" name="TextBox 6"/>
          <p:cNvSpPr txBox="1"/>
          <p:nvPr/>
        </p:nvSpPr>
        <p:spPr>
          <a:xfrm>
            <a:off x="640080" y="1325880"/>
            <a:ext cx="10911535" cy="1219200"/>
          </a:xfrm>
          <a:prstGeom prst="rect">
            <a:avLst/>
          </a:prstGeom>
          <a:noFill/>
        </p:spPr>
        <p:txBody>
          <a:bodyPr wrap="square" lIns="45720" rIns="45720">
            <a:spAutoFit/>
          </a:bodyPr>
          <a:lstStyle/>
          <a:p>
            <a:pPr>
              <a:spcAft>
                <a:spcPts val="300"/>
              </a:spcAft>
            </a:pPr>
            <a:r>
              <a:rPr sz="2000" b="1">
                <a:solidFill>
                  <a:srgbClr val="006D77"/>
                </a:solidFill>
              </a:rPr>
              <a:t>• </a:t>
            </a:r>
            <a:r>
              <a:rPr sz="2000" b="1">
                <a:solidFill>
                  <a:srgbClr val="1F2D3A"/>
                </a:solidFill>
              </a:rPr>
              <a:t>PCI DSS:</a:t>
            </a:r>
            <a:r>
              <a:rPr sz="2000" b="0">
                <a:solidFill>
                  <a:srgbClr val="1F2D3A"/>
                </a:solidFill>
              </a:rPr>
              <a:t> security for systems that process card data.</a:t>
            </a:r>
          </a:p>
          <a:p>
            <a:pPr>
              <a:spcAft>
                <a:spcPts val="300"/>
              </a:spcAft>
            </a:pPr>
            <a:r>
              <a:rPr sz="2000" b="1">
                <a:solidFill>
                  <a:srgbClr val="006D77"/>
                </a:solidFill>
              </a:rPr>
              <a:t>• </a:t>
            </a:r>
            <a:r>
              <a:rPr sz="2000" b="1">
                <a:solidFill>
                  <a:srgbClr val="1F2D3A"/>
                </a:solidFill>
              </a:rPr>
              <a:t>PCI MPoC/CPoC:</a:t>
            </a:r>
            <a:r>
              <a:rPr sz="2000" b="0">
                <a:solidFill>
                  <a:srgbClr val="1F2D3A"/>
                </a:solidFill>
              </a:rPr>
              <a:t> software-based payment acceptance.</a:t>
            </a:r>
          </a:p>
          <a:p>
            <a:pPr>
              <a:spcAft>
                <a:spcPts val="300"/>
              </a:spcAft>
            </a:pPr>
            <a:r>
              <a:rPr sz="2000" b="1">
                <a:solidFill>
                  <a:srgbClr val="006D77"/>
                </a:solidFill>
              </a:rPr>
              <a:t>• </a:t>
            </a:r>
            <a:r>
              <a:rPr sz="2000" b="0">
                <a:solidFill>
                  <a:srgbClr val="1F2D3A"/>
                </a:solidFill>
              </a:rPr>
              <a:t>Strict; laboratory evaluation.</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13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107</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OWASP MASVS</a:t>
            </a:r>
          </a:p>
        </p:txBody>
      </p:sp>
      <p:sp>
        <p:nvSpPr>
          <p:cNvPr id="7" name="TextBox 6"/>
          <p:cNvSpPr txBox="1"/>
          <p:nvPr/>
        </p:nvSpPr>
        <p:spPr>
          <a:xfrm>
            <a:off x="640080" y="1325880"/>
            <a:ext cx="10911535" cy="1219200"/>
          </a:xfrm>
          <a:prstGeom prst="rect">
            <a:avLst/>
          </a:prstGeom>
          <a:noFill/>
        </p:spPr>
        <p:txBody>
          <a:bodyPr wrap="square" lIns="45720" rIns="45720">
            <a:spAutoFit/>
          </a:bodyPr>
          <a:lstStyle/>
          <a:p>
            <a:pPr>
              <a:spcAft>
                <a:spcPts val="300"/>
              </a:spcAft>
            </a:pPr>
            <a:r>
              <a:rPr sz="2000" b="1">
                <a:solidFill>
                  <a:srgbClr val="006D77"/>
                </a:solidFill>
              </a:rPr>
              <a:t>• </a:t>
            </a:r>
            <a:r>
              <a:rPr sz="2000" b="1">
                <a:solidFill>
                  <a:srgbClr val="1F2D3A"/>
                </a:solidFill>
              </a:rPr>
              <a:t>Mobile Application Security Verification Standard.</a:t>
            </a:r>
          </a:p>
          <a:p>
            <a:pPr>
              <a:spcAft>
                <a:spcPts val="300"/>
              </a:spcAft>
            </a:pPr>
            <a:r>
              <a:rPr sz="2000" b="1">
                <a:solidFill>
                  <a:srgbClr val="006D77"/>
                </a:solidFill>
              </a:rPr>
              <a:t>• </a:t>
            </a:r>
            <a:r>
              <a:rPr sz="2000" b="0">
                <a:solidFill>
                  <a:srgbClr val="1F2D3A"/>
                </a:solidFill>
              </a:rPr>
              <a:t>Mobile application security </a:t>
            </a:r>
            <a:r>
              <a:rPr sz="2000" b="1">
                <a:solidFill>
                  <a:srgbClr val="1F2D3A"/>
                </a:solidFill>
              </a:rPr>
              <a:t>requirements</a:t>
            </a:r>
            <a:r>
              <a:rPr sz="2000" b="0">
                <a:solidFill>
                  <a:srgbClr val="1F2D3A"/>
                </a:solidFill>
              </a:rPr>
              <a:t>.</a:t>
            </a:r>
          </a:p>
          <a:p>
            <a:pPr>
              <a:spcAft>
                <a:spcPts val="300"/>
              </a:spcAft>
            </a:pPr>
            <a:r>
              <a:rPr sz="2000" b="1">
                <a:solidFill>
                  <a:srgbClr val="006D77"/>
                </a:solidFill>
              </a:rPr>
              <a:t>• </a:t>
            </a:r>
            <a:r>
              <a:rPr sz="2000" b="0">
                <a:solidFill>
                  <a:srgbClr val="1F2D3A"/>
                </a:solidFill>
              </a:rPr>
              <a:t>Levels: baseline (L1), defence-in-depth (L2), resilience (R).</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13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108</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MASVS · For Your Project</a:t>
            </a:r>
          </a:p>
        </p:txBody>
      </p:sp>
      <p:sp>
        <p:nvSpPr>
          <p:cNvPr id="7" name="TextBox 6"/>
          <p:cNvSpPr txBox="1"/>
          <p:nvPr/>
        </p:nvSpPr>
        <p:spPr>
          <a:xfrm>
            <a:off x="640080" y="1325880"/>
            <a:ext cx="10911535" cy="1219200"/>
          </a:xfrm>
          <a:prstGeom prst="rect">
            <a:avLst/>
          </a:prstGeom>
          <a:noFill/>
        </p:spPr>
        <p:txBody>
          <a:bodyPr wrap="square" lIns="45720" rIns="45720">
            <a:spAutoFit/>
          </a:bodyPr>
          <a:lstStyle/>
          <a:p>
            <a:pPr>
              <a:spcAft>
                <a:spcPts val="300"/>
              </a:spcAft>
            </a:pPr>
            <a:r>
              <a:rPr sz="2000" b="1">
                <a:solidFill>
                  <a:srgbClr val="006D77"/>
                </a:solidFill>
              </a:rPr>
              <a:t>• </a:t>
            </a:r>
            <a:r>
              <a:rPr sz="2000" b="0">
                <a:solidFill>
                  <a:srgbClr val="1F2D3A"/>
                </a:solidFill>
              </a:rPr>
              <a:t>The </a:t>
            </a:r>
            <a:r>
              <a:rPr sz="2000" b="1">
                <a:solidFill>
                  <a:srgbClr val="1F2D3A"/>
                </a:solidFill>
              </a:rPr>
              <a:t>most applicable</a:t>
            </a:r>
            <a:r>
              <a:rPr sz="2000" b="0">
                <a:solidFill>
                  <a:srgbClr val="1F2D3A"/>
                </a:solidFill>
              </a:rPr>
              <a:t> requirement set.</a:t>
            </a:r>
          </a:p>
          <a:p>
            <a:pPr>
              <a:spcAft>
                <a:spcPts val="300"/>
              </a:spcAft>
            </a:pPr>
            <a:r>
              <a:rPr sz="2000" b="1">
                <a:solidFill>
                  <a:srgbClr val="006D77"/>
                </a:solidFill>
              </a:rPr>
              <a:t>• </a:t>
            </a:r>
            <a:r>
              <a:rPr sz="2000" b="0">
                <a:solidFill>
                  <a:srgbClr val="1F2D3A"/>
                </a:solidFill>
              </a:rPr>
              <a:t>Tested with MASTG (Week 12).</a:t>
            </a:r>
          </a:p>
          <a:p>
            <a:pPr>
              <a:spcAft>
                <a:spcPts val="300"/>
              </a:spcAft>
            </a:pPr>
            <a:r>
              <a:rPr sz="2000" b="1">
                <a:solidFill>
                  <a:srgbClr val="006D77"/>
                </a:solidFill>
              </a:rPr>
              <a:t>• </a:t>
            </a:r>
            <a:r>
              <a:rPr sz="2000" b="0">
                <a:solidFill>
                  <a:srgbClr val="1F2D3A"/>
                </a:solidFill>
              </a:rPr>
              <a:t>Crypto, storage, communication, code quality, resilience.</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13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109</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2600" b="1">
                <a:solidFill>
                  <a:srgbClr val="006D77"/>
                </a:solidFill>
              </a:rPr>
              <a:t>Standards · Comparison</a:t>
            </a:r>
          </a:p>
        </p:txBody>
      </p:sp>
      <p:graphicFrame>
        <p:nvGraphicFramePr>
          <p:cNvPr id="7" name="Table 6"/>
          <p:cNvGraphicFramePr>
            <a:graphicFrameLocks noGrp="1"/>
          </p:cNvGraphicFramePr>
          <p:nvPr/>
        </p:nvGraphicFramePr>
        <p:xfrm>
          <a:off x="640080" y="1325880"/>
          <a:ext cx="10911534" cy="2079345"/>
        </p:xfrm>
        <a:graphic>
          <a:graphicData uri="http://schemas.openxmlformats.org/drawingml/2006/table">
            <a:tbl>
              <a:tblPr firstRow="1" bandRow="1">
                <a:tableStyleId>{5C22544A-7EE6-4342-B048-85BDC9FD1C3A}</a:tableStyleId>
              </a:tblPr>
              <a:tblGrid>
                <a:gridCol w="2815880"/>
                <a:gridCol w="3343857"/>
                <a:gridCol w="4751797"/>
              </a:tblGrid>
              <a:tr h="346557">
                <a:tc>
                  <a:txBody>
                    <a:bodyPr wrap="square"/>
                    <a:lstStyle/>
                    <a:p>
                      <a:r>
                        <a:rPr sz="1296" b="1">
                          <a:solidFill>
                            <a:srgbClr val="FFFFFF"/>
                          </a:solidFill>
                        </a:rPr>
                        <a:t>Standard</a:t>
                      </a:r>
                    </a:p>
                  </a:txBody>
                  <a:tcPr marL="54864" marR="54864" marT="27432" marB="27432" anchor="ctr">
                    <a:solidFill>
                      <a:srgbClr val="006D77"/>
                    </a:solidFill>
                  </a:tcPr>
                </a:tc>
                <a:tc>
                  <a:txBody>
                    <a:bodyPr wrap="square"/>
                    <a:lstStyle/>
                    <a:p>
                      <a:r>
                        <a:rPr sz="1296" b="1">
                          <a:solidFill>
                            <a:srgbClr val="FFFFFF"/>
                          </a:solidFill>
                        </a:rPr>
                        <a:t>Domain</a:t>
                      </a:r>
                    </a:p>
                  </a:txBody>
                  <a:tcPr marL="54864" marR="54864" marT="27432" marB="27432" anchor="ctr">
                    <a:solidFill>
                      <a:srgbClr val="006D77"/>
                    </a:solidFill>
                  </a:tcPr>
                </a:tc>
                <a:tc>
                  <a:txBody>
                    <a:bodyPr wrap="square"/>
                    <a:lstStyle/>
                    <a:p>
                      <a:r>
                        <a:rPr sz="1296" b="1">
                          <a:solidFill>
                            <a:srgbClr val="FFFFFF"/>
                          </a:solidFill>
                        </a:rPr>
                        <a:t>Focus</a:t>
                      </a:r>
                    </a:p>
                  </a:txBody>
                  <a:tcPr marL="54864" marR="54864" marT="27432" marB="27432" anchor="ctr">
                    <a:solidFill>
                      <a:srgbClr val="006D77"/>
                    </a:solidFill>
                  </a:tcPr>
                </a:tc>
              </a:tr>
              <a:tr h="346557">
                <a:tc>
                  <a:txBody>
                    <a:bodyPr wrap="square"/>
                    <a:lstStyle/>
                    <a:p>
                      <a:r>
                        <a:rPr sz="1296" b="0">
                          <a:solidFill>
                            <a:srgbClr val="1F2D3A"/>
                          </a:solidFill>
                        </a:rPr>
                        <a:t>CC</a:t>
                      </a:r>
                    </a:p>
                  </a:txBody>
                  <a:tcPr marL="54864" marR="54864" marT="27432" marB="27432" anchor="ctr">
                    <a:solidFill>
                      <a:srgbClr val="FFFFFF"/>
                    </a:solidFill>
                  </a:tcPr>
                </a:tc>
                <a:tc>
                  <a:txBody>
                    <a:bodyPr wrap="square"/>
                    <a:lstStyle/>
                    <a:p>
                      <a:r>
                        <a:rPr sz="1296" b="0">
                          <a:solidFill>
                            <a:srgbClr val="1F2D3A"/>
                          </a:solidFill>
                        </a:rPr>
                        <a:t>General product</a:t>
                      </a:r>
                    </a:p>
                  </a:txBody>
                  <a:tcPr marL="54864" marR="54864" marT="27432" marB="27432" anchor="ctr">
                    <a:solidFill>
                      <a:srgbClr val="FFFFFF"/>
                    </a:solidFill>
                  </a:tcPr>
                </a:tc>
                <a:tc>
                  <a:txBody>
                    <a:bodyPr wrap="square"/>
                    <a:lstStyle/>
                    <a:p>
                      <a:r>
                        <a:rPr sz="1296" b="0">
                          <a:solidFill>
                            <a:srgbClr val="1F2D3A"/>
                          </a:solidFill>
                        </a:rPr>
                        <a:t>Evaluation depth</a:t>
                      </a:r>
                    </a:p>
                  </a:txBody>
                  <a:tcPr marL="54864" marR="54864" marT="27432" marB="27432" anchor="ctr">
                    <a:solidFill>
                      <a:srgbClr val="FFFFFF"/>
                    </a:solidFill>
                  </a:tcPr>
                </a:tc>
              </a:tr>
              <a:tr h="346557">
                <a:tc>
                  <a:txBody>
                    <a:bodyPr wrap="square"/>
                    <a:lstStyle/>
                    <a:p>
                      <a:r>
                        <a:rPr sz="1296" b="0">
                          <a:solidFill>
                            <a:srgbClr val="1F2D3A"/>
                          </a:solidFill>
                        </a:rPr>
                        <a:t>FIPS 140-3</a:t>
                      </a:r>
                    </a:p>
                  </a:txBody>
                  <a:tcPr marL="54864" marR="54864" marT="27432" marB="27432" anchor="ctr">
                    <a:solidFill>
                      <a:srgbClr val="EEF7F8"/>
                    </a:solidFill>
                  </a:tcPr>
                </a:tc>
                <a:tc>
                  <a:txBody>
                    <a:bodyPr wrap="square"/>
                    <a:lstStyle/>
                    <a:p>
                      <a:r>
                        <a:rPr sz="1296" b="0">
                          <a:solidFill>
                            <a:srgbClr val="1F2D3A"/>
                          </a:solidFill>
                        </a:rPr>
                        <a:t>Crypto module</a:t>
                      </a:r>
                    </a:p>
                  </a:txBody>
                  <a:tcPr marL="54864" marR="54864" marT="27432" marB="27432" anchor="ctr">
                    <a:solidFill>
                      <a:srgbClr val="EEF7F8"/>
                    </a:solidFill>
                  </a:tcPr>
                </a:tc>
                <a:tc>
                  <a:txBody>
                    <a:bodyPr wrap="square"/>
                    <a:lstStyle/>
                    <a:p>
                      <a:r>
                        <a:rPr sz="1296" b="0">
                          <a:solidFill>
                            <a:srgbClr val="1F2D3A"/>
                          </a:solidFill>
                        </a:rPr>
                        <a:t>Module validation</a:t>
                      </a:r>
                    </a:p>
                  </a:txBody>
                  <a:tcPr marL="54864" marR="54864" marT="27432" marB="27432" anchor="ctr">
                    <a:solidFill>
                      <a:srgbClr val="EEF7F8"/>
                    </a:solidFill>
                  </a:tcPr>
                </a:tc>
              </a:tr>
              <a:tr h="346557">
                <a:tc>
                  <a:txBody>
                    <a:bodyPr wrap="square"/>
                    <a:lstStyle/>
                    <a:p>
                      <a:r>
                        <a:rPr sz="1296" b="0">
                          <a:solidFill>
                            <a:srgbClr val="1F2D3A"/>
                          </a:solidFill>
                        </a:rPr>
                        <a:t>ETSI 303 645</a:t>
                      </a:r>
                    </a:p>
                  </a:txBody>
                  <a:tcPr marL="54864" marR="54864" marT="27432" marB="27432" anchor="ctr">
                    <a:solidFill>
                      <a:srgbClr val="FFFFFF"/>
                    </a:solidFill>
                  </a:tcPr>
                </a:tc>
                <a:tc>
                  <a:txBody>
                    <a:bodyPr wrap="square"/>
                    <a:lstStyle/>
                    <a:p>
                      <a:r>
                        <a:rPr sz="1296" b="0">
                          <a:solidFill>
                            <a:srgbClr val="1F2D3A"/>
                          </a:solidFill>
                        </a:rPr>
                        <a:t>IoT</a:t>
                      </a:r>
                    </a:p>
                  </a:txBody>
                  <a:tcPr marL="54864" marR="54864" marT="27432" marB="27432" anchor="ctr">
                    <a:solidFill>
                      <a:srgbClr val="FFFFFF"/>
                    </a:solidFill>
                  </a:tcPr>
                </a:tc>
                <a:tc>
                  <a:txBody>
                    <a:bodyPr wrap="square"/>
                    <a:lstStyle/>
                    <a:p>
                      <a:r>
                        <a:rPr sz="1296" b="0">
                          <a:solidFill>
                            <a:srgbClr val="1F2D3A"/>
                          </a:solidFill>
                        </a:rPr>
                        <a:t>Baseline requirement</a:t>
                      </a:r>
                    </a:p>
                  </a:txBody>
                  <a:tcPr marL="54864" marR="54864" marT="27432" marB="27432" anchor="ctr">
                    <a:solidFill>
                      <a:srgbClr val="FFFFFF"/>
                    </a:solidFill>
                  </a:tcPr>
                </a:tc>
              </a:tr>
              <a:tr h="346557">
                <a:tc>
                  <a:txBody>
                    <a:bodyPr wrap="square"/>
                    <a:lstStyle/>
                    <a:p>
                      <a:r>
                        <a:rPr sz="1296" b="0">
                          <a:solidFill>
                            <a:srgbClr val="1F2D3A"/>
                          </a:solidFill>
                        </a:rPr>
                        <a:t>EMVCo/PCI</a:t>
                      </a:r>
                    </a:p>
                  </a:txBody>
                  <a:tcPr marL="54864" marR="54864" marT="27432" marB="27432" anchor="ctr">
                    <a:solidFill>
                      <a:srgbClr val="EEF7F8"/>
                    </a:solidFill>
                  </a:tcPr>
                </a:tc>
                <a:tc>
                  <a:txBody>
                    <a:bodyPr wrap="square"/>
                    <a:lstStyle/>
                    <a:p>
                      <a:r>
                        <a:rPr sz="1296" b="0">
                          <a:solidFill>
                            <a:srgbClr val="1F2D3A"/>
                          </a:solidFill>
                        </a:rPr>
                        <a:t>Payment</a:t>
                      </a:r>
                    </a:p>
                  </a:txBody>
                  <a:tcPr marL="54864" marR="54864" marT="27432" marB="27432" anchor="ctr">
                    <a:solidFill>
                      <a:srgbClr val="EEF7F8"/>
                    </a:solidFill>
                  </a:tcPr>
                </a:tc>
                <a:tc>
                  <a:txBody>
                    <a:bodyPr wrap="square"/>
                    <a:lstStyle/>
                    <a:p>
                      <a:r>
                        <a:rPr sz="1296" b="0">
                          <a:solidFill>
                            <a:srgbClr val="1F2D3A"/>
                          </a:solidFill>
                        </a:rPr>
                        <a:t>Functional + security</a:t>
                      </a:r>
                    </a:p>
                  </a:txBody>
                  <a:tcPr marL="54864" marR="54864" marT="27432" marB="27432" anchor="ctr">
                    <a:solidFill>
                      <a:srgbClr val="EEF7F8"/>
                    </a:solidFill>
                  </a:tcPr>
                </a:tc>
              </a:tr>
              <a:tr h="346560">
                <a:tc>
                  <a:txBody>
                    <a:bodyPr wrap="square"/>
                    <a:lstStyle/>
                    <a:p>
                      <a:r>
                        <a:rPr sz="1296" b="0">
                          <a:solidFill>
                            <a:srgbClr val="1F2D3A"/>
                          </a:solidFill>
                        </a:rPr>
                        <a:t>MASVS</a:t>
                      </a:r>
                    </a:p>
                  </a:txBody>
                  <a:tcPr marL="54864" marR="54864" marT="27432" marB="27432" anchor="ctr">
                    <a:solidFill>
                      <a:srgbClr val="FFFFFF"/>
                    </a:solidFill>
                  </a:tcPr>
                </a:tc>
                <a:tc>
                  <a:txBody>
                    <a:bodyPr wrap="square"/>
                    <a:lstStyle/>
                    <a:p>
                      <a:r>
                        <a:rPr sz="1296" b="0">
                          <a:solidFill>
                            <a:srgbClr val="1F2D3A"/>
                          </a:solidFill>
                        </a:rPr>
                        <a:t>Mobile</a:t>
                      </a:r>
                    </a:p>
                  </a:txBody>
                  <a:tcPr marL="54864" marR="54864" marT="27432" marB="27432" anchor="ctr">
                    <a:solidFill>
                      <a:srgbClr val="FFFFFF"/>
                    </a:solidFill>
                  </a:tcPr>
                </a:tc>
                <a:tc>
                  <a:txBody>
                    <a:bodyPr wrap="square"/>
                    <a:lstStyle/>
                    <a:p>
                      <a:r>
                        <a:rPr sz="1296" b="0">
                          <a:solidFill>
                            <a:srgbClr val="1F2D3A"/>
                          </a:solidFill>
                        </a:rPr>
                        <a:t>Application requirement</a:t>
                      </a:r>
                    </a:p>
                  </a:txBody>
                  <a:tcPr marL="54864" marR="54864" marT="27432" marB="27432" anchor="ctr">
                    <a:solidFill>
                      <a:srgbClr val="FFFFFF"/>
                    </a:solidFill>
                  </a:tcPr>
                </a:tc>
              </a:tr>
            </a:tbl>
          </a:graphicData>
        </a:graphic>
      </p:graphicFrame>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13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110</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Comparison · The Lesson</a:t>
            </a:r>
          </a:p>
        </p:txBody>
      </p:sp>
      <p:sp>
        <p:nvSpPr>
          <p:cNvPr id="7" name="TextBox 6"/>
          <p:cNvSpPr txBox="1"/>
          <p:nvPr/>
        </p:nvSpPr>
        <p:spPr>
          <a:xfrm>
            <a:off x="640080" y="1325880"/>
            <a:ext cx="10911535" cy="1219200"/>
          </a:xfrm>
          <a:prstGeom prst="rect">
            <a:avLst/>
          </a:prstGeom>
          <a:noFill/>
        </p:spPr>
        <p:txBody>
          <a:bodyPr wrap="square" lIns="45720" rIns="45720">
            <a:spAutoFit/>
          </a:bodyPr>
          <a:lstStyle/>
          <a:p>
            <a:pPr>
              <a:spcAft>
                <a:spcPts val="300"/>
              </a:spcAft>
            </a:pPr>
            <a:r>
              <a:rPr sz="2000" b="1">
                <a:solidFill>
                  <a:srgbClr val="006D77"/>
                </a:solidFill>
              </a:rPr>
              <a:t>• </a:t>
            </a:r>
            <a:r>
              <a:rPr sz="2000" b="0">
                <a:solidFill>
                  <a:srgbClr val="1F2D3A"/>
                </a:solidFill>
              </a:rPr>
              <a:t>All share the same root: a </a:t>
            </a:r>
            <a:r>
              <a:rPr sz="2000" b="1">
                <a:solidFill>
                  <a:srgbClr val="1F2D3A"/>
                </a:solidFill>
              </a:rPr>
              <a:t>written, verifiable</a:t>
            </a:r>
            <a:r>
              <a:rPr sz="2000" b="0">
                <a:solidFill>
                  <a:srgbClr val="1F2D3A"/>
                </a:solidFill>
              </a:rPr>
              <a:t> requirement.</a:t>
            </a:r>
          </a:p>
          <a:p>
            <a:pPr>
              <a:spcAft>
                <a:spcPts val="300"/>
              </a:spcAft>
            </a:pPr>
            <a:r>
              <a:rPr sz="2000" b="1">
                <a:solidFill>
                  <a:srgbClr val="006D77"/>
                </a:solidFill>
              </a:rPr>
              <a:t>• </a:t>
            </a:r>
            <a:r>
              <a:rPr sz="2000" b="0">
                <a:solidFill>
                  <a:srgbClr val="1F2D3A"/>
                </a:solidFill>
              </a:rPr>
              <a:t>The difference: scope and strictness.</a:t>
            </a:r>
          </a:p>
          <a:p>
            <a:pPr>
              <a:spcAft>
                <a:spcPts val="300"/>
              </a:spcAft>
            </a:pPr>
            <a:r>
              <a:rPr sz="2000" b="1">
                <a:solidFill>
                  <a:srgbClr val="006D77"/>
                </a:solidFill>
              </a:rPr>
              <a:t>• </a:t>
            </a:r>
            <a:r>
              <a:rPr sz="2000" b="1">
                <a:solidFill>
                  <a:srgbClr val="1F2D3A"/>
                </a:solidFill>
              </a:rPr>
              <a:t>MASVS</a:t>
            </a:r>
            <a:r>
              <a:rPr sz="2000" b="0">
                <a:solidFill>
                  <a:srgbClr val="1F2D3A"/>
                </a:solidFill>
              </a:rPr>
              <a:t> is the most practical starting point for your project.</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13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111</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2600" b="1">
                <a:solidFill>
                  <a:srgbClr val="006D77"/>
                </a:solidFill>
              </a:rPr>
              <a:t>The Same Requirement, Four Standards (1) — Data at Rest</a:t>
            </a:r>
          </a:p>
        </p:txBody>
      </p:sp>
      <p:graphicFrame>
        <p:nvGraphicFramePr>
          <p:cNvPr id="7" name="Table 6"/>
          <p:cNvGraphicFramePr>
            <a:graphicFrameLocks noGrp="1"/>
          </p:cNvGraphicFramePr>
          <p:nvPr/>
        </p:nvGraphicFramePr>
        <p:xfrm>
          <a:off x="640080" y="1325880"/>
          <a:ext cx="10911534" cy="2079345"/>
        </p:xfrm>
        <a:graphic>
          <a:graphicData uri="http://schemas.openxmlformats.org/drawingml/2006/table">
            <a:tbl>
              <a:tblPr firstRow="1" bandRow="1">
                <a:tableStyleId>{5C22544A-7EE6-4342-B048-85BDC9FD1C3A}</a:tableStyleId>
              </a:tblPr>
              <a:tblGrid>
                <a:gridCol w="3217503"/>
                <a:gridCol w="7694031"/>
              </a:tblGrid>
              <a:tr h="346557">
                <a:tc>
                  <a:txBody>
                    <a:bodyPr wrap="square"/>
                    <a:lstStyle/>
                    <a:p>
                      <a:r>
                        <a:rPr sz="1296" b="1">
                          <a:solidFill>
                            <a:srgbClr val="FFFFFF"/>
                          </a:solidFill>
                        </a:rPr>
                        <a:t>Standard</a:t>
                      </a:r>
                    </a:p>
                  </a:txBody>
                  <a:tcPr marL="54864" marR="54864" marT="27432" marB="27432" anchor="ctr">
                    <a:solidFill>
                      <a:srgbClr val="006D77"/>
                    </a:solidFill>
                  </a:tcPr>
                </a:tc>
                <a:tc>
                  <a:txBody>
                    <a:bodyPr wrap="square"/>
                    <a:lstStyle/>
                    <a:p>
                      <a:r>
                        <a:rPr sz="1296" b="1">
                          <a:solidFill>
                            <a:srgbClr val="FFFFFF"/>
                          </a:solidFill>
                        </a:rPr>
                        <a:t>Counterpart</a:t>
                      </a:r>
                    </a:p>
                  </a:txBody>
                  <a:tcPr marL="54864" marR="54864" marT="27432" marB="27432" anchor="ctr">
                    <a:solidFill>
                      <a:srgbClr val="006D77"/>
                    </a:solidFill>
                  </a:tcPr>
                </a:tc>
              </a:tr>
              <a:tr h="346557">
                <a:tc>
                  <a:txBody>
                    <a:bodyPr wrap="square"/>
                    <a:lstStyle/>
                    <a:p>
                      <a:r>
                        <a:rPr sz="1296" b="0">
                          <a:solidFill>
                            <a:srgbClr val="1F2D3A"/>
                          </a:solidFill>
                        </a:rPr>
                        <a:t>Common Criteria</a:t>
                      </a:r>
                    </a:p>
                  </a:txBody>
                  <a:tcPr marL="54864" marR="54864" marT="27432" marB="27432" anchor="ctr">
                    <a:solidFill>
                      <a:srgbClr val="FFFFFF"/>
                    </a:solidFill>
                  </a:tcPr>
                </a:tc>
                <a:tc>
                  <a:txBody>
                    <a:bodyPr wrap="square"/>
                    <a:lstStyle/>
                    <a:p>
                      <a:r>
                        <a:rPr sz="1296" b="0">
                          <a:solidFill>
                            <a:srgbClr val="1F2D3A"/>
                          </a:solidFill>
                        </a:rPr>
                        <a:t>FCS + FDP components</a:t>
                      </a:r>
                    </a:p>
                  </a:txBody>
                  <a:tcPr marL="54864" marR="54864" marT="27432" marB="27432" anchor="ctr">
                    <a:solidFill>
                      <a:srgbClr val="FFFFFF"/>
                    </a:solidFill>
                  </a:tcPr>
                </a:tc>
              </a:tr>
              <a:tr h="346557">
                <a:tc>
                  <a:txBody>
                    <a:bodyPr wrap="square"/>
                    <a:lstStyle/>
                    <a:p>
                      <a:r>
                        <a:rPr sz="1296" b="0">
                          <a:solidFill>
                            <a:srgbClr val="1F2D3A"/>
                          </a:solidFill>
                        </a:rPr>
                        <a:t>FIPS 140-3</a:t>
                      </a:r>
                    </a:p>
                  </a:txBody>
                  <a:tcPr marL="54864" marR="54864" marT="27432" marB="27432" anchor="ctr">
                    <a:solidFill>
                      <a:srgbClr val="EEF7F8"/>
                    </a:solidFill>
                  </a:tcPr>
                </a:tc>
                <a:tc>
                  <a:txBody>
                    <a:bodyPr wrap="square"/>
                    <a:lstStyle/>
                    <a:p>
                      <a:r>
                        <a:rPr sz="1296" b="0">
                          <a:solidFill>
                            <a:srgbClr val="1F2D3A"/>
                          </a:solidFill>
                        </a:rPr>
                        <a:t>Level 1: approved algorithm, self-test, zeroization</a:t>
                      </a:r>
                    </a:p>
                  </a:txBody>
                  <a:tcPr marL="54864" marR="54864" marT="27432" marB="27432" anchor="ctr">
                    <a:solidFill>
                      <a:srgbClr val="EEF7F8"/>
                    </a:solidFill>
                  </a:tcPr>
                </a:tc>
              </a:tr>
              <a:tr h="346557">
                <a:tc>
                  <a:txBody>
                    <a:bodyPr wrap="square"/>
                    <a:lstStyle/>
                    <a:p>
                      <a:r>
                        <a:rPr sz="1296" b="0">
                          <a:solidFill>
                            <a:srgbClr val="1F2D3A"/>
                          </a:solidFill>
                        </a:rPr>
                        <a:t>ETSI EN 303 645</a:t>
                      </a:r>
                    </a:p>
                  </a:txBody>
                  <a:tcPr marL="54864" marR="54864" marT="27432" marB="27432" anchor="ctr">
                    <a:solidFill>
                      <a:srgbClr val="FFFFFF"/>
                    </a:solidFill>
                  </a:tcPr>
                </a:tc>
                <a:tc>
                  <a:txBody>
                    <a:bodyPr wrap="square"/>
                    <a:lstStyle/>
                    <a:p>
                      <a:r>
                        <a:rPr sz="1296" b="0">
                          <a:solidFill>
                            <a:srgbClr val="1F2D3A"/>
                          </a:solidFill>
                        </a:rPr>
                        <a:t>Provision 5.4 "Securely store sensitive parameters"</a:t>
                      </a:r>
                    </a:p>
                  </a:txBody>
                  <a:tcPr marL="54864" marR="54864" marT="27432" marB="27432" anchor="ctr">
                    <a:solidFill>
                      <a:srgbClr val="FFFFFF"/>
                    </a:solidFill>
                  </a:tcPr>
                </a:tc>
              </a:tr>
              <a:tr h="346557">
                <a:tc>
                  <a:txBody>
                    <a:bodyPr wrap="square"/>
                    <a:lstStyle/>
                    <a:p>
                      <a:r>
                        <a:rPr sz="1296" b="0">
                          <a:solidFill>
                            <a:srgbClr val="1F2D3A"/>
                          </a:solidFill>
                        </a:rPr>
                        <a:t>OWASP MASVS</a:t>
                      </a:r>
                    </a:p>
                  </a:txBody>
                  <a:tcPr marL="54864" marR="54864" marT="27432" marB="27432" anchor="ctr">
                    <a:solidFill>
                      <a:srgbClr val="EEF7F8"/>
                    </a:solidFill>
                  </a:tcPr>
                </a:tc>
                <a:tc>
                  <a:txBody>
                    <a:bodyPr wrap="square"/>
                    <a:lstStyle/>
                    <a:p>
                      <a:r>
                        <a:rPr sz="1296" b="0">
                          <a:solidFill>
                            <a:srgbClr val="1F2D3A"/>
                          </a:solidFill>
                        </a:rPr>
                        <a:t>MASVS-STORAGE</a:t>
                      </a:r>
                    </a:p>
                  </a:txBody>
                  <a:tcPr marL="54864" marR="54864" marT="27432" marB="27432" anchor="ctr">
                    <a:solidFill>
                      <a:srgbClr val="EEF7F8"/>
                    </a:solidFill>
                  </a:tcPr>
                </a:tc>
              </a:tr>
              <a:tr h="346560">
                <a:tc>
                  <a:txBody>
                    <a:bodyPr wrap="square"/>
                    <a:lstStyle/>
                    <a:p>
                      <a:r>
                        <a:rPr sz="1296" b="0">
                          <a:solidFill>
                            <a:srgbClr val="1F2D3A"/>
                          </a:solidFill>
                        </a:rPr>
                        <a:t>The course's family</a:t>
                      </a:r>
                    </a:p>
                  </a:txBody>
                  <a:tcPr marL="54864" marR="54864" marT="27432" marB="27432" anchor="ctr">
                    <a:solidFill>
                      <a:srgbClr val="FFFFFF"/>
                    </a:solidFill>
                  </a:tcPr>
                </a:tc>
                <a:tc>
                  <a:txBody>
                    <a:bodyPr wrap="square"/>
                    <a:lstStyle/>
                    <a:p>
                      <a:r>
                        <a:rPr sz="1296" b="0">
                          <a:solidFill>
                            <a:srgbClr val="A1123F"/>
                          </a:solidFill>
                          <a:latin typeface="Consolas"/>
                        </a:rPr>
                        <a:t>CEN429-DR-01</a:t>
                      </a:r>
                    </a:p>
                  </a:txBody>
                  <a:tcPr marL="54864" marR="54864" marT="27432" marB="27432" anchor="ctr">
                    <a:solidFill>
                      <a:srgbClr val="FFFFFF"/>
                    </a:solidFill>
                  </a:tcPr>
                </a:tc>
              </a:tr>
            </a:tbl>
          </a:graphicData>
        </a:graphic>
      </p:graphicFrame>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13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112</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2600" b="1">
                <a:solidFill>
                  <a:srgbClr val="006D77"/>
                </a:solidFill>
              </a:rPr>
              <a:t>The Same Requirement, Four Standards (2) — Weak Authentication</a:t>
            </a:r>
          </a:p>
        </p:txBody>
      </p:sp>
      <p:graphicFrame>
        <p:nvGraphicFramePr>
          <p:cNvPr id="7" name="Table 6"/>
          <p:cNvGraphicFramePr>
            <a:graphicFrameLocks noGrp="1"/>
          </p:cNvGraphicFramePr>
          <p:nvPr/>
        </p:nvGraphicFramePr>
        <p:xfrm>
          <a:off x="640080" y="1325880"/>
          <a:ext cx="10911534" cy="2079345"/>
        </p:xfrm>
        <a:graphic>
          <a:graphicData uri="http://schemas.openxmlformats.org/drawingml/2006/table">
            <a:tbl>
              <a:tblPr firstRow="1" bandRow="1">
                <a:tableStyleId>{5C22544A-7EE6-4342-B048-85BDC9FD1C3A}</a:tableStyleId>
              </a:tblPr>
              <a:tblGrid>
                <a:gridCol w="3437880"/>
                <a:gridCol w="7473654"/>
              </a:tblGrid>
              <a:tr h="346557">
                <a:tc>
                  <a:txBody>
                    <a:bodyPr wrap="square"/>
                    <a:lstStyle/>
                    <a:p>
                      <a:r>
                        <a:rPr sz="1296" b="1">
                          <a:solidFill>
                            <a:srgbClr val="FFFFFF"/>
                          </a:solidFill>
                        </a:rPr>
                        <a:t>Standard</a:t>
                      </a:r>
                    </a:p>
                  </a:txBody>
                  <a:tcPr marL="54864" marR="54864" marT="27432" marB="27432" anchor="ctr">
                    <a:solidFill>
                      <a:srgbClr val="006D77"/>
                    </a:solidFill>
                  </a:tcPr>
                </a:tc>
                <a:tc>
                  <a:txBody>
                    <a:bodyPr wrap="square"/>
                    <a:lstStyle/>
                    <a:p>
                      <a:r>
                        <a:rPr sz="1296" b="1">
                          <a:solidFill>
                            <a:srgbClr val="FFFFFF"/>
                          </a:solidFill>
                        </a:rPr>
                        <a:t>Counterpart</a:t>
                      </a:r>
                    </a:p>
                  </a:txBody>
                  <a:tcPr marL="54864" marR="54864" marT="27432" marB="27432" anchor="ctr">
                    <a:solidFill>
                      <a:srgbClr val="006D77"/>
                    </a:solidFill>
                  </a:tcPr>
                </a:tc>
              </a:tr>
              <a:tr h="346557">
                <a:tc>
                  <a:txBody>
                    <a:bodyPr wrap="square"/>
                    <a:lstStyle/>
                    <a:p>
                      <a:r>
                        <a:rPr sz="1296" b="0">
                          <a:solidFill>
                            <a:srgbClr val="1F2D3A"/>
                          </a:solidFill>
                        </a:rPr>
                        <a:t>Common Criteria</a:t>
                      </a:r>
                    </a:p>
                  </a:txBody>
                  <a:tcPr marL="54864" marR="54864" marT="27432" marB="27432" anchor="ctr">
                    <a:solidFill>
                      <a:srgbClr val="FFFFFF"/>
                    </a:solidFill>
                  </a:tcPr>
                </a:tc>
                <a:tc>
                  <a:txBody>
                    <a:bodyPr wrap="square"/>
                    <a:lstStyle/>
                    <a:p>
                      <a:r>
                        <a:rPr sz="1296" b="0">
                          <a:solidFill>
                            <a:srgbClr val="1F2D3A"/>
                          </a:solidFill>
                        </a:rPr>
                        <a:t>FIA components</a:t>
                      </a:r>
                    </a:p>
                  </a:txBody>
                  <a:tcPr marL="54864" marR="54864" marT="27432" marB="27432" anchor="ctr">
                    <a:solidFill>
                      <a:srgbClr val="FFFFFF"/>
                    </a:solidFill>
                  </a:tcPr>
                </a:tc>
              </a:tr>
              <a:tr h="346557">
                <a:tc>
                  <a:txBody>
                    <a:bodyPr wrap="square"/>
                    <a:lstStyle/>
                    <a:p>
                      <a:r>
                        <a:rPr sz="1296" b="0">
                          <a:solidFill>
                            <a:srgbClr val="1F2D3A"/>
                          </a:solidFill>
                        </a:rPr>
                        <a:t>FIPS 140-3</a:t>
                      </a:r>
                    </a:p>
                  </a:txBody>
                  <a:tcPr marL="54864" marR="54864" marT="27432" marB="27432" anchor="ctr">
                    <a:solidFill>
                      <a:srgbClr val="EEF7F8"/>
                    </a:solidFill>
                  </a:tcPr>
                </a:tc>
                <a:tc>
                  <a:txBody>
                    <a:bodyPr wrap="square"/>
                    <a:lstStyle/>
                    <a:p>
                      <a:r>
                        <a:rPr sz="1296" b="0">
                          <a:solidFill>
                            <a:srgbClr val="1F2D3A"/>
                          </a:solidFill>
                        </a:rPr>
                        <a:t>Level 2: role-based authentication</a:t>
                      </a:r>
                    </a:p>
                  </a:txBody>
                  <a:tcPr marL="54864" marR="54864" marT="27432" marB="27432" anchor="ctr">
                    <a:solidFill>
                      <a:srgbClr val="EEF7F8"/>
                    </a:solidFill>
                  </a:tcPr>
                </a:tc>
              </a:tr>
              <a:tr h="346557">
                <a:tc>
                  <a:txBody>
                    <a:bodyPr wrap="square"/>
                    <a:lstStyle/>
                    <a:p>
                      <a:r>
                        <a:rPr sz="1296" b="0">
                          <a:solidFill>
                            <a:srgbClr val="1F2D3A"/>
                          </a:solidFill>
                        </a:rPr>
                        <a:t>ETSI EN 303 645</a:t>
                      </a:r>
                    </a:p>
                  </a:txBody>
                  <a:tcPr marL="54864" marR="54864" marT="27432" marB="27432" anchor="ctr">
                    <a:solidFill>
                      <a:srgbClr val="FFFFFF"/>
                    </a:solidFill>
                  </a:tcPr>
                </a:tc>
                <a:tc>
                  <a:txBody>
                    <a:bodyPr wrap="square"/>
                    <a:lstStyle/>
                    <a:p>
                      <a:r>
                        <a:rPr sz="1296" b="0">
                          <a:solidFill>
                            <a:srgbClr val="1F2D3A"/>
                          </a:solidFill>
                        </a:rPr>
                        <a:t>Provision 5.1 "No universal default passwords"</a:t>
                      </a:r>
                    </a:p>
                  </a:txBody>
                  <a:tcPr marL="54864" marR="54864" marT="27432" marB="27432" anchor="ctr">
                    <a:solidFill>
                      <a:srgbClr val="FFFFFF"/>
                    </a:solidFill>
                  </a:tcPr>
                </a:tc>
              </a:tr>
              <a:tr h="346557">
                <a:tc>
                  <a:txBody>
                    <a:bodyPr wrap="square"/>
                    <a:lstStyle/>
                    <a:p>
                      <a:r>
                        <a:rPr sz="1296" b="0">
                          <a:solidFill>
                            <a:srgbClr val="1F2D3A"/>
                          </a:solidFill>
                        </a:rPr>
                        <a:t>OWASP MASVS</a:t>
                      </a:r>
                    </a:p>
                  </a:txBody>
                  <a:tcPr marL="54864" marR="54864" marT="27432" marB="27432" anchor="ctr">
                    <a:solidFill>
                      <a:srgbClr val="EEF7F8"/>
                    </a:solidFill>
                  </a:tcPr>
                </a:tc>
                <a:tc>
                  <a:txBody>
                    <a:bodyPr wrap="square"/>
                    <a:lstStyle/>
                    <a:p>
                      <a:r>
                        <a:rPr sz="1296" b="0">
                          <a:solidFill>
                            <a:srgbClr val="1F2D3A"/>
                          </a:solidFill>
                        </a:rPr>
                        <a:t>MASVS-AUTH</a:t>
                      </a:r>
                    </a:p>
                  </a:txBody>
                  <a:tcPr marL="54864" marR="54864" marT="27432" marB="27432" anchor="ctr">
                    <a:solidFill>
                      <a:srgbClr val="EEF7F8"/>
                    </a:solidFill>
                  </a:tcPr>
                </a:tc>
              </a:tr>
              <a:tr h="346560">
                <a:tc>
                  <a:txBody>
                    <a:bodyPr wrap="square"/>
                    <a:lstStyle/>
                    <a:p>
                      <a:r>
                        <a:rPr sz="1296" b="0">
                          <a:solidFill>
                            <a:srgbClr val="1F2D3A"/>
                          </a:solidFill>
                        </a:rPr>
                        <a:t>The course's family</a:t>
                      </a:r>
                    </a:p>
                  </a:txBody>
                  <a:tcPr marL="54864" marR="54864" marT="27432" marB="27432" anchor="ctr">
                    <a:solidFill>
                      <a:srgbClr val="FFFFFF"/>
                    </a:solidFill>
                  </a:tcPr>
                </a:tc>
                <a:tc>
                  <a:txBody>
                    <a:bodyPr wrap="square"/>
                    <a:lstStyle/>
                    <a:p>
                      <a:r>
                        <a:rPr sz="1296" b="0">
                          <a:solidFill>
                            <a:srgbClr val="A1123F"/>
                          </a:solidFill>
                          <a:latin typeface="Consolas"/>
                        </a:rPr>
                        <a:t>CEN429-ID-01</a:t>
                      </a:r>
                      <a:r>
                        <a:rPr sz="1296" b="0">
                          <a:solidFill>
                            <a:srgbClr val="1F2D3A"/>
                          </a:solidFill>
                        </a:rPr>
                        <a:t> / </a:t>
                      </a:r>
                      <a:r>
                        <a:rPr sz="1296" b="0">
                          <a:solidFill>
                            <a:srgbClr val="A1123F"/>
                          </a:solidFill>
                          <a:latin typeface="Consolas"/>
                        </a:rPr>
                        <a:t>CEN429-ID-02</a:t>
                      </a:r>
                    </a:p>
                  </a:txBody>
                  <a:tcPr marL="54864" marR="54864" marT="27432" marB="27432" anchor="ctr">
                    <a:solidFill>
                      <a:srgbClr val="FFFFFF"/>
                    </a:solidFill>
                  </a:tcPr>
                </a:tc>
              </a:tr>
            </a:tbl>
          </a:graphicData>
        </a:graphic>
      </p:graphicFrame>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13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113</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2600" b="1">
                <a:solidFill>
                  <a:srgbClr val="006D77"/>
                </a:solidFill>
              </a:rPr>
              <a:t>Overlap and Section 6's Rule</a:t>
            </a:r>
          </a:p>
        </p:txBody>
      </p:sp>
      <p:sp>
        <p:nvSpPr>
          <p:cNvPr id="7" name="TextBox 6"/>
          <p:cNvSpPr txBox="1"/>
          <p:nvPr/>
        </p:nvSpPr>
        <p:spPr>
          <a:xfrm>
            <a:off x="640080" y="1325880"/>
            <a:ext cx="10911535" cy="2354580"/>
          </a:xfrm>
          <a:prstGeom prst="rect">
            <a:avLst/>
          </a:prstGeom>
          <a:noFill/>
        </p:spPr>
        <p:txBody>
          <a:bodyPr wrap="square" lIns="45720" rIns="45720">
            <a:spAutoFit/>
          </a:bodyPr>
          <a:lstStyle/>
          <a:p>
            <a:pPr>
              <a:spcAft>
                <a:spcPts val="300"/>
              </a:spcAft>
            </a:pPr>
            <a:r>
              <a:rPr sz="1800" b="1">
                <a:solidFill>
                  <a:srgbClr val="006D77"/>
                </a:solidFill>
              </a:rPr>
              <a:t>• </a:t>
            </a:r>
            <a:r>
              <a:rPr sz="1800" b="0">
                <a:solidFill>
                  <a:srgbClr val="1F2D3A"/>
                </a:solidFill>
              </a:rPr>
              <a:t>Compliance evidence for one standard can be </a:t>
            </a:r>
            <a:r>
              <a:rPr sz="1800" b="1">
                <a:solidFill>
                  <a:srgbClr val="1F2D3A"/>
                </a:solidFill>
              </a:rPr>
              <a:t>partly reused</a:t>
            </a:r>
            <a:r>
              <a:rPr sz="1800" b="0">
                <a:solidFill>
                  <a:srgbClr val="1F2D3A"/>
                </a:solidFill>
              </a:rPr>
              <a:t> for another — but that doesn't mean "automatically met"; every standard has </a:t>
            </a:r>
            <a:r>
              <a:rPr sz="1800" b="1">
                <a:solidFill>
                  <a:srgbClr val="1F2D3A"/>
                </a:solidFill>
              </a:rPr>
              <a:t>its own additional criteria</a:t>
            </a:r>
            <a:r>
              <a:rPr sz="1800" b="0">
                <a:solidFill>
                  <a:srgbClr val="1F2D3A"/>
                </a:solidFill>
              </a:rPr>
              <a:t>.</a:t>
            </a:r>
          </a:p>
          <a:p>
            <a:pPr>
              <a:spcAft>
                <a:spcPts val="300"/>
              </a:spcAft>
            </a:pPr>
            <a:r>
              <a:rPr sz="1800" b="1">
                <a:solidFill>
                  <a:srgbClr val="006D77"/>
                </a:solidFill>
              </a:rPr>
              <a:t>• </a:t>
            </a:r>
            <a:r>
              <a:rPr sz="1800" b="0">
                <a:solidFill>
                  <a:srgbClr val="1F2D3A"/>
                </a:solidFill>
              </a:rPr>
              <a:t>Mapping the same requirement to several standards (by adding a standard column) speeds up the work; it isn't repeated even if certification changes.</a:t>
            </a:r>
          </a:p>
          <a:p>
            <a:pPr>
              <a:spcAft>
                <a:spcPts val="300"/>
              </a:spcAft>
            </a:pPr>
            <a:r>
              <a:rPr sz="1800" b="1">
                <a:solidFill>
                  <a:srgbClr val="006D77"/>
                </a:solidFill>
              </a:rPr>
              <a:t>• </a:t>
            </a:r>
            <a:r>
              <a:rPr sz="1800" b="0">
                <a:solidFill>
                  <a:srgbClr val="1F2D3A"/>
                </a:solidFill>
              </a:rPr>
              <a:t>"We use a FIPS-validated module, so we also meet MASVS-CRYPTO" is a </a:t>
            </a:r>
            <a:r>
              <a:rPr sz="1800" b="1">
                <a:solidFill>
                  <a:srgbClr val="1F2D3A"/>
                </a:solidFill>
              </a:rPr>
              <a:t>dangerous</a:t>
            </a:r>
            <a:r>
              <a:rPr sz="1800" b="0">
                <a:solidFill>
                  <a:srgbClr val="1F2D3A"/>
                </a:solidFill>
              </a:rPr>
              <a:t> sentence.</a:t>
            </a:r>
          </a:p>
          <a:p>
            <a:pPr>
              <a:spcAft>
                <a:spcPts val="300"/>
              </a:spcAft>
            </a:pPr>
            <a:r>
              <a:rPr sz="1800" b="1">
                <a:solidFill>
                  <a:srgbClr val="006D77"/>
                </a:solidFill>
              </a:rPr>
              <a:t>• </a:t>
            </a:r>
            <a:r>
              <a:rPr sz="1800" b="1">
                <a:solidFill>
                  <a:srgbClr val="1F2D3A"/>
                </a:solidFill>
              </a:rPr>
              <a:t>Rule:</a:t>
            </a:r>
            <a:r>
              <a:rPr sz="1800" b="0">
                <a:solidFill>
                  <a:srgbClr val="1F2D3A"/>
                </a:solidFill>
              </a:rPr>
              <a:t> use overlap to speed up gathering evidence, but check off every standard </a:t>
            </a:r>
            <a:r>
              <a:rPr sz="1800" b="1">
                <a:solidFill>
                  <a:srgbClr val="1F2D3A"/>
                </a:solidFill>
              </a:rPr>
              <a:t>separately</a:t>
            </a:r>
            <a:r>
              <a:rPr sz="1800" b="0">
                <a:solidFill>
                  <a:srgbClr val="1F2D3A"/>
                </a:solidFill>
              </a:rPr>
              <a:t>.</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13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114</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Sector Standards Mapped Onto Our Families (animation)</a:t>
            </a:r>
          </a:p>
        </p:txBody>
      </p:sp>
      <p:pic>
        <p:nvPicPr>
          <p:cNvPr id="7" name="Picture 6" descr="sector-standard-mapping.en.gif"/>
          <p:cNvPicPr>
            <a:picLocks noChangeAspect="1"/>
          </p:cNvPicPr>
          <p:nvPr/>
        </p:nvPicPr>
        <p:blipFill>
          <a:blip r:embed="rId3"/>
          <a:stretch>
            <a:fillRect/>
          </a:stretch>
        </p:blipFill>
        <p:spPr>
          <a:xfrm>
            <a:off x="1497722" y="1325880"/>
            <a:ext cx="9196251" cy="4828032"/>
          </a:xfrm>
          <a:prstGeom prst="rect">
            <a:avLst/>
          </a:prstGeom>
        </p:spPr>
      </p:pic>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13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115</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Sector Standards Mapping — edge case: the family with no GSMA counterpart</a:t>
            </a:r>
          </a:p>
        </p:txBody>
      </p:sp>
      <p:pic>
        <p:nvPicPr>
          <p:cNvPr id="7" name="Picture 6" descr="sector-standard-mapping--edge-gsma-gap.en.gif"/>
          <p:cNvPicPr>
            <a:picLocks noChangeAspect="1"/>
          </p:cNvPicPr>
          <p:nvPr/>
        </p:nvPicPr>
        <p:blipFill>
          <a:blip r:embed="rId3"/>
          <a:stretch>
            <a:fillRect/>
          </a:stretch>
        </p:blipFill>
        <p:spPr>
          <a:xfrm>
            <a:off x="640080" y="1325880"/>
            <a:ext cx="10911535" cy="2975873"/>
          </a:xfrm>
          <a:prstGeom prst="rect">
            <a:avLst/>
          </a:prstGeom>
        </p:spPr>
      </p:pic>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13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116</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Section 6 — Quick Check</a:t>
            </a:r>
          </a:p>
        </p:txBody>
      </p:sp>
      <p:sp>
        <p:nvSpPr>
          <p:cNvPr id="7" name="TextBox 6"/>
          <p:cNvSpPr txBox="1"/>
          <p:nvPr/>
        </p:nvSpPr>
        <p:spPr>
          <a:xfrm>
            <a:off x="640080" y="1325880"/>
            <a:ext cx="10911535" cy="1219200"/>
          </a:xfrm>
          <a:prstGeom prst="rect">
            <a:avLst/>
          </a:prstGeom>
          <a:noFill/>
        </p:spPr>
        <p:txBody>
          <a:bodyPr wrap="square" lIns="45720" rIns="45720">
            <a:spAutoFit/>
          </a:bodyPr>
          <a:lstStyle/>
          <a:p>
            <a:pPr>
              <a:spcAft>
                <a:spcPts val="300"/>
              </a:spcAft>
            </a:pPr>
            <a:r>
              <a:rPr sz="2000" b="1">
                <a:solidFill>
                  <a:srgbClr val="006D77"/>
                </a:solidFill>
              </a:rPr>
              <a:t>1. </a:t>
            </a:r>
            <a:r>
              <a:rPr sz="2000" b="0">
                <a:solidFill>
                  <a:srgbClr val="1F2D3A"/>
                </a:solidFill>
              </a:rPr>
              <a:t>Who is ETSI EN 303 645 for?</a:t>
            </a:r>
          </a:p>
          <a:p>
            <a:pPr>
              <a:spcAft>
                <a:spcPts val="300"/>
              </a:spcAft>
            </a:pPr>
            <a:r>
              <a:rPr sz="2000" b="1">
                <a:solidFill>
                  <a:srgbClr val="006D77"/>
                </a:solidFill>
              </a:rPr>
              <a:t>2. </a:t>
            </a:r>
            <a:r>
              <a:rPr sz="2000" b="0">
                <a:solidFill>
                  <a:srgbClr val="1F2D3A"/>
                </a:solidFill>
              </a:rPr>
              <a:t>Why is MASVS the most suitable for your project?</a:t>
            </a:r>
          </a:p>
          <a:p>
            <a:pPr>
              <a:spcAft>
                <a:spcPts val="300"/>
              </a:spcAft>
            </a:pPr>
            <a:r>
              <a:rPr sz="2000" b="1">
                <a:solidFill>
                  <a:srgbClr val="006D77"/>
                </a:solidFill>
              </a:rPr>
              <a:t>3. </a:t>
            </a:r>
            <a:r>
              <a:rPr sz="2000" b="0">
                <a:solidFill>
                  <a:srgbClr val="1F2D3A"/>
                </a:solidFill>
              </a:rPr>
              <a:t>What is the difference between CC and MASVS?</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13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117</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Section 6 — Answers</a:t>
            </a:r>
          </a:p>
        </p:txBody>
      </p:sp>
      <p:sp>
        <p:nvSpPr>
          <p:cNvPr id="7" name="TextBox 6"/>
          <p:cNvSpPr txBox="1"/>
          <p:nvPr/>
        </p:nvSpPr>
        <p:spPr>
          <a:xfrm>
            <a:off x="640080" y="1325880"/>
            <a:ext cx="10911535" cy="2209800"/>
          </a:xfrm>
          <a:prstGeom prst="rect">
            <a:avLst/>
          </a:prstGeom>
          <a:noFill/>
        </p:spPr>
        <p:txBody>
          <a:bodyPr wrap="square" lIns="45720" rIns="45720">
            <a:spAutoFit/>
          </a:bodyPr>
          <a:lstStyle/>
          <a:p>
            <a:pPr>
              <a:spcAft>
                <a:spcPts val="300"/>
              </a:spcAft>
            </a:pPr>
            <a:r>
              <a:rPr sz="2000" b="1">
                <a:solidFill>
                  <a:srgbClr val="006D77"/>
                </a:solidFill>
              </a:rPr>
              <a:t>1. </a:t>
            </a:r>
            <a:r>
              <a:rPr sz="2000" b="0">
                <a:solidFill>
                  <a:srgbClr val="1F2D3A"/>
                </a:solidFill>
              </a:rPr>
              <a:t>Baseline security for consumer </a:t>
            </a:r>
            <a:r>
              <a:rPr sz="2000" b="1">
                <a:solidFill>
                  <a:srgbClr val="1F2D3A"/>
                </a:solidFill>
              </a:rPr>
              <a:t>IoT</a:t>
            </a:r>
            <a:r>
              <a:rPr sz="2000" b="0">
                <a:solidFill>
                  <a:srgbClr val="1F2D3A"/>
                </a:solidFill>
              </a:rPr>
              <a:t> devices (no default passwords, updates, secure communication…).</a:t>
            </a:r>
          </a:p>
          <a:p>
            <a:pPr>
              <a:spcAft>
                <a:spcPts val="300"/>
              </a:spcAft>
            </a:pPr>
            <a:r>
              <a:rPr sz="2000" b="1">
                <a:solidFill>
                  <a:srgbClr val="006D77"/>
                </a:solidFill>
              </a:rPr>
              <a:t>2. </a:t>
            </a:r>
            <a:r>
              <a:rPr sz="2000" b="0">
                <a:solidFill>
                  <a:srgbClr val="1F2D3A"/>
                </a:solidFill>
              </a:rPr>
              <a:t>The project is application-focused; </a:t>
            </a:r>
            <a:r>
              <a:rPr sz="2000" b="1">
                <a:solidFill>
                  <a:srgbClr val="1F2D3A"/>
                </a:solidFill>
              </a:rPr>
              <a:t>MASVS</a:t>
            </a:r>
            <a:r>
              <a:rPr sz="2000" b="0">
                <a:solidFill>
                  <a:srgbClr val="1F2D3A"/>
                </a:solidFill>
              </a:rPr>
              <a:t> has concrete, checkable items + the </a:t>
            </a:r>
            <a:r>
              <a:rPr sz="2000" b="1">
                <a:solidFill>
                  <a:srgbClr val="1F2D3A"/>
                </a:solidFill>
              </a:rPr>
              <a:t>MASTG</a:t>
            </a:r>
            <a:r>
              <a:rPr sz="2000" b="0">
                <a:solidFill>
                  <a:srgbClr val="1F2D3A"/>
                </a:solidFill>
              </a:rPr>
              <a:t> test guide → directly applicable.</a:t>
            </a:r>
          </a:p>
          <a:p>
            <a:pPr>
              <a:spcAft>
                <a:spcPts val="300"/>
              </a:spcAft>
            </a:pPr>
            <a:r>
              <a:rPr sz="2000" b="1">
                <a:solidFill>
                  <a:srgbClr val="006D77"/>
                </a:solidFill>
              </a:rPr>
              <a:t>3. </a:t>
            </a:r>
            <a:r>
              <a:rPr sz="2000" b="1">
                <a:solidFill>
                  <a:srgbClr val="1F2D3A"/>
                </a:solidFill>
              </a:rPr>
              <a:t>CC</a:t>
            </a:r>
            <a:r>
              <a:rPr sz="2000" b="0">
                <a:solidFill>
                  <a:srgbClr val="1F2D3A"/>
                </a:solidFill>
              </a:rPr>
              <a:t> is heavy, accredited lab/certificate (EAL); </a:t>
            </a:r>
            <a:r>
              <a:rPr sz="2000" b="1">
                <a:solidFill>
                  <a:srgbClr val="1F2D3A"/>
                </a:solidFill>
              </a:rPr>
              <a:t>MASVS</a:t>
            </a:r>
            <a:r>
              <a:rPr sz="2000" b="0">
                <a:solidFill>
                  <a:srgbClr val="1F2D3A"/>
                </a:solidFill>
              </a:rPr>
              <a:t> is a light, open, developer-friendly </a:t>
            </a:r>
            <a:r>
              <a:rPr sz="2000" b="1">
                <a:solidFill>
                  <a:srgbClr val="1F2D3A"/>
                </a:solidFill>
              </a:rPr>
              <a:t>self-assessment</a:t>
            </a:r>
            <a:r>
              <a:rPr sz="2000" b="0">
                <a:solidFill>
                  <a:srgbClr val="1F2D3A"/>
                </a:solidFill>
              </a:rPr>
              <a:t> standard.</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bg>
      <p:bgPr>
        <a:solidFill>
          <a:srgbClr val="006D77"/>
        </a:solidFill>
        <a:effectLst/>
      </p:bgPr>
    </p:bg>
    <p:spTree>
      <p:nvGrpSpPr>
        <p:cNvPr id="1" name=""/>
        <p:cNvGrpSpPr/>
        <p:nvPr/>
      </p:nvGrpSpPr>
      <p:grpSpPr/>
      <p:sp>
        <p:nvSpPr>
          <p:cNvPr id="2" name="TextBox 1"/>
          <p:cNvSpPr txBox="1"/>
          <p:nvPr/>
        </p:nvSpPr>
        <p:spPr>
          <a:xfrm>
            <a:off x="1051560" y="182880"/>
            <a:ext cx="7315200" cy="320040"/>
          </a:xfrm>
          <a:prstGeom prst="rect">
            <a:avLst/>
          </a:prstGeom>
          <a:noFill/>
        </p:spPr>
        <p:txBody>
          <a:bodyPr wrap="square" lIns="45720" rIns="45720">
            <a:spAutoFit/>
          </a:bodyPr>
          <a:lstStyle/>
          <a:p>
            <a:r>
              <a:rPr sz="1100" b="0">
                <a:solidFill>
                  <a:srgbClr val="D8F0F2"/>
                </a:solidFill>
              </a:rPr>
              <a:t>CEN429 Secure Programming · Week 13</a:t>
            </a:r>
          </a:p>
        </p:txBody>
      </p:sp>
      <p:sp>
        <p:nvSpPr>
          <p:cNvPr id="3" name="TextBox 2"/>
          <p:cNvSpPr txBox="1"/>
          <p:nvPr/>
        </p:nvSpPr>
        <p:spPr>
          <a:xfrm>
            <a:off x="640080" y="6446520"/>
            <a:ext cx="7315200" cy="274320"/>
          </a:xfrm>
          <a:prstGeom prst="rect">
            <a:avLst/>
          </a:prstGeom>
          <a:noFill/>
        </p:spPr>
        <p:txBody>
          <a:bodyPr wrap="square" lIns="45720" rIns="45720">
            <a:spAutoFit/>
          </a:bodyPr>
          <a:lstStyle/>
          <a:p>
            <a:r>
              <a:rPr sz="1000" b="0">
                <a:solidFill>
                  <a:srgbClr val="D8F0F2"/>
                </a:solidFill>
              </a:rPr>
              <a:t>RTEU Computer Engineering · 2026-2027 Fall</a:t>
            </a:r>
          </a:p>
        </p:txBody>
      </p:sp>
      <p:sp>
        <p:nvSpPr>
          <p:cNvPr id="4" name="TextBox 3"/>
          <p:cNvSpPr txBox="1"/>
          <p:nvPr/>
        </p:nvSpPr>
        <p:spPr>
          <a:xfrm>
            <a:off x="10637215" y="6446520"/>
            <a:ext cx="914400" cy="274320"/>
          </a:xfrm>
          <a:prstGeom prst="rect">
            <a:avLst/>
          </a:prstGeom>
          <a:noFill/>
        </p:spPr>
        <p:txBody>
          <a:bodyPr wrap="square" lIns="45720" rIns="45720">
            <a:spAutoFit/>
          </a:bodyPr>
          <a:lstStyle/>
          <a:p>
            <a:pPr algn="r"/>
            <a:r>
              <a:rPr sz="1000" b="0">
                <a:solidFill>
                  <a:srgbClr val="D8F0F2"/>
                </a:solidFill>
              </a:rPr>
              <a:t>118</a:t>
            </a:r>
          </a:p>
        </p:txBody>
      </p:sp>
      <p:sp>
        <p:nvSpPr>
          <p:cNvPr id="5" name="TextBox 4"/>
          <p:cNvSpPr txBox="1"/>
          <p:nvPr/>
        </p:nvSpPr>
        <p:spPr>
          <a:xfrm>
            <a:off x="640080" y="2743200"/>
            <a:ext cx="10911535" cy="1280160"/>
          </a:xfrm>
          <a:prstGeom prst="rect">
            <a:avLst/>
          </a:prstGeom>
          <a:noFill/>
        </p:spPr>
        <p:txBody>
          <a:bodyPr wrap="square" lIns="45720" rIns="45720">
            <a:spAutoFit/>
          </a:bodyPr>
          <a:lstStyle/>
          <a:p>
            <a:pPr algn="l"/>
            <a:r>
              <a:rPr sz="4000" b="1">
                <a:solidFill>
                  <a:srgbClr val="FFFFFF"/>
                </a:solidFill>
              </a:rPr>
              <a:t>7. Carrying Requirements Into the Software Plan and Asset Management</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13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119</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Compliance Matrix Structure — Diagram</a:t>
            </a:r>
          </a:p>
        </p:txBody>
      </p:sp>
      <p:pic>
        <p:nvPicPr>
          <p:cNvPr id="7" name="Picture 6" descr="h13-10-uyum-matrisi.png"/>
          <p:cNvPicPr>
            <a:picLocks noChangeAspect="1"/>
          </p:cNvPicPr>
          <p:nvPr/>
        </p:nvPicPr>
        <p:blipFill>
          <a:blip r:embed="rId3"/>
          <a:stretch>
            <a:fillRect/>
          </a:stretch>
        </p:blipFill>
        <p:spPr>
          <a:xfrm>
            <a:off x="2167585" y="1325880"/>
            <a:ext cx="7856524" cy="4828032"/>
          </a:xfrm>
          <a:prstGeom prst="rect">
            <a:avLst/>
          </a:prstGeom>
        </p:spPr>
      </p:pic>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13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120</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Requirement Carry-Over Decision — Diagram</a:t>
            </a:r>
          </a:p>
        </p:txBody>
      </p:sp>
      <p:pic>
        <p:nvPicPr>
          <p:cNvPr id="7" name="Picture 6" descr="h13-02-gereksinim-karari.png"/>
          <p:cNvPicPr>
            <a:picLocks noChangeAspect="1"/>
          </p:cNvPicPr>
          <p:nvPr/>
        </p:nvPicPr>
        <p:blipFill>
          <a:blip r:embed="rId3"/>
          <a:stretch>
            <a:fillRect/>
          </a:stretch>
        </p:blipFill>
        <p:spPr>
          <a:xfrm>
            <a:off x="2630998" y="1325880"/>
            <a:ext cx="6929698" cy="4828032"/>
          </a:xfrm>
          <a:prstGeom prst="rect">
            <a:avLst/>
          </a:prstGeom>
        </p:spPr>
      </p:pic>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13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121</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Requirement → Asset → Control</a:t>
            </a:r>
          </a:p>
        </p:txBody>
      </p:sp>
      <p:pic>
        <p:nvPicPr>
          <p:cNvPr id="7" name="Picture 6" descr="h13-05-gereksinim-blogu.png"/>
          <p:cNvPicPr>
            <a:picLocks noChangeAspect="1"/>
          </p:cNvPicPr>
          <p:nvPr/>
        </p:nvPicPr>
        <p:blipFill>
          <a:blip r:embed="rId3"/>
          <a:stretch>
            <a:fillRect/>
          </a:stretch>
        </p:blipFill>
        <p:spPr>
          <a:xfrm>
            <a:off x="3261264" y="1325880"/>
            <a:ext cx="5669166" cy="4278376"/>
          </a:xfrm>
          <a:prstGeom prst="rect">
            <a:avLst/>
          </a:prstGeom>
        </p:spPr>
      </p:pic>
      <p:sp>
        <p:nvSpPr>
          <p:cNvPr id="8" name="TextBox 7"/>
          <p:cNvSpPr txBox="1"/>
          <p:nvPr/>
        </p:nvSpPr>
        <p:spPr>
          <a:xfrm>
            <a:off x="640080" y="5713984"/>
            <a:ext cx="10911535" cy="439928"/>
          </a:xfrm>
          <a:prstGeom prst="rect">
            <a:avLst/>
          </a:prstGeom>
          <a:noFill/>
        </p:spPr>
        <p:txBody>
          <a:bodyPr wrap="square" lIns="45720" rIns="45720">
            <a:spAutoFit/>
          </a:bodyPr>
          <a:lstStyle/>
          <a:p>
            <a:pPr algn="l"/>
            <a:r>
              <a:rPr sz="2000" b="0">
                <a:solidFill>
                  <a:srgbClr val="1F2D3A"/>
                </a:solidFill>
              </a:rPr>
              <a:t>Every requirement is linked to an </a:t>
            </a:r>
            <a:r>
              <a:rPr sz="2000" b="1">
                <a:solidFill>
                  <a:srgbClr val="1F2D3A"/>
                </a:solidFill>
              </a:rPr>
              <a:t>asset</a:t>
            </a:r>
            <a:r>
              <a:rPr sz="2000" b="0">
                <a:solidFill>
                  <a:srgbClr val="1F2D3A"/>
                </a:solidFill>
              </a:rPr>
              <a:t> and to a </a:t>
            </a:r>
            <a:r>
              <a:rPr sz="2000" b="1">
                <a:solidFill>
                  <a:srgbClr val="1F2D3A"/>
                </a:solidFill>
              </a:rPr>
              <a:t>control</a:t>
            </a:r>
            <a:r>
              <a:rPr sz="2000" b="0">
                <a:solidFill>
                  <a:srgbClr val="1F2D3A"/>
                </a:solidFill>
              </a:rPr>
              <a:t>.</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13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122</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The Link to Asset Management</a:t>
            </a:r>
          </a:p>
        </p:txBody>
      </p:sp>
      <p:sp>
        <p:nvSpPr>
          <p:cNvPr id="7" name="TextBox 6"/>
          <p:cNvSpPr txBox="1"/>
          <p:nvPr/>
        </p:nvSpPr>
        <p:spPr>
          <a:xfrm>
            <a:off x="640080" y="1325880"/>
            <a:ext cx="10911535" cy="1219200"/>
          </a:xfrm>
          <a:prstGeom prst="rect">
            <a:avLst/>
          </a:prstGeom>
          <a:noFill/>
        </p:spPr>
        <p:txBody>
          <a:bodyPr wrap="square" lIns="45720" rIns="45720">
            <a:spAutoFit/>
          </a:bodyPr>
          <a:lstStyle/>
          <a:p>
            <a:pPr>
              <a:spcAft>
                <a:spcPts val="300"/>
              </a:spcAft>
            </a:pPr>
            <a:r>
              <a:rPr sz="2000" b="1">
                <a:solidFill>
                  <a:srgbClr val="006D77"/>
                </a:solidFill>
              </a:rPr>
              <a:t>• </a:t>
            </a:r>
            <a:r>
              <a:rPr sz="2000" b="0">
                <a:solidFill>
                  <a:srgbClr val="1F2D3A"/>
                </a:solidFill>
              </a:rPr>
              <a:t>Requirements are linked to the S5 </a:t>
            </a:r>
            <a:r>
              <a:rPr sz="2000" b="1">
                <a:solidFill>
                  <a:srgbClr val="1F2D3A"/>
                </a:solidFill>
              </a:rPr>
              <a:t>asset list</a:t>
            </a:r>
            <a:r>
              <a:rPr sz="2000" b="0">
                <a:solidFill>
                  <a:srgbClr val="1F2D3A"/>
                </a:solidFill>
              </a:rPr>
              <a:t>.</a:t>
            </a:r>
          </a:p>
          <a:p>
            <a:pPr>
              <a:spcAft>
                <a:spcPts val="300"/>
              </a:spcAft>
            </a:pPr>
            <a:r>
              <a:rPr sz="2000" b="1">
                <a:solidFill>
                  <a:srgbClr val="006D77"/>
                </a:solidFill>
              </a:rPr>
              <a:t>• </a:t>
            </a:r>
            <a:r>
              <a:rPr sz="2000" b="0">
                <a:solidFill>
                  <a:srgbClr val="1F2D3A"/>
                </a:solidFill>
              </a:rPr>
              <a:t>Every asset: C/I/I+ label, protection control.</a:t>
            </a:r>
          </a:p>
          <a:p>
            <a:pPr>
              <a:spcAft>
                <a:spcPts val="300"/>
              </a:spcAft>
            </a:pPr>
            <a:r>
              <a:rPr sz="2000" b="1">
                <a:solidFill>
                  <a:srgbClr val="006D77"/>
                </a:solidFill>
              </a:rPr>
              <a:t>• </a:t>
            </a:r>
            <a:r>
              <a:rPr sz="2000" b="0">
                <a:solidFill>
                  <a:srgbClr val="1F2D3A"/>
                </a:solidFill>
              </a:rPr>
              <a:t>The requirement makes that protection </a:t>
            </a:r>
            <a:r>
              <a:rPr sz="2000" b="1">
                <a:solidFill>
                  <a:srgbClr val="1F2D3A"/>
                </a:solidFill>
              </a:rPr>
              <a:t>mandatory</a:t>
            </a:r>
            <a:r>
              <a:rPr sz="2000" b="0">
                <a:solidFill>
                  <a:srgbClr val="1F2D3A"/>
                </a:solidFill>
              </a:rPr>
              <a:t>.</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13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123</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Carrying It Into the Plan</a:t>
            </a:r>
          </a:p>
        </p:txBody>
      </p:sp>
      <p:sp>
        <p:nvSpPr>
          <p:cNvPr id="7" name="TextBox 6"/>
          <p:cNvSpPr txBox="1"/>
          <p:nvPr/>
        </p:nvSpPr>
        <p:spPr>
          <a:xfrm>
            <a:off x="640080" y="1325880"/>
            <a:ext cx="10911535" cy="1219200"/>
          </a:xfrm>
          <a:prstGeom prst="rect">
            <a:avLst/>
          </a:prstGeom>
          <a:noFill/>
        </p:spPr>
        <p:txBody>
          <a:bodyPr wrap="square" lIns="45720" rIns="45720">
            <a:spAutoFit/>
          </a:bodyPr>
          <a:lstStyle/>
          <a:p>
            <a:pPr>
              <a:spcAft>
                <a:spcPts val="300"/>
              </a:spcAft>
            </a:pPr>
            <a:r>
              <a:rPr sz="2000" b="1">
                <a:solidFill>
                  <a:srgbClr val="006D77"/>
                </a:solidFill>
              </a:rPr>
              <a:t>• </a:t>
            </a:r>
            <a:r>
              <a:rPr sz="2000" b="0">
                <a:solidFill>
                  <a:srgbClr val="1F2D3A"/>
                </a:solidFill>
              </a:rPr>
              <a:t>Functional requirement → design/code (S6–S11).</a:t>
            </a:r>
          </a:p>
          <a:p>
            <a:pPr>
              <a:spcAft>
                <a:spcPts val="300"/>
              </a:spcAft>
            </a:pPr>
            <a:r>
              <a:rPr sz="2000" b="1">
                <a:solidFill>
                  <a:srgbClr val="006D77"/>
                </a:solidFill>
              </a:rPr>
              <a:t>• </a:t>
            </a:r>
            <a:r>
              <a:rPr sz="2000" b="0">
                <a:solidFill>
                  <a:srgbClr val="1F2D3A"/>
                </a:solidFill>
              </a:rPr>
              <a:t>Assurance requirement → test (S16).</a:t>
            </a:r>
          </a:p>
          <a:p>
            <a:pPr>
              <a:spcAft>
                <a:spcPts val="300"/>
              </a:spcAft>
            </a:pPr>
            <a:r>
              <a:rPr sz="2000" b="1">
                <a:solidFill>
                  <a:srgbClr val="006D77"/>
                </a:solidFill>
              </a:rPr>
              <a:t>• </a:t>
            </a:r>
            <a:r>
              <a:rPr sz="2000" b="0">
                <a:solidFill>
                  <a:srgbClr val="1F2D3A"/>
                </a:solidFill>
              </a:rPr>
              <a:t>Process requirement → development process (S13).</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13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124</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Worked Example · Applying the Six Steps to CR-03</a:t>
            </a:r>
          </a:p>
        </p:txBody>
      </p:sp>
      <p:sp>
        <p:nvSpPr>
          <p:cNvPr id="7" name="TextBox 6"/>
          <p:cNvSpPr txBox="1"/>
          <p:nvPr/>
        </p:nvSpPr>
        <p:spPr>
          <a:xfrm>
            <a:off x="640080" y="1325880"/>
            <a:ext cx="10911535" cy="439928"/>
          </a:xfrm>
          <a:prstGeom prst="rect">
            <a:avLst/>
          </a:prstGeom>
          <a:noFill/>
        </p:spPr>
        <p:txBody>
          <a:bodyPr wrap="square" lIns="45720" rIns="45720">
            <a:spAutoFit/>
          </a:bodyPr>
          <a:lstStyle/>
          <a:p>
            <a:pPr algn="l"/>
            <a:r>
              <a:rPr sz="2000" b="0">
                <a:solidFill>
                  <a:srgbClr val="A1123F"/>
                </a:solidFill>
                <a:latin typeface="Consolas"/>
              </a:rPr>
              <a:t>CEN429-CR-03</a:t>
            </a:r>
            <a:r>
              <a:rPr sz="2000" b="0">
                <a:solidFill>
                  <a:srgbClr val="1F2D3A"/>
                </a:solidFill>
              </a:rPr>
              <a:t> ("keys must be erased once their job is done"):</a:t>
            </a:r>
          </a:p>
        </p:txBody>
      </p:sp>
      <p:sp>
        <p:nvSpPr>
          <p:cNvPr id="8" name="TextBox 7"/>
          <p:cNvSpPr txBox="1"/>
          <p:nvPr/>
        </p:nvSpPr>
        <p:spPr>
          <a:xfrm>
            <a:off x="640080" y="1875536"/>
            <a:ext cx="10911535" cy="1549400"/>
          </a:xfrm>
          <a:prstGeom prst="rect">
            <a:avLst/>
          </a:prstGeom>
          <a:noFill/>
        </p:spPr>
        <p:txBody>
          <a:bodyPr wrap="square" lIns="45720" rIns="45720">
            <a:spAutoFit/>
          </a:bodyPr>
          <a:lstStyle/>
          <a:p>
            <a:pPr>
              <a:spcAft>
                <a:spcPts val="300"/>
              </a:spcAft>
            </a:pPr>
            <a:r>
              <a:rPr sz="2000" b="1">
                <a:solidFill>
                  <a:srgbClr val="006D77"/>
                </a:solidFill>
              </a:rPr>
              <a:t>• </a:t>
            </a:r>
            <a:r>
              <a:rPr sz="2000" b="1">
                <a:solidFill>
                  <a:srgbClr val="1F2D3A"/>
                </a:solidFill>
              </a:rPr>
              <a:t>1. Applicability:</a:t>
            </a:r>
            <a:r>
              <a:rPr sz="2000" b="0">
                <a:solidFill>
                  <a:srgbClr val="1F2D3A"/>
                </a:solidFill>
              </a:rPr>
              <a:t> there's a session key and a vault-file key → it applies.</a:t>
            </a:r>
          </a:p>
          <a:p>
            <a:pPr>
              <a:spcAft>
                <a:spcPts val="300"/>
              </a:spcAft>
            </a:pPr>
            <a:r>
              <a:rPr sz="2000" b="1">
                <a:solidFill>
                  <a:srgbClr val="006D77"/>
                </a:solidFill>
              </a:rPr>
              <a:t>• </a:t>
            </a:r>
            <a:r>
              <a:rPr sz="2000" b="1">
                <a:solidFill>
                  <a:srgbClr val="1F2D3A"/>
                </a:solidFill>
              </a:rPr>
              <a:t>2. Responsibility:</a:t>
            </a:r>
            <a:r>
              <a:rPr sz="2000" b="0">
                <a:solidFill>
                  <a:srgbClr val="1F2D3A"/>
                </a:solidFill>
              </a:rPr>
              <a:t> the code is the project's own → we meet it ourselves.</a:t>
            </a:r>
          </a:p>
          <a:p>
            <a:pPr>
              <a:spcAft>
                <a:spcPts val="300"/>
              </a:spcAft>
            </a:pPr>
            <a:r>
              <a:rPr sz="2000" b="1">
                <a:solidFill>
                  <a:srgbClr val="006D77"/>
                </a:solidFill>
              </a:rPr>
              <a:t>• </a:t>
            </a:r>
            <a:r>
              <a:rPr sz="2000" b="1">
                <a:solidFill>
                  <a:srgbClr val="1F2D3A"/>
                </a:solidFill>
              </a:rPr>
              <a:t>3. Linking to assets:</a:t>
            </a:r>
            <a:r>
              <a:rPr sz="2000" b="0">
                <a:solidFill>
                  <a:srgbClr val="1F2D3A"/>
                </a:solidFill>
              </a:rPr>
              <a:t> the vault-file key's "erasure" column is empty — </a:t>
            </a:r>
            <a:r>
              <a:rPr sz="2000" b="1">
                <a:solidFill>
                  <a:srgbClr val="1F2D3A"/>
                </a:solidFill>
              </a:rPr>
              <a:t>the gap is noticed here</a:t>
            </a:r>
            <a:r>
              <a:rPr sz="2000" b="0">
                <a:solidFill>
                  <a:srgbClr val="1F2D3A"/>
                </a:solidFill>
              </a:rPr>
              <a:t>.</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13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125</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The Same Example · From Threat to Release Plan</a:t>
            </a:r>
          </a:p>
        </p:txBody>
      </p:sp>
      <p:sp>
        <p:nvSpPr>
          <p:cNvPr id="7" name="TextBox 6"/>
          <p:cNvSpPr txBox="1"/>
          <p:nvPr/>
        </p:nvSpPr>
        <p:spPr>
          <a:xfrm>
            <a:off x="640080" y="1325880"/>
            <a:ext cx="10911535" cy="2209800"/>
          </a:xfrm>
          <a:prstGeom prst="rect">
            <a:avLst/>
          </a:prstGeom>
          <a:noFill/>
        </p:spPr>
        <p:txBody>
          <a:bodyPr wrap="square" lIns="45720" rIns="45720">
            <a:spAutoFit/>
          </a:bodyPr>
          <a:lstStyle/>
          <a:p>
            <a:pPr>
              <a:spcAft>
                <a:spcPts val="300"/>
              </a:spcAft>
            </a:pPr>
            <a:r>
              <a:rPr sz="2000" b="1">
                <a:solidFill>
                  <a:srgbClr val="006D77"/>
                </a:solidFill>
              </a:rPr>
              <a:t>• </a:t>
            </a:r>
            <a:r>
              <a:rPr sz="2000" b="1">
                <a:solidFill>
                  <a:srgbClr val="1F2D3A"/>
                </a:solidFill>
              </a:rPr>
              <a:t>4. Linking to threats:</a:t>
            </a:r>
            <a:r>
              <a:rPr sz="2000" b="0">
                <a:solidFill>
                  <a:srgbClr val="1F2D3A"/>
                </a:solidFill>
              </a:rPr>
              <a:t> links to the threat "an attacker with physical access takes a memory dump."</a:t>
            </a:r>
          </a:p>
          <a:p>
            <a:pPr>
              <a:spcAft>
                <a:spcPts val="300"/>
              </a:spcAft>
            </a:pPr>
            <a:r>
              <a:rPr sz="2000" b="1">
                <a:solidFill>
                  <a:srgbClr val="006D77"/>
                </a:solidFill>
              </a:rPr>
              <a:t>• </a:t>
            </a:r>
            <a:r>
              <a:rPr sz="2000" b="1">
                <a:solidFill>
                  <a:srgbClr val="1F2D3A"/>
                </a:solidFill>
              </a:rPr>
              <a:t>5. Control/verification:</a:t>
            </a:r>
            <a:r>
              <a:rPr sz="2000" b="0">
                <a:solidFill>
                  <a:srgbClr val="1F2D3A"/>
                </a:solidFill>
              </a:rPr>
              <a:t> the </a:t>
            </a:r>
            <a:r>
              <a:rPr sz="2000" b="0">
                <a:solidFill>
                  <a:srgbClr val="A1123F"/>
                </a:solidFill>
                <a:latin typeface="Consolas"/>
              </a:rPr>
              <a:t>crypto_wipe()</a:t>
            </a:r>
            <a:r>
              <a:rPr sz="2000" b="0">
                <a:solidFill>
                  <a:srgbClr val="1F2D3A"/>
                </a:solidFill>
              </a:rPr>
              <a:t> call; verification: showing the key's bytes are </a:t>
            </a:r>
            <a:r>
              <a:rPr sz="2000" b="1">
                <a:solidFill>
                  <a:srgbClr val="1F2D3A"/>
                </a:solidFill>
              </a:rPr>
              <a:t>not present</a:t>
            </a:r>
            <a:r>
              <a:rPr sz="2000" b="0">
                <a:solidFill>
                  <a:srgbClr val="1F2D3A"/>
                </a:solidFill>
              </a:rPr>
              <a:t> in a memory dump.</a:t>
            </a:r>
          </a:p>
          <a:p>
            <a:pPr>
              <a:spcAft>
                <a:spcPts val="300"/>
              </a:spcAft>
            </a:pPr>
            <a:r>
              <a:rPr sz="2000" b="1">
                <a:solidFill>
                  <a:srgbClr val="006D77"/>
                </a:solidFill>
              </a:rPr>
              <a:t>• </a:t>
            </a:r>
            <a:r>
              <a:rPr sz="2000" b="1">
                <a:solidFill>
                  <a:srgbClr val="1F2D3A"/>
                </a:solidFill>
              </a:rPr>
              <a:t>6. Release plan:</a:t>
            </a:r>
            <a:r>
              <a:rPr sz="2000" b="0">
                <a:solidFill>
                  <a:srgbClr val="1F2D3A"/>
                </a:solidFill>
              </a:rPr>
              <a:t> the session key was met in v0.9; the vault-file key is planned for v1.0, and until then written as </a:t>
            </a:r>
            <a:r>
              <a:rPr sz="2000" b="1">
                <a:solidFill>
                  <a:srgbClr val="1F2D3A"/>
                </a:solidFill>
              </a:rPr>
              <a:t>not met</a:t>
            </a:r>
            <a:r>
              <a:rPr sz="2000" b="0">
                <a:solidFill>
                  <a:srgbClr val="1F2D3A"/>
                </a:solidFill>
              </a:rPr>
              <a:t> + residual risk.</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13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126</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Carrying a Requirement Into the Plan (animation)</a:t>
            </a:r>
          </a:p>
        </p:txBody>
      </p:sp>
      <p:pic>
        <p:nvPicPr>
          <p:cNvPr id="7" name="Picture 6" descr="requirements-to-plan.en.gif"/>
          <p:cNvPicPr>
            <a:picLocks noChangeAspect="1"/>
          </p:cNvPicPr>
          <p:nvPr/>
        </p:nvPicPr>
        <p:blipFill>
          <a:blip r:embed="rId3"/>
          <a:stretch>
            <a:fillRect/>
          </a:stretch>
        </p:blipFill>
        <p:spPr>
          <a:xfrm>
            <a:off x="1830116" y="1325880"/>
            <a:ext cx="8531462" cy="4828032"/>
          </a:xfrm>
          <a:prstGeom prst="rect">
            <a:avLst/>
          </a:prstGeom>
        </p:spPr>
      </p:pic>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13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127</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Carrying a Requirement Into the Plan — edge case: not applicable</a:t>
            </a:r>
          </a:p>
        </p:txBody>
      </p:sp>
      <p:pic>
        <p:nvPicPr>
          <p:cNvPr id="7" name="Picture 6" descr="requirements-to-plan--edge-not-applicable.en.gif"/>
          <p:cNvPicPr>
            <a:picLocks noChangeAspect="1"/>
          </p:cNvPicPr>
          <p:nvPr/>
        </p:nvPicPr>
        <p:blipFill>
          <a:blip r:embed="rId3"/>
          <a:stretch>
            <a:fillRect/>
          </a:stretch>
        </p:blipFill>
        <p:spPr>
          <a:xfrm>
            <a:off x="1385572" y="1325880"/>
            <a:ext cx="9420550" cy="4828032"/>
          </a:xfrm>
          <a:prstGeom prst="rect">
            <a:avLst/>
          </a:prstGeom>
        </p:spPr>
      </p:pic>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13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128</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2600" b="1">
                <a:solidFill>
                  <a:srgbClr val="006D77"/>
                </a:solidFill>
              </a:rPr>
              <a:t>Section 7's Rule</a:t>
            </a:r>
          </a:p>
        </p:txBody>
      </p:sp>
      <p:sp>
        <p:nvSpPr>
          <p:cNvPr id="7" name="TextBox 6"/>
          <p:cNvSpPr txBox="1"/>
          <p:nvPr/>
        </p:nvSpPr>
        <p:spPr>
          <a:xfrm>
            <a:off x="640080" y="1325880"/>
            <a:ext cx="10911535" cy="1714500"/>
          </a:xfrm>
          <a:prstGeom prst="rect">
            <a:avLst/>
          </a:prstGeom>
          <a:noFill/>
        </p:spPr>
        <p:txBody>
          <a:bodyPr wrap="square" lIns="45720" rIns="45720">
            <a:spAutoFit/>
          </a:bodyPr>
          <a:lstStyle/>
          <a:p>
            <a:pPr>
              <a:spcAft>
                <a:spcPts val="300"/>
              </a:spcAft>
            </a:pPr>
            <a:r>
              <a:rPr sz="1800" b="1">
                <a:solidFill>
                  <a:srgbClr val="006D77"/>
                </a:solidFill>
              </a:rPr>
              <a:t>• </a:t>
            </a:r>
            <a:r>
              <a:rPr sz="1800" b="0">
                <a:solidFill>
                  <a:srgbClr val="1F2D3A"/>
                </a:solidFill>
              </a:rPr>
              <a:t>Every "not applicable" decision must be written together with </a:t>
            </a:r>
            <a:r>
              <a:rPr sz="1800" b="1">
                <a:solidFill>
                  <a:srgbClr val="1F2D3A"/>
                </a:solidFill>
              </a:rPr>
              <a:t>evidence</a:t>
            </a:r>
            <a:r>
              <a:rPr sz="1800" b="0">
                <a:solidFill>
                  <a:srgbClr val="1F2D3A"/>
                </a:solidFill>
              </a:rPr>
              <a:t> supporting its rationale (a code scan, an architecture diagram).</a:t>
            </a:r>
          </a:p>
          <a:p>
            <a:pPr>
              <a:spcAft>
                <a:spcPts val="300"/>
              </a:spcAft>
            </a:pPr>
            <a:r>
              <a:rPr sz="1800" b="1">
                <a:solidFill>
                  <a:srgbClr val="006D77"/>
                </a:solidFill>
              </a:rPr>
              <a:t>• </a:t>
            </a:r>
            <a:r>
              <a:rPr sz="1800" b="0">
                <a:solidFill>
                  <a:srgbClr val="1F2D3A"/>
                </a:solidFill>
              </a:rPr>
              <a:t>A "not applicable" with no rationale is just as untrustworthy as a "met" with no evidence.</a:t>
            </a:r>
          </a:p>
          <a:p>
            <a:pPr>
              <a:spcAft>
                <a:spcPts val="300"/>
              </a:spcAft>
            </a:pPr>
            <a:r>
              <a:rPr sz="1800" b="1">
                <a:solidFill>
                  <a:srgbClr val="006D77"/>
                </a:solidFill>
              </a:rPr>
              <a:t>• </a:t>
            </a:r>
            <a:r>
              <a:rPr sz="1800" b="0">
                <a:solidFill>
                  <a:srgbClr val="1F2D3A"/>
                </a:solidFill>
              </a:rPr>
              <a:t>Skipping steps 3 and 4 (linking to assets/threats) is the most common mistake.</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bg>
      <p:bgPr>
        <a:solidFill>
          <a:srgbClr val="006D77"/>
        </a:solidFill>
        <a:effectLst/>
      </p:bgPr>
    </p:bg>
    <p:spTree>
      <p:nvGrpSpPr>
        <p:cNvPr id="1" name=""/>
        <p:cNvGrpSpPr/>
        <p:nvPr/>
      </p:nvGrpSpPr>
      <p:grpSpPr/>
      <p:sp>
        <p:nvSpPr>
          <p:cNvPr id="2" name="TextBox 1"/>
          <p:cNvSpPr txBox="1"/>
          <p:nvPr/>
        </p:nvSpPr>
        <p:spPr>
          <a:xfrm>
            <a:off x="1051560" y="182880"/>
            <a:ext cx="7315200" cy="320040"/>
          </a:xfrm>
          <a:prstGeom prst="rect">
            <a:avLst/>
          </a:prstGeom>
          <a:noFill/>
        </p:spPr>
        <p:txBody>
          <a:bodyPr wrap="square" lIns="45720" rIns="45720">
            <a:spAutoFit/>
          </a:bodyPr>
          <a:lstStyle/>
          <a:p>
            <a:r>
              <a:rPr sz="1100" b="0">
                <a:solidFill>
                  <a:srgbClr val="D8F0F2"/>
                </a:solidFill>
              </a:rPr>
              <a:t>CEN429 Secure Programming · Week 13</a:t>
            </a:r>
          </a:p>
        </p:txBody>
      </p:sp>
      <p:sp>
        <p:nvSpPr>
          <p:cNvPr id="3" name="TextBox 2"/>
          <p:cNvSpPr txBox="1"/>
          <p:nvPr/>
        </p:nvSpPr>
        <p:spPr>
          <a:xfrm>
            <a:off x="640080" y="6446520"/>
            <a:ext cx="7315200" cy="274320"/>
          </a:xfrm>
          <a:prstGeom prst="rect">
            <a:avLst/>
          </a:prstGeom>
          <a:noFill/>
        </p:spPr>
        <p:txBody>
          <a:bodyPr wrap="square" lIns="45720" rIns="45720">
            <a:spAutoFit/>
          </a:bodyPr>
          <a:lstStyle/>
          <a:p>
            <a:r>
              <a:rPr sz="1000" b="0">
                <a:solidFill>
                  <a:srgbClr val="D8F0F2"/>
                </a:solidFill>
              </a:rPr>
              <a:t>RTEU Computer Engineering · 2026-2027 Fall</a:t>
            </a:r>
          </a:p>
        </p:txBody>
      </p:sp>
      <p:sp>
        <p:nvSpPr>
          <p:cNvPr id="4" name="TextBox 3"/>
          <p:cNvSpPr txBox="1"/>
          <p:nvPr/>
        </p:nvSpPr>
        <p:spPr>
          <a:xfrm>
            <a:off x="10637215" y="6446520"/>
            <a:ext cx="914400" cy="274320"/>
          </a:xfrm>
          <a:prstGeom prst="rect">
            <a:avLst/>
          </a:prstGeom>
          <a:noFill/>
        </p:spPr>
        <p:txBody>
          <a:bodyPr wrap="square" lIns="45720" rIns="45720">
            <a:spAutoFit/>
          </a:bodyPr>
          <a:lstStyle/>
          <a:p>
            <a:pPr algn="r"/>
            <a:r>
              <a:rPr sz="1000" b="0">
                <a:solidFill>
                  <a:srgbClr val="D8F0F2"/>
                </a:solidFill>
              </a:rPr>
              <a:t>129</a:t>
            </a:r>
          </a:p>
        </p:txBody>
      </p:sp>
      <p:sp>
        <p:nvSpPr>
          <p:cNvPr id="5" name="TextBox 4"/>
          <p:cNvSpPr txBox="1"/>
          <p:nvPr/>
        </p:nvSpPr>
        <p:spPr>
          <a:xfrm>
            <a:off x="640080" y="2743200"/>
            <a:ext cx="10911535" cy="1280160"/>
          </a:xfrm>
          <a:prstGeom prst="rect">
            <a:avLst/>
          </a:prstGeom>
          <a:noFill/>
        </p:spPr>
        <p:txBody>
          <a:bodyPr wrap="square" lIns="45720" rIns="45720">
            <a:spAutoFit/>
          </a:bodyPr>
          <a:lstStyle/>
          <a:p>
            <a:pPr algn="l"/>
            <a:r>
              <a:rPr sz="4000" b="1">
                <a:solidFill>
                  <a:srgbClr val="FFFFFF"/>
                </a:solidFill>
              </a:rPr>
              <a:t>8. The Course's Requirement Families</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13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130</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Requirement Families — Diagram</a:t>
            </a:r>
          </a:p>
        </p:txBody>
      </p:sp>
      <p:pic>
        <p:nvPicPr>
          <p:cNvPr id="7" name="Picture 6" descr="h13-11-gereksinim-aileleri.png"/>
          <p:cNvPicPr>
            <a:picLocks noChangeAspect="1"/>
          </p:cNvPicPr>
          <p:nvPr/>
        </p:nvPicPr>
        <p:blipFill>
          <a:blip r:embed="rId3"/>
          <a:stretch>
            <a:fillRect/>
          </a:stretch>
        </p:blipFill>
        <p:spPr>
          <a:xfrm>
            <a:off x="2596539" y="1325880"/>
            <a:ext cx="6998617" cy="4828032"/>
          </a:xfrm>
          <a:prstGeom prst="rect">
            <a:avLst/>
          </a:prstGeom>
        </p:spPr>
      </p:pic>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13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131</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The Course's Own Ids</a:t>
            </a:r>
          </a:p>
        </p:txBody>
      </p:sp>
      <p:sp>
        <p:nvSpPr>
          <p:cNvPr id="7" name="TextBox 6"/>
          <p:cNvSpPr txBox="1"/>
          <p:nvPr/>
        </p:nvSpPr>
        <p:spPr>
          <a:xfrm>
            <a:off x="640080" y="1325880"/>
            <a:ext cx="10911535" cy="439928"/>
          </a:xfrm>
          <a:prstGeom prst="rect">
            <a:avLst/>
          </a:prstGeom>
          <a:noFill/>
        </p:spPr>
        <p:txBody>
          <a:bodyPr wrap="square" lIns="45720" rIns="45720">
            <a:spAutoFit/>
          </a:bodyPr>
          <a:lstStyle/>
          <a:p>
            <a:pPr algn="l"/>
            <a:r>
              <a:rPr sz="2000" b="0">
                <a:solidFill>
                  <a:srgbClr val="1F2D3A"/>
                </a:solidFill>
              </a:rPr>
              <a:t>This course uses its own requirement families, adapted from open standards:</a:t>
            </a:r>
          </a:p>
        </p:txBody>
      </p:sp>
      <p:sp>
        <p:nvSpPr>
          <p:cNvPr id="8" name="TextBox 7"/>
          <p:cNvSpPr txBox="1"/>
          <p:nvPr/>
        </p:nvSpPr>
        <p:spPr>
          <a:xfrm>
            <a:off x="640080" y="1875536"/>
            <a:ext cx="10911535" cy="770128"/>
          </a:xfrm>
          <a:prstGeom prst="rect">
            <a:avLst/>
          </a:prstGeom>
          <a:noFill/>
        </p:spPr>
        <p:txBody>
          <a:bodyPr wrap="square" lIns="45720" rIns="45720">
            <a:spAutoFit/>
          </a:bodyPr>
          <a:lstStyle/>
          <a:p>
            <a:pPr algn="l"/>
            <a:r>
              <a:rPr sz="2000" b="0">
                <a:solidFill>
                  <a:srgbClr val="1F2D3A"/>
                </a:solidFill>
              </a:rPr>
              <a:t>CEN429-</a:t>
            </a:r>
            <a:r>
              <a:rPr sz="2000" b="1">
                <a:solidFill>
                  <a:srgbClr val="1F2D3A"/>
                </a:solidFill>
              </a:rPr>
              <a:t>AP</a:t>
            </a:r>
            <a:r>
              <a:rPr sz="2000" b="0">
                <a:solidFill>
                  <a:srgbClr val="1F2D3A"/>
                </a:solidFill>
              </a:rPr>
              <a:t> (application protection), </a:t>
            </a:r>
            <a:r>
              <a:rPr sz="2000" b="1">
                <a:solidFill>
                  <a:srgbClr val="1F2D3A"/>
                </a:solidFill>
              </a:rPr>
              <a:t>ID</a:t>
            </a:r>
            <a:r>
              <a:rPr sz="2000" b="0">
                <a:solidFill>
                  <a:srgbClr val="1F2D3A"/>
                </a:solidFill>
              </a:rPr>
              <a:t> (identity), </a:t>
            </a:r>
            <a:r>
              <a:rPr sz="2000" b="1">
                <a:solidFill>
                  <a:srgbClr val="1F2D3A"/>
                </a:solidFill>
              </a:rPr>
              <a:t>AS</a:t>
            </a:r>
            <a:r>
              <a:rPr sz="2000" b="0">
                <a:solidFill>
                  <a:srgbClr val="1F2D3A"/>
                </a:solidFill>
              </a:rPr>
              <a:t> (asset), </a:t>
            </a:r>
            <a:r>
              <a:rPr sz="2000" b="1">
                <a:solidFill>
                  <a:srgbClr val="1F2D3A"/>
                </a:solidFill>
              </a:rPr>
              <a:t>DR/DU/DT</a:t>
            </a:r>
            <a:r>
              <a:rPr sz="2000" b="0">
                <a:solidFill>
                  <a:srgbClr val="1F2D3A"/>
                </a:solidFill>
              </a:rPr>
              <a:t> (data: at rest/in use/in transit)…</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13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132</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Families (1)</a:t>
            </a:r>
          </a:p>
        </p:txBody>
      </p:sp>
      <p:graphicFrame>
        <p:nvGraphicFramePr>
          <p:cNvPr id="7" name="Table 6"/>
          <p:cNvGraphicFramePr>
            <a:graphicFrameLocks noGrp="1"/>
          </p:cNvGraphicFramePr>
          <p:nvPr/>
        </p:nvGraphicFramePr>
        <p:xfrm>
          <a:off x="640080" y="1325880"/>
          <a:ext cx="10911533" cy="2587752"/>
        </p:xfrm>
        <a:graphic>
          <a:graphicData uri="http://schemas.openxmlformats.org/drawingml/2006/table">
            <a:tbl>
              <a:tblPr firstRow="1" bandRow="1">
                <a:tableStyleId>{5C22544A-7EE6-4342-B048-85BDC9FD1C3A}</a:tableStyleId>
              </a:tblPr>
              <a:tblGrid>
                <a:gridCol w="826631"/>
                <a:gridCol w="3802504"/>
                <a:gridCol w="6282398"/>
              </a:tblGrid>
              <a:tr h="517550">
                <a:tc>
                  <a:txBody>
                    <a:bodyPr wrap="square"/>
                    <a:lstStyle/>
                    <a:p>
                      <a:r>
                        <a:rPr sz="1439" b="1">
                          <a:solidFill>
                            <a:srgbClr val="FFFFFF"/>
                          </a:solidFill>
                        </a:rPr>
                        <a:t>Family</a:t>
                      </a:r>
                    </a:p>
                  </a:txBody>
                  <a:tcPr marL="54864" marR="54864" marT="27432" marB="27432" anchor="ctr">
                    <a:solidFill>
                      <a:srgbClr val="006D77"/>
                    </a:solidFill>
                  </a:tcPr>
                </a:tc>
                <a:tc>
                  <a:txBody>
                    <a:bodyPr wrap="square"/>
                    <a:lstStyle/>
                    <a:p>
                      <a:r>
                        <a:rPr sz="1439" b="1">
                          <a:solidFill>
                            <a:srgbClr val="FFFFFF"/>
                          </a:solidFill>
                        </a:rPr>
                        <a:t>Topic</a:t>
                      </a:r>
                    </a:p>
                  </a:txBody>
                  <a:tcPr marL="54864" marR="54864" marT="27432" marB="27432" anchor="ctr">
                    <a:solidFill>
                      <a:srgbClr val="006D77"/>
                    </a:solidFill>
                  </a:tcPr>
                </a:tc>
                <a:tc>
                  <a:txBody>
                    <a:bodyPr wrap="square"/>
                    <a:lstStyle/>
                    <a:p>
                      <a:r>
                        <a:rPr sz="1439" b="1">
                          <a:solidFill>
                            <a:srgbClr val="FFFFFF"/>
                          </a:solidFill>
                        </a:rPr>
                        <a:t>Example</a:t>
                      </a:r>
                    </a:p>
                  </a:txBody>
                  <a:tcPr marL="54864" marR="54864" marT="27432" marB="27432" anchor="ctr">
                    <a:solidFill>
                      <a:srgbClr val="006D77"/>
                    </a:solidFill>
                  </a:tcPr>
                </a:tc>
              </a:tr>
              <a:tr h="517550">
                <a:tc>
                  <a:txBody>
                    <a:bodyPr wrap="square"/>
                    <a:lstStyle/>
                    <a:p>
                      <a:r>
                        <a:rPr sz="1439" b="0">
                          <a:solidFill>
                            <a:srgbClr val="1F2D3A"/>
                          </a:solidFill>
                        </a:rPr>
                        <a:t>AP</a:t>
                      </a:r>
                    </a:p>
                  </a:txBody>
                  <a:tcPr marL="54864" marR="54864" marT="27432" marB="27432" anchor="ctr">
                    <a:solidFill>
                      <a:srgbClr val="FFFFFF"/>
                    </a:solidFill>
                  </a:tcPr>
                </a:tc>
                <a:tc>
                  <a:txBody>
                    <a:bodyPr wrap="square"/>
                    <a:lstStyle/>
                    <a:p>
                      <a:r>
                        <a:rPr sz="1439" b="0">
                          <a:solidFill>
                            <a:srgbClr val="1F2D3A"/>
                          </a:solidFill>
                        </a:rPr>
                        <a:t>Application protection (obfuscation, RASP)</a:t>
                      </a:r>
                    </a:p>
                  </a:txBody>
                  <a:tcPr marL="54864" marR="54864" marT="27432" marB="27432" anchor="ctr">
                    <a:solidFill>
                      <a:srgbClr val="FFFFFF"/>
                    </a:solidFill>
                  </a:tcPr>
                </a:tc>
                <a:tc>
                  <a:txBody>
                    <a:bodyPr wrap="square"/>
                    <a:lstStyle/>
                    <a:p>
                      <a:r>
                        <a:rPr sz="1439" b="0">
                          <a:solidFill>
                            <a:srgbClr val="1F2D3A"/>
                          </a:solidFill>
                        </a:rPr>
                        <a:t>Sensitive functions are obfuscated and protected with an integrity check</a:t>
                      </a:r>
                    </a:p>
                  </a:txBody>
                  <a:tcPr marL="54864" marR="54864" marT="27432" marB="27432" anchor="ctr">
                    <a:solidFill>
                      <a:srgbClr val="FFFFFF"/>
                    </a:solidFill>
                  </a:tcPr>
                </a:tc>
              </a:tr>
              <a:tr h="517550">
                <a:tc>
                  <a:txBody>
                    <a:bodyPr wrap="square"/>
                    <a:lstStyle/>
                    <a:p>
                      <a:r>
                        <a:rPr sz="1439" b="0">
                          <a:solidFill>
                            <a:srgbClr val="1F2D3A"/>
                          </a:solidFill>
                        </a:rPr>
                        <a:t>ID</a:t>
                      </a:r>
                    </a:p>
                  </a:txBody>
                  <a:tcPr marL="54864" marR="54864" marT="27432" marB="27432" anchor="ctr">
                    <a:solidFill>
                      <a:srgbClr val="EEF7F8"/>
                    </a:solidFill>
                  </a:tcPr>
                </a:tc>
                <a:tc>
                  <a:txBody>
                    <a:bodyPr wrap="square"/>
                    <a:lstStyle/>
                    <a:p>
                      <a:r>
                        <a:rPr sz="1439" b="0">
                          <a:solidFill>
                            <a:srgbClr val="1F2D3A"/>
                          </a:solidFill>
                        </a:rPr>
                        <a:t>Identity and binding</a:t>
                      </a:r>
                    </a:p>
                  </a:txBody>
                  <a:tcPr marL="54864" marR="54864" marT="27432" marB="27432" anchor="ctr">
                    <a:solidFill>
                      <a:srgbClr val="EEF7F8"/>
                    </a:solidFill>
                  </a:tcPr>
                </a:tc>
                <a:tc>
                  <a:txBody>
                    <a:bodyPr wrap="square"/>
                    <a:lstStyle/>
                    <a:p>
                      <a:r>
                        <a:rPr sz="1439" b="0">
                          <a:solidFill>
                            <a:srgbClr val="1F2D3A"/>
                          </a:solidFill>
                        </a:rPr>
                        <a:t>The device and version are bound to key usage</a:t>
                      </a:r>
                    </a:p>
                  </a:txBody>
                  <a:tcPr marL="54864" marR="54864" marT="27432" marB="27432" anchor="ctr">
                    <a:solidFill>
                      <a:srgbClr val="EEF7F8"/>
                    </a:solidFill>
                  </a:tcPr>
                </a:tc>
              </a:tr>
              <a:tr h="517550">
                <a:tc>
                  <a:txBody>
                    <a:bodyPr wrap="square"/>
                    <a:lstStyle/>
                    <a:p>
                      <a:r>
                        <a:rPr sz="1439" b="0">
                          <a:solidFill>
                            <a:srgbClr val="1F2D3A"/>
                          </a:solidFill>
                        </a:rPr>
                        <a:t>AS</a:t>
                      </a:r>
                    </a:p>
                  </a:txBody>
                  <a:tcPr marL="54864" marR="54864" marT="27432" marB="27432" anchor="ctr">
                    <a:solidFill>
                      <a:srgbClr val="FFFFFF"/>
                    </a:solidFill>
                  </a:tcPr>
                </a:tc>
                <a:tc>
                  <a:txBody>
                    <a:bodyPr wrap="square"/>
                    <a:lstStyle/>
                    <a:p>
                      <a:r>
                        <a:rPr sz="1439" b="0">
                          <a:solidFill>
                            <a:srgbClr val="1F2D3A"/>
                          </a:solidFill>
                        </a:rPr>
                        <a:t>Asset management</a:t>
                      </a:r>
                    </a:p>
                  </a:txBody>
                  <a:tcPr marL="54864" marR="54864" marT="27432" marB="27432" anchor="ctr">
                    <a:solidFill>
                      <a:srgbClr val="FFFFFF"/>
                    </a:solidFill>
                  </a:tcPr>
                </a:tc>
                <a:tc>
                  <a:txBody>
                    <a:bodyPr wrap="square"/>
                    <a:lstStyle/>
                    <a:p>
                      <a:r>
                        <a:rPr sz="1439" b="0">
                          <a:solidFill>
                            <a:srgbClr val="1F2D3A"/>
                          </a:solidFill>
                        </a:rPr>
                        <a:t>Every asset is labelled C/I/I+ and its lifecycle is documented</a:t>
                      </a:r>
                    </a:p>
                  </a:txBody>
                  <a:tcPr marL="54864" marR="54864" marT="27432" marB="27432" anchor="ctr">
                    <a:solidFill>
                      <a:srgbClr val="FFFFFF"/>
                    </a:solidFill>
                  </a:tcPr>
                </a:tc>
              </a:tr>
              <a:tr h="517552">
                <a:tc>
                  <a:txBody>
                    <a:bodyPr wrap="square"/>
                    <a:lstStyle/>
                    <a:p>
                      <a:r>
                        <a:rPr sz="1439" b="0">
                          <a:solidFill>
                            <a:srgbClr val="1F2D3A"/>
                          </a:solidFill>
                        </a:rPr>
                        <a:t>DR</a:t>
                      </a:r>
                    </a:p>
                  </a:txBody>
                  <a:tcPr marL="54864" marR="54864" marT="27432" marB="27432" anchor="ctr">
                    <a:solidFill>
                      <a:srgbClr val="EEF7F8"/>
                    </a:solidFill>
                  </a:tcPr>
                </a:tc>
                <a:tc>
                  <a:txBody>
                    <a:bodyPr wrap="square"/>
                    <a:lstStyle/>
                    <a:p>
                      <a:r>
                        <a:rPr sz="1439" b="0">
                          <a:solidFill>
                            <a:srgbClr val="1F2D3A"/>
                          </a:solidFill>
                        </a:rPr>
                        <a:t>Data at rest</a:t>
                      </a:r>
                    </a:p>
                  </a:txBody>
                  <a:tcPr marL="54864" marR="54864" marT="27432" marB="27432" anchor="ctr">
                    <a:solidFill>
                      <a:srgbClr val="EEF7F8"/>
                    </a:solidFill>
                  </a:tcPr>
                </a:tc>
                <a:tc>
                  <a:txBody>
                    <a:bodyPr wrap="square"/>
                    <a:lstStyle/>
                    <a:p>
                      <a:r>
                        <a:rPr sz="1439" b="0">
                          <a:solidFill>
                            <a:srgbClr val="1F2D3A"/>
                          </a:solidFill>
                        </a:rPr>
                        <a:t>Local data is encrypted with AEAD</a:t>
                      </a:r>
                    </a:p>
                  </a:txBody>
                  <a:tcPr marL="54864" marR="54864" marT="27432" marB="27432" anchor="ctr">
                    <a:solidFill>
                      <a:srgbClr val="EEF7F8"/>
                    </a:solidFill>
                  </a:tcPr>
                </a:tc>
              </a:tr>
            </a:tbl>
          </a:graphicData>
        </a:graphic>
      </p:graphicFrame>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13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133</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Families (2)</a:t>
            </a:r>
          </a:p>
        </p:txBody>
      </p:sp>
      <p:graphicFrame>
        <p:nvGraphicFramePr>
          <p:cNvPr id="7" name="Table 6"/>
          <p:cNvGraphicFramePr>
            <a:graphicFrameLocks noGrp="1"/>
          </p:cNvGraphicFramePr>
          <p:nvPr/>
        </p:nvGraphicFramePr>
        <p:xfrm>
          <a:off x="640080" y="1325880"/>
          <a:ext cx="10911534" cy="2935224"/>
        </p:xfrm>
        <a:graphic>
          <a:graphicData uri="http://schemas.openxmlformats.org/drawingml/2006/table">
            <a:tbl>
              <a:tblPr firstRow="1" bandRow="1">
                <a:tableStyleId>{5C22544A-7EE6-4342-B048-85BDC9FD1C3A}</a:tableStyleId>
              </a:tblPr>
              <a:tblGrid>
                <a:gridCol w="1059372"/>
                <a:gridCol w="2436556"/>
                <a:gridCol w="7415606"/>
              </a:tblGrid>
              <a:tr h="489204">
                <a:tc>
                  <a:txBody>
                    <a:bodyPr wrap="square"/>
                    <a:lstStyle/>
                    <a:p>
                      <a:r>
                        <a:rPr sz="1439" b="1">
                          <a:solidFill>
                            <a:srgbClr val="FFFFFF"/>
                          </a:solidFill>
                        </a:rPr>
                        <a:t>Family</a:t>
                      </a:r>
                    </a:p>
                  </a:txBody>
                  <a:tcPr marL="54864" marR="54864" marT="27432" marB="27432" anchor="ctr">
                    <a:solidFill>
                      <a:srgbClr val="006D77"/>
                    </a:solidFill>
                  </a:tcPr>
                </a:tc>
                <a:tc>
                  <a:txBody>
                    <a:bodyPr wrap="square"/>
                    <a:lstStyle/>
                    <a:p>
                      <a:r>
                        <a:rPr sz="1439" b="1">
                          <a:solidFill>
                            <a:srgbClr val="FFFFFF"/>
                          </a:solidFill>
                        </a:rPr>
                        <a:t>Topic</a:t>
                      </a:r>
                    </a:p>
                  </a:txBody>
                  <a:tcPr marL="54864" marR="54864" marT="27432" marB="27432" anchor="ctr">
                    <a:solidFill>
                      <a:srgbClr val="006D77"/>
                    </a:solidFill>
                  </a:tcPr>
                </a:tc>
                <a:tc>
                  <a:txBody>
                    <a:bodyPr wrap="square"/>
                    <a:lstStyle/>
                    <a:p>
                      <a:r>
                        <a:rPr sz="1439" b="1">
                          <a:solidFill>
                            <a:srgbClr val="FFFFFF"/>
                          </a:solidFill>
                        </a:rPr>
                        <a:t>Example</a:t>
                      </a:r>
                    </a:p>
                  </a:txBody>
                  <a:tcPr marL="54864" marR="54864" marT="27432" marB="27432" anchor="ctr">
                    <a:solidFill>
                      <a:srgbClr val="006D77"/>
                    </a:solidFill>
                  </a:tcPr>
                </a:tc>
              </a:tr>
              <a:tr h="489204">
                <a:tc>
                  <a:txBody>
                    <a:bodyPr wrap="square"/>
                    <a:lstStyle/>
                    <a:p>
                      <a:r>
                        <a:rPr sz="1439" b="0">
                          <a:solidFill>
                            <a:srgbClr val="1F2D3A"/>
                          </a:solidFill>
                        </a:rPr>
                        <a:t>DU</a:t>
                      </a:r>
                    </a:p>
                  </a:txBody>
                  <a:tcPr marL="54864" marR="54864" marT="27432" marB="27432" anchor="ctr">
                    <a:solidFill>
                      <a:srgbClr val="FFFFFF"/>
                    </a:solidFill>
                  </a:tcPr>
                </a:tc>
                <a:tc>
                  <a:txBody>
                    <a:bodyPr wrap="square"/>
                    <a:lstStyle/>
                    <a:p>
                      <a:r>
                        <a:rPr sz="1439" b="0">
                          <a:solidFill>
                            <a:srgbClr val="1F2D3A"/>
                          </a:solidFill>
                        </a:rPr>
                        <a:t>Data in use</a:t>
                      </a:r>
                    </a:p>
                  </a:txBody>
                  <a:tcPr marL="54864" marR="54864" marT="27432" marB="27432" anchor="ctr">
                    <a:solidFill>
                      <a:srgbClr val="FFFFFF"/>
                    </a:solidFill>
                  </a:tcPr>
                </a:tc>
                <a:tc>
                  <a:txBody>
                    <a:bodyPr wrap="square"/>
                    <a:lstStyle/>
                    <a:p>
                      <a:r>
                        <a:rPr sz="1439" b="0">
                          <a:solidFill>
                            <a:srgbClr val="1F2D3A"/>
                          </a:solidFill>
                        </a:rPr>
                        <a:t>The key is erased after use</a:t>
                      </a:r>
                    </a:p>
                  </a:txBody>
                  <a:tcPr marL="54864" marR="54864" marT="27432" marB="27432" anchor="ctr">
                    <a:solidFill>
                      <a:srgbClr val="FFFFFF"/>
                    </a:solidFill>
                  </a:tcPr>
                </a:tc>
              </a:tr>
              <a:tr h="489204">
                <a:tc>
                  <a:txBody>
                    <a:bodyPr wrap="square"/>
                    <a:lstStyle/>
                    <a:p>
                      <a:r>
                        <a:rPr sz="1439" b="0">
                          <a:solidFill>
                            <a:srgbClr val="1F2D3A"/>
                          </a:solidFill>
                        </a:rPr>
                        <a:t>DT</a:t>
                      </a:r>
                    </a:p>
                  </a:txBody>
                  <a:tcPr marL="54864" marR="54864" marT="27432" marB="27432" anchor="ctr">
                    <a:solidFill>
                      <a:srgbClr val="EEF7F8"/>
                    </a:solidFill>
                  </a:tcPr>
                </a:tc>
                <a:tc>
                  <a:txBody>
                    <a:bodyPr wrap="square"/>
                    <a:lstStyle/>
                    <a:p>
                      <a:r>
                        <a:rPr sz="1439" b="0">
                          <a:solidFill>
                            <a:srgbClr val="1F2D3A"/>
                          </a:solidFill>
                        </a:rPr>
                        <a:t>Data in transit</a:t>
                      </a:r>
                    </a:p>
                  </a:txBody>
                  <a:tcPr marL="54864" marR="54864" marT="27432" marB="27432" anchor="ctr">
                    <a:solidFill>
                      <a:srgbClr val="EEF7F8"/>
                    </a:solidFill>
                  </a:tcPr>
                </a:tc>
                <a:tc>
                  <a:txBody>
                    <a:bodyPr wrap="square"/>
                    <a:lstStyle/>
                    <a:p>
                      <a:r>
                        <a:rPr sz="1439" b="0">
                          <a:solidFill>
                            <a:srgbClr val="1F2D3A"/>
                          </a:solidFill>
                        </a:rPr>
                        <a:t>TLS 1.3 + chain validation</a:t>
                      </a:r>
                    </a:p>
                  </a:txBody>
                  <a:tcPr marL="54864" marR="54864" marT="27432" marB="27432" anchor="ctr">
                    <a:solidFill>
                      <a:srgbClr val="EEF7F8"/>
                    </a:solidFill>
                  </a:tcPr>
                </a:tc>
              </a:tr>
              <a:tr h="489204">
                <a:tc>
                  <a:txBody>
                    <a:bodyPr wrap="square"/>
                    <a:lstStyle/>
                    <a:p>
                      <a:r>
                        <a:rPr sz="1439" b="0">
                          <a:solidFill>
                            <a:srgbClr val="1F2D3A"/>
                          </a:solidFill>
                        </a:rPr>
                        <a:t>RP</a:t>
                      </a:r>
                    </a:p>
                  </a:txBody>
                  <a:tcPr marL="54864" marR="54864" marT="27432" marB="27432" anchor="ctr">
                    <a:solidFill>
                      <a:srgbClr val="FFFFFF"/>
                    </a:solidFill>
                  </a:tcPr>
                </a:tc>
                <a:tc>
                  <a:txBody>
                    <a:bodyPr wrap="square"/>
                    <a:lstStyle/>
                    <a:p>
                      <a:r>
                        <a:rPr sz="1439" b="0">
                          <a:solidFill>
                            <a:srgbClr val="1F2D3A"/>
                          </a:solidFill>
                        </a:rPr>
                        <a:t>Reporting/logging</a:t>
                      </a:r>
                    </a:p>
                  </a:txBody>
                  <a:tcPr marL="54864" marR="54864" marT="27432" marB="27432" anchor="ctr">
                    <a:solidFill>
                      <a:srgbClr val="FFFFFF"/>
                    </a:solidFill>
                  </a:tcPr>
                </a:tc>
                <a:tc>
                  <a:txBody>
                    <a:bodyPr wrap="square"/>
                    <a:lstStyle/>
                    <a:p>
                      <a:r>
                        <a:rPr sz="1439" b="0">
                          <a:solidFill>
                            <a:srgbClr val="1F2D3A"/>
                          </a:solidFill>
                        </a:rPr>
                        <a:t>Sensitive data is never logged in plain text in the release</a:t>
                      </a:r>
                    </a:p>
                  </a:txBody>
                  <a:tcPr marL="54864" marR="54864" marT="27432" marB="27432" anchor="ctr">
                    <a:solidFill>
                      <a:srgbClr val="FFFFFF"/>
                    </a:solidFill>
                  </a:tcPr>
                </a:tc>
              </a:tr>
              <a:tr h="489204">
                <a:tc>
                  <a:txBody>
                    <a:bodyPr wrap="square"/>
                    <a:lstStyle/>
                    <a:p>
                      <a:r>
                        <a:rPr sz="1439" b="0">
                          <a:solidFill>
                            <a:srgbClr val="1F2D3A"/>
                          </a:solidFill>
                        </a:rPr>
                        <a:t>CR</a:t>
                      </a:r>
                    </a:p>
                  </a:txBody>
                  <a:tcPr marL="54864" marR="54864" marT="27432" marB="27432" anchor="ctr">
                    <a:solidFill>
                      <a:srgbClr val="EEF7F8"/>
                    </a:solidFill>
                  </a:tcPr>
                </a:tc>
                <a:tc>
                  <a:txBody>
                    <a:bodyPr wrap="square"/>
                    <a:lstStyle/>
                    <a:p>
                      <a:r>
                        <a:rPr sz="1439" b="0">
                          <a:solidFill>
                            <a:srgbClr val="1F2D3A"/>
                          </a:solidFill>
                        </a:rPr>
                        <a:t>Cryptography</a:t>
                      </a:r>
                    </a:p>
                  </a:txBody>
                  <a:tcPr marL="54864" marR="54864" marT="27432" marB="27432" anchor="ctr">
                    <a:solidFill>
                      <a:srgbClr val="EEF7F8"/>
                    </a:solidFill>
                  </a:tcPr>
                </a:tc>
                <a:tc>
                  <a:txBody>
                    <a:bodyPr wrap="square"/>
                    <a:lstStyle/>
                    <a:p>
                      <a:r>
                        <a:rPr sz="1439" b="0">
                          <a:solidFill>
                            <a:srgbClr val="1F2D3A"/>
                          </a:solidFill>
                        </a:rPr>
                        <a:t>Approved algorithm, mode, and key length; key hierarchy documented</a:t>
                      </a:r>
                    </a:p>
                  </a:txBody>
                  <a:tcPr marL="54864" marR="54864" marT="27432" marB="27432" anchor="ctr">
                    <a:solidFill>
                      <a:srgbClr val="EEF7F8"/>
                    </a:solidFill>
                  </a:tcPr>
                </a:tc>
              </a:tr>
              <a:tr h="489204">
                <a:tc>
                  <a:txBody>
                    <a:bodyPr wrap="square"/>
                    <a:lstStyle/>
                    <a:p>
                      <a:r>
                        <a:rPr sz="1439" b="0">
                          <a:solidFill>
                            <a:srgbClr val="1F2D3A"/>
                          </a:solidFill>
                        </a:rPr>
                        <a:t>DV</a:t>
                      </a:r>
                    </a:p>
                  </a:txBody>
                  <a:tcPr marL="54864" marR="54864" marT="27432" marB="27432" anchor="ctr">
                    <a:solidFill>
                      <a:srgbClr val="FFFFFF"/>
                    </a:solidFill>
                  </a:tcPr>
                </a:tc>
                <a:tc>
                  <a:txBody>
                    <a:bodyPr wrap="square"/>
                    <a:lstStyle/>
                    <a:p>
                      <a:r>
                        <a:rPr sz="1439" b="0">
                          <a:solidFill>
                            <a:srgbClr val="1F2D3A"/>
                          </a:solidFill>
                        </a:rPr>
                        <a:t>Development/process</a:t>
                      </a:r>
                    </a:p>
                  </a:txBody>
                  <a:tcPr marL="54864" marR="54864" marT="27432" marB="27432" anchor="ctr">
                    <a:solidFill>
                      <a:srgbClr val="FFFFFF"/>
                    </a:solidFill>
                  </a:tcPr>
                </a:tc>
                <a:tc>
                  <a:txBody>
                    <a:bodyPr wrap="square"/>
                    <a:lstStyle/>
                    <a:p>
                      <a:r>
                        <a:rPr sz="1439" b="0">
                          <a:solidFill>
                            <a:srgbClr val="1F2D3A"/>
                          </a:solidFill>
                        </a:rPr>
                        <a:t>Every change is reviewed before being merged; the SBOM is updated</a:t>
                      </a:r>
                    </a:p>
                  </a:txBody>
                  <a:tcPr marL="54864" marR="54864" marT="27432" marB="27432" anchor="ctr">
                    <a:solidFill>
                      <a:srgbClr val="FFFFFF"/>
                    </a:solidFill>
                  </a:tcPr>
                </a:tc>
              </a:tr>
            </a:tbl>
          </a:graphicData>
        </a:graphic>
      </p:graphicFrame>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13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134</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Every Family → Links to Weeks</a:t>
            </a:r>
          </a:p>
        </p:txBody>
      </p:sp>
      <p:sp>
        <p:nvSpPr>
          <p:cNvPr id="7" name="TextBox 6"/>
          <p:cNvSpPr txBox="1"/>
          <p:nvPr/>
        </p:nvSpPr>
        <p:spPr>
          <a:xfrm>
            <a:off x="640080" y="1325880"/>
            <a:ext cx="10911535" cy="1595120"/>
          </a:xfrm>
          <a:prstGeom prst="rect">
            <a:avLst/>
          </a:prstGeom>
          <a:noFill/>
        </p:spPr>
        <p:txBody>
          <a:bodyPr wrap="square" lIns="45720" rIns="45720">
            <a:spAutoFit/>
          </a:bodyPr>
          <a:lstStyle/>
          <a:p>
            <a:pPr>
              <a:spcAft>
                <a:spcPts val="300"/>
              </a:spcAft>
            </a:pPr>
            <a:r>
              <a:rPr sz="2000" b="1">
                <a:solidFill>
                  <a:srgbClr val="006D77"/>
                </a:solidFill>
              </a:rPr>
              <a:t>• </a:t>
            </a:r>
            <a:r>
              <a:rPr sz="2000" b="0">
                <a:solidFill>
                  <a:srgbClr val="1F2D3A"/>
                </a:solidFill>
              </a:rPr>
              <a:t>AP → 4, 5, 6, 9, 11, 14</a:t>
            </a:r>
          </a:p>
          <a:p>
            <a:pPr>
              <a:spcAft>
                <a:spcPts val="300"/>
              </a:spcAft>
            </a:pPr>
            <a:r>
              <a:rPr sz="2000" b="1">
                <a:solidFill>
                  <a:srgbClr val="006D77"/>
                </a:solidFill>
              </a:rPr>
              <a:t>• </a:t>
            </a:r>
            <a:r>
              <a:rPr sz="2000" b="0">
                <a:solidFill>
                  <a:srgbClr val="1F2D3A"/>
                </a:solidFill>
              </a:rPr>
              <a:t>CR/DR/DU/DT → 3, 10</a:t>
            </a:r>
          </a:p>
          <a:p>
            <a:pPr>
              <a:spcAft>
                <a:spcPts val="300"/>
              </a:spcAft>
            </a:pPr>
            <a:r>
              <a:rPr sz="2000" b="1">
                <a:solidFill>
                  <a:srgbClr val="006D77"/>
                </a:solidFill>
              </a:rPr>
              <a:t>• </a:t>
            </a:r>
            <a:r>
              <a:rPr sz="2000" b="0">
                <a:solidFill>
                  <a:srgbClr val="1F2D3A"/>
                </a:solidFill>
              </a:rPr>
              <a:t>AS → 1, 3</a:t>
            </a:r>
          </a:p>
          <a:p>
            <a:pPr>
              <a:spcAft>
                <a:spcPts val="300"/>
              </a:spcAft>
            </a:pPr>
            <a:r>
              <a:rPr sz="2000" b="1">
                <a:solidFill>
                  <a:srgbClr val="006D77"/>
                </a:solidFill>
              </a:rPr>
              <a:t>• </a:t>
            </a:r>
            <a:r>
              <a:rPr sz="2000" b="0">
                <a:solidFill>
                  <a:srgbClr val="1F2D3A"/>
                </a:solidFill>
              </a:rPr>
              <a:t>DV/RP → 12, 13</a:t>
            </a:r>
          </a:p>
        </p:txBody>
      </p:sp>
      <p:sp>
        <p:nvSpPr>
          <p:cNvPr id="8" name="TextBox 7"/>
          <p:cNvSpPr txBox="1"/>
          <p:nvPr/>
        </p:nvSpPr>
        <p:spPr>
          <a:xfrm>
            <a:off x="640080" y="3030728"/>
            <a:ext cx="10911535" cy="439928"/>
          </a:xfrm>
          <a:prstGeom prst="rect">
            <a:avLst/>
          </a:prstGeom>
          <a:noFill/>
        </p:spPr>
        <p:txBody>
          <a:bodyPr wrap="square" lIns="45720" rIns="45720">
            <a:spAutoFit/>
          </a:bodyPr>
          <a:lstStyle/>
          <a:p>
            <a:pPr algn="l"/>
            <a:r>
              <a:rPr sz="2000" b="0">
                <a:solidFill>
                  <a:srgbClr val="1F2D3A"/>
                </a:solidFill>
              </a:rPr>
              <a:t>Your project chooses a </a:t>
            </a:r>
            <a:r>
              <a:rPr sz="2000" b="1">
                <a:solidFill>
                  <a:srgbClr val="1F2D3A"/>
                </a:solidFill>
              </a:rPr>
              <a:t>subset</a:t>
            </a:r>
            <a:r>
              <a:rPr sz="2000" b="0">
                <a:solidFill>
                  <a:srgbClr val="1F2D3A"/>
                </a:solidFill>
              </a:rPr>
              <a:t> of these families.</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13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135</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Compliance Matrix Activity · Step 1</a:t>
            </a:r>
          </a:p>
        </p:txBody>
      </p:sp>
      <p:sp>
        <p:nvSpPr>
          <p:cNvPr id="7" name="TextBox 6"/>
          <p:cNvSpPr txBox="1"/>
          <p:nvPr/>
        </p:nvSpPr>
        <p:spPr>
          <a:xfrm>
            <a:off x="640080" y="1325880"/>
            <a:ext cx="10911535" cy="843280"/>
          </a:xfrm>
          <a:prstGeom prst="rect">
            <a:avLst/>
          </a:prstGeom>
          <a:noFill/>
        </p:spPr>
        <p:txBody>
          <a:bodyPr wrap="square" lIns="45720" rIns="45720">
            <a:spAutoFit/>
          </a:bodyPr>
          <a:lstStyle/>
          <a:p>
            <a:pPr>
              <a:spcAft>
                <a:spcPts val="300"/>
              </a:spcAft>
            </a:pPr>
            <a:r>
              <a:rPr sz="2000" b="1">
                <a:solidFill>
                  <a:srgbClr val="006D77"/>
                </a:solidFill>
              </a:rPr>
              <a:t>• </a:t>
            </a:r>
            <a:r>
              <a:rPr sz="2000" b="0">
                <a:solidFill>
                  <a:srgbClr val="1F2D3A"/>
                </a:solidFill>
              </a:rPr>
              <a:t>Choose </a:t>
            </a:r>
            <a:r>
              <a:rPr sz="2000" b="1">
                <a:solidFill>
                  <a:srgbClr val="1F2D3A"/>
                </a:solidFill>
              </a:rPr>
              <a:t>five requirements</a:t>
            </a:r>
            <a:r>
              <a:rPr sz="2000" b="0">
                <a:solidFill>
                  <a:srgbClr val="1F2D3A"/>
                </a:solidFill>
              </a:rPr>
              <a:t> from your own project (from different families).</a:t>
            </a:r>
          </a:p>
          <a:p>
            <a:pPr>
              <a:spcAft>
                <a:spcPts val="300"/>
              </a:spcAft>
            </a:pPr>
            <a:r>
              <a:rPr sz="2000" b="1">
                <a:solidFill>
                  <a:srgbClr val="006D77"/>
                </a:solidFill>
              </a:rPr>
              <a:t>• </a:t>
            </a:r>
            <a:r>
              <a:rPr sz="2000" b="0">
                <a:solidFill>
                  <a:srgbClr val="1F2D3A"/>
                </a:solidFill>
              </a:rPr>
              <a:t>Write a </a:t>
            </a:r>
            <a:r>
              <a:rPr sz="2000" b="1">
                <a:solidFill>
                  <a:srgbClr val="1F2D3A"/>
                </a:solidFill>
              </a:rPr>
              <a:t>requirement block</a:t>
            </a:r>
            <a:r>
              <a:rPr sz="2000" b="0">
                <a:solidFill>
                  <a:srgbClr val="1F2D3A"/>
                </a:solidFill>
              </a:rPr>
              <a:t> for each one.</a:t>
            </a: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13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136</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Activity · Step 2</a:t>
            </a:r>
          </a:p>
        </p:txBody>
      </p:sp>
      <p:sp>
        <p:nvSpPr>
          <p:cNvPr id="7" name="TextBox 6"/>
          <p:cNvSpPr txBox="1"/>
          <p:nvPr/>
        </p:nvSpPr>
        <p:spPr>
          <a:xfrm>
            <a:off x="640080" y="1325880"/>
            <a:ext cx="10911535" cy="439928"/>
          </a:xfrm>
          <a:prstGeom prst="rect">
            <a:avLst/>
          </a:prstGeom>
          <a:noFill/>
        </p:spPr>
        <p:txBody>
          <a:bodyPr wrap="square" lIns="45720" rIns="45720">
            <a:spAutoFit/>
          </a:bodyPr>
          <a:lstStyle/>
          <a:p>
            <a:pPr algn="l"/>
            <a:r>
              <a:rPr sz="2000" b="0">
                <a:solidFill>
                  <a:srgbClr val="1F2D3A"/>
                </a:solidFill>
              </a:rPr>
              <a:t>Fill in a matrix row for every requirement:</a:t>
            </a:r>
          </a:p>
        </p:txBody>
      </p:sp>
      <p:graphicFrame>
        <p:nvGraphicFramePr>
          <p:cNvPr id="8" name="Table 7"/>
          <p:cNvGraphicFramePr>
            <a:graphicFrameLocks noGrp="1"/>
          </p:cNvGraphicFramePr>
          <p:nvPr/>
        </p:nvGraphicFramePr>
        <p:xfrm>
          <a:off x="640080" y="1875536"/>
          <a:ext cx="10911533" cy="832104"/>
        </p:xfrm>
        <a:graphic>
          <a:graphicData uri="http://schemas.openxmlformats.org/drawingml/2006/table">
            <a:tbl>
              <a:tblPr firstRow="1" bandRow="1">
                <a:tableStyleId>{5C22544A-7EE6-4342-B048-85BDC9FD1C3A}</a:tableStyleId>
              </a:tblPr>
              <a:tblGrid>
                <a:gridCol w="2557391"/>
                <a:gridCol w="1704927"/>
                <a:gridCol w="1875420"/>
                <a:gridCol w="2727883"/>
                <a:gridCol w="2045912"/>
              </a:tblGrid>
              <a:tr h="416052">
                <a:tc>
                  <a:txBody>
                    <a:bodyPr wrap="square"/>
                    <a:lstStyle/>
                    <a:p>
                      <a:r>
                        <a:rPr sz="1439" b="1">
                          <a:solidFill>
                            <a:srgbClr val="FFFFFF"/>
                          </a:solidFill>
                        </a:rPr>
                        <a:t>Requirement</a:t>
                      </a:r>
                    </a:p>
                  </a:txBody>
                  <a:tcPr marL="54864" marR="54864" marT="27432" marB="27432" anchor="ctr">
                    <a:solidFill>
                      <a:srgbClr val="006D77"/>
                    </a:solidFill>
                  </a:tcPr>
                </a:tc>
                <a:tc>
                  <a:txBody>
                    <a:bodyPr wrap="square"/>
                    <a:lstStyle/>
                    <a:p>
                      <a:r>
                        <a:rPr sz="1439" b="1">
                          <a:solidFill>
                            <a:srgbClr val="FFFFFF"/>
                          </a:solidFill>
                        </a:rPr>
                        <a:t>Status</a:t>
                      </a:r>
                    </a:p>
                  </a:txBody>
                  <a:tcPr marL="54864" marR="54864" marT="27432" marB="27432" anchor="ctr">
                    <a:solidFill>
                      <a:srgbClr val="006D77"/>
                    </a:solidFill>
                  </a:tcPr>
                </a:tc>
                <a:tc>
                  <a:txBody>
                    <a:bodyPr wrap="square"/>
                    <a:lstStyle/>
                    <a:p>
                      <a:r>
                        <a:rPr sz="1439" b="1">
                          <a:solidFill>
                            <a:srgbClr val="FFFFFF"/>
                          </a:solidFill>
                        </a:rPr>
                        <a:t>Section</a:t>
                      </a:r>
                    </a:p>
                  </a:txBody>
                  <a:tcPr marL="54864" marR="54864" marT="27432" marB="27432" anchor="ctr">
                    <a:solidFill>
                      <a:srgbClr val="006D77"/>
                    </a:solidFill>
                  </a:tcPr>
                </a:tc>
                <a:tc>
                  <a:txBody>
                    <a:bodyPr wrap="square"/>
                    <a:lstStyle/>
                    <a:p>
                      <a:r>
                        <a:rPr sz="1439" b="1">
                          <a:solidFill>
                            <a:srgbClr val="FFFFFF"/>
                          </a:solidFill>
                        </a:rPr>
                        <a:t>Verification</a:t>
                      </a:r>
                    </a:p>
                  </a:txBody>
                  <a:tcPr marL="54864" marR="54864" marT="27432" marB="27432" anchor="ctr">
                    <a:solidFill>
                      <a:srgbClr val="006D77"/>
                    </a:solidFill>
                  </a:tcPr>
                </a:tc>
                <a:tc>
                  <a:txBody>
                    <a:bodyPr wrap="square"/>
                    <a:lstStyle/>
                    <a:p>
                      <a:r>
                        <a:rPr sz="1439" b="1">
                          <a:solidFill>
                            <a:srgbClr val="FFFFFF"/>
                          </a:solidFill>
                        </a:rPr>
                        <a:t>Evidence</a:t>
                      </a:r>
                    </a:p>
                  </a:txBody>
                  <a:tcPr marL="54864" marR="54864" marT="27432" marB="27432" anchor="ctr">
                    <a:solidFill>
                      <a:srgbClr val="006D77"/>
                    </a:solidFill>
                  </a:tcPr>
                </a:tc>
              </a:tr>
              <a:tr h="416052">
                <a:tc>
                  <a:txBody>
                    <a:bodyPr wrap="square"/>
                    <a:lstStyle/>
                    <a:p>
                      <a:r>
                        <a:rPr sz="1439" b="0">
                          <a:solidFill>
                            <a:srgbClr val="1F2D3A"/>
                          </a:solidFill>
                        </a:rPr>
                        <a:t>…</a:t>
                      </a:r>
                    </a:p>
                  </a:txBody>
                  <a:tcPr marL="54864" marR="54864" marT="27432" marB="27432" anchor="ctr">
                    <a:solidFill>
                      <a:srgbClr val="FFFFFF"/>
                    </a:solidFill>
                  </a:tcPr>
                </a:tc>
                <a:tc>
                  <a:txBody>
                    <a:bodyPr wrap="square"/>
                    <a:lstStyle/>
                    <a:p>
                      <a:r>
                        <a:rPr sz="1439" b="0">
                          <a:solidFill>
                            <a:srgbClr val="1F2D3A"/>
                          </a:solidFill>
                        </a:rPr>
                        <a:t>…</a:t>
                      </a:r>
                    </a:p>
                  </a:txBody>
                  <a:tcPr marL="54864" marR="54864" marT="27432" marB="27432" anchor="ctr">
                    <a:solidFill>
                      <a:srgbClr val="FFFFFF"/>
                    </a:solidFill>
                  </a:tcPr>
                </a:tc>
                <a:tc>
                  <a:txBody>
                    <a:bodyPr wrap="square"/>
                    <a:lstStyle/>
                    <a:p>
                      <a:r>
                        <a:rPr sz="1439" b="0">
                          <a:solidFill>
                            <a:srgbClr val="1F2D3A"/>
                          </a:solidFill>
                        </a:rPr>
                        <a:t>…</a:t>
                      </a:r>
                    </a:p>
                  </a:txBody>
                  <a:tcPr marL="54864" marR="54864" marT="27432" marB="27432" anchor="ctr">
                    <a:solidFill>
                      <a:srgbClr val="FFFFFF"/>
                    </a:solidFill>
                  </a:tcPr>
                </a:tc>
                <a:tc>
                  <a:txBody>
                    <a:bodyPr wrap="square"/>
                    <a:lstStyle/>
                    <a:p>
                      <a:r>
                        <a:rPr sz="1439" b="0">
                          <a:solidFill>
                            <a:srgbClr val="1F2D3A"/>
                          </a:solidFill>
                        </a:rPr>
                        <a:t>…</a:t>
                      </a:r>
                    </a:p>
                  </a:txBody>
                  <a:tcPr marL="54864" marR="54864" marT="27432" marB="27432" anchor="ctr">
                    <a:solidFill>
                      <a:srgbClr val="FFFFFF"/>
                    </a:solidFill>
                  </a:tcPr>
                </a:tc>
                <a:tc>
                  <a:txBody>
                    <a:bodyPr wrap="square"/>
                    <a:lstStyle/>
                    <a:p>
                      <a:r>
                        <a:rPr sz="1439" b="0">
                          <a:solidFill>
                            <a:srgbClr val="1F2D3A"/>
                          </a:solidFill>
                        </a:rPr>
                        <a:t>…</a:t>
                      </a:r>
                    </a:p>
                  </a:txBody>
                  <a:tcPr marL="54864" marR="54864" marT="27432" marB="27432" anchor="ctr">
                    <a:solidFill>
                      <a:srgbClr val="FFFFFF"/>
                    </a:solidFill>
                  </a:tcPr>
                </a:tc>
              </a:tr>
            </a:tbl>
          </a:graphicData>
        </a:graphic>
      </p:graphicFrame>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13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137</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Activity · Step 3</a:t>
            </a:r>
          </a:p>
        </p:txBody>
      </p:sp>
      <p:sp>
        <p:nvSpPr>
          <p:cNvPr id="7" name="TextBox 6"/>
          <p:cNvSpPr txBox="1"/>
          <p:nvPr/>
        </p:nvSpPr>
        <p:spPr>
          <a:xfrm>
            <a:off x="640080" y="1325880"/>
            <a:ext cx="10911535" cy="1219200"/>
          </a:xfrm>
          <a:prstGeom prst="rect">
            <a:avLst/>
          </a:prstGeom>
          <a:noFill/>
        </p:spPr>
        <p:txBody>
          <a:bodyPr wrap="square" lIns="45720" rIns="45720">
            <a:spAutoFit/>
          </a:bodyPr>
          <a:lstStyle/>
          <a:p>
            <a:pPr>
              <a:spcAft>
                <a:spcPts val="300"/>
              </a:spcAft>
            </a:pPr>
            <a:r>
              <a:rPr sz="2000" b="1">
                <a:solidFill>
                  <a:srgbClr val="006D77"/>
                </a:solidFill>
              </a:rPr>
              <a:t>• </a:t>
            </a:r>
            <a:r>
              <a:rPr sz="2000" b="0">
                <a:solidFill>
                  <a:srgbClr val="1F2D3A"/>
                </a:solidFill>
              </a:rPr>
              <a:t>Write at least one as </a:t>
            </a:r>
            <a:r>
              <a:rPr sz="2000" b="1">
                <a:solidFill>
                  <a:srgbClr val="1F2D3A"/>
                </a:solidFill>
              </a:rPr>
              <a:t>deferred</a:t>
            </a:r>
            <a:r>
              <a:rPr sz="2000" b="0">
                <a:solidFill>
                  <a:srgbClr val="1F2D3A"/>
                </a:solidFill>
              </a:rPr>
              <a:t> (to whom/why/how).</a:t>
            </a:r>
          </a:p>
          <a:p>
            <a:pPr>
              <a:spcAft>
                <a:spcPts val="300"/>
              </a:spcAft>
            </a:pPr>
            <a:r>
              <a:rPr sz="2000" b="1">
                <a:solidFill>
                  <a:srgbClr val="006D77"/>
                </a:solidFill>
              </a:rPr>
              <a:t>• </a:t>
            </a:r>
            <a:r>
              <a:rPr sz="2000" b="0">
                <a:solidFill>
                  <a:srgbClr val="1F2D3A"/>
                </a:solidFill>
              </a:rPr>
              <a:t>Show at least one's </a:t>
            </a:r>
            <a:r>
              <a:rPr sz="2000" b="1">
                <a:solidFill>
                  <a:srgbClr val="1F2D3A"/>
                </a:solidFill>
              </a:rPr>
              <a:t>evidence</a:t>
            </a:r>
            <a:r>
              <a:rPr sz="2000" b="0">
                <a:solidFill>
                  <a:srgbClr val="1F2D3A"/>
                </a:solidFill>
              </a:rPr>
              <a:t> concretely.</a:t>
            </a:r>
          </a:p>
          <a:p>
            <a:pPr>
              <a:spcAft>
                <a:spcPts val="300"/>
              </a:spcAft>
            </a:pPr>
            <a:r>
              <a:rPr sz="2000" b="1">
                <a:solidFill>
                  <a:srgbClr val="006D77"/>
                </a:solidFill>
              </a:rPr>
              <a:t>• </a:t>
            </a:r>
            <a:r>
              <a:rPr sz="2000" b="0">
                <a:solidFill>
                  <a:srgbClr val="1F2D3A"/>
                </a:solidFill>
              </a:rPr>
              <a:t>If there's a "not met," write it into the </a:t>
            </a:r>
            <a:r>
              <a:rPr sz="2000" b="1">
                <a:solidFill>
                  <a:srgbClr val="1F2D3A"/>
                </a:solidFill>
              </a:rPr>
              <a:t>residual risk</a:t>
            </a:r>
            <a:r>
              <a:rPr sz="2000" b="0">
                <a:solidFill>
                  <a:srgbClr val="1F2D3A"/>
                </a:solidFill>
              </a:rPr>
              <a:t>.</a:t>
            </a: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13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138</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Activity · Evaluation</a:t>
            </a:r>
          </a:p>
        </p:txBody>
      </p:sp>
      <p:sp>
        <p:nvSpPr>
          <p:cNvPr id="7" name="TextBox 6"/>
          <p:cNvSpPr txBox="1"/>
          <p:nvPr/>
        </p:nvSpPr>
        <p:spPr>
          <a:xfrm>
            <a:off x="640080" y="1325880"/>
            <a:ext cx="10911535" cy="439928"/>
          </a:xfrm>
          <a:prstGeom prst="rect">
            <a:avLst/>
          </a:prstGeom>
          <a:noFill/>
        </p:spPr>
        <p:txBody>
          <a:bodyPr wrap="square" lIns="45720" rIns="45720">
            <a:spAutoFit/>
          </a:bodyPr>
          <a:lstStyle/>
          <a:p>
            <a:pPr algn="l"/>
            <a:r>
              <a:rPr sz="2000" b="0">
                <a:solidFill>
                  <a:srgbClr val="1F2D3A"/>
                </a:solidFill>
              </a:rPr>
              <a:t>Check through an evaluator's eyes:</a:t>
            </a:r>
          </a:p>
        </p:txBody>
      </p:sp>
      <p:sp>
        <p:nvSpPr>
          <p:cNvPr id="8" name="TextBox 7"/>
          <p:cNvSpPr txBox="1"/>
          <p:nvPr/>
        </p:nvSpPr>
        <p:spPr>
          <a:xfrm>
            <a:off x="640080" y="1875536"/>
            <a:ext cx="10911535" cy="1219200"/>
          </a:xfrm>
          <a:prstGeom prst="rect">
            <a:avLst/>
          </a:prstGeom>
          <a:noFill/>
        </p:spPr>
        <p:txBody>
          <a:bodyPr wrap="square" lIns="45720" rIns="45720">
            <a:spAutoFit/>
          </a:bodyPr>
          <a:lstStyle/>
          <a:p>
            <a:pPr>
              <a:spcAft>
                <a:spcPts val="300"/>
              </a:spcAft>
            </a:pPr>
            <a:r>
              <a:rPr sz="2000" b="1">
                <a:solidFill>
                  <a:srgbClr val="006D77"/>
                </a:solidFill>
              </a:rPr>
              <a:t>• </a:t>
            </a:r>
            <a:r>
              <a:rPr sz="2000" b="0">
                <a:solidFill>
                  <a:srgbClr val="1F2D3A"/>
                </a:solidFill>
              </a:rPr>
              <a:t>Does every row have evidence?</a:t>
            </a:r>
          </a:p>
          <a:p>
            <a:pPr>
              <a:spcAft>
                <a:spcPts val="300"/>
              </a:spcAft>
            </a:pPr>
            <a:r>
              <a:rPr sz="2000" b="1">
                <a:solidFill>
                  <a:srgbClr val="006D77"/>
                </a:solidFill>
              </a:rPr>
              <a:t>• </a:t>
            </a:r>
            <a:r>
              <a:rPr sz="2000" b="0">
                <a:solidFill>
                  <a:srgbClr val="1F2D3A"/>
                </a:solidFill>
              </a:rPr>
              <a:t>Are the deferred ones explicit?</a:t>
            </a:r>
          </a:p>
          <a:p>
            <a:pPr>
              <a:spcAft>
                <a:spcPts val="300"/>
              </a:spcAft>
            </a:pPr>
            <a:r>
              <a:rPr sz="2000" b="1">
                <a:solidFill>
                  <a:srgbClr val="006D77"/>
                </a:solidFill>
              </a:rPr>
              <a:t>• </a:t>
            </a:r>
            <a:r>
              <a:rPr sz="2000" b="0">
                <a:solidFill>
                  <a:srgbClr val="1F2D3A"/>
                </a:solidFill>
              </a:rPr>
              <a:t>Are the requirements </a:t>
            </a:r>
            <a:r>
              <a:rPr sz="2000" b="1">
                <a:solidFill>
                  <a:srgbClr val="1F2D3A"/>
                </a:solidFill>
              </a:rPr>
              <a:t>verifiable</a:t>
            </a:r>
            <a:r>
              <a:rPr sz="2000" b="0">
                <a:solidFill>
                  <a:srgbClr val="1F2D3A"/>
                </a:solidFill>
              </a:rPr>
              <a:t>?</a:t>
            </a: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13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139</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2600" b="1">
                <a:solidFill>
                  <a:srgbClr val="006D77"/>
                </a:solidFill>
              </a:rPr>
              <a:t>Worked Example · A First Draft (Inadequate)</a:t>
            </a:r>
          </a:p>
        </p:txBody>
      </p:sp>
      <p:sp>
        <p:nvSpPr>
          <p:cNvPr id="7" name="TextBox 6"/>
          <p:cNvSpPr txBox="1"/>
          <p:nvPr/>
        </p:nvSpPr>
        <p:spPr>
          <a:xfrm>
            <a:off x="640080" y="1325880"/>
            <a:ext cx="10911535" cy="406908"/>
          </a:xfrm>
          <a:prstGeom prst="rect">
            <a:avLst/>
          </a:prstGeom>
          <a:noFill/>
        </p:spPr>
        <p:txBody>
          <a:bodyPr wrap="square" lIns="45720" rIns="45720">
            <a:spAutoFit/>
          </a:bodyPr>
          <a:lstStyle/>
          <a:p>
            <a:pPr algn="l"/>
            <a:r>
              <a:rPr sz="1800" b="0">
                <a:solidFill>
                  <a:srgbClr val="1F2D3A"/>
                </a:solidFill>
              </a:rPr>
              <a:t>A team's matrix row for </a:t>
            </a:r>
            <a:r>
              <a:rPr sz="1800" b="0">
                <a:solidFill>
                  <a:srgbClr val="A1123F"/>
                </a:solidFill>
                <a:latin typeface="Consolas"/>
              </a:rPr>
              <a:t>CEN429-AP-04</a:t>
            </a:r>
            <a:r>
              <a:rPr sz="1800" b="0">
                <a:solidFill>
                  <a:srgbClr val="1F2D3A"/>
                </a:solidFill>
              </a:rPr>
              <a:t>, in the </a:t>
            </a:r>
            <a:r>
              <a:rPr sz="1800" b="1">
                <a:solidFill>
                  <a:srgbClr val="1F2D3A"/>
                </a:solidFill>
              </a:rPr>
              <a:t>first draft</a:t>
            </a:r>
            <a:r>
              <a:rPr sz="1800" b="0">
                <a:solidFill>
                  <a:srgbClr val="1F2D3A"/>
                </a:solidFill>
              </a:rPr>
              <a:t>:</a:t>
            </a:r>
          </a:p>
        </p:txBody>
      </p:sp>
      <p:graphicFrame>
        <p:nvGraphicFramePr>
          <p:cNvPr id="8" name="Table 7"/>
          <p:cNvGraphicFramePr>
            <a:graphicFrameLocks noGrp="1"/>
          </p:cNvGraphicFramePr>
          <p:nvPr/>
        </p:nvGraphicFramePr>
        <p:xfrm>
          <a:off x="640080" y="1842515"/>
          <a:ext cx="10911533" cy="1212494"/>
        </p:xfrm>
        <a:graphic>
          <a:graphicData uri="http://schemas.openxmlformats.org/drawingml/2006/table">
            <a:tbl>
              <a:tblPr firstRow="1" bandRow="1">
                <a:tableStyleId>{5C22544A-7EE6-4342-B048-85BDC9FD1C3A}</a:tableStyleId>
              </a:tblPr>
              <a:tblGrid>
                <a:gridCol w="1256004"/>
                <a:gridCol w="4317513"/>
                <a:gridCol w="785002"/>
                <a:gridCol w="2355007"/>
                <a:gridCol w="1256004"/>
                <a:gridCol w="942003"/>
              </a:tblGrid>
              <a:tr h="606247">
                <a:tc>
                  <a:txBody>
                    <a:bodyPr wrap="square"/>
                    <a:lstStyle/>
                    <a:p>
                      <a:r>
                        <a:rPr sz="1296" b="1">
                          <a:solidFill>
                            <a:srgbClr val="FFFFFF"/>
                          </a:solidFill>
                        </a:rPr>
                        <a:t>Id</a:t>
                      </a:r>
                    </a:p>
                  </a:txBody>
                  <a:tcPr marL="54864" marR="54864" marT="27432" marB="27432" anchor="ctr">
                    <a:solidFill>
                      <a:srgbClr val="006D77"/>
                    </a:solidFill>
                  </a:tcPr>
                </a:tc>
                <a:tc>
                  <a:txBody>
                    <a:bodyPr wrap="square"/>
                    <a:lstStyle/>
                    <a:p>
                      <a:r>
                        <a:rPr sz="1296" b="1">
                          <a:solidFill>
                            <a:srgbClr val="FFFFFF"/>
                          </a:solidFill>
                        </a:rPr>
                        <a:t>Requirement</a:t>
                      </a:r>
                    </a:p>
                  </a:txBody>
                  <a:tcPr marL="54864" marR="54864" marT="27432" marB="27432" anchor="ctr">
                    <a:solidFill>
                      <a:srgbClr val="006D77"/>
                    </a:solidFill>
                  </a:tcPr>
                </a:tc>
                <a:tc>
                  <a:txBody>
                    <a:bodyPr wrap="square"/>
                    <a:lstStyle/>
                    <a:p>
                      <a:r>
                        <a:rPr sz="1296" b="1">
                          <a:solidFill>
                            <a:srgbClr val="FFFFFF"/>
                          </a:solidFill>
                        </a:rPr>
                        <a:t>Status</a:t>
                      </a:r>
                    </a:p>
                  </a:txBody>
                  <a:tcPr marL="54864" marR="54864" marT="27432" marB="27432" anchor="ctr">
                    <a:solidFill>
                      <a:srgbClr val="006D77"/>
                    </a:solidFill>
                  </a:tcPr>
                </a:tc>
                <a:tc>
                  <a:txBody>
                    <a:bodyPr wrap="square"/>
                    <a:lstStyle/>
                    <a:p>
                      <a:r>
                        <a:rPr sz="1296" b="1">
                          <a:solidFill>
                            <a:srgbClr val="FFFFFF"/>
                          </a:solidFill>
                        </a:rPr>
                        <a:t>Control</a:t>
                      </a:r>
                    </a:p>
                  </a:txBody>
                  <a:tcPr marL="54864" marR="54864" marT="27432" marB="27432" anchor="ctr">
                    <a:solidFill>
                      <a:srgbClr val="006D77"/>
                    </a:solidFill>
                  </a:tcPr>
                </a:tc>
                <a:tc>
                  <a:txBody>
                    <a:bodyPr wrap="square"/>
                    <a:lstStyle/>
                    <a:p>
                      <a:r>
                        <a:rPr sz="1296" b="1">
                          <a:solidFill>
                            <a:srgbClr val="FFFFFF"/>
                          </a:solidFill>
                        </a:rPr>
                        <a:t>Verification</a:t>
                      </a:r>
                    </a:p>
                  </a:txBody>
                  <a:tcPr marL="54864" marR="54864" marT="27432" marB="27432" anchor="ctr">
                    <a:solidFill>
                      <a:srgbClr val="006D77"/>
                    </a:solidFill>
                  </a:tcPr>
                </a:tc>
                <a:tc>
                  <a:txBody>
                    <a:bodyPr wrap="square"/>
                    <a:lstStyle/>
                    <a:p>
                      <a:r>
                        <a:rPr sz="1296" b="1">
                          <a:solidFill>
                            <a:srgbClr val="FFFFFF"/>
                          </a:solidFill>
                        </a:rPr>
                        <a:t>Evidence</a:t>
                      </a:r>
                    </a:p>
                  </a:txBody>
                  <a:tcPr marL="54864" marR="54864" marT="27432" marB="27432" anchor="ctr">
                    <a:solidFill>
                      <a:srgbClr val="006D77"/>
                    </a:solidFill>
                  </a:tcPr>
                </a:tc>
              </a:tr>
              <a:tr h="606247">
                <a:tc>
                  <a:txBody>
                    <a:bodyPr wrap="square"/>
                    <a:lstStyle/>
                    <a:p>
                      <a:r>
                        <a:rPr sz="1296" b="0">
                          <a:solidFill>
                            <a:srgbClr val="1F2D3A"/>
                          </a:solidFill>
                        </a:rPr>
                        <a:t>CEN429-AP-04</a:t>
                      </a:r>
                    </a:p>
                  </a:txBody>
                  <a:tcPr marL="54864" marR="54864" marT="27432" marB="27432" anchor="ctr">
                    <a:solidFill>
                      <a:srgbClr val="FFFFFF"/>
                    </a:solidFill>
                  </a:tcPr>
                </a:tc>
                <a:tc>
                  <a:txBody>
                    <a:bodyPr wrap="square"/>
                    <a:lstStyle/>
                    <a:p>
                      <a:r>
                        <a:rPr sz="1296" b="0">
                          <a:solidFill>
                            <a:srgbClr val="1F2D3A"/>
                          </a:solidFill>
                        </a:rPr>
                        <a:t>The application must check its integrity at runtime</a:t>
                      </a:r>
                    </a:p>
                  </a:txBody>
                  <a:tcPr marL="54864" marR="54864" marT="27432" marB="27432" anchor="ctr">
                    <a:solidFill>
                      <a:srgbClr val="FFFFFF"/>
                    </a:solidFill>
                  </a:tcPr>
                </a:tc>
                <a:tc>
                  <a:txBody>
                    <a:bodyPr wrap="square"/>
                    <a:lstStyle/>
                    <a:p>
                      <a:r>
                        <a:rPr sz="1296" b="0">
                          <a:solidFill>
                            <a:srgbClr val="1F2D3A"/>
                          </a:solidFill>
                        </a:rPr>
                        <a:t>Met</a:t>
                      </a:r>
                    </a:p>
                  </a:txBody>
                  <a:tcPr marL="54864" marR="54864" marT="27432" marB="27432" anchor="ctr">
                    <a:solidFill>
                      <a:srgbClr val="FFFFFF"/>
                    </a:solidFill>
                  </a:tcPr>
                </a:tc>
                <a:tc>
                  <a:txBody>
                    <a:bodyPr wrap="square"/>
                    <a:lstStyle/>
                    <a:p>
                      <a:r>
                        <a:rPr sz="1296" b="0">
                          <a:solidFill>
                            <a:srgbClr val="1F2D3A"/>
                          </a:solidFill>
                        </a:rPr>
                        <a:t>There's an integrity check</a:t>
                      </a:r>
                    </a:p>
                  </a:txBody>
                  <a:tcPr marL="54864" marR="54864" marT="27432" marB="27432" anchor="ctr">
                    <a:solidFill>
                      <a:srgbClr val="FFFFFF"/>
                    </a:solidFill>
                  </a:tcPr>
                </a:tc>
                <a:tc>
                  <a:txBody>
                    <a:bodyPr wrap="square"/>
                    <a:lstStyle/>
                    <a:p>
                      <a:r>
                        <a:rPr sz="1296" b="0">
                          <a:solidFill>
                            <a:srgbClr val="1F2D3A"/>
                          </a:solidFill>
                        </a:rPr>
                        <a:t>Tested</a:t>
                      </a:r>
                    </a:p>
                  </a:txBody>
                  <a:tcPr marL="54864" marR="54864" marT="27432" marB="27432" anchor="ctr">
                    <a:solidFill>
                      <a:srgbClr val="FFFFFF"/>
                    </a:solidFill>
                  </a:tcPr>
                </a:tc>
                <a:tc>
                  <a:txBody>
                    <a:bodyPr wrap="square"/>
                    <a:lstStyle/>
                    <a:p>
                      <a:r>
                        <a:rPr sz="1296" b="0">
                          <a:solidFill>
                            <a:srgbClr val="1F2D3A"/>
                          </a:solidFill>
                        </a:rPr>
                        <a:t>—</a:t>
                      </a:r>
                    </a:p>
                  </a:txBody>
                  <a:tcPr marL="54864" marR="54864" marT="27432" marB="27432" anchor="ctr">
                    <a:solidFill>
                      <a:srgbClr val="FFFFFF"/>
                    </a:solidFill>
                  </a:tcPr>
                </a:tc>
              </a:tr>
            </a:tbl>
          </a:graphicData>
        </a:graphic>
      </p:graphicFrame>
      <p:sp>
        <p:nvSpPr>
          <p:cNvPr id="9" name="TextBox 8"/>
          <p:cNvSpPr txBox="1"/>
          <p:nvPr/>
        </p:nvSpPr>
        <p:spPr>
          <a:xfrm>
            <a:off x="640080" y="3164737"/>
            <a:ext cx="10911535" cy="704088"/>
          </a:xfrm>
          <a:prstGeom prst="rect">
            <a:avLst/>
          </a:prstGeom>
          <a:noFill/>
        </p:spPr>
        <p:txBody>
          <a:bodyPr wrap="square" lIns="45720" rIns="45720">
            <a:spAutoFit/>
          </a:bodyPr>
          <a:lstStyle/>
          <a:p>
            <a:pPr algn="l"/>
            <a:r>
              <a:rPr sz="1800" b="0">
                <a:solidFill>
                  <a:srgbClr val="1F2D3A"/>
                </a:solidFill>
              </a:rPr>
              <a:t>Three problems: (1) the control is a </a:t>
            </a:r>
            <a:r>
              <a:rPr sz="1800" b="1">
                <a:solidFill>
                  <a:srgbClr val="1F2D3A"/>
                </a:solidFill>
              </a:rPr>
              <a:t>repetition</a:t>
            </a:r>
            <a:r>
              <a:rPr sz="1800" b="0">
                <a:solidFill>
                  <a:srgbClr val="1F2D3A"/>
                </a:solidFill>
              </a:rPr>
              <a:t> of the requirement. (2) "Tested" is </a:t>
            </a:r>
            <a:r>
              <a:rPr sz="1800" b="1">
                <a:solidFill>
                  <a:srgbClr val="1F2D3A"/>
                </a:solidFill>
              </a:rPr>
              <a:t>not</a:t>
            </a:r>
            <a:r>
              <a:rPr sz="1800" b="0">
                <a:solidFill>
                  <a:srgbClr val="1F2D3A"/>
                </a:solidFill>
              </a:rPr>
              <a:t> a verification method. (3) The evidence is </a:t>
            </a:r>
            <a:r>
              <a:rPr sz="1800" b="1">
                <a:solidFill>
                  <a:srgbClr val="1F2D3A"/>
                </a:solidFill>
              </a:rPr>
              <a:t>empty</a:t>
            </a:r>
            <a:r>
              <a:rPr sz="1800" b="0">
                <a:solidFill>
                  <a:srgbClr val="1F2D3A"/>
                </a:solidFill>
              </a:rPr>
              <a:t>.</a:t>
            </a: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13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140</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Fixing the Draft · Step by Step</a:t>
            </a:r>
          </a:p>
        </p:txBody>
      </p:sp>
      <p:sp>
        <p:nvSpPr>
          <p:cNvPr id="7" name="TextBox 6"/>
          <p:cNvSpPr txBox="1"/>
          <p:nvPr/>
        </p:nvSpPr>
        <p:spPr>
          <a:xfrm>
            <a:off x="640080" y="1325880"/>
            <a:ext cx="10911535" cy="2209800"/>
          </a:xfrm>
          <a:prstGeom prst="rect">
            <a:avLst/>
          </a:prstGeom>
          <a:noFill/>
        </p:spPr>
        <p:txBody>
          <a:bodyPr wrap="square" lIns="45720" rIns="45720">
            <a:spAutoFit/>
          </a:bodyPr>
          <a:lstStyle/>
          <a:p>
            <a:pPr>
              <a:spcAft>
                <a:spcPts val="300"/>
              </a:spcAft>
            </a:pPr>
            <a:r>
              <a:rPr sz="2000" b="1">
                <a:solidFill>
                  <a:srgbClr val="006D77"/>
                </a:solidFill>
              </a:rPr>
              <a:t>1. </a:t>
            </a:r>
            <a:r>
              <a:rPr sz="2000" b="0">
                <a:solidFill>
                  <a:srgbClr val="1F2D3A"/>
                </a:solidFill>
              </a:rPr>
              <a:t>Make the control concrete: a hash of the code section is computed at startup and compared with the embedded expected hash at build time; execution stops on mismatch (S12.3).</a:t>
            </a:r>
          </a:p>
          <a:p>
            <a:pPr>
              <a:spcAft>
                <a:spcPts val="300"/>
              </a:spcAft>
            </a:pPr>
            <a:r>
              <a:rPr sz="2000" b="1">
                <a:solidFill>
                  <a:srgbClr val="006D77"/>
                </a:solidFill>
              </a:rPr>
              <a:t>2. </a:t>
            </a:r>
            <a:r>
              <a:rPr sz="2000" b="0">
                <a:solidFill>
                  <a:srgbClr val="1F2D3A"/>
                </a:solidFill>
              </a:rPr>
              <a:t>Clarify the verification method: a byte of the binary is changed, and it's verified the application </a:t>
            </a:r>
            <a:r>
              <a:rPr sz="2000" b="1">
                <a:solidFill>
                  <a:srgbClr val="1F2D3A"/>
                </a:solidFill>
              </a:rPr>
              <a:t>refuses to start</a:t>
            </a:r>
            <a:r>
              <a:rPr sz="2000" b="0">
                <a:solidFill>
                  <a:srgbClr val="1F2D3A"/>
                </a:solidFill>
              </a:rPr>
              <a:t>.</a:t>
            </a:r>
          </a:p>
          <a:p>
            <a:pPr>
              <a:spcAft>
                <a:spcPts val="300"/>
              </a:spcAft>
            </a:pPr>
            <a:r>
              <a:rPr sz="2000" b="1">
                <a:solidFill>
                  <a:srgbClr val="006D77"/>
                </a:solidFill>
              </a:rPr>
              <a:t>3. </a:t>
            </a:r>
            <a:r>
              <a:rPr sz="2000" b="0">
                <a:solidFill>
                  <a:srgbClr val="1F2D3A"/>
                </a:solidFill>
              </a:rPr>
              <a:t>Add evidence: the CI job </a:t>
            </a:r>
            <a:r>
              <a:rPr sz="2000" b="0">
                <a:solidFill>
                  <a:srgbClr val="A1123F"/>
                </a:solidFill>
                <a:latin typeface="Consolas"/>
              </a:rPr>
              <a:t>ci-integrity-check</a:t>
            </a:r>
            <a:r>
              <a:rPr sz="2000" b="0">
                <a:solidFill>
                  <a:srgbClr val="1F2D3A"/>
                </a:solidFill>
              </a:rPr>
              <a:t>, run </a:t>
            </a:r>
            <a:r>
              <a:rPr sz="2000" b="1">
                <a:solidFill>
                  <a:srgbClr val="1F2D3A"/>
                </a:solidFill>
              </a:rPr>
              <a:t>#391</a:t>
            </a:r>
            <a:r>
              <a:rPr sz="2000" b="0">
                <a:solidFill>
                  <a:srgbClr val="1F2D3A"/>
                </a:solidFill>
              </a:rPr>
              <a:t>, </a:t>
            </a:r>
            <a:r>
              <a:rPr sz="2000" b="0">
                <a:solidFill>
                  <a:srgbClr val="A1123F"/>
                </a:solidFill>
                <a:latin typeface="Consolas"/>
              </a:rPr>
              <a:t>integrity_test.log</a:t>
            </a:r>
            <a:r>
              <a:rPr sz="2000" b="0">
                <a:solidFill>
                  <a:srgbClr val="1F2D3A"/>
                </a:solidFill>
              </a:rPr>
              <a:t>.</a:t>
            </a: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13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141</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2600" b="1">
                <a:solidFill>
                  <a:srgbClr val="006D77"/>
                </a:solidFill>
              </a:rPr>
              <a:t>The Corrected Row</a:t>
            </a:r>
          </a:p>
        </p:txBody>
      </p:sp>
      <p:graphicFrame>
        <p:nvGraphicFramePr>
          <p:cNvPr id="7" name="Table 6"/>
          <p:cNvGraphicFramePr>
            <a:graphicFrameLocks noGrp="1"/>
          </p:cNvGraphicFramePr>
          <p:nvPr/>
        </p:nvGraphicFramePr>
        <p:xfrm>
          <a:off x="640080" y="1325880"/>
          <a:ext cx="10911532" cy="1212494"/>
        </p:xfrm>
        <a:graphic>
          <a:graphicData uri="http://schemas.openxmlformats.org/drawingml/2006/table">
            <a:tbl>
              <a:tblPr firstRow="1" bandRow="1">
                <a:tableStyleId>{5C22544A-7EE6-4342-B048-85BDC9FD1C3A}</a:tableStyleId>
              </a:tblPr>
              <a:tblGrid>
                <a:gridCol w="872922"/>
                <a:gridCol w="545576"/>
                <a:gridCol w="3819037"/>
                <a:gridCol w="2727883"/>
                <a:gridCol w="2946114"/>
              </a:tblGrid>
              <a:tr h="606247">
                <a:tc>
                  <a:txBody>
                    <a:bodyPr wrap="square"/>
                    <a:lstStyle/>
                    <a:p>
                      <a:r>
                        <a:rPr sz="1296" b="1">
                          <a:solidFill>
                            <a:srgbClr val="FFFFFF"/>
                          </a:solidFill>
                        </a:rPr>
                        <a:t>Id</a:t>
                      </a:r>
                    </a:p>
                  </a:txBody>
                  <a:tcPr marL="54864" marR="54864" marT="27432" marB="27432" anchor="ctr">
                    <a:solidFill>
                      <a:srgbClr val="006D77"/>
                    </a:solidFill>
                  </a:tcPr>
                </a:tc>
                <a:tc>
                  <a:txBody>
                    <a:bodyPr wrap="square"/>
                    <a:lstStyle/>
                    <a:p>
                      <a:r>
                        <a:rPr sz="1296" b="1">
                          <a:solidFill>
                            <a:srgbClr val="FFFFFF"/>
                          </a:solidFill>
                        </a:rPr>
                        <a:t>Status</a:t>
                      </a:r>
                    </a:p>
                  </a:txBody>
                  <a:tcPr marL="54864" marR="54864" marT="27432" marB="27432" anchor="ctr">
                    <a:solidFill>
                      <a:srgbClr val="006D77"/>
                    </a:solidFill>
                  </a:tcPr>
                </a:tc>
                <a:tc>
                  <a:txBody>
                    <a:bodyPr wrap="square"/>
                    <a:lstStyle/>
                    <a:p>
                      <a:r>
                        <a:rPr sz="1296" b="1">
                          <a:solidFill>
                            <a:srgbClr val="FFFFFF"/>
                          </a:solidFill>
                        </a:rPr>
                        <a:t>Control</a:t>
                      </a:r>
                    </a:p>
                  </a:txBody>
                  <a:tcPr marL="54864" marR="54864" marT="27432" marB="27432" anchor="ctr">
                    <a:solidFill>
                      <a:srgbClr val="006D77"/>
                    </a:solidFill>
                  </a:tcPr>
                </a:tc>
                <a:tc>
                  <a:txBody>
                    <a:bodyPr wrap="square"/>
                    <a:lstStyle/>
                    <a:p>
                      <a:r>
                        <a:rPr sz="1296" b="1">
                          <a:solidFill>
                            <a:srgbClr val="FFFFFF"/>
                          </a:solidFill>
                        </a:rPr>
                        <a:t>Verification</a:t>
                      </a:r>
                    </a:p>
                  </a:txBody>
                  <a:tcPr marL="54864" marR="54864" marT="27432" marB="27432" anchor="ctr">
                    <a:solidFill>
                      <a:srgbClr val="006D77"/>
                    </a:solidFill>
                  </a:tcPr>
                </a:tc>
                <a:tc>
                  <a:txBody>
                    <a:bodyPr wrap="square"/>
                    <a:lstStyle/>
                    <a:p>
                      <a:r>
                        <a:rPr sz="1296" b="1">
                          <a:solidFill>
                            <a:srgbClr val="FFFFFF"/>
                          </a:solidFill>
                        </a:rPr>
                        <a:t>Evidence</a:t>
                      </a:r>
                    </a:p>
                  </a:txBody>
                  <a:tcPr marL="54864" marR="54864" marT="27432" marB="27432" anchor="ctr">
                    <a:solidFill>
                      <a:srgbClr val="006D77"/>
                    </a:solidFill>
                  </a:tcPr>
                </a:tc>
              </a:tr>
              <a:tr h="606247">
                <a:tc>
                  <a:txBody>
                    <a:bodyPr wrap="square"/>
                    <a:lstStyle/>
                    <a:p>
                      <a:r>
                        <a:rPr sz="1296" b="0">
                          <a:solidFill>
                            <a:srgbClr val="1F2D3A"/>
                          </a:solidFill>
                        </a:rPr>
                        <a:t>CEN429-AP-04</a:t>
                      </a:r>
                    </a:p>
                  </a:txBody>
                  <a:tcPr marL="54864" marR="54864" marT="27432" marB="27432" anchor="ctr">
                    <a:solidFill>
                      <a:srgbClr val="FFFFFF"/>
                    </a:solidFill>
                  </a:tcPr>
                </a:tc>
                <a:tc>
                  <a:txBody>
                    <a:bodyPr wrap="square"/>
                    <a:lstStyle/>
                    <a:p>
                      <a:r>
                        <a:rPr sz="1296" b="0">
                          <a:solidFill>
                            <a:srgbClr val="1F2D3A"/>
                          </a:solidFill>
                        </a:rPr>
                        <a:t>Met</a:t>
                      </a:r>
                    </a:p>
                  </a:txBody>
                  <a:tcPr marL="54864" marR="54864" marT="27432" marB="27432" anchor="ctr">
                    <a:solidFill>
                      <a:srgbClr val="FFFFFF"/>
                    </a:solidFill>
                  </a:tcPr>
                </a:tc>
                <a:tc>
                  <a:txBody>
                    <a:bodyPr wrap="square"/>
                    <a:lstStyle/>
                    <a:p>
                      <a:r>
                        <a:rPr sz="1296" b="0">
                          <a:solidFill>
                            <a:srgbClr val="1F2D3A"/>
                          </a:solidFill>
                        </a:rPr>
                        <a:t>S12.3: a startup hash is computed, compared with the embedded hash</a:t>
                      </a:r>
                    </a:p>
                  </a:txBody>
                  <a:tcPr marL="54864" marR="54864" marT="27432" marB="27432" anchor="ctr">
                    <a:solidFill>
                      <a:srgbClr val="FFFFFF"/>
                    </a:solidFill>
                  </a:tcPr>
                </a:tc>
                <a:tc>
                  <a:txBody>
                    <a:bodyPr wrap="square"/>
                    <a:lstStyle/>
                    <a:p>
                      <a:r>
                        <a:rPr sz="1296" b="0">
                          <a:solidFill>
                            <a:srgbClr val="1F2D3A"/>
                          </a:solidFill>
                        </a:rPr>
                        <a:t>Tested: startup is refused when a byte changes</a:t>
                      </a:r>
                    </a:p>
                  </a:txBody>
                  <a:tcPr marL="54864" marR="54864" marT="27432" marB="27432" anchor="ctr">
                    <a:solidFill>
                      <a:srgbClr val="FFFFFF"/>
                    </a:solidFill>
                  </a:tcPr>
                </a:tc>
                <a:tc>
                  <a:txBody>
                    <a:bodyPr wrap="square"/>
                    <a:lstStyle/>
                    <a:p>
                      <a:r>
                        <a:rPr sz="1296" b="0">
                          <a:solidFill>
                            <a:srgbClr val="1F2D3A"/>
                          </a:solidFill>
                        </a:rPr>
                        <a:t>CI </a:t>
                      </a:r>
                      <a:r>
                        <a:rPr sz="1296" b="0">
                          <a:solidFill>
                            <a:srgbClr val="A1123F"/>
                          </a:solidFill>
                          <a:latin typeface="Consolas"/>
                        </a:rPr>
                        <a:t>ci-integrity-check</a:t>
                      </a:r>
                      <a:r>
                        <a:rPr sz="1296" b="0">
                          <a:solidFill>
                            <a:srgbClr val="1F2D3A"/>
                          </a:solidFill>
                        </a:rPr>
                        <a:t> #391, </a:t>
                      </a:r>
                      <a:r>
                        <a:rPr sz="1296" b="0">
                          <a:solidFill>
                            <a:srgbClr val="A1123F"/>
                          </a:solidFill>
                          <a:latin typeface="Consolas"/>
                        </a:rPr>
                        <a:t>integrity_test.log</a:t>
                      </a:r>
                    </a:p>
                  </a:txBody>
                  <a:tcPr marL="54864" marR="54864" marT="27432" marB="27432" anchor="ctr">
                    <a:solidFill>
                      <a:srgbClr val="FFFFFF"/>
                    </a:solidFill>
                  </a:tcPr>
                </a:tc>
              </a:tr>
            </a:tbl>
          </a:graphicData>
        </a:graphic>
      </p:graphicFrame>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13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142</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Where Is the Difference?</a:t>
            </a:r>
          </a:p>
        </p:txBody>
      </p:sp>
      <p:sp>
        <p:nvSpPr>
          <p:cNvPr id="7" name="TextBox 6"/>
          <p:cNvSpPr txBox="1"/>
          <p:nvPr/>
        </p:nvSpPr>
        <p:spPr>
          <a:xfrm>
            <a:off x="640080" y="1325880"/>
            <a:ext cx="10911535" cy="2209800"/>
          </a:xfrm>
          <a:prstGeom prst="rect">
            <a:avLst/>
          </a:prstGeom>
          <a:noFill/>
        </p:spPr>
        <p:txBody>
          <a:bodyPr wrap="square" lIns="45720" rIns="45720">
            <a:spAutoFit/>
          </a:bodyPr>
          <a:lstStyle/>
          <a:p>
            <a:pPr>
              <a:spcAft>
                <a:spcPts val="300"/>
              </a:spcAft>
            </a:pPr>
            <a:r>
              <a:rPr sz="2000" b="1">
                <a:solidFill>
                  <a:srgbClr val="006D77"/>
                </a:solidFill>
              </a:rPr>
              <a:t>• </a:t>
            </a:r>
            <a:r>
              <a:rPr sz="2000" b="0">
                <a:solidFill>
                  <a:srgbClr val="1F2D3A"/>
                </a:solidFill>
              </a:rPr>
              <a:t>The difference isn't in the row's </a:t>
            </a:r>
            <a:r>
              <a:rPr sz="2000" b="1">
                <a:solidFill>
                  <a:srgbClr val="1F2D3A"/>
                </a:solidFill>
              </a:rPr>
              <a:t>length</a:t>
            </a:r>
            <a:r>
              <a:rPr sz="2000" b="0">
                <a:solidFill>
                  <a:srgbClr val="1F2D3A"/>
                </a:solidFill>
              </a:rPr>
              <a:t>, it's in the </a:t>
            </a:r>
            <a:r>
              <a:rPr sz="2000" b="1">
                <a:solidFill>
                  <a:srgbClr val="1F2D3A"/>
                </a:solidFill>
              </a:rPr>
              <a:t>concreteness</a:t>
            </a:r>
            <a:r>
              <a:rPr sz="2000" b="0">
                <a:solidFill>
                  <a:srgbClr val="1F2D3A"/>
                </a:solidFill>
              </a:rPr>
              <a:t> of every cell.</a:t>
            </a:r>
          </a:p>
          <a:p>
            <a:pPr>
              <a:spcAft>
                <a:spcPts val="300"/>
              </a:spcAft>
            </a:pPr>
            <a:r>
              <a:rPr sz="2000" b="1">
                <a:solidFill>
                  <a:srgbClr val="006D77"/>
                </a:solidFill>
              </a:rPr>
              <a:t>• </a:t>
            </a:r>
            <a:r>
              <a:rPr sz="2000" b="0">
                <a:solidFill>
                  <a:srgbClr val="1F2D3A"/>
                </a:solidFill>
              </a:rPr>
              <a:t>The first draft also looked "filled in," but no cell could be verified </a:t>
            </a:r>
            <a:r>
              <a:rPr sz="2000" b="1">
                <a:solidFill>
                  <a:srgbClr val="1F2D3A"/>
                </a:solidFill>
              </a:rPr>
              <a:t>independently</a:t>
            </a:r>
            <a:r>
              <a:rPr sz="2000" b="0">
                <a:solidFill>
                  <a:srgbClr val="1F2D3A"/>
                </a:solidFill>
              </a:rPr>
              <a:t>.</a:t>
            </a:r>
          </a:p>
          <a:p>
            <a:pPr>
              <a:spcAft>
                <a:spcPts val="300"/>
              </a:spcAft>
            </a:pPr>
            <a:r>
              <a:rPr sz="2000" b="1">
                <a:solidFill>
                  <a:srgbClr val="006D77"/>
                </a:solidFill>
              </a:rPr>
              <a:t>• </a:t>
            </a:r>
            <a:r>
              <a:rPr sz="2000" b="0">
                <a:solidFill>
                  <a:srgbClr val="1F2D3A"/>
                </a:solidFill>
              </a:rPr>
              <a:t>What matters to the evaluator: being able to answer "how do we know this?" for every cell.</a:t>
            </a: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13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143</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Section 8's Rule</a:t>
            </a:r>
          </a:p>
        </p:txBody>
      </p:sp>
      <p:sp>
        <p:nvSpPr>
          <p:cNvPr id="7" name="TextBox 6"/>
          <p:cNvSpPr txBox="1"/>
          <p:nvPr/>
        </p:nvSpPr>
        <p:spPr>
          <a:xfrm>
            <a:off x="640080" y="1325880"/>
            <a:ext cx="10911535" cy="1879600"/>
          </a:xfrm>
          <a:prstGeom prst="rect">
            <a:avLst/>
          </a:prstGeom>
          <a:noFill/>
        </p:spPr>
        <p:txBody>
          <a:bodyPr wrap="square" lIns="45720" rIns="45720">
            <a:spAutoFit/>
          </a:bodyPr>
          <a:lstStyle/>
          <a:p>
            <a:pPr>
              <a:spcAft>
                <a:spcPts val="300"/>
              </a:spcAft>
            </a:pPr>
            <a:r>
              <a:rPr sz="2000" b="1">
                <a:solidFill>
                  <a:srgbClr val="006D77"/>
                </a:solidFill>
              </a:rPr>
              <a:t>• </a:t>
            </a:r>
            <a:r>
              <a:rPr sz="2000" b="0">
                <a:solidFill>
                  <a:srgbClr val="1F2D3A"/>
                </a:solidFill>
              </a:rPr>
              <a:t>Every row's evidence must be </a:t>
            </a:r>
            <a:r>
              <a:rPr sz="2000" b="1">
                <a:solidFill>
                  <a:srgbClr val="1F2D3A"/>
                </a:solidFill>
              </a:rPr>
              <a:t>specific to that row</a:t>
            </a:r>
            <a:r>
              <a:rPr sz="2000" b="0">
                <a:solidFill>
                  <a:srgbClr val="1F2D3A"/>
                </a:solidFill>
              </a:rPr>
              <a:t>: a specific test name, a specific CI number, a specific log file.</a:t>
            </a:r>
          </a:p>
          <a:p>
            <a:pPr>
              <a:spcAft>
                <a:spcPts val="300"/>
              </a:spcAft>
            </a:pPr>
            <a:r>
              <a:rPr sz="2000" b="1">
                <a:solidFill>
                  <a:srgbClr val="006D77"/>
                </a:solidFill>
              </a:rPr>
              <a:t>• </a:t>
            </a:r>
            <a:r>
              <a:rPr sz="2000" b="0">
                <a:solidFill>
                  <a:srgbClr val="1F2D3A"/>
                </a:solidFill>
              </a:rPr>
              <a:t>Copying a single general report into every row makes the </a:t>
            </a:r>
            <a:r>
              <a:rPr sz="2000" b="1">
                <a:solidFill>
                  <a:srgbClr val="1F2D3A"/>
                </a:solidFill>
              </a:rPr>
              <a:t>whole matrix</a:t>
            </a:r>
            <a:r>
              <a:rPr sz="2000" b="0">
                <a:solidFill>
                  <a:srgbClr val="1F2D3A"/>
                </a:solidFill>
              </a:rPr>
              <a:t> look suspicious.</a:t>
            </a:r>
          </a:p>
          <a:p>
            <a:pPr>
              <a:spcAft>
                <a:spcPts val="300"/>
              </a:spcAft>
            </a:pPr>
            <a:r>
              <a:rPr sz="2000" b="1">
                <a:solidFill>
                  <a:srgbClr val="006D77"/>
                </a:solidFill>
              </a:rPr>
              <a:t>• </a:t>
            </a:r>
            <a:r>
              <a:rPr sz="2000" b="0">
                <a:solidFill>
                  <a:srgbClr val="1F2D3A"/>
                </a:solidFill>
              </a:rPr>
              <a:t>If referencing a general report, state </a:t>
            </a:r>
            <a:r>
              <a:rPr sz="2000" b="1">
                <a:solidFill>
                  <a:srgbClr val="1F2D3A"/>
                </a:solidFill>
              </a:rPr>
              <a:t>which section/page</a:t>
            </a:r>
            <a:r>
              <a:rPr sz="2000" b="0">
                <a:solidFill>
                  <a:srgbClr val="1F2D3A"/>
                </a:solidFill>
              </a:rPr>
              <a:t> of it too.</a:t>
            </a:r>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13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144</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Sections 7–8 — Quick Check</a:t>
            </a:r>
          </a:p>
        </p:txBody>
      </p:sp>
      <p:sp>
        <p:nvSpPr>
          <p:cNvPr id="7" name="TextBox 6"/>
          <p:cNvSpPr txBox="1"/>
          <p:nvPr/>
        </p:nvSpPr>
        <p:spPr>
          <a:xfrm>
            <a:off x="640080" y="1325880"/>
            <a:ext cx="10911535" cy="1219200"/>
          </a:xfrm>
          <a:prstGeom prst="rect">
            <a:avLst/>
          </a:prstGeom>
          <a:noFill/>
        </p:spPr>
        <p:txBody>
          <a:bodyPr wrap="square" lIns="45720" rIns="45720">
            <a:spAutoFit/>
          </a:bodyPr>
          <a:lstStyle/>
          <a:p>
            <a:pPr>
              <a:spcAft>
                <a:spcPts val="300"/>
              </a:spcAft>
            </a:pPr>
            <a:r>
              <a:rPr sz="2000" b="1">
                <a:solidFill>
                  <a:srgbClr val="006D77"/>
                </a:solidFill>
              </a:rPr>
              <a:t>1. </a:t>
            </a:r>
            <a:r>
              <a:rPr sz="2000" b="0">
                <a:solidFill>
                  <a:srgbClr val="1F2D3A"/>
                </a:solidFill>
              </a:rPr>
              <a:t>Which two things is a requirement linked to?</a:t>
            </a:r>
          </a:p>
          <a:p>
            <a:pPr>
              <a:spcAft>
                <a:spcPts val="300"/>
              </a:spcAft>
            </a:pPr>
            <a:r>
              <a:rPr sz="2000" b="1">
                <a:solidFill>
                  <a:srgbClr val="006D77"/>
                </a:solidFill>
              </a:rPr>
              <a:t>2. </a:t>
            </a:r>
            <a:r>
              <a:rPr sz="2000" b="0">
                <a:solidFill>
                  <a:srgbClr val="1F2D3A"/>
                </a:solidFill>
              </a:rPr>
              <a:t>Name three of the course's requirement families.</a:t>
            </a:r>
          </a:p>
          <a:p>
            <a:pPr>
              <a:spcAft>
                <a:spcPts val="300"/>
              </a:spcAft>
            </a:pPr>
            <a:r>
              <a:rPr sz="2000" b="1">
                <a:solidFill>
                  <a:srgbClr val="006D77"/>
                </a:solidFill>
              </a:rPr>
              <a:t>3. </a:t>
            </a:r>
            <a:r>
              <a:rPr sz="2000" b="0">
                <a:solidFill>
                  <a:srgbClr val="1F2D3A"/>
                </a:solidFill>
              </a:rPr>
              <a:t>What must be in every row of a compliance matrix?</a:t>
            </a:r>
          </a:p>
        </p:txBody>
      </p:sp>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13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145</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Sections 7–8 — Answers</a:t>
            </a:r>
          </a:p>
        </p:txBody>
      </p:sp>
      <p:sp>
        <p:nvSpPr>
          <p:cNvPr id="7" name="TextBox 6"/>
          <p:cNvSpPr txBox="1"/>
          <p:nvPr/>
        </p:nvSpPr>
        <p:spPr>
          <a:xfrm>
            <a:off x="640080" y="1325880"/>
            <a:ext cx="10911535" cy="2209800"/>
          </a:xfrm>
          <a:prstGeom prst="rect">
            <a:avLst/>
          </a:prstGeom>
          <a:noFill/>
        </p:spPr>
        <p:txBody>
          <a:bodyPr wrap="square" lIns="45720" rIns="45720">
            <a:spAutoFit/>
          </a:bodyPr>
          <a:lstStyle/>
          <a:p>
            <a:pPr>
              <a:spcAft>
                <a:spcPts val="300"/>
              </a:spcAft>
            </a:pPr>
            <a:r>
              <a:rPr sz="2000" b="1">
                <a:solidFill>
                  <a:srgbClr val="006D77"/>
                </a:solidFill>
              </a:rPr>
              <a:t>1. </a:t>
            </a:r>
            <a:r>
              <a:rPr sz="2000" b="0">
                <a:solidFill>
                  <a:srgbClr val="1F2D3A"/>
                </a:solidFill>
              </a:rPr>
              <a:t>Upward to a </a:t>
            </a:r>
            <a:r>
              <a:rPr sz="2000" b="1">
                <a:solidFill>
                  <a:srgbClr val="1F2D3A"/>
                </a:solidFill>
              </a:rPr>
              <a:t>source</a:t>
            </a:r>
            <a:r>
              <a:rPr sz="2000" b="0">
                <a:solidFill>
                  <a:srgbClr val="1F2D3A"/>
                </a:solidFill>
              </a:rPr>
              <a:t> (threat/standard/asset) and downward to </a:t>
            </a:r>
            <a:r>
              <a:rPr sz="2000" b="1">
                <a:solidFill>
                  <a:srgbClr val="1F2D3A"/>
                </a:solidFill>
              </a:rPr>
              <a:t>evidence</a:t>
            </a:r>
            <a:r>
              <a:rPr sz="2000" b="0">
                <a:solidFill>
                  <a:srgbClr val="1F2D3A"/>
                </a:solidFill>
              </a:rPr>
              <a:t> (test/code) — two directions.</a:t>
            </a:r>
          </a:p>
          <a:p>
            <a:pPr>
              <a:spcAft>
                <a:spcPts val="300"/>
              </a:spcAft>
            </a:pPr>
            <a:r>
              <a:rPr sz="2000" b="1">
                <a:solidFill>
                  <a:srgbClr val="006D77"/>
                </a:solidFill>
              </a:rPr>
              <a:t>2. </a:t>
            </a:r>
            <a:r>
              <a:rPr sz="2000" b="0">
                <a:solidFill>
                  <a:srgbClr val="1F2D3A"/>
                </a:solidFill>
              </a:rPr>
              <a:t>(Any three of the nine families) e.g. </a:t>
            </a:r>
            <a:r>
              <a:rPr sz="2000" b="1">
                <a:solidFill>
                  <a:srgbClr val="1F2D3A"/>
                </a:solidFill>
              </a:rPr>
              <a:t>data security · code hardening · RASP · crypto/certificates · memory protection · interface protection</a:t>
            </a:r>
            <a:r>
              <a:rPr sz="2000" b="0">
                <a:solidFill>
                  <a:srgbClr val="1F2D3A"/>
                </a:solidFill>
              </a:rPr>
              <a:t>.</a:t>
            </a:r>
          </a:p>
          <a:p>
            <a:pPr>
              <a:spcAft>
                <a:spcPts val="300"/>
              </a:spcAft>
            </a:pPr>
            <a:r>
              <a:rPr sz="2000" b="1">
                <a:solidFill>
                  <a:srgbClr val="006D77"/>
                </a:solidFill>
              </a:rPr>
              <a:t>3. </a:t>
            </a:r>
            <a:r>
              <a:rPr sz="2000" b="0">
                <a:solidFill>
                  <a:srgbClr val="1F2D3A"/>
                </a:solidFill>
              </a:rPr>
              <a:t>The requirement's </a:t>
            </a:r>
            <a:r>
              <a:rPr sz="2000" b="1">
                <a:solidFill>
                  <a:srgbClr val="1F2D3A"/>
                </a:solidFill>
              </a:rPr>
              <a:t>id+statement · status</a:t>
            </a:r>
            <a:r>
              <a:rPr sz="2000" b="0">
                <a:solidFill>
                  <a:srgbClr val="1F2D3A"/>
                </a:solidFill>
              </a:rPr>
              <a:t> (met/deferred) </a:t>
            </a:r>
            <a:r>
              <a:rPr sz="2000" b="1">
                <a:solidFill>
                  <a:srgbClr val="1F2D3A"/>
                </a:solidFill>
              </a:rPr>
              <a:t>· evidence</a:t>
            </a:r>
            <a:r>
              <a:rPr sz="2000" b="0">
                <a:solidFill>
                  <a:srgbClr val="1F2D3A"/>
                </a:solidFill>
              </a:rPr>
              <a:t> (test/file/S-section). </a:t>
            </a:r>
            <a:r>
              <a:rPr sz="2000" b="1">
                <a:solidFill>
                  <a:srgbClr val="1F2D3A"/>
                </a:solidFill>
              </a:rPr>
              <a:t>A row with no evidence counts as not met.</a:t>
            </a:r>
          </a:p>
        </p:txBody>
      </p:sp>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13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146</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2600" b="1">
                <a:solidFill>
                  <a:srgbClr val="006D77"/>
                </a:solidFill>
              </a:rPr>
              <a:t>End to End: NotKasa's Compliance Matrix (1/2)</a:t>
            </a:r>
          </a:p>
        </p:txBody>
      </p:sp>
      <p:sp>
        <p:nvSpPr>
          <p:cNvPr id="7" name="TextBox 6"/>
          <p:cNvSpPr txBox="1"/>
          <p:nvPr/>
        </p:nvSpPr>
        <p:spPr>
          <a:xfrm>
            <a:off x="640080" y="1325880"/>
            <a:ext cx="10911535" cy="291338"/>
          </a:xfrm>
          <a:prstGeom prst="rect">
            <a:avLst/>
          </a:prstGeom>
          <a:noFill/>
        </p:spPr>
        <p:txBody>
          <a:bodyPr wrap="square" lIns="45720" rIns="45720">
            <a:spAutoFit/>
          </a:bodyPr>
          <a:lstStyle/>
          <a:p>
            <a:pPr algn="l"/>
            <a:r>
              <a:rPr sz="1100" b="0">
                <a:solidFill>
                  <a:srgbClr val="1F2D3A"/>
                </a:solidFill>
              </a:rPr>
              <a:t>For the synthetic application </a:t>
            </a:r>
            <a:r>
              <a:rPr sz="1100" b="1">
                <a:solidFill>
                  <a:srgbClr val="1F2D3A"/>
                </a:solidFill>
              </a:rPr>
              <a:t>NotKasa</a:t>
            </a:r>
            <a:r>
              <a:rPr sz="1100" b="0">
                <a:solidFill>
                  <a:srgbClr val="1F2D3A"/>
                </a:solidFill>
              </a:rPr>
              <a:t> (keeps local encrypted notes, talks to a server, gets updated), a requirement derives from a threat:</a:t>
            </a:r>
          </a:p>
        </p:txBody>
      </p:sp>
      <p:sp>
        <p:nvSpPr>
          <p:cNvPr id="8" name="Rectangle 7"/>
          <p:cNvSpPr/>
          <p:nvPr/>
        </p:nvSpPr>
        <p:spPr>
          <a:xfrm>
            <a:off x="640080" y="1726946"/>
            <a:ext cx="10911535" cy="1036320"/>
          </a:xfrm>
          <a:prstGeom prst="rect">
            <a:avLst/>
          </a:prstGeom>
          <a:solidFill>
            <a:srgbClr val="F3F4F6"/>
          </a:solidFill>
          <a:ln>
            <a:solidFill>
              <a:srgbClr val="D9DEE3"/>
            </a:solidFill>
          </a:ln>
        </p:spPr>
        <p:style>
          <a:lnRef idx="1">
            <a:schemeClr val="accent1"/>
          </a:lnRef>
          <a:fillRef idx="3">
            <a:schemeClr val="accent1"/>
          </a:fillRef>
          <a:effectRef idx="2">
            <a:schemeClr val="accent1"/>
          </a:effectRef>
          <a:fontRef idx="minor">
            <a:schemeClr val="lt1"/>
          </a:fontRef>
        </p:style>
        <p:txBody>
          <a:bodyPr rtlCol="0" anchor="t" wrap="none" lIns="137160" rIns="137160" tIns="91440" bIns="91440"/>
          <a:lstStyle/>
          <a:p>
            <a:pPr algn="l"/>
            <a:r>
              <a:rPr sz="1000">
                <a:solidFill>
                  <a:srgbClr val="1F2D3A"/>
                </a:solidFill>
                <a:latin typeface="Consolas"/>
              </a:rPr>
              <a:t>Tehdit: cihaz çalınırsa yerel notlar okunur</a:t>
            </a:r>
          </a:p>
          <a:p>
            <a:pPr algn="l"/>
            <a:r>
              <a:rPr sz="1000">
                <a:solidFill>
                  <a:srgbClr val="1F2D3A"/>
                </a:solidFill>
                <a:latin typeface="Consolas"/>
              </a:rPr>
              <a:t>   ↓</a:t>
            </a:r>
          </a:p>
          <a:p>
            <a:pPr algn="l"/>
            <a:r>
              <a:rPr sz="1000">
                <a:solidFill>
                  <a:srgbClr val="1F2D3A"/>
                </a:solidFill>
                <a:latin typeface="Consolas"/>
              </a:rPr>
              <a:t>Amaç: beklemede gizlilik</a:t>
            </a:r>
          </a:p>
          <a:p>
            <a:pPr algn="l"/>
            <a:r>
              <a:rPr sz="1000">
                <a:solidFill>
                  <a:srgbClr val="1F2D3A"/>
                </a:solidFill>
                <a:latin typeface="Consolas"/>
              </a:rPr>
              <a:t>   ↓</a:t>
            </a:r>
          </a:p>
          <a:p>
            <a:pPr algn="l"/>
            <a:r>
              <a:rPr sz="1000">
                <a:solidFill>
                  <a:srgbClr val="1F2D3A"/>
                </a:solidFill>
                <a:latin typeface="Consolas"/>
              </a:rPr>
              <a:t>Gereksinim: C sınıfı veri AEAD ile şifrelenir</a:t>
            </a:r>
          </a:p>
        </p:txBody>
      </p:sp>
      <p:sp>
        <p:nvSpPr>
          <p:cNvPr id="9" name="TextBox 8"/>
          <p:cNvSpPr txBox="1"/>
          <p:nvPr/>
        </p:nvSpPr>
        <p:spPr>
          <a:xfrm>
            <a:off x="640080" y="2872994"/>
            <a:ext cx="10911535" cy="291338"/>
          </a:xfrm>
          <a:prstGeom prst="rect">
            <a:avLst/>
          </a:prstGeom>
          <a:noFill/>
        </p:spPr>
        <p:txBody>
          <a:bodyPr wrap="square" lIns="45720" rIns="45720">
            <a:spAutoFit/>
          </a:bodyPr>
          <a:lstStyle/>
          <a:p>
            <a:pPr algn="l"/>
            <a:r>
              <a:rPr sz="1100" b="0">
                <a:solidFill>
                  <a:srgbClr val="1F2D3A"/>
                </a:solidFill>
              </a:rPr>
              <a:t>Two "met" blocks from this chain:</a:t>
            </a:r>
          </a:p>
        </p:txBody>
      </p:sp>
      <p:sp>
        <p:nvSpPr>
          <p:cNvPr id="10" name="TextBox 9"/>
          <p:cNvSpPr txBox="1"/>
          <p:nvPr/>
        </p:nvSpPr>
        <p:spPr>
          <a:xfrm>
            <a:off x="640080" y="3274060"/>
            <a:ext cx="10911535" cy="291338"/>
          </a:xfrm>
          <a:prstGeom prst="rect">
            <a:avLst/>
          </a:prstGeom>
          <a:noFill/>
        </p:spPr>
        <p:txBody>
          <a:bodyPr wrap="square" lIns="45720" rIns="45720">
            <a:spAutoFit/>
          </a:bodyPr>
          <a:lstStyle/>
          <a:p>
            <a:pPr algn="l"/>
            <a:r>
              <a:rPr sz="1100" b="1">
                <a:solidFill>
                  <a:srgbClr val="1F2D3A"/>
                </a:solidFill>
              </a:rPr>
              <a:t>DR-01 — data at rest:</a:t>
            </a:r>
          </a:p>
        </p:txBody>
      </p:sp>
      <p:sp>
        <p:nvSpPr>
          <p:cNvPr id="11" name="Rectangle 10"/>
          <p:cNvSpPr/>
          <p:nvPr/>
        </p:nvSpPr>
        <p:spPr>
          <a:xfrm>
            <a:off x="640080" y="3675126"/>
            <a:ext cx="10911535" cy="1188720"/>
          </a:xfrm>
          <a:prstGeom prst="rect">
            <a:avLst/>
          </a:prstGeom>
          <a:solidFill>
            <a:srgbClr val="F3F4F6"/>
          </a:solidFill>
          <a:ln>
            <a:solidFill>
              <a:srgbClr val="D9DEE3"/>
            </a:solidFill>
          </a:ln>
        </p:spPr>
        <p:style>
          <a:lnRef idx="1">
            <a:schemeClr val="accent1"/>
          </a:lnRef>
          <a:fillRef idx="3">
            <a:schemeClr val="accent1"/>
          </a:fillRef>
          <a:effectRef idx="2">
            <a:schemeClr val="accent1"/>
          </a:effectRef>
          <a:fontRef idx="minor">
            <a:schemeClr val="lt1"/>
          </a:fontRef>
        </p:style>
        <p:txBody>
          <a:bodyPr rtlCol="0" anchor="t" wrap="none" lIns="137160" rIns="137160" tIns="91440" bIns="91440"/>
          <a:lstStyle/>
          <a:p>
            <a:pPr algn="l"/>
            <a:r>
              <a:rPr sz="1000">
                <a:solidFill>
                  <a:srgbClr val="1F2D3A"/>
                </a:solidFill>
                <a:latin typeface="Consolas"/>
              </a:rPr>
              <a:t>CEN429-DR-01</a:t>
            </a:r>
          </a:p>
          <a:p>
            <a:pPr algn="l"/>
            <a:r>
              <a:rPr sz="1000">
                <a:solidFill>
                  <a:srgbClr val="1F2D3A"/>
                </a:solidFill>
                <a:latin typeface="Consolas"/>
              </a:rPr>
              <a:t>Metin: Yerel DB'deki C sınıfı veri AES-256-GCM ile şifrelenir.</a:t>
            </a:r>
          </a:p>
          <a:p>
            <a:pPr algn="l"/>
            <a:r>
              <a:rPr sz="1000">
                <a:solidFill>
                  <a:srgbClr val="1F2D3A"/>
                </a:solidFill>
                <a:latin typeface="Consolas"/>
              </a:rPr>
              <a:t>Durum: Karşılandı</a:t>
            </a:r>
          </a:p>
          <a:p>
            <a:pPr algn="l"/>
            <a:r>
              <a:rPr sz="1000">
                <a:solidFill>
                  <a:srgbClr val="1F2D3A"/>
                </a:solidFill>
                <a:latin typeface="Consolas"/>
              </a:rPr>
              <a:t>Karşılama: AES-256-GCM, anahtar TEE'de</a:t>
            </a:r>
          </a:p>
          <a:p>
            <a:pPr algn="l"/>
            <a:r>
              <a:rPr sz="1000">
                <a:solidFill>
                  <a:srgbClr val="1F2D3A"/>
                </a:solidFill>
                <a:latin typeface="Consolas"/>
              </a:rPr>
              <a:t>Doğrulama: T-05</a:t>
            </a:r>
          </a:p>
          <a:p>
            <a:pPr algn="l"/>
            <a:r>
              <a:rPr sz="1000">
                <a:solidFill>
                  <a:srgbClr val="1F2D3A"/>
                </a:solidFill>
                <a:latin typeface="Consolas"/>
              </a:rPr>
              <a:t>Kanıt: test çıktısı (S16)</a:t>
            </a:r>
          </a:p>
        </p:txBody>
      </p:sp>
      <p:sp>
        <p:nvSpPr>
          <p:cNvPr id="12" name="TextBox 11"/>
          <p:cNvSpPr txBox="1"/>
          <p:nvPr/>
        </p:nvSpPr>
        <p:spPr>
          <a:xfrm>
            <a:off x="640080" y="4973574"/>
            <a:ext cx="10911535" cy="291338"/>
          </a:xfrm>
          <a:prstGeom prst="rect">
            <a:avLst/>
          </a:prstGeom>
          <a:noFill/>
        </p:spPr>
        <p:txBody>
          <a:bodyPr wrap="square" lIns="45720" rIns="45720">
            <a:spAutoFit/>
          </a:bodyPr>
          <a:lstStyle/>
          <a:p>
            <a:pPr algn="l"/>
            <a:r>
              <a:rPr sz="1100" b="1">
                <a:solidFill>
                  <a:srgbClr val="1F2D3A"/>
                </a:solidFill>
              </a:rPr>
              <a:t>CR-02 — cryptography:</a:t>
            </a:r>
          </a:p>
        </p:txBody>
      </p:sp>
      <p:sp>
        <p:nvSpPr>
          <p:cNvPr id="13" name="Rectangle 12"/>
          <p:cNvSpPr/>
          <p:nvPr/>
        </p:nvSpPr>
        <p:spPr>
          <a:xfrm>
            <a:off x="640080" y="5374640"/>
            <a:ext cx="10911535" cy="1188720"/>
          </a:xfrm>
          <a:prstGeom prst="rect">
            <a:avLst/>
          </a:prstGeom>
          <a:solidFill>
            <a:srgbClr val="F3F4F6"/>
          </a:solidFill>
          <a:ln>
            <a:solidFill>
              <a:srgbClr val="D9DEE3"/>
            </a:solidFill>
          </a:ln>
        </p:spPr>
        <p:style>
          <a:lnRef idx="1">
            <a:schemeClr val="accent1"/>
          </a:lnRef>
          <a:fillRef idx="3">
            <a:schemeClr val="accent1"/>
          </a:fillRef>
          <a:effectRef idx="2">
            <a:schemeClr val="accent1"/>
          </a:effectRef>
          <a:fontRef idx="minor">
            <a:schemeClr val="lt1"/>
          </a:fontRef>
        </p:style>
        <p:txBody>
          <a:bodyPr rtlCol="0" anchor="t" wrap="none" lIns="137160" rIns="137160" tIns="91440" bIns="91440"/>
          <a:lstStyle/>
          <a:p>
            <a:pPr algn="l"/>
            <a:r>
              <a:rPr sz="1000">
                <a:solidFill>
                  <a:srgbClr val="1F2D3A"/>
                </a:solidFill>
                <a:latin typeface="Consolas"/>
              </a:rPr>
              <a:t>CEN429-CR-02</a:t>
            </a:r>
          </a:p>
          <a:p>
            <a:pPr algn="l"/>
            <a:r>
              <a:rPr sz="1000">
                <a:solidFill>
                  <a:srgbClr val="1F2D3A"/>
                </a:solidFill>
                <a:latin typeface="Consolas"/>
              </a:rPr>
              <a:t>Metin: Anahtarların amacı, kripto-periyodu, imhası belgelenir.</a:t>
            </a:r>
          </a:p>
          <a:p>
            <a:pPr algn="l"/>
            <a:r>
              <a:rPr sz="1000">
                <a:solidFill>
                  <a:srgbClr val="1F2D3A"/>
                </a:solidFill>
                <a:latin typeface="Consolas"/>
              </a:rPr>
              <a:t>Durum: Karşılandı</a:t>
            </a:r>
          </a:p>
          <a:p>
            <a:pPr algn="l"/>
            <a:r>
              <a:rPr sz="1000">
                <a:solidFill>
                  <a:srgbClr val="1F2D3A"/>
                </a:solidFill>
                <a:latin typeface="Consolas"/>
              </a:rPr>
              <a:t>Karşılama: S8 anahtar tablosu</a:t>
            </a:r>
          </a:p>
          <a:p>
            <a:pPr algn="l"/>
            <a:r>
              <a:rPr sz="1000">
                <a:solidFill>
                  <a:srgbClr val="1F2D3A"/>
                </a:solidFill>
                <a:latin typeface="Consolas"/>
              </a:rPr>
              <a:t>Doğrulama: belge incelemesi</a:t>
            </a:r>
          </a:p>
          <a:p>
            <a:pPr algn="l"/>
            <a:r>
              <a:rPr sz="1000">
                <a:solidFill>
                  <a:srgbClr val="1F2D3A"/>
                </a:solidFill>
                <a:latin typeface="Consolas"/>
              </a:rPr>
              <a:t>Kanıt: S8</a:t>
            </a:r>
          </a:p>
        </p:txBody>
      </p:sp>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13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147</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2600" b="1">
                <a:solidFill>
                  <a:srgbClr val="006D77"/>
                </a:solidFill>
              </a:rPr>
              <a:t>End to End: NotKasa's Compliance Matrix (2/2)</a:t>
            </a:r>
          </a:p>
        </p:txBody>
      </p:sp>
      <p:sp>
        <p:nvSpPr>
          <p:cNvPr id="7" name="TextBox 6"/>
          <p:cNvSpPr txBox="1"/>
          <p:nvPr/>
        </p:nvSpPr>
        <p:spPr>
          <a:xfrm>
            <a:off x="640080" y="1325880"/>
            <a:ext cx="10911535" cy="291338"/>
          </a:xfrm>
          <a:prstGeom prst="rect">
            <a:avLst/>
          </a:prstGeom>
          <a:noFill/>
        </p:spPr>
        <p:txBody>
          <a:bodyPr wrap="square" lIns="45720" rIns="45720">
            <a:spAutoFit/>
          </a:bodyPr>
          <a:lstStyle/>
          <a:p>
            <a:pPr algn="l"/>
            <a:r>
              <a:rPr sz="1100" b="1">
                <a:solidFill>
                  <a:srgbClr val="1F2D3A"/>
                </a:solidFill>
              </a:rPr>
              <a:t>DT-03 — data in transit:</a:t>
            </a:r>
          </a:p>
        </p:txBody>
      </p:sp>
      <p:sp>
        <p:nvSpPr>
          <p:cNvPr id="8" name="Rectangle 7"/>
          <p:cNvSpPr/>
          <p:nvPr/>
        </p:nvSpPr>
        <p:spPr>
          <a:xfrm>
            <a:off x="640080" y="1726946"/>
            <a:ext cx="10911535" cy="1188720"/>
          </a:xfrm>
          <a:prstGeom prst="rect">
            <a:avLst/>
          </a:prstGeom>
          <a:solidFill>
            <a:srgbClr val="F3F4F6"/>
          </a:solidFill>
          <a:ln>
            <a:solidFill>
              <a:srgbClr val="D9DEE3"/>
            </a:solidFill>
          </a:ln>
        </p:spPr>
        <p:style>
          <a:lnRef idx="1">
            <a:schemeClr val="accent1"/>
          </a:lnRef>
          <a:fillRef idx="3">
            <a:schemeClr val="accent1"/>
          </a:fillRef>
          <a:effectRef idx="2">
            <a:schemeClr val="accent1"/>
          </a:effectRef>
          <a:fontRef idx="minor">
            <a:schemeClr val="lt1"/>
          </a:fontRef>
        </p:style>
        <p:txBody>
          <a:bodyPr rtlCol="0" anchor="t" wrap="none" lIns="137160" rIns="137160" tIns="91440" bIns="91440"/>
          <a:lstStyle/>
          <a:p>
            <a:pPr algn="l"/>
            <a:r>
              <a:rPr sz="1000">
                <a:solidFill>
                  <a:srgbClr val="1F2D3A"/>
                </a:solidFill>
                <a:latin typeface="Consolas"/>
              </a:rPr>
              <a:t>CEN429-DT-03</a:t>
            </a:r>
          </a:p>
          <a:p>
            <a:pPr algn="l"/>
            <a:r>
              <a:rPr sz="1000">
                <a:solidFill>
                  <a:srgbClr val="1F2D3A"/>
                </a:solidFill>
                <a:latin typeface="Consolas"/>
              </a:rPr>
              <a:t>Metin: Sunucu iletişimi TLS 1.3 ve sertifika zinciri doğrulaması kullanır.</a:t>
            </a:r>
          </a:p>
          <a:p>
            <a:pPr algn="l"/>
            <a:r>
              <a:rPr sz="1000">
                <a:solidFill>
                  <a:srgbClr val="1F2D3A"/>
                </a:solidFill>
                <a:latin typeface="Consolas"/>
              </a:rPr>
              <a:t>Durum: Karşılandı</a:t>
            </a:r>
          </a:p>
          <a:p>
            <a:pPr algn="l"/>
            <a:r>
              <a:rPr sz="1000">
                <a:solidFill>
                  <a:srgbClr val="1F2D3A"/>
                </a:solidFill>
                <a:latin typeface="Consolas"/>
              </a:rPr>
              <a:t>Karşılama: TLS 1.3 + SAN denetimi + SPKI pin</a:t>
            </a:r>
          </a:p>
          <a:p>
            <a:pPr algn="l"/>
            <a:r>
              <a:rPr sz="1000">
                <a:solidFill>
                  <a:srgbClr val="1F2D3A"/>
                </a:solidFill>
                <a:latin typeface="Consolas"/>
              </a:rPr>
              <a:t>Doğrulama: T-11</a:t>
            </a:r>
          </a:p>
          <a:p>
            <a:pPr algn="l"/>
            <a:r>
              <a:rPr sz="1000">
                <a:solidFill>
                  <a:srgbClr val="1F2D3A"/>
                </a:solidFill>
                <a:latin typeface="Consolas"/>
              </a:rPr>
              <a:t>Kanıt: test + S11</a:t>
            </a:r>
          </a:p>
        </p:txBody>
      </p:sp>
      <p:sp>
        <p:nvSpPr>
          <p:cNvPr id="9" name="TextBox 8"/>
          <p:cNvSpPr txBox="1"/>
          <p:nvPr/>
        </p:nvSpPr>
        <p:spPr>
          <a:xfrm>
            <a:off x="640080" y="3025394"/>
            <a:ext cx="10911535" cy="291338"/>
          </a:xfrm>
          <a:prstGeom prst="rect">
            <a:avLst/>
          </a:prstGeom>
          <a:noFill/>
        </p:spPr>
        <p:txBody>
          <a:bodyPr wrap="square" lIns="45720" rIns="45720">
            <a:spAutoFit/>
          </a:bodyPr>
          <a:lstStyle/>
          <a:p>
            <a:pPr algn="l"/>
            <a:r>
              <a:rPr sz="1100" b="1">
                <a:solidFill>
                  <a:srgbClr val="1F2D3A"/>
                </a:solidFill>
              </a:rPr>
              <a:t>AP-04 — application protection (deferred):</a:t>
            </a:r>
          </a:p>
        </p:txBody>
      </p:sp>
      <p:sp>
        <p:nvSpPr>
          <p:cNvPr id="10" name="Rectangle 9"/>
          <p:cNvSpPr/>
          <p:nvPr/>
        </p:nvSpPr>
        <p:spPr>
          <a:xfrm>
            <a:off x="640080" y="3426460"/>
            <a:ext cx="10911535" cy="1188720"/>
          </a:xfrm>
          <a:prstGeom prst="rect">
            <a:avLst/>
          </a:prstGeom>
          <a:solidFill>
            <a:srgbClr val="F3F4F6"/>
          </a:solidFill>
          <a:ln>
            <a:solidFill>
              <a:srgbClr val="D9DEE3"/>
            </a:solidFill>
          </a:ln>
        </p:spPr>
        <p:style>
          <a:lnRef idx="1">
            <a:schemeClr val="accent1"/>
          </a:lnRef>
          <a:fillRef idx="3">
            <a:schemeClr val="accent1"/>
          </a:fillRef>
          <a:effectRef idx="2">
            <a:schemeClr val="accent1"/>
          </a:effectRef>
          <a:fontRef idx="minor">
            <a:schemeClr val="lt1"/>
          </a:fontRef>
        </p:style>
        <p:txBody>
          <a:bodyPr rtlCol="0" anchor="t" wrap="none" lIns="137160" rIns="137160" tIns="91440" bIns="91440"/>
          <a:lstStyle/>
          <a:p>
            <a:pPr algn="l"/>
            <a:r>
              <a:rPr sz="1000">
                <a:solidFill>
                  <a:srgbClr val="1F2D3A"/>
                </a:solidFill>
                <a:latin typeface="Consolas"/>
              </a:rPr>
              <a:t>CEN429-AP-04</a:t>
            </a:r>
          </a:p>
          <a:p>
            <a:pPr algn="l"/>
            <a:r>
              <a:rPr sz="1000">
                <a:solidFill>
                  <a:srgbClr val="1F2D3A"/>
                </a:solidFill>
                <a:latin typeface="Consolas"/>
              </a:rPr>
              <a:t>Metin: Güvenli kurulum ve güncelleme sağlanır.</a:t>
            </a:r>
          </a:p>
          <a:p>
            <a:pPr algn="l"/>
            <a:r>
              <a:rPr sz="1000">
                <a:solidFill>
                  <a:srgbClr val="1F2D3A"/>
                </a:solidFill>
                <a:latin typeface="Consolas"/>
              </a:rPr>
              <a:t>Durum: Devredildi</a:t>
            </a:r>
          </a:p>
          <a:p>
            <a:pPr algn="l"/>
            <a:r>
              <a:rPr sz="1000">
                <a:solidFill>
                  <a:srgbClr val="1F2D3A"/>
                </a:solidFill>
                <a:latin typeface="Consolas"/>
              </a:rPr>
              <a:t>Kime: Üst uygulama (MPA)</a:t>
            </a:r>
          </a:p>
          <a:p>
            <a:pPr algn="l"/>
            <a:r>
              <a:rPr sz="1000">
                <a:solidFill>
                  <a:srgbClr val="1F2D3A"/>
                </a:solidFill>
                <a:latin typeface="Consolas"/>
              </a:rPr>
              <a:t>Neden: SDK dağıtım kanalına sahip değil</a:t>
            </a:r>
          </a:p>
          <a:p>
            <a:pPr algn="l"/>
            <a:r>
              <a:rPr sz="1000">
                <a:solidFill>
                  <a:srgbClr val="1F2D3A"/>
                </a:solidFill>
                <a:latin typeface="Consolas"/>
              </a:rPr>
              <a:t>Nasıl: MPA imzalı güncelleme + sürüm denetimi</a:t>
            </a:r>
          </a:p>
        </p:txBody>
      </p:sp>
      <p:sp>
        <p:nvSpPr>
          <p:cNvPr id="11" name="TextBox 10"/>
          <p:cNvSpPr txBox="1"/>
          <p:nvPr/>
        </p:nvSpPr>
        <p:spPr>
          <a:xfrm>
            <a:off x="640080" y="4724908"/>
            <a:ext cx="10911535" cy="291338"/>
          </a:xfrm>
          <a:prstGeom prst="rect">
            <a:avLst/>
          </a:prstGeom>
          <a:noFill/>
        </p:spPr>
        <p:txBody>
          <a:bodyPr wrap="square" lIns="45720" rIns="45720">
            <a:spAutoFit/>
          </a:bodyPr>
          <a:lstStyle/>
          <a:p>
            <a:pPr algn="l"/>
            <a:r>
              <a:rPr sz="1100" b="1">
                <a:solidFill>
                  <a:srgbClr val="1F2D3A"/>
                </a:solidFill>
              </a:rPr>
              <a:t>AS-05 — not met:</a:t>
            </a:r>
          </a:p>
        </p:txBody>
      </p:sp>
      <p:sp>
        <p:nvSpPr>
          <p:cNvPr id="12" name="Rectangle 11"/>
          <p:cNvSpPr/>
          <p:nvPr/>
        </p:nvSpPr>
        <p:spPr>
          <a:xfrm>
            <a:off x="640080" y="5125974"/>
            <a:ext cx="10911535" cy="1036320"/>
          </a:xfrm>
          <a:prstGeom prst="rect">
            <a:avLst/>
          </a:prstGeom>
          <a:solidFill>
            <a:srgbClr val="F3F4F6"/>
          </a:solidFill>
          <a:ln>
            <a:solidFill>
              <a:srgbClr val="D9DEE3"/>
            </a:solidFill>
          </a:ln>
        </p:spPr>
        <p:style>
          <a:lnRef idx="1">
            <a:schemeClr val="accent1"/>
          </a:lnRef>
          <a:fillRef idx="3">
            <a:schemeClr val="accent1"/>
          </a:fillRef>
          <a:effectRef idx="2">
            <a:schemeClr val="accent1"/>
          </a:effectRef>
          <a:fontRef idx="minor">
            <a:schemeClr val="lt1"/>
          </a:fontRef>
        </p:style>
        <p:txBody>
          <a:bodyPr rtlCol="0" anchor="t" wrap="none" lIns="137160" rIns="137160" tIns="91440" bIns="91440"/>
          <a:lstStyle/>
          <a:p>
            <a:pPr algn="l"/>
            <a:r>
              <a:rPr sz="1000">
                <a:solidFill>
                  <a:srgbClr val="1F2D3A"/>
                </a:solidFill>
                <a:latin typeface="Consolas"/>
              </a:rPr>
              <a:t>CEN429-AS-05</a:t>
            </a:r>
          </a:p>
          <a:p>
            <a:pPr algn="l"/>
            <a:r>
              <a:rPr sz="1000">
                <a:solidFill>
                  <a:srgbClr val="1F2D3A"/>
                </a:solidFill>
                <a:latin typeface="Consolas"/>
              </a:rPr>
              <a:t>Metin: Tüm hassas varlıklar için bellek izleme tespiti.</a:t>
            </a:r>
          </a:p>
          <a:p>
            <a:pPr algn="l"/>
            <a:r>
              <a:rPr sz="1000">
                <a:solidFill>
                  <a:srgbClr val="1F2D3A"/>
                </a:solidFill>
                <a:latin typeface="Consolas"/>
              </a:rPr>
              <a:t>Durum: Karşılanmadı</a:t>
            </a:r>
          </a:p>
          <a:p>
            <a:pPr algn="l"/>
            <a:r>
              <a:rPr sz="1000">
                <a:solidFill>
                  <a:srgbClr val="1F2D3A"/>
                </a:solidFill>
                <a:latin typeface="Consolas"/>
              </a:rPr>
              <a:t>Kalan risk: köklü cihazda canlı bellek analizi</a:t>
            </a:r>
          </a:p>
          <a:p>
            <a:pPr algn="l"/>
            <a:r>
              <a:rPr sz="1000">
                <a:solidFill>
                  <a:srgbClr val="1F2D3A"/>
                </a:solidFill>
                <a:latin typeface="Consolas"/>
              </a:rPr>
              <a:t>Azaltma: kısa ömürlü anahtar + sunucu denetimi</a:t>
            </a:r>
          </a:p>
        </p:txBody>
      </p:sp>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13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148</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2600" b="1">
                <a:solidFill>
                  <a:srgbClr val="006D77"/>
                </a:solidFill>
              </a:rPr>
              <a:t>Matrix · Combined View</a:t>
            </a:r>
          </a:p>
        </p:txBody>
      </p:sp>
      <p:graphicFrame>
        <p:nvGraphicFramePr>
          <p:cNvPr id="7" name="Table 6"/>
          <p:cNvGraphicFramePr>
            <a:graphicFrameLocks noGrp="1"/>
          </p:cNvGraphicFramePr>
          <p:nvPr/>
        </p:nvGraphicFramePr>
        <p:xfrm>
          <a:off x="640080" y="1325880"/>
          <a:ext cx="8911084" cy="2079345"/>
        </p:xfrm>
        <a:graphic>
          <a:graphicData uri="http://schemas.openxmlformats.org/drawingml/2006/table">
            <a:tbl>
              <a:tblPr firstRow="1" bandRow="1">
                <a:tableStyleId>{5C22544A-7EE6-4342-B048-85BDC9FD1C3A}</a:tableStyleId>
              </a:tblPr>
              <a:tblGrid>
                <a:gridCol w="1636730"/>
                <a:gridCol w="2182306"/>
                <a:gridCol w="2000447"/>
                <a:gridCol w="3091601"/>
              </a:tblGrid>
              <a:tr h="346557">
                <a:tc>
                  <a:txBody>
                    <a:bodyPr wrap="square"/>
                    <a:lstStyle/>
                    <a:p>
                      <a:r>
                        <a:rPr sz="1296" b="1">
                          <a:solidFill>
                            <a:srgbClr val="FFFFFF"/>
                          </a:solidFill>
                        </a:rPr>
                        <a:t>Id</a:t>
                      </a:r>
                    </a:p>
                  </a:txBody>
                  <a:tcPr marL="54864" marR="54864" marT="27432" marB="27432" anchor="ctr">
                    <a:solidFill>
                      <a:srgbClr val="006D77"/>
                    </a:solidFill>
                  </a:tcPr>
                </a:tc>
                <a:tc>
                  <a:txBody>
                    <a:bodyPr wrap="square"/>
                    <a:lstStyle/>
                    <a:p>
                      <a:r>
                        <a:rPr sz="1296" b="1">
                          <a:solidFill>
                            <a:srgbClr val="FFFFFF"/>
                          </a:solidFill>
                        </a:rPr>
                        <a:t>Status</a:t>
                      </a:r>
                    </a:p>
                  </a:txBody>
                  <a:tcPr marL="54864" marR="54864" marT="27432" marB="27432" anchor="ctr">
                    <a:solidFill>
                      <a:srgbClr val="006D77"/>
                    </a:solidFill>
                  </a:tcPr>
                </a:tc>
                <a:tc>
                  <a:txBody>
                    <a:bodyPr wrap="square"/>
                    <a:lstStyle/>
                    <a:p>
                      <a:r>
                        <a:rPr sz="1296" b="1">
                          <a:solidFill>
                            <a:srgbClr val="FFFFFF"/>
                          </a:solidFill>
                        </a:rPr>
                        <a:t>Section</a:t>
                      </a:r>
                    </a:p>
                  </a:txBody>
                  <a:tcPr marL="54864" marR="54864" marT="27432" marB="27432" anchor="ctr">
                    <a:solidFill>
                      <a:srgbClr val="006D77"/>
                    </a:solidFill>
                  </a:tcPr>
                </a:tc>
                <a:tc>
                  <a:txBody>
                    <a:bodyPr wrap="square"/>
                    <a:lstStyle/>
                    <a:p>
                      <a:r>
                        <a:rPr sz="1296" b="1">
                          <a:solidFill>
                            <a:srgbClr val="FFFFFF"/>
                          </a:solidFill>
                        </a:rPr>
                        <a:t>Evidence</a:t>
                      </a:r>
                    </a:p>
                  </a:txBody>
                  <a:tcPr marL="54864" marR="54864" marT="27432" marB="27432" anchor="ctr">
                    <a:solidFill>
                      <a:srgbClr val="006D77"/>
                    </a:solidFill>
                  </a:tcPr>
                </a:tc>
              </a:tr>
              <a:tr h="346557">
                <a:tc>
                  <a:txBody>
                    <a:bodyPr wrap="square"/>
                    <a:lstStyle/>
                    <a:p>
                      <a:r>
                        <a:rPr sz="1296" b="0">
                          <a:solidFill>
                            <a:srgbClr val="1F2D3A"/>
                          </a:solidFill>
                        </a:rPr>
                        <a:t>DR-01</a:t>
                      </a:r>
                    </a:p>
                  </a:txBody>
                  <a:tcPr marL="54864" marR="54864" marT="27432" marB="27432" anchor="ctr">
                    <a:solidFill>
                      <a:srgbClr val="FFFFFF"/>
                    </a:solidFill>
                  </a:tcPr>
                </a:tc>
                <a:tc>
                  <a:txBody>
                    <a:bodyPr wrap="square"/>
                    <a:lstStyle/>
                    <a:p>
                      <a:r>
                        <a:rPr sz="1296" b="0">
                          <a:solidFill>
                            <a:srgbClr val="1F2D3A"/>
                          </a:solidFill>
                        </a:rPr>
                        <a:t>Met</a:t>
                      </a:r>
                    </a:p>
                  </a:txBody>
                  <a:tcPr marL="54864" marR="54864" marT="27432" marB="27432" anchor="ctr">
                    <a:solidFill>
                      <a:srgbClr val="FFFFFF"/>
                    </a:solidFill>
                  </a:tcPr>
                </a:tc>
                <a:tc>
                  <a:txBody>
                    <a:bodyPr wrap="square"/>
                    <a:lstStyle/>
                    <a:p>
                      <a:r>
                        <a:rPr sz="1296" b="0">
                          <a:solidFill>
                            <a:srgbClr val="1F2D3A"/>
                          </a:solidFill>
                        </a:rPr>
                        <a:t>S8</a:t>
                      </a:r>
                    </a:p>
                  </a:txBody>
                  <a:tcPr marL="54864" marR="54864" marT="27432" marB="27432" anchor="ctr">
                    <a:solidFill>
                      <a:srgbClr val="FFFFFF"/>
                    </a:solidFill>
                  </a:tcPr>
                </a:tc>
                <a:tc>
                  <a:txBody>
                    <a:bodyPr wrap="square"/>
                    <a:lstStyle/>
                    <a:p>
                      <a:r>
                        <a:rPr sz="1296" b="0">
                          <a:solidFill>
                            <a:srgbClr val="1F2D3A"/>
                          </a:solidFill>
                        </a:rPr>
                        <a:t>T-05</a:t>
                      </a:r>
                    </a:p>
                  </a:txBody>
                  <a:tcPr marL="54864" marR="54864" marT="27432" marB="27432" anchor="ctr">
                    <a:solidFill>
                      <a:srgbClr val="FFFFFF"/>
                    </a:solidFill>
                  </a:tcPr>
                </a:tc>
              </a:tr>
              <a:tr h="346557">
                <a:tc>
                  <a:txBody>
                    <a:bodyPr wrap="square"/>
                    <a:lstStyle/>
                    <a:p>
                      <a:r>
                        <a:rPr sz="1296" b="0">
                          <a:solidFill>
                            <a:srgbClr val="1F2D3A"/>
                          </a:solidFill>
                        </a:rPr>
                        <a:t>CR-02</a:t>
                      </a:r>
                    </a:p>
                  </a:txBody>
                  <a:tcPr marL="54864" marR="54864" marT="27432" marB="27432" anchor="ctr">
                    <a:solidFill>
                      <a:srgbClr val="EEF7F8"/>
                    </a:solidFill>
                  </a:tcPr>
                </a:tc>
                <a:tc>
                  <a:txBody>
                    <a:bodyPr wrap="square"/>
                    <a:lstStyle/>
                    <a:p>
                      <a:r>
                        <a:rPr sz="1296" b="0">
                          <a:solidFill>
                            <a:srgbClr val="1F2D3A"/>
                          </a:solidFill>
                        </a:rPr>
                        <a:t>Met</a:t>
                      </a:r>
                    </a:p>
                  </a:txBody>
                  <a:tcPr marL="54864" marR="54864" marT="27432" marB="27432" anchor="ctr">
                    <a:solidFill>
                      <a:srgbClr val="EEF7F8"/>
                    </a:solidFill>
                  </a:tcPr>
                </a:tc>
                <a:tc>
                  <a:txBody>
                    <a:bodyPr wrap="square"/>
                    <a:lstStyle/>
                    <a:p>
                      <a:r>
                        <a:rPr sz="1296" b="0">
                          <a:solidFill>
                            <a:srgbClr val="1F2D3A"/>
                          </a:solidFill>
                        </a:rPr>
                        <a:t>S8</a:t>
                      </a:r>
                    </a:p>
                  </a:txBody>
                  <a:tcPr marL="54864" marR="54864" marT="27432" marB="27432" anchor="ctr">
                    <a:solidFill>
                      <a:srgbClr val="EEF7F8"/>
                    </a:solidFill>
                  </a:tcPr>
                </a:tc>
                <a:tc>
                  <a:txBody>
                    <a:bodyPr wrap="square"/>
                    <a:lstStyle/>
                    <a:p>
                      <a:r>
                        <a:rPr sz="1296" b="0">
                          <a:solidFill>
                            <a:srgbClr val="1F2D3A"/>
                          </a:solidFill>
                        </a:rPr>
                        <a:t>S8</a:t>
                      </a:r>
                    </a:p>
                  </a:txBody>
                  <a:tcPr marL="54864" marR="54864" marT="27432" marB="27432" anchor="ctr">
                    <a:solidFill>
                      <a:srgbClr val="EEF7F8"/>
                    </a:solidFill>
                  </a:tcPr>
                </a:tc>
              </a:tr>
              <a:tr h="346557">
                <a:tc>
                  <a:txBody>
                    <a:bodyPr wrap="square"/>
                    <a:lstStyle/>
                    <a:p>
                      <a:r>
                        <a:rPr sz="1296" b="0">
                          <a:solidFill>
                            <a:srgbClr val="1F2D3A"/>
                          </a:solidFill>
                        </a:rPr>
                        <a:t>DT-03</a:t>
                      </a:r>
                    </a:p>
                  </a:txBody>
                  <a:tcPr marL="54864" marR="54864" marT="27432" marB="27432" anchor="ctr">
                    <a:solidFill>
                      <a:srgbClr val="FFFFFF"/>
                    </a:solidFill>
                  </a:tcPr>
                </a:tc>
                <a:tc>
                  <a:txBody>
                    <a:bodyPr wrap="square"/>
                    <a:lstStyle/>
                    <a:p>
                      <a:r>
                        <a:rPr sz="1296" b="0">
                          <a:solidFill>
                            <a:srgbClr val="1F2D3A"/>
                          </a:solidFill>
                        </a:rPr>
                        <a:t>Met</a:t>
                      </a:r>
                    </a:p>
                  </a:txBody>
                  <a:tcPr marL="54864" marR="54864" marT="27432" marB="27432" anchor="ctr">
                    <a:solidFill>
                      <a:srgbClr val="FFFFFF"/>
                    </a:solidFill>
                  </a:tcPr>
                </a:tc>
                <a:tc>
                  <a:txBody>
                    <a:bodyPr wrap="square"/>
                    <a:lstStyle/>
                    <a:p>
                      <a:r>
                        <a:rPr sz="1296" b="0">
                          <a:solidFill>
                            <a:srgbClr val="1F2D3A"/>
                          </a:solidFill>
                        </a:rPr>
                        <a:t>S11</a:t>
                      </a:r>
                    </a:p>
                  </a:txBody>
                  <a:tcPr marL="54864" marR="54864" marT="27432" marB="27432" anchor="ctr">
                    <a:solidFill>
                      <a:srgbClr val="FFFFFF"/>
                    </a:solidFill>
                  </a:tcPr>
                </a:tc>
                <a:tc>
                  <a:txBody>
                    <a:bodyPr wrap="square"/>
                    <a:lstStyle/>
                    <a:p>
                      <a:r>
                        <a:rPr sz="1296" b="0">
                          <a:solidFill>
                            <a:srgbClr val="1F2D3A"/>
                          </a:solidFill>
                        </a:rPr>
                        <a:t>T-11</a:t>
                      </a:r>
                    </a:p>
                  </a:txBody>
                  <a:tcPr marL="54864" marR="54864" marT="27432" marB="27432" anchor="ctr">
                    <a:solidFill>
                      <a:srgbClr val="FFFFFF"/>
                    </a:solidFill>
                  </a:tcPr>
                </a:tc>
              </a:tr>
              <a:tr h="346557">
                <a:tc>
                  <a:txBody>
                    <a:bodyPr wrap="square"/>
                    <a:lstStyle/>
                    <a:p>
                      <a:r>
                        <a:rPr sz="1296" b="0">
                          <a:solidFill>
                            <a:srgbClr val="1F2D3A"/>
                          </a:solidFill>
                        </a:rPr>
                        <a:t>AP-04</a:t>
                      </a:r>
                    </a:p>
                  </a:txBody>
                  <a:tcPr marL="54864" marR="54864" marT="27432" marB="27432" anchor="ctr">
                    <a:solidFill>
                      <a:srgbClr val="EEF7F8"/>
                    </a:solidFill>
                  </a:tcPr>
                </a:tc>
                <a:tc>
                  <a:txBody>
                    <a:bodyPr wrap="square"/>
                    <a:lstStyle/>
                    <a:p>
                      <a:r>
                        <a:rPr sz="1296" b="0">
                          <a:solidFill>
                            <a:srgbClr val="1F2D3A"/>
                          </a:solidFill>
                        </a:rPr>
                        <a:t>Deferred</a:t>
                      </a:r>
                    </a:p>
                  </a:txBody>
                  <a:tcPr marL="54864" marR="54864" marT="27432" marB="27432" anchor="ctr">
                    <a:solidFill>
                      <a:srgbClr val="EEF7F8"/>
                    </a:solidFill>
                  </a:tcPr>
                </a:tc>
                <a:tc>
                  <a:txBody>
                    <a:bodyPr wrap="square"/>
                    <a:lstStyle/>
                    <a:p>
                      <a:r>
                        <a:rPr sz="1296" b="0">
                          <a:solidFill>
                            <a:srgbClr val="1F2D3A"/>
                          </a:solidFill>
                        </a:rPr>
                        <a:t>S14</a:t>
                      </a:r>
                    </a:p>
                  </a:txBody>
                  <a:tcPr marL="54864" marR="54864" marT="27432" marB="27432" anchor="ctr">
                    <a:solidFill>
                      <a:srgbClr val="EEF7F8"/>
                    </a:solidFill>
                  </a:tcPr>
                </a:tc>
                <a:tc>
                  <a:txBody>
                    <a:bodyPr wrap="square"/>
                    <a:lstStyle/>
                    <a:p>
                      <a:r>
                        <a:rPr sz="1296" b="0">
                          <a:solidFill>
                            <a:srgbClr val="1F2D3A"/>
                          </a:solidFill>
                        </a:rPr>
                        <a:t>—</a:t>
                      </a:r>
                    </a:p>
                  </a:txBody>
                  <a:tcPr marL="54864" marR="54864" marT="27432" marB="27432" anchor="ctr">
                    <a:solidFill>
                      <a:srgbClr val="EEF7F8"/>
                    </a:solidFill>
                  </a:tcPr>
                </a:tc>
              </a:tr>
              <a:tr h="346560">
                <a:tc>
                  <a:txBody>
                    <a:bodyPr wrap="square"/>
                    <a:lstStyle/>
                    <a:p>
                      <a:r>
                        <a:rPr sz="1296" b="0">
                          <a:solidFill>
                            <a:srgbClr val="1F2D3A"/>
                          </a:solidFill>
                        </a:rPr>
                        <a:t>AS-05</a:t>
                      </a:r>
                    </a:p>
                  </a:txBody>
                  <a:tcPr marL="54864" marR="54864" marT="27432" marB="27432" anchor="ctr">
                    <a:solidFill>
                      <a:srgbClr val="FFFFFF"/>
                    </a:solidFill>
                  </a:tcPr>
                </a:tc>
                <a:tc>
                  <a:txBody>
                    <a:bodyPr wrap="square"/>
                    <a:lstStyle/>
                    <a:p>
                      <a:r>
                        <a:rPr sz="1296" b="0">
                          <a:solidFill>
                            <a:srgbClr val="1F2D3A"/>
                          </a:solidFill>
                        </a:rPr>
                        <a:t>Not met</a:t>
                      </a:r>
                    </a:p>
                  </a:txBody>
                  <a:tcPr marL="54864" marR="54864" marT="27432" marB="27432" anchor="ctr">
                    <a:solidFill>
                      <a:srgbClr val="FFFFFF"/>
                    </a:solidFill>
                  </a:tcPr>
                </a:tc>
                <a:tc>
                  <a:txBody>
                    <a:bodyPr wrap="square"/>
                    <a:lstStyle/>
                    <a:p>
                      <a:r>
                        <a:rPr sz="1296" b="0">
                          <a:solidFill>
                            <a:srgbClr val="1F2D3A"/>
                          </a:solidFill>
                        </a:rPr>
                        <a:t>S12</a:t>
                      </a:r>
                    </a:p>
                  </a:txBody>
                  <a:tcPr marL="54864" marR="54864" marT="27432" marB="27432" anchor="ctr">
                    <a:solidFill>
                      <a:srgbClr val="FFFFFF"/>
                    </a:solidFill>
                  </a:tcPr>
                </a:tc>
                <a:tc>
                  <a:txBody>
                    <a:bodyPr wrap="square"/>
                    <a:lstStyle/>
                    <a:p>
                      <a:r>
                        <a:rPr sz="1296" b="0">
                          <a:solidFill>
                            <a:srgbClr val="1F2D3A"/>
                          </a:solidFill>
                        </a:rPr>
                        <a:t>residual risk</a:t>
                      </a:r>
                    </a:p>
                  </a:txBody>
                  <a:tcPr marL="54864" marR="54864" marT="27432" marB="27432" anchor="ctr">
                    <a:solidFill>
                      <a:srgbClr val="FFFFFF"/>
                    </a:solidFill>
                  </a:tcPr>
                </a:tc>
              </a:tr>
            </a:tbl>
          </a:graphicData>
        </a:graphic>
      </p:graphicFrame>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13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149</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What the Matrix Tells Us</a:t>
            </a:r>
          </a:p>
        </p:txBody>
      </p:sp>
      <p:sp>
        <p:nvSpPr>
          <p:cNvPr id="7" name="TextBox 6"/>
          <p:cNvSpPr txBox="1"/>
          <p:nvPr/>
        </p:nvSpPr>
        <p:spPr>
          <a:xfrm>
            <a:off x="640080" y="1325880"/>
            <a:ext cx="10911535" cy="1219200"/>
          </a:xfrm>
          <a:prstGeom prst="rect">
            <a:avLst/>
          </a:prstGeom>
          <a:noFill/>
        </p:spPr>
        <p:txBody>
          <a:bodyPr wrap="square" lIns="45720" rIns="45720">
            <a:spAutoFit/>
          </a:bodyPr>
          <a:lstStyle/>
          <a:p>
            <a:pPr>
              <a:spcAft>
                <a:spcPts val="300"/>
              </a:spcAft>
            </a:pPr>
            <a:r>
              <a:rPr sz="2000" b="1">
                <a:solidFill>
                  <a:srgbClr val="006D77"/>
                </a:solidFill>
              </a:rPr>
              <a:t>• </a:t>
            </a:r>
            <a:r>
              <a:rPr sz="2000" b="0">
                <a:solidFill>
                  <a:srgbClr val="1F2D3A"/>
                </a:solidFill>
              </a:rPr>
              <a:t>Three met (with evidence), one deferred, one residual risk.</a:t>
            </a:r>
          </a:p>
          <a:p>
            <a:pPr>
              <a:spcAft>
                <a:spcPts val="300"/>
              </a:spcAft>
            </a:pPr>
            <a:r>
              <a:rPr sz="2000" b="1">
                <a:solidFill>
                  <a:srgbClr val="006D77"/>
                </a:solidFill>
              </a:rPr>
              <a:t>• </a:t>
            </a:r>
            <a:r>
              <a:rPr sz="2000" b="0">
                <a:solidFill>
                  <a:srgbClr val="1F2D3A"/>
                </a:solidFill>
              </a:rPr>
              <a:t>Every row is traceable.</a:t>
            </a:r>
          </a:p>
          <a:p>
            <a:pPr>
              <a:spcAft>
                <a:spcPts val="300"/>
              </a:spcAft>
            </a:pPr>
            <a:r>
              <a:rPr sz="2000" b="1">
                <a:solidFill>
                  <a:srgbClr val="006D77"/>
                </a:solidFill>
              </a:rPr>
              <a:t>• </a:t>
            </a:r>
            <a:r>
              <a:rPr sz="2000" b="0">
                <a:solidFill>
                  <a:srgbClr val="1F2D3A"/>
                </a:solidFill>
              </a:rPr>
              <a:t>The evaluator starts from this table.</a:t>
            </a:r>
          </a:p>
        </p:txBody>
      </p:sp>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13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150</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2600" b="1">
                <a:solidFill>
                  <a:srgbClr val="006D77"/>
                </a:solidFill>
              </a:rPr>
              <a:t>Common Mistakes — Summary</a:t>
            </a:r>
          </a:p>
        </p:txBody>
      </p:sp>
      <p:graphicFrame>
        <p:nvGraphicFramePr>
          <p:cNvPr id="7" name="Table 6"/>
          <p:cNvGraphicFramePr>
            <a:graphicFrameLocks noGrp="1"/>
          </p:cNvGraphicFramePr>
          <p:nvPr/>
        </p:nvGraphicFramePr>
        <p:xfrm>
          <a:off x="640080" y="1325880"/>
          <a:ext cx="10911534" cy="2403043"/>
        </p:xfrm>
        <a:graphic>
          <a:graphicData uri="http://schemas.openxmlformats.org/drawingml/2006/table">
            <a:tbl>
              <a:tblPr firstRow="1" bandRow="1">
                <a:tableStyleId>{5C22544A-7EE6-4342-B048-85BDC9FD1C3A}</a:tableStyleId>
              </a:tblPr>
              <a:tblGrid>
                <a:gridCol w="8825506"/>
                <a:gridCol w="2086028"/>
              </a:tblGrid>
              <a:tr h="343291">
                <a:tc>
                  <a:txBody>
                    <a:bodyPr wrap="square"/>
                    <a:lstStyle/>
                    <a:p>
                      <a:r>
                        <a:rPr sz="1296" b="1">
                          <a:solidFill>
                            <a:srgbClr val="FFFFFF"/>
                          </a:solidFill>
                        </a:rPr>
                        <a:t>Mistake</a:t>
                      </a:r>
                    </a:p>
                  </a:txBody>
                  <a:tcPr marL="54864" marR="54864" marT="27432" marB="27432" anchor="ctr">
                    <a:solidFill>
                      <a:srgbClr val="006D77"/>
                    </a:solidFill>
                  </a:tcPr>
                </a:tc>
                <a:tc>
                  <a:txBody>
                    <a:bodyPr wrap="square"/>
                    <a:lstStyle/>
                    <a:p>
                      <a:r>
                        <a:rPr sz="1296" b="1">
                          <a:solidFill>
                            <a:srgbClr val="FFFFFF"/>
                          </a:solidFill>
                        </a:rPr>
                        <a:t>Section</a:t>
                      </a:r>
                    </a:p>
                  </a:txBody>
                  <a:tcPr marL="54864" marR="54864" marT="27432" marB="27432" anchor="ctr">
                    <a:solidFill>
                      <a:srgbClr val="006D77"/>
                    </a:solidFill>
                  </a:tcPr>
                </a:tc>
              </a:tr>
              <a:tr h="343291">
                <a:tc>
                  <a:txBody>
                    <a:bodyPr wrap="square"/>
                    <a:lstStyle/>
                    <a:p>
                      <a:r>
                        <a:rPr sz="1296" b="0">
                          <a:solidFill>
                            <a:srgbClr val="1F2D3A"/>
                          </a:solidFill>
                        </a:rPr>
                        <a:t>An unverifiable requirement (e.g. "must be secure")</a:t>
                      </a:r>
                    </a:p>
                  </a:txBody>
                  <a:tcPr marL="54864" marR="54864" marT="27432" marB="27432" anchor="ctr">
                    <a:solidFill>
                      <a:srgbClr val="FFFFFF"/>
                    </a:solidFill>
                  </a:tcPr>
                </a:tc>
                <a:tc>
                  <a:txBody>
                    <a:bodyPr wrap="square"/>
                    <a:lstStyle/>
                    <a:p>
                      <a:r>
                        <a:rPr sz="1296" b="0">
                          <a:solidFill>
                            <a:srgbClr val="1F2D3A"/>
                          </a:solidFill>
                        </a:rPr>
                        <a:t>Section 1</a:t>
                      </a:r>
                    </a:p>
                  </a:txBody>
                  <a:tcPr marL="54864" marR="54864" marT="27432" marB="27432" anchor="ctr">
                    <a:solidFill>
                      <a:srgbClr val="FFFFFF"/>
                    </a:solidFill>
                  </a:tcPr>
                </a:tc>
              </a:tr>
              <a:tr h="343291">
                <a:tc>
                  <a:txBody>
                    <a:bodyPr wrap="square"/>
                    <a:lstStyle/>
                    <a:p>
                      <a:r>
                        <a:rPr sz="1296" b="0">
                          <a:solidFill>
                            <a:srgbClr val="1F2D3A"/>
                          </a:solidFill>
                        </a:rPr>
                        <a:t>A "met" with no evidence</a:t>
                      </a:r>
                    </a:p>
                  </a:txBody>
                  <a:tcPr marL="54864" marR="54864" marT="27432" marB="27432" anchor="ctr">
                    <a:solidFill>
                      <a:srgbClr val="EEF7F8"/>
                    </a:solidFill>
                  </a:tcPr>
                </a:tc>
                <a:tc>
                  <a:txBody>
                    <a:bodyPr wrap="square"/>
                    <a:lstStyle/>
                    <a:p>
                      <a:r>
                        <a:rPr sz="1296" b="0">
                          <a:solidFill>
                            <a:srgbClr val="1F2D3A"/>
                          </a:solidFill>
                        </a:rPr>
                        <a:t>Section 2</a:t>
                      </a:r>
                    </a:p>
                  </a:txBody>
                  <a:tcPr marL="54864" marR="54864" marT="27432" marB="27432" anchor="ctr">
                    <a:solidFill>
                      <a:srgbClr val="EEF7F8"/>
                    </a:solidFill>
                  </a:tcPr>
                </a:tc>
              </a:tr>
              <a:tr h="343291">
                <a:tc>
                  <a:txBody>
                    <a:bodyPr wrap="square"/>
                    <a:lstStyle/>
                    <a:p>
                      <a:r>
                        <a:rPr sz="1296" b="0">
                          <a:solidFill>
                            <a:srgbClr val="1F2D3A"/>
                          </a:solidFill>
                        </a:rPr>
                        <a:t>Silent deferring</a:t>
                      </a:r>
                    </a:p>
                  </a:txBody>
                  <a:tcPr marL="54864" marR="54864" marT="27432" marB="27432" anchor="ctr">
                    <a:solidFill>
                      <a:srgbClr val="FFFFFF"/>
                    </a:solidFill>
                  </a:tcPr>
                </a:tc>
                <a:tc>
                  <a:txBody>
                    <a:bodyPr wrap="square"/>
                    <a:lstStyle/>
                    <a:p>
                      <a:r>
                        <a:rPr sz="1296" b="0">
                          <a:solidFill>
                            <a:srgbClr val="1F2D3A"/>
                          </a:solidFill>
                        </a:rPr>
                        <a:t>Section 3</a:t>
                      </a:r>
                    </a:p>
                  </a:txBody>
                  <a:tcPr marL="54864" marR="54864" marT="27432" marB="27432" anchor="ctr">
                    <a:solidFill>
                      <a:srgbClr val="FFFFFF"/>
                    </a:solidFill>
                  </a:tcPr>
                </a:tc>
              </a:tr>
              <a:tr h="343291">
                <a:tc>
                  <a:txBody>
                    <a:bodyPr wrap="square"/>
                    <a:lstStyle/>
                    <a:p>
                      <a:r>
                        <a:rPr sz="1296" b="0">
                          <a:solidFill>
                            <a:srgbClr val="1F2D3A"/>
                          </a:solidFill>
                        </a:rPr>
                        <a:t>Mistaking EAL for the amount of security</a:t>
                      </a:r>
                    </a:p>
                  </a:txBody>
                  <a:tcPr marL="54864" marR="54864" marT="27432" marB="27432" anchor="ctr">
                    <a:solidFill>
                      <a:srgbClr val="EEF7F8"/>
                    </a:solidFill>
                  </a:tcPr>
                </a:tc>
                <a:tc>
                  <a:txBody>
                    <a:bodyPr wrap="square"/>
                    <a:lstStyle/>
                    <a:p>
                      <a:r>
                        <a:rPr sz="1296" b="0">
                          <a:solidFill>
                            <a:srgbClr val="1F2D3A"/>
                          </a:solidFill>
                        </a:rPr>
                        <a:t>Section 4</a:t>
                      </a:r>
                    </a:p>
                  </a:txBody>
                  <a:tcPr marL="54864" marR="54864" marT="27432" marB="27432" anchor="ctr">
                    <a:solidFill>
                      <a:srgbClr val="EEF7F8"/>
                    </a:solidFill>
                  </a:tcPr>
                </a:tc>
              </a:tr>
              <a:tr h="343291">
                <a:tc>
                  <a:txBody>
                    <a:bodyPr wrap="square"/>
                    <a:lstStyle/>
                    <a:p>
                      <a:r>
                        <a:rPr sz="1296" b="0">
                          <a:solidFill>
                            <a:srgbClr val="1F2D3A"/>
                          </a:solidFill>
                        </a:rPr>
                        <a:t>Assuming a FIPS-validated library = FIPS compliance</a:t>
                      </a:r>
                    </a:p>
                  </a:txBody>
                  <a:tcPr marL="54864" marR="54864" marT="27432" marB="27432" anchor="ctr">
                    <a:solidFill>
                      <a:srgbClr val="FFFFFF"/>
                    </a:solidFill>
                  </a:tcPr>
                </a:tc>
                <a:tc>
                  <a:txBody>
                    <a:bodyPr wrap="square"/>
                    <a:lstStyle/>
                    <a:p>
                      <a:r>
                        <a:rPr sz="1296" b="0">
                          <a:solidFill>
                            <a:srgbClr val="1F2D3A"/>
                          </a:solidFill>
                        </a:rPr>
                        <a:t>Section 5</a:t>
                      </a:r>
                    </a:p>
                  </a:txBody>
                  <a:tcPr marL="54864" marR="54864" marT="27432" marB="27432" anchor="ctr">
                    <a:solidFill>
                      <a:srgbClr val="FFFFFF"/>
                    </a:solidFill>
                  </a:tcPr>
                </a:tc>
              </a:tr>
              <a:tr h="343297">
                <a:tc>
                  <a:txBody>
                    <a:bodyPr wrap="square"/>
                    <a:lstStyle/>
                    <a:p>
                      <a:r>
                        <a:rPr sz="1296" b="0">
                          <a:solidFill>
                            <a:srgbClr val="1F2D3A"/>
                          </a:solidFill>
                        </a:rPr>
                        <a:t>Leaving residual risk blank</a:t>
                      </a:r>
                    </a:p>
                  </a:txBody>
                  <a:tcPr marL="54864" marR="54864" marT="27432" marB="27432" anchor="ctr">
                    <a:solidFill>
                      <a:srgbClr val="EEF7F8"/>
                    </a:solidFill>
                  </a:tcPr>
                </a:tc>
                <a:tc>
                  <a:txBody>
                    <a:bodyPr wrap="square"/>
                    <a:lstStyle/>
                    <a:p>
                      <a:r>
                        <a:rPr sz="1296" b="0">
                          <a:solidFill>
                            <a:srgbClr val="1F2D3A"/>
                          </a:solidFill>
                        </a:rPr>
                        <a:t>Section 2</a:t>
                      </a:r>
                    </a:p>
                  </a:txBody>
                  <a:tcPr marL="54864" marR="54864" marT="27432" marB="27432" anchor="ctr">
                    <a:solidFill>
                      <a:srgbClr val="EEF7F8"/>
                    </a:solidFill>
                  </a:tcPr>
                </a:tc>
              </a:tr>
            </a:tbl>
          </a:graphicData>
        </a:graphic>
      </p:graphicFrame>
      <p:sp>
        <p:nvSpPr>
          <p:cNvPr id="8" name="TextBox 7"/>
          <p:cNvSpPr txBox="1"/>
          <p:nvPr/>
        </p:nvSpPr>
        <p:spPr>
          <a:xfrm>
            <a:off x="640080" y="3838651"/>
            <a:ext cx="10911535" cy="704088"/>
          </a:xfrm>
          <a:prstGeom prst="rect">
            <a:avLst/>
          </a:prstGeom>
          <a:noFill/>
        </p:spPr>
        <p:txBody>
          <a:bodyPr wrap="square" lIns="45720" rIns="45720">
            <a:spAutoFit/>
          </a:bodyPr>
          <a:lstStyle/>
          <a:p>
            <a:pPr algn="l"/>
            <a:r>
              <a:rPr sz="1800" b="0">
                <a:solidFill>
                  <a:srgbClr val="1F2D3A"/>
                </a:solidFill>
              </a:rPr>
              <a:t>Each row's detail was already covered in its section's ⚠️ box and rule; here we gather them in one view.</a:t>
            </a:r>
          </a:p>
        </p:txBody>
      </p:sp>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bg>
      <p:bgPr>
        <a:solidFill>
          <a:srgbClr val="006D77"/>
        </a:solidFill>
        <a:effectLst/>
      </p:bgPr>
    </p:bg>
    <p:spTree>
      <p:nvGrpSpPr>
        <p:cNvPr id="1" name=""/>
        <p:cNvGrpSpPr/>
        <p:nvPr/>
      </p:nvGrpSpPr>
      <p:grpSpPr/>
      <p:sp>
        <p:nvSpPr>
          <p:cNvPr id="2" name="TextBox 1"/>
          <p:cNvSpPr txBox="1"/>
          <p:nvPr/>
        </p:nvSpPr>
        <p:spPr>
          <a:xfrm>
            <a:off x="1051560" y="182880"/>
            <a:ext cx="7315200" cy="320040"/>
          </a:xfrm>
          <a:prstGeom prst="rect">
            <a:avLst/>
          </a:prstGeom>
          <a:noFill/>
        </p:spPr>
        <p:txBody>
          <a:bodyPr wrap="square" lIns="45720" rIns="45720">
            <a:spAutoFit/>
          </a:bodyPr>
          <a:lstStyle/>
          <a:p>
            <a:r>
              <a:rPr sz="1100" b="0">
                <a:solidFill>
                  <a:srgbClr val="D8F0F2"/>
                </a:solidFill>
              </a:rPr>
              <a:t>CEN429 Secure Programming · Week 13</a:t>
            </a:r>
          </a:p>
        </p:txBody>
      </p:sp>
      <p:sp>
        <p:nvSpPr>
          <p:cNvPr id="3" name="TextBox 2"/>
          <p:cNvSpPr txBox="1"/>
          <p:nvPr/>
        </p:nvSpPr>
        <p:spPr>
          <a:xfrm>
            <a:off x="640080" y="6446520"/>
            <a:ext cx="7315200" cy="274320"/>
          </a:xfrm>
          <a:prstGeom prst="rect">
            <a:avLst/>
          </a:prstGeom>
          <a:noFill/>
        </p:spPr>
        <p:txBody>
          <a:bodyPr wrap="square" lIns="45720" rIns="45720">
            <a:spAutoFit/>
          </a:bodyPr>
          <a:lstStyle/>
          <a:p>
            <a:r>
              <a:rPr sz="1000" b="0">
                <a:solidFill>
                  <a:srgbClr val="D8F0F2"/>
                </a:solidFill>
              </a:rPr>
              <a:t>RTEU Computer Engineering · 2026-2027 Fall</a:t>
            </a:r>
          </a:p>
        </p:txBody>
      </p:sp>
      <p:sp>
        <p:nvSpPr>
          <p:cNvPr id="4" name="TextBox 3"/>
          <p:cNvSpPr txBox="1"/>
          <p:nvPr/>
        </p:nvSpPr>
        <p:spPr>
          <a:xfrm>
            <a:off x="10637215" y="6446520"/>
            <a:ext cx="914400" cy="274320"/>
          </a:xfrm>
          <a:prstGeom prst="rect">
            <a:avLst/>
          </a:prstGeom>
          <a:noFill/>
        </p:spPr>
        <p:txBody>
          <a:bodyPr wrap="square" lIns="45720" rIns="45720">
            <a:spAutoFit/>
          </a:bodyPr>
          <a:lstStyle/>
          <a:p>
            <a:pPr algn="r"/>
            <a:r>
              <a:rPr sz="1000" b="0">
                <a:solidFill>
                  <a:srgbClr val="D8F0F2"/>
                </a:solidFill>
              </a:rPr>
              <a:t>151</a:t>
            </a:r>
          </a:p>
        </p:txBody>
      </p:sp>
      <p:sp>
        <p:nvSpPr>
          <p:cNvPr id="5" name="TextBox 4"/>
          <p:cNvSpPr txBox="1"/>
          <p:nvPr/>
        </p:nvSpPr>
        <p:spPr>
          <a:xfrm>
            <a:off x="640080" y="2743200"/>
            <a:ext cx="10911535" cy="1280160"/>
          </a:xfrm>
          <a:prstGeom prst="rect">
            <a:avLst/>
          </a:prstGeom>
          <a:noFill/>
        </p:spPr>
        <p:txBody>
          <a:bodyPr wrap="square" lIns="45720" rIns="45720">
            <a:spAutoFit/>
          </a:bodyPr>
          <a:lstStyle/>
          <a:p>
            <a:pPr algn="l"/>
            <a:r>
              <a:rPr sz="4000" b="1">
                <a:solidFill>
                  <a:srgbClr val="FFFFFF"/>
                </a:solidFill>
              </a:rPr>
              <a:t>9. Term Project: This Week</a:t>
            </a:r>
          </a:p>
        </p:txBody>
      </p:sp>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13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152</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Project · S14 and S17</a:t>
            </a:r>
          </a:p>
        </p:txBody>
      </p:sp>
      <p:sp>
        <p:nvSpPr>
          <p:cNvPr id="7" name="TextBox 6"/>
          <p:cNvSpPr txBox="1"/>
          <p:nvPr/>
        </p:nvSpPr>
        <p:spPr>
          <a:xfrm>
            <a:off x="640080" y="1325880"/>
            <a:ext cx="10911535" cy="439928"/>
          </a:xfrm>
          <a:prstGeom prst="rect">
            <a:avLst/>
          </a:prstGeom>
          <a:noFill/>
        </p:spPr>
        <p:txBody>
          <a:bodyPr wrap="square" lIns="45720" rIns="45720">
            <a:spAutoFit/>
          </a:bodyPr>
          <a:lstStyle/>
          <a:p>
            <a:pPr algn="l"/>
            <a:r>
              <a:rPr sz="2000" b="0">
                <a:solidFill>
                  <a:srgbClr val="1F2D3A"/>
                </a:solidFill>
              </a:rPr>
              <a:t>S17 and S14 are the documents an evaluator </a:t>
            </a:r>
            <a:r>
              <a:rPr sz="2000" b="1">
                <a:solidFill>
                  <a:srgbClr val="1F2D3A"/>
                </a:solidFill>
              </a:rPr>
              <a:t>opens first</a:t>
            </a:r>
            <a:r>
              <a:rPr sz="2000" b="0">
                <a:solidFill>
                  <a:srgbClr val="1F2D3A"/>
                </a:solidFill>
              </a:rPr>
              <a:t>.</a:t>
            </a:r>
          </a:p>
        </p:txBody>
      </p:sp>
      <p:sp>
        <p:nvSpPr>
          <p:cNvPr id="8" name="TextBox 7"/>
          <p:cNvSpPr txBox="1"/>
          <p:nvPr/>
        </p:nvSpPr>
        <p:spPr>
          <a:xfrm>
            <a:off x="640080" y="1875536"/>
            <a:ext cx="10911535" cy="1549400"/>
          </a:xfrm>
          <a:prstGeom prst="rect">
            <a:avLst/>
          </a:prstGeom>
          <a:noFill/>
        </p:spPr>
        <p:txBody>
          <a:bodyPr wrap="square" lIns="45720" rIns="45720">
            <a:spAutoFit/>
          </a:bodyPr>
          <a:lstStyle/>
          <a:p>
            <a:pPr>
              <a:spcAft>
                <a:spcPts val="300"/>
              </a:spcAft>
            </a:pPr>
            <a:r>
              <a:rPr sz="2000" b="1">
                <a:solidFill>
                  <a:srgbClr val="006D77"/>
                </a:solidFill>
              </a:rPr>
              <a:t>• </a:t>
            </a:r>
            <a:r>
              <a:rPr sz="2000" b="0">
                <a:solidFill>
                  <a:srgbClr val="1F2D3A"/>
                </a:solidFill>
              </a:rPr>
              <a:t> </a:t>
            </a:r>
            <a:r>
              <a:rPr sz="2000" b="1">
                <a:solidFill>
                  <a:srgbClr val="1F2D3A"/>
                </a:solidFill>
              </a:rPr>
              <a:t>S17 compliance matrix:</a:t>
            </a:r>
            <a:r>
              <a:rPr sz="2000" b="0">
                <a:solidFill>
                  <a:srgbClr val="1F2D3A"/>
                </a:solidFill>
              </a:rPr>
              <a:t> status, section, verification, evidence for every applicable requirement.</a:t>
            </a:r>
          </a:p>
          <a:p>
            <a:pPr>
              <a:spcAft>
                <a:spcPts val="300"/>
              </a:spcAft>
            </a:pPr>
            <a:r>
              <a:rPr sz="2000" b="1">
                <a:solidFill>
                  <a:srgbClr val="006D77"/>
                </a:solidFill>
              </a:rPr>
              <a:t>• </a:t>
            </a:r>
            <a:r>
              <a:rPr sz="2000" b="0">
                <a:solidFill>
                  <a:srgbClr val="1F2D3A"/>
                </a:solidFill>
              </a:rPr>
              <a:t> </a:t>
            </a:r>
            <a:r>
              <a:rPr sz="2000" b="1">
                <a:solidFill>
                  <a:srgbClr val="1F2D3A"/>
                </a:solidFill>
              </a:rPr>
              <a:t>S14 deferred requirements:</a:t>
            </a:r>
            <a:r>
              <a:rPr sz="2000" b="0">
                <a:solidFill>
                  <a:srgbClr val="1F2D3A"/>
                </a:solidFill>
              </a:rPr>
              <a:t> to whom, why, how.</a:t>
            </a:r>
          </a:p>
          <a:p>
            <a:pPr>
              <a:spcAft>
                <a:spcPts val="300"/>
              </a:spcAft>
            </a:pPr>
            <a:r>
              <a:rPr sz="2000" b="1">
                <a:solidFill>
                  <a:srgbClr val="006D77"/>
                </a:solidFill>
              </a:rPr>
              <a:t>• </a:t>
            </a:r>
            <a:r>
              <a:rPr sz="2000" b="0">
                <a:solidFill>
                  <a:srgbClr val="1F2D3A"/>
                </a:solidFill>
              </a:rPr>
              <a:t> </a:t>
            </a:r>
            <a:r>
              <a:rPr sz="2000" b="1">
                <a:solidFill>
                  <a:srgbClr val="1F2D3A"/>
                </a:solidFill>
              </a:rPr>
              <a:t>residual risk</a:t>
            </a:r>
            <a:r>
              <a:rPr sz="2000" b="0">
                <a:solidFill>
                  <a:srgbClr val="1F2D3A"/>
                </a:solidFill>
              </a:rPr>
              <a:t>.</a:t>
            </a:r>
          </a:p>
        </p:txBody>
      </p:sp>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13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153</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Through an Evaluator's Eyes</a:t>
            </a:r>
          </a:p>
        </p:txBody>
      </p:sp>
      <p:sp>
        <p:nvSpPr>
          <p:cNvPr id="7" name="TextBox 6"/>
          <p:cNvSpPr txBox="1"/>
          <p:nvPr/>
        </p:nvSpPr>
        <p:spPr>
          <a:xfrm>
            <a:off x="640080" y="1325880"/>
            <a:ext cx="10911535" cy="1219200"/>
          </a:xfrm>
          <a:prstGeom prst="rect">
            <a:avLst/>
          </a:prstGeom>
          <a:noFill/>
        </p:spPr>
        <p:txBody>
          <a:bodyPr wrap="square" lIns="45720" rIns="45720">
            <a:spAutoFit/>
          </a:bodyPr>
          <a:lstStyle/>
          <a:p>
            <a:pPr>
              <a:spcAft>
                <a:spcPts val="300"/>
              </a:spcAft>
            </a:pPr>
            <a:r>
              <a:rPr sz="2000" b="1">
                <a:solidFill>
                  <a:srgbClr val="006D77"/>
                </a:solidFill>
              </a:rPr>
              <a:t>• </a:t>
            </a:r>
            <a:r>
              <a:rPr sz="2000" b="0">
                <a:solidFill>
                  <a:srgbClr val="1F2D3A"/>
                </a:solidFill>
              </a:rPr>
              <a:t>A "met" with no evidence = not met.</a:t>
            </a:r>
          </a:p>
          <a:p>
            <a:pPr>
              <a:spcAft>
                <a:spcPts val="300"/>
              </a:spcAft>
            </a:pPr>
            <a:r>
              <a:rPr sz="2000" b="1">
                <a:solidFill>
                  <a:srgbClr val="006D77"/>
                </a:solidFill>
              </a:rPr>
              <a:t>• </a:t>
            </a:r>
            <a:r>
              <a:rPr sz="2000" b="0">
                <a:solidFill>
                  <a:srgbClr val="1F2D3A"/>
                </a:solidFill>
              </a:rPr>
              <a:t>Are the deferred ones explicit and justified?</a:t>
            </a:r>
          </a:p>
          <a:p>
            <a:pPr>
              <a:spcAft>
                <a:spcPts val="300"/>
              </a:spcAft>
            </a:pPr>
            <a:r>
              <a:rPr sz="2000" b="1">
                <a:solidFill>
                  <a:srgbClr val="006D77"/>
                </a:solidFill>
              </a:rPr>
              <a:t>• </a:t>
            </a:r>
            <a:r>
              <a:rPr sz="2000" b="0">
                <a:solidFill>
                  <a:srgbClr val="1F2D3A"/>
                </a:solidFill>
              </a:rPr>
              <a:t>Are the requirements verifiable?</a:t>
            </a:r>
          </a:p>
        </p:txBody>
      </p:sp>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13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154</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2600" b="1">
                <a:solidFill>
                  <a:srgbClr val="006D77"/>
                </a:solidFill>
              </a:rPr>
              <a:t>Checklist</a:t>
            </a:r>
          </a:p>
        </p:txBody>
      </p:sp>
      <p:sp>
        <p:nvSpPr>
          <p:cNvPr id="7" name="TextBox 6"/>
          <p:cNvSpPr txBox="1"/>
          <p:nvPr/>
        </p:nvSpPr>
        <p:spPr>
          <a:xfrm>
            <a:off x="640080" y="1325880"/>
            <a:ext cx="10911535" cy="2148840"/>
          </a:xfrm>
          <a:prstGeom prst="rect">
            <a:avLst/>
          </a:prstGeom>
          <a:noFill/>
        </p:spPr>
        <p:txBody>
          <a:bodyPr wrap="square" lIns="45720" rIns="45720">
            <a:spAutoFit/>
          </a:bodyPr>
          <a:lstStyle/>
          <a:p>
            <a:pPr>
              <a:spcAft>
                <a:spcPts val="300"/>
              </a:spcAft>
            </a:pPr>
            <a:r>
              <a:rPr sz="1800" b="1">
                <a:solidFill>
                  <a:srgbClr val="006D77"/>
                </a:solidFill>
              </a:rPr>
              <a:t>• </a:t>
            </a:r>
            <a:r>
              <a:rPr sz="1800" b="0">
                <a:solidFill>
                  <a:srgbClr val="1F2D3A"/>
                </a:solidFill>
              </a:rPr>
              <a:t> </a:t>
            </a:r>
          </a:p>
          <a:p>
            <a:pPr>
              <a:spcAft>
                <a:spcPts val="300"/>
              </a:spcAft>
            </a:pPr>
            <a:r>
              <a:rPr sz="1800" b="1">
                <a:solidFill>
                  <a:srgbClr val="006D77"/>
                </a:solidFill>
              </a:rPr>
              <a:t>• </a:t>
            </a:r>
            <a:r>
              <a:rPr sz="1800" b="0">
                <a:solidFill>
                  <a:srgbClr val="1F2D3A"/>
                </a:solidFill>
              </a:rPr>
              <a:t> </a:t>
            </a:r>
          </a:p>
          <a:p>
            <a:pPr>
              <a:spcAft>
                <a:spcPts val="300"/>
              </a:spcAft>
            </a:pPr>
            <a:r>
              <a:rPr sz="1800" b="1">
                <a:solidFill>
                  <a:srgbClr val="006D77"/>
                </a:solidFill>
              </a:rPr>
              <a:t>• </a:t>
            </a:r>
            <a:r>
              <a:rPr sz="1800" b="0">
                <a:solidFill>
                  <a:srgbClr val="1F2D3A"/>
                </a:solidFill>
              </a:rPr>
              <a:t> </a:t>
            </a:r>
          </a:p>
          <a:p>
            <a:pPr>
              <a:spcAft>
                <a:spcPts val="300"/>
              </a:spcAft>
            </a:pPr>
            <a:r>
              <a:rPr sz="1800" b="1">
                <a:solidFill>
                  <a:srgbClr val="006D77"/>
                </a:solidFill>
              </a:rPr>
              <a:t>• </a:t>
            </a:r>
            <a:r>
              <a:rPr sz="1800" b="0">
                <a:solidFill>
                  <a:srgbClr val="1F2D3A"/>
                </a:solidFill>
              </a:rPr>
              <a:t> </a:t>
            </a:r>
          </a:p>
          <a:p>
            <a:pPr>
              <a:spcAft>
                <a:spcPts val="300"/>
              </a:spcAft>
            </a:pPr>
            <a:r>
              <a:rPr sz="1800" b="1">
                <a:solidFill>
                  <a:srgbClr val="006D77"/>
                </a:solidFill>
              </a:rPr>
              <a:t>• </a:t>
            </a:r>
            <a:r>
              <a:rPr sz="1800" b="0">
                <a:solidFill>
                  <a:srgbClr val="1F2D3A"/>
                </a:solidFill>
              </a:rPr>
              <a:t> </a:t>
            </a:r>
          </a:p>
          <a:p>
            <a:pPr>
              <a:spcAft>
                <a:spcPts val="300"/>
              </a:spcAft>
            </a:pPr>
            <a:r>
              <a:rPr sz="1800" b="1">
                <a:solidFill>
                  <a:srgbClr val="006D77"/>
                </a:solidFill>
              </a:rPr>
              <a:t>• </a:t>
            </a:r>
            <a:r>
              <a:rPr sz="1800" b="0">
                <a:solidFill>
                  <a:srgbClr val="1F2D3A"/>
                </a:solidFill>
              </a:rPr>
              <a:t> </a:t>
            </a:r>
          </a:p>
        </p:txBody>
      </p:sp>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13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155</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2600" b="1">
                <a:solidFill>
                  <a:srgbClr val="006D77"/>
                </a:solidFill>
              </a:rPr>
              <a:t>How to Prepare in 45 Minutes + the Evidence Folder</a:t>
            </a:r>
          </a:p>
        </p:txBody>
      </p:sp>
      <p:sp>
        <p:nvSpPr>
          <p:cNvPr id="7" name="TextBox 6"/>
          <p:cNvSpPr txBox="1"/>
          <p:nvPr/>
        </p:nvSpPr>
        <p:spPr>
          <a:xfrm>
            <a:off x="640080" y="1325880"/>
            <a:ext cx="10911535" cy="2354580"/>
          </a:xfrm>
          <a:prstGeom prst="rect">
            <a:avLst/>
          </a:prstGeom>
          <a:noFill/>
        </p:spPr>
        <p:txBody>
          <a:bodyPr wrap="square" lIns="45720" rIns="45720">
            <a:spAutoFit/>
          </a:bodyPr>
          <a:lstStyle/>
          <a:p>
            <a:pPr>
              <a:spcAft>
                <a:spcPts val="300"/>
              </a:spcAft>
            </a:pPr>
            <a:r>
              <a:rPr sz="1800" b="1">
                <a:solidFill>
                  <a:srgbClr val="006D77"/>
                </a:solidFill>
              </a:rPr>
              <a:t>1. </a:t>
            </a:r>
            <a:r>
              <a:rPr sz="1800" b="0">
                <a:solidFill>
                  <a:srgbClr val="1F2D3A"/>
                </a:solidFill>
              </a:rPr>
              <a:t>Mark the requirements that apply from the family table; leave the ones that don't as "not applicable, rationale: ..."</a:t>
            </a:r>
          </a:p>
          <a:p>
            <a:pPr>
              <a:spcAft>
                <a:spcPts val="300"/>
              </a:spcAft>
            </a:pPr>
            <a:r>
              <a:rPr sz="1800" b="1">
                <a:solidFill>
                  <a:srgbClr val="006D77"/>
                </a:solidFill>
              </a:rPr>
              <a:t>2. </a:t>
            </a:r>
            <a:r>
              <a:rPr sz="1800" b="0">
                <a:solidFill>
                  <a:srgbClr val="1F2D3A"/>
                </a:solidFill>
              </a:rPr>
              <a:t>Fill in the six columns (id, requirement, status, control, verification, evidence); don't write "met" with no evidence.</a:t>
            </a:r>
          </a:p>
          <a:p>
            <a:pPr>
              <a:spcAft>
                <a:spcPts val="300"/>
              </a:spcAft>
            </a:pPr>
            <a:r>
              <a:rPr sz="1800" b="1">
                <a:solidFill>
                  <a:srgbClr val="006D77"/>
                </a:solidFill>
              </a:rPr>
              <a:t>3. </a:t>
            </a:r>
            <a:r>
              <a:rPr sz="1800" b="0">
                <a:solidFill>
                  <a:srgbClr val="1F2D3A"/>
                </a:solidFill>
              </a:rPr>
              <a:t>Move the "deferred" rows to S14, with to-whom/why/how.</a:t>
            </a:r>
          </a:p>
          <a:p>
            <a:pPr>
              <a:spcAft>
                <a:spcPts val="300"/>
              </a:spcAft>
            </a:pPr>
            <a:r>
              <a:rPr sz="1800" b="1">
                <a:solidFill>
                  <a:srgbClr val="006D77"/>
                </a:solidFill>
              </a:rPr>
              <a:t>4. </a:t>
            </a:r>
            <a:r>
              <a:rPr sz="1800" b="0">
                <a:solidFill>
                  <a:srgbClr val="1F2D3A"/>
                </a:solidFill>
              </a:rPr>
              <a:t>Link your asset table (S5) to every requirement; write which standards you're basing it on into S1.</a:t>
            </a:r>
          </a:p>
        </p:txBody>
      </p:sp>
      <p:sp>
        <p:nvSpPr>
          <p:cNvPr id="8" name="Rectangle 7"/>
          <p:cNvSpPr/>
          <p:nvPr/>
        </p:nvSpPr>
        <p:spPr>
          <a:xfrm>
            <a:off x="640080" y="3790188"/>
            <a:ext cx="10911535" cy="614476"/>
          </a:xfrm>
          <a:prstGeom prst="rect">
            <a:avLst/>
          </a:prstGeom>
          <a:solidFill>
            <a:srgbClr val="F3F4F6"/>
          </a:solidFill>
          <a:ln>
            <a:solidFill>
              <a:srgbClr val="D9DEE3"/>
            </a:solidFill>
          </a:ln>
        </p:spPr>
        <p:style>
          <a:lnRef idx="1">
            <a:schemeClr val="accent1"/>
          </a:lnRef>
          <a:fillRef idx="3">
            <a:schemeClr val="accent1"/>
          </a:fillRef>
          <a:effectRef idx="2">
            <a:schemeClr val="accent1"/>
          </a:effectRef>
          <a:fontRef idx="minor">
            <a:schemeClr val="lt1"/>
          </a:fontRef>
        </p:style>
        <p:txBody>
          <a:bodyPr rtlCol="0" anchor="t" wrap="none" lIns="137160" rIns="137160" tIns="91440" bIns="91440"/>
          <a:lstStyle/>
          <a:p>
            <a:pPr algn="l"/>
            <a:r>
              <a:rPr sz="1116">
                <a:solidFill>
                  <a:srgbClr val="1F2D3A"/>
                </a:solidFill>
                <a:latin typeface="Consolas"/>
              </a:rPr>
              <a:t>evidence/week13/  &lt;- test/log/pcap dosyaları</a:t>
            </a:r>
          </a:p>
          <a:p>
            <a:pPr algn="l"/>
            <a:r>
              <a:rPr sz="1116">
                <a:solidFill>
                  <a:srgbClr val="1F2D3A"/>
                </a:solidFill>
                <a:latin typeface="Consolas"/>
              </a:rPr>
              <a:t>  README.md       &lt;- her dosya hangi gereksinimin kanıtı, bir satırla</a:t>
            </a:r>
          </a:p>
        </p:txBody>
      </p:sp>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13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156</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2600" b="1">
                <a:solidFill>
                  <a:srgbClr val="006D77"/>
                </a:solidFill>
              </a:rPr>
              <a:t>If Time Is Short · Priority Order</a:t>
            </a:r>
          </a:p>
        </p:txBody>
      </p:sp>
      <p:sp>
        <p:nvSpPr>
          <p:cNvPr id="7" name="TextBox 6"/>
          <p:cNvSpPr txBox="1"/>
          <p:nvPr/>
        </p:nvSpPr>
        <p:spPr>
          <a:xfrm>
            <a:off x="640080" y="1325880"/>
            <a:ext cx="10911535" cy="2057400"/>
          </a:xfrm>
          <a:prstGeom prst="rect">
            <a:avLst/>
          </a:prstGeom>
          <a:noFill/>
        </p:spPr>
        <p:txBody>
          <a:bodyPr wrap="square" lIns="45720" rIns="45720">
            <a:spAutoFit/>
          </a:bodyPr>
          <a:lstStyle/>
          <a:p>
            <a:pPr>
              <a:spcAft>
                <a:spcPts val="300"/>
              </a:spcAft>
            </a:pPr>
            <a:r>
              <a:rPr sz="1800" b="1">
                <a:solidFill>
                  <a:srgbClr val="006D77"/>
                </a:solidFill>
              </a:rPr>
              <a:t>1. </a:t>
            </a:r>
            <a:r>
              <a:rPr sz="1800" b="0">
                <a:solidFill>
                  <a:srgbClr val="1F2D3A"/>
                </a:solidFill>
              </a:rPr>
              <a:t>First, an S17 skeleton with </a:t>
            </a:r>
            <a:r>
              <a:rPr sz="1800" b="1">
                <a:solidFill>
                  <a:srgbClr val="1F2D3A"/>
                </a:solidFill>
              </a:rPr>
              <a:t>at least 15 requirements</a:t>
            </a:r>
            <a:r>
              <a:rPr sz="1800" b="0">
                <a:solidFill>
                  <a:srgbClr val="1F2D3A"/>
                </a:solidFill>
              </a:rPr>
              <a:t> (id+requirement+status) — far better than an empty S17.</a:t>
            </a:r>
          </a:p>
          <a:p>
            <a:pPr>
              <a:spcAft>
                <a:spcPts val="300"/>
              </a:spcAft>
            </a:pPr>
            <a:r>
              <a:rPr sz="1800" b="1">
                <a:solidFill>
                  <a:srgbClr val="006D77"/>
                </a:solidFill>
              </a:rPr>
              <a:t>2. </a:t>
            </a:r>
            <a:r>
              <a:rPr sz="1800" b="0">
                <a:solidFill>
                  <a:srgbClr val="1F2D3A"/>
                </a:solidFill>
              </a:rPr>
              <a:t>Complete the "met" rows you actually </a:t>
            </a:r>
            <a:r>
              <a:rPr sz="1800" b="1">
                <a:solidFill>
                  <a:srgbClr val="1F2D3A"/>
                </a:solidFill>
              </a:rPr>
              <a:t>have evidence</a:t>
            </a:r>
            <a:r>
              <a:rPr sz="1800" b="0">
                <a:solidFill>
                  <a:srgbClr val="1F2D3A"/>
                </a:solidFill>
              </a:rPr>
              <a:t> for; honestly turn the ones without into "not met."</a:t>
            </a:r>
          </a:p>
          <a:p>
            <a:pPr>
              <a:spcAft>
                <a:spcPts val="300"/>
              </a:spcAft>
            </a:pPr>
            <a:r>
              <a:rPr sz="1800" b="1">
                <a:solidFill>
                  <a:srgbClr val="006D77"/>
                </a:solidFill>
              </a:rPr>
              <a:t>3. </a:t>
            </a:r>
            <a:r>
              <a:rPr sz="1800" b="0">
                <a:solidFill>
                  <a:srgbClr val="1F2D3A"/>
                </a:solidFill>
              </a:rPr>
              <a:t>Move the deferred rows to S14.</a:t>
            </a:r>
          </a:p>
          <a:p>
            <a:pPr>
              <a:spcAft>
                <a:spcPts val="300"/>
              </a:spcAft>
            </a:pPr>
            <a:r>
              <a:rPr sz="1800" b="1">
                <a:solidFill>
                  <a:srgbClr val="006D77"/>
                </a:solidFill>
              </a:rPr>
              <a:t>4. </a:t>
            </a:r>
            <a:r>
              <a:rPr sz="1800" b="0">
                <a:solidFill>
                  <a:srgbClr val="1F2D3A"/>
                </a:solidFill>
              </a:rPr>
              <a:t>Finally, fill in the remaining control/verification columns.</a:t>
            </a:r>
          </a:p>
        </p:txBody>
      </p:sp>
      <p:sp>
        <p:nvSpPr>
          <p:cNvPr id="8" name="TextBox 7"/>
          <p:cNvSpPr txBox="1"/>
          <p:nvPr/>
        </p:nvSpPr>
        <p:spPr>
          <a:xfrm>
            <a:off x="640080" y="3493008"/>
            <a:ext cx="10911535" cy="704088"/>
          </a:xfrm>
          <a:prstGeom prst="rect">
            <a:avLst/>
          </a:prstGeom>
          <a:noFill/>
        </p:spPr>
        <p:txBody>
          <a:bodyPr wrap="square" lIns="45720" rIns="45720">
            <a:spAutoFit/>
          </a:bodyPr>
          <a:lstStyle/>
          <a:p>
            <a:pPr algn="l"/>
            <a:r>
              <a:rPr sz="1800" b="1">
                <a:solidFill>
                  <a:srgbClr val="1F2D3A"/>
                </a:solidFill>
              </a:rPr>
              <a:t>Rule:</a:t>
            </a:r>
            <a:r>
              <a:rPr sz="1800" b="0">
                <a:solidFill>
                  <a:srgbClr val="1F2D3A"/>
                </a:solidFill>
              </a:rPr>
              <a:t> a "small but honest" matrix always scores better than a "large but evidence-free" one.</a:t>
            </a:r>
          </a:p>
        </p:txBody>
      </p:sp>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bg>
      <p:bgPr>
        <a:solidFill>
          <a:srgbClr val="006D77"/>
        </a:solidFill>
        <a:effectLst/>
      </p:bgPr>
    </p:bg>
    <p:spTree>
      <p:nvGrpSpPr>
        <p:cNvPr id="1" name=""/>
        <p:cNvGrpSpPr/>
        <p:nvPr/>
      </p:nvGrpSpPr>
      <p:grpSpPr/>
      <p:sp>
        <p:nvSpPr>
          <p:cNvPr id="2" name="TextBox 1"/>
          <p:cNvSpPr txBox="1"/>
          <p:nvPr/>
        </p:nvSpPr>
        <p:spPr>
          <a:xfrm>
            <a:off x="1051560" y="182880"/>
            <a:ext cx="7315200" cy="320040"/>
          </a:xfrm>
          <a:prstGeom prst="rect">
            <a:avLst/>
          </a:prstGeom>
          <a:noFill/>
        </p:spPr>
        <p:txBody>
          <a:bodyPr wrap="square" lIns="45720" rIns="45720">
            <a:spAutoFit/>
          </a:bodyPr>
          <a:lstStyle/>
          <a:p>
            <a:r>
              <a:rPr sz="1100" b="0">
                <a:solidFill>
                  <a:srgbClr val="D8F0F2"/>
                </a:solidFill>
              </a:rPr>
              <a:t>CEN429 Secure Programming · Week 13</a:t>
            </a:r>
          </a:p>
        </p:txBody>
      </p:sp>
      <p:sp>
        <p:nvSpPr>
          <p:cNvPr id="3" name="TextBox 2"/>
          <p:cNvSpPr txBox="1"/>
          <p:nvPr/>
        </p:nvSpPr>
        <p:spPr>
          <a:xfrm>
            <a:off x="640080" y="6446520"/>
            <a:ext cx="7315200" cy="274320"/>
          </a:xfrm>
          <a:prstGeom prst="rect">
            <a:avLst/>
          </a:prstGeom>
          <a:noFill/>
        </p:spPr>
        <p:txBody>
          <a:bodyPr wrap="square" lIns="45720" rIns="45720">
            <a:spAutoFit/>
          </a:bodyPr>
          <a:lstStyle/>
          <a:p>
            <a:r>
              <a:rPr sz="1000" b="0">
                <a:solidFill>
                  <a:srgbClr val="D8F0F2"/>
                </a:solidFill>
              </a:rPr>
              <a:t>RTEU Computer Engineering · 2026-2027 Fall</a:t>
            </a:r>
          </a:p>
        </p:txBody>
      </p:sp>
      <p:sp>
        <p:nvSpPr>
          <p:cNvPr id="4" name="TextBox 3"/>
          <p:cNvSpPr txBox="1"/>
          <p:nvPr/>
        </p:nvSpPr>
        <p:spPr>
          <a:xfrm>
            <a:off x="10637215" y="6446520"/>
            <a:ext cx="914400" cy="274320"/>
          </a:xfrm>
          <a:prstGeom prst="rect">
            <a:avLst/>
          </a:prstGeom>
          <a:noFill/>
        </p:spPr>
        <p:txBody>
          <a:bodyPr wrap="square" lIns="45720" rIns="45720">
            <a:spAutoFit/>
          </a:bodyPr>
          <a:lstStyle/>
          <a:p>
            <a:pPr algn="r"/>
            <a:r>
              <a:rPr sz="1000" b="0">
                <a:solidFill>
                  <a:srgbClr val="D8F0F2"/>
                </a:solidFill>
              </a:rPr>
              <a:t>157</a:t>
            </a:r>
          </a:p>
        </p:txBody>
      </p:sp>
      <p:sp>
        <p:nvSpPr>
          <p:cNvPr id="5" name="TextBox 4"/>
          <p:cNvSpPr txBox="1"/>
          <p:nvPr/>
        </p:nvSpPr>
        <p:spPr>
          <a:xfrm>
            <a:off x="640080" y="2743200"/>
            <a:ext cx="10911535" cy="1280160"/>
          </a:xfrm>
          <a:prstGeom prst="rect">
            <a:avLst/>
          </a:prstGeom>
          <a:noFill/>
        </p:spPr>
        <p:txBody>
          <a:bodyPr wrap="square" lIns="45720" rIns="45720">
            <a:spAutoFit/>
          </a:bodyPr>
          <a:lstStyle/>
          <a:p>
            <a:pPr algn="l"/>
            <a:r>
              <a:rPr sz="4000" b="1">
                <a:solidFill>
                  <a:srgbClr val="FFFFFF"/>
                </a:solidFill>
              </a:rPr>
              <a:t>Solved Self-Check</a:t>
            </a:r>
          </a:p>
        </p:txBody>
      </p:sp>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13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158</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Question 1</a:t>
            </a:r>
          </a:p>
        </p:txBody>
      </p:sp>
      <p:sp>
        <p:nvSpPr>
          <p:cNvPr id="7" name="TextBox 6"/>
          <p:cNvSpPr txBox="1"/>
          <p:nvPr/>
        </p:nvSpPr>
        <p:spPr>
          <a:xfrm>
            <a:off x="640080" y="1325880"/>
            <a:ext cx="10911535" cy="439928"/>
          </a:xfrm>
          <a:prstGeom prst="rect">
            <a:avLst/>
          </a:prstGeom>
          <a:noFill/>
        </p:spPr>
        <p:txBody>
          <a:bodyPr wrap="square" lIns="45720" rIns="45720">
            <a:spAutoFit/>
          </a:bodyPr>
          <a:lstStyle/>
          <a:p>
            <a:pPr algn="l"/>
            <a:r>
              <a:rPr sz="2000" b="1">
                <a:solidFill>
                  <a:srgbClr val="1F2D3A"/>
                </a:solidFill>
              </a:rPr>
              <a:t>What are the four criteria of a good security requirement?</a:t>
            </a:r>
          </a:p>
        </p:txBody>
      </p:sp>
      <p:sp>
        <p:nvSpPr>
          <p:cNvPr id="8" name="TextBox 7"/>
          <p:cNvSpPr txBox="1"/>
          <p:nvPr/>
        </p:nvSpPr>
        <p:spPr>
          <a:xfrm>
            <a:off x="640080" y="1875536"/>
            <a:ext cx="10911535" cy="439928"/>
          </a:xfrm>
          <a:prstGeom prst="rect">
            <a:avLst/>
          </a:prstGeom>
          <a:noFill/>
        </p:spPr>
        <p:txBody>
          <a:bodyPr wrap="square" lIns="45720" rIns="45720">
            <a:spAutoFit/>
          </a:bodyPr>
          <a:lstStyle/>
          <a:p>
            <a:pPr algn="l"/>
            <a:r>
              <a:rPr sz="2000" b="1">
                <a:solidFill>
                  <a:srgbClr val="1F2D3A"/>
                </a:solidFill>
              </a:rPr>
              <a:t>Answer:</a:t>
            </a:r>
            <a:r>
              <a:rPr sz="2000" b="0">
                <a:solidFill>
                  <a:srgbClr val="1F2D3A"/>
                </a:solidFill>
              </a:rPr>
              <a:t> Verifiable, singular, measurable, feasible.</a:t>
            </a:r>
          </a:p>
        </p:txBody>
      </p:sp>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13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159</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Question 2</a:t>
            </a:r>
          </a:p>
        </p:txBody>
      </p:sp>
      <p:sp>
        <p:nvSpPr>
          <p:cNvPr id="7" name="TextBox 6"/>
          <p:cNvSpPr txBox="1"/>
          <p:nvPr/>
        </p:nvSpPr>
        <p:spPr>
          <a:xfrm>
            <a:off x="640080" y="1325880"/>
            <a:ext cx="10911535" cy="439928"/>
          </a:xfrm>
          <a:prstGeom prst="rect">
            <a:avLst/>
          </a:prstGeom>
          <a:noFill/>
        </p:spPr>
        <p:txBody>
          <a:bodyPr wrap="square" lIns="45720" rIns="45720">
            <a:spAutoFit/>
          </a:bodyPr>
          <a:lstStyle/>
          <a:p>
            <a:pPr algn="l"/>
            <a:r>
              <a:rPr sz="2000" b="1">
                <a:solidFill>
                  <a:srgbClr val="1F2D3A"/>
                </a:solidFill>
              </a:rPr>
              <a:t>Why is "the application must be secure" bad? How is it fixed?</a:t>
            </a:r>
          </a:p>
        </p:txBody>
      </p:sp>
      <p:sp>
        <p:nvSpPr>
          <p:cNvPr id="8" name="TextBox 7"/>
          <p:cNvSpPr txBox="1"/>
          <p:nvPr/>
        </p:nvSpPr>
        <p:spPr>
          <a:xfrm>
            <a:off x="640080" y="1875536"/>
            <a:ext cx="10911535" cy="770128"/>
          </a:xfrm>
          <a:prstGeom prst="rect">
            <a:avLst/>
          </a:prstGeom>
          <a:noFill/>
        </p:spPr>
        <p:txBody>
          <a:bodyPr wrap="square" lIns="45720" rIns="45720">
            <a:spAutoFit/>
          </a:bodyPr>
          <a:lstStyle/>
          <a:p>
            <a:pPr algn="l"/>
            <a:r>
              <a:rPr sz="2000" b="1">
                <a:solidFill>
                  <a:srgbClr val="1F2D3A"/>
                </a:solidFill>
              </a:rPr>
              <a:t>Answer:</a:t>
            </a:r>
            <a:r>
              <a:rPr sz="2000" b="0">
                <a:solidFill>
                  <a:srgbClr val="1F2D3A"/>
                </a:solidFill>
              </a:rPr>
              <a:t> It's unverifiable. Write it measurably: e.g., "the release build is produced with a stack canary, PIE, and full RELRO."</a:t>
            </a:r>
          </a:p>
        </p:txBody>
      </p:sp>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13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160</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Question 3</a:t>
            </a:r>
          </a:p>
        </p:txBody>
      </p:sp>
      <p:sp>
        <p:nvSpPr>
          <p:cNvPr id="7" name="TextBox 6"/>
          <p:cNvSpPr txBox="1"/>
          <p:nvPr/>
        </p:nvSpPr>
        <p:spPr>
          <a:xfrm>
            <a:off x="640080" y="1325880"/>
            <a:ext cx="10911535" cy="439928"/>
          </a:xfrm>
          <a:prstGeom prst="rect">
            <a:avLst/>
          </a:prstGeom>
          <a:noFill/>
        </p:spPr>
        <p:txBody>
          <a:bodyPr wrap="square" lIns="45720" rIns="45720">
            <a:spAutoFit/>
          </a:bodyPr>
          <a:lstStyle/>
          <a:p>
            <a:pPr algn="l"/>
            <a:r>
              <a:rPr sz="2000" b="1">
                <a:solidFill>
                  <a:srgbClr val="1F2D3A"/>
                </a:solidFill>
              </a:rPr>
              <a:t>What is the traceability chain?</a:t>
            </a:r>
          </a:p>
        </p:txBody>
      </p:sp>
      <p:sp>
        <p:nvSpPr>
          <p:cNvPr id="8" name="TextBox 7"/>
          <p:cNvSpPr txBox="1"/>
          <p:nvPr/>
        </p:nvSpPr>
        <p:spPr>
          <a:xfrm>
            <a:off x="640080" y="1875536"/>
            <a:ext cx="10911535" cy="770128"/>
          </a:xfrm>
          <a:prstGeom prst="rect">
            <a:avLst/>
          </a:prstGeom>
          <a:noFill/>
        </p:spPr>
        <p:txBody>
          <a:bodyPr wrap="square" lIns="45720" rIns="45720">
            <a:spAutoFit/>
          </a:bodyPr>
          <a:lstStyle/>
          <a:p>
            <a:pPr algn="l"/>
            <a:r>
              <a:rPr sz="2000" b="1">
                <a:solidFill>
                  <a:srgbClr val="1F2D3A"/>
                </a:solidFill>
              </a:rPr>
              <a:t>Answer:</a:t>
            </a:r>
            <a:r>
              <a:rPr sz="2000" b="0">
                <a:solidFill>
                  <a:srgbClr val="1F2D3A"/>
                </a:solidFill>
              </a:rPr>
              <a:t> Requirement → control → verification → evidence. Every requirement is linked to evidence.</a:t>
            </a:r>
          </a:p>
        </p:txBody>
      </p:sp>
    </p:spTree>
  </p:cSld>
  <p:clrMapOvr>
    <a:masterClrMapping/>
  </p:clrMapOvr>
</p:sld>
</file>

<file path=ppt/slides/slide1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13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161</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Question 4</a:t>
            </a:r>
          </a:p>
        </p:txBody>
      </p:sp>
      <p:sp>
        <p:nvSpPr>
          <p:cNvPr id="7" name="TextBox 6"/>
          <p:cNvSpPr txBox="1"/>
          <p:nvPr/>
        </p:nvSpPr>
        <p:spPr>
          <a:xfrm>
            <a:off x="640080" y="1325880"/>
            <a:ext cx="10911535" cy="439928"/>
          </a:xfrm>
          <a:prstGeom prst="rect">
            <a:avLst/>
          </a:prstGeom>
          <a:noFill/>
        </p:spPr>
        <p:txBody>
          <a:bodyPr wrap="square" lIns="45720" rIns="45720">
            <a:spAutoFit/>
          </a:bodyPr>
          <a:lstStyle/>
          <a:p>
            <a:pPr algn="l"/>
            <a:r>
              <a:rPr sz="2000" b="1">
                <a:solidFill>
                  <a:srgbClr val="1F2D3A"/>
                </a:solidFill>
              </a:rPr>
              <a:t>What does a "met" with no evidence mean in a compliance matrix?</a:t>
            </a:r>
          </a:p>
        </p:txBody>
      </p:sp>
      <p:sp>
        <p:nvSpPr>
          <p:cNvPr id="8" name="TextBox 7"/>
          <p:cNvSpPr txBox="1"/>
          <p:nvPr/>
        </p:nvSpPr>
        <p:spPr>
          <a:xfrm>
            <a:off x="640080" y="1875536"/>
            <a:ext cx="10911535" cy="439928"/>
          </a:xfrm>
          <a:prstGeom prst="rect">
            <a:avLst/>
          </a:prstGeom>
          <a:noFill/>
        </p:spPr>
        <p:txBody>
          <a:bodyPr wrap="square" lIns="45720" rIns="45720">
            <a:spAutoFit/>
          </a:bodyPr>
          <a:lstStyle/>
          <a:p>
            <a:pPr algn="l"/>
            <a:r>
              <a:rPr sz="2000" b="1">
                <a:solidFill>
                  <a:srgbClr val="1F2D3A"/>
                </a:solidFill>
              </a:rPr>
              <a:t>Answer:</a:t>
            </a:r>
            <a:r>
              <a:rPr sz="2000" b="0">
                <a:solidFill>
                  <a:srgbClr val="1F2D3A"/>
                </a:solidFill>
              </a:rPr>
              <a:t> It counts as not met for the evaluator; it's one of the first findings.</a:t>
            </a:r>
          </a:p>
        </p:txBody>
      </p:sp>
    </p:spTree>
  </p:cSld>
  <p:clrMapOvr>
    <a:masterClrMapping/>
  </p:clrMapOvr>
</p:sld>
</file>

<file path=ppt/slides/slide1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13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162</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Question 5</a:t>
            </a:r>
          </a:p>
        </p:txBody>
      </p:sp>
      <p:sp>
        <p:nvSpPr>
          <p:cNvPr id="7" name="TextBox 6"/>
          <p:cNvSpPr txBox="1"/>
          <p:nvPr/>
        </p:nvSpPr>
        <p:spPr>
          <a:xfrm>
            <a:off x="640080" y="1325880"/>
            <a:ext cx="10911535" cy="439928"/>
          </a:xfrm>
          <a:prstGeom prst="rect">
            <a:avLst/>
          </a:prstGeom>
          <a:noFill/>
        </p:spPr>
        <p:txBody>
          <a:bodyPr wrap="square" lIns="45720" rIns="45720">
            <a:spAutoFit/>
          </a:bodyPr>
          <a:lstStyle/>
          <a:p>
            <a:pPr algn="l"/>
            <a:r>
              <a:rPr sz="2000" b="1">
                <a:solidFill>
                  <a:srgbClr val="1F2D3A"/>
                </a:solidFill>
              </a:rPr>
              <a:t>Which three questions are answered when deferring a requirement?</a:t>
            </a:r>
          </a:p>
        </p:txBody>
      </p:sp>
      <p:sp>
        <p:nvSpPr>
          <p:cNvPr id="8" name="TextBox 7"/>
          <p:cNvSpPr txBox="1"/>
          <p:nvPr/>
        </p:nvSpPr>
        <p:spPr>
          <a:xfrm>
            <a:off x="640080" y="1875536"/>
            <a:ext cx="10911535" cy="439928"/>
          </a:xfrm>
          <a:prstGeom prst="rect">
            <a:avLst/>
          </a:prstGeom>
          <a:noFill/>
        </p:spPr>
        <p:txBody>
          <a:bodyPr wrap="square" lIns="45720" rIns="45720">
            <a:spAutoFit/>
          </a:bodyPr>
          <a:lstStyle/>
          <a:p>
            <a:pPr algn="l"/>
            <a:r>
              <a:rPr sz="2000" b="1">
                <a:solidFill>
                  <a:srgbClr val="1F2D3A"/>
                </a:solidFill>
              </a:rPr>
              <a:t>Answer:</a:t>
            </a:r>
            <a:r>
              <a:rPr sz="2000" b="0">
                <a:solidFill>
                  <a:srgbClr val="1F2D3A"/>
                </a:solidFill>
              </a:rPr>
              <a:t> To whom, why, how. Silent deferring counts as "not met."</a:t>
            </a:r>
          </a:p>
        </p:txBody>
      </p:sp>
    </p:spTree>
  </p:cSld>
  <p:clrMapOvr>
    <a:masterClrMapping/>
  </p:clrMapOvr>
</p:sld>
</file>

<file path=ppt/slides/slide1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13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163</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Question 6</a:t>
            </a:r>
          </a:p>
        </p:txBody>
      </p:sp>
      <p:sp>
        <p:nvSpPr>
          <p:cNvPr id="7" name="TextBox 6"/>
          <p:cNvSpPr txBox="1"/>
          <p:nvPr/>
        </p:nvSpPr>
        <p:spPr>
          <a:xfrm>
            <a:off x="640080" y="1325880"/>
            <a:ext cx="10911535" cy="439928"/>
          </a:xfrm>
          <a:prstGeom prst="rect">
            <a:avLst/>
          </a:prstGeom>
          <a:noFill/>
        </p:spPr>
        <p:txBody>
          <a:bodyPr wrap="square" lIns="45720" rIns="45720">
            <a:spAutoFit/>
          </a:bodyPr>
          <a:lstStyle/>
          <a:p>
            <a:pPr algn="l"/>
            <a:r>
              <a:rPr sz="2000" b="1">
                <a:solidFill>
                  <a:srgbClr val="1F2D3A"/>
                </a:solidFill>
              </a:rPr>
              <a:t>What is the difference between ST and PP?</a:t>
            </a:r>
          </a:p>
        </p:txBody>
      </p:sp>
      <p:sp>
        <p:nvSpPr>
          <p:cNvPr id="8" name="TextBox 7"/>
          <p:cNvSpPr txBox="1"/>
          <p:nvPr/>
        </p:nvSpPr>
        <p:spPr>
          <a:xfrm>
            <a:off x="640080" y="1875536"/>
            <a:ext cx="10911535" cy="770128"/>
          </a:xfrm>
          <a:prstGeom prst="rect">
            <a:avLst/>
          </a:prstGeom>
          <a:noFill/>
        </p:spPr>
        <p:txBody>
          <a:bodyPr wrap="square" lIns="45720" rIns="45720">
            <a:spAutoFit/>
          </a:bodyPr>
          <a:lstStyle/>
          <a:p>
            <a:pPr algn="l"/>
            <a:r>
              <a:rPr sz="2000" b="1">
                <a:solidFill>
                  <a:srgbClr val="1F2D3A"/>
                </a:solidFill>
              </a:rPr>
              <a:t>Answer:</a:t>
            </a:r>
            <a:r>
              <a:rPr sz="2000" b="0">
                <a:solidFill>
                  <a:srgbClr val="1F2D3A"/>
                </a:solidFill>
              </a:rPr>
              <a:t> ST is a single product's security target; PP is a common requirement set for a product class. ST generally builds on a PP.</a:t>
            </a:r>
          </a:p>
        </p:txBody>
      </p:sp>
    </p:spTree>
  </p:cSld>
  <p:clrMapOvr>
    <a:masterClrMapping/>
  </p:clrMapOvr>
</p:sld>
</file>

<file path=ppt/slides/slide1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13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164</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Question 7</a:t>
            </a:r>
          </a:p>
        </p:txBody>
      </p:sp>
      <p:sp>
        <p:nvSpPr>
          <p:cNvPr id="7" name="TextBox 6"/>
          <p:cNvSpPr txBox="1"/>
          <p:nvPr/>
        </p:nvSpPr>
        <p:spPr>
          <a:xfrm>
            <a:off x="640080" y="1325880"/>
            <a:ext cx="10911535" cy="439928"/>
          </a:xfrm>
          <a:prstGeom prst="rect">
            <a:avLst/>
          </a:prstGeom>
          <a:noFill/>
        </p:spPr>
        <p:txBody>
          <a:bodyPr wrap="square" lIns="45720" rIns="45720">
            <a:spAutoFit/>
          </a:bodyPr>
          <a:lstStyle/>
          <a:p>
            <a:pPr algn="l"/>
            <a:r>
              <a:rPr sz="2000" b="1">
                <a:solidFill>
                  <a:srgbClr val="1F2D3A"/>
                </a:solidFill>
              </a:rPr>
              <a:t>Is "EAL4+ is always more secure than EAL2" correct?</a:t>
            </a:r>
          </a:p>
        </p:txBody>
      </p:sp>
      <p:sp>
        <p:nvSpPr>
          <p:cNvPr id="8" name="TextBox 7"/>
          <p:cNvSpPr txBox="1"/>
          <p:nvPr/>
        </p:nvSpPr>
        <p:spPr>
          <a:xfrm>
            <a:off x="640080" y="1875536"/>
            <a:ext cx="10911535" cy="770128"/>
          </a:xfrm>
          <a:prstGeom prst="rect">
            <a:avLst/>
          </a:prstGeom>
          <a:noFill/>
        </p:spPr>
        <p:txBody>
          <a:bodyPr wrap="square" lIns="45720" rIns="45720">
            <a:spAutoFit/>
          </a:bodyPr>
          <a:lstStyle/>
          <a:p>
            <a:pPr algn="l"/>
            <a:r>
              <a:rPr sz="2000" b="1">
                <a:solidFill>
                  <a:srgbClr val="1F2D3A"/>
                </a:solidFill>
              </a:rPr>
              <a:t>Answer:</a:t>
            </a:r>
            <a:r>
              <a:rPr sz="2000" b="0">
                <a:solidFill>
                  <a:srgbClr val="1F2D3A"/>
                </a:solidFill>
              </a:rPr>
              <a:t> No. EAL is the depth of the evaluation; security depends on the threats and objectives in the ST. "+" is an additional assurance component.</a:t>
            </a:r>
          </a:p>
        </p:txBody>
      </p:sp>
    </p:spTree>
  </p:cSld>
  <p:clrMapOvr>
    <a:masterClrMapping/>
  </p:clrMapOvr>
</p:sld>
</file>

<file path=ppt/slides/slide1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13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165</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Question 8</a:t>
            </a:r>
          </a:p>
        </p:txBody>
      </p:sp>
      <p:sp>
        <p:nvSpPr>
          <p:cNvPr id="7" name="TextBox 6"/>
          <p:cNvSpPr txBox="1"/>
          <p:nvPr/>
        </p:nvSpPr>
        <p:spPr>
          <a:xfrm>
            <a:off x="640080" y="1325880"/>
            <a:ext cx="10911535" cy="439928"/>
          </a:xfrm>
          <a:prstGeom prst="rect">
            <a:avLst/>
          </a:prstGeom>
          <a:noFill/>
        </p:spPr>
        <p:txBody>
          <a:bodyPr wrap="square" lIns="45720" rIns="45720">
            <a:spAutoFit/>
          </a:bodyPr>
          <a:lstStyle/>
          <a:p>
            <a:pPr algn="l"/>
            <a:r>
              <a:rPr sz="2000" b="1">
                <a:solidFill>
                  <a:srgbClr val="1F2D3A"/>
                </a:solidFill>
              </a:rPr>
              <a:t>Is an application that uses a FIPS-validated library FIPS-compliant?</a:t>
            </a:r>
          </a:p>
        </p:txBody>
      </p:sp>
      <p:sp>
        <p:nvSpPr>
          <p:cNvPr id="8" name="TextBox 7"/>
          <p:cNvSpPr txBox="1"/>
          <p:nvPr/>
        </p:nvSpPr>
        <p:spPr>
          <a:xfrm>
            <a:off x="640080" y="1875536"/>
            <a:ext cx="10911535" cy="770128"/>
          </a:xfrm>
          <a:prstGeom prst="rect">
            <a:avLst/>
          </a:prstGeom>
          <a:noFill/>
        </p:spPr>
        <p:txBody>
          <a:bodyPr wrap="square" lIns="45720" rIns="45720">
            <a:spAutoFit/>
          </a:bodyPr>
          <a:lstStyle/>
          <a:p>
            <a:pPr algn="l"/>
            <a:r>
              <a:rPr sz="2000" b="1">
                <a:solidFill>
                  <a:srgbClr val="1F2D3A"/>
                </a:solidFill>
              </a:rPr>
              <a:t>Answer:</a:t>
            </a:r>
            <a:r>
              <a:rPr sz="2000" b="0">
                <a:solidFill>
                  <a:srgbClr val="1F2D3A"/>
                </a:solidFill>
              </a:rPr>
              <a:t> Not on its own. Validation covers the module; the application must use it in approved mode, correctly, and manage keys correctly.</a:t>
            </a:r>
          </a:p>
        </p:txBody>
      </p:sp>
    </p:spTree>
  </p:cSld>
  <p:clrMapOvr>
    <a:masterClrMapping/>
  </p:clrMapOvr>
</p:sld>
</file>

<file path=ppt/slides/slide1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13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166</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Question 9</a:t>
            </a:r>
          </a:p>
        </p:txBody>
      </p:sp>
      <p:sp>
        <p:nvSpPr>
          <p:cNvPr id="7" name="TextBox 6"/>
          <p:cNvSpPr txBox="1"/>
          <p:nvPr/>
        </p:nvSpPr>
        <p:spPr>
          <a:xfrm>
            <a:off x="640080" y="1325880"/>
            <a:ext cx="10911535" cy="770128"/>
          </a:xfrm>
          <a:prstGeom prst="rect">
            <a:avLst/>
          </a:prstGeom>
          <a:noFill/>
        </p:spPr>
        <p:txBody>
          <a:bodyPr wrap="square" lIns="45720" rIns="45720">
            <a:spAutoFit/>
          </a:bodyPr>
          <a:lstStyle/>
          <a:p>
            <a:pPr algn="l"/>
            <a:r>
              <a:rPr sz="2000" b="1">
                <a:solidFill>
                  <a:srgbClr val="1F2D3A"/>
                </a:solidFill>
              </a:rPr>
              <a:t>Where does ETSI EN 303 645's "securely store sensitive parameters" provision map to in the project?</a:t>
            </a:r>
          </a:p>
        </p:txBody>
      </p:sp>
      <p:sp>
        <p:nvSpPr>
          <p:cNvPr id="8" name="TextBox 7"/>
          <p:cNvSpPr txBox="1"/>
          <p:nvPr/>
        </p:nvSpPr>
        <p:spPr>
          <a:xfrm>
            <a:off x="640080" y="2205736"/>
            <a:ext cx="10911535" cy="439928"/>
          </a:xfrm>
          <a:prstGeom prst="rect">
            <a:avLst/>
          </a:prstGeom>
          <a:noFill/>
        </p:spPr>
        <p:txBody>
          <a:bodyPr wrap="square" lIns="45720" rIns="45720">
            <a:spAutoFit/>
          </a:bodyPr>
          <a:lstStyle/>
          <a:p>
            <a:pPr algn="l"/>
            <a:r>
              <a:rPr sz="2000" b="1">
                <a:solidFill>
                  <a:srgbClr val="1F2D3A"/>
                </a:solidFill>
              </a:rPr>
              <a:t>Answer:</a:t>
            </a:r>
            <a:r>
              <a:rPr sz="2000" b="0">
                <a:solidFill>
                  <a:srgbClr val="1F2D3A"/>
                </a:solidFill>
              </a:rPr>
              <a:t> S5 asset list, S7 data security/shell matrix, S8 key lifecycle.</a:t>
            </a:r>
          </a:p>
        </p:txBody>
      </p:sp>
    </p:spTree>
  </p:cSld>
  <p:clrMapOvr>
    <a:masterClrMapping/>
  </p:clrMapOvr>
</p:sld>
</file>

<file path=ppt/slides/slide1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13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167</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Question 10</a:t>
            </a:r>
          </a:p>
        </p:txBody>
      </p:sp>
      <p:sp>
        <p:nvSpPr>
          <p:cNvPr id="7" name="TextBox 6"/>
          <p:cNvSpPr txBox="1"/>
          <p:nvPr/>
        </p:nvSpPr>
        <p:spPr>
          <a:xfrm>
            <a:off x="640080" y="1325880"/>
            <a:ext cx="10911535" cy="439928"/>
          </a:xfrm>
          <a:prstGeom prst="rect">
            <a:avLst/>
          </a:prstGeom>
          <a:noFill/>
        </p:spPr>
        <p:txBody>
          <a:bodyPr wrap="square" lIns="45720" rIns="45720">
            <a:spAutoFit/>
          </a:bodyPr>
          <a:lstStyle/>
          <a:p>
            <a:pPr algn="l"/>
            <a:r>
              <a:rPr sz="2000" b="1">
                <a:solidFill>
                  <a:srgbClr val="1F2D3A"/>
                </a:solidFill>
              </a:rPr>
              <a:t>If a library cannot meet the "secure update" requirement?</a:t>
            </a:r>
          </a:p>
        </p:txBody>
      </p:sp>
      <p:sp>
        <p:nvSpPr>
          <p:cNvPr id="8" name="TextBox 7"/>
          <p:cNvSpPr txBox="1"/>
          <p:nvPr/>
        </p:nvSpPr>
        <p:spPr>
          <a:xfrm>
            <a:off x="640080" y="1875536"/>
            <a:ext cx="10911535" cy="770128"/>
          </a:xfrm>
          <a:prstGeom prst="rect">
            <a:avLst/>
          </a:prstGeom>
          <a:noFill/>
        </p:spPr>
        <p:txBody>
          <a:bodyPr wrap="square" lIns="45720" rIns="45720">
            <a:spAutoFit/>
          </a:bodyPr>
          <a:lstStyle/>
          <a:p>
            <a:pPr algn="l"/>
            <a:r>
              <a:rPr sz="2000" b="1">
                <a:solidFill>
                  <a:srgbClr val="1F2D3A"/>
                </a:solidFill>
              </a:rPr>
              <a:t>Answer:</a:t>
            </a:r>
            <a:r>
              <a:rPr sz="2000" b="0">
                <a:solidFill>
                  <a:srgbClr val="1F2D3A"/>
                </a:solidFill>
              </a:rPr>
              <a:t> It defers to the parent application and writes to-whom/why/how it will be met in the guide.</a:t>
            </a:r>
          </a:p>
        </p:txBody>
      </p:sp>
    </p:spTree>
  </p:cSld>
  <p:clrMapOvr>
    <a:masterClrMapping/>
  </p:clrMapOvr>
</p:sld>
</file>

<file path=ppt/slides/slide1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13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168</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2600" b="1">
                <a:solidFill>
                  <a:srgbClr val="006D77"/>
                </a:solidFill>
              </a:rPr>
              <a:t>Glossary</a:t>
            </a:r>
          </a:p>
        </p:txBody>
      </p:sp>
      <p:graphicFrame>
        <p:nvGraphicFramePr>
          <p:cNvPr id="7" name="Table 6"/>
          <p:cNvGraphicFramePr>
            <a:graphicFrameLocks noGrp="1"/>
          </p:cNvGraphicFramePr>
          <p:nvPr/>
        </p:nvGraphicFramePr>
        <p:xfrm>
          <a:off x="640080" y="1325880"/>
          <a:ext cx="10911534" cy="2079345"/>
        </p:xfrm>
        <a:graphic>
          <a:graphicData uri="http://schemas.openxmlformats.org/drawingml/2006/table">
            <a:tbl>
              <a:tblPr firstRow="1" bandRow="1">
                <a:tableStyleId>{5C22544A-7EE6-4342-B048-85BDC9FD1C3A}</a:tableStyleId>
              </a:tblPr>
              <a:tblGrid>
                <a:gridCol w="4419862"/>
                <a:gridCol w="6491672"/>
              </a:tblGrid>
              <a:tr h="346557">
                <a:tc>
                  <a:txBody>
                    <a:bodyPr wrap="square"/>
                    <a:lstStyle/>
                    <a:p>
                      <a:r>
                        <a:rPr sz="1296" b="1">
                          <a:solidFill>
                            <a:srgbClr val="FFFFFF"/>
                          </a:solidFill>
                        </a:rPr>
                        <a:t>Term</a:t>
                      </a:r>
                    </a:p>
                  </a:txBody>
                  <a:tcPr marL="54864" marR="54864" marT="27432" marB="27432" anchor="ctr">
                    <a:solidFill>
                      <a:srgbClr val="006D77"/>
                    </a:solidFill>
                  </a:tcPr>
                </a:tc>
                <a:tc>
                  <a:txBody>
                    <a:bodyPr wrap="square"/>
                    <a:lstStyle/>
                    <a:p>
                      <a:r>
                        <a:rPr sz="1296" b="1">
                          <a:solidFill>
                            <a:srgbClr val="FFFFFF"/>
                          </a:solidFill>
                        </a:rPr>
                        <a:t>Meaning</a:t>
                      </a:r>
                    </a:p>
                  </a:txBody>
                  <a:tcPr marL="54864" marR="54864" marT="27432" marB="27432" anchor="ctr">
                    <a:solidFill>
                      <a:srgbClr val="006D77"/>
                    </a:solidFill>
                  </a:tcPr>
                </a:tc>
              </a:tr>
              <a:tr h="346557">
                <a:tc>
                  <a:txBody>
                    <a:bodyPr wrap="square"/>
                    <a:lstStyle/>
                    <a:p>
                      <a:r>
                        <a:rPr sz="1296" b="0">
                          <a:solidFill>
                            <a:srgbClr val="1F2D3A"/>
                          </a:solidFill>
                        </a:rPr>
                        <a:t>Functional/assurance/process</a:t>
                      </a:r>
                    </a:p>
                  </a:txBody>
                  <a:tcPr marL="54864" marR="54864" marT="27432" marB="27432" anchor="ctr">
                    <a:solidFill>
                      <a:srgbClr val="FFFFFF"/>
                    </a:solidFill>
                  </a:tcPr>
                </a:tc>
                <a:tc>
                  <a:txBody>
                    <a:bodyPr wrap="square"/>
                    <a:lstStyle/>
                    <a:p>
                      <a:r>
                        <a:rPr sz="1296" b="0">
                          <a:solidFill>
                            <a:srgbClr val="1F2D3A"/>
                          </a:solidFill>
                        </a:rPr>
                        <a:t>The three requirement types</a:t>
                      </a:r>
                    </a:p>
                  </a:txBody>
                  <a:tcPr marL="54864" marR="54864" marT="27432" marB="27432" anchor="ctr">
                    <a:solidFill>
                      <a:srgbClr val="FFFFFF"/>
                    </a:solidFill>
                  </a:tcPr>
                </a:tc>
              </a:tr>
              <a:tr h="346557">
                <a:tc>
                  <a:txBody>
                    <a:bodyPr wrap="square"/>
                    <a:lstStyle/>
                    <a:p>
                      <a:r>
                        <a:rPr sz="1296" b="0">
                          <a:solidFill>
                            <a:srgbClr val="1F2D3A"/>
                          </a:solidFill>
                        </a:rPr>
                        <a:t>Traceability</a:t>
                      </a:r>
                    </a:p>
                  </a:txBody>
                  <a:tcPr marL="54864" marR="54864" marT="27432" marB="27432" anchor="ctr">
                    <a:solidFill>
                      <a:srgbClr val="EEF7F8"/>
                    </a:solidFill>
                  </a:tcPr>
                </a:tc>
                <a:tc>
                  <a:txBody>
                    <a:bodyPr wrap="square"/>
                    <a:lstStyle/>
                    <a:p>
                      <a:r>
                        <a:rPr sz="1296" b="0">
                          <a:solidFill>
                            <a:srgbClr val="1F2D3A"/>
                          </a:solidFill>
                        </a:rPr>
                        <a:t>Requirement→evidence chain</a:t>
                      </a:r>
                    </a:p>
                  </a:txBody>
                  <a:tcPr marL="54864" marR="54864" marT="27432" marB="27432" anchor="ctr">
                    <a:solidFill>
                      <a:srgbClr val="EEF7F8"/>
                    </a:solidFill>
                  </a:tcPr>
                </a:tc>
              </a:tr>
              <a:tr h="346557">
                <a:tc>
                  <a:txBody>
                    <a:bodyPr wrap="square"/>
                    <a:lstStyle/>
                    <a:p>
                      <a:r>
                        <a:rPr sz="1296" b="0">
                          <a:solidFill>
                            <a:srgbClr val="1F2D3A"/>
                          </a:solidFill>
                        </a:rPr>
                        <a:t>Deferred</a:t>
                      </a:r>
                    </a:p>
                  </a:txBody>
                  <a:tcPr marL="54864" marR="54864" marT="27432" marB="27432" anchor="ctr">
                    <a:solidFill>
                      <a:srgbClr val="FFFFFF"/>
                    </a:solidFill>
                  </a:tcPr>
                </a:tc>
                <a:tc>
                  <a:txBody>
                    <a:bodyPr wrap="square"/>
                    <a:lstStyle/>
                    <a:p>
                      <a:r>
                        <a:rPr sz="1296" b="0">
                          <a:solidFill>
                            <a:srgbClr val="1F2D3A"/>
                          </a:solidFill>
                        </a:rPr>
                        <a:t>A requirement carried over to another party</a:t>
                      </a:r>
                    </a:p>
                  </a:txBody>
                  <a:tcPr marL="54864" marR="54864" marT="27432" marB="27432" anchor="ctr">
                    <a:solidFill>
                      <a:srgbClr val="FFFFFF"/>
                    </a:solidFill>
                  </a:tcPr>
                </a:tc>
              </a:tr>
              <a:tr h="346557">
                <a:tc>
                  <a:txBody>
                    <a:bodyPr wrap="square"/>
                    <a:lstStyle/>
                    <a:p>
                      <a:r>
                        <a:rPr sz="1296" b="0">
                          <a:solidFill>
                            <a:srgbClr val="1F2D3A"/>
                          </a:solidFill>
                        </a:rPr>
                        <a:t>TOE/ST/PP</a:t>
                      </a:r>
                    </a:p>
                  </a:txBody>
                  <a:tcPr marL="54864" marR="54864" marT="27432" marB="27432" anchor="ctr">
                    <a:solidFill>
                      <a:srgbClr val="EEF7F8"/>
                    </a:solidFill>
                  </a:tcPr>
                </a:tc>
                <a:tc>
                  <a:txBody>
                    <a:bodyPr wrap="square"/>
                    <a:lstStyle/>
                    <a:p>
                      <a:r>
                        <a:rPr sz="1296" b="0">
                          <a:solidFill>
                            <a:srgbClr val="1F2D3A"/>
                          </a:solidFill>
                        </a:rPr>
                        <a:t>CC's basic concepts</a:t>
                      </a:r>
                    </a:p>
                  </a:txBody>
                  <a:tcPr marL="54864" marR="54864" marT="27432" marB="27432" anchor="ctr">
                    <a:solidFill>
                      <a:srgbClr val="EEF7F8"/>
                    </a:solidFill>
                  </a:tcPr>
                </a:tc>
              </a:tr>
              <a:tr h="346560">
                <a:tc>
                  <a:txBody>
                    <a:bodyPr wrap="square"/>
                    <a:lstStyle/>
                    <a:p>
                      <a:r>
                        <a:rPr sz="1296" b="0">
                          <a:solidFill>
                            <a:srgbClr val="1F2D3A"/>
                          </a:solidFill>
                        </a:rPr>
                        <a:t>SFR/SAR/EAL</a:t>
                      </a:r>
                    </a:p>
                  </a:txBody>
                  <a:tcPr marL="54864" marR="54864" marT="27432" marB="27432" anchor="ctr">
                    <a:solidFill>
                      <a:srgbClr val="FFFFFF"/>
                    </a:solidFill>
                  </a:tcPr>
                </a:tc>
                <a:tc>
                  <a:txBody>
                    <a:bodyPr wrap="square"/>
                    <a:lstStyle/>
                    <a:p>
                      <a:r>
                        <a:rPr sz="1296" b="0">
                          <a:solidFill>
                            <a:srgbClr val="1F2D3A"/>
                          </a:solidFill>
                        </a:rPr>
                        <a:t>Functional/assurance/depth</a:t>
                      </a:r>
                    </a:p>
                  </a:txBody>
                  <a:tcPr marL="54864" marR="54864" marT="27432" marB="27432" anchor="ctr">
                    <a:solidFill>
                      <a:srgbClr val="FFFFFF"/>
                    </a:solidFill>
                  </a:tcPr>
                </a:tc>
              </a:tr>
            </a:tbl>
          </a:graphicData>
        </a:graphic>
      </p:graphicFrame>
    </p:spTree>
  </p:cSld>
  <p:clrMapOvr>
    <a:masterClrMapping/>
  </p:clrMapOvr>
</p:sld>
</file>

<file path=ppt/slides/slide1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13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169</a:t>
            </a:r>
          </a:p>
        </p:txBody>
      </p:sp>
      <p:sp>
        <p:nvSpPr>
          <p:cNvPr id="6" name="TextBox 5"/>
          <p:cNvSpPr txBox="1"/>
          <p:nvPr/>
        </p:nvSpPr>
        <p:spPr>
          <a:xfrm>
            <a:off x="640080" y="2194560"/>
            <a:ext cx="10911535" cy="1280160"/>
          </a:xfrm>
          <a:prstGeom prst="rect">
            <a:avLst/>
          </a:prstGeom>
          <a:noFill/>
        </p:spPr>
        <p:txBody>
          <a:bodyPr wrap="square" lIns="45720" rIns="45720">
            <a:spAutoFit/>
          </a:bodyPr>
          <a:lstStyle/>
          <a:p>
            <a:pPr algn="ctr"/>
            <a:r>
              <a:rPr sz="4000" b="1">
                <a:solidFill>
                  <a:srgbClr val="006D77"/>
                </a:solidFill>
              </a:rPr>
              <a:t>Next Week</a:t>
            </a:r>
          </a:p>
        </p:txBody>
      </p:sp>
      <p:sp>
        <p:nvSpPr>
          <p:cNvPr id="7" name="TextBox 6"/>
          <p:cNvSpPr txBox="1"/>
          <p:nvPr/>
        </p:nvSpPr>
        <p:spPr>
          <a:xfrm>
            <a:off x="640080" y="3566160"/>
            <a:ext cx="10911535" cy="439928"/>
          </a:xfrm>
          <a:prstGeom prst="rect">
            <a:avLst/>
          </a:prstGeom>
          <a:noFill/>
        </p:spPr>
        <p:txBody>
          <a:bodyPr wrap="square" lIns="45720" rIns="45720">
            <a:spAutoFit/>
          </a:bodyPr>
          <a:lstStyle/>
          <a:p>
            <a:pPr algn="ctr"/>
            <a:r>
              <a:rPr sz="2000" b="1">
                <a:solidFill>
                  <a:srgbClr val="1F2D3A"/>
                </a:solidFill>
              </a:rPr>
              <a:t>Week 14 — Tigress and Diversification</a:t>
            </a:r>
          </a:p>
        </p:txBody>
      </p:sp>
      <p:sp>
        <p:nvSpPr>
          <p:cNvPr id="8" name="TextBox 7"/>
          <p:cNvSpPr txBox="1"/>
          <p:nvPr/>
        </p:nvSpPr>
        <p:spPr>
          <a:xfrm>
            <a:off x="640080" y="4051808"/>
            <a:ext cx="10911535" cy="2090928"/>
          </a:xfrm>
          <a:prstGeom prst="rect">
            <a:avLst/>
          </a:prstGeom>
          <a:noFill/>
        </p:spPr>
        <p:txBody>
          <a:bodyPr wrap="square" lIns="45720" rIns="45720">
            <a:spAutoFit/>
          </a:bodyPr>
          <a:lstStyle/>
          <a:p>
            <a:pPr algn="ctr"/>
            <a:r>
              <a:rPr sz="2000" b="0">
                <a:solidFill>
                  <a:srgbClr val="1F2D3A"/>
                </a:solidFill>
              </a:rPr>
              <a:t>This week we defined the course's requirement families; in week 14 we will see the concrete counterpart — the </a:t>
            </a:r>
            <a:r>
              <a:rPr sz="2000" b="1">
                <a:solidFill>
                  <a:srgbClr val="1F2D3A"/>
                </a:solidFill>
              </a:rPr>
              <a:t>control</a:t>
            </a:r>
            <a:r>
              <a:rPr sz="2000" b="0">
                <a:solidFill>
                  <a:srgbClr val="1F2D3A"/>
                </a:solidFill>
              </a:rPr>
              <a:t> side — of requirements such as "sensitive code sections must be obfuscated" from the </a:t>
            </a:r>
            <a:r>
              <a:rPr sz="2000" b="1">
                <a:solidFill>
                  <a:srgbClr val="1F2D3A"/>
                </a:solidFill>
              </a:rPr>
              <a:t>CEN429-AP</a:t>
            </a:r>
            <a:r>
              <a:rPr sz="2000" b="0">
                <a:solidFill>
                  <a:srgbClr val="1F2D3A"/>
                </a:solidFill>
              </a:rPr>
              <a:t> (application protection) family: you will apply code obfuscation and diversification transforms with Tigress and link them to the relevant rows of your compliance matrix (S17). The automated, diversified application of the obfuscation rules; measurement and the build pipeline.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CEN429 Week 13 — Security Requirements</dc:title>
  <dc:subject/>
  <dc:creator>Asst. Prof. Dr. Uğur CORUH</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