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Tigress automates week 9's manual obfuscation rules using source-to-source obfuscation and diversification. Main rule: obfuscation does not grant unbreakability, it raises cost; combine transforms, diversify, measure. Tigress is applied only to your own code; it is not distributed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week we automate week 9's manual obfuscation rules with a tool (Tigress). The main message is the same: obfuscation does not grant unbreakability, it raises cost; combine, diversify,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transform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Transform names can change slightly with the version; verify against the official documentation. We tie the concept to week 9's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start with flatten-granted, show how case 7341 hides the decision; then arith-typical to</a:t>
            </a:r>
          </a:p>
          <a:p>
            <a:r>
              <a:t>verify the MBA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even at q=0, (q*q)%4 can never be 2 — the predicate is still always true; real</a:t>
            </a:r>
          </a:p>
          <a:p>
            <a:r>
              <a:t>fallback_transform.py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start with the normal preset (Tigress, two transforms); show students that the behavior-check</a:t>
            </a:r>
          </a:p>
          <a:p>
            <a:r>
              <a:t>row runs once per token.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how a hand-corrupted variant.c that changes behavior makes pipeline_check.py FAIL — the</a:t>
            </a:r>
          </a:p>
          <a:p>
            <a:r>
              <a:t>concrete proof behind "never hand-edit variant.c."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start with code-then-structure; show that EncodeLiterals only encodes constants visible so</a:t>
            </a:r>
          </a:p>
          <a:p>
            <a:r>
              <a:t>far, and that sign is always the last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if signing happens first, every later stage invalidates it — live proof of the "what if</a:t>
            </a:r>
          </a:p>
          <a:p>
            <a:r>
              <a:t>signing runs before obfuscation" scenario.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After the break, diversification and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three-seeds preset — show each seed's mask and encoded bytes side by side; all different</a:t>
            </a:r>
          </a:p>
          <a:p>
            <a:r>
              <a:t>bytes, same GRANTED/DENIED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reusing the same seed twice gives identical bytes — diversification did NOT happen; this is</a:t>
            </a:r>
          </a:p>
          <a:p>
            <a:r>
              <a:t>why section 9's "one seed per release" rule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two-different-seeds preset — open the table row by row; instructions/branches are</a:t>
            </a:r>
          </a:p>
          <a:p>
            <a:r>
              <a:t>seed-independent, size/similarity are seed-dependent.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seed 0 means "the original itself"; the table then shows 100% similarity to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in-class flow, S15,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Students download Tigress themselves and apply it to their own small program. Purely defensive; protecting and measuring your own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all-pass preset — open the four stages (OBFUSCATE/COMPARE/MEASURE/DIVERSIFY) in order; show</a:t>
            </a:r>
          </a:p>
          <a:p>
            <a:r>
              <a:t>how they line up with pipeline_check.py's real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where the flow reports FAILED when a token mismatches AND the seed is reused.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the build pipeline (S15) and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three-clean-releases preset — show three releases (v1.0/v1.1/v1.2) each passing all six</a:t>
            </a:r>
          </a:p>
          <a:p>
            <a:r>
              <a:t>stages; the S15 record is exactly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show v1.3 reusing v1.0's seed, and how record-version catches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Next, the solved self-check.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Have the students answer first, then reveal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8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2.gif"/><Relationship Id="rId4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3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4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5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6.gif"/><Relationship Id="rId4" Type="http://schemas.openxmlformats.org/officeDocument/2006/relationships/notesSlide" Target="../notesSlides/notesSlide2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7.gif"/><Relationship Id="rId4" Type="http://schemas.openxmlformats.org/officeDocument/2006/relationships/notesSlide" Target="../notesSlides/notesSlide22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Tigress and Diversification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CEN429 Secure Programming — Week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18.12.2026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7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5806"/>
                <a:gridCol w="1176734"/>
                <a:gridCol w="8878994"/>
              </a:tblGrid>
              <a:tr h="67894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Source-to-source obfuscation · Tigress · license · basic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Transform families · week 9 mapping · transform pipeline · step-by-step example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67894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Diversification · measurement · in-class flow · build pipeline (S15) · project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 Brief History — Source-to-Source Obfuscation and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0744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1993</a:t>
            </a:r>
            <a:r>
              <a:rPr sz="1800" b="0">
                <a:solidFill>
                  <a:srgbClr val="1F2D3A"/>
                </a:solidFill>
              </a:rPr>
              <a:t> — Cohen: the idea of </a:t>
            </a:r>
            <a:r>
              <a:rPr sz="1800" b="1">
                <a:solidFill>
                  <a:srgbClr val="1F2D3A"/>
                </a:solidFill>
              </a:rPr>
              <a:t>diversification</a:t>
            </a:r>
            <a:r>
              <a:rPr sz="1800" b="0">
                <a:solidFill>
                  <a:srgbClr val="1F2D3A"/>
                </a:solidFill>
              </a:rPr>
              <a:t> (same function, different binary)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1997</a:t>
            </a:r>
            <a:r>
              <a:rPr sz="1800" b="0">
                <a:solidFill>
                  <a:srgbClr val="1F2D3A"/>
                </a:solidFill>
              </a:rPr>
              <a:t> — Collberg et al.'s obfuscation taxonomy; the same year, Forrest et al. argue for </a:t>
            </a:r>
            <a:r>
              <a:rPr sz="1800" b="1">
                <a:solidFill>
                  <a:srgbClr val="1F2D3A"/>
                </a:solidFill>
              </a:rPr>
              <a:t>diversification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0028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from a separate root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26663"/>
            <a:ext cx="10911535" cy="1463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2002</a:t>
            </a:r>
            <a:r>
              <a:rPr sz="1800" b="0">
                <a:solidFill>
                  <a:srgbClr val="1F2D3A"/>
                </a:solidFill>
              </a:rPr>
              <a:t> — Necula et al., CIL: the infrastructure Tigress is built 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~2012–13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Tigress</a:t>
            </a:r>
            <a:r>
              <a:rPr sz="1800" b="0">
                <a:solidFill>
                  <a:srgbClr val="1F2D3A"/>
                </a:solidFill>
              </a:rPr>
              <a:t>: source-to-source + virtualisation + diversification for C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2015</a:t>
            </a:r>
            <a:r>
              <a:rPr sz="1800" b="0">
                <a:solidFill>
                  <a:srgbClr val="1F2D3A"/>
                </a:solidFill>
              </a:rPr>
              <a:t> — </a:t>
            </a:r>
            <a:r>
              <a:rPr sz="1800" b="1">
                <a:solidFill>
                  <a:srgbClr val="1F2D3A"/>
                </a:solidFill>
              </a:rPr>
              <a:t>Obfuscator-LLVM</a:t>
            </a:r>
            <a:r>
              <a:rPr sz="1800" b="0">
                <a:solidFill>
                  <a:srgbClr val="1F2D3A"/>
                </a:solidFill>
              </a:rPr>
              <a:t>: compiler-based obfuscation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1">
                <a:solidFill>
                  <a:srgbClr val="1F2D3A"/>
                </a:solidFill>
              </a:rPr>
              <a:t>2016–17</a:t>
            </a:r>
            <a:r>
              <a:rPr sz="1800" b="0">
                <a:solidFill>
                  <a:srgbClr val="1F2D3A"/>
                </a:solidFill>
              </a:rPr>
              <a:t> — Banescu et al. </a:t>
            </a:r>
            <a:r>
              <a:rPr sz="1800" b="1">
                <a:solidFill>
                  <a:srgbClr val="1F2D3A"/>
                </a:solidFill>
              </a:rPr>
              <a:t>measure resilience</a:t>
            </a:r>
            <a:r>
              <a:rPr sz="1800" b="0">
                <a:solidFill>
                  <a:srgbClr val="1F2D3A"/>
                </a:solidFill>
              </a:rPr>
              <a:t> with Tigress+KLEE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599431"/>
            <a:ext cx="10911535" cy="86868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1800" b="0">
                <a:solidFill>
                  <a:srgbClr val="1F2D3A"/>
                </a:solidFill>
              </a:rPr>
              <a:t>Main rule: </a:t>
            </a:r>
            <a:r>
              <a:rPr sz="1800" b="1">
                <a:solidFill>
                  <a:srgbClr val="1F2D3A"/>
                </a:solidFill>
              </a:rPr>
              <a:t>resilience ↔ cost</a:t>
            </a:r>
            <a:r>
              <a:rPr sz="1800" b="0">
                <a:solidFill>
                  <a:srgbClr val="1F2D3A"/>
                </a:solidFill>
              </a:rPr>
              <a:t>; protection is chosen in proportion to the value of the asset.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Does This Week Fit?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9:</a:t>
            </a:r>
            <a:r>
              <a:rPr sz="2000" b="0">
                <a:solidFill>
                  <a:srgbClr val="1F2D3A"/>
                </a:solidFill>
              </a:rPr>
              <a:t> we learned obfuscation rules </a:t>
            </a:r>
            <a:r>
              <a:rPr sz="2000" b="1">
                <a:solidFill>
                  <a:srgbClr val="1F2D3A"/>
                </a:solidFill>
              </a:rPr>
              <a:t>by hand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Week 11:</a:t>
            </a:r>
            <a:r>
              <a:rPr sz="2000" b="0">
                <a:solidFill>
                  <a:srgbClr val="1F2D3A"/>
                </a:solidFill>
              </a:rPr>
              <a:t> whitebox for the key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This week (14):</a:t>
            </a:r>
            <a:r>
              <a:rPr sz="2000" b="0">
                <a:solidFill>
                  <a:srgbClr val="1F2D3A"/>
                </a:solidFill>
              </a:rPr>
              <a:t> applying the same rules </a:t>
            </a:r>
            <a:r>
              <a:rPr sz="2000" b="1">
                <a:solidFill>
                  <a:srgbClr val="1F2D3A"/>
                </a:solidFill>
              </a:rPr>
              <a:t>with a tool, automatically</a:t>
            </a:r>
            <a:r>
              <a:rPr sz="2000" b="0">
                <a:solidFill>
                  <a:srgbClr val="1F2D3A"/>
                </a:solidFill>
              </a:rPr>
              <a:t>, and </a:t>
            </a:r>
            <a:r>
              <a:rPr sz="2000" b="1">
                <a:solidFill>
                  <a:srgbClr val="1F2D3A"/>
                </a:solidFill>
              </a:rPr>
              <a:t>diversified</a:t>
            </a:r>
            <a:r>
              <a:rPr sz="2000" b="0">
                <a:solidFill>
                  <a:srgbClr val="1F2D3A"/>
                </a:solidFill>
              </a:rPr>
              <a:t> → Tigress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three form a whole; today is the automation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Learning Outcome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week is about </a:t>
            </a:r>
            <a:r>
              <a:rPr sz="2000" b="1">
                <a:solidFill>
                  <a:srgbClr val="1F2D3A"/>
                </a:solidFill>
              </a:rPr>
              <a:t>LO.3</a:t>
            </a:r>
            <a:r>
              <a:rPr sz="2000" b="0">
                <a:solidFill>
                  <a:srgbClr val="1F2D3A"/>
                </a:solidFill>
              </a:rPr>
              <a:t> (binary application protections).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By the end, you will be able to: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Explain source-to-source obfuscation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Describe how to set up a </a:t>
            </a:r>
            <a:r>
              <a:rPr sz="2000" b="1">
                <a:solidFill>
                  <a:srgbClr val="1F2D3A"/>
                </a:solidFill>
              </a:rPr>
              <a:t>transform pipeline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Diversify and measure</a:t>
            </a:r>
            <a:r>
              <a:rPr sz="2000" b="0">
                <a:solidFill>
                  <a:srgbClr val="1F2D3A"/>
                </a:solidFill>
              </a:rPr>
              <a:t> obfuscation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Put obfuscation into the </a:t>
            </a:r>
            <a:r>
              <a:rPr sz="2000" b="1">
                <a:solidFill>
                  <a:srgbClr val="1F2D3A"/>
                </a:solidFill>
              </a:rPr>
              <a:t>build pipeline</a:t>
            </a:r>
            <a:r>
              <a:rPr sz="2000" b="0">
                <a:solidFill>
                  <a:srgbClr val="1F2D3A"/>
                </a:solidFill>
              </a:rPr>
              <a:t> (S15)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 Reminder from the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Week 9's main rule still applies this week: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does not grant unbreakability, it raises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978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is not </a:t>
            </a:r>
            <a:r>
              <a:rPr sz="2000" b="1">
                <a:solidFill>
                  <a:srgbClr val="1F2D3A"/>
                </a:solidFill>
              </a:rPr>
              <a:t>magic</a:t>
            </a:r>
            <a:r>
              <a:rPr sz="2000" b="0">
                <a:solidFill>
                  <a:srgbClr val="1F2D3A"/>
                </a:solidFill>
              </a:rPr>
              <a:t>; it automates what we did by hand and makes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 easier.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What We Bring from Earlier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83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Source code, compiler, binary</a:t>
            </a:r>
            <a:r>
              <a:rPr sz="1600" b="0">
                <a:solidFill>
                  <a:srgbClr val="1F2D3A"/>
                </a:solidFill>
              </a:rPr>
              <a:t> — a human-written program text turned into an executable binary by a compiler </a:t>
            </a:r>
            <a:r>
              <a:rPr sz="1600" b="1">
                <a:solidFill>
                  <a:srgbClr val="1F2D3A"/>
                </a:solidFill>
              </a:rPr>
              <a:t>(Week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Code obfuscation</a:t>
            </a:r>
            <a:r>
              <a:rPr sz="1600" b="0">
                <a:solidFill>
                  <a:srgbClr val="1F2D3A"/>
                </a:solidFill>
              </a:rPr>
              <a:t> — a countermeasure that makes code hard for a human to understand without changing its behaviour, raising the attacker's cost </a:t>
            </a:r>
            <a:r>
              <a:rPr sz="1600" b="1">
                <a:solidFill>
                  <a:srgbClr val="1F2D3A"/>
                </a:solidFill>
              </a:rPr>
              <a:t>(Week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Week 9's obfuscation rules (K-01–K-12)</a:t>
            </a:r>
            <a:r>
              <a:rPr sz="1600" b="0">
                <a:solidFill>
                  <a:srgbClr val="1F2D3A"/>
                </a:solidFill>
              </a:rPr>
              <a:t> — manually applied rules such as opaque predicates, arithmetic encoding, control-flow flattening, string encoding, variable splitting, virtualization; this week we map these one by one to Tigress's transforms </a:t>
            </a:r>
            <a:r>
              <a:rPr sz="1600" b="1">
                <a:solidFill>
                  <a:srgbClr val="1F2D3A"/>
                </a:solidFill>
              </a:rPr>
              <a:t>(Week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CFG (control-flow graph)</a:t>
            </a:r>
            <a:r>
              <a:rPr sz="1600" b="0">
                <a:solidFill>
                  <a:srgbClr val="1F2D3A"/>
                </a:solidFill>
              </a:rPr>
              <a:t> — a diagram where basic blocks are nodes and transitions are edges </a:t>
            </a:r>
            <a:r>
              <a:rPr sz="1600" b="1">
                <a:solidFill>
                  <a:srgbClr val="1F2D3A"/>
                </a:solidFill>
              </a:rPr>
              <a:t>(Week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Symbolic execution</a:t>
            </a:r>
            <a:r>
              <a:rPr sz="1600" b="0">
                <a:solidFill>
                  <a:srgbClr val="1F2D3A"/>
                </a:solidFill>
              </a:rPr>
              <a:t> — an automatic analysis method that solves program paths as mathematical constraints (e.g. KLEE) </a:t>
            </a:r>
            <a:r>
              <a:rPr sz="1600" b="1">
                <a:solidFill>
                  <a:srgbClr val="1F2D3A"/>
                </a:solidFill>
              </a:rPr>
              <a:t>(Week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Diversification</a:t>
            </a:r>
            <a:r>
              <a:rPr sz="1600" b="0">
                <a:solidFill>
                  <a:srgbClr val="1F2D3A"/>
                </a:solidFill>
              </a:rPr>
              <a:t> — producing binaries that are behaviourally equivalent but structurally different from the same source; this week we automate it with Tigress's </a:t>
            </a:r>
            <a:r>
              <a:rPr sz="1600" b="0">
                <a:solidFill>
                  <a:srgbClr val="A1123F"/>
                </a:solidFill>
                <a:latin typeface="Consolas"/>
              </a:rPr>
              <a:t>--Seed</a:t>
            </a:r>
            <a:r>
              <a:rPr sz="1600" b="0">
                <a:solidFill>
                  <a:srgbClr val="1F2D3A"/>
                </a:solidFill>
              </a:rPr>
              <a:t> flag </a:t>
            </a:r>
            <a:r>
              <a:rPr sz="1600" b="1">
                <a:solidFill>
                  <a:srgbClr val="1F2D3A"/>
                </a:solidFill>
              </a:rPr>
              <a:t>(Week 9)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CI and build pipeline</a:t>
            </a:r>
            <a:r>
              <a:rPr sz="1600" b="0">
                <a:solidFill>
                  <a:srgbClr val="1F2D3A"/>
                </a:solidFill>
              </a:rPr>
              <a:t> — a system that runs automatic build/test steps on every code change </a:t>
            </a:r>
            <a:r>
              <a:rPr sz="1600" b="1">
                <a:solidFill>
                  <a:srgbClr val="1F2D3A"/>
                </a:solidFill>
              </a:rPr>
              <a:t>(Week 4)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Version identity and digest (hash) value</a:t>
            </a:r>
            <a:r>
              <a:rPr sz="1600" b="0">
                <a:solidFill>
                  <a:srgbClr val="1F2D3A"/>
                </a:solidFill>
              </a:rPr>
              <a:t> — a record showing which binary/source/digest triple a piece of software was distributed with; this week we add a seed field to it too </a:t>
            </a:r>
            <a:r>
              <a:rPr sz="1600" b="1">
                <a:solidFill>
                  <a:srgbClr val="1F2D3A"/>
                </a:solidFill>
              </a:rPr>
              <a:t>(Week 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This Week's Concepts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Each term is defined once, where it first appears in the body; here we only mark </a:t>
            </a:r>
            <a:r>
              <a:rPr sz="1800" b="1">
                <a:solidFill>
                  <a:srgbClr val="1F2D3A"/>
                </a:solidFill>
              </a:rPr>
              <a:t>where</a:t>
            </a:r>
            <a:r>
              <a:rPr sz="1800" b="0">
                <a:solidFill>
                  <a:srgbClr val="1F2D3A"/>
                </a:solidFill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42515"/>
          <a:ext cx="10911534" cy="3050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41396"/>
                <a:gridCol w="1970138"/>
              </a:tblGrid>
              <a:tr h="33893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Source-to-source obfuscation, Tigress and its licence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Transform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--Transform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 and targeting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--Functions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Transform families and the week 9 mapping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Transform pipeline and the step-by-step cost increase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Diversification tool: seed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--Seed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Measuring obfuscation and diversification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893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seven-step in-class flow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894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build and deployment pipeline, term project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Source-to-Source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Input: C source. Output: </a:t>
            </a:r>
            <a:r>
              <a:rPr sz="2000" b="1">
                <a:solidFill>
                  <a:srgbClr val="1F2D3A"/>
                </a:solidFill>
              </a:rPr>
              <a:t>C source again</a:t>
            </a:r>
            <a:r>
              <a:rPr sz="2000" b="0">
                <a:solidFill>
                  <a:srgbClr val="1F2D3A"/>
                </a:solidFill>
              </a:rPr>
              <a:t> — but obfuscated.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is then compiled with your normal compiler.</a:t>
            </a:r>
          </a:p>
        </p:txBody>
      </p:sp>
      <p:pic>
        <p:nvPicPr>
          <p:cNvPr id="8" name="Picture 7" descr="h14-01-kaynaktan-kaynaga-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78888"/>
            <a:ext cx="10911535" cy="2045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Transform?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Transform:</a:t>
            </a:r>
            <a:r>
              <a:rPr sz="2000" b="0">
                <a:solidFill>
                  <a:srgbClr val="1F2D3A"/>
                </a:solidFill>
              </a:rPr>
              <a:t> a single obfuscation operation applied to the source (e.g., flattening).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tool offers many transforms; you choose which one, and where.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Transform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Pipeline:</a:t>
            </a:r>
            <a:r>
              <a:rPr sz="2000" b="0">
                <a:solidFill>
                  <a:srgbClr val="1F2D3A"/>
                </a:solidFill>
              </a:rPr>
              <a:t> applying several transforms </a:t>
            </a:r>
            <a:r>
              <a:rPr sz="2000" b="1">
                <a:solidFill>
                  <a:srgbClr val="1F2D3A"/>
                </a:solidFill>
              </a:rPr>
              <a:t>in sequence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transform is applied to the output of the previous one.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Order matters.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Seed?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Seed:</a:t>
            </a:r>
            <a:r>
              <a:rPr sz="2000" b="0">
                <a:solidFill>
                  <a:srgbClr val="1F2D3A"/>
                </a:solidFill>
              </a:rPr>
              <a:t> a starting number that governs randomness.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transform + different seed =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 obfuscated output.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key to diversification.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a CLI (Command Line)?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CLI (Command-Line Interface):</a:t>
            </a:r>
            <a:r>
              <a:rPr sz="2000" b="0">
                <a:solidFill>
                  <a:srgbClr val="1F2D3A"/>
                </a:solidFill>
              </a:rPr>
              <a:t> an interface where you run things by typing commands.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is a CLI tool: 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 --Transform=... dosya.c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Unit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Unit test:</a:t>
            </a:r>
            <a:r>
              <a:rPr sz="2000" b="0">
                <a:solidFill>
                  <a:srgbClr val="1F2D3A"/>
                </a:solidFill>
              </a:rPr>
              <a:t> a small test that automatically checks that a function works correctly.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tests must pass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obfuscation (behaviour must be preserved).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Source-to-Source Obfuscation and Tigress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Three Problems with Manual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week 9 we applied the rules </a:t>
            </a:r>
            <a:r>
              <a:rPr sz="2000" b="1">
                <a:solidFill>
                  <a:srgbClr val="1F2D3A"/>
                </a:solidFill>
              </a:rPr>
              <a:t>by hand</a:t>
            </a:r>
            <a:r>
              <a:rPr sz="2000" b="0">
                <a:solidFill>
                  <a:srgbClr val="1F2D3A"/>
                </a:solidFill>
              </a:rPr>
              <a:t>. It was instructive, but: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Error-prone</a:t>
            </a:r>
            <a:r>
              <a:rPr sz="2000" b="0">
                <a:solidFill>
                  <a:srgbClr val="1F2D3A"/>
                </a:solidFill>
              </a:rPr>
              <a:t> — can break behaviour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Hard to maintain</a:t>
            </a:r>
            <a:r>
              <a:rPr sz="2000" b="0">
                <a:solidFill>
                  <a:srgbClr val="1F2D3A"/>
                </a:solidFill>
              </a:rPr>
              <a:t> — the source becomes unreadable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Cannot be diversified</a:t>
            </a:r>
            <a:r>
              <a:rPr sz="2000" b="0">
                <a:solidFill>
                  <a:srgbClr val="1F2D3A"/>
                </a:solidFill>
              </a:rPr>
              <a:t> — you cannot differentiate every copy by hand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Solution: Let a Tool Do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 a </a:t>
            </a:r>
            <a:r>
              <a:rPr sz="2000" b="1">
                <a:solidFill>
                  <a:srgbClr val="1F2D3A"/>
                </a:solidFill>
              </a:rPr>
              <a:t>tool</a:t>
            </a:r>
            <a:r>
              <a:rPr sz="2000" b="0">
                <a:solidFill>
                  <a:srgbClr val="1F2D3A"/>
                </a:solidFill>
              </a:rPr>
              <a:t> do the obfuscation.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keep the </a:t>
            </a:r>
            <a:r>
              <a:rPr sz="2000" b="1">
                <a:solidFill>
                  <a:srgbClr val="1F2D3A"/>
                </a:solidFill>
              </a:rPr>
              <a:t>readable</a:t>
            </a:r>
            <a:r>
              <a:rPr sz="2000" b="0">
                <a:solidFill>
                  <a:srgbClr val="1F2D3A"/>
                </a:solidFill>
              </a:rPr>
              <a:t> source.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becomes an </a:t>
            </a:r>
            <a:r>
              <a:rPr sz="2000" b="1">
                <a:solidFill>
                  <a:srgbClr val="1F2D3A"/>
                </a:solidFill>
              </a:rPr>
              <a:t>automatic</a:t>
            </a:r>
            <a:r>
              <a:rPr sz="2000" b="0">
                <a:solidFill>
                  <a:srgbClr val="1F2D3A"/>
                </a:solidFill>
              </a:rPr>
              <a:t> step in the build pipeline.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The Source-to-Source Idea</a:t>
            </a:r>
          </a:p>
        </p:txBody>
      </p:sp>
      <p:pic>
        <p:nvPicPr>
          <p:cNvPr id="7" name="Picture 6" descr="h14-02-el-ile-vs-ara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68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0392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maintenance cost stays with the </a:t>
            </a:r>
            <a:r>
              <a:rPr sz="2000" b="1">
                <a:solidFill>
                  <a:srgbClr val="1F2D3A"/>
                </a:solidFill>
              </a:rPr>
              <a:t>readable source</a:t>
            </a:r>
            <a:r>
              <a:rPr sz="2000" b="0">
                <a:solidFill>
                  <a:srgbClr val="1F2D3A"/>
                </a:solidFill>
              </a:rPr>
              <a:t>; the distributed source is obfuscated.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Sequenced Transforms — Diagram</a:t>
            </a:r>
          </a:p>
        </p:txBody>
      </p:sp>
      <p:pic>
        <p:nvPicPr>
          <p:cNvPr id="7" name="Picture 6" descr="h14-04-donusum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650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Tigress?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source-to-source C obfuscator/diversifier</a:t>
            </a:r>
            <a:r>
              <a:rPr sz="2000" b="0">
                <a:solidFill>
                  <a:srgbClr val="1F2D3A"/>
                </a:solidFill>
              </a:rPr>
              <a:t> developed by Collberg and his team at the University of Arizona.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automatic</a:t>
            </a:r>
            <a:r>
              <a:rPr sz="2000" b="0">
                <a:solidFill>
                  <a:srgbClr val="1F2D3A"/>
                </a:solidFill>
              </a:rPr>
              <a:t> counterpart of week 9's manual rules.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·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Cross-platform: Linux, macOS, Windows, Android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Architectures: Intel, ARM, WebAssembly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Compilers: GCC, Clang, MSVC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Current version: </a:t>
            </a:r>
            <a:r>
              <a:rPr sz="2000" b="1">
                <a:solidFill>
                  <a:srgbClr val="1F2D3A"/>
                </a:solidFill>
              </a:rPr>
              <a:t>v4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License (Important)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Non-profit</a:t>
            </a:r>
            <a:r>
              <a:rPr sz="2000" b="0">
                <a:solidFill>
                  <a:srgbClr val="1F2D3A"/>
                </a:solidFill>
              </a:rPr>
              <a:t> (academic/research) use: </a:t>
            </a:r>
            <a:r>
              <a:rPr sz="2000" b="1">
                <a:solidFill>
                  <a:srgbClr val="1F2D3A"/>
                </a:solidFill>
              </a:rPr>
              <a:t>free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Commercial</a:t>
            </a:r>
            <a:r>
              <a:rPr sz="2000" b="0">
                <a:solidFill>
                  <a:srgbClr val="1F2D3A"/>
                </a:solidFill>
              </a:rPr>
              <a:t> use: requires a </a:t>
            </a:r>
            <a:r>
              <a:rPr sz="2000" b="1">
                <a:solidFill>
                  <a:srgbClr val="1F2D3A"/>
                </a:solidFill>
              </a:rPr>
              <a:t>license</a:t>
            </a:r>
            <a:r>
              <a:rPr sz="2000" b="0">
                <a:solidFill>
                  <a:srgbClr val="1F2D3A"/>
                </a:solidFill>
              </a:rPr>
              <a:t> from the University of Arizona.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source code is not open; researchers may request access to an encrypted source.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Rule for Use in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Tigress binary or an old version is not distributed</a:t>
            </a:r>
            <a:r>
              <a:rPr sz="2000" b="0">
                <a:solidFill>
                  <a:srgbClr val="1F2D3A"/>
                </a:solidFill>
              </a:rPr>
              <a:t> in class.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Students download the current version themselves from the </a:t>
            </a:r>
            <a:r>
              <a:rPr sz="2000" b="1">
                <a:solidFill>
                  <a:srgbClr val="1F2D3A"/>
                </a:solidFill>
              </a:rPr>
              <a:t>official site</a:t>
            </a:r>
            <a:r>
              <a:rPr sz="2000" b="0">
                <a:solidFill>
                  <a:srgbClr val="1F2D3A"/>
                </a:solidFill>
              </a:rPr>
              <a:t>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They verify the license terms </a:t>
            </a:r>
            <a:r>
              <a:rPr sz="2000" b="1">
                <a:solidFill>
                  <a:srgbClr val="1F2D3A"/>
                </a:solidFill>
              </a:rPr>
              <a:t>there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apply it only to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code, on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machine.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Tool, Not by Hand? (1)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2770"/>
                <a:gridCol w="5888764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By Hand (Week 9)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With a Tool (Tigress)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Instructive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Scales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Error-prone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Preserves behaviour (tested)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Source becomes unreadable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Readable source stays with you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a Tool, Not by Hand? (2)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5062"/>
                <a:gridCol w="4546472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By Hand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With a 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Diversification isn't feasible by hand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Automatic via seed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Uniform, recognisable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Varies with transform+seed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But a Tool Is Not Magic Either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also does </a:t>
            </a:r>
            <a:r>
              <a:rPr sz="2000" b="1">
                <a:solidFill>
                  <a:srgbClr val="1F2D3A"/>
                </a:solidFill>
              </a:rPr>
              <a:t>not</a:t>
            </a:r>
            <a:r>
              <a:rPr sz="2000" b="0">
                <a:solidFill>
                  <a:srgbClr val="1F2D3A"/>
                </a:solidFill>
              </a:rPr>
              <a:t> grant unbreakability, it raises cost.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patterns of a well-known tool can become recognisable over time.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That's why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layered defence</a:t>
            </a:r>
            <a:r>
              <a:rPr sz="2000" b="0">
                <a:solidFill>
                  <a:srgbClr val="1F2D3A"/>
                </a:solidFill>
              </a:rPr>
              <a:t> (RASP, server) are still essential.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Basic Flow · a Single Transform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girdi: source.c → çıktı: variant.c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--Transform=Flatten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--out=variant.c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 variant.c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Basic Flow · Three Ideas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`--Transform=...`</a:t>
            </a:r>
            <a:r>
              <a:rPr sz="2000" b="0">
                <a:solidFill>
                  <a:srgbClr val="1F2D3A"/>
                </a:solidFill>
              </a:rPr>
              <a:t> which transform (Flatten = flattening, week 9 K-04)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`--Functions=...`</a:t>
            </a:r>
            <a:r>
              <a:rPr sz="2000" b="0">
                <a:solidFill>
                  <a:srgbClr val="1F2D3A"/>
                </a:solidFill>
              </a:rPr>
              <a:t> which functions (only the sensitive ones — the cost rule)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output is C again; you compile it </a:t>
            </a:r>
            <a:r>
              <a:rPr sz="2000" b="1">
                <a:solidFill>
                  <a:srgbClr val="1F2D3A"/>
                </a:solidFill>
              </a:rPr>
              <a:t>with your own compiler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Do We Target with </a:t>
            </a:r>
            <a:r>
              <a:rPr sz="3000" b="1">
                <a:solidFill>
                  <a:srgbClr val="006D77"/>
                </a:solidFill>
                <a:latin typeface="Consolas"/>
              </a:rPr>
              <a:t>--Functions</a:t>
            </a:r>
            <a:r>
              <a:rPr sz="3000" b="1">
                <a:solidFill>
                  <a:srgbClr val="006D77"/>
                </a:solidFill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obfuscation is applied to every function, the program </a:t>
            </a:r>
            <a:r>
              <a:rPr sz="2000" b="1">
                <a:solidFill>
                  <a:srgbClr val="1F2D3A"/>
                </a:solidFill>
              </a:rPr>
              <a:t>slows down/bloats a lot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 target only sensitive functions (license, key derivation, integrity).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the tool's version of week 9's "cost rule."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"Should I Obfuscate This Function?"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1:</a:t>
            </a:r>
            <a:r>
              <a:rPr sz="2000" b="0">
                <a:solidFill>
                  <a:srgbClr val="1F2D3A"/>
                </a:solidFill>
              </a:rPr>
              <a:t> Is this function sensitive? (license, key, integrity, check)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</a:t>
            </a:r>
            <a:r>
              <a:rPr sz="2000" b="0">
                <a:solidFill>
                  <a:srgbClr val="1F2D3A"/>
                </a:solidFill>
              </a:rPr>
              <a:t> → don't obfuscate; don't waste the cost.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Yes</a:t>
            </a:r>
            <a:r>
              <a:rPr sz="2000" b="0">
                <a:solidFill>
                  <a:srgbClr val="1F2D3A"/>
                </a:solidFill>
              </a:rPr>
              <a:t> → continue.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"Should I Obfuscate This Function?"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2:</a:t>
            </a:r>
            <a:r>
              <a:rPr sz="2000" b="0">
                <a:solidFill>
                  <a:srgbClr val="1F2D3A"/>
                </a:solidFill>
              </a:rPr>
              <a:t> Is its value high?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Medium</a:t>
            </a:r>
            <a:r>
              <a:rPr sz="2000" b="0">
                <a:solidFill>
                  <a:srgbClr val="1F2D3A"/>
                </a:solidFill>
              </a:rPr>
              <a:t> → EncodeLiterals + EncodeArithmetic + Flatten + AddOpaque.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High and small</a:t>
            </a:r>
            <a:r>
              <a:rPr sz="2000" b="0">
                <a:solidFill>
                  <a:srgbClr val="1F2D3A"/>
                </a:solidFill>
              </a:rPr>
              <a:t> → the above + Virtualize.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"Should I Obfuscate This Function?"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Question 3:</a:t>
            </a:r>
            <a:r>
              <a:rPr sz="2000" b="0">
                <a:solidFill>
                  <a:srgbClr val="1F2D3A"/>
                </a:solidFill>
              </a:rPr>
              <a:t> In every case: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Diversify (seed)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Measure (size, time, blocks)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Verify behaviour with unit tests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it into S9/S15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Decision Flow · At a Glance</a:t>
            </a:r>
          </a:p>
        </p:txBody>
      </p:sp>
      <p:pic>
        <p:nvPicPr>
          <p:cNvPr id="7" name="Picture 6" descr="h14-09-karar-aki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028" y="1325880"/>
            <a:ext cx="726163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What is source-to-source obfuscation?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Three advantages over manual obfuscation?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Why isn't Tigress distributed in class?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1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A transform is applied to the source code, producing </a:t>
            </a:r>
            <a:r>
              <a:rPr sz="2000" b="1">
                <a:solidFill>
                  <a:srgbClr val="1F2D3A"/>
                </a:solidFill>
              </a:rPr>
              <a:t>new source (still C)</a:t>
            </a:r>
            <a:r>
              <a:rPr sz="2000" b="0">
                <a:solidFill>
                  <a:srgbClr val="1F2D3A"/>
                </a:solidFill>
              </a:rPr>
              <a:t>, which is then compiled normally. Tigress takes C, gives obfuscated C.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Repeatable/automatic</a:t>
            </a:r>
            <a:r>
              <a:rPr sz="2000" b="0">
                <a:solidFill>
                  <a:srgbClr val="1F2D3A"/>
                </a:solidFill>
              </a:rPr>
              <a:t> (every build), </a:t>
            </a:r>
            <a:r>
              <a:rPr sz="2000" b="1">
                <a:solidFill>
                  <a:srgbClr val="1F2D3A"/>
                </a:solidFill>
              </a:rPr>
              <a:t>consistent and scalable</a:t>
            </a:r>
            <a:r>
              <a:rPr sz="2000" b="0">
                <a:solidFill>
                  <a:srgbClr val="1F2D3A"/>
                </a:solidFill>
              </a:rPr>
              <a:t> (many functions), the </a:t>
            </a:r>
            <a:r>
              <a:rPr sz="2000" b="1">
                <a:solidFill>
                  <a:srgbClr val="1F2D3A"/>
                </a:solidFill>
              </a:rPr>
              <a:t>original source stays clean</a:t>
            </a:r>
            <a:r>
              <a:rPr sz="2000" b="0">
                <a:solidFill>
                  <a:srgbClr val="1F2D3A"/>
                </a:solidFill>
              </a:rPr>
              <a:t> + diversification via seed.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License/terms of use</a:t>
            </a:r>
            <a:r>
              <a:rPr sz="2000" b="0">
                <a:solidFill>
                  <a:srgbClr val="1F2D3A"/>
                </a:solidFill>
              </a:rPr>
              <a:t>; everyone downloads it themselves. If Tigress isn't available, demos work with a </a:t>
            </a:r>
            <a:r>
              <a:rPr sz="2000" b="1">
                <a:solidFill>
                  <a:srgbClr val="1F2D3A"/>
                </a:solidFill>
              </a:rPr>
              <a:t>clean derivative/fallback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Transform Families and Pipeline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Transforms = Week 9's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transforms correspond to the obfuscation families </a:t>
            </a:r>
            <a:r>
              <a:rPr sz="2000" b="1">
                <a:solidFill>
                  <a:srgbClr val="1F2D3A"/>
                </a:solidFill>
              </a:rPr>
              <a:t>we saw in week 9</a:t>
            </a:r>
            <a:r>
              <a:rPr sz="2000" b="0">
                <a:solidFill>
                  <a:srgbClr val="1F2D3A"/>
                </a:solidFill>
              </a:rPr>
              <a:t> (K-01–K-12).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look at them group by group; we'll tie each one to a K-rule.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Transform ↔ Rule Mapping — Diagram</a:t>
            </a:r>
          </a:p>
        </p:txBody>
      </p:sp>
      <p:pic>
        <p:nvPicPr>
          <p:cNvPr id="7" name="Picture 6" descr="h14-03-donusum-esl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6103" y="1325880"/>
            <a:ext cx="759948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Control-Flow 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Flatten:</a:t>
            </a:r>
            <a:r>
              <a:rPr sz="2000" b="0">
                <a:solidFill>
                  <a:srgbClr val="1F2D3A"/>
                </a:solidFill>
              </a:rPr>
              <a:t> flattens control flow → </a:t>
            </a:r>
            <a:r>
              <a:rPr sz="2000" b="1">
                <a:solidFill>
                  <a:srgbClr val="1F2D3A"/>
                </a:solidFill>
              </a:rPr>
              <a:t>K-04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InitOpaque / AddOpaque / UpdateOpaque:</a:t>
            </a:r>
            <a:r>
              <a:rPr sz="2000" b="0">
                <a:solidFill>
                  <a:srgbClr val="1F2D3A"/>
                </a:solidFill>
              </a:rPr>
              <a:t> opaque predicate + bogus branch → </a:t>
            </a:r>
            <a:r>
              <a:rPr sz="2000" b="1">
                <a:solidFill>
                  <a:srgbClr val="1F2D3A"/>
                </a:solidFill>
              </a:rPr>
              <a:t>K-01, K-03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Order: </a:t>
            </a:r>
            <a:r>
              <a:rPr sz="2000" b="1">
                <a:solidFill>
                  <a:srgbClr val="1F2D3A"/>
                </a:solidFill>
              </a:rPr>
              <a:t>InitOpaque</a:t>
            </a:r>
            <a:r>
              <a:rPr sz="2000" b="0">
                <a:solidFill>
                  <a:srgbClr val="1F2D3A"/>
                </a:solidFill>
              </a:rPr>
              <a:t> first, then </a:t>
            </a:r>
            <a:r>
              <a:rPr sz="2000" b="1">
                <a:solidFill>
                  <a:srgbClr val="1F2D3A"/>
                </a:solidFill>
              </a:rPr>
              <a:t>AddOpaque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Data 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EncodeArithmetic:</a:t>
            </a:r>
            <a:r>
              <a:rPr sz="2000" b="0">
                <a:solidFill>
                  <a:srgbClr val="1F2D3A"/>
                </a:solidFill>
              </a:rPr>
              <a:t> arithmetic into an equivalent complex expression (MBA) → </a:t>
            </a:r>
            <a:r>
              <a:rPr sz="2000" b="1">
                <a:solidFill>
                  <a:srgbClr val="1F2D3A"/>
                </a:solidFill>
              </a:rPr>
              <a:t>K-02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EncodeLiterals:</a:t>
            </a:r>
            <a:r>
              <a:rPr sz="2000" b="0">
                <a:solidFill>
                  <a:srgbClr val="1F2D3A"/>
                </a:solidFill>
              </a:rPr>
              <a:t> encodes constants and strings (cheap, applied almost always) → </a:t>
            </a:r>
            <a:r>
              <a:rPr sz="2000" b="1">
                <a:solidFill>
                  <a:srgbClr val="1F2D3A"/>
                </a:solidFill>
              </a:rPr>
              <a:t>K-07, K-08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EncodeData:</a:t>
            </a:r>
            <a:r>
              <a:rPr sz="2000" b="0">
                <a:solidFill>
                  <a:srgbClr val="1F2D3A"/>
                </a:solidFill>
              </a:rPr>
              <a:t> encodes variable representation → </a:t>
            </a:r>
            <a:r>
              <a:rPr sz="2000" b="1">
                <a:solidFill>
                  <a:srgbClr val="1F2D3A"/>
                </a:solidFill>
              </a:rPr>
              <a:t>K-09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Function 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Split / Merge:</a:t>
            </a:r>
            <a:r>
              <a:rPr sz="2000" b="0">
                <a:solidFill>
                  <a:srgbClr val="1F2D3A"/>
                </a:solidFill>
              </a:rPr>
              <a:t> splits/merges functions →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Virtualize:</a:t>
            </a:r>
            <a:r>
              <a:rPr sz="2000" b="0">
                <a:solidFill>
                  <a:srgbClr val="1F2D3A"/>
                </a:solidFill>
              </a:rPr>
              <a:t> turns the function into custom VM bytecode → </a:t>
            </a:r>
            <a:r>
              <a:rPr sz="2000" b="1">
                <a:solidFill>
                  <a:srgbClr val="1F2D3A"/>
                </a:solidFill>
              </a:rPr>
              <a:t>K-10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Jit:</a:t>
            </a:r>
            <a:r>
              <a:rPr sz="2000" b="0">
                <a:solidFill>
                  <a:srgbClr val="1F2D3A"/>
                </a:solidFill>
              </a:rPr>
              <a:t> generates code at run time; use carefully alongside OS protections → </a:t>
            </a:r>
            <a:r>
              <a:rPr sz="2000" b="1">
                <a:solidFill>
                  <a:srgbClr val="1F2D3A"/>
                </a:solidFill>
              </a:rPr>
              <a:t>K-12 (dynamic)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Anti-Analysis 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AntiBranchAnalysis / AntiAliasAnalysis / AntiTaintAnalysis:</a:t>
            </a:r>
            <a:r>
              <a:rPr sz="2000" b="0">
                <a:solidFill>
                  <a:srgbClr val="1F2D3A"/>
                </a:solidFill>
              </a:rPr>
              <a:t> make static analysis techniques harder → preventive family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Transforms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RandomFuns:</a:t>
            </a:r>
            <a:r>
              <a:rPr sz="2000" b="0">
                <a:solidFill>
                  <a:srgbClr val="1F2D3A"/>
                </a:solidFill>
              </a:rPr>
              <a:t> random bogus functions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RndArgs:</a:t>
            </a:r>
            <a:r>
              <a:rPr sz="2000" b="0">
                <a:solidFill>
                  <a:srgbClr val="1F2D3A"/>
                </a:solidFill>
              </a:rPr>
              <a:t> bogus parameters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Combined with a seed, every build differs → diversification, </a:t>
            </a:r>
            <a:r>
              <a:rPr sz="2000" b="1">
                <a:solidFill>
                  <a:srgbClr val="1F2D3A"/>
                </a:solidFill>
              </a:rPr>
              <a:t>K-06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in Space/Time — Diagram</a:t>
            </a:r>
          </a:p>
        </p:txBody>
      </p:sp>
      <p:pic>
        <p:nvPicPr>
          <p:cNvPr id="7" name="Picture 6" descr="h14-05-cesitlendirme-turler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1849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Transform ↔ Rule ·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5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1835"/>
                <a:gridCol w="4575805"/>
                <a:gridCol w="2463895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 9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Opaque predicate/bogus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K-01, K-03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Arithmetic encoding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Constant/string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K-07, K-08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Virtualisation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RandomFuns/RndArgs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K-06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Families and Cost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Cheap:</a:t>
            </a:r>
            <a:r>
              <a:rPr sz="2000" b="0">
                <a:solidFill>
                  <a:srgbClr val="1F2D3A"/>
                </a:solidFill>
              </a:rPr>
              <a:t> EncodeArithmetic, EncodeLiterals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Moderate:</a:t>
            </a:r>
            <a:r>
              <a:rPr sz="2000" b="0">
                <a:solidFill>
                  <a:srgbClr val="1F2D3A"/>
                </a:solidFill>
              </a:rPr>
              <a:t> Flatten, opaque predicates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Expensive:</a:t>
            </a:r>
            <a:r>
              <a:rPr sz="2000" b="0">
                <a:solidFill>
                  <a:srgbClr val="1F2D3A"/>
                </a:solidFill>
              </a:rPr>
              <a:t> Virtualize (tens of times slower)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That's why Virtualize is targeted only at </a:t>
            </a:r>
            <a:r>
              <a:rPr sz="2000" b="1">
                <a:solidFill>
                  <a:srgbClr val="1F2D3A"/>
                </a:solidFill>
              </a:rPr>
              <a:t>small, critical</a:t>
            </a:r>
            <a:r>
              <a:rPr sz="2000" b="0">
                <a:solidFill>
                  <a:srgbClr val="1F2D3A"/>
                </a:solidFill>
              </a:rPr>
              <a:t> functions; via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One Transform, Step by Step</a:t>
            </a:r>
          </a:p>
        </p:txBody>
      </p:sp>
      <p:pic>
        <p:nvPicPr>
          <p:cNvPr id="7" name="Picture 6" descr="transform-step-by-ste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02" y="1325880"/>
            <a:ext cx="1064829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Seed 0</a:t>
            </a:r>
          </a:p>
        </p:txBody>
      </p:sp>
      <p:pic>
        <p:nvPicPr>
          <p:cNvPr id="7" name="Picture 6" descr="transform-step-by-step--opaque-seed-zer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322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Combining Transforms in Sequence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"Not One Technique, Together"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Week 9's most important rule.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Tigress, this means applying transforms </a:t>
            </a:r>
            <a:r>
              <a:rPr sz="2000" b="1">
                <a:solidFill>
                  <a:srgbClr val="1F2D3A"/>
                </a:solidFill>
              </a:rPr>
              <a:t>in sequence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Conceptual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 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        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       --Functions=grant_access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--out=variant.c source.c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the Pipeline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single check (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):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Encode constants/strings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Encode its arithmetic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Flatten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4. </a:t>
            </a:r>
            <a:r>
              <a:rPr sz="2000" b="0">
                <a:solidFill>
                  <a:srgbClr val="1F2D3A"/>
                </a:solidFill>
              </a:rPr>
              <a:t>Strengthen with opaque predicates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803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= the automatic version of what week 9's K-04 called "strengthened flattening."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Source-to-Source Pipeline</a:t>
            </a:r>
          </a:p>
        </p:txBody>
      </p:sp>
      <p:pic>
        <p:nvPicPr>
          <p:cNvPr id="7" name="Picture 6" descr="source-to-source-pipeli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5509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Corrupted Variant</a:t>
            </a:r>
          </a:p>
        </p:txBody>
      </p:sp>
      <p:pic>
        <p:nvPicPr>
          <p:cNvPr id="7" name="Picture 6" descr="source-to-source-pipeline--edge-corrupted-varian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4946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Order and Testing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Transform order </a:t>
            </a:r>
            <a:r>
              <a:rPr sz="2000" b="1">
                <a:solidFill>
                  <a:srgbClr val="1F2D3A"/>
                </a:solidFill>
              </a:rPr>
              <a:t>affects</a:t>
            </a:r>
            <a:r>
              <a:rPr sz="2000" b="0">
                <a:solidFill>
                  <a:srgbClr val="1F2D3A"/>
                </a:solidFill>
              </a:rPr>
              <a:t> the result; some orders needlessly hurt performance.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Rule:</a:t>
            </a:r>
            <a:r>
              <a:rPr sz="2000" b="0">
                <a:solidFill>
                  <a:srgbClr val="1F2D3A"/>
                </a:solidFill>
              </a:rPr>
              <a:t> after every pipeline, run the </a:t>
            </a:r>
            <a:r>
              <a:rPr sz="2000" b="1">
                <a:solidFill>
                  <a:srgbClr val="1F2D3A"/>
                </a:solidFill>
              </a:rPr>
              <a:t>unit tests</a:t>
            </a:r>
            <a:r>
              <a:rPr sz="2000" b="0">
                <a:solidFill>
                  <a:srgbClr val="1F2D3A"/>
                </a:solidFill>
              </a:rPr>
              <a:t> (was behaviour preserved?) and measure size/speed.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must </a:t>
            </a:r>
            <a:r>
              <a:rPr sz="2000" b="1">
                <a:solidFill>
                  <a:srgbClr val="1F2D3A"/>
                </a:solidFill>
              </a:rPr>
              <a:t>never</a:t>
            </a:r>
            <a:r>
              <a:rPr sz="2000" b="0">
                <a:solidFill>
                  <a:srgbClr val="1F2D3A"/>
                </a:solidFill>
              </a:rPr>
              <a:t> change behaviour; if it does, the pipeline is wrong.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connects to week 12's "S16 results."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Step-by-Step Example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Step-by-Step Strengthening — Diagram</a:t>
            </a:r>
          </a:p>
        </p:txBody>
      </p:sp>
      <p:pic>
        <p:nvPicPr>
          <p:cNvPr id="7" name="Picture 6" descr="h14-11-adim-adim-guclendir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587" y="1325880"/>
            <a:ext cx="10046521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Starting Point · source.c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grant_access(const char *token)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(token_is_valid(token)) return GRANTED;  /* tek dal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DENIED;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Unprotected: a single branch, bypassed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and a single-byte patch.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0 · The Attacker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strings</a:t>
            </a:r>
            <a:r>
              <a:rPr sz="2000" b="0">
                <a:solidFill>
                  <a:srgbClr val="1F2D3A"/>
                </a:solidFill>
              </a:rPr>
              <a:t> →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GRANTED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DENIED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Reverse-compile → a single </a:t>
            </a:r>
            <a:r>
              <a:rPr sz="2000" b="0">
                <a:solidFill>
                  <a:srgbClr val="A1123F"/>
                </a:solidFill>
                <a:latin typeface="Consolas"/>
              </a:rPr>
              <a:t>if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Turn the failure branch into success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Time: minutes.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Layer by Layer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714"/>
                <a:gridCol w="3418071"/>
                <a:gridCol w="4864178"/>
                <a:gridCol w="1577571"/>
              </a:tblGrid>
              <a:tr h="373858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Transform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What Changes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Bypassed with a single-byte patch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GRANTED/DENIED no longer plain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Very low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Comparison complex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Single branch not visible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Moderate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3858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Bogus branches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Moderate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3864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(if needed)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VM bytecode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step makes the attack a bit more </a:t>
            </a:r>
            <a:r>
              <a:rPr sz="2000" b="1">
                <a:solidFill>
                  <a:srgbClr val="1F2D3A"/>
                </a:solidFill>
              </a:rPr>
              <a:t>expensive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step adds a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Where you stop: </a:t>
            </a:r>
            <a:r>
              <a:rPr sz="2000" b="1">
                <a:solidFill>
                  <a:srgbClr val="1F2D3A"/>
                </a:solidFill>
              </a:rPr>
              <a:t>asset value</a:t>
            </a:r>
            <a:r>
              <a:rPr sz="2000" b="0">
                <a:solidFill>
                  <a:srgbClr val="1F2D3A"/>
                </a:solidFill>
              </a:rPr>
              <a:t> + </a:t>
            </a:r>
            <a:r>
              <a:rPr sz="2000" b="1">
                <a:solidFill>
                  <a:srgbClr val="1F2D3A"/>
                </a:solidFill>
              </a:rPr>
              <a:t>the cost you measured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Step 5 (Virtualize) is unnecessary for most checks.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Effect of Order: Scope and Signature</a:t>
            </a:r>
          </a:p>
        </p:txBody>
      </p:sp>
      <p:pic>
        <p:nvPicPr>
          <p:cNvPr id="7" name="Picture 6" descr="transform-stacking-ord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3545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Signing Too Early</a:t>
            </a:r>
          </a:p>
        </p:txBody>
      </p:sp>
      <p:pic>
        <p:nvPicPr>
          <p:cNvPr id="7" name="Picture 6" descr="transform-stacking-order--sign-too-earl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35457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This Table → S9 Itself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"step / transform / what changes / cost"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is the direct counterpart of your project's </a:t>
            </a:r>
            <a:r>
              <a:rPr sz="2000" b="1">
                <a:solidFill>
                  <a:srgbClr val="1F2D3A"/>
                </a:solidFill>
              </a:rPr>
              <a:t>S9 protection table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O-LLVM (Compiler-Based)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Obfuscator-LLVM:</a:t>
            </a:r>
            <a:r>
              <a:rPr sz="2000" b="0">
                <a:solidFill>
                  <a:srgbClr val="1F2D3A"/>
                </a:solidFill>
              </a:rPr>
              <a:t> applies transforms </a:t>
            </a:r>
            <a:r>
              <a:rPr sz="2000" b="1">
                <a:solidFill>
                  <a:srgbClr val="1F2D3A"/>
                </a:solidFill>
              </a:rPr>
              <a:t>at compile 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source-to-source; on top of the LLVM intermediate representation.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 K-11. An alternative to Tigress.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 or O-LLVM?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602"/>
                <a:gridCol w="5312194"/>
                <a:gridCol w="2440738"/>
              </a:tblGrid>
              <a:tr h="381762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Tigress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O-LLVM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Source (C→C)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Compiler (IR)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Visibility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You can see the obfuscated source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 build step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Transform richness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Many (including Virtualize)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More limited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Shared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are well known → their patterns can become recognisable.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Both require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layered defence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Neither one grants unbreakability.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Which K-rules do Flatten, EncodeArithmetic, Virtualize correspond to?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Why do you target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Two things you </a:t>
            </a:r>
            <a:r>
              <a:rPr sz="2000" b="1">
                <a:solidFill>
                  <a:srgbClr val="1F2D3A"/>
                </a:solidFill>
              </a:rPr>
              <a:t>must always</a:t>
            </a:r>
            <a:r>
              <a:rPr sz="2000" b="0">
                <a:solidFill>
                  <a:srgbClr val="1F2D3A"/>
                </a:solidFill>
              </a:rPr>
              <a:t> do after every pipeline?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2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Flatten</a:t>
            </a:r>
            <a:r>
              <a:rPr sz="2000" b="0">
                <a:solidFill>
                  <a:srgbClr val="1F2D3A"/>
                </a:solidFill>
              </a:rPr>
              <a:t> = control-flow flattening; </a:t>
            </a:r>
            <a:r>
              <a:rPr sz="2000" b="1">
                <a:solidFill>
                  <a:srgbClr val="1F2D3A"/>
                </a:solidFill>
              </a:rPr>
              <a:t>EncodeArithmetic</a:t>
            </a:r>
            <a:r>
              <a:rPr sz="2000" b="0">
                <a:solidFill>
                  <a:srgbClr val="1F2D3A"/>
                </a:solidFill>
              </a:rPr>
              <a:t> = arithmetic/data obfuscation;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= virtualisation (strongest, most expensive).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Obfuscating every function </a:t>
            </a:r>
            <a:r>
              <a:rPr sz="2000" b="1">
                <a:solidFill>
                  <a:srgbClr val="1F2D3A"/>
                </a:solidFill>
              </a:rPr>
              <a:t>blows up</a:t>
            </a:r>
            <a:r>
              <a:rPr sz="2000" b="0">
                <a:solidFill>
                  <a:srgbClr val="1F2D3A"/>
                </a:solidFill>
              </a:rPr>
              <a:t> cost/performance; targeting only </a:t>
            </a:r>
            <a:r>
              <a:rPr sz="2000" b="1">
                <a:solidFill>
                  <a:srgbClr val="1F2D3A"/>
                </a:solidFill>
              </a:rPr>
              <a:t>sensitive</a:t>
            </a:r>
            <a:r>
              <a:rPr sz="2000" b="0">
                <a:solidFill>
                  <a:srgbClr val="1F2D3A"/>
                </a:solidFill>
              </a:rPr>
              <a:t> functions concentrates resilience there.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(1) </a:t>
            </a:r>
            <a:r>
              <a:rPr sz="2000" b="1">
                <a:solidFill>
                  <a:srgbClr val="1F2D3A"/>
                </a:solidFill>
              </a:rPr>
              <a:t>Test behaviour</a:t>
            </a:r>
            <a:r>
              <a:rPr sz="2000" b="0">
                <a:solidFill>
                  <a:srgbClr val="1F2D3A"/>
                </a:solidFill>
              </a:rPr>
              <a:t> (unit tests must pass), (2) </a:t>
            </a:r>
            <a:r>
              <a:rPr sz="2000" b="1">
                <a:solidFill>
                  <a:srgbClr val="1F2D3A"/>
                </a:solidFill>
              </a:rPr>
              <a:t>measure cost</a:t>
            </a:r>
            <a:r>
              <a:rPr sz="2000" b="0">
                <a:solidFill>
                  <a:srgbClr val="1F2D3A"/>
                </a:solidFill>
              </a:rPr>
              <a:t> (size/speed/instruction count, before-after).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Diversification and Measurement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Recall Rule 2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An attack that works on one copy should not work on all copies.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If an attacker can crack one copy and distribute the patch to </a:t>
            </a:r>
            <a:r>
              <a:rPr sz="2000" b="1">
                <a:solidFill>
                  <a:srgbClr val="1F2D3A"/>
                </a:solidFill>
              </a:rPr>
              <a:t>everyone</a:t>
            </a:r>
            <a:r>
              <a:rPr sz="2000" b="0">
                <a:solidFill>
                  <a:srgbClr val="1F2D3A"/>
                </a:solidFill>
              </a:rPr>
              <a:t>, one crack opens every door.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Is Diversification?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Behaviourally equivalent, structurally different</a:t>
            </a:r>
            <a:r>
              <a:rPr sz="2000" b="0">
                <a:solidFill>
                  <a:srgbClr val="1F2D3A"/>
                </a:solidFill>
              </a:rPr>
              <a:t> binaries from the same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does this with a </a:t>
            </a:r>
            <a:r>
              <a:rPr sz="2000" b="1">
                <a:solidFill>
                  <a:srgbClr val="1F2D3A"/>
                </a:solidFill>
              </a:rPr>
              <a:t>seed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transforms + a different seed → opaque predicates, bogus branches, state values </a:t>
            </a:r>
            <a:r>
              <a:rPr sz="2000" b="1">
                <a:solidFill>
                  <a:srgbClr val="1F2D3A"/>
                </a:solidFill>
              </a:rPr>
              <a:t>change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Seeds, Two Different Binaries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--Functions=grant_access --out=gizli_a.c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--Functions=grant_access --out=gizli_b.c source.c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gizli_a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gizli_b</a:t>
            </a:r>
            <a:r>
              <a:rPr sz="2000" b="0">
                <a:solidFill>
                  <a:srgbClr val="1F2D3A"/>
                </a:solidFill>
              </a:rPr>
              <a:t> do the same job; their machine code is </a:t>
            </a:r>
            <a:r>
              <a:rPr sz="2000" b="1">
                <a:solidFill>
                  <a:srgbClr val="1F2D3A"/>
                </a:solidFill>
              </a:rPr>
              <a:t>different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Two Types of 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space:</a:t>
            </a:r>
            <a:r>
              <a:rPr sz="2000" b="0">
                <a:solidFill>
                  <a:srgbClr val="1F2D3A"/>
                </a:solidFill>
              </a:rPr>
              <a:t> a differently seeded copy for each user/device → one copy's attack doesn't work on another.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In time:</a:t>
            </a:r>
            <a:r>
              <a:rPr sz="2000" b="0">
                <a:solidFill>
                  <a:srgbClr val="1F2D3A"/>
                </a:solidFill>
              </a:rPr>
              <a:t> each version gets a new seed → an old attack breaks on the new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Works together with week 10's key/version renewal.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Diversification with Seeds</a:t>
            </a:r>
          </a:p>
        </p:txBody>
      </p:sp>
      <p:pic>
        <p:nvPicPr>
          <p:cNvPr id="7" name="Picture 6" descr="diversification-seeds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558" y="1325880"/>
            <a:ext cx="61485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A Forgotten Seed</a:t>
            </a:r>
          </a:p>
        </p:txBody>
      </p:sp>
      <p:pic>
        <p:nvPicPr>
          <p:cNvPr id="7" name="Picture 6" descr="diversification-seeds--edge-same-seed-twi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271" y="1325880"/>
            <a:ext cx="789715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Does Diversification Prevent?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 does not increase the </a:t>
            </a:r>
            <a:r>
              <a:rPr sz="2000" b="1">
                <a:solidFill>
                  <a:srgbClr val="1F2D3A"/>
                </a:solidFill>
              </a:rPr>
              <a:t>strength</a:t>
            </a:r>
            <a:r>
              <a:rPr sz="2000" b="0">
                <a:solidFill>
                  <a:srgbClr val="1F2D3A"/>
                </a:solidFill>
              </a:rPr>
              <a:t> of obfuscation (cracking one copy is still possible).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it prevents it from </a:t>
            </a:r>
            <a:r>
              <a:rPr sz="2000" b="1">
                <a:solidFill>
                  <a:srgbClr val="1F2D3A"/>
                </a:solidFill>
              </a:rPr>
              <a:t>scaling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090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RandomFuns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RndArgs</a:t>
            </a:r>
            <a:r>
              <a:rPr sz="2000" b="0">
                <a:solidFill>
                  <a:srgbClr val="1F2D3A"/>
                </a:solidFill>
              </a:rPr>
              <a:t> also change structure when combined with a seed.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Effectiveness · Metric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 the same source with two seeds.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Measure the </a:t>
            </a:r>
            <a:r>
              <a:rPr sz="2000" b="1">
                <a:solidFill>
                  <a:srgbClr val="1F2D3A"/>
                </a:solidFill>
              </a:rPr>
              <a:t>byte difference</a:t>
            </a:r>
            <a:r>
              <a:rPr sz="2000" b="0">
                <a:solidFill>
                  <a:srgbClr val="1F2D3A"/>
                </a:solidFill>
              </a:rPr>
              <a:t> of the protected functions.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higher the difference, the lower the chance that one attack works on the other.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the metric into S9.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Measuring Obfuscation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Tigress's Teaching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week 9 we learned to measure obfuscation on four dimensions (potency, resilience, stealth, cost).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lets you make these measurements </a:t>
            </a:r>
            <a:r>
              <a:rPr sz="2000" b="1">
                <a:solidFill>
                  <a:srgbClr val="1F2D3A"/>
                </a:solidFill>
              </a:rPr>
              <a:t>concrete</a:t>
            </a:r>
            <a:r>
              <a:rPr sz="2000" b="0">
                <a:solidFill>
                  <a:srgbClr val="1F2D3A"/>
                </a:solidFill>
              </a:rPr>
              <a:t>: obfuscate the same program, measure before/after.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Cost Measurement (Easy, Mandatory)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Measure for every pipeline and write it into S9/S15: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365957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7092497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How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Binary 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ls -l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Running 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Same input, N times, average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CFG complexity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Basic block count in the decompiler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Cost Measurement · Command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   # boyut farkı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Simple, but it produces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Cost · Example Table (Pipeline A and 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2D3A"/>
                </a:solidFill>
              </a:rPr>
              <a:t>Pipeline A:</a:t>
            </a:r>
            <a:r>
              <a:rPr sz="1800" b="0">
                <a:solidFill>
                  <a:srgbClr val="1F2D3A"/>
                </a:solidFill>
              </a:rPr>
              <a:t> EncodeLiterals + EncodeArithmetic (light) · </a:t>
            </a:r>
            <a:r>
              <a:rPr sz="1800" b="1">
                <a:solidFill>
                  <a:srgbClr val="1F2D3A"/>
                </a:solidFill>
              </a:rPr>
              <a:t>Pipeline B:</a:t>
            </a:r>
            <a:r>
              <a:rPr sz="1800" b="0">
                <a:solidFill>
                  <a:srgbClr val="1F2D3A"/>
                </a:solidFill>
              </a:rPr>
              <a:t> Pipeline A + Flatten + AddOpaque (heavy)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39696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185"/>
                <a:gridCol w="1788776"/>
                <a:gridCol w="2504286"/>
                <a:gridCol w="2504286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Clean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Pipeline A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Pipeline B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103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131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1.05×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1.80×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Blocks (target fn.)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Sensitive strings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005072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figures are an example; you write </a:t>
            </a:r>
            <a:r>
              <a:rPr sz="1800" b="1">
                <a:solidFill>
                  <a:srgbClr val="1F2D3A"/>
                </a:solidFill>
              </a:rPr>
              <a:t>your own</a:t>
            </a:r>
            <a:r>
              <a:rPr sz="1800" b="0">
                <a:solidFill>
                  <a:srgbClr val="1F2D3A"/>
                </a:solidFill>
              </a:rPr>
              <a:t> measurements.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Cost · Raw Measurement Output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program_temiz: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boyut: 100 KB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işlem süresi: 1.00× (referans)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  grant_access temel blok: 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90241"/>
            <a:ext cx="10911535" cy="95463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boyut: 103 KB   (+%3)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süre:  1.05×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blok:  7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strings hassas dize: 0  (öncesi 3)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454602"/>
            <a:ext cx="10911535" cy="784555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boyut: 131 KB   (+%31)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süre:  1.80×</a:t>
            </a:r>
          </a:p>
          <a:p>
            <a:pPr algn="l"/>
            <a:r>
              <a:rPr sz="1116">
                <a:solidFill>
                  <a:srgbClr val="1F2D3A"/>
                </a:solidFill>
                <a:latin typeface="Consolas"/>
              </a:rPr>
              <a:t>blok:  40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Measuring: Size, Time, Instructions, Similarity</a:t>
            </a:r>
          </a:p>
        </p:txBody>
      </p:sp>
      <p:pic>
        <p:nvPicPr>
          <p:cNvPr id="7" name="Picture 6" descr="obfuscation-measurement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87804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Both "Seeds" Are the Original</a:t>
            </a:r>
          </a:p>
        </p:txBody>
      </p:sp>
      <p:pic>
        <p:nvPicPr>
          <p:cNvPr id="7" name="Picture 6" descr="obfuscation-measurement--edge-both-zero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25" y="1325880"/>
            <a:ext cx="1067504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Resilience Measurement (Advanced, Concept)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Resilience = resistance to an automated tool (symbolic execution).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9: "not a claim, a measured quantity."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is at the </a:t>
            </a:r>
            <a:r>
              <a:rPr sz="2000" b="1">
                <a:solidFill>
                  <a:srgbClr val="1F2D3A"/>
                </a:solidFill>
              </a:rPr>
              <a:t>centre</a:t>
            </a:r>
            <a:r>
              <a:rPr sz="2000" b="0">
                <a:solidFill>
                  <a:srgbClr val="1F2D3A"/>
                </a:solidFill>
              </a:rPr>
              <a:t> of this research.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Banescu et al. · Tigress + KLEE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study measuring how much Tigress transforms resist </a:t>
            </a:r>
            <a:r>
              <a:rPr sz="2000" b="1">
                <a:solidFill>
                  <a:srgbClr val="1F2D3A"/>
                </a:solidFill>
              </a:rPr>
              <a:t>symbolic execution</a:t>
            </a:r>
            <a:r>
              <a:rPr sz="2000" b="0">
                <a:solidFill>
                  <a:srgbClr val="1F2D3A"/>
                </a:solidFill>
              </a:rPr>
              <a:t>. Findings: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single transform (Flatten alone) → usually unwound.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Combining</a:t>
            </a:r>
            <a:r>
              <a:rPr sz="2000" b="0">
                <a:solidFill>
                  <a:srgbClr val="1F2D3A"/>
                </a:solidFill>
              </a:rPr>
              <a:t> transforms + growing the state space → forces the solver </a:t>
            </a:r>
            <a:r>
              <a:rPr sz="2000" b="1">
                <a:solidFill>
                  <a:srgbClr val="1F2D3A"/>
                </a:solidFill>
              </a:rPr>
              <a:t>exponentially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 also increases.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Resilience ↔ Cost — Diagram</a:t>
            </a:r>
          </a:p>
        </p:txBody>
      </p:sp>
      <p:pic>
        <p:nvPicPr>
          <p:cNvPr id="7" name="Picture 6" descr="h14-08-dayaniklilik-maliy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8112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Takeaway for the Course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Resilience and cost are a </a:t>
            </a:r>
            <a:r>
              <a:rPr sz="2000" b="1">
                <a:solidFill>
                  <a:srgbClr val="1F2D3A"/>
                </a:solidFill>
              </a:rPr>
              <a:t>trade-off</a:t>
            </a:r>
            <a:r>
              <a:rPr sz="2000" b="0">
                <a:solidFill>
                  <a:srgbClr val="1F2D3A"/>
                </a:solidFill>
              </a:rPr>
              <a:t> (like week 9).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401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say "strong"; say </a:t>
            </a:r>
            <a:r>
              <a:rPr sz="2000" b="1">
                <a:solidFill>
                  <a:srgbClr val="1F2D3A"/>
                </a:solidFill>
              </a:rPr>
              <a:t>"it didn't let this tool solve a problem of this size within this time."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Measurement Rule (S9/S15)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Defend an obfuscation decision with measurements: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875536"/>
            <a:ext cx="10911535" cy="934719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"The Flatten + AddOpaque pipeline grew the size by 30%, slowed the process by 1.8×; the target function's basic block count grew 8-fold."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199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Unmeasured obfuscation = a </a:t>
            </a:r>
            <a:r>
              <a:rPr sz="2000" b="1">
                <a:solidFill>
                  <a:srgbClr val="1F2D3A"/>
                </a:solidFill>
              </a:rPr>
              <a:t>claim</a:t>
            </a:r>
            <a:r>
              <a:rPr sz="2000" b="0">
                <a:solidFill>
                  <a:srgbClr val="1F2D3A"/>
                </a:solidFill>
              </a:rPr>
              <a:t> for the evaluator (week 12).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Asset value </a:t>
            </a:r>
            <a:r>
              <a:rPr sz="2000" b="1">
                <a:solidFill>
                  <a:srgbClr val="1F2D3A"/>
                </a:solidFill>
              </a:rPr>
              <a:t>low</a:t>
            </a:r>
            <a:r>
              <a:rPr sz="2000" b="0">
                <a:solidFill>
                  <a:srgbClr val="1F2D3A"/>
                </a:solidFill>
              </a:rPr>
              <a:t> → Pipeline A is enough.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Asset value </a:t>
            </a:r>
            <a:r>
              <a:rPr sz="2000" b="1">
                <a:solidFill>
                  <a:srgbClr val="1F2D3A"/>
                </a:solidFill>
              </a:rPr>
              <a:t>high</a:t>
            </a:r>
            <a:r>
              <a:rPr sz="2000" b="0">
                <a:solidFill>
                  <a:srgbClr val="1F2D3A"/>
                </a:solidFill>
              </a:rPr>
              <a:t> → Pipeline B (accept the cost) + diversification.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The decision rests on numbers, not a feeling.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 Measurement (Example)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Produce Pipeline B with seed 1001 and 2002.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Byte difference of the protected function: </a:t>
            </a:r>
            <a:r>
              <a:rPr sz="2000" b="1">
                <a:solidFill>
                  <a:srgbClr val="1F2D3A"/>
                </a:solidFill>
              </a:rPr>
              <a:t>92%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Comment: a patch written for one copy most likely won't work on the other.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How does a seed provide diversification?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Difference between diversification in space and in time?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Banescu et al.'s main rule? (resilience ↔ cost)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3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Obfuscating the same source with a different </a:t>
            </a:r>
            <a:r>
              <a:rPr sz="2000" b="1">
                <a:solidFill>
                  <a:srgbClr val="1F2D3A"/>
                </a:solidFill>
              </a:rPr>
              <a:t>seed</a:t>
            </a:r>
            <a:r>
              <a:rPr sz="2000" b="0">
                <a:solidFill>
                  <a:srgbClr val="1F2D3A"/>
                </a:solidFill>
              </a:rPr>
              <a:t> makes the tool make different random choices → every build is a </a:t>
            </a:r>
            <a:r>
              <a:rPr sz="2000" b="1">
                <a:solidFill>
                  <a:srgbClr val="1F2D3A"/>
                </a:solidFill>
              </a:rPr>
              <a:t>different binary</a:t>
            </a:r>
            <a:r>
              <a:rPr sz="2000" b="0">
                <a:solidFill>
                  <a:srgbClr val="1F2D3A"/>
                </a:solidFill>
              </a:rPr>
              <a:t> (same behaviour).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1">
                <a:solidFill>
                  <a:srgbClr val="1F2D3A"/>
                </a:solidFill>
              </a:rPr>
              <a:t>In space:</a:t>
            </a:r>
            <a:r>
              <a:rPr sz="2000" b="0">
                <a:solidFill>
                  <a:srgbClr val="1F2D3A"/>
                </a:solidFill>
              </a:rPr>
              <a:t> different copies/users differ (one crack doesn't crack everyone). </a:t>
            </a:r>
            <a:r>
              <a:rPr sz="2000" b="1">
                <a:solidFill>
                  <a:srgbClr val="1F2D3A"/>
                </a:solidFill>
              </a:rPr>
              <a:t>In time:</a:t>
            </a:r>
            <a:r>
              <a:rPr sz="2000" b="0">
                <a:solidFill>
                  <a:srgbClr val="1F2D3A"/>
                </a:solidFill>
              </a:rPr>
              <a:t> it changes across versions (a crack doesn't stay valid).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Stronger obfuscation means more </a:t>
            </a:r>
            <a:r>
              <a:rPr sz="2000" b="1">
                <a:solidFill>
                  <a:srgbClr val="1F2D3A"/>
                </a:solidFill>
              </a:rPr>
              <a:t>resilience</a:t>
            </a:r>
            <a:r>
              <a:rPr sz="2000" b="0">
                <a:solidFill>
                  <a:srgbClr val="1F2D3A"/>
                </a:solidFill>
              </a:rPr>
              <a:t> but more </a:t>
            </a:r>
            <a:r>
              <a:rPr sz="2000" b="1">
                <a:solidFill>
                  <a:srgbClr val="1F2D3A"/>
                </a:solidFill>
              </a:rPr>
              <a:t>cost</a:t>
            </a:r>
            <a:r>
              <a:rPr sz="2000" b="0">
                <a:solidFill>
                  <a:srgbClr val="1F2D3A"/>
                </a:solidFill>
              </a:rPr>
              <a:t>; protection is chosen </a:t>
            </a:r>
            <a:r>
              <a:rPr sz="2000" b="1">
                <a:solidFill>
                  <a:srgbClr val="1F2D3A"/>
                </a:solidFill>
              </a:rPr>
              <a:t>in proportion to the value</a:t>
            </a:r>
            <a:r>
              <a:rPr sz="2000" b="0">
                <a:solidFill>
                  <a:srgbClr val="1F2D3A"/>
                </a:solidFill>
              </a:rPr>
              <a:t> of the asset.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In-Class Flow (Step by Step)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In-Class Flow — Diagram</a:t>
            </a:r>
          </a:p>
        </p:txBody>
      </p:sp>
      <p:pic>
        <p:nvPicPr>
          <p:cNvPr id="7" name="Picture 6" descr="h14-12-sinif-ici-ak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858" y="1325880"/>
            <a:ext cx="100079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What Will We Do?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Take your own small, synthetic program: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obfuscate → verify behaviour → compare → measure → diversify →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51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Let's go step by step.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1 ·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a small, synthetic program (e.g., </a:t>
            </a:r>
            <a:r>
              <a:rPr sz="2000" b="0">
                <a:solidFill>
                  <a:srgbClr val="A1123F"/>
                </a:solidFill>
                <a:latin typeface="Consolas"/>
              </a:rPr>
              <a:t>grant_access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Show with unit tests that it </a:t>
            </a:r>
            <a:r>
              <a:rPr sz="2000" b="1">
                <a:solidFill>
                  <a:srgbClr val="1F2D3A"/>
                </a:solidFill>
              </a:rPr>
              <a:t>works correctly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your "clean" baseline.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2 · Obfuscate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--Transform=EncodeLiterals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--Transform=Flatten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--Functions=grant_access --out=variant.c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cc -o program_gizli variant.c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Apply a transform pipeline.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3 · Verify Behaviour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the same unit tests on the </a:t>
            </a:r>
            <a:r>
              <a:rPr sz="2000" b="1">
                <a:solidFill>
                  <a:srgbClr val="1F2D3A"/>
                </a:solidFill>
              </a:rPr>
              <a:t>obfuscated</a:t>
            </a:r>
            <a:r>
              <a:rPr sz="2000" b="0">
                <a:solidFill>
                  <a:srgbClr val="1F2D3A"/>
                </a:solidFill>
              </a:rPr>
              <a:t> version.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result must be </a:t>
            </a:r>
            <a:r>
              <a:rPr sz="2000" b="1">
                <a:solidFill>
                  <a:srgbClr val="1F2D3A"/>
                </a:solidFill>
              </a:rPr>
              <a:t>exactly the same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different: the pipeline is wrong → fix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654808"/>
            <a:ext cx="10911535" cy="6045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never changes behaviour.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4 · Compare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Open the clean and obfuscated versions in a decompiler (Ghidra/objdump).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the control flow.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Note the </a:t>
            </a:r>
            <a:r>
              <a:rPr sz="2000" b="1">
                <a:solidFill>
                  <a:srgbClr val="1F2D3A"/>
                </a:solidFill>
              </a:rPr>
              <a:t>increase</a:t>
            </a:r>
            <a:r>
              <a:rPr sz="2000" b="0">
                <a:solidFill>
                  <a:srgbClr val="1F2D3A"/>
                </a:solidFill>
              </a:rPr>
              <a:t> in basic block count.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5 ·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 ./program_temiz ./program_gizli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# süre: aynı girdiyle N kez çalıştır, ortalamayı karşılaştır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87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Write down the size and time difference.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6 · Diversify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the same pipeline with </a:t>
            </a:r>
            <a:r>
              <a:rPr sz="2000" b="1">
                <a:solidFill>
                  <a:srgbClr val="1F2D3A"/>
                </a:solidFill>
              </a:rPr>
              <a:t>two different seeds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Show that the two binaries are different (byte difference).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78888"/>
            <a:ext cx="10911535" cy="65227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--Seed=1001 ... --out=gizli_a.c source.c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--Seed=2002 ... --out=gizli_b.c source.c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7 ·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Put your findings into a table: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75536"/>
          <a:ext cx="10547815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165"/>
                <a:gridCol w="1454871"/>
                <a:gridCol w="1454871"/>
                <a:gridCol w="1818589"/>
                <a:gridCol w="3455319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Transform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Blocks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Seed Difference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8173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This table goes directly into </a:t>
            </a:r>
            <a:r>
              <a:rPr sz="2000" b="1">
                <a:solidFill>
                  <a:srgbClr val="1F2D3A"/>
                </a:solidFill>
              </a:rPr>
              <a:t>S9/S15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Ethical and Safe 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Tigress only on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code.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example program does not </a:t>
            </a:r>
            <a:r>
              <a:rPr sz="2000" b="1">
                <a:solidFill>
                  <a:srgbClr val="1F2D3A"/>
                </a:solidFill>
              </a:rPr>
              <a:t>harm</a:t>
            </a:r>
            <a:r>
              <a:rPr sz="2000" b="0">
                <a:solidFill>
                  <a:srgbClr val="1F2D3A"/>
                </a:solidFill>
              </a:rPr>
              <a:t> the computer: it does not change system settings, does not touch the network.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values are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In-Class Flow</a:t>
            </a:r>
          </a:p>
        </p:txBody>
      </p:sp>
      <p:pic>
        <p:nvPicPr>
          <p:cNvPr id="7" name="Picture 6" descr="in-class-flow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35589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Mismatch + Reused Seed</a:t>
            </a:r>
          </a:p>
        </p:txBody>
      </p:sp>
      <p:pic>
        <p:nvPicPr>
          <p:cNvPr id="7" name="Picture 6" descr="in-class-flow--edge-mismatch-and-same-se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851878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In-Class · Summary Flow</a:t>
            </a:r>
          </a:p>
        </p:txBody>
      </p:sp>
      <p:pic>
        <p:nvPicPr>
          <p:cNvPr id="7" name="Picture 6" descr="h14-06-test-ve-olc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496797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Step-by-Step Flow · Why This Order?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</a:t>
            </a:r>
            <a:r>
              <a:rPr sz="2000" b="1">
                <a:solidFill>
                  <a:srgbClr val="1F2D3A"/>
                </a:solidFill>
              </a:rPr>
              <a:t>behaviour</a:t>
            </a:r>
            <a:r>
              <a:rPr sz="2000" b="0">
                <a:solidFill>
                  <a:srgbClr val="1F2D3A"/>
                </a:solidFill>
              </a:rPr>
              <a:t> (tests) — make sure nothing broke.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</a:t>
            </a:r>
            <a:r>
              <a:rPr sz="2000" b="1">
                <a:solidFill>
                  <a:srgbClr val="1F2D3A"/>
                </a:solidFill>
              </a:rPr>
              <a:t>evidence</a:t>
            </a:r>
            <a:r>
              <a:rPr sz="2000" b="0">
                <a:solidFill>
                  <a:srgbClr val="1F2D3A"/>
                </a:solidFill>
              </a:rPr>
              <a:t> (CFG, measurement) — show the gain.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Then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 — break scalability.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Don't say "strong" without measuring.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New Example · Integrity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dosya_saglam(const uint8_t *veri, size_t n,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const uint8_t *beklenen)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uint8_t ozet[32];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ozet_hesapla(veri, n, ozet);        /* SHA-256 benzeri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sabit_zamanli_esit(ozet, beklenen, 32);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4378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synthetic function that checks version integrity.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Why Obfuscate This?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An attacker wants to find this check and </a:t>
            </a:r>
            <a:r>
              <a:rPr sz="2000" b="1">
                <a:solidFill>
                  <a:srgbClr val="1F2D3A"/>
                </a:solidFill>
              </a:rPr>
              <a:t>bypass</a:t>
            </a:r>
            <a:r>
              <a:rPr sz="2000" b="0">
                <a:solidFill>
                  <a:srgbClr val="1F2D3A"/>
                </a:solidFill>
              </a:rPr>
              <a:t> it (to get a tampered file to pass).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check's return point and comparison are the target.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9: opaque boolean + random exit are critical here.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Pipeline Choice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tigress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--Transform=EncodeLiterals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--Transform=EncodeArithmetic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--Transform=Flatten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--Transform=AddOpaque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--Functions=dosya_saglam \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--out=variant.c source.c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Step by Step · What Happens?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EncodeLiterals: </a:t>
            </a:r>
            <a:r>
              <a:rPr sz="2000" b="0">
                <a:solidFill>
                  <a:srgbClr val="A1123F"/>
                </a:solidFill>
                <a:latin typeface="Consolas"/>
              </a:rPr>
              <a:t>32</a:t>
            </a:r>
            <a:r>
              <a:rPr sz="2000" b="0">
                <a:solidFill>
                  <a:srgbClr val="1F2D3A"/>
                </a:solidFill>
              </a:rPr>
              <a:t> and any strings are no longer plain.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EncodeArithmetic: the comparison becomes complex.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Flatten: the single return point is not visible.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AddOpaque: bogus branches; the "success" branch isn't in one place.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Behaviour Verification (Mandatory)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file with the correct hash → </a:t>
            </a:r>
            <a:r>
              <a:rPr sz="2000" b="1">
                <a:solidFill>
                  <a:srgbClr val="1F2D3A"/>
                </a:solidFill>
              </a:rPr>
              <a:t>passes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file with a corrupted hash → </a:t>
            </a:r>
            <a:r>
              <a:rPr sz="2000" b="1">
                <a:solidFill>
                  <a:srgbClr val="1F2D3A"/>
                </a:solidFill>
              </a:rPr>
              <a:t>rejected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obfuscated version gives the same result → pipeline correct.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CFG Before/After (Concept)</a:t>
            </a:r>
          </a:p>
        </p:txBody>
      </p:sp>
      <p:pic>
        <p:nvPicPr>
          <p:cNvPr id="7" name="Picture 6" descr="h14-10-cfg-once-son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66831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10392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Where the check passes/fails can no longer be read from the flow.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⚠️ Constant-Time Behaviour Must Be Preserved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Even obfuscated, </a:t>
            </a:r>
            <a:r>
              <a:rPr sz="2000" b="0">
                <a:solidFill>
                  <a:srgbClr val="A1123F"/>
                </a:solidFill>
                <a:latin typeface="Consolas"/>
              </a:rPr>
              <a:t>sabit_zamanli_esit</a:t>
            </a:r>
            <a:r>
              <a:rPr sz="2000" b="0">
                <a:solidFill>
                  <a:srgbClr val="1F2D3A"/>
                </a:solidFill>
              </a:rPr>
              <a:t> must </a:t>
            </a:r>
            <a:r>
              <a:rPr sz="2000" b="1">
                <a:solidFill>
                  <a:srgbClr val="1F2D3A"/>
                </a:solidFill>
              </a:rPr>
              <a:t>stay constant time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an early exit is added for the sake of obfuscation, a side channel opens (week 3).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</a:t>
            </a:r>
            <a:r>
              <a:rPr sz="2000" b="0">
                <a:solidFill>
                  <a:srgbClr val="1F2D3A"/>
                </a:solidFill>
              </a:rPr>
              <a:t> that the transforms don't break this.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Measurement (Example)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6472"/>
                <a:gridCol w="1818589"/>
                <a:gridCol w="1818589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Before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After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100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128 KB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Time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1.0×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1.7×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Blocks (dosya_saglam)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Diversification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Produce with two seeds → two different binaries.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"skip the integrity check" patch that works on one copy won't work on the other, even if it succeeds once.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Second Example ·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is valuable on functions that are a </a:t>
            </a:r>
            <a:r>
              <a:rPr sz="2000" b="1">
                <a:solidFill>
                  <a:srgbClr val="1F2D3A"/>
                </a:solidFill>
              </a:rPr>
              <a:t>bypass target</a:t>
            </a:r>
            <a:r>
              <a:rPr sz="2000" b="0">
                <a:solidFill>
                  <a:srgbClr val="1F2D3A"/>
                </a:solidFill>
              </a:rPr>
              <a:t>, like integrity checks.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But the real strength: obfuscation + RASP (week 6) + server-side checking.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Obfuscation alone </a:t>
            </a:r>
            <a:r>
              <a:rPr sz="2000" b="1">
                <a:solidFill>
                  <a:srgbClr val="1F2D3A"/>
                </a:solidFill>
              </a:rPr>
              <a:t>delays</a:t>
            </a:r>
            <a:r>
              <a:rPr sz="2000" b="0">
                <a:solidFill>
                  <a:srgbClr val="1F2D3A"/>
                </a:solidFill>
              </a:rPr>
              <a:t> bypass, it doesn't prevent it.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first thing you </a:t>
            </a:r>
            <a:r>
              <a:rPr sz="2000" b="1">
                <a:solidFill>
                  <a:srgbClr val="1F2D3A"/>
                </a:solidFill>
              </a:rPr>
              <a:t>must always</a:t>
            </a:r>
            <a:r>
              <a:rPr sz="2000" b="0">
                <a:solidFill>
                  <a:srgbClr val="1F2D3A"/>
                </a:solidFill>
              </a:rPr>
              <a:t> do after obfuscating?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How do you show diversification?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Which project sections does the report table go into?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4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1">
                <a:solidFill>
                  <a:srgbClr val="1F2D3A"/>
                </a:solidFill>
              </a:rPr>
              <a:t>Test that behaviour hasn't changed</a:t>
            </a:r>
            <a:r>
              <a:rPr sz="2000" b="0">
                <a:solidFill>
                  <a:srgbClr val="1F2D3A"/>
                </a:solidFill>
              </a:rPr>
              <a:t> (unit tests must pass); obfuscation must not break function.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Produce with two different seeds; compare the binaries (</a:t>
            </a:r>
            <a:r>
              <a:rPr sz="2000" b="1">
                <a:solidFill>
                  <a:srgbClr val="1F2D3A"/>
                </a:solidFill>
              </a:rPr>
              <a:t>hash/size/instructions differ</a:t>
            </a:r>
            <a:r>
              <a:rPr sz="2000" b="0">
                <a:solidFill>
                  <a:srgbClr val="1F2D3A"/>
                </a:solidFill>
              </a:rPr>
              <a:t>) but </a:t>
            </a:r>
            <a:r>
              <a:rPr sz="2000" b="1">
                <a:solidFill>
                  <a:srgbClr val="1F2D3A"/>
                </a:solidFill>
              </a:rPr>
              <a:t>same input → same output</a:t>
            </a:r>
            <a:r>
              <a:rPr sz="2000" b="0">
                <a:solidFill>
                  <a:srgbClr val="1F2D3A"/>
                </a:solidFill>
              </a:rPr>
              <a:t> (diff/objdump).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1">
                <a:solidFill>
                  <a:srgbClr val="1F2D3A"/>
                </a:solidFill>
              </a:rPr>
              <a:t>S9</a:t>
            </a:r>
            <a:r>
              <a:rPr sz="2000" b="0">
                <a:solidFill>
                  <a:srgbClr val="1F2D3A"/>
                </a:solidFill>
              </a:rPr>
              <a:t> (code hardening) and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(build/deployment pipeline); before/after measurement as evidence.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Build Pipeline (S15) and Project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Obfuscation Is Not "By Hand at the End"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Obfuscation should be a step in the build </a:t>
            </a:r>
            <a:r>
              <a:rPr sz="2000" b="1">
                <a:solidFill>
                  <a:srgbClr val="1F2D3A"/>
                </a:solidFill>
              </a:rPr>
              <a:t>pipeline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Your project's </a:t>
            </a:r>
            <a:r>
              <a:rPr sz="2000" b="1">
                <a:solidFill>
                  <a:srgbClr val="1F2D3A"/>
                </a:solidFill>
              </a:rPr>
              <a:t>S15</a:t>
            </a:r>
            <a:r>
              <a:rPr sz="2000" b="0">
                <a:solidFill>
                  <a:srgbClr val="1F2D3A"/>
                </a:solidFill>
              </a:rPr>
              <a:t> section, after the midterm, documents exactly this.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Build Pipeline — Diagram</a:t>
            </a:r>
          </a:p>
        </p:txBody>
      </p:sp>
      <p:pic>
        <p:nvPicPr>
          <p:cNvPr id="7" name="Picture 6" descr="h14-07-s15-hat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5693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Pipeline Rule 1 · Sensitive Functions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Obfuscate only sensitive functions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Write down the rationale (which function, why).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cost rule (week 9).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Pipeline Rule 2 · Every Version Is Diversified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version is diversified with a </a:t>
            </a:r>
            <a:r>
              <a:rPr sz="2000" b="1">
                <a:solidFill>
                  <a:srgbClr val="1F2D3A"/>
                </a:solidFill>
              </a:rPr>
              <a:t>seed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seed and build identity are </a:t>
            </a:r>
            <a:r>
              <a:rPr sz="2000" b="1">
                <a:solidFill>
                  <a:srgbClr val="1F2D3A"/>
                </a:solidFill>
              </a:rPr>
              <a:t>recorded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Diversification in time (section 3).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Pipeline Rule 3 · Signing After Obfuscation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obfuscate, </a:t>
            </a:r>
            <a:r>
              <a:rPr sz="2000" b="1">
                <a:solidFill>
                  <a:srgbClr val="1F2D3A"/>
                </a:solidFill>
              </a:rPr>
              <a:t>then</a:t>
            </a:r>
            <a:r>
              <a:rPr sz="2000" b="0">
                <a:solidFill>
                  <a:srgbClr val="1F2D3A"/>
                </a:solidFill>
              </a:rPr>
              <a:t> sign.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build identity and hash values (week 12's TOE) must be </a:t>
            </a:r>
            <a:r>
              <a:rPr sz="2000" b="1">
                <a:solidFill>
                  <a:srgbClr val="1F2D3A"/>
                </a:solidFill>
              </a:rPr>
              <a:t>consistent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Why afterwards? The signature must cover the </a:t>
            </a:r>
            <a:r>
              <a:rPr sz="2000" b="1">
                <a:solidFill>
                  <a:srgbClr val="1F2D3A"/>
                </a:solidFill>
              </a:rPr>
              <a:t>final</a:t>
            </a:r>
            <a:r>
              <a:rPr sz="2000" b="0">
                <a:solidFill>
                  <a:srgbClr val="1F2D3A"/>
                </a:solidFill>
              </a:rPr>
              <a:t> distributed binary.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Pipeline Rule 4 · Automatic in 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pipeline runs in continuous integration (CI).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version: unit tests + size/speed measurement </a:t>
            </a:r>
            <a:r>
              <a:rPr sz="2000" b="1">
                <a:solidFill>
                  <a:srgbClr val="1F2D3A"/>
                </a:solidFill>
              </a:rPr>
              <a:t>automatic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behaviour breaks, the build </a:t>
            </a:r>
            <a:r>
              <a:rPr sz="2000" b="1">
                <a:solidFill>
                  <a:srgbClr val="1F2D3A"/>
                </a:solidFill>
              </a:rPr>
              <a:t>stops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CI Pipeline, Per-Release Seed</a:t>
            </a:r>
          </a:p>
        </p:txBody>
      </p:sp>
      <p:pic>
        <p:nvPicPr>
          <p:cNvPr id="7" name="Picture 6" descr="build-deployment-pipelin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34" y="1325880"/>
            <a:ext cx="10568826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Animation · Edge Case: A Reused Seed</a:t>
            </a:r>
          </a:p>
        </p:txBody>
      </p:sp>
      <p:pic>
        <p:nvPicPr>
          <p:cNvPr id="7" name="Picture 6" descr="build-deployment-pipeline--edge-seed-reuse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606" y="1325880"/>
            <a:ext cx="868848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9, 11, 14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obfuscation rules (code)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(key)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automation + diversification (this week)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Common rule: protection =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; strength comes from layers and measurement.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Extended + S15 Pipeline —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1. Transform pipeline (S9):</a:t>
            </a:r>
            <a:r>
              <a:rPr sz="2000" b="0">
                <a:solidFill>
                  <a:srgbClr val="1F2D3A"/>
                </a:solidFill>
              </a:rPr>
              <a:t> which functions, which transforms, in what order, </a:t>
            </a:r>
            <a:r>
              <a:rPr sz="2000" b="1">
                <a:solidFill>
                  <a:srgbClr val="1F2D3A"/>
                </a:solidFill>
              </a:rPr>
              <a:t>why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+ S15 —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2. Measurement table:</a:t>
            </a:r>
            <a:r>
              <a:rPr sz="2000" b="0">
                <a:solidFill>
                  <a:srgbClr val="1F2D3A"/>
                </a:solidFill>
              </a:rPr>
              <a:t> size, time, (if available) block count — before/after.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+ S15 —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3. Diversification:</a:t>
            </a:r>
            <a:r>
              <a:rPr sz="2000" b="0">
                <a:solidFill>
                  <a:srgbClr val="1F2D3A"/>
                </a:solidFill>
              </a:rPr>
              <a:t> production with two seeds + a difference metric; if you won't apply it, a </a:t>
            </a:r>
            <a:r>
              <a:rPr sz="2000" b="1">
                <a:solidFill>
                  <a:srgbClr val="1F2D3A"/>
                </a:solidFill>
              </a:rPr>
              <a:t>rationale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· S9 + S15 — 4,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4. S15 pipeline:</a:t>
            </a:r>
            <a:r>
              <a:rPr sz="2000" b="0">
                <a:solidFill>
                  <a:srgbClr val="1F2D3A"/>
                </a:solidFill>
              </a:rPr>
              <a:t> document the obfuscation + signing + build identity steps with a </a:t>
            </a:r>
            <a:r>
              <a:rPr sz="2000" b="1">
                <a:solidFill>
                  <a:srgbClr val="1F2D3A"/>
                </a:solidFill>
              </a:rPr>
              <a:t>diagram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5. Behaviour evidence:</a:t>
            </a:r>
            <a:r>
              <a:rPr sz="2000" b="0">
                <a:solidFill>
                  <a:srgbClr val="1F2D3A"/>
                </a:solidFill>
              </a:rPr>
              <a:t> show that the obfuscated version passes the unit tests (the S16 link).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Through the Evaluator's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"I used a lot of transforms."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 rationale and a measurement for every transform.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Unmeasured obfuscation = a claim (week 12).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synthetic application has a </a:t>
            </a:r>
            <a:r>
              <a:rPr sz="2000" b="1">
                <a:solidFill>
                  <a:srgbClr val="1F2D3A"/>
                </a:solidFill>
              </a:rPr>
              <a:t>license check</a:t>
            </a:r>
            <a:r>
              <a:rPr sz="2000" b="0">
                <a:solidFill>
                  <a:srgbClr val="1F2D3A"/>
                </a:solidFill>
              </a:rPr>
              <a:t> and a </a:t>
            </a:r>
            <a:r>
              <a:rPr sz="2000" b="1">
                <a:solidFill>
                  <a:srgbClr val="1F2D3A"/>
                </a:solidFill>
              </a:rPr>
              <a:t>key derivation</a:t>
            </a:r>
            <a:r>
              <a:rPr sz="2000" b="0">
                <a:solidFill>
                  <a:srgbClr val="1F2D3A"/>
                </a:solidFill>
              </a:rPr>
              <a:t> function.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Should we heavily obfuscate both?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License check:</a:t>
            </a:r>
            <a:r>
              <a:rPr sz="2000" b="0">
                <a:solidFill>
                  <a:srgbClr val="1F2D3A"/>
                </a:solidFill>
              </a:rPr>
              <a:t> medium value → Pipeline B (Flatten + AddOpaque).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Key derivation:</a:t>
            </a:r>
            <a:r>
              <a:rPr sz="2000" b="0">
                <a:solidFill>
                  <a:srgbClr val="1F2D3A"/>
                </a:solidFill>
              </a:rPr>
              <a:t> high value → Pipeline B + </a:t>
            </a:r>
            <a:r>
              <a:rPr sz="2000" b="1">
                <a:solidFill>
                  <a:srgbClr val="1F2D3A"/>
                </a:solidFill>
              </a:rPr>
              <a:t>Virtualize</a:t>
            </a:r>
            <a:r>
              <a:rPr sz="2000" b="0">
                <a:solidFill>
                  <a:srgbClr val="1F2D3A"/>
                </a:solidFill>
              </a:rPr>
              <a:t> (acceptable cost because it's small).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rest: not obfuscated (unnecessary cost).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Diversification +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version, a different seed.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 pipeline: obfuscate → sign → build identity.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Unit tests + measurement automatic in CI.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S9/S15 Output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179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4157"/>
                <a:gridCol w="2359250"/>
                <a:gridCol w="2211797"/>
                <a:gridCol w="3686329"/>
              </a:tblGrid>
              <a:tr h="39319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Function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Pipeline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Size/Time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lisans_dogrula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+31% / 1.8×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medium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anahtar_turet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B+Virtualize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+60% / 3×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high value, small fn.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Case · Residual 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sufficiently determined attacker can still solve a single copy.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Mitigation: diversification + a short-lived key + server-side checking.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Written down explicitly.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 — Quick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Why is signing </a:t>
            </a:r>
            <a:r>
              <a:rPr sz="2000" b="1">
                <a:solidFill>
                  <a:srgbClr val="1F2D3A"/>
                </a:solidFill>
              </a:rPr>
              <a:t>after</a:t>
            </a:r>
            <a:r>
              <a:rPr sz="2000" b="0">
                <a:solidFill>
                  <a:srgbClr val="1F2D3A"/>
                </a:solidFill>
              </a:rPr>
              <a:t> obfuscation?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The rationale for the "sensitive functions only" rule?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The steps of the S15 pipeline?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Section 5 — Answers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540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The signature protects the </a:t>
            </a:r>
            <a:r>
              <a:rPr sz="2000" b="1">
                <a:solidFill>
                  <a:srgbClr val="1F2D3A"/>
                </a:solidFill>
              </a:rPr>
              <a:t>final binary</a:t>
            </a:r>
            <a:r>
              <a:rPr sz="2000" b="0">
                <a:solidFill>
                  <a:srgbClr val="1F2D3A"/>
                </a:solidFill>
              </a:rPr>
              <a:t>; if you sign first and obfuscate afterwards, the binary changes → the signature becomes invalid. Order: build → obfuscate → </a:t>
            </a:r>
            <a:r>
              <a:rPr sz="2000" b="1">
                <a:solidFill>
                  <a:srgbClr val="1F2D3A"/>
                </a:solidFill>
              </a:rPr>
              <a:t>sign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Obfuscating everything blows up performance/size and most code isn't sensitive; concentrate protection on </a:t>
            </a:r>
            <a:r>
              <a:rPr sz="2000" b="1">
                <a:solidFill>
                  <a:srgbClr val="1F2D3A"/>
                </a:solidFill>
              </a:rPr>
              <a:t>critical</a:t>
            </a:r>
            <a:r>
              <a:rPr sz="2000" b="0">
                <a:solidFill>
                  <a:srgbClr val="1F2D3A"/>
                </a:solidFill>
              </a:rPr>
              <a:t> functions → low cost, high impact.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Source → (static analysis) → build → </a:t>
            </a:r>
            <a:r>
              <a:rPr sz="2000" b="1">
                <a:solidFill>
                  <a:srgbClr val="1F2D3A"/>
                </a:solidFill>
              </a:rPr>
              <a:t>obfuscate</a:t>
            </a:r>
            <a:r>
              <a:rPr sz="2000" b="0">
                <a:solidFill>
                  <a:srgbClr val="1F2D3A"/>
                </a:solidFill>
              </a:rPr>
              <a:t> → diversify (seed) → package/SBOM → </a:t>
            </a:r>
            <a:r>
              <a:rPr sz="2000" b="1">
                <a:solidFill>
                  <a:srgbClr val="1F2D3A"/>
                </a:solidFill>
              </a:rPr>
              <a:t>sign</a:t>
            </a:r>
            <a:r>
              <a:rPr sz="2000" b="0">
                <a:solidFill>
                  <a:srgbClr val="1F2D3A"/>
                </a:solidFill>
              </a:rPr>
              <a:t> → deploy (all recorded in CI).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Week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Solved Self-Check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is source-to-source obfuscation? Three advantages over manual obfuscation?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tool takes C source and produces obfuscated C source. Advantages: preserves behaviour (error-resistant), the readable source stays with you, easy diversification via seed.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Tigress's place in the course; which license, why isn't it distributed in class?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automatic form of week 9's rules. Non-profit use is free, commercial needs an Arizona license. The source is closed → its binary is not distributed in class; students download it from the official site.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Map these transforms to week 9's rules: Flatten, EncodeArithmetic, EncodeLiterals, Virtualize, AddOpaque.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Flatten→K-04, EncodeArithmetic→K-02, EncodeLiterals→K-07/K-08, Virtualize→K-10, AddOpaque→K-01/K-03.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a transform pipeline stronger than a single transform? Why does order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Layers strengthen each other (week 9's "together"). Order affects the result and performance; some orders needlessly slow things down or give a weak result.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Which two things do you always do after every transform pipeline?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(1) Run the unit tests (was behaviour preserved?), (2) measure size/speed (cost).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Why is Virtualize applied only to small and critical functions?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Its cost is very high (tens of times slower, size). The benefit only justifies the cost for the most valuable, small functions.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How does the seed (`--Seed`) provide diversification? Difference in space/time?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A different seed → different opaque predicate/bogus branch/state. In space: different copies at the same time. In time: each version gets a new seed.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Does diversification prevent the strength of obfuscation, or its scalability?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It does not increase strength (one copy can still be cracked); it prevents </a:t>
            </a:r>
            <a:r>
              <a:rPr sz="2000" b="1">
                <a:solidFill>
                  <a:srgbClr val="1F2D3A"/>
                </a:solidFill>
              </a:rPr>
              <a:t>scalability</a:t>
            </a:r>
            <a:r>
              <a:rPr sz="2000" b="0">
                <a:solidFill>
                  <a:srgbClr val="1F2D3A"/>
                </a:solidFill>
              </a:rPr>
              <a:t> — one crack doesn't open every door.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main rule for the course from the Banescu et al. study?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Resilience is a measured quantity. Combining transforms forces symbolic execution exponentially; but cost also increases → </a:t>
            </a:r>
            <a:r>
              <a:rPr sz="2000" b="1">
                <a:solidFill>
                  <a:srgbClr val="1F2D3A"/>
                </a:solidFill>
              </a:rPr>
              <a:t>resilience ↔ cost trade-off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When putting obfuscation into the build pipeline, why does signing come after obfuscation?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The signature must cover the </a:t>
            </a:r>
            <a:r>
              <a:rPr sz="2000" b="1">
                <a:solidFill>
                  <a:srgbClr val="1F2D3A"/>
                </a:solidFill>
              </a:rPr>
              <a:t>final</a:t>
            </a:r>
            <a:r>
              <a:rPr sz="2000" b="0">
                <a:solidFill>
                  <a:srgbClr val="1F2D3A"/>
                </a:solidFill>
              </a:rPr>
              <a:t> distributed binary. It's obfuscated first, then signed; the build identity/hash stays consistent.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rationale for S15's "only sensitive functions are obfuscated" rule?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Obfuscating every function slows down/bloats the program a lot. It makes sense to take on the cost only for valuable functions.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Question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Write the common rule of weeks 9, 11, and 14 in one sentence.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Answer:</a:t>
            </a:r>
            <a:r>
              <a:rPr sz="2000" b="0">
                <a:solidFill>
                  <a:srgbClr val="1F2D3A"/>
                </a:solidFill>
              </a:rPr>
              <a:t> Protection provides not unbreakability but </a:t>
            </a:r>
            <a:r>
              <a:rPr sz="2000" b="1">
                <a:solidFill>
                  <a:srgbClr val="1F2D3A"/>
                </a:solidFill>
              </a:rPr>
              <a:t>delay</a:t>
            </a:r>
            <a:r>
              <a:rPr sz="2000" b="0">
                <a:solidFill>
                  <a:srgbClr val="1F2D3A"/>
                </a:solidFill>
              </a:rPr>
              <a:t>; its strength comes from </a:t>
            </a:r>
            <a:r>
              <a:rPr sz="2000" b="1">
                <a:solidFill>
                  <a:srgbClr val="1F2D3A"/>
                </a:solidFill>
              </a:rPr>
              <a:t>combining layers</a:t>
            </a:r>
            <a:r>
              <a:rPr sz="2000" b="0">
                <a:solidFill>
                  <a:srgbClr val="1F2D3A"/>
                </a:solidFill>
              </a:rPr>
              <a:t>, from </a:t>
            </a:r>
            <a:r>
              <a:rPr sz="2000" b="1">
                <a:solidFill>
                  <a:srgbClr val="1F2D3A"/>
                </a:solidFill>
              </a:rPr>
              <a:t>diversification</a:t>
            </a:r>
            <a:r>
              <a:rPr sz="2000" b="0">
                <a:solidFill>
                  <a:srgbClr val="1F2D3A"/>
                </a:solidFill>
              </a:rPr>
              <a:t>, and from being </a:t>
            </a:r>
            <a:r>
              <a:rPr sz="2000" b="1">
                <a:solidFill>
                  <a:srgbClr val="1F2D3A"/>
                </a:solidFill>
              </a:rPr>
              <a:t>measured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Closing · Three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9:</a:t>
            </a:r>
            <a:r>
              <a:rPr sz="2000" b="0">
                <a:solidFill>
                  <a:srgbClr val="1F2D3A"/>
                </a:solidFill>
              </a:rPr>
              <a:t> obfuscation rules (by hand)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11:</a:t>
            </a:r>
            <a:r>
              <a:rPr sz="2000" b="0">
                <a:solidFill>
                  <a:srgbClr val="1F2D3A"/>
                </a:solidFill>
              </a:rPr>
              <a:t> whitebox (key)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14:</a:t>
            </a:r>
            <a:r>
              <a:rPr sz="2000" b="0">
                <a:solidFill>
                  <a:srgbClr val="1F2D3A"/>
                </a:solidFill>
              </a:rPr>
              <a:t> automation + diversification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All one framework: cost + layers + measurement.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Common Mistakes —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06271"/>
                <a:gridCol w="610526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Mistake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Where It Was Covered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Obfuscating everything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 (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--Functions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), Section 2 (cost)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Obfuscating without tests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2 (order and testing rule)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Saying "strong" without measuring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 (measurement rule)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Skipping diversification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3 (Rule 2)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Signing before obfuscating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5 (Pipeline Rule 3)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Using an old/distributed Tigress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Section 1 (licence)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Glossary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7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0672"/>
                <a:gridCol w="7910862"/>
              </a:tblGrid>
              <a:tr h="34655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Term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Source-to-source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Obfuscation that takes C in and gives obfuscated C out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Transform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single obfuscation operation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The ordered whole of the transforms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655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Seed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 number that governs randomness (diversification)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65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Symbolic execution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Path-solving automated analysis (KLEE)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Transform Selection Guide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9456662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28331"/>
                <a:gridCol w="4728331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You Want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Transform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a string/constant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EncodeLiterals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a calculation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EncodeArithmetic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the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Flatten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 bogus/opaque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AddOpaque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Hide machine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Virtualize (expensive)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Diversify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--Seed, RandomFuns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4917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  <a:r>
              <a:rPr sz="1800" b="0">
                <a:solidFill>
                  <a:srgbClr val="A1123F"/>
                </a:solidFill>
                <a:latin typeface="Consolas"/>
              </a:rPr>
              <a:t>--Functions</a:t>
            </a:r>
            <a:r>
              <a:rPr sz="18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  <a:p>
            <a:pPr>
              <a:spcAft>
                <a:spcPts val="300"/>
              </a:spcAft>
            </a:pPr>
            <a:r>
              <a:rPr sz="1800" b="1">
                <a:solidFill>
                  <a:srgbClr val="006D77"/>
                </a:solidFill>
              </a:rPr>
              <a:t>• </a:t>
            </a:r>
            <a:r>
              <a:rPr sz="1800" b="0">
                <a:solidFill>
                  <a:srgbClr val="1F2D3A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25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Tigress</a:t>
            </a:r>
            <a:r>
              <a:rPr sz="2000" b="0">
                <a:solidFill>
                  <a:srgbClr val="1F2D3A"/>
                </a:solidFill>
              </a:rPr>
              <a:t> official site/worksheets (</a:t>
            </a:r>
            <a:r>
              <a:rPr sz="2000" b="0">
                <a:solidFill>
                  <a:srgbClr val="A1123F"/>
                </a:solidFill>
                <a:latin typeface="Consolas"/>
              </a:rPr>
              <a:t>tigress.wtf</a:t>
            </a:r>
            <a:r>
              <a:rPr sz="2000" b="0">
                <a:solidFill>
                  <a:srgbClr val="1F2D3A"/>
                </a:solidFill>
              </a:rPr>
              <a:t>) — transforms, syntax, v4, license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Collberg &amp; Nagra, </a:t>
            </a:r>
            <a:r>
              <a:rPr sz="2000" b="0" i="1">
                <a:solidFill>
                  <a:srgbClr val="1F2D3A"/>
                </a:solidFill>
              </a:rPr>
              <a:t>Surreptitious Software</a:t>
            </a:r>
            <a:r>
              <a:rPr sz="2000" b="0">
                <a:solidFill>
                  <a:srgbClr val="1F2D3A"/>
                </a:solidFill>
              </a:rPr>
              <a:t> — taxonomy, measurement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Banescu et al. — Tigress + KLEE resilience measurement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Obfuscator-LLVM — a compiler-based alternative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Summary: This Week in One Sentence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64920"/>
          </a:xfrm>
          <a:prstGeom prst="rect">
            <a:avLst/>
          </a:prstGeom>
          <a:solidFill>
            <a:srgbClr val="EEF7F8"/>
          </a:solidFill>
          <a:ln>
            <a:solidFill>
              <a:srgbClr val="006D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l"/>
            <a:r>
              <a:rPr sz="2000" b="0">
                <a:solidFill>
                  <a:srgbClr val="1F2D3A"/>
                </a:solidFill>
              </a:rPr>
              <a:t>Tigress applies week 9's obfuscation rules </a:t>
            </a:r>
            <a:r>
              <a:rPr sz="2000" b="1">
                <a:solidFill>
                  <a:srgbClr val="1F2D3A"/>
                </a:solidFill>
              </a:rPr>
              <a:t>automatically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diversified</a:t>
            </a:r>
            <a:r>
              <a:rPr sz="2000" b="0">
                <a:solidFill>
                  <a:srgbClr val="1F2D3A"/>
                </a:solidFill>
              </a:rPr>
              <a:t>; but the rule is the same: obfuscation is </a:t>
            </a:r>
            <a:r>
              <a:rPr sz="2000" b="1">
                <a:solidFill>
                  <a:srgbClr val="1F2D3A"/>
                </a:solidFill>
              </a:rPr>
              <a:t>not unbreakability but delay</a:t>
            </a:r>
            <a:r>
              <a:rPr sz="2000" b="0">
                <a:solidFill>
                  <a:srgbClr val="1F2D3A"/>
                </a:solidFill>
              </a:rPr>
              <a:t>; combine, diversify, </a:t>
            </a:r>
            <a:r>
              <a:rPr sz="2000" b="1">
                <a:solidFill>
                  <a:srgbClr val="1F2D3A"/>
                </a:solidFill>
              </a:rPr>
              <a:t>measure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0052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tool is powerful, but the </a:t>
            </a:r>
            <a:r>
              <a:rPr sz="2000" b="1">
                <a:solidFill>
                  <a:srgbClr val="1F2D3A"/>
                </a:solidFill>
              </a:rPr>
              <a:t>decision is yours</a:t>
            </a:r>
            <a:r>
              <a:rPr sz="2000" b="0">
                <a:solidFill>
                  <a:srgbClr val="1F2D3A"/>
                </a:solidFill>
              </a:rPr>
              <a:t>: what, why, at what cost are you obfuscating?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Week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Next Week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Week 15 — Final Project Demonstrations (RAP2)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The semester's content is complete. The final report is expected to include this week's </a:t>
            </a:r>
            <a:r>
              <a:rPr sz="2000" b="1">
                <a:solidFill>
                  <a:srgbClr val="1F2D3A"/>
                </a:solidFill>
              </a:rPr>
              <a:t>pipeline (S15)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measurements (S9)</a:t>
            </a:r>
            <a:r>
              <a:rPr sz="2000" b="0">
                <a:solidFill>
                  <a:srgbClr val="1F2D3A"/>
                </a:solidFill>
              </a:rPr>
              <a:t>. Week 16: Quiz-2.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Week 14 — Tigress and Diversification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