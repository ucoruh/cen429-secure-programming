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This week Tigress automates week 9's manual obfuscation rules using source-to-source obfuscation and diversification. Main rule: obfuscation does not grant unbreakability, it raises cost; combine transforms, diversify, measure. Tigress is applied only to your own code; it is not distributed in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This week we automate week 9's manual obfuscation rules with a tool (Tigress). The main message is the same: obfuscation does not grant unbreakability, it raises cost; combine, diversify, measure.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Next, transform families.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Transform names can change slightly with the version; verify against the official documentation. We tie the concept to week 9's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After the break, diversification and measurement.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Next, in-class flow, S15,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Students download Tigress themselves and apply it to their own small program. Purely defensive; protecting and measuring your own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Next, the build pipeline (S15) and the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Next, the solved self-check.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Have the students answer first, then reveal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Tigress and Diversification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Secure Programming — Week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Asst. Prof. Dr. Uğur CORUH · 18.12.2026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Today's Plan (3 Hours)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7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5806"/>
                <a:gridCol w="1176734"/>
                <a:gridCol w="8878994"/>
              </a:tblGrid>
              <a:tr h="67894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Hour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Section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Topic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Source-to-source obfuscation · Tigress · license · basic flow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Transform families · week 9 mapping · transform pipeline · step-by-step example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3–5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Diversification · measurement · in-class flow · build pipeline (S15) · project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 Brief History — Source-to-Source Obfuscation and Diversification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1993</a:t>
            </a:r>
            <a:r>
              <a:rPr sz="1800" b="0">
                <a:solidFill>
                  <a:srgbClr val="1F2D3A"/>
                </a:solidFill>
              </a:rPr>
              <a:t> — Cohen: the idea of </a:t>
            </a:r>
            <a:r>
              <a:rPr sz="1800" b="1">
                <a:solidFill>
                  <a:srgbClr val="1F2D3A"/>
                </a:solidFill>
              </a:rPr>
              <a:t>diversification</a:t>
            </a:r>
            <a:r>
              <a:rPr sz="1800" b="0">
                <a:solidFill>
                  <a:srgbClr val="1F2D3A"/>
                </a:solidFill>
              </a:rPr>
              <a:t> (same function, different binary)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1997</a:t>
            </a:r>
            <a:r>
              <a:rPr sz="1800" b="0">
                <a:solidFill>
                  <a:srgbClr val="1F2D3A"/>
                </a:solidFill>
              </a:rPr>
              <a:t> — Collberg et al.'s obfuscation taxonomy (the foundation of week 9)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2013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Obfuscator-LLVM</a:t>
            </a:r>
            <a:r>
              <a:rPr sz="1800" b="0">
                <a:solidFill>
                  <a:srgbClr val="1F2D3A"/>
                </a:solidFill>
              </a:rPr>
              <a:t>: compiler-based obfuscation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2010s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Tigress</a:t>
            </a:r>
            <a:r>
              <a:rPr sz="1800" b="0">
                <a:solidFill>
                  <a:srgbClr val="1F2D3A"/>
                </a:solidFill>
              </a:rPr>
              <a:t>: source-to-source + virtualisation + diversification for C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2016–17</a:t>
            </a:r>
            <a:r>
              <a:rPr sz="1800" b="0">
                <a:solidFill>
                  <a:srgbClr val="1F2D3A"/>
                </a:solidFill>
              </a:rPr>
              <a:t> — Banescu et al. </a:t>
            </a:r>
            <a:r>
              <a:rPr sz="1800" b="1">
                <a:solidFill>
                  <a:srgbClr val="1F2D3A"/>
                </a:solidFill>
              </a:rPr>
              <a:t>measure resilience</a:t>
            </a:r>
            <a:r>
              <a:rPr sz="1800" b="0">
                <a:solidFill>
                  <a:srgbClr val="1F2D3A"/>
                </a:solidFill>
              </a:rPr>
              <a:t> with Tigress+KLEE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241548"/>
            <a:ext cx="10911535" cy="86868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Main rule: </a:t>
            </a:r>
            <a:r>
              <a:rPr sz="1800" b="1">
                <a:solidFill>
                  <a:srgbClr val="1F2D3A"/>
                </a:solidFill>
              </a:rPr>
              <a:t>resilience ↔ cost</a:t>
            </a:r>
            <a:r>
              <a:rPr sz="1800" b="0">
                <a:solidFill>
                  <a:srgbClr val="1F2D3A"/>
                </a:solidFill>
              </a:rPr>
              <a:t>; protection is chosen in proportion to the value of the asset.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Where Does This Week Fit?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Week 9:</a:t>
            </a:r>
            <a:r>
              <a:rPr sz="2000" b="0">
                <a:solidFill>
                  <a:srgbClr val="1F2D3A"/>
                </a:solidFill>
              </a:rPr>
              <a:t> we learned obfuscation rules </a:t>
            </a:r>
            <a:r>
              <a:rPr sz="2000" b="1">
                <a:solidFill>
                  <a:srgbClr val="1F2D3A"/>
                </a:solidFill>
              </a:rPr>
              <a:t>by hand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Week 11:</a:t>
            </a:r>
            <a:r>
              <a:rPr sz="2000" b="0">
                <a:solidFill>
                  <a:srgbClr val="1F2D3A"/>
                </a:solidFill>
              </a:rPr>
              <a:t> whitebox for the key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This week (14):</a:t>
            </a:r>
            <a:r>
              <a:rPr sz="2000" b="0">
                <a:solidFill>
                  <a:srgbClr val="1F2D3A"/>
                </a:solidFill>
              </a:rPr>
              <a:t> applying the same rules </a:t>
            </a:r>
            <a:r>
              <a:rPr sz="2000" b="1">
                <a:solidFill>
                  <a:srgbClr val="1F2D3A"/>
                </a:solidFill>
              </a:rPr>
              <a:t>with a tool, automatically</a:t>
            </a:r>
            <a:r>
              <a:rPr sz="2000" b="0">
                <a:solidFill>
                  <a:srgbClr val="1F2D3A"/>
                </a:solidFill>
              </a:rPr>
              <a:t>, and </a:t>
            </a:r>
            <a:r>
              <a:rPr sz="2000" b="1">
                <a:solidFill>
                  <a:srgbClr val="1F2D3A"/>
                </a:solidFill>
              </a:rPr>
              <a:t>diversified</a:t>
            </a:r>
            <a:r>
              <a:rPr sz="2000" b="0">
                <a:solidFill>
                  <a:srgbClr val="1F2D3A"/>
                </a:solidFill>
              </a:rPr>
              <a:t> → Tigress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All three form a whole; today is the automation step.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Learning Outcome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This week is about </a:t>
            </a:r>
            <a:r>
              <a:rPr sz="2000" b="1">
                <a:solidFill>
                  <a:srgbClr val="1F2D3A"/>
                </a:solidFill>
              </a:rPr>
              <a:t>LO.3</a:t>
            </a:r>
            <a:r>
              <a:rPr sz="2000" b="0">
                <a:solidFill>
                  <a:srgbClr val="1F2D3A"/>
                </a:solidFill>
              </a:rPr>
              <a:t> (binary application protections).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By the end, you will be able to: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Explain source-to-source obfuscation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Describe how to set up a </a:t>
            </a:r>
            <a:r>
              <a:rPr sz="2000" b="1">
                <a:solidFill>
                  <a:srgbClr val="1F2D3A"/>
                </a:solidFill>
              </a:rPr>
              <a:t>transform pipeline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Diversify and measure</a:t>
            </a:r>
            <a:r>
              <a:rPr sz="2000" b="0">
                <a:solidFill>
                  <a:srgbClr val="1F2D3A"/>
                </a:solidFill>
              </a:rPr>
              <a:t> obfuscation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Put obfuscation into the </a:t>
            </a:r>
            <a:r>
              <a:rPr sz="2000" b="1">
                <a:solidFill>
                  <a:srgbClr val="1F2D3A"/>
                </a:solidFill>
              </a:rPr>
              <a:t>build pipeline</a:t>
            </a:r>
            <a:r>
              <a:rPr sz="2000" b="0">
                <a:solidFill>
                  <a:srgbClr val="1F2D3A"/>
                </a:solidFill>
              </a:rPr>
              <a:t> (S15)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 Reminder from the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Week 9's main rule still applies this week: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Obfuscation does not grant unbreakability, it raises </a:t>
            </a:r>
            <a:r>
              <a:rPr sz="2000" b="1">
                <a:solidFill>
                  <a:srgbClr val="1F2D3A"/>
                </a:solidFill>
              </a:rPr>
              <a:t>cost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8978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 is not </a:t>
            </a:r>
            <a:r>
              <a:rPr sz="2000" b="1">
                <a:solidFill>
                  <a:srgbClr val="1F2D3A"/>
                </a:solidFill>
              </a:rPr>
              <a:t>magic</a:t>
            </a:r>
            <a:r>
              <a:rPr sz="2000" b="0">
                <a:solidFill>
                  <a:srgbClr val="1F2D3A"/>
                </a:solidFill>
              </a:rPr>
              <a:t>; it automates what we did by hand and makes </a:t>
            </a:r>
            <a:r>
              <a:rPr sz="2000" b="1">
                <a:solidFill>
                  <a:srgbClr val="1F2D3A"/>
                </a:solidFill>
              </a:rPr>
              <a:t>diversification</a:t>
            </a:r>
            <a:r>
              <a:rPr sz="2000" b="0">
                <a:solidFill>
                  <a:srgbClr val="1F2D3A"/>
                </a:solidFill>
              </a:rPr>
              <a:t> easier.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What We Bring from Earlier Weeks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83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600" b="1">
                <a:solidFill>
                  <a:srgbClr val="006D77"/>
                </a:solidFill>
              </a:rPr>
              <a:t>• </a:t>
            </a:r>
            <a:r>
              <a:rPr sz="1600" b="1">
                <a:solidFill>
                  <a:srgbClr val="1F2D3A"/>
                </a:solidFill>
              </a:rPr>
              <a:t>Source code, compiler, binary</a:t>
            </a:r>
            <a:r>
              <a:rPr sz="1600" b="0">
                <a:solidFill>
                  <a:srgbClr val="1F2D3A"/>
                </a:solidFill>
              </a:rPr>
              <a:t> — a human-written program text turned into an executable binary by a compiler </a:t>
            </a:r>
            <a:r>
              <a:rPr sz="1600" b="1">
                <a:solidFill>
                  <a:srgbClr val="1F2D3A"/>
                </a:solidFill>
              </a:rPr>
              <a:t>(Week 9)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006D77"/>
                </a:solidFill>
              </a:rPr>
              <a:t>• </a:t>
            </a:r>
            <a:r>
              <a:rPr sz="1600" b="1">
                <a:solidFill>
                  <a:srgbClr val="1F2D3A"/>
                </a:solidFill>
              </a:rPr>
              <a:t>Code obfuscation</a:t>
            </a:r>
            <a:r>
              <a:rPr sz="1600" b="0">
                <a:solidFill>
                  <a:srgbClr val="1F2D3A"/>
                </a:solidFill>
              </a:rPr>
              <a:t> — a countermeasure that makes code hard for a human to understand without changing its behaviour, raising the attacker's cost </a:t>
            </a:r>
            <a:r>
              <a:rPr sz="1600" b="1">
                <a:solidFill>
                  <a:srgbClr val="1F2D3A"/>
                </a:solidFill>
              </a:rPr>
              <a:t>(Week 9)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006D77"/>
                </a:solidFill>
              </a:rPr>
              <a:t>• </a:t>
            </a:r>
            <a:r>
              <a:rPr sz="1600" b="1">
                <a:solidFill>
                  <a:srgbClr val="1F2D3A"/>
                </a:solidFill>
              </a:rPr>
              <a:t>Week 9's obfuscation rules (K-01–K-12)</a:t>
            </a:r>
            <a:r>
              <a:rPr sz="1600" b="0">
                <a:solidFill>
                  <a:srgbClr val="1F2D3A"/>
                </a:solidFill>
              </a:rPr>
              <a:t> — manually applied rules such as opaque predicates, arithmetic encoding, control-flow flattening, string encoding, variable splitting, virtualization; this week we map these one by one to Tigress's transforms </a:t>
            </a:r>
            <a:r>
              <a:rPr sz="1600" b="1">
                <a:solidFill>
                  <a:srgbClr val="1F2D3A"/>
                </a:solidFill>
              </a:rPr>
              <a:t>(Week 9)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006D77"/>
                </a:solidFill>
              </a:rPr>
              <a:t>• </a:t>
            </a:r>
            <a:r>
              <a:rPr sz="1600" b="1">
                <a:solidFill>
                  <a:srgbClr val="1F2D3A"/>
                </a:solidFill>
              </a:rPr>
              <a:t>CFG (control-flow graph)</a:t>
            </a:r>
            <a:r>
              <a:rPr sz="1600" b="0">
                <a:solidFill>
                  <a:srgbClr val="1F2D3A"/>
                </a:solidFill>
              </a:rPr>
              <a:t> — a diagram where basic blocks are nodes and transitions are edges </a:t>
            </a:r>
            <a:r>
              <a:rPr sz="1600" b="1">
                <a:solidFill>
                  <a:srgbClr val="1F2D3A"/>
                </a:solidFill>
              </a:rPr>
              <a:t>(Week 9)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006D77"/>
                </a:solidFill>
              </a:rPr>
              <a:t>• </a:t>
            </a:r>
            <a:r>
              <a:rPr sz="1600" b="1">
                <a:solidFill>
                  <a:srgbClr val="1F2D3A"/>
                </a:solidFill>
              </a:rPr>
              <a:t>Symbolic execution</a:t>
            </a:r>
            <a:r>
              <a:rPr sz="1600" b="0">
                <a:solidFill>
                  <a:srgbClr val="1F2D3A"/>
                </a:solidFill>
              </a:rPr>
              <a:t> — an automatic analysis method that solves program paths as mathematical constraints (e.g. KLEE) </a:t>
            </a:r>
            <a:r>
              <a:rPr sz="1600" b="1">
                <a:solidFill>
                  <a:srgbClr val="1F2D3A"/>
                </a:solidFill>
              </a:rPr>
              <a:t>(Week 9)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006D77"/>
                </a:solidFill>
              </a:rPr>
              <a:t>• </a:t>
            </a:r>
            <a:r>
              <a:rPr sz="1600" b="1">
                <a:solidFill>
                  <a:srgbClr val="1F2D3A"/>
                </a:solidFill>
              </a:rPr>
              <a:t>Diversification</a:t>
            </a:r>
            <a:r>
              <a:rPr sz="1600" b="0">
                <a:solidFill>
                  <a:srgbClr val="1F2D3A"/>
                </a:solidFill>
              </a:rPr>
              <a:t> — producing binaries that are behaviourally equivalent but structurally different from the same source; this week we automate it with Tigress's </a:t>
            </a:r>
            <a:r>
              <a:rPr sz="1600" b="0">
                <a:solidFill>
                  <a:srgbClr val="A1123F"/>
                </a:solidFill>
                <a:latin typeface="Consolas"/>
              </a:rPr>
              <a:t>--Seed</a:t>
            </a:r>
            <a:r>
              <a:rPr sz="1600" b="0">
                <a:solidFill>
                  <a:srgbClr val="1F2D3A"/>
                </a:solidFill>
              </a:rPr>
              <a:t> flag </a:t>
            </a:r>
            <a:r>
              <a:rPr sz="1600" b="1">
                <a:solidFill>
                  <a:srgbClr val="1F2D3A"/>
                </a:solidFill>
              </a:rPr>
              <a:t>(Week 9)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006D77"/>
                </a:solidFill>
              </a:rPr>
              <a:t>• </a:t>
            </a:r>
            <a:r>
              <a:rPr sz="1600" b="1">
                <a:solidFill>
                  <a:srgbClr val="1F2D3A"/>
                </a:solidFill>
              </a:rPr>
              <a:t>CI and build pipeline</a:t>
            </a:r>
            <a:r>
              <a:rPr sz="1600" b="0">
                <a:solidFill>
                  <a:srgbClr val="1F2D3A"/>
                </a:solidFill>
              </a:rPr>
              <a:t> — a system that runs automatic build/test steps on every code change </a:t>
            </a:r>
            <a:r>
              <a:rPr sz="1600" b="1">
                <a:solidFill>
                  <a:srgbClr val="1F2D3A"/>
                </a:solidFill>
              </a:rPr>
              <a:t>(Week 4)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006D77"/>
                </a:solidFill>
              </a:rPr>
              <a:t>• </a:t>
            </a:r>
            <a:r>
              <a:rPr sz="1600" b="1">
                <a:solidFill>
                  <a:srgbClr val="1F2D3A"/>
                </a:solidFill>
              </a:rPr>
              <a:t>Version identity and digest (hash) value</a:t>
            </a:r>
            <a:r>
              <a:rPr sz="1600" b="0">
                <a:solidFill>
                  <a:srgbClr val="1F2D3A"/>
                </a:solidFill>
              </a:rPr>
              <a:t> — a record showing which binary/source/digest triple a piece of software was distributed with; this week we add a seed field to it too </a:t>
            </a:r>
            <a:r>
              <a:rPr sz="1600" b="1">
                <a:solidFill>
                  <a:srgbClr val="1F2D3A"/>
                </a:solidFill>
              </a:rPr>
              <a:t>(Week 1)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This Week's Concepts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Each term is defined once, where it first appears in the body; here we only mark </a:t>
            </a:r>
            <a:r>
              <a:rPr sz="1800" b="1">
                <a:solidFill>
                  <a:srgbClr val="1F2D3A"/>
                </a:solidFill>
              </a:rPr>
              <a:t>where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911534" cy="3050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41396"/>
                <a:gridCol w="1970138"/>
              </a:tblGrid>
              <a:tr h="33893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Concept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Where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Source-to-source obfuscation, Tigress and its licence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Section 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Transform (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--Transform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) and targeting (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--Functions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Section 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Transform families and the week 9 mapping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Section 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Transform pipeline and the step-by-step cost increase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Section 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Diversification tool: seed (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--Seed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Section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Measuring obfuscation and diversification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Section 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The seven-step in-class flow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Section 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S15 build and deployment pipeline, term project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Section 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Source-to-Source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Input: C source. Output: </a:t>
            </a:r>
            <a:r>
              <a:rPr sz="2000" b="1">
                <a:solidFill>
                  <a:srgbClr val="1F2D3A"/>
                </a:solidFill>
              </a:rPr>
              <a:t>C source again</a:t>
            </a:r>
            <a:r>
              <a:rPr sz="2000" b="0">
                <a:solidFill>
                  <a:srgbClr val="1F2D3A"/>
                </a:solidFill>
              </a:rPr>
              <a:t> — but obfuscated.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It is then compiled with your normal compiler.</a:t>
            </a:r>
          </a:p>
        </p:txBody>
      </p:sp>
      <p:pic>
        <p:nvPicPr>
          <p:cNvPr id="8" name="Picture 7" descr="h14-01-kaynaktan-kaynaga-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278888"/>
            <a:ext cx="10911535" cy="204591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What Is a Transform?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Transform:</a:t>
            </a:r>
            <a:r>
              <a:rPr sz="2000" b="0">
                <a:solidFill>
                  <a:srgbClr val="1F2D3A"/>
                </a:solidFill>
              </a:rPr>
              <a:t> a single obfuscation operation applied to the source (e.g., flattening).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tool offers many transforms; you choose which one, and where.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Transform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Pipeline:</a:t>
            </a:r>
            <a:r>
              <a:rPr sz="2000" b="0">
                <a:solidFill>
                  <a:srgbClr val="1F2D3A"/>
                </a:solidFill>
              </a:rPr>
              <a:t> applying several transforms </a:t>
            </a:r>
            <a:r>
              <a:rPr sz="2000" b="1">
                <a:solidFill>
                  <a:srgbClr val="1F2D3A"/>
                </a:solidFill>
              </a:rPr>
              <a:t>in sequence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Each transform is applied to the output of the previous one.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Order matters.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What Is a Seed?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Seed:</a:t>
            </a:r>
            <a:r>
              <a:rPr sz="2000" b="0">
                <a:solidFill>
                  <a:srgbClr val="1F2D3A"/>
                </a:solidFill>
              </a:rPr>
              <a:t> a starting number that governs randomness.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Same transform + different seed = </a:t>
            </a:r>
            <a:r>
              <a:rPr sz="2000" b="1">
                <a:solidFill>
                  <a:srgbClr val="1F2D3A"/>
                </a:solidFill>
              </a:rPr>
              <a:t>different</a:t>
            </a:r>
            <a:r>
              <a:rPr sz="2000" b="0">
                <a:solidFill>
                  <a:srgbClr val="1F2D3A"/>
                </a:solidFill>
              </a:rPr>
              <a:t> obfuscated output.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This is the key to diversification.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What Is a CLI (Command Line)?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CLI (Command-Line Interface):</a:t>
            </a:r>
            <a:r>
              <a:rPr sz="2000" b="0">
                <a:solidFill>
                  <a:srgbClr val="1F2D3A"/>
                </a:solidFill>
              </a:rPr>
              <a:t> an interface where you run things by typing commands.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Tigress is a CLI tool: </a:t>
            </a:r>
            <a:r>
              <a:rPr sz="2000" b="0">
                <a:solidFill>
                  <a:srgbClr val="A1123F"/>
                </a:solidFill>
                <a:latin typeface="Consolas"/>
              </a:rPr>
              <a:t>tigress --Transform=... dosya.c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Unit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Unit test:</a:t>
            </a:r>
            <a:r>
              <a:rPr sz="2000" b="0">
                <a:solidFill>
                  <a:srgbClr val="1F2D3A"/>
                </a:solidFill>
              </a:rPr>
              <a:t> a small test that automatically checks that a function works correctly.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same tests must pass </a:t>
            </a:r>
            <a:r>
              <a:rPr sz="2000" b="1">
                <a:solidFill>
                  <a:srgbClr val="1F2D3A"/>
                </a:solidFill>
              </a:rPr>
              <a:t>after</a:t>
            </a:r>
            <a:r>
              <a:rPr sz="2000" b="0">
                <a:solidFill>
                  <a:srgbClr val="1F2D3A"/>
                </a:solidFill>
              </a:rPr>
              <a:t> obfuscation (behaviour must be preserved).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Source-to-Source Obfuscation and Tigress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Three Problems with Manual Obfuscation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In week 9 we applied the rules </a:t>
            </a:r>
            <a:r>
              <a:rPr sz="2000" b="1">
                <a:solidFill>
                  <a:srgbClr val="1F2D3A"/>
                </a:solidFill>
              </a:rPr>
              <a:t>by hand</a:t>
            </a:r>
            <a:r>
              <a:rPr sz="2000" b="0">
                <a:solidFill>
                  <a:srgbClr val="1F2D3A"/>
                </a:solidFill>
              </a:rPr>
              <a:t>. It was instructive, but: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Error-prone</a:t>
            </a:r>
            <a:r>
              <a:rPr sz="2000" b="0">
                <a:solidFill>
                  <a:srgbClr val="1F2D3A"/>
                </a:solidFill>
              </a:rPr>
              <a:t> — can break behaviour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Hard to maintain</a:t>
            </a:r>
            <a:r>
              <a:rPr sz="2000" b="0">
                <a:solidFill>
                  <a:srgbClr val="1F2D3A"/>
                </a:solidFill>
              </a:rPr>
              <a:t> — the source becomes unreadable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Cannot be diversified</a:t>
            </a:r>
            <a:r>
              <a:rPr sz="2000" b="0">
                <a:solidFill>
                  <a:srgbClr val="1F2D3A"/>
                </a:solidFill>
              </a:rPr>
              <a:t> — you cannot differentiate every copy by hand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The Solution: Let a Tool Do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Let a </a:t>
            </a:r>
            <a:r>
              <a:rPr sz="2000" b="1">
                <a:solidFill>
                  <a:srgbClr val="1F2D3A"/>
                </a:solidFill>
              </a:rPr>
              <a:t>tool</a:t>
            </a:r>
            <a:r>
              <a:rPr sz="2000" b="0">
                <a:solidFill>
                  <a:srgbClr val="1F2D3A"/>
                </a:solidFill>
              </a:rPr>
              <a:t> do the obfuscation.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You keep the </a:t>
            </a:r>
            <a:r>
              <a:rPr sz="2000" b="1">
                <a:solidFill>
                  <a:srgbClr val="1F2D3A"/>
                </a:solidFill>
              </a:rPr>
              <a:t>readable</a:t>
            </a:r>
            <a:r>
              <a:rPr sz="2000" b="0">
                <a:solidFill>
                  <a:srgbClr val="1F2D3A"/>
                </a:solidFill>
              </a:rPr>
              <a:t> source.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Obfuscation becomes an </a:t>
            </a:r>
            <a:r>
              <a:rPr sz="2000" b="1">
                <a:solidFill>
                  <a:srgbClr val="1F2D3A"/>
                </a:solidFill>
              </a:rPr>
              <a:t>automatic</a:t>
            </a:r>
            <a:r>
              <a:rPr sz="2000" b="0">
                <a:solidFill>
                  <a:srgbClr val="1F2D3A"/>
                </a:solidFill>
              </a:rPr>
              <a:t> step in the build pipeline.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The Source-to-Source Idea</a:t>
            </a:r>
          </a:p>
        </p:txBody>
      </p:sp>
      <p:pic>
        <p:nvPicPr>
          <p:cNvPr id="7" name="Picture 6" descr="h14-02-el-ile-vs-ar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6683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10392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The maintenance cost stays with the </a:t>
            </a:r>
            <a:r>
              <a:rPr sz="2000" b="1">
                <a:solidFill>
                  <a:srgbClr val="1F2D3A"/>
                </a:solidFill>
              </a:rPr>
              <a:t>readable source</a:t>
            </a:r>
            <a:r>
              <a:rPr sz="2000" b="0">
                <a:solidFill>
                  <a:srgbClr val="1F2D3A"/>
                </a:solidFill>
              </a:rPr>
              <a:t>; the distributed source is obfuscated.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Sequenced Transforms — Diagram</a:t>
            </a:r>
          </a:p>
        </p:txBody>
      </p:sp>
      <p:pic>
        <p:nvPicPr>
          <p:cNvPr id="7" name="Picture 6" descr="h14-04-donusum-hatt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46509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What Is Tigress?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</a:t>
            </a:r>
            <a:r>
              <a:rPr sz="2000" b="1">
                <a:solidFill>
                  <a:srgbClr val="1F2D3A"/>
                </a:solidFill>
              </a:rPr>
              <a:t>source-to-source C obfuscator/diversifier</a:t>
            </a:r>
            <a:r>
              <a:rPr sz="2000" b="0">
                <a:solidFill>
                  <a:srgbClr val="1F2D3A"/>
                </a:solidFill>
              </a:rPr>
              <a:t> developed by Collberg and his team at the University of Arizona.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</a:t>
            </a:r>
            <a:r>
              <a:rPr sz="2000" b="1">
                <a:solidFill>
                  <a:srgbClr val="1F2D3A"/>
                </a:solidFill>
              </a:rPr>
              <a:t>automatic</a:t>
            </a:r>
            <a:r>
              <a:rPr sz="2000" b="0">
                <a:solidFill>
                  <a:srgbClr val="1F2D3A"/>
                </a:solidFill>
              </a:rPr>
              <a:t> counterpart of week 9's manual rules.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Tigress ·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Cross-platform: Linux, macOS, Windows, Android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Architectures: Intel, ARM, WebAssembly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Compilers: GCC, Clang, MSVC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Current version: </a:t>
            </a:r>
            <a:r>
              <a:rPr sz="2000" b="1">
                <a:solidFill>
                  <a:srgbClr val="1F2D3A"/>
                </a:solidFill>
              </a:rPr>
              <a:t>v4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License (Important)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Non-profit</a:t>
            </a:r>
            <a:r>
              <a:rPr sz="2000" b="0">
                <a:solidFill>
                  <a:srgbClr val="1F2D3A"/>
                </a:solidFill>
              </a:rPr>
              <a:t> (academic/research) use: </a:t>
            </a:r>
            <a:r>
              <a:rPr sz="2000" b="1">
                <a:solidFill>
                  <a:srgbClr val="1F2D3A"/>
                </a:solidFill>
              </a:rPr>
              <a:t>free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Commercial</a:t>
            </a:r>
            <a:r>
              <a:rPr sz="2000" b="0">
                <a:solidFill>
                  <a:srgbClr val="1F2D3A"/>
                </a:solidFill>
              </a:rPr>
              <a:t> use: requires a </a:t>
            </a:r>
            <a:r>
              <a:rPr sz="2000" b="1">
                <a:solidFill>
                  <a:srgbClr val="1F2D3A"/>
                </a:solidFill>
              </a:rPr>
              <a:t>license</a:t>
            </a:r>
            <a:r>
              <a:rPr sz="2000" b="0">
                <a:solidFill>
                  <a:srgbClr val="1F2D3A"/>
                </a:solidFill>
              </a:rPr>
              <a:t> from the University of Arizona.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source code is not open; researchers may request access to an encrypted source.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Rule for Use in 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</a:t>
            </a:r>
            <a:r>
              <a:rPr sz="2000" b="1">
                <a:solidFill>
                  <a:srgbClr val="1F2D3A"/>
                </a:solidFill>
              </a:rPr>
              <a:t>Tigress binary or an old version is not distributed</a:t>
            </a:r>
            <a:r>
              <a:rPr sz="2000" b="0">
                <a:solidFill>
                  <a:srgbClr val="1F2D3A"/>
                </a:solidFill>
              </a:rPr>
              <a:t> in class.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Students download the current version themselves from the </a:t>
            </a:r>
            <a:r>
              <a:rPr sz="2000" b="1">
                <a:solidFill>
                  <a:srgbClr val="1F2D3A"/>
                </a:solidFill>
              </a:rPr>
              <a:t>official site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tigress.wtf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They verify the license terms </a:t>
            </a:r>
            <a:r>
              <a:rPr sz="2000" b="1">
                <a:solidFill>
                  <a:srgbClr val="1F2D3A"/>
                </a:solidFill>
              </a:rPr>
              <a:t>there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You apply it only to </a:t>
            </a:r>
            <a:r>
              <a:rPr sz="2000" b="1">
                <a:solidFill>
                  <a:srgbClr val="1F2D3A"/>
                </a:solidFill>
              </a:rPr>
              <a:t>your own</a:t>
            </a:r>
            <a:r>
              <a:rPr sz="2000" b="0">
                <a:solidFill>
                  <a:srgbClr val="1F2D3A"/>
                </a:solidFill>
              </a:rPr>
              <a:t> code, on </a:t>
            </a:r>
            <a:r>
              <a:rPr sz="2000" b="1">
                <a:solidFill>
                  <a:srgbClr val="1F2D3A"/>
                </a:solidFill>
              </a:rPr>
              <a:t>your own</a:t>
            </a:r>
            <a:r>
              <a:rPr sz="2000" b="0">
                <a:solidFill>
                  <a:srgbClr val="1F2D3A"/>
                </a:solidFill>
              </a:rPr>
              <a:t> machine.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Why a Tool, Not by Hand?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2770"/>
                <a:gridCol w="5888764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By Hand (Week 9)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With a Tool (Tigress)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Instructive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Scales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Error-prone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Preserves behaviour (tested)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Source becomes unreadable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Readable source stays with you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Why a Tool, Not by Hand?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65062"/>
                <a:gridCol w="4546472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By Hand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With a Tool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Diversification isn't feasible by hand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Automatic via seed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Uniform, recognisable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Varies with transform+seed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But a Tool Is Not Magic Either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Tigress also does </a:t>
            </a:r>
            <a:r>
              <a:rPr sz="2000" b="1">
                <a:solidFill>
                  <a:srgbClr val="1F2D3A"/>
                </a:solidFill>
              </a:rPr>
              <a:t>not</a:t>
            </a:r>
            <a:r>
              <a:rPr sz="2000" b="0">
                <a:solidFill>
                  <a:srgbClr val="1F2D3A"/>
                </a:solidFill>
              </a:rPr>
              <a:t> grant unbreakability, it raises cost.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patterns of a well-known tool can become recognisable over time.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That's why </a:t>
            </a:r>
            <a:r>
              <a:rPr sz="2000" b="1">
                <a:solidFill>
                  <a:srgbClr val="1F2D3A"/>
                </a:solidFill>
              </a:rPr>
              <a:t>diversification</a:t>
            </a:r>
            <a:r>
              <a:rPr sz="2000" b="0">
                <a:solidFill>
                  <a:srgbClr val="1F2D3A"/>
                </a:solidFill>
              </a:rPr>
              <a:t> and </a:t>
            </a:r>
            <a:r>
              <a:rPr sz="2000" b="1">
                <a:solidFill>
                  <a:srgbClr val="1F2D3A"/>
                </a:solidFill>
              </a:rPr>
              <a:t>layered defence</a:t>
            </a:r>
            <a:r>
              <a:rPr sz="2000" b="0">
                <a:solidFill>
                  <a:srgbClr val="1F2D3A"/>
                </a:solidFill>
              </a:rPr>
              <a:t> (RASP, server) are still essential.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Basic Flow · a Single Transform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girdi: temiz.c → çıktı: gizli.c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--Transform=Flatten --Functions=erisim_ver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--out=gizli.c temiz.c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cc -o program gizli.c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Basic Flow · Three Ideas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`--Transform=...`</a:t>
            </a:r>
            <a:r>
              <a:rPr sz="2000" b="0">
                <a:solidFill>
                  <a:srgbClr val="1F2D3A"/>
                </a:solidFill>
              </a:rPr>
              <a:t> which transform (Flatten = flattening, week 9 K-04)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`--Functions=...`</a:t>
            </a:r>
            <a:r>
              <a:rPr sz="2000" b="0">
                <a:solidFill>
                  <a:srgbClr val="1F2D3A"/>
                </a:solidFill>
              </a:rPr>
              <a:t> which functions (only the sensitive ones — the cost rule)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The output is C again; you compile it </a:t>
            </a:r>
            <a:r>
              <a:rPr sz="2000" b="1">
                <a:solidFill>
                  <a:srgbClr val="1F2D3A"/>
                </a:solidFill>
              </a:rPr>
              <a:t>with your own compiler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Why Do We Target with </a:t>
            </a:r>
            <a:r>
              <a:rPr sz="3000" b="1">
                <a:solidFill>
                  <a:srgbClr val="006D77"/>
                </a:solidFill>
                <a:latin typeface="Consolas"/>
              </a:rPr>
              <a:t>--Functions</a:t>
            </a:r>
            <a:r>
              <a:rPr sz="3000" b="1">
                <a:solidFill>
                  <a:srgbClr val="006D77"/>
                </a:solidFill>
              </a:rPr>
              <a:t>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If obfuscation is applied to every function, the program </a:t>
            </a:r>
            <a:r>
              <a:rPr sz="2000" b="1">
                <a:solidFill>
                  <a:srgbClr val="1F2D3A"/>
                </a:solidFill>
              </a:rPr>
              <a:t>slows down/bloats a lot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We target only sensitive functions (license, key derivation, integrity).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This is the tool's version of week 9's "cost rule."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"Should I Obfuscate This Function?"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Question 1:</a:t>
            </a:r>
            <a:r>
              <a:rPr sz="2000" b="0">
                <a:solidFill>
                  <a:srgbClr val="1F2D3A"/>
                </a:solidFill>
              </a:rPr>
              <a:t> Is this function sensitive? (license, key, integrity, check)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No</a:t>
            </a:r>
            <a:r>
              <a:rPr sz="2000" b="0">
                <a:solidFill>
                  <a:srgbClr val="1F2D3A"/>
                </a:solidFill>
              </a:rPr>
              <a:t> → don't obfuscate; don't waste the cost.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Yes</a:t>
            </a:r>
            <a:r>
              <a:rPr sz="2000" b="0">
                <a:solidFill>
                  <a:srgbClr val="1F2D3A"/>
                </a:solidFill>
              </a:rPr>
              <a:t> → continue.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"Should I Obfuscate This Function?"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Question 2:</a:t>
            </a:r>
            <a:r>
              <a:rPr sz="2000" b="0">
                <a:solidFill>
                  <a:srgbClr val="1F2D3A"/>
                </a:solidFill>
              </a:rPr>
              <a:t> Is its value high?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Medium</a:t>
            </a:r>
            <a:r>
              <a:rPr sz="2000" b="0">
                <a:solidFill>
                  <a:srgbClr val="1F2D3A"/>
                </a:solidFill>
              </a:rPr>
              <a:t> → EncodeLiterals + EncodeArithmetic + Flatten + AddOpaque.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High and small</a:t>
            </a:r>
            <a:r>
              <a:rPr sz="2000" b="0">
                <a:solidFill>
                  <a:srgbClr val="1F2D3A"/>
                </a:solidFill>
              </a:rPr>
              <a:t> → the above + Virtualize.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"Should I Obfuscate This Function?" —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Question 3:</a:t>
            </a:r>
            <a:r>
              <a:rPr sz="2000" b="0">
                <a:solidFill>
                  <a:srgbClr val="1F2D3A"/>
                </a:solidFill>
              </a:rPr>
              <a:t> In every case: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Diversify (seed)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Measure (size, time, blocks)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Verify behaviour with unit tests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Write it into S9/S15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Decision Flow · At a Glance</a:t>
            </a:r>
          </a:p>
        </p:txBody>
      </p:sp>
      <p:pic>
        <p:nvPicPr>
          <p:cNvPr id="7" name="Picture 6" descr="h14-09-karar-aki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5028" y="1325880"/>
            <a:ext cx="7261638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Section 1 — Quick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What is source-to-source obfuscation?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Three advantages over manual obfuscation?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Why isn't Tigress distributed in class?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Section 1 —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A transform is applied to the source code, producing </a:t>
            </a:r>
            <a:r>
              <a:rPr sz="2000" b="1">
                <a:solidFill>
                  <a:srgbClr val="1F2D3A"/>
                </a:solidFill>
              </a:rPr>
              <a:t>new source (still C)</a:t>
            </a:r>
            <a:r>
              <a:rPr sz="2000" b="0">
                <a:solidFill>
                  <a:srgbClr val="1F2D3A"/>
                </a:solidFill>
              </a:rPr>
              <a:t>, which is then compiled normally. Tigress takes C, gives obfuscated C.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Repeatable/automatic</a:t>
            </a:r>
            <a:r>
              <a:rPr sz="2000" b="0">
                <a:solidFill>
                  <a:srgbClr val="1F2D3A"/>
                </a:solidFill>
              </a:rPr>
              <a:t> (every build), </a:t>
            </a:r>
            <a:r>
              <a:rPr sz="2000" b="1">
                <a:solidFill>
                  <a:srgbClr val="1F2D3A"/>
                </a:solidFill>
              </a:rPr>
              <a:t>consistent and scalable</a:t>
            </a:r>
            <a:r>
              <a:rPr sz="2000" b="0">
                <a:solidFill>
                  <a:srgbClr val="1F2D3A"/>
                </a:solidFill>
              </a:rPr>
              <a:t> (many functions), the </a:t>
            </a:r>
            <a:r>
              <a:rPr sz="2000" b="1">
                <a:solidFill>
                  <a:srgbClr val="1F2D3A"/>
                </a:solidFill>
              </a:rPr>
              <a:t>original source stays clean</a:t>
            </a:r>
            <a:r>
              <a:rPr sz="2000" b="0">
                <a:solidFill>
                  <a:srgbClr val="1F2D3A"/>
                </a:solidFill>
              </a:rPr>
              <a:t> + diversification via seed.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License/terms of use</a:t>
            </a:r>
            <a:r>
              <a:rPr sz="2000" b="0">
                <a:solidFill>
                  <a:srgbClr val="1F2D3A"/>
                </a:solidFill>
              </a:rPr>
              <a:t>; everyone downloads it themselves. If Tigress isn't available, demos work with a </a:t>
            </a:r>
            <a:r>
              <a:rPr sz="2000" b="1">
                <a:solidFill>
                  <a:srgbClr val="1F2D3A"/>
                </a:solidFill>
              </a:rPr>
              <a:t>clean derivative/fallback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Transform Families and Pipeline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Transforms = Week 9's Rules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 transforms correspond to the obfuscation families </a:t>
            </a:r>
            <a:r>
              <a:rPr sz="2000" b="1">
                <a:solidFill>
                  <a:srgbClr val="1F2D3A"/>
                </a:solidFill>
              </a:rPr>
              <a:t>we saw in week 9</a:t>
            </a:r>
            <a:r>
              <a:rPr sz="2000" b="0">
                <a:solidFill>
                  <a:srgbClr val="1F2D3A"/>
                </a:solidFill>
              </a:rPr>
              <a:t> (K-01–K-12).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Let's look at them group by group; we'll tie each one to a K-rule.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Transform ↔ Rule Mapping — Diagram</a:t>
            </a:r>
          </a:p>
        </p:txBody>
      </p:sp>
      <p:pic>
        <p:nvPicPr>
          <p:cNvPr id="7" name="Picture 6" descr="h14-03-donusum-esle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6103" y="1325880"/>
            <a:ext cx="7599488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Control-Flow Transforms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Flatten:</a:t>
            </a:r>
            <a:r>
              <a:rPr sz="2000" b="0">
                <a:solidFill>
                  <a:srgbClr val="1F2D3A"/>
                </a:solidFill>
              </a:rPr>
              <a:t> flattens control flow → </a:t>
            </a:r>
            <a:r>
              <a:rPr sz="2000" b="1">
                <a:solidFill>
                  <a:srgbClr val="1F2D3A"/>
                </a:solidFill>
              </a:rPr>
              <a:t>K-04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InitOpaque / AddOpaque / UpdateOpaque:</a:t>
            </a:r>
            <a:r>
              <a:rPr sz="2000" b="0">
                <a:solidFill>
                  <a:srgbClr val="1F2D3A"/>
                </a:solidFill>
              </a:rPr>
              <a:t> opaque predicate + bogus branch → </a:t>
            </a:r>
            <a:r>
              <a:rPr sz="2000" b="1">
                <a:solidFill>
                  <a:srgbClr val="1F2D3A"/>
                </a:solidFill>
              </a:rPr>
              <a:t>K-01, K-03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Order: </a:t>
            </a:r>
            <a:r>
              <a:rPr sz="2000" b="1">
                <a:solidFill>
                  <a:srgbClr val="1F2D3A"/>
                </a:solidFill>
              </a:rPr>
              <a:t>InitOpaque</a:t>
            </a:r>
            <a:r>
              <a:rPr sz="2000" b="0">
                <a:solidFill>
                  <a:srgbClr val="1F2D3A"/>
                </a:solidFill>
              </a:rPr>
              <a:t> first, then </a:t>
            </a:r>
            <a:r>
              <a:rPr sz="2000" b="1">
                <a:solidFill>
                  <a:srgbClr val="1F2D3A"/>
                </a:solidFill>
              </a:rPr>
              <a:t>AddOpaque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Data Transforms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EncodeArithmetic:</a:t>
            </a:r>
            <a:r>
              <a:rPr sz="2000" b="0">
                <a:solidFill>
                  <a:srgbClr val="1F2D3A"/>
                </a:solidFill>
              </a:rPr>
              <a:t> arithmetic into an equivalent complex expression (MBA) → </a:t>
            </a:r>
            <a:r>
              <a:rPr sz="2000" b="1">
                <a:solidFill>
                  <a:srgbClr val="1F2D3A"/>
                </a:solidFill>
              </a:rPr>
              <a:t>K-02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EncodeLiterals:</a:t>
            </a:r>
            <a:r>
              <a:rPr sz="2000" b="0">
                <a:solidFill>
                  <a:srgbClr val="1F2D3A"/>
                </a:solidFill>
              </a:rPr>
              <a:t> encodes constants and strings (cheap, applied almost always) → </a:t>
            </a:r>
            <a:r>
              <a:rPr sz="2000" b="1">
                <a:solidFill>
                  <a:srgbClr val="1F2D3A"/>
                </a:solidFill>
              </a:rPr>
              <a:t>K-07, K-08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EncodeData:</a:t>
            </a:r>
            <a:r>
              <a:rPr sz="2000" b="0">
                <a:solidFill>
                  <a:srgbClr val="1F2D3A"/>
                </a:solidFill>
              </a:rPr>
              <a:t> encodes variable representation → </a:t>
            </a:r>
            <a:r>
              <a:rPr sz="2000" b="1">
                <a:solidFill>
                  <a:srgbClr val="1F2D3A"/>
                </a:solidFill>
              </a:rPr>
              <a:t>K-09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Function Transforms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Split / Merge:</a:t>
            </a:r>
            <a:r>
              <a:rPr sz="2000" b="0">
                <a:solidFill>
                  <a:srgbClr val="1F2D3A"/>
                </a:solidFill>
              </a:rPr>
              <a:t> splits/merges functions → </a:t>
            </a:r>
            <a:r>
              <a:rPr sz="2000" b="1">
                <a:solidFill>
                  <a:srgbClr val="1F2D3A"/>
                </a:solidFill>
              </a:rPr>
              <a:t>K-06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Virtualize:</a:t>
            </a:r>
            <a:r>
              <a:rPr sz="2000" b="0">
                <a:solidFill>
                  <a:srgbClr val="1F2D3A"/>
                </a:solidFill>
              </a:rPr>
              <a:t> turns the function into custom VM bytecode → </a:t>
            </a:r>
            <a:r>
              <a:rPr sz="2000" b="1">
                <a:solidFill>
                  <a:srgbClr val="1F2D3A"/>
                </a:solidFill>
              </a:rPr>
              <a:t>K-10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Jit:</a:t>
            </a:r>
            <a:r>
              <a:rPr sz="2000" b="0">
                <a:solidFill>
                  <a:srgbClr val="1F2D3A"/>
                </a:solidFill>
              </a:rPr>
              <a:t> generates code at run time; use carefully alongside OS protections → </a:t>
            </a:r>
            <a:r>
              <a:rPr sz="2000" b="1">
                <a:solidFill>
                  <a:srgbClr val="1F2D3A"/>
                </a:solidFill>
              </a:rPr>
              <a:t>K-12 (dynamic)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Anti-Analysis Transforms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AntiBranchAnalysis / AntiAliasAnalysis / AntiTaintAnalysis:</a:t>
            </a:r>
            <a:r>
              <a:rPr sz="2000" b="0">
                <a:solidFill>
                  <a:srgbClr val="1F2D3A"/>
                </a:solidFill>
              </a:rPr>
              <a:t> make static analysis techniques harder → preventive family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Diversification Transforms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RandomFuns:</a:t>
            </a:r>
            <a:r>
              <a:rPr sz="2000" b="0">
                <a:solidFill>
                  <a:srgbClr val="1F2D3A"/>
                </a:solidFill>
              </a:rPr>
              <a:t> random bogus functions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RndArgs:</a:t>
            </a:r>
            <a:r>
              <a:rPr sz="2000" b="0">
                <a:solidFill>
                  <a:srgbClr val="1F2D3A"/>
                </a:solidFill>
              </a:rPr>
              <a:t> bogus parameters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Combined with a seed, every build differs → diversification, </a:t>
            </a:r>
            <a:r>
              <a:rPr sz="2000" b="1">
                <a:solidFill>
                  <a:srgbClr val="1F2D3A"/>
                </a:solidFill>
              </a:rPr>
              <a:t>K-06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Diversification in Space/Time — Diagram</a:t>
            </a:r>
          </a:p>
        </p:txBody>
      </p:sp>
      <p:pic>
        <p:nvPicPr>
          <p:cNvPr id="7" name="Picture 6" descr="h14-05-cesitlendirme-turle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618494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Transform ↔ Rule · Table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1835"/>
                <a:gridCol w="4575805"/>
                <a:gridCol w="2463895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Tigress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What It Does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Week 9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Flatten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Flattening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AddOpaque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Opaque predicate/bogus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K-01, K-03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EncodeArithmetic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Arithmetic encoding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EncodeLiterals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Constant/string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K-07, K-08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Virtualize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Virtualisation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RandomFuns/RndArgs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Diversification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Families and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Cheap:</a:t>
            </a:r>
            <a:r>
              <a:rPr sz="2000" b="0">
                <a:solidFill>
                  <a:srgbClr val="1F2D3A"/>
                </a:solidFill>
              </a:rPr>
              <a:t> EncodeArithmetic, EncodeLiterals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Moderate:</a:t>
            </a:r>
            <a:r>
              <a:rPr sz="2000" b="0">
                <a:solidFill>
                  <a:srgbClr val="1F2D3A"/>
                </a:solidFill>
              </a:rPr>
              <a:t> Flatten, opaque predicates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Expensive:</a:t>
            </a:r>
            <a:r>
              <a:rPr sz="2000" b="0">
                <a:solidFill>
                  <a:srgbClr val="1F2D3A"/>
                </a:solidFill>
              </a:rPr>
              <a:t> Virtualize (tens of times slower)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That's why Virtualize is targeted only at </a:t>
            </a:r>
            <a:r>
              <a:rPr sz="2000" b="1">
                <a:solidFill>
                  <a:srgbClr val="1F2D3A"/>
                </a:solidFill>
              </a:rPr>
              <a:t>small, critical</a:t>
            </a:r>
            <a:r>
              <a:rPr sz="2000" b="0">
                <a:solidFill>
                  <a:srgbClr val="1F2D3A"/>
                </a:solidFill>
              </a:rPr>
              <a:t> functions; via </a:t>
            </a:r>
            <a:r>
              <a:rPr sz="2000" b="0">
                <a:solidFill>
                  <a:srgbClr val="A1123F"/>
                </a:solidFill>
                <a:latin typeface="Consolas"/>
              </a:rPr>
              <a:t>--Functions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Combining Transforms in Sequence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"Not One Technique, Together"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Week 9's most important rule.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In Tigress, this means applying transforms </a:t>
            </a:r>
            <a:r>
              <a:rPr sz="2000" b="1">
                <a:solidFill>
                  <a:srgbClr val="1F2D3A"/>
                </a:solidFill>
              </a:rPr>
              <a:t>in sequence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Conceptual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--Transform=EncodeLiterals   --Functions=erisim_ver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--Transform=EncodeArithmetic --Functions=erisim_ver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--Transform=Flatten          --Functions=erisim_ver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--Transform=AddOpaque        --Functions=erisim_ver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--out=gizli.c temiz.c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What Does the Pipeline Do?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The single check (</a:t>
            </a:r>
            <a:r>
              <a:rPr sz="2000" b="0">
                <a:solidFill>
                  <a:srgbClr val="A1123F"/>
                </a:solidFill>
                <a:latin typeface="Consolas"/>
              </a:rPr>
              <a:t>erisim_ver</a:t>
            </a:r>
            <a:r>
              <a:rPr sz="2000" b="0">
                <a:solidFill>
                  <a:srgbClr val="1F2D3A"/>
                </a:solidFill>
              </a:rPr>
              <a:t>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Encode constants/strings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Encode its arithmetic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Flatten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Strengthen with opaque predicates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803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= the automatic version of what week 9's K-04 called "strengthened flattening."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Order and Testing Rule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Transform order </a:t>
            </a:r>
            <a:r>
              <a:rPr sz="2000" b="1">
                <a:solidFill>
                  <a:srgbClr val="1F2D3A"/>
                </a:solidFill>
              </a:rPr>
              <a:t>affects</a:t>
            </a:r>
            <a:r>
              <a:rPr sz="2000" b="0">
                <a:solidFill>
                  <a:srgbClr val="1F2D3A"/>
                </a:solidFill>
              </a:rPr>
              <a:t> the result; some orders needlessly hurt performance.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Rule:</a:t>
            </a:r>
            <a:r>
              <a:rPr sz="2000" b="0">
                <a:solidFill>
                  <a:srgbClr val="1F2D3A"/>
                </a:solidFill>
              </a:rPr>
              <a:t> after every pipeline, run the </a:t>
            </a:r>
            <a:r>
              <a:rPr sz="2000" b="1">
                <a:solidFill>
                  <a:srgbClr val="1F2D3A"/>
                </a:solidFill>
              </a:rPr>
              <a:t>unit tests</a:t>
            </a:r>
            <a:r>
              <a:rPr sz="2000" b="0">
                <a:solidFill>
                  <a:srgbClr val="1F2D3A"/>
                </a:solidFill>
              </a:rPr>
              <a:t> (was behaviour preserved?) and measure size/speed.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Obfuscation must </a:t>
            </a:r>
            <a:r>
              <a:rPr sz="2000" b="1">
                <a:solidFill>
                  <a:srgbClr val="1F2D3A"/>
                </a:solidFill>
              </a:rPr>
              <a:t>never</a:t>
            </a:r>
            <a:r>
              <a:rPr sz="2000" b="0">
                <a:solidFill>
                  <a:srgbClr val="1F2D3A"/>
                </a:solidFill>
              </a:rPr>
              <a:t> change behaviour; if it does, the pipeline is wrong.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This connects to week 12's "S16 results."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Step-by-Step Example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Step-by-Step Strengthening — Diagram</a:t>
            </a:r>
          </a:p>
        </p:txBody>
      </p:sp>
      <p:pic>
        <p:nvPicPr>
          <p:cNvPr id="7" name="Picture 6" descr="h14-11-adim-adim-guclendir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2587" y="1325880"/>
            <a:ext cx="10046521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Starting Point · temiz.c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erisim_ver(const char *jeton)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(jeton_gecerli(jeton)) return IZIN;  /* tek dal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RED;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Unprotected: a single branch, bypassed with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and a single-byte patch.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 0 · The Attacker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IZIN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RED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Reverse-compile → a single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Turn the failure branch into success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Time: minutes.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Layer by Layer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617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714"/>
                <a:gridCol w="3418071"/>
                <a:gridCol w="4864178"/>
                <a:gridCol w="1577571"/>
              </a:tblGrid>
              <a:tr h="373858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Transform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What Changes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Cost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Bypassed with a single-byte patch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EncodeLiterals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IZIN/RED no longer plain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Very low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EncodeArithmetic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Comparison complex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Flatten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Single branch not visible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Moderate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AddOpaque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Bogus branches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Moderate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6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Virtualize (if needed)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VM bytecode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Takeaway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step makes the attack a bit more </a:t>
            </a:r>
            <a:r>
              <a:rPr sz="2000" b="1">
                <a:solidFill>
                  <a:srgbClr val="1F2D3A"/>
                </a:solidFill>
              </a:rPr>
              <a:t>expensive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step adds a </a:t>
            </a:r>
            <a:r>
              <a:rPr sz="2000" b="1">
                <a:solidFill>
                  <a:srgbClr val="1F2D3A"/>
                </a:solidFill>
              </a:rPr>
              <a:t>cost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Where you stop: </a:t>
            </a:r>
            <a:r>
              <a:rPr sz="2000" b="1">
                <a:solidFill>
                  <a:srgbClr val="1F2D3A"/>
                </a:solidFill>
              </a:rPr>
              <a:t>asset value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the cost you measured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Step 5 (Virtualize) is unnecessary for most checks.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This Table → S9 Itself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This "step / transform / what changes / cost" 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is the direct counterpart of your project's </a:t>
            </a:r>
            <a:r>
              <a:rPr sz="2000" b="1">
                <a:solidFill>
                  <a:srgbClr val="1F2D3A"/>
                </a:solidFill>
              </a:rPr>
              <a:t>S9 protection table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O-LLVM (Compiler-Based)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Obfuscator-LLVM:</a:t>
            </a:r>
            <a:r>
              <a:rPr sz="2000" b="0">
                <a:solidFill>
                  <a:srgbClr val="1F2D3A"/>
                </a:solidFill>
              </a:rPr>
              <a:t> applies transforms </a:t>
            </a:r>
            <a:r>
              <a:rPr sz="2000" b="1">
                <a:solidFill>
                  <a:srgbClr val="1F2D3A"/>
                </a:solidFill>
              </a:rPr>
              <a:t>at compile time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Not source-to-source; on top of the LLVM intermediate representation.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Week 9 K-11. An alternative to Tigress.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Tigress or O-LLVM?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8602"/>
                <a:gridCol w="5312194"/>
                <a:gridCol w="2440738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Tigress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O-LLVM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Where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Source (C→C)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Compiler (IR)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Visibility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You can see the obfuscated source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 build step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Transform richness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Many (including Virtualize)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More limited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Shared Limit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Both are well known → their patterns can become recognisable.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Both require </a:t>
            </a:r>
            <a:r>
              <a:rPr sz="2000" b="1">
                <a:solidFill>
                  <a:srgbClr val="1F2D3A"/>
                </a:solidFill>
              </a:rPr>
              <a:t>diversification</a:t>
            </a:r>
            <a:r>
              <a:rPr sz="2000" b="0">
                <a:solidFill>
                  <a:srgbClr val="1F2D3A"/>
                </a:solidFill>
              </a:rPr>
              <a:t> and </a:t>
            </a:r>
            <a:r>
              <a:rPr sz="2000" b="1">
                <a:solidFill>
                  <a:srgbClr val="1F2D3A"/>
                </a:solidFill>
              </a:rPr>
              <a:t>layered defence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Neither one grants unbreakability.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Section 2 — Quick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Which K-rules do Flatten, EncodeArithmetic, Virtualize correspond to?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Why do you target with </a:t>
            </a:r>
            <a:r>
              <a:rPr sz="2000" b="0">
                <a:solidFill>
                  <a:srgbClr val="A1123F"/>
                </a:solidFill>
                <a:latin typeface="Consolas"/>
              </a:rPr>
              <a:t>--Functions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Two things you </a:t>
            </a:r>
            <a:r>
              <a:rPr sz="2000" b="1">
                <a:solidFill>
                  <a:srgbClr val="1F2D3A"/>
                </a:solidFill>
              </a:rPr>
              <a:t>must always</a:t>
            </a:r>
            <a:r>
              <a:rPr sz="2000" b="0">
                <a:solidFill>
                  <a:srgbClr val="1F2D3A"/>
                </a:solidFill>
              </a:rPr>
              <a:t> do after every pipeline?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Section 2 —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Flatten</a:t>
            </a:r>
            <a:r>
              <a:rPr sz="2000" b="0">
                <a:solidFill>
                  <a:srgbClr val="1F2D3A"/>
                </a:solidFill>
              </a:rPr>
              <a:t> = control-flow flattening; </a:t>
            </a:r>
            <a:r>
              <a:rPr sz="2000" b="1">
                <a:solidFill>
                  <a:srgbClr val="1F2D3A"/>
                </a:solidFill>
              </a:rPr>
              <a:t>EncodeArithmetic</a:t>
            </a:r>
            <a:r>
              <a:rPr sz="2000" b="0">
                <a:solidFill>
                  <a:srgbClr val="1F2D3A"/>
                </a:solidFill>
              </a:rPr>
              <a:t> = arithmetic/data obfuscation; </a:t>
            </a:r>
            <a:r>
              <a:rPr sz="2000" b="1">
                <a:solidFill>
                  <a:srgbClr val="1F2D3A"/>
                </a:solidFill>
              </a:rPr>
              <a:t>Virtualize</a:t>
            </a:r>
            <a:r>
              <a:rPr sz="2000" b="0">
                <a:solidFill>
                  <a:srgbClr val="1F2D3A"/>
                </a:solidFill>
              </a:rPr>
              <a:t> = virtualisation (strongest, most expensive).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Obfuscating every function </a:t>
            </a:r>
            <a:r>
              <a:rPr sz="2000" b="1">
                <a:solidFill>
                  <a:srgbClr val="1F2D3A"/>
                </a:solidFill>
              </a:rPr>
              <a:t>blows up</a:t>
            </a:r>
            <a:r>
              <a:rPr sz="2000" b="0">
                <a:solidFill>
                  <a:srgbClr val="1F2D3A"/>
                </a:solidFill>
              </a:rPr>
              <a:t> cost/performance; targeting only </a:t>
            </a:r>
            <a:r>
              <a:rPr sz="2000" b="1">
                <a:solidFill>
                  <a:srgbClr val="1F2D3A"/>
                </a:solidFill>
              </a:rPr>
              <a:t>sensitive</a:t>
            </a:r>
            <a:r>
              <a:rPr sz="2000" b="0">
                <a:solidFill>
                  <a:srgbClr val="1F2D3A"/>
                </a:solidFill>
              </a:rPr>
              <a:t> functions concentrates resilience there.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(1) </a:t>
            </a:r>
            <a:r>
              <a:rPr sz="2000" b="1">
                <a:solidFill>
                  <a:srgbClr val="1F2D3A"/>
                </a:solidFill>
              </a:rPr>
              <a:t>Test behaviour</a:t>
            </a:r>
            <a:r>
              <a:rPr sz="2000" b="0">
                <a:solidFill>
                  <a:srgbClr val="1F2D3A"/>
                </a:solidFill>
              </a:rPr>
              <a:t> (unit tests must pass), (2) </a:t>
            </a:r>
            <a:r>
              <a:rPr sz="2000" b="1">
                <a:solidFill>
                  <a:srgbClr val="1F2D3A"/>
                </a:solidFill>
              </a:rPr>
              <a:t>measure cost</a:t>
            </a:r>
            <a:r>
              <a:rPr sz="2000" b="0">
                <a:solidFill>
                  <a:srgbClr val="1F2D3A"/>
                </a:solidFill>
              </a:rPr>
              <a:t> (size/speed/instruction count, before-after).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Diversification and Measurement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Recall Rule 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An attack that works on one copy should not work on all copies.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If an attacker can crack one copy and distribute the patch to </a:t>
            </a:r>
            <a:r>
              <a:rPr sz="2000" b="1">
                <a:solidFill>
                  <a:srgbClr val="1F2D3A"/>
                </a:solidFill>
              </a:rPr>
              <a:t>everyone</a:t>
            </a:r>
            <a:r>
              <a:rPr sz="2000" b="0">
                <a:solidFill>
                  <a:srgbClr val="1F2D3A"/>
                </a:solidFill>
              </a:rPr>
              <a:t>, one crack opens every door.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What Is Diversification?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Behaviourally equivalent, structurally different</a:t>
            </a:r>
            <a:r>
              <a:rPr sz="2000" b="0">
                <a:solidFill>
                  <a:srgbClr val="1F2D3A"/>
                </a:solidFill>
              </a:rPr>
              <a:t> binaries from the same source.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 does this with a </a:t>
            </a:r>
            <a:r>
              <a:rPr sz="2000" b="1">
                <a:solidFill>
                  <a:srgbClr val="1F2D3A"/>
                </a:solidFill>
              </a:rPr>
              <a:t>seed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Same transforms + a different seed → opaque predicates, bogus branches, state values </a:t>
            </a:r>
            <a:r>
              <a:rPr sz="2000" b="1">
                <a:solidFill>
                  <a:srgbClr val="1F2D3A"/>
                </a:solidFill>
              </a:rPr>
              <a:t>change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Two Seeds, Two Different Binaries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--Seed=1001 --Transform=Flatten --Transform=AddOpaque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--Functions=erisim_ver --out=gizli_a.c temiz.c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--Seed=2002 --Transform=Flatten --Transform=AddOpaque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--Functions=erisim_ver --out=gizli_b.c temiz.c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gizli_a</a:t>
            </a:r>
            <a:r>
              <a:rPr sz="2000" b="0">
                <a:solidFill>
                  <a:srgbClr val="1F2D3A"/>
                </a:solidFill>
              </a:rPr>
              <a:t> and </a:t>
            </a:r>
            <a:r>
              <a:rPr sz="2000" b="0">
                <a:solidFill>
                  <a:srgbClr val="A1123F"/>
                </a:solidFill>
                <a:latin typeface="Consolas"/>
              </a:rPr>
              <a:t>gizli_b</a:t>
            </a:r>
            <a:r>
              <a:rPr sz="2000" b="0">
                <a:solidFill>
                  <a:srgbClr val="1F2D3A"/>
                </a:solidFill>
              </a:rPr>
              <a:t> do the same job; their machine code is </a:t>
            </a:r>
            <a:r>
              <a:rPr sz="2000" b="1">
                <a:solidFill>
                  <a:srgbClr val="1F2D3A"/>
                </a:solidFill>
              </a:rPr>
              <a:t>different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Two Types of Diversification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03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In space:</a:t>
            </a:r>
            <a:r>
              <a:rPr sz="2000" b="0">
                <a:solidFill>
                  <a:srgbClr val="1F2D3A"/>
                </a:solidFill>
              </a:rPr>
              <a:t> a differently seeded copy for each user/device → one copy's attack doesn't work on another.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In time:</a:t>
            </a:r>
            <a:r>
              <a:rPr sz="2000" b="0">
                <a:solidFill>
                  <a:srgbClr val="1F2D3A"/>
                </a:solidFill>
              </a:rPr>
              <a:t> each version gets a new seed → an old attack breaks on the new version.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392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Works together with week 10's key/version renewal.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What Does Diversification Prevent?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It does not increase the </a:t>
            </a:r>
            <a:r>
              <a:rPr sz="2000" b="1">
                <a:solidFill>
                  <a:srgbClr val="1F2D3A"/>
                </a:solidFill>
              </a:rPr>
              <a:t>strength</a:t>
            </a:r>
            <a:r>
              <a:rPr sz="2000" b="0">
                <a:solidFill>
                  <a:srgbClr val="1F2D3A"/>
                </a:solidFill>
              </a:rPr>
              <a:t> of obfuscation (cracking one copy is still possible).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But it prevents it from </a:t>
            </a:r>
            <a:r>
              <a:rPr sz="2000" b="1">
                <a:solidFill>
                  <a:srgbClr val="1F2D3A"/>
                </a:solidFill>
              </a:rPr>
              <a:t>scaling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RandomFuns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RndArgs</a:t>
            </a:r>
            <a:r>
              <a:rPr sz="2000" b="0">
                <a:solidFill>
                  <a:srgbClr val="1F2D3A"/>
                </a:solidFill>
              </a:rPr>
              <a:t> also change structure when combined with a seed.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Diversification Effectiveness · Metric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Compile the same source with two seeds.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Measure the </a:t>
            </a:r>
            <a:r>
              <a:rPr sz="2000" b="1">
                <a:solidFill>
                  <a:srgbClr val="1F2D3A"/>
                </a:solidFill>
              </a:rPr>
              <a:t>byte difference</a:t>
            </a:r>
            <a:r>
              <a:rPr sz="2000" b="0">
                <a:solidFill>
                  <a:srgbClr val="1F2D3A"/>
                </a:solidFill>
              </a:rPr>
              <a:t> of the protected functions.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higher the difference, the lower the chance that one attack works on the other.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Write the metric into S9.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Measuring Obfuscation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Tigress's Teaching 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In week 9 we learned to measure obfuscation on four dimensions (potency, resilience, stealth, cost).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 lets you make these measurements </a:t>
            </a:r>
            <a:r>
              <a:rPr sz="2000" b="1">
                <a:solidFill>
                  <a:srgbClr val="1F2D3A"/>
                </a:solidFill>
              </a:rPr>
              <a:t>concrete</a:t>
            </a:r>
            <a:r>
              <a:rPr sz="2000" b="0">
                <a:solidFill>
                  <a:srgbClr val="1F2D3A"/>
                </a:solidFill>
              </a:rPr>
              <a:t>: obfuscate the same program, measure before/after.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Cost Measurement (Easy, Mandatory)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Measure for every pipeline and write it into S9/S15: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10365957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7092497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How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Binary size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size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/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ls -l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Running time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Same input, N times, average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CFG complexity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Basic block count in the decompiler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Cost Measurement · Command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 ./program_temiz ./program_gizli   # boyut farkı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süre: aynı girdiyle N kez çalıştır, ortalamayı karşılaştır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Simple, but it produces </a:t>
            </a:r>
            <a:r>
              <a:rPr sz="2000" b="1">
                <a:solidFill>
                  <a:srgbClr val="1F2D3A"/>
                </a:solidFill>
              </a:rPr>
              <a:t>evidence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Cost · Example Table (Pipeline A and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Pipeline A:</a:t>
            </a:r>
            <a:r>
              <a:rPr sz="1800" b="0">
                <a:solidFill>
                  <a:srgbClr val="1F2D3A"/>
                </a:solidFill>
              </a:rPr>
              <a:t> EncodeLiterals + EncodeArithmetic (light) · </a:t>
            </a:r>
            <a:r>
              <a:rPr sz="1800" b="1">
                <a:solidFill>
                  <a:srgbClr val="1F2D3A"/>
                </a:solidFill>
              </a:rPr>
              <a:t>Pipeline B:</a:t>
            </a:r>
            <a:r>
              <a:rPr sz="1800" b="0">
                <a:solidFill>
                  <a:srgbClr val="1F2D3A"/>
                </a:solidFill>
              </a:rPr>
              <a:t> Pipeline A + Flatten + AddOpaque (heavy)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139696"/>
          <a:ext cx="1091153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185"/>
                <a:gridCol w="1788776"/>
                <a:gridCol w="2504286"/>
                <a:gridCol w="2504286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Clean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Pipeline 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Pipeline B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Size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100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103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131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Time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1.00×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1.05×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1.80×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Blocks (target fn.)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Sensitive strings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005072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The figures are an example; you write </a:t>
            </a:r>
            <a:r>
              <a:rPr sz="1800" b="1">
                <a:solidFill>
                  <a:srgbClr val="1F2D3A"/>
                </a:solidFill>
              </a:rPr>
              <a:t>your own</a:t>
            </a:r>
            <a:r>
              <a:rPr sz="1800" b="0">
                <a:solidFill>
                  <a:srgbClr val="1F2D3A"/>
                </a:solidFill>
              </a:rPr>
              <a:t> measurements.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Cost · Raw Measurement Output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program_temiz: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boyut: 100 KB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işlem süresi: 1.00× (referans)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erisim_ver temel blok: 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90241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boyut: 103 KB   (+%3)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süre:  1.05×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blok:  7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strings hassas dize: 0  (öncesi 3)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454602"/>
            <a:ext cx="10911535" cy="78455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boyut: 131 KB   (+%31)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süre:  1.80×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blok:  40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Resilience Measurement (Advanced, Concept)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Resilience = resistance to an automated tool (symbolic execution).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Week 9: "not a claim, a measured quantity."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Tigress is at the </a:t>
            </a:r>
            <a:r>
              <a:rPr sz="2000" b="1">
                <a:solidFill>
                  <a:srgbClr val="1F2D3A"/>
                </a:solidFill>
              </a:rPr>
              <a:t>centre</a:t>
            </a:r>
            <a:r>
              <a:rPr sz="2000" b="0">
                <a:solidFill>
                  <a:srgbClr val="1F2D3A"/>
                </a:solidFill>
              </a:rPr>
              <a:t> of this research.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Banescu et al. · Tigress + KLEE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 study measuring how much Tigress transforms resist </a:t>
            </a:r>
            <a:r>
              <a:rPr sz="2000" b="1">
                <a:solidFill>
                  <a:srgbClr val="1F2D3A"/>
                </a:solidFill>
              </a:rPr>
              <a:t>symbolic execution</a:t>
            </a:r>
            <a:r>
              <a:rPr sz="2000" b="0">
                <a:solidFill>
                  <a:srgbClr val="1F2D3A"/>
                </a:solidFill>
              </a:rPr>
              <a:t>. Findings: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single transform (Flatten alone) → usually unwound.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Combining</a:t>
            </a:r>
            <a:r>
              <a:rPr sz="2000" b="0">
                <a:solidFill>
                  <a:srgbClr val="1F2D3A"/>
                </a:solidFill>
              </a:rPr>
              <a:t> transforms + growing the state space → forces the solver </a:t>
            </a:r>
            <a:r>
              <a:rPr sz="2000" b="1">
                <a:solidFill>
                  <a:srgbClr val="1F2D3A"/>
                </a:solidFill>
              </a:rPr>
              <a:t>exponentially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But </a:t>
            </a:r>
            <a:r>
              <a:rPr sz="2000" b="1">
                <a:solidFill>
                  <a:srgbClr val="1F2D3A"/>
                </a:solidFill>
              </a:rPr>
              <a:t>cost</a:t>
            </a:r>
            <a:r>
              <a:rPr sz="2000" b="0">
                <a:solidFill>
                  <a:srgbClr val="1F2D3A"/>
                </a:solidFill>
              </a:rPr>
              <a:t> also increases.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Resilience ↔ Cost — Diagram</a:t>
            </a:r>
          </a:p>
        </p:txBody>
      </p:sp>
      <p:pic>
        <p:nvPicPr>
          <p:cNvPr id="7" name="Picture 6" descr="h14-08-dayaniklilik-maliy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581125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Takeaway for the Course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Resilience and cost are a </a:t>
            </a:r>
            <a:r>
              <a:rPr sz="2000" b="1">
                <a:solidFill>
                  <a:srgbClr val="1F2D3A"/>
                </a:solidFill>
              </a:rPr>
              <a:t>trade-off</a:t>
            </a:r>
            <a:r>
              <a:rPr sz="2000" b="0">
                <a:solidFill>
                  <a:srgbClr val="1F2D3A"/>
                </a:solidFill>
              </a:rPr>
              <a:t> (like week 9).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Don't say "strong"; say </a:t>
            </a:r>
            <a:r>
              <a:rPr sz="2000" b="1">
                <a:solidFill>
                  <a:srgbClr val="1F2D3A"/>
                </a:solidFill>
              </a:rPr>
              <a:t>"it didn't let this tool solve a problem of this size within this time."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Measurement Rule (S9/S15)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Defend an obfuscation decision with measurements: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"The Flatten + AddOpaque pipeline grew the size by 30%, slowed the process by 1.8×; the target function's basic block count grew 8-fold."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199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Unmeasured obfuscation = a </a:t>
            </a:r>
            <a:r>
              <a:rPr sz="2000" b="1">
                <a:solidFill>
                  <a:srgbClr val="1F2D3A"/>
                </a:solidFill>
              </a:rPr>
              <a:t>claim</a:t>
            </a:r>
            <a:r>
              <a:rPr sz="2000" b="0">
                <a:solidFill>
                  <a:srgbClr val="1F2D3A"/>
                </a:solidFill>
              </a:rPr>
              <a:t> for the evaluator (week 12).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Asset value </a:t>
            </a:r>
            <a:r>
              <a:rPr sz="2000" b="1">
                <a:solidFill>
                  <a:srgbClr val="1F2D3A"/>
                </a:solidFill>
              </a:rPr>
              <a:t>low</a:t>
            </a:r>
            <a:r>
              <a:rPr sz="2000" b="0">
                <a:solidFill>
                  <a:srgbClr val="1F2D3A"/>
                </a:solidFill>
              </a:rPr>
              <a:t> → Pipeline A is enough.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Asset value </a:t>
            </a:r>
            <a:r>
              <a:rPr sz="2000" b="1">
                <a:solidFill>
                  <a:srgbClr val="1F2D3A"/>
                </a:solidFill>
              </a:rPr>
              <a:t>high</a:t>
            </a:r>
            <a:r>
              <a:rPr sz="2000" b="0">
                <a:solidFill>
                  <a:srgbClr val="1F2D3A"/>
                </a:solidFill>
              </a:rPr>
              <a:t> → Pipeline B (accept the cost) + diversification.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The decision rests on numbers, not a feeling.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Diversification Measurement (Example)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Produce Pipeline B with seed 1001 and 2002.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Byte difference of the protected function: </a:t>
            </a:r>
            <a:r>
              <a:rPr sz="2000" b="1">
                <a:solidFill>
                  <a:srgbClr val="1F2D3A"/>
                </a:solidFill>
              </a:rPr>
              <a:t>92%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Comment: a patch written for one copy most likely won't work on the other.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Section 3 — Quick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How does a seed provide diversification?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Difference between diversification in space and in time?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Banescu et al.'s main rule? (resilience ↔ cost)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Section 3 —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Obfuscating the same source with a different </a:t>
            </a:r>
            <a:r>
              <a:rPr sz="2000" b="1">
                <a:solidFill>
                  <a:srgbClr val="1F2D3A"/>
                </a:solidFill>
              </a:rPr>
              <a:t>seed</a:t>
            </a:r>
            <a:r>
              <a:rPr sz="2000" b="0">
                <a:solidFill>
                  <a:srgbClr val="1F2D3A"/>
                </a:solidFill>
              </a:rPr>
              <a:t> makes the tool make different random choices → every build is a </a:t>
            </a:r>
            <a:r>
              <a:rPr sz="2000" b="1">
                <a:solidFill>
                  <a:srgbClr val="1F2D3A"/>
                </a:solidFill>
              </a:rPr>
              <a:t>different binary</a:t>
            </a:r>
            <a:r>
              <a:rPr sz="2000" b="0">
                <a:solidFill>
                  <a:srgbClr val="1F2D3A"/>
                </a:solidFill>
              </a:rPr>
              <a:t> (same behaviour).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In space:</a:t>
            </a:r>
            <a:r>
              <a:rPr sz="2000" b="0">
                <a:solidFill>
                  <a:srgbClr val="1F2D3A"/>
                </a:solidFill>
              </a:rPr>
              <a:t> different copies/users differ (one crack doesn't crack everyone). </a:t>
            </a:r>
            <a:r>
              <a:rPr sz="2000" b="1">
                <a:solidFill>
                  <a:srgbClr val="1F2D3A"/>
                </a:solidFill>
              </a:rPr>
              <a:t>In time:</a:t>
            </a:r>
            <a:r>
              <a:rPr sz="2000" b="0">
                <a:solidFill>
                  <a:srgbClr val="1F2D3A"/>
                </a:solidFill>
              </a:rPr>
              <a:t> it changes across versions (a crack doesn't stay valid).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Stronger obfuscation means more </a:t>
            </a:r>
            <a:r>
              <a:rPr sz="2000" b="1">
                <a:solidFill>
                  <a:srgbClr val="1F2D3A"/>
                </a:solidFill>
              </a:rPr>
              <a:t>resilience</a:t>
            </a:r>
            <a:r>
              <a:rPr sz="2000" b="0">
                <a:solidFill>
                  <a:srgbClr val="1F2D3A"/>
                </a:solidFill>
              </a:rPr>
              <a:t> but more </a:t>
            </a:r>
            <a:r>
              <a:rPr sz="2000" b="1">
                <a:solidFill>
                  <a:srgbClr val="1F2D3A"/>
                </a:solidFill>
              </a:rPr>
              <a:t>cost</a:t>
            </a:r>
            <a:r>
              <a:rPr sz="2000" b="0">
                <a:solidFill>
                  <a:srgbClr val="1F2D3A"/>
                </a:solidFill>
              </a:rPr>
              <a:t>; protection is chosen </a:t>
            </a:r>
            <a:r>
              <a:rPr sz="2000" b="1">
                <a:solidFill>
                  <a:srgbClr val="1F2D3A"/>
                </a:solidFill>
              </a:rPr>
              <a:t>in proportion to the value</a:t>
            </a:r>
            <a:r>
              <a:rPr sz="2000" b="0">
                <a:solidFill>
                  <a:srgbClr val="1F2D3A"/>
                </a:solidFill>
              </a:rPr>
              <a:t> of the asset.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In-Class Flow (Step by Step)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In-Class Flow — Diagram</a:t>
            </a:r>
          </a:p>
        </p:txBody>
      </p:sp>
      <p:pic>
        <p:nvPicPr>
          <p:cNvPr id="7" name="Picture 6" descr="h14-12-sinif-ici-ak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858" y="1325880"/>
            <a:ext cx="10007979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What Will We Do?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Take your own small, synthetic program: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obfuscate → verify behaviour → compare → measure → diversify →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Let's go step by step.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 1 · Preparation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Write a small, synthetic program (e.g., </a:t>
            </a:r>
            <a:r>
              <a:rPr sz="2000" b="0">
                <a:solidFill>
                  <a:srgbClr val="A1123F"/>
                </a:solidFill>
                <a:latin typeface="Consolas"/>
              </a:rPr>
              <a:t>erisim_ver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Show with unit tests that it </a:t>
            </a:r>
            <a:r>
              <a:rPr sz="2000" b="1">
                <a:solidFill>
                  <a:srgbClr val="1F2D3A"/>
                </a:solidFill>
              </a:rPr>
              <a:t>works correctly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This is your "clean" baseline.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 2 · Obfuscate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--Transform=EncodeLiterals --Transform=EncodeArithmetic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--Transform=Flatten --Transform=AddOpaque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--Functions=erisim_ver --out=gizli.c temiz.c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cc -o program_gizli gizli.c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Apply a transform pipeline.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 3 · Verify Behaviour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Run the same unit tests on the </a:t>
            </a:r>
            <a:r>
              <a:rPr sz="2000" b="1">
                <a:solidFill>
                  <a:srgbClr val="1F2D3A"/>
                </a:solidFill>
              </a:rPr>
              <a:t>obfuscated</a:t>
            </a:r>
            <a:r>
              <a:rPr sz="2000" b="0">
                <a:solidFill>
                  <a:srgbClr val="1F2D3A"/>
                </a:solidFill>
              </a:rPr>
              <a:t> version.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result must be </a:t>
            </a:r>
            <a:r>
              <a:rPr sz="2000" b="1">
                <a:solidFill>
                  <a:srgbClr val="1F2D3A"/>
                </a:solidFill>
              </a:rPr>
              <a:t>exactly the same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If different: the pipeline is wrong → fix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Obfuscation never changes behaviour.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 4 · Compare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Open the clean and obfuscated versions in a decompiler (Ghidra/objdump).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Compare the control flow.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Note the </a:t>
            </a:r>
            <a:r>
              <a:rPr sz="2000" b="1">
                <a:solidFill>
                  <a:srgbClr val="1F2D3A"/>
                </a:solidFill>
              </a:rPr>
              <a:t>increase</a:t>
            </a:r>
            <a:r>
              <a:rPr sz="2000" b="0">
                <a:solidFill>
                  <a:srgbClr val="1F2D3A"/>
                </a:solidFill>
              </a:rPr>
              <a:t> in basic block count.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 5 · Measure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 ./program_temiz ./program_gizli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süre: aynı girdiyle N kez çalıştır, ortalamayı karşılaştır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Write down the size and time difference.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 6 · Diversify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Run the same pipeline with </a:t>
            </a:r>
            <a:r>
              <a:rPr sz="2000" b="1">
                <a:solidFill>
                  <a:srgbClr val="1F2D3A"/>
                </a:solidFill>
              </a:rPr>
              <a:t>two different seeds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Show that the two binaries are different (byte difference).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--Seed=1001 ... --out=gizli_a.c temiz.c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--Seed=2002 ... --out=gizli_b.c temiz.c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 7 ·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Put your findings into a table: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10547815" cy="832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4165"/>
                <a:gridCol w="1454871"/>
                <a:gridCol w="1454871"/>
                <a:gridCol w="1818589"/>
                <a:gridCol w="3455319"/>
              </a:tblGrid>
              <a:tr h="4160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Transform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Size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Time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Blocks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Seed Difference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28173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This table goes directly into </a:t>
            </a:r>
            <a:r>
              <a:rPr sz="2000" b="1">
                <a:solidFill>
                  <a:srgbClr val="1F2D3A"/>
                </a:solidFill>
              </a:rPr>
              <a:t>S9/S15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Ethical and Safe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Tigress only on </a:t>
            </a:r>
            <a:r>
              <a:rPr sz="2000" b="1">
                <a:solidFill>
                  <a:srgbClr val="1F2D3A"/>
                </a:solidFill>
              </a:rPr>
              <a:t>your own</a:t>
            </a:r>
            <a:r>
              <a:rPr sz="2000" b="0">
                <a:solidFill>
                  <a:srgbClr val="1F2D3A"/>
                </a:solidFill>
              </a:rPr>
              <a:t> code.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example program does not </a:t>
            </a:r>
            <a:r>
              <a:rPr sz="2000" b="1">
                <a:solidFill>
                  <a:srgbClr val="1F2D3A"/>
                </a:solidFill>
              </a:rPr>
              <a:t>harm</a:t>
            </a:r>
            <a:r>
              <a:rPr sz="2000" b="0">
                <a:solidFill>
                  <a:srgbClr val="1F2D3A"/>
                </a:solidFill>
              </a:rPr>
              <a:t> the computer: it does not change system settings, does not touch the network.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All values are </a:t>
            </a:r>
            <a:r>
              <a:rPr sz="2000" b="1">
                <a:solidFill>
                  <a:srgbClr val="1F2D3A"/>
                </a:solidFill>
              </a:rPr>
              <a:t>synthetic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In-Class · Summary Flow</a:t>
            </a:r>
          </a:p>
        </p:txBody>
      </p:sp>
      <p:pic>
        <p:nvPicPr>
          <p:cNvPr id="7" name="Picture 6" descr="h14-06-test-ve-olc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496797"/>
          </a:xfrm>
          <a:prstGeom prst="rect">
            <a:avLst/>
          </a:prstGeom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Step-by-Step Flow · Why This Order?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First </a:t>
            </a:r>
            <a:r>
              <a:rPr sz="2000" b="1">
                <a:solidFill>
                  <a:srgbClr val="1F2D3A"/>
                </a:solidFill>
              </a:rPr>
              <a:t>behaviour</a:t>
            </a:r>
            <a:r>
              <a:rPr sz="2000" b="0">
                <a:solidFill>
                  <a:srgbClr val="1F2D3A"/>
                </a:solidFill>
              </a:rPr>
              <a:t> (tests) — make sure nothing broke.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Then </a:t>
            </a:r>
            <a:r>
              <a:rPr sz="2000" b="1">
                <a:solidFill>
                  <a:srgbClr val="1F2D3A"/>
                </a:solidFill>
              </a:rPr>
              <a:t>evidence</a:t>
            </a:r>
            <a:r>
              <a:rPr sz="2000" b="0">
                <a:solidFill>
                  <a:srgbClr val="1F2D3A"/>
                </a:solidFill>
              </a:rPr>
              <a:t> (CFG, measurement) — show the gain.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Then </a:t>
            </a:r>
            <a:r>
              <a:rPr sz="2000" b="1">
                <a:solidFill>
                  <a:srgbClr val="1F2D3A"/>
                </a:solidFill>
              </a:rPr>
              <a:t>diversification</a:t>
            </a:r>
            <a:r>
              <a:rPr sz="2000" b="0">
                <a:solidFill>
                  <a:srgbClr val="1F2D3A"/>
                </a:solidFill>
              </a:rPr>
              <a:t> — break scalability.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Don't say "strong" without measuring.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New Example · Integrity Check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dosya_saglam(const uint8_t *veri, size_t n,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const uint8_t *beklenen)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uint8_t ozet[32];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ozet_hesapla(veri, n, ozet);        /* SHA-256 benzeri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sabit_zamanli_esit(ozet, beklenen, 32);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43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 synthetic function that checks version integrity.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Why Obfuscate This?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 attacker wants to find this check and </a:t>
            </a:r>
            <a:r>
              <a:rPr sz="2000" b="1">
                <a:solidFill>
                  <a:srgbClr val="1F2D3A"/>
                </a:solidFill>
              </a:rPr>
              <a:t>bypass</a:t>
            </a:r>
            <a:r>
              <a:rPr sz="2000" b="0">
                <a:solidFill>
                  <a:srgbClr val="1F2D3A"/>
                </a:solidFill>
              </a:rPr>
              <a:t> it (to get a tampered file to pass).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check's return point and comparison are the target.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Week 9: opaque boolean + random exit are critical here.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Pipeline Choice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--Transform=EncodeLiterals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--Transform=EncodeArithmetic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--Transform=Flatten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--Transform=AddOpaque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--Functions=dosya_saglam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--out=gizli.c temiz.c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 by Step · What Happens?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EncodeLiterals: </a:t>
            </a:r>
            <a:r>
              <a:rPr sz="2000" b="0">
                <a:solidFill>
                  <a:srgbClr val="A1123F"/>
                </a:solidFill>
                <a:latin typeface="Consolas"/>
              </a:rPr>
              <a:t>32</a:t>
            </a:r>
            <a:r>
              <a:rPr sz="2000" b="0">
                <a:solidFill>
                  <a:srgbClr val="1F2D3A"/>
                </a:solidFill>
              </a:rPr>
              <a:t> and any strings are no longer plain.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EncodeArithmetic: the comparison becomes complex.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Flatten: the single return point is not visible.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AddOpaque: bogus branches; the "success" branch isn't in one place.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Behaviour Verification (Mandatory)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file with the correct hash → </a:t>
            </a:r>
            <a:r>
              <a:rPr sz="2000" b="1">
                <a:solidFill>
                  <a:srgbClr val="1F2D3A"/>
                </a:solidFill>
              </a:rPr>
              <a:t>passes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file with a corrupted hash → </a:t>
            </a:r>
            <a:r>
              <a:rPr sz="2000" b="1">
                <a:solidFill>
                  <a:srgbClr val="1F2D3A"/>
                </a:solidFill>
              </a:rPr>
              <a:t>rejected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obfuscated version gives the same result → pipeline correct.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CFG Before/After (Concept)</a:t>
            </a:r>
          </a:p>
        </p:txBody>
      </p:sp>
      <p:pic>
        <p:nvPicPr>
          <p:cNvPr id="7" name="Picture 6" descr="h14-10-cfg-once-son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6683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10392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Where the check passes/fails can no longer be read from the flow.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Constant-Time Behaviour Must Be Preserved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Even obfuscated, </a:t>
            </a:r>
            <a:r>
              <a:rPr sz="2000" b="0">
                <a:solidFill>
                  <a:srgbClr val="A1123F"/>
                </a:solidFill>
                <a:latin typeface="Consolas"/>
              </a:rPr>
              <a:t>sabit_zamanli_esit</a:t>
            </a:r>
            <a:r>
              <a:rPr sz="2000" b="0">
                <a:solidFill>
                  <a:srgbClr val="1F2D3A"/>
                </a:solidFill>
              </a:rPr>
              <a:t> must </a:t>
            </a:r>
            <a:r>
              <a:rPr sz="2000" b="1">
                <a:solidFill>
                  <a:srgbClr val="1F2D3A"/>
                </a:solidFill>
              </a:rPr>
              <a:t>stay constant time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If an early exit is added for the sake of obfuscation, a side channel opens (week 3).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Test</a:t>
            </a:r>
            <a:r>
              <a:rPr sz="2000" b="0">
                <a:solidFill>
                  <a:srgbClr val="1F2D3A"/>
                </a:solidFill>
              </a:rPr>
              <a:t> that the transforms don't break this.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Measurement (Example)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183650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6472"/>
                <a:gridCol w="1818589"/>
                <a:gridCol w="1818589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Before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After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Size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100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128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Time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1.0×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1.7×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Blocks (dosya_saglam)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Diversification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Produce with two seeds → two different binaries.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"skip the integrity check" patch that works on one copy won't work on the other, even if it succeeds once.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Second Example · Takeaway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Obfuscation is valuable on functions that are a </a:t>
            </a:r>
            <a:r>
              <a:rPr sz="2000" b="1">
                <a:solidFill>
                  <a:srgbClr val="1F2D3A"/>
                </a:solidFill>
              </a:rPr>
              <a:t>bypass target</a:t>
            </a:r>
            <a:r>
              <a:rPr sz="2000" b="0">
                <a:solidFill>
                  <a:srgbClr val="1F2D3A"/>
                </a:solidFill>
              </a:rPr>
              <a:t>, like integrity checks.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But the real strength: obfuscation + RASP (week 6) + server-side checking.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Obfuscation alone </a:t>
            </a:r>
            <a:r>
              <a:rPr sz="2000" b="1">
                <a:solidFill>
                  <a:srgbClr val="1F2D3A"/>
                </a:solidFill>
              </a:rPr>
              <a:t>delays</a:t>
            </a:r>
            <a:r>
              <a:rPr sz="2000" b="0">
                <a:solidFill>
                  <a:srgbClr val="1F2D3A"/>
                </a:solidFill>
              </a:rPr>
              <a:t> bypass, it doesn't prevent it.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Section 4 — Quick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The first thing you </a:t>
            </a:r>
            <a:r>
              <a:rPr sz="2000" b="1">
                <a:solidFill>
                  <a:srgbClr val="1F2D3A"/>
                </a:solidFill>
              </a:rPr>
              <a:t>must always</a:t>
            </a:r>
            <a:r>
              <a:rPr sz="2000" b="0">
                <a:solidFill>
                  <a:srgbClr val="1F2D3A"/>
                </a:solidFill>
              </a:rPr>
              <a:t> do after obfuscating?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How do you show diversification?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Which project sections does the report table go into?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Section 4 —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Test that behaviour hasn't changed</a:t>
            </a:r>
            <a:r>
              <a:rPr sz="2000" b="0">
                <a:solidFill>
                  <a:srgbClr val="1F2D3A"/>
                </a:solidFill>
              </a:rPr>
              <a:t> (unit tests must pass); obfuscation must not break function.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Produce with two different seeds; compare the binaries (</a:t>
            </a:r>
            <a:r>
              <a:rPr sz="2000" b="1">
                <a:solidFill>
                  <a:srgbClr val="1F2D3A"/>
                </a:solidFill>
              </a:rPr>
              <a:t>hash/size/instructions differ</a:t>
            </a:r>
            <a:r>
              <a:rPr sz="2000" b="0">
                <a:solidFill>
                  <a:srgbClr val="1F2D3A"/>
                </a:solidFill>
              </a:rPr>
              <a:t>) but </a:t>
            </a:r>
            <a:r>
              <a:rPr sz="2000" b="1">
                <a:solidFill>
                  <a:srgbClr val="1F2D3A"/>
                </a:solidFill>
              </a:rPr>
              <a:t>same input → same output</a:t>
            </a:r>
            <a:r>
              <a:rPr sz="2000" b="0">
                <a:solidFill>
                  <a:srgbClr val="1F2D3A"/>
                </a:solidFill>
              </a:rPr>
              <a:t> (diff/objdump).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S9</a:t>
            </a:r>
            <a:r>
              <a:rPr sz="2000" b="0">
                <a:solidFill>
                  <a:srgbClr val="1F2D3A"/>
                </a:solidFill>
              </a:rPr>
              <a:t> (code hardening) and </a:t>
            </a:r>
            <a:r>
              <a:rPr sz="2000" b="1">
                <a:solidFill>
                  <a:srgbClr val="1F2D3A"/>
                </a:solidFill>
              </a:rPr>
              <a:t>S15</a:t>
            </a:r>
            <a:r>
              <a:rPr sz="2000" b="0">
                <a:solidFill>
                  <a:srgbClr val="1F2D3A"/>
                </a:solidFill>
              </a:rPr>
              <a:t> (build/deployment pipeline); before/after measurement as evidence.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Build Pipeline (S15) and Project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Obfuscation Is Not "By Hand at the End"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Obfuscation should be a step in the build </a:t>
            </a:r>
            <a:r>
              <a:rPr sz="2000" b="1">
                <a:solidFill>
                  <a:srgbClr val="1F2D3A"/>
                </a:solidFill>
              </a:rPr>
              <a:t>pipeline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Your project's </a:t>
            </a:r>
            <a:r>
              <a:rPr sz="2000" b="1">
                <a:solidFill>
                  <a:srgbClr val="1F2D3A"/>
                </a:solidFill>
              </a:rPr>
              <a:t>S15</a:t>
            </a:r>
            <a:r>
              <a:rPr sz="2000" b="0">
                <a:solidFill>
                  <a:srgbClr val="1F2D3A"/>
                </a:solidFill>
              </a:rPr>
              <a:t> section, after the midterm, documents exactly this.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Build Pipeline — Diagram</a:t>
            </a:r>
          </a:p>
        </p:txBody>
      </p:sp>
      <p:pic>
        <p:nvPicPr>
          <p:cNvPr id="7" name="Picture 6" descr="h14-07-s15-hatt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956930"/>
          </a:xfrm>
          <a:prstGeom prst="rect">
            <a:avLst/>
          </a:prstGeom>
        </p:spPr>
      </p:pic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Pipeline Rule 1 · Sensitive Functions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Obfuscate only sensitive functions with </a:t>
            </a:r>
            <a:r>
              <a:rPr sz="2000" b="0">
                <a:solidFill>
                  <a:srgbClr val="A1123F"/>
                </a:solidFill>
                <a:latin typeface="Consolas"/>
              </a:rPr>
              <a:t>--Functions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Write down the rationale (which function, why).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cost rule (week 9).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Pipeline Rule 2 · Every Version Is Diversified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version is diversified with a </a:t>
            </a:r>
            <a:r>
              <a:rPr sz="2000" b="1">
                <a:solidFill>
                  <a:srgbClr val="1F2D3A"/>
                </a:solidFill>
              </a:rPr>
              <a:t>seed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seed and build identity are </a:t>
            </a:r>
            <a:r>
              <a:rPr sz="2000" b="1">
                <a:solidFill>
                  <a:srgbClr val="1F2D3A"/>
                </a:solidFill>
              </a:rPr>
              <a:t>recorded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Diversification in time (section 3).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Pipeline Rule 3 · Signing After Obfuscation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First obfuscate, </a:t>
            </a:r>
            <a:r>
              <a:rPr sz="2000" b="1">
                <a:solidFill>
                  <a:srgbClr val="1F2D3A"/>
                </a:solidFill>
              </a:rPr>
              <a:t>then</a:t>
            </a:r>
            <a:r>
              <a:rPr sz="2000" b="0">
                <a:solidFill>
                  <a:srgbClr val="1F2D3A"/>
                </a:solidFill>
              </a:rPr>
              <a:t> sign.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build identity and hash values (week 12's TOE) must be </a:t>
            </a:r>
            <a:r>
              <a:rPr sz="2000" b="1">
                <a:solidFill>
                  <a:srgbClr val="1F2D3A"/>
                </a:solidFill>
              </a:rPr>
              <a:t>consistent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Why afterwards? The signature must cover the </a:t>
            </a:r>
            <a:r>
              <a:rPr sz="2000" b="1">
                <a:solidFill>
                  <a:srgbClr val="1F2D3A"/>
                </a:solidFill>
              </a:rPr>
              <a:t>final</a:t>
            </a:r>
            <a:r>
              <a:rPr sz="2000" b="0">
                <a:solidFill>
                  <a:srgbClr val="1F2D3A"/>
                </a:solidFill>
              </a:rPr>
              <a:t> distributed binary.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Pipeline Rule 4 · Automatic in 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pipeline runs in continuous integration (CI).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version: unit tests + size/speed measurement </a:t>
            </a:r>
            <a:r>
              <a:rPr sz="2000" b="1">
                <a:solidFill>
                  <a:srgbClr val="1F2D3A"/>
                </a:solidFill>
              </a:rPr>
              <a:t>automatic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If behaviour breaks, the build </a:t>
            </a:r>
            <a:r>
              <a:rPr sz="2000" b="1">
                <a:solidFill>
                  <a:srgbClr val="1F2D3A"/>
                </a:solidFill>
              </a:rPr>
              <a:t>stops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9, 11, 14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9:</a:t>
            </a:r>
            <a:r>
              <a:rPr sz="2000" b="0">
                <a:solidFill>
                  <a:srgbClr val="1F2D3A"/>
                </a:solidFill>
              </a:rPr>
              <a:t> obfuscation rules (code)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11:</a:t>
            </a:r>
            <a:r>
              <a:rPr sz="2000" b="0">
                <a:solidFill>
                  <a:srgbClr val="1F2D3A"/>
                </a:solidFill>
              </a:rPr>
              <a:t> whitebox (key)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14:</a:t>
            </a:r>
            <a:r>
              <a:rPr sz="2000" b="0">
                <a:solidFill>
                  <a:srgbClr val="1F2D3A"/>
                </a:solidFill>
              </a:rPr>
              <a:t> automation + diversification (this week)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Common rule: protection = </a:t>
            </a:r>
            <a:r>
              <a:rPr sz="2000" b="1">
                <a:solidFill>
                  <a:srgbClr val="1F2D3A"/>
                </a:solidFill>
              </a:rPr>
              <a:t>delay</a:t>
            </a:r>
            <a:r>
              <a:rPr sz="2000" b="0">
                <a:solidFill>
                  <a:srgbClr val="1F2D3A"/>
                </a:solidFill>
              </a:rPr>
              <a:t>; strength comes from layers and measurement.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Project · S9 Extended + S15 Pipeline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1. Transform pipeline (S9):</a:t>
            </a:r>
            <a:r>
              <a:rPr sz="2000" b="0">
                <a:solidFill>
                  <a:srgbClr val="1F2D3A"/>
                </a:solidFill>
              </a:rPr>
              <a:t> which functions, which transforms, in what order, </a:t>
            </a:r>
            <a:r>
              <a:rPr sz="2000" b="1">
                <a:solidFill>
                  <a:srgbClr val="1F2D3A"/>
                </a:solidFill>
              </a:rPr>
              <a:t>why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Project · S9 + S15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2. Measurement table:</a:t>
            </a:r>
            <a:r>
              <a:rPr sz="2000" b="0">
                <a:solidFill>
                  <a:srgbClr val="1F2D3A"/>
                </a:solidFill>
              </a:rPr>
              <a:t> size, time, (if available) block count — before/after.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Project · S9 + S15 —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3. Diversification:</a:t>
            </a:r>
            <a:r>
              <a:rPr sz="2000" b="0">
                <a:solidFill>
                  <a:srgbClr val="1F2D3A"/>
                </a:solidFill>
              </a:rPr>
              <a:t> production with two seeds + a difference metric; if you won't apply it, a </a:t>
            </a:r>
            <a:r>
              <a:rPr sz="2000" b="1">
                <a:solidFill>
                  <a:srgbClr val="1F2D3A"/>
                </a:solidFill>
              </a:rPr>
              <a:t>rationale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Project · S9 + S15 — 4,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4. S15 pipeline:</a:t>
            </a:r>
            <a:r>
              <a:rPr sz="2000" b="0">
                <a:solidFill>
                  <a:srgbClr val="1F2D3A"/>
                </a:solidFill>
              </a:rPr>
              <a:t> document the obfuscation + signing + build identity steps with a </a:t>
            </a:r>
            <a:r>
              <a:rPr sz="2000" b="1">
                <a:solidFill>
                  <a:srgbClr val="1F2D3A"/>
                </a:solidFill>
              </a:rPr>
              <a:t>diagram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5. Behaviour evidence:</a:t>
            </a:r>
            <a:r>
              <a:rPr sz="2000" b="0">
                <a:solidFill>
                  <a:srgbClr val="1F2D3A"/>
                </a:solidFill>
              </a:rPr>
              <a:t> show that the obfuscated version passes the unit tests (the S16 link).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Through the Evaluator's Eyes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Not "I used a lot of transforms."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 rationale and a measurement for every transform.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Unmeasured obfuscation = a claim (week 12).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Case · Setup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 synthetic application has a </a:t>
            </a:r>
            <a:r>
              <a:rPr sz="2000" b="1">
                <a:solidFill>
                  <a:srgbClr val="1F2D3A"/>
                </a:solidFill>
              </a:rPr>
              <a:t>license check</a:t>
            </a:r>
            <a:r>
              <a:rPr sz="2000" b="0">
                <a:solidFill>
                  <a:srgbClr val="1F2D3A"/>
                </a:solidFill>
              </a:rPr>
              <a:t> and a </a:t>
            </a:r>
            <a:r>
              <a:rPr sz="2000" b="1">
                <a:solidFill>
                  <a:srgbClr val="1F2D3A"/>
                </a:solidFill>
              </a:rPr>
              <a:t>key derivation</a:t>
            </a:r>
            <a:r>
              <a:rPr sz="2000" b="0">
                <a:solidFill>
                  <a:srgbClr val="1F2D3A"/>
                </a:solidFill>
              </a:rPr>
              <a:t> function.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Should we heavily obfuscate both?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Case · 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License check:</a:t>
            </a:r>
            <a:r>
              <a:rPr sz="2000" b="0">
                <a:solidFill>
                  <a:srgbClr val="1F2D3A"/>
                </a:solidFill>
              </a:rPr>
              <a:t> medium value → Pipeline B (Flatten + AddOpaque).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Key derivation:</a:t>
            </a:r>
            <a:r>
              <a:rPr sz="2000" b="0">
                <a:solidFill>
                  <a:srgbClr val="1F2D3A"/>
                </a:solidFill>
              </a:rPr>
              <a:t> high value → Pipeline B + </a:t>
            </a:r>
            <a:r>
              <a:rPr sz="2000" b="1">
                <a:solidFill>
                  <a:srgbClr val="1F2D3A"/>
                </a:solidFill>
              </a:rPr>
              <a:t>Virtualize</a:t>
            </a:r>
            <a:r>
              <a:rPr sz="2000" b="0">
                <a:solidFill>
                  <a:srgbClr val="1F2D3A"/>
                </a:solidFill>
              </a:rPr>
              <a:t> (acceptable cost because it's small).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rest: not obfuscated (unnecessary cost).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Case · Diversification +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Each version, a different seed.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Build pipeline: obfuscate → sign → build identity.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Unit tests + measurement automatic in CI.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Case · S9/S15 Output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4157"/>
                <a:gridCol w="2359250"/>
                <a:gridCol w="2211797"/>
                <a:gridCol w="3686329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Function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Pipeline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Size/Time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Rationale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lisans_dogrula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+31% / 1.8×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medium value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anahtar_turet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B+Virtualize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+60% / 3×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high value, small fn.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Case · Residual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sufficiently determined attacker can still solve a single copy.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Mitigation: diversification + a short-lived key + server-side checking.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Written down explicitly.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Section 5 — Quick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Why is signing </a:t>
            </a:r>
            <a:r>
              <a:rPr sz="2000" b="1">
                <a:solidFill>
                  <a:srgbClr val="1F2D3A"/>
                </a:solidFill>
              </a:rPr>
              <a:t>after</a:t>
            </a:r>
            <a:r>
              <a:rPr sz="2000" b="0">
                <a:solidFill>
                  <a:srgbClr val="1F2D3A"/>
                </a:solidFill>
              </a:rPr>
              <a:t> obfuscation?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The rationale for the "sensitive functions only" rule?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The steps of the S15 pipeline?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Section 5 —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40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The signature protects the </a:t>
            </a:r>
            <a:r>
              <a:rPr sz="2000" b="1">
                <a:solidFill>
                  <a:srgbClr val="1F2D3A"/>
                </a:solidFill>
              </a:rPr>
              <a:t>final binary</a:t>
            </a:r>
            <a:r>
              <a:rPr sz="2000" b="0">
                <a:solidFill>
                  <a:srgbClr val="1F2D3A"/>
                </a:solidFill>
              </a:rPr>
              <a:t>; if you sign first and obfuscate afterwards, the binary changes → the signature becomes invalid. Order: build → obfuscate → </a:t>
            </a:r>
            <a:r>
              <a:rPr sz="2000" b="1">
                <a:solidFill>
                  <a:srgbClr val="1F2D3A"/>
                </a:solidFill>
              </a:rPr>
              <a:t>sign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Obfuscating everything blows up performance/size and most code isn't sensitive; concentrate protection on </a:t>
            </a:r>
            <a:r>
              <a:rPr sz="2000" b="1">
                <a:solidFill>
                  <a:srgbClr val="1F2D3A"/>
                </a:solidFill>
              </a:rPr>
              <a:t>critical</a:t>
            </a:r>
            <a:r>
              <a:rPr sz="2000" b="0">
                <a:solidFill>
                  <a:srgbClr val="1F2D3A"/>
                </a:solidFill>
              </a:rPr>
              <a:t> functions → low cost, high impact.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Source → (static analysis) → build → </a:t>
            </a:r>
            <a:r>
              <a:rPr sz="2000" b="1">
                <a:solidFill>
                  <a:srgbClr val="1F2D3A"/>
                </a:solidFill>
              </a:rPr>
              <a:t>obfuscate</a:t>
            </a:r>
            <a:r>
              <a:rPr sz="2000" b="0">
                <a:solidFill>
                  <a:srgbClr val="1F2D3A"/>
                </a:solidFill>
              </a:rPr>
              <a:t> → diversify (seed) → package/SBOM → </a:t>
            </a:r>
            <a:r>
              <a:rPr sz="2000" b="1">
                <a:solidFill>
                  <a:srgbClr val="1F2D3A"/>
                </a:solidFill>
              </a:rPr>
              <a:t>sign</a:t>
            </a:r>
            <a:r>
              <a:rPr sz="2000" b="0">
                <a:solidFill>
                  <a:srgbClr val="1F2D3A"/>
                </a:solidFill>
              </a:rPr>
              <a:t> → deploy (all recorded in CI).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Solved Self-Check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What is source-to-source obfuscation? Three advantages over manual obfuscation?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A tool takes C source and produces obfuscated C source. Advantages: preserves behaviour (error-resistant), the readable source stays with you, easy diversification via seed.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Tigress's place in the course; which license, why isn't it distributed in class?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The automatic form of week 9's rules. Non-profit use is free, commercial needs an Arizona license. The source is closed → its binary is not distributed in class; students download it from the official site.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Map these transforms to week 9's rules: Flatten, EncodeArithmetic, EncodeLiterals, Virtualize, AddOpaque.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Flatten→K-04, EncodeArithmetic→K-02, EncodeLiterals→K-07/K-08, Virtualize→K-10, AddOpaque→K-01/K-03.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Why is a transform pipeline stronger than a single transform? Why does order matter?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Layers strengthen each other (week 9's "together"). Order affects the result and performance; some orders needlessly slow things down or give a weak result.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Which two things do you always do after every transform pipeline?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(1) Run the unit tests (was behaviour preserved?), (2) measure size/speed (cost).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Why is Virtualize applied only to small and critical functions?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Its cost is very high (tens of times slower, size). The benefit only justifies the cost for the most valuable, small functions.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How does the seed (`--Seed`) provide diversification? Difference in space/time?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A different seed → different opaque predicate/bogus branch/state. In space: different copies at the same time. In time: each version gets a new seed.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Does diversification prevent the strength of obfuscation, or its scalability?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It does not increase strength (one copy can still be cracked); it prevents </a:t>
            </a:r>
            <a:r>
              <a:rPr sz="2000" b="1">
                <a:solidFill>
                  <a:srgbClr val="1F2D3A"/>
                </a:solidFill>
              </a:rPr>
              <a:t>scalability</a:t>
            </a:r>
            <a:r>
              <a:rPr sz="2000" b="0">
                <a:solidFill>
                  <a:srgbClr val="1F2D3A"/>
                </a:solidFill>
              </a:rPr>
              <a:t> — one crack doesn't open every door.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The main rule for the course from the Banescu et al. study?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Resilience is a measured quantity. Combining transforms forces symbolic execution exponentially; but cost also increases → </a:t>
            </a:r>
            <a:r>
              <a:rPr sz="2000" b="1">
                <a:solidFill>
                  <a:srgbClr val="1F2D3A"/>
                </a:solidFill>
              </a:rPr>
              <a:t>resilience ↔ cost trade-off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When putting obfuscation into the build pipeline, why does signing come after obfuscation?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The signature must cover the </a:t>
            </a:r>
            <a:r>
              <a:rPr sz="2000" b="1">
                <a:solidFill>
                  <a:srgbClr val="1F2D3A"/>
                </a:solidFill>
              </a:rPr>
              <a:t>final</a:t>
            </a:r>
            <a:r>
              <a:rPr sz="2000" b="0">
                <a:solidFill>
                  <a:srgbClr val="1F2D3A"/>
                </a:solidFill>
              </a:rPr>
              <a:t> distributed binary. It's obfuscated first, then signed; the build identity/hash stays consistent.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The rationale for S15's "only sensitive functions are obfuscated" rule?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Obfuscating every function slows down/bloats the program a lot. It makes sense to take on the cost only for valuable functions.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Write the common rule of weeks 9, 11, and 14 in one sentence.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Protection provides not unbreakability but </a:t>
            </a:r>
            <a:r>
              <a:rPr sz="2000" b="1">
                <a:solidFill>
                  <a:srgbClr val="1F2D3A"/>
                </a:solidFill>
              </a:rPr>
              <a:t>delay</a:t>
            </a:r>
            <a:r>
              <a:rPr sz="2000" b="0">
                <a:solidFill>
                  <a:srgbClr val="1F2D3A"/>
                </a:solidFill>
              </a:rPr>
              <a:t>; its strength comes from </a:t>
            </a:r>
            <a:r>
              <a:rPr sz="2000" b="1">
                <a:solidFill>
                  <a:srgbClr val="1F2D3A"/>
                </a:solidFill>
              </a:rPr>
              <a:t>combining layers</a:t>
            </a:r>
            <a:r>
              <a:rPr sz="2000" b="0">
                <a:solidFill>
                  <a:srgbClr val="1F2D3A"/>
                </a:solidFill>
              </a:rPr>
              <a:t>, from </a:t>
            </a:r>
            <a:r>
              <a:rPr sz="2000" b="1">
                <a:solidFill>
                  <a:srgbClr val="1F2D3A"/>
                </a:solidFill>
              </a:rPr>
              <a:t>diversification</a:t>
            </a:r>
            <a:r>
              <a:rPr sz="2000" b="0">
                <a:solidFill>
                  <a:srgbClr val="1F2D3A"/>
                </a:solidFill>
              </a:rPr>
              <a:t>, and from being </a:t>
            </a:r>
            <a:r>
              <a:rPr sz="2000" b="1">
                <a:solidFill>
                  <a:srgbClr val="1F2D3A"/>
                </a:solidFill>
              </a:rPr>
              <a:t>measured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Closing · Three Weeks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9:</a:t>
            </a:r>
            <a:r>
              <a:rPr sz="2000" b="0">
                <a:solidFill>
                  <a:srgbClr val="1F2D3A"/>
                </a:solidFill>
              </a:rPr>
              <a:t> obfuscation rules (by hand)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11:</a:t>
            </a:r>
            <a:r>
              <a:rPr sz="2000" b="0">
                <a:solidFill>
                  <a:srgbClr val="1F2D3A"/>
                </a:solidFill>
              </a:rPr>
              <a:t> whitebox (key)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14:</a:t>
            </a:r>
            <a:r>
              <a:rPr sz="2000" b="0">
                <a:solidFill>
                  <a:srgbClr val="1F2D3A"/>
                </a:solidFill>
              </a:rPr>
              <a:t> automation + diversification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All one framework: cost + layers + measurement.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Common Mistakes — Summary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6271"/>
                <a:gridCol w="6105263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Mistake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Where It Was Covered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Obfuscating everything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Section 1 (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--Functions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), Section 2 (cost)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Obfuscating without tests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Section 2 (order and testing rule)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Saying "strong" without measuring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Section 3 (measurement rule)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Skipping diversification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Section 3 (Rule 2)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Signing before obfuscating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Section 5 (Pipeline Rule 3)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Using an old/distributed Tigress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Section 1 (licence)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Glossary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0672"/>
                <a:gridCol w="7910862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Meaning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Source-to-source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Obfuscation that takes C in and gives obfuscated C out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Transform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 single obfuscation operation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Pipeline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The ordered whole of the transforms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Seed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 number that governs randomness (diversification)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Symbolic execution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Path-solving automated analysis (KLEE)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Transform Selection Guide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456662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28331"/>
                <a:gridCol w="4728331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You Want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Transform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Hide a string/constant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EncodeLiterals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Hide a calculation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EncodeArithmetic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Hide the 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Flatten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Add bogus/opaque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AddOpaque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Hide machine code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Virtualize (expensive)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Diversify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--Seed, RandomFuns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Checklist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4917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--Functions</a:t>
            </a:r>
            <a:r>
              <a:rPr sz="18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Sources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</a:t>
            </a:r>
            <a:r>
              <a:rPr sz="2000" b="1">
                <a:solidFill>
                  <a:srgbClr val="1F2D3A"/>
                </a:solidFill>
              </a:rPr>
              <a:t>Tigress</a:t>
            </a:r>
            <a:r>
              <a:rPr sz="2000" b="0">
                <a:solidFill>
                  <a:srgbClr val="1F2D3A"/>
                </a:solidFill>
              </a:rPr>
              <a:t> official site/worksheets (</a:t>
            </a:r>
            <a:r>
              <a:rPr sz="2000" b="0">
                <a:solidFill>
                  <a:srgbClr val="A1123F"/>
                </a:solidFill>
                <a:latin typeface="Consolas"/>
              </a:rPr>
              <a:t>tigress.wtf</a:t>
            </a:r>
            <a:r>
              <a:rPr sz="2000" b="0">
                <a:solidFill>
                  <a:srgbClr val="1F2D3A"/>
                </a:solidFill>
              </a:rPr>
              <a:t>) — transforms, syntax, v4, license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Collberg &amp; Nagra, </a:t>
            </a:r>
            <a:r>
              <a:rPr sz="2000" b="0" i="1">
                <a:solidFill>
                  <a:srgbClr val="1F2D3A"/>
                </a:solidFill>
              </a:rPr>
              <a:t>Surreptitious Software</a:t>
            </a:r>
            <a:r>
              <a:rPr sz="2000" b="0">
                <a:solidFill>
                  <a:srgbClr val="1F2D3A"/>
                </a:solidFill>
              </a:rPr>
              <a:t> — taxonomy, measurement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Banescu et al. — Tigress + KLEE resilience measurement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Obfuscator-LLVM — a compiler-based alternative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Summary: This Week in One Sentence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649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 applies week 9's obfuscation rules </a:t>
            </a:r>
            <a:r>
              <a:rPr sz="2000" b="1">
                <a:solidFill>
                  <a:srgbClr val="1F2D3A"/>
                </a:solidFill>
              </a:rPr>
              <a:t>automatically</a:t>
            </a:r>
            <a:r>
              <a:rPr sz="2000" b="0">
                <a:solidFill>
                  <a:srgbClr val="1F2D3A"/>
                </a:solidFill>
              </a:rPr>
              <a:t> and </a:t>
            </a:r>
            <a:r>
              <a:rPr sz="2000" b="1">
                <a:solidFill>
                  <a:srgbClr val="1F2D3A"/>
                </a:solidFill>
              </a:rPr>
              <a:t>diversified</a:t>
            </a:r>
            <a:r>
              <a:rPr sz="2000" b="0">
                <a:solidFill>
                  <a:srgbClr val="1F2D3A"/>
                </a:solidFill>
              </a:rPr>
              <a:t>; but the rule is the same: obfuscation is </a:t>
            </a:r>
            <a:r>
              <a:rPr sz="2000" b="1">
                <a:solidFill>
                  <a:srgbClr val="1F2D3A"/>
                </a:solidFill>
              </a:rPr>
              <a:t>not unbreakability but delay</a:t>
            </a:r>
            <a:r>
              <a:rPr sz="2000" b="0">
                <a:solidFill>
                  <a:srgbClr val="1F2D3A"/>
                </a:solidFill>
              </a:rPr>
              <a:t>; combine, diversify, </a:t>
            </a:r>
            <a:r>
              <a:rPr sz="2000" b="1">
                <a:solidFill>
                  <a:srgbClr val="1F2D3A"/>
                </a:solidFill>
              </a:rPr>
              <a:t>measure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005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The tool is powerful, but the </a:t>
            </a:r>
            <a:r>
              <a:rPr sz="2000" b="1">
                <a:solidFill>
                  <a:srgbClr val="1F2D3A"/>
                </a:solidFill>
              </a:rPr>
              <a:t>decision is yours</a:t>
            </a:r>
            <a:r>
              <a:rPr sz="2000" b="0">
                <a:solidFill>
                  <a:srgbClr val="1F2D3A"/>
                </a:solidFill>
              </a:rPr>
              <a:t>: what, why, at what cost are you obfuscating?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Next Week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Week 15 — Final Project Demonstrations (RAP2)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The semester's content is complete. The final report is expected to include this week's </a:t>
            </a:r>
            <a:r>
              <a:rPr sz="2000" b="1">
                <a:solidFill>
                  <a:srgbClr val="1F2D3A"/>
                </a:solidFill>
              </a:rPr>
              <a:t>pipeline (S15)</a:t>
            </a:r>
            <a:r>
              <a:rPr sz="2000" b="0">
                <a:solidFill>
                  <a:srgbClr val="1F2D3A"/>
                </a:solidFill>
              </a:rPr>
              <a:t> and </a:t>
            </a:r>
            <a:r>
              <a:rPr sz="2000" b="1">
                <a:solidFill>
                  <a:srgbClr val="1F2D3A"/>
                </a:solidFill>
              </a:rPr>
              <a:t>measurements (S9)</a:t>
            </a:r>
            <a:r>
              <a:rPr sz="2000" b="0">
                <a:solidFill>
                  <a:srgbClr val="1F2D3A"/>
                </a:solidFill>
              </a:rPr>
              <a:t>. Week 16: Quiz-2.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Week 14 — Tigress and Diversification</dc:title>
  <dc:subject/>
  <dc:creator>Asst. Prof. Dr.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