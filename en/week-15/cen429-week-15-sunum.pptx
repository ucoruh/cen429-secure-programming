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Final demonstration week: each team shows the complete security guide, its protected application, and its test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Final Project Demonstrations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Secure Programming — Week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25.12.2026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Week: Final Project Demonstrations (RAP2)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lecture; final report (</a:t>
            </a:r>
            <a:r>
              <a:rPr sz="2000" b="1">
                <a:solidFill>
                  <a:srgbClr val="1F2D3A"/>
                </a:solidFill>
              </a:rPr>
              <a:t>the complete guide</a:t>
            </a:r>
            <a:r>
              <a:rPr sz="2000" b="0">
                <a:solidFill>
                  <a:srgbClr val="1F2D3A"/>
                </a:solidFill>
              </a:rPr>
              <a:t>) + protected application + test results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RAP2 = </a:t>
            </a:r>
            <a:r>
              <a:rPr sz="2000" b="1">
                <a:solidFill>
                  <a:srgbClr val="1F2D3A"/>
                </a:solidFill>
              </a:rPr>
              <a:t>70%</a:t>
            </a:r>
            <a:r>
              <a:rPr sz="2000" b="0">
                <a:solidFill>
                  <a:srgbClr val="1F2D3A"/>
                </a:solidFill>
              </a:rPr>
              <a:t> of the final · Quiz-2 = </a:t>
            </a:r>
            <a:r>
              <a:rPr sz="2000" b="1">
                <a:solidFill>
                  <a:srgbClr val="1F2D3A"/>
                </a:solidFill>
              </a:rPr>
              <a:t>30%</a:t>
            </a:r>
            <a:r>
              <a:rPr sz="2000" b="0">
                <a:solidFill>
                  <a:srgbClr val="1F2D3A"/>
                </a:solidFill>
              </a:rPr>
              <a:t> · Course grade = </a:t>
            </a:r>
            <a:r>
              <a:rPr sz="2000" b="0">
                <a:solidFill>
                  <a:srgbClr val="A1123F"/>
                </a:solidFill>
                <a:latin typeface="Consolas"/>
              </a:rPr>
              <a:t>0.4·Grade_Midterm + 0.6·Grade_Final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Detailed rubric: project guide · order and timing: in class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⚠️ No late submissions · a </a:t>
            </a:r>
            <a:r>
              <a:rPr sz="2000" b="1">
                <a:solidFill>
                  <a:srgbClr val="1F2D3A"/>
                </a:solidFill>
              </a:rPr>
              <a:t>finding–action list</a:t>
            </a:r>
            <a:r>
              <a:rPr sz="2000" b="0">
                <a:solidFill>
                  <a:srgbClr val="1F2D3A"/>
                </a:solidFill>
              </a:rPr>
              <a:t> for the midterm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RAP2 Submission — Diagram</a:t>
            </a:r>
          </a:p>
        </p:txBody>
      </p:sp>
      <p:pic>
        <p:nvPicPr>
          <p:cNvPr id="7" name="Picture 6" descr="h15-01-ra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562" y="1325880"/>
            <a:ext cx="952057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Final Rubric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726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7245"/>
                <a:gridCol w="1022956"/>
                <a:gridCol w="3921332"/>
              </a:tblGrid>
              <a:tr h="34084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LO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Guide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Cryptography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Secure communication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S6 · S11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Asset management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S5 (complete) · S8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Binary protections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S9 (advanced) · S15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Security testing and unit tests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S16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results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Standards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 · S14 · S17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Final report and presentation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From Midterm to Final: New and Completed Sections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9524"/>
                <a:gridCol w="5202010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New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To be completed / updated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S6 identity and binding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S5 assets (complete)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S8 cryptography and keys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S9 hardening (advanced)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S11 secure communication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S12 reporting (complete)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S14 assumptions and deferred requirements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S13 updated SBOM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S15 build and deployment pipeline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S16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results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S17 complete matrix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Security Guide Map S0–S17 — Diagram</a:t>
            </a:r>
          </a:p>
        </p:txBody>
      </p:sp>
      <p:pic>
        <p:nvPicPr>
          <p:cNvPr id="7" name="Picture 6" descr="h15-02-kilavuz-harita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851" y="1325880"/>
            <a:ext cx="645399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Preparation Checklist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507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819"/>
                <a:gridCol w="10034715"/>
              </a:tblGrid>
              <a:tr h="41788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What you should be able to show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9, 14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Obfuscated functions and justification · cost table · obfuscation and signing in the build pipeline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Algorithm inventory · key lifecycle · TLS/pinning · signature verification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Protection method or justification for a sensitive asset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Test plan +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results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unit tests · CI · finding–action list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788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Compliance matrix · assumptions and deferred requirements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Suggested Demonstration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631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Summary:</a:t>
            </a:r>
            <a:r>
              <a:rPr sz="2000" b="0">
                <a:solidFill>
                  <a:srgbClr val="1F2D3A"/>
                </a:solidFill>
              </a:rPr>
              <a:t> product, architecture, the three most critical assets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Since the midterm:</a:t>
            </a:r>
            <a:r>
              <a:rPr sz="2000" b="0">
                <a:solidFill>
                  <a:srgbClr val="1F2D3A"/>
                </a:solidFill>
              </a:rPr>
              <a:t> finding–action list (finding → action → closure; the assessor looks for this loop)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Live demonstration:</a:t>
            </a:r>
            <a:r>
              <a:rPr sz="2000" b="0">
                <a:solidFill>
                  <a:srgbClr val="1F2D3A"/>
                </a:solidFill>
              </a:rPr>
              <a:t> cryptography, secure communication, a protection layer </a:t>
            </a:r>
            <a:r>
              <a:rPr sz="2000" b="1">
                <a:solidFill>
                  <a:srgbClr val="1F2D3A"/>
                </a:solidFill>
              </a:rPr>
              <a:t>working live</a:t>
            </a:r>
            <a:r>
              <a:rPr sz="2000" b="0">
                <a:solidFill>
                  <a:srgbClr val="1F2D3A"/>
                </a:solidFill>
              </a:rPr>
              <a:t> (e.g., a tampered file being rejected)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Evidence:</a:t>
            </a:r>
            <a:r>
              <a:rPr sz="2000" b="0">
                <a:solidFill>
                  <a:srgbClr val="1F2D3A"/>
                </a:solidFill>
              </a:rPr>
              <a:t> tests, protection table, SBOM, compliance matrix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1">
                <a:solidFill>
                  <a:srgbClr val="1F2D3A"/>
                </a:solidFill>
              </a:rPr>
              <a:t>Remaining risk:</a:t>
            </a:r>
            <a:r>
              <a:rPr sz="2000" b="0">
                <a:solidFill>
                  <a:srgbClr val="1F2D3A"/>
                </a:solidFill>
              </a:rPr>
              <a:t> what was deliberately scoped out, and why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Final Demonstration — Diagram</a:t>
            </a:r>
          </a:p>
        </p:txBody>
      </p:sp>
      <p:pic>
        <p:nvPicPr>
          <p:cNvPr id="7" name="Picture 6" descr="h15-03-goste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72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you open and show, in this order: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300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home page</a:t>
            </a:r>
            <a:r>
              <a:rPr sz="2000" b="0">
                <a:solidFill>
                  <a:srgbClr val="1F2D3A"/>
                </a:solidFill>
              </a:rPr>
              <a:t> of the local site (</a:t>
            </a:r>
            <a:r>
              <a:rPr sz="2000" b="0">
                <a:solidFill>
                  <a:srgbClr val="A1123F"/>
                </a:solidFill>
                <a:latin typeface="Consolas"/>
              </a:rPr>
              <a:t>9-open-site-...</a:t>
            </a:r>
            <a:r>
              <a:rPr sz="2000" b="0">
                <a:solidFill>
                  <a:srgbClr val="1F2D3A"/>
                </a:solidFill>
              </a:rPr>
              <a:t>, on </a:t>
            </a:r>
            <a:r>
              <a:rPr sz="2000" b="0">
                <a:solidFill>
                  <a:srgbClr val="A1123F"/>
                </a:solidFill>
                <a:latin typeface="Consolas"/>
              </a:rPr>
              <a:t>http://localhost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Each report page:</a:t>
            </a:r>
            <a:r>
              <a:rPr sz="2000" b="0">
                <a:solidFill>
                  <a:srgbClr val="1F2D3A"/>
                </a:solidFill>
              </a:rPr>
              <a:t> tests, code coverage, documentation coverage (Windows and Linux).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API docs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`release/` folder</a:t>
            </a:r>
            <a:r>
              <a:rPr sz="2000" b="0">
                <a:solidFill>
                  <a:srgbClr val="1F2D3A"/>
                </a:solidFill>
              </a:rPr>
              <a:t> listing.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1">
                <a:solidFill>
                  <a:srgbClr val="1F2D3A"/>
                </a:solidFill>
              </a:rPr>
              <a:t>Run the app</a:t>
            </a:r>
            <a:r>
              <a:rPr sz="2000" b="0">
                <a:solidFill>
                  <a:srgbClr val="1F2D3A"/>
                </a:solidFill>
              </a:rPr>
              <a:t> from the release archive.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6.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GitHub Release page</a:t>
            </a:r>
            <a:r>
              <a:rPr sz="2000" b="0">
                <a:solidFill>
                  <a:srgbClr val="1F2D3A"/>
                </a:solidFill>
              </a:rPr>
              <a:t> of your private repository (the instructor is a collaborator).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Sample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33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Which key is this key derived from, where does it live, when is it deleted?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How do you verify the certificate chain? Where is hostname verification performed?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What happens if signature verification fails? Can an old but validly signed version still be installed?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Did you measure the cost of obfuscation? Which function did you obfuscate, and why?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 the compliance matrix, where is the evidence for this row marked "met"?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Which requirement did you defer, and how will the other party meet it?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Common Mistakes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118"/>
                <a:gridCol w="5866416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Mistake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Why is it a problem?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test plan exists, but no results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At the final,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results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are expected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"Met" without evidence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Counted as unmet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Guide and code version differ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assessed product becomes ambiguous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Empty remaining-risk section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Incomplete analysis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Midterm feedback was ignored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finding–action loop is part of the process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Real secret / personal data in the repo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Values must be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synthetic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Academic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syllabus's "Academic Integrity" section also applies to the project; every submitted line must be explainable, and any team member may be asked a question during the demonstration.</a:t>
            </a:r>
          </a:p>
        </p:txBody>
      </p:sp>
      <p:pic>
        <p:nvPicPr>
          <p:cNvPr id="8" name="Picture 7" descr="h15-04-s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007" y="2535936"/>
            <a:ext cx="9237681" cy="36179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At the End of the 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Your guide = a small model of certification documents → </a:t>
            </a:r>
            <a:r>
              <a:rPr sz="2000" b="1">
                <a:solidFill>
                  <a:srgbClr val="1F2D3A"/>
                </a:solidFill>
              </a:rPr>
              <a:t>portfolio</a:t>
            </a:r>
            <a:r>
              <a:rPr sz="2000" b="0">
                <a:solidFill>
                  <a:srgbClr val="1F2D3A"/>
                </a:solidFill>
              </a:rPr>
              <a:t> (make sure it contains no confidential information)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33168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At the final, </a:t>
            </a:r>
            <a:r>
              <a:rPr sz="2000" b="1">
                <a:solidFill>
                  <a:srgbClr val="1F2D3A"/>
                </a:solidFill>
              </a:rPr>
              <a:t>results</a:t>
            </a:r>
            <a:r>
              <a:rPr sz="2000" b="0">
                <a:solidFill>
                  <a:srgbClr val="1F2D3A"/>
                </a:solidFill>
              </a:rPr>
              <a:t> are expected: every protection is shown working, every requirement is tied to evidence.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Week 16 — Quiz-2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After the final demonstration (RAP2), it's time for Quiz-2; the scope is weeks 9–14. The study guide is on the Week 16 page.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Week 15 — Final Project Demonstrations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