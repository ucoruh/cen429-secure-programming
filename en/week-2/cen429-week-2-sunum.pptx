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Last week we established the language of security (asset, threat, STRIDE, attack tree). This week we fill in three columns: threat (malware), defence (security models), common language (CWE/CVE/CVSS). There are six demos; keep the lab open in WSL or Visual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Compile the demos once beforehand (build.ps1 or build.sh inside code/). Keep the first three demos open so there's no waiting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the students: "What do you call something that infects your phone?" Most say "virus." After this week they'll use the right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Give the dates accurately. WannaCry spread to machines that had not updated AFTER the patch was released; we'll return to this "patch gap" at the end of the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"enable macros" prompt is still an attack vector. Tell students never to enable macros in a document they don't recognise.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First explain the formula in words: every infected machine scans a random address, and infects it if it hits a susceptible one. Then give the Code Red and Slammer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First write the letters on the board: S, I, N. Then ask "what does every infected machine do?"; the answer is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Halve the beta value and rerun; show how the saturation time stretches out. The real point: a single overflow flaw made the initial infection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Compute the SI difference equation at each step; show that growth is fastest around 50% and then slows as fewer targets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When the attacker skips the opening phase with a hitlist, saturation is reached much faster; the defender's window is nearly gone.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poly_1 and poly_2 use the same algorithm (xs32) with a different seed; poly_3 uses a different algorithm (lcg8) plus junk instructions. The pattern signature was looking for ALGO=xs32, which isn't in poly_3.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hash is evaded by one byte, how the pattern catches the decoder, and why emulation catches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Pattern matching must work correctly at the very last possible position too; off-by-one bugs show up right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histogram accumulates per window, and how H = -Σ p(b) log2 p(b) is computed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the calculation still works correctly when the last window's size differs from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narrow rule misses; a broad rule raises false alarms. A rule only catches the known; that's why it's used together with heuristic and behaviour-based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expr() -&gt; and_expr() -&gt; not_expr() -&gt; primary(), one grammar level per precedence. Point out that and/or always evaluate BOTH sides -- no short-circuit.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"$a and" has no right-hand side -- the parser detects this and returns -1 (CONDITION ERROR), it never crashes or silently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Tripwire, AppLocker/WDAC, and code-signing checks all rest on this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assessor first modifies the file, then the expected value. If the second test isn't passed, the check only protects against accidents.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Read the table by how they got in, not by what the malware did. 1988-2008 is mostly a single overflow; after 2017 it's update and build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Discussion question: which old epidemics' door did Office's default blocking of macros in documents from the internet (since 2022) close?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AND nodes force the attacker to break multiple layers together; the quantitative form of defence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every AND/OR node's cost is computed bottom-up; find the cheapest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the calculation still works correctly on the simplest possible tree, with no branching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 single line break embedded in a username wrote a fake administrator login into the log that never happened. Mention the format-string trap as a bridge to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escaping loop handles every byte, and why the line ending stays on a single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the screen-clearing ESC sequence becomes just as harmless once escaped the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Schneier–Kelsey 1999. The verifier keeps the starting key offline. The strongest evidence is a remote copy the attacker cannot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each record's digest includes the previous record's digest, and how changing one record's message breaks only that record's own check — later records still verify against their own untouched stored digest.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why the same attack slips through undetected with a static key — connect this to why forward security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Military origin (1973). "No write down" seems odd at first; the goal is to prevent top-secret information from being written somewhere a clerk could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dominates() uses the exact same label comparison for BLP and Biba, just in opposite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When both sides are at exactly the same level, show why both BLP and Biba always allow the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exactly when the attacker swaps in the symbolic link, right between lstat() and fopen(), on the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the SAFE version behaves normally with no extra cost when there is no attacker.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In 1a and 1b the ACEs are the same, only the order differs. In the last step, show the demo's own file's real ACL with icacls.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each ACE is compared against the SIDs in the token, and why the first matching DENY stops the list right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why having DENY at the front of the list, in canonical order, is the safest arrangement.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is a simulation; no real setuid file is created, no sudo is needed. The system's actual setuid programs are only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Step through how the root/owner/group/other class is picked, and the requested &amp; ~umask bit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why a file opened with umask 000 ends up writable by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the E1-E4 gates in order: is the role held, is the TP certified, is there an open session, does only a TP touch the CDI.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the E3 identity gate comes before the role/TP gates and stops the request right at the start.</a:t>
            </a:r>
          </a:p>
          <a:p/>
          <a:p>
            <a:r>
              <a:t>Speaker note: Field equivalent: the four-eyes principle, split knowledge and dual control, daily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the Impact and Exploitability sub-scores are computed from the eight metrics, and how the formula changes with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that when C/I/A are all None, the Impact sub-score is 0 and the base score is a hard 0.0.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Use groups of 3-4; see the activity boxes in the lecture notes for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ask first, then open the two answer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first, then open the answer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2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2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2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2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gif"/><Relationship Id="rId4" Type="http://schemas.openxmlformats.org/officeDocument/2006/relationships/notesSlide" Target="../notesSlides/notesSlide3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3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3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34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35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3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38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gif"/><Relationship Id="rId4" Type="http://schemas.openxmlformats.org/officeDocument/2006/relationships/notesSlide" Target="../notesSlides/notesSlide3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4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6.gif"/><Relationship Id="rId4" Type="http://schemas.openxmlformats.org/officeDocument/2006/relationships/notesSlide" Target="../notesSlides/notesSlide4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gif"/><Relationship Id="rId4" Type="http://schemas.openxmlformats.org/officeDocument/2006/relationships/notesSlide" Target="../notesSlides/notesSlide4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8.gif"/><Relationship Id="rId4" Type="http://schemas.openxmlformats.org/officeDocument/2006/relationships/notesSlide" Target="../notesSlides/notesSlide4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9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gif"/><Relationship Id="rId4" Type="http://schemas.openxmlformats.org/officeDocument/2006/relationships/notesSlide" Target="../notesSlides/notesSlide45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2.gif"/><Relationship Id="rId4" Type="http://schemas.openxmlformats.org/officeDocument/2006/relationships/notesSlide" Target="../notesSlides/notesSlide4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3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Computer Viruses and Security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25.09.2026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55"/>
                <a:gridCol w="10080179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Malware: history, anatomy, types · concealment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countermeasures · attack tree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4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 · access and models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3, 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 · OWASP · CVE · CVSS (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 · lifecycle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00399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outcome:</a:t>
            </a:r>
            <a:r>
              <a:rPr sz="2000" b="0">
                <a:solidFill>
                  <a:srgbClr val="1F2D3A"/>
                </a:solidFill>
              </a:rPr>
              <a:t> LO.1 (identifies and classifies common software security vulnerabilities)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Asset, threat, vulnerability, risk and the attacker model</a:t>
            </a:r>
            <a:r>
              <a:rPr sz="2000" b="0">
                <a:solidFill>
                  <a:srgbClr val="1F2D3A"/>
                </a:solidFill>
              </a:rPr>
              <a:t> — the language for telling an asset's value,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threat against it, the vulnerability that makes it possible, and the risk (probability × impact) apart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30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STRIDE and the attack tree</a:t>
            </a:r>
            <a:r>
              <a:rPr sz="2000" b="0">
                <a:solidFill>
                  <a:srgbClr val="1F2D3A"/>
                </a:solidFill>
              </a:rPr>
              <a:t> — asking about the threats at an interface with STRIDE's six letters, then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03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breaking them from a root goal into branches with AND/OR logic </a:t>
            </a:r>
            <a:r>
              <a:rPr sz="2000" b="1">
                <a:solidFill>
                  <a:srgbClr val="1F2D3A"/>
                </a:solidFill>
              </a:rPr>
              <a:t>(Week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6996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week: we make this language concrete through malware (the threat side) and access models (the defence side); we add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 to the attack tree and compute the cheapest attack path (Demo 04).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408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400" b="1">
                <a:solidFill>
                  <a:srgbClr val="1F2D3A"/>
                </a:solidFill>
              </a:rPr>
              <a:t>where</a:t>
            </a:r>
            <a:r>
              <a:rPr sz="14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76476"/>
          <a:ext cx="9638521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4356"/>
                <a:gridCol w="2364165"/>
              </a:tblGrid>
              <a:tr h="285292">
                <a:tc>
                  <a:txBody>
                    <a:bodyPr wrap="square"/>
                    <a:lstStyle/>
                    <a:p>
                      <a:r>
                        <a:rPr sz="1008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Malware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A virus's three parts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Malware types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Concealment: polymorphic/metamorphic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Detection methods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Entropy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Audit 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Access control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DAC / MAC / RBAC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Bell–LaPadula, Biba, Clark–Wilson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CVE and CVSS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285292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OWASP Top 10 and MASVS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5304"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Vulnerability lifecycle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8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 the Demos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37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0">
                <a:solidFill>
                  <a:srgbClr val="1F2D3A"/>
                </a:solidFill>
              </a:rPr>
              <a:t>One source, two platforms: </a:t>
            </a:r>
            <a:r>
              <a:rPr sz="1900" b="1">
                <a:solidFill>
                  <a:srgbClr val="1F2D3A"/>
                </a:solidFill>
              </a:rPr>
              <a:t>Windows (Visual Studio 2022 Community, MSVC)</a:t>
            </a:r>
            <a:r>
              <a:rPr sz="1900" b="0">
                <a:solidFill>
                  <a:srgbClr val="1F2D3A"/>
                </a:solidFill>
              </a:rPr>
              <a:t> and </a:t>
            </a:r>
            <a:r>
              <a:rPr sz="1900" b="1">
                <a:solidFill>
                  <a:srgbClr val="1F2D3A"/>
                </a:solidFill>
              </a:rPr>
              <a:t>WSL/Linux (GCC)</a:t>
            </a:r>
          </a:p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0">
                <a:solidFill>
                  <a:srgbClr val="1F2D3A"/>
                </a:solidFill>
              </a:rPr>
              <a:t>Demos that need hashing/encryption use the OS's </a:t>
            </a:r>
            <a:r>
              <a:rPr sz="1900" b="1">
                <a:solidFill>
                  <a:srgbClr val="1F2D3A"/>
                </a:solidFill>
              </a:rPr>
              <a:t>BCrypt</a:t>
            </a:r>
            <a:r>
              <a:rPr sz="1900" b="0">
                <a:solidFill>
                  <a:srgbClr val="1F2D3A"/>
                </a:solidFill>
              </a:rPr>
              <a:t> library on Windows and </a:t>
            </a:r>
            <a:r>
              <a:rPr sz="1900" b="1">
                <a:solidFill>
                  <a:srgbClr val="1F2D3A"/>
                </a:solidFill>
              </a:rPr>
              <a:t>OpenSSL</a:t>
            </a:r>
            <a:r>
              <a:rPr sz="1900" b="0">
                <a:solidFill>
                  <a:srgbClr val="1F2D3A"/>
                </a:solidFill>
              </a:rPr>
              <a:t> on 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73248"/>
            <a:ext cx="10911535" cy="42341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900" b="0">
                <a:solidFill>
                  <a:srgbClr val="1F2D3A"/>
                </a:solidFill>
              </a:rPr>
              <a:t>(</a:t>
            </a:r>
            <a:r>
              <a:rPr sz="1900" b="0">
                <a:solidFill>
                  <a:srgbClr val="A1123F"/>
                </a:solidFill>
                <a:latin typeface="Consolas"/>
              </a:rPr>
              <a:t>code/common/cen429_crypto.h</a:t>
            </a:r>
            <a:r>
              <a:rPr sz="1900" b="0">
                <a:solidFill>
                  <a:srgbClr val="1F2D3A"/>
                </a:solidFill>
              </a:rPr>
              <a:t>) — you don't need to install OpenSSL on Windows either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6394"/>
            <a:ext cx="10911535" cy="116967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0">
                <a:solidFill>
                  <a:srgbClr val="1F2D3A"/>
                </a:solidFill>
              </a:rPr>
              <a:t>Build: Windows </a:t>
            </a:r>
            <a:r>
              <a:rPr sz="1900" b="0">
                <a:solidFill>
                  <a:srgbClr val="A1123F"/>
                </a:solidFill>
                <a:latin typeface="Consolas"/>
              </a:rPr>
              <a:t>.build.ps1</a:t>
            </a:r>
            <a:r>
              <a:rPr sz="1900" b="0">
                <a:solidFill>
                  <a:srgbClr val="1F2D3A"/>
                </a:solidFill>
              </a:rPr>
              <a:t> · WSL/Linux </a:t>
            </a:r>
            <a:r>
              <a:rPr sz="1900" b="0">
                <a:solidFill>
                  <a:srgbClr val="A1123F"/>
                </a:solidFill>
                <a:latin typeface="Consolas"/>
              </a:rPr>
              <a:t>./build.sh</a:t>
            </a:r>
          </a:p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0">
                <a:solidFill>
                  <a:srgbClr val="1F2D3A"/>
                </a:solidFill>
              </a:rPr>
              <a:t>Run: in each demo's folder, Windows </a:t>
            </a:r>
            <a:r>
              <a:rPr sz="19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1900" b="0">
                <a:solidFill>
                  <a:srgbClr val="1F2D3A"/>
                </a:solidFill>
              </a:rPr>
              <a:t> · WSL/Linux </a:t>
            </a:r>
            <a:r>
              <a:rPr sz="19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1900" b="1">
                <a:solidFill>
                  <a:srgbClr val="006D77"/>
                </a:solidFill>
              </a:rPr>
              <a:t>• </a:t>
            </a:r>
            <a:r>
              <a:rPr sz="1900" b="1">
                <a:solidFill>
                  <a:srgbClr val="1F2D3A"/>
                </a:solidFill>
              </a:rPr>
              <a:t>Demo 6</a:t>
            </a:r>
            <a:r>
              <a:rPr sz="1900" b="0">
                <a:solidFill>
                  <a:srgbClr val="1F2D3A"/>
                </a:solidFill>
              </a:rPr>
              <a:t> (TOCTOU) only runs on WSL/Linux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85792"/>
            <a:ext cx="10911535" cy="121539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900" b="0">
                <a:solidFill>
                  <a:srgbClr val="1F2D3A"/>
                </a:solidFill>
              </a:rPr>
              <a:t>⚠️ </a:t>
            </a:r>
            <a:r>
              <a:rPr sz="1900" b="1">
                <a:solidFill>
                  <a:srgbClr val="1F2D3A"/>
                </a:solidFill>
              </a:rPr>
              <a:t>Ethics:</a:t>
            </a:r>
            <a:r>
              <a:rPr sz="1900" b="0">
                <a:solidFill>
                  <a:srgbClr val="1F2D3A"/>
                </a:solidFill>
              </a:rPr>
              <a:t> No demo contains real malware, self-replicating code, file deletion/encryption, or a network attack. All of them are </a:t>
            </a:r>
            <a:r>
              <a:rPr sz="1900" b="1">
                <a:solidFill>
                  <a:srgbClr val="1F2D3A"/>
                </a:solidFill>
              </a:rPr>
              <a:t>safe simulations</a:t>
            </a:r>
            <a:r>
              <a:rPr sz="1900" b="0">
                <a:solidFill>
                  <a:srgbClr val="1F2D3A"/>
                </a:solidFill>
              </a:rPr>
              <a:t> that run in their own folder without administrator rights; only try what you learn on your own computer.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Malware: Types and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"Virus" Is Not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Malware:</a:t>
            </a:r>
            <a:r>
              <a:rPr sz="2000" b="0">
                <a:solidFill>
                  <a:srgbClr val="1F2D3A"/>
                </a:solidFill>
              </a:rPr>
              <a:t> any program that causes harm without its owner's consent.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Virus is </a:t>
            </a:r>
            <a:r>
              <a:rPr sz="2000" b="1">
                <a:solidFill>
                  <a:srgbClr val="1F2D3A"/>
                </a:solidFill>
              </a:rPr>
              <a:t>only one type</a:t>
            </a:r>
            <a:r>
              <a:rPr sz="2000" b="0">
                <a:solidFill>
                  <a:srgbClr val="1F2D3A"/>
                </a:solidFill>
              </a:rPr>
              <a:t> of malware.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distinction is made by </a:t>
            </a:r>
            <a:r>
              <a:rPr sz="2000" b="1">
                <a:solidFill>
                  <a:srgbClr val="1F2D3A"/>
                </a:solidFill>
              </a:rPr>
              <a:t>how it spreads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Virus:</a:t>
            </a:r>
            <a:r>
              <a:rPr sz="2000" b="0">
                <a:solidFill>
                  <a:srgbClr val="1F2D3A"/>
                </a:solidFill>
              </a:rPr>
              <a:t> attaches to another file, spreads when the carrier runs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Worm:</a:t>
            </a:r>
            <a:r>
              <a:rPr sz="2000" b="0">
                <a:solidFill>
                  <a:srgbClr val="1F2D3A"/>
                </a:solidFill>
              </a:rPr>
              <a:t> spreads on its own, over the network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Trojan horse:</a:t>
            </a:r>
            <a:r>
              <a:rPr sz="2000" b="0">
                <a:solidFill>
                  <a:srgbClr val="1F2D3A"/>
                </a:solidFill>
              </a:rPr>
              <a:t> looks innocent, does not copy itself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1">
                <a:solidFill>
                  <a:srgbClr val="1F2D3A"/>
                </a:solidFill>
              </a:rPr>
              <a:t>Ransomware / rootkit / bot / wiper:</a:t>
            </a:r>
            <a:r>
              <a:rPr sz="2000" b="0">
                <a:solidFill>
                  <a:srgbClr val="1F2D3A"/>
                </a:solidFill>
              </a:rPr>
              <a:t> payload or behaviour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Week's Three Parts — Diagram</a:t>
            </a:r>
          </a:p>
        </p:txBody>
      </p:sp>
      <p:pic>
        <p:nvPicPr>
          <p:cNvPr id="7" name="Picture 6" descr="h02-01-haftanin-res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79" y="1325880"/>
            <a:ext cx="10611937" cy="34991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93471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Threat:</a:t>
            </a:r>
            <a:r>
              <a:rPr sz="2000" b="0">
                <a:solidFill>
                  <a:srgbClr val="1F2D3A"/>
                </a:solidFill>
              </a:rPr>
              <a:t> malware types and concealment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Defence:</a:t>
            </a:r>
            <a:r>
              <a:rPr sz="2000" b="0">
                <a:solidFill>
                  <a:srgbClr val="1F2D3A"/>
                </a:solidFill>
              </a:rPr>
              <a:t> access control and formal models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Common language:</a:t>
            </a:r>
            <a:r>
              <a:rPr sz="2000" b="0">
                <a:solidFill>
                  <a:srgbClr val="1F2D3A"/>
                </a:solidFill>
              </a:rPr>
              <a:t> CWE · CVE · CVSS · OWASP · MASVS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Short History — Malware and Security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1949</a:t>
            </a:r>
            <a:r>
              <a:rPr sz="1800" b="0">
                <a:solidFill>
                  <a:srgbClr val="1F2D3A"/>
                </a:solidFill>
              </a:rPr>
              <a:t> — von Neumann: </a:t>
            </a:r>
            <a:r>
              <a:rPr sz="1800" b="1">
                <a:solidFill>
                  <a:srgbClr val="1F2D3A"/>
                </a:solidFill>
              </a:rPr>
              <a:t>self-reproducing</a:t>
            </a:r>
            <a:r>
              <a:rPr sz="1800" b="0">
                <a:solidFill>
                  <a:srgbClr val="1F2D3A"/>
                </a:solidFill>
              </a:rPr>
              <a:t> automata (the virus's mathematical root)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1971</a:t>
            </a:r>
            <a:r>
              <a:rPr sz="1800" b="0">
                <a:solidFill>
                  <a:srgbClr val="1F2D3A"/>
                </a:solidFill>
              </a:rPr>
              <a:t> Creeper · </a:t>
            </a:r>
            <a:r>
              <a:rPr sz="1800" b="1">
                <a:solidFill>
                  <a:srgbClr val="1F2D3A"/>
                </a:solidFill>
              </a:rPr>
              <a:t>1986</a:t>
            </a:r>
            <a:r>
              <a:rPr sz="1800" b="0">
                <a:solidFill>
                  <a:srgbClr val="1F2D3A"/>
                </a:solidFill>
              </a:rPr>
              <a:t> Brain (first PC virus) · </a:t>
            </a:r>
            <a:r>
              <a:rPr sz="1800" b="1">
                <a:solidFill>
                  <a:srgbClr val="1F2D3A"/>
                </a:solidFill>
              </a:rPr>
              <a:t>1988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Morris Worm</a:t>
            </a:r>
            <a:r>
              <a:rPr sz="1800" b="0">
                <a:solidFill>
                  <a:srgbClr val="1F2D3A"/>
                </a:solidFill>
              </a:rPr>
              <a:t> halts the internet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1973–77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Bell–LaPadula</a:t>
            </a:r>
            <a:r>
              <a:rPr sz="1800" b="0">
                <a:solidFill>
                  <a:srgbClr val="1F2D3A"/>
                </a:solidFill>
              </a:rPr>
              <a:t> (confidentiality), </a:t>
            </a:r>
            <a:r>
              <a:rPr sz="1800" b="1">
                <a:solidFill>
                  <a:srgbClr val="1F2D3A"/>
                </a:solidFill>
              </a:rPr>
              <a:t>Biba</a:t>
            </a:r>
            <a:r>
              <a:rPr sz="1800" b="0">
                <a:solidFill>
                  <a:srgbClr val="1F2D3A"/>
                </a:solidFill>
              </a:rPr>
              <a:t> (integrity); </a:t>
            </a:r>
            <a:r>
              <a:rPr sz="1800" b="1">
                <a:solidFill>
                  <a:srgbClr val="1F2D3A"/>
                </a:solidFill>
              </a:rPr>
              <a:t>1987</a:t>
            </a:r>
            <a:r>
              <a:rPr sz="1800" b="0">
                <a:solidFill>
                  <a:srgbClr val="1F2D3A"/>
                </a:solidFill>
              </a:rPr>
              <a:t> Clark–Wilson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 → 2006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CVE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CWE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: a common classification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Two separate strands: </a:t>
            </a:r>
            <a:r>
              <a:rPr sz="1800" b="1">
                <a:solidFill>
                  <a:srgbClr val="1F2D3A"/>
                </a:solidFill>
              </a:rPr>
              <a:t>recognising malware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1">
                <a:solidFill>
                  <a:srgbClr val="1F2D3A"/>
                </a:solidFill>
              </a:rPr>
              <a:t>modelling access</a:t>
            </a:r>
            <a:r>
              <a:rPr sz="1800" b="0">
                <a:solidFill>
                  <a:srgbClr val="1F2D3A"/>
                </a:solidFill>
              </a:rPr>
              <a:t>. Today we see both at 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Short History of Malware — Diagram</a:t>
            </a:r>
          </a:p>
        </p:txBody>
      </p:sp>
      <p:pic>
        <p:nvPicPr>
          <p:cNvPr id="7" name="Picture 6" descr="h02-09-zararli-tarih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202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Short History: Milestones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79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931"/>
                <a:gridCol w="2727883"/>
                <a:gridCol w="6571719"/>
              </a:tblGrid>
              <a:tr h="368995"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1984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Cohen's definition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Theory: "complete detection is impossible"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1986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Brain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First widespread PC virus (boot sector)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1988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Morris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First major worm to spread across the internet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1989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Brewer–Nash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Chinese Wall: the conflict-of-interest model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1999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Schneier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Attack Trees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ILOVEYOU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Millions via an email attachment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Code 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Worm spreading in memory via a network flaw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2003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SQL Slammer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Half in 10 minutes — the fastest-spreading worm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Stuxnet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Worm targeting industrial controllers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WannaCry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Self-spreading ransomware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68995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NotPetya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A </a:t>
                      </a:r>
                      <a:r>
                        <a:rPr sz="1224" b="1">
                          <a:solidFill>
                            <a:srgbClr val="1F2D3A"/>
                          </a:solidFill>
                        </a:rPr>
                        <a:t>wiper</a:t>
                      </a:r>
                      <a:r>
                        <a:rPr sz="1224" b="0">
                          <a:solidFill>
                            <a:srgbClr val="1F2D3A"/>
                          </a:solidFill>
                        </a:rPr>
                        <a:t> (destructive) disguised as ransomware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002"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2019/2023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CVSS v3.1 / v4.0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24" b="0">
                          <a:solidFill>
                            <a:srgbClr val="1F2D3A"/>
                          </a:solidFill>
                        </a:rPr>
                        <a:t>Severity scoring standard, two generations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Cohen 1984: The Limit of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virus is a program that can </a:t>
            </a:r>
            <a:r>
              <a:rPr sz="2000" b="1">
                <a:solidFill>
                  <a:srgbClr val="1F2D3A"/>
                </a:solidFill>
              </a:rPr>
              <a:t>copy itself</a:t>
            </a:r>
            <a:r>
              <a:rPr sz="2000" b="0">
                <a:solidFill>
                  <a:srgbClr val="1F2D3A"/>
                </a:solidFill>
              </a:rPr>
              <a:t> (possibly by modifying itself) into other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Cohen proved: there is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general algorithm that correctly answers </a:t>
            </a:r>
            <a:r>
              <a:rPr sz="2000" b="1">
                <a:solidFill>
                  <a:srgbClr val="1F2D3A"/>
                </a:solidFill>
              </a:rPr>
              <a:t>"is this program a virus?"</a:t>
            </a:r>
            <a:r>
              <a:rPr sz="2000" b="0">
                <a:solidFill>
                  <a:srgbClr val="1F2D3A"/>
                </a:solidFill>
              </a:rPr>
              <a:t> in every case (it reduces from the halting problem).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Practical consequence: no antivirus can detect at 100%.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✅ </a:t>
            </a:r>
            <a:r>
              <a:rPr sz="2000" b="1">
                <a:solidFill>
                  <a:srgbClr val="1F2D3A"/>
                </a:solidFill>
              </a:rPr>
              <a:t>False positive:</a:t>
            </a:r>
            <a:r>
              <a:rPr sz="2000" b="0">
                <a:solidFill>
                  <a:srgbClr val="1F2D3A"/>
                </a:solidFill>
              </a:rPr>
              <a:t> flags a clean file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❌ </a:t>
            </a:r>
            <a:r>
              <a:rPr sz="2000" b="1">
                <a:solidFill>
                  <a:srgbClr val="1F2D3A"/>
                </a:solidFill>
              </a:rPr>
              <a:t>False negative:</a:t>
            </a:r>
            <a:r>
              <a:rPr sz="2000" b="0">
                <a:solidFill>
                  <a:srgbClr val="1F2D3A"/>
                </a:solidFill>
              </a:rPr>
              <a:t> misses a piece of malware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0537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 will see this with our own eyes in Demo 01.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Virus's Three Parts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338"/>
                <a:gridCol w="3135498"/>
                <a:gridCol w="438969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Job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Disease analogy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Infection mechanism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Copies itself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Entering a cell and multiplying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Trigger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"when?" condition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Incubation period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Payload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actual damage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Symptoms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Code that waits for the trigger condition and then goes off is called a </a:t>
            </a:r>
            <a:r>
              <a:rPr sz="2000" b="1">
                <a:solidFill>
                  <a:srgbClr val="1F2D3A"/>
                </a:solidFill>
              </a:rPr>
              <a:t>logic bomb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part is mandatory: there are viruses that only spread, with no payload (still a vulnerability all the same).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Virus's Three Parts — Diagram</a:t>
            </a:r>
          </a:p>
        </p:txBody>
      </p:sp>
      <p:pic>
        <p:nvPicPr>
          <p:cNvPr id="7" name="Picture 6" descr="h02-02-virus-uc-p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899" y="1325880"/>
            <a:ext cx="824589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Virus Subtypes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 (file) virus:</a:t>
            </a:r>
            <a:r>
              <a:rPr sz="2000" b="0">
                <a:solidFill>
                  <a:srgbClr val="1F2D3A"/>
                </a:solidFill>
              </a:rPr>
              <a:t> infects an executable file; when the file runs, the virus runs too.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Macro virus:</a:t>
            </a:r>
            <a:r>
              <a:rPr sz="2000" b="0">
                <a:solidFill>
                  <a:srgbClr val="1F2D3A"/>
                </a:solidFill>
              </a:rPr>
              <a:t> written in an office document's macro language; runs when the document opens (Melissa, 1999).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Boot sector virus:</a:t>
            </a:r>
            <a:r>
              <a:rPr sz="2000" b="0">
                <a:solidFill>
                  <a:srgbClr val="1F2D3A"/>
                </a:solidFill>
              </a:rPr>
              <a:t> infects the disk's first sector, runs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the operating system (Brain, 1986).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Modern </a:t>
            </a:r>
            <a:r>
              <a:rPr sz="2000" b="1">
                <a:solidFill>
                  <a:srgbClr val="1F2D3A"/>
                </a:solidFill>
              </a:rPr>
              <a:t>UEFI Secure Boot</a:t>
            </a:r>
            <a:r>
              <a:rPr sz="2000" b="0">
                <a:solidFill>
                  <a:srgbClr val="1F2D3A"/>
                </a:solidFill>
              </a:rPr>
              <a:t> has made this class much harder.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Worm, Trojan Horse, Ransomware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539"/>
                <a:gridCol w="5812686"/>
                <a:gridCol w="3059308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Spread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Worm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 its own, over the network; no user needed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Morris, Code Red, 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Trojan horse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Looks innocent; the user runs it; doesn't copy itself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"Free game", fake update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Ransomware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Encrypts files, demands money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CryptoLocker, 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 worm's danger is speed:</a:t>
            </a:r>
            <a:r>
              <a:rPr sz="2000" b="0">
                <a:solidFill>
                  <a:srgbClr val="1F2D3A"/>
                </a:solidFill>
              </a:rPr>
              <a:t> hundreds of thousands of machines within minutes.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Other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Rootkit: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hides</a:t>
            </a:r>
            <a:r>
              <a:rPr sz="2000" b="0">
                <a:solidFill>
                  <a:srgbClr val="1F2D3A"/>
                </a:solidFill>
              </a:rPr>
              <a:t> itself and other malware from the operating system (removes itself from file/process/network listings). The hardest class to detect.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Bot / botnet:</a:t>
            </a:r>
            <a:r>
              <a:rPr sz="2000" b="0">
                <a:solidFill>
                  <a:srgbClr val="1F2D3A"/>
                </a:solidFill>
              </a:rPr>
              <a:t> a network of machines taking remote commands (DDoS, spam, cryptomining).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Spyware / adware:</a:t>
            </a:r>
            <a:r>
              <a:rPr sz="2000" b="0">
                <a:solidFill>
                  <a:srgbClr val="1F2D3A"/>
                </a:solidFill>
              </a:rPr>
              <a:t> collects data or shows adverts.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Wiper:</a:t>
            </a:r>
            <a:r>
              <a:rPr sz="2000" b="0">
                <a:solidFill>
                  <a:srgbClr val="1F2D3A"/>
                </a:solidFill>
              </a:rPr>
              <a:t> looks like ransomware but </a:t>
            </a:r>
            <a:r>
              <a:rPr sz="2000" b="1">
                <a:solidFill>
                  <a:srgbClr val="1F2D3A"/>
                </a:solidFill>
              </a:rPr>
              <a:t>permanently destroys</a:t>
            </a:r>
            <a:r>
              <a:rPr sz="2000" b="0">
                <a:solidFill>
                  <a:srgbClr val="1F2D3A"/>
                </a:solidFill>
              </a:rPr>
              <a:t> data (NotPetya). The goal is not money but destruction.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132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Backdoor:</a:t>
            </a:r>
            <a:r>
              <a:rPr sz="2000" b="0">
                <a:solidFill>
                  <a:srgbClr val="1F2D3A"/>
                </a:solidFill>
              </a:rPr>
              <a:t> leaves behind hidden access.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Fast Does a Worm Spread?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SI model</a:t>
            </a:r>
            <a:r>
              <a:rPr sz="2000" b="0">
                <a:solidFill>
                  <a:srgbClr val="1F2D3A"/>
                </a:solidFill>
              </a:rPr>
              <a:t> — susceptible (S) and infected (I) machines: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i(t+dt) = i(t) + beta * i(t) * (1 - i(t)/N) * dt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beta * i</a:t>
            </a:r>
            <a:r>
              <a:rPr sz="2000" b="0">
                <a:solidFill>
                  <a:srgbClr val="1F2D3A"/>
                </a:solidFill>
              </a:rPr>
              <a:t>: as infected machines multiply, scanning speeds up →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growth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(1 - i/N)</a:t>
            </a:r>
            <a:r>
              <a:rPr sz="2000" b="0">
                <a:solidFill>
                  <a:srgbClr val="1F2D3A"/>
                </a:solidFill>
              </a:rPr>
              <a:t>: as susceptible machines shrink, the hit rate drops → </a:t>
            </a:r>
            <a:r>
              <a:rPr sz="2000" b="1">
                <a:solidFill>
                  <a:srgbClr val="1F2D3A"/>
                </a:solidFill>
              </a:rPr>
              <a:t>saturation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a quiet opening → a sudden explosion → saturation (an S-curve)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7748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The defender's only window is the </a:t>
            </a:r>
            <a:r>
              <a:rPr sz="2000" b="1">
                <a:solidFill>
                  <a:srgbClr val="1F2D3A"/>
                </a:solidFill>
              </a:rPr>
              <a:t>opening phase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SI Model: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 (susceptible):</a:t>
            </a:r>
            <a:r>
              <a:rPr sz="2000" b="0">
                <a:solidFill>
                  <a:srgbClr val="1F2D3A"/>
                </a:solidFill>
              </a:rPr>
              <a:t> not yet infected, vulnerable machine.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 (infected):</a:t>
            </a:r>
            <a:r>
              <a:rPr sz="2000" b="0">
                <a:solidFill>
                  <a:srgbClr val="1F2D3A"/>
                </a:solidFill>
              </a:rPr>
              <a:t> already infected, itself scanning too.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N:</a:t>
            </a:r>
            <a:r>
              <a:rPr sz="2000" b="0">
                <a:solidFill>
                  <a:srgbClr val="1F2D3A"/>
                </a:solidFill>
              </a:rPr>
              <a:t> total number of vulnerable machines (S + 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infected machine </a:t>
            </a:r>
            <a:r>
              <a:rPr sz="2000" b="1">
                <a:solidFill>
                  <a:srgbClr val="1F2D3A"/>
                </a:solidFill>
              </a:rPr>
              <a:t>scans a random address</a:t>
            </a:r>
            <a:r>
              <a:rPr sz="2000" b="0">
                <a:solidFill>
                  <a:srgbClr val="1F2D3A"/>
                </a:solidFill>
              </a:rPr>
              <a:t> per unit time; if the address happens to hit a susceptible machine, it infects that one too.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Epidemic Model — Diagram</a:t>
            </a:r>
          </a:p>
        </p:txBody>
      </p:sp>
      <p:pic>
        <p:nvPicPr>
          <p:cNvPr id="7" name="Picture 6" descr="h02-03-salgin-mod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7990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09 — Epidemic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code/week-02/09-outbreak-simulation</a:t>
            </a:r>
            <a:r>
              <a:rPr sz="1800" b="0">
                <a:solidFill>
                  <a:srgbClr val="1F2D3A"/>
                </a:solidFill>
              </a:rPr>
              <a:t> · calculation only, no network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Senaryo: Slammer benzeri (rastgele tarama, hizli UDP)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 54 s        78    0.1% |..............................|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1.5 dk     1430    1.9% |#.............................|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2.4 dk    45601   60.8% |##################............|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 3.3 dk    74429   99.2% |##############################|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%90 doygunluk:  Code Red ~13.3 sa · Slammer ~2.7 dk · Hitlist ~50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7033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Code Red (2001): ~359,000 servers · doubling time ~37 min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Slammer (2003): a single 404-byte UDP packet · doubled every ~8.5 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✅ Lesson: human-speed response can't keep up → </a:t>
            </a:r>
            <a:r>
              <a:rPr sz="1800" b="1">
                <a:solidFill>
                  <a:srgbClr val="1F2D3A"/>
                </a:solidFill>
              </a:rPr>
              <a:t>patch in advance, close ports, automate defence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Real Numbers: Code Red vs. Slammer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322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697"/>
                <a:gridCol w="5875441"/>
                <a:gridCol w="3357395"/>
              </a:tblGrid>
              <a:tr h="44074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Entry path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Speed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4074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 (2001)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IIS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.ida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overflow (CVE-2001-0500)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~359,000 servers; doubling time ~37 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07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Slammer (2003)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Server resolution service, single 404-byte UDP packet (CVE-2002-0649)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doubled every ~8.5 s; 90% within ~10 min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75783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Two things made Slammer fast: </a:t>
            </a:r>
            <a:r>
              <a:rPr sz="1800" b="1">
                <a:solidFill>
                  <a:srgbClr val="1F2D3A"/>
                </a:solidFill>
              </a:rPr>
              <a:t>a single packet</a:t>
            </a:r>
            <a:r>
              <a:rPr sz="1800" b="0">
                <a:solidFill>
                  <a:srgbClr val="1F2D3A"/>
                </a:solidFill>
              </a:rPr>
              <a:t> was enough (no connection setup), and it scanned targets </a:t>
            </a:r>
            <a:r>
              <a:rPr sz="1800" b="1">
                <a:solidFill>
                  <a:srgbClr val="1F2D3A"/>
                </a:solidFill>
              </a:rPr>
              <a:t>as fast as possible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Slammer Slow Down?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After the first minute, its spread rate dropped.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Why? </a:t>
            </a:r>
            <a:r>
              <a:rPr sz="2000" b="1">
                <a:solidFill>
                  <a:srgbClr val="1F2D3A"/>
                </a:solidFill>
              </a:rPr>
              <a:t>Not defence</a:t>
            </a:r>
            <a:r>
              <a:rPr sz="2000" b="0">
                <a:solidFill>
                  <a:srgbClr val="1F2D3A"/>
                </a:solidFill>
              </a:rPr>
              <a:t> — the network's </a:t>
            </a:r>
            <a:r>
              <a:rPr sz="2000" b="1">
                <a:solidFill>
                  <a:srgbClr val="1F2D3A"/>
                </a:solidFill>
              </a:rPr>
              <a:t>bandwidth filled up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worm clogged its own propagation channel with its own traffic.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Lesson: sometimes the attacker's own success creates its own limit.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Doubling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time it takes for the number of infected machines to </a:t>
            </a:r>
            <a:r>
              <a:rPr sz="2000" b="1">
                <a:solidFill>
                  <a:srgbClr val="1F2D3A"/>
                </a:solidFill>
              </a:rPr>
              <a:t>double</a:t>
            </a:r>
            <a:r>
              <a:rPr sz="2000" b="0">
                <a:solidFill>
                  <a:srgbClr val="1F2D3A"/>
                </a:solidFill>
              </a:rPr>
              <a:t> is the most intuitive measure of an epidemic's speed.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Code Red: doubling time ~</a:t>
            </a:r>
            <a:r>
              <a:rPr sz="2000" b="1">
                <a:solidFill>
                  <a:srgbClr val="1F2D3A"/>
                </a:solidFill>
              </a:rPr>
              <a:t>37 minutes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Slammer: doubling time ~</a:t>
            </a:r>
            <a:r>
              <a:rPr sz="2000" b="1">
                <a:solidFill>
                  <a:srgbClr val="1F2D3A"/>
                </a:solidFill>
              </a:rPr>
              <a:t>8.5 seconds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~260-fold difference — even though both are "worms," the defence window is </a:t>
            </a:r>
            <a:r>
              <a:rPr sz="2000" b="1">
                <a:solidFill>
                  <a:srgbClr val="1F2D3A"/>
                </a:solidFill>
              </a:rPr>
              <a:t>completely different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Reading the Demo 09 Output: The Opening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the first 54 seconds only </a:t>
            </a:r>
            <a:r>
              <a:rPr sz="2000" b="1">
                <a:solidFill>
                  <a:srgbClr val="1F2D3A"/>
                </a:solidFill>
              </a:rPr>
              <a:t>78 machines</a:t>
            </a:r>
            <a:r>
              <a:rPr sz="2000" b="0">
                <a:solidFill>
                  <a:srgbClr val="1F2D3A"/>
                </a:solidFill>
              </a:rPr>
              <a:t> are infected (0.1%).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Almost nothing is visible on the graph.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1.5 minutes later the explosion </a:t>
            </a:r>
            <a:r>
              <a:rPr sz="2000" b="1">
                <a:solidFill>
                  <a:srgbClr val="1F2D3A"/>
                </a:solidFill>
              </a:rPr>
              <a:t>begins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Saying "it's small for now" is the </a:t>
            </a:r>
            <a:r>
              <a:rPr sz="2000" b="1">
                <a:solidFill>
                  <a:srgbClr val="1F2D3A"/>
                </a:solidFill>
              </a:rPr>
              <a:t>most expensive mistake</a:t>
            </a:r>
            <a:r>
              <a:rPr sz="2000" b="0">
                <a:solidFill>
                  <a:srgbClr val="1F2D3A"/>
                </a:solidFill>
              </a:rPr>
              <a:t> with exponential growth.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Reading the Demo 09 Output: Speed and Hitlist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Speed (beta):</a:t>
            </a:r>
            <a:r>
              <a:rPr sz="2000" b="0">
                <a:solidFill>
                  <a:srgbClr val="1F2D3A"/>
                </a:solidFill>
              </a:rPr>
              <a:t> raising the scanning speed brings saturation down from </a:t>
            </a:r>
            <a:r>
              <a:rPr sz="2000" b="1">
                <a:solidFill>
                  <a:srgbClr val="1F2D3A"/>
                </a:solidFill>
              </a:rPr>
              <a:t>hours to minutes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That's why defence must be </a:t>
            </a:r>
            <a:r>
              <a:rPr sz="2000" b="1">
                <a:solidFill>
                  <a:srgbClr val="1F2D3A"/>
                </a:solidFill>
              </a:rPr>
              <a:t>automatic</a:t>
            </a:r>
            <a:r>
              <a:rPr sz="2000" b="0">
                <a:solidFill>
                  <a:srgbClr val="1F2D3A"/>
                </a:solidFill>
              </a:rPr>
              <a:t>: a firewall rule, network segmentation, patching in advance.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Hitlist:</a:t>
            </a:r>
            <a:r>
              <a:rPr sz="2000" b="0">
                <a:solidFill>
                  <a:srgbClr val="1F2D3A"/>
                </a:solidFill>
              </a:rPr>
              <a:t> if the attacker starts with a ready-made target list, the opening phase is </a:t>
            </a:r>
            <a:r>
              <a:rPr sz="2000" b="1">
                <a:solidFill>
                  <a:srgbClr val="1F2D3A"/>
                </a:solidFill>
              </a:rPr>
              <a:t>skipped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defender's already-narrow window </a:t>
            </a:r>
            <a:r>
              <a:rPr sz="2000" b="1">
                <a:solidFill>
                  <a:srgbClr val="1F2D3A"/>
                </a:solidFill>
              </a:rPr>
              <a:t>closes completely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SI Epidemic Model: Step by Step (animation)</a:t>
            </a:r>
          </a:p>
        </p:txBody>
      </p:sp>
      <p:pic>
        <p:nvPicPr>
          <p:cNvPr id="7" name="Picture 6" descr="epidemic-sprea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818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Epidemic — Edge Case: Already Half-Infected</a:t>
            </a:r>
          </a:p>
        </p:txBody>
      </p:sp>
      <p:pic>
        <p:nvPicPr>
          <p:cNvPr id="7" name="Picture 6" descr="epidemic-spread--edge-already-half-infec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818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Lesson for the Programmer (Epidemics)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programmer does not determine the propagation speed.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the programmer makes </a:t>
            </a:r>
            <a:r>
              <a:rPr sz="2000" b="1">
                <a:solidFill>
                  <a:srgbClr val="1F2D3A"/>
                </a:solidFill>
              </a:rPr>
              <a:t>the mistake that makes the initial infection possible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Code Red, Slammer, Blaster — all of them spread through a </a:t>
            </a:r>
            <a:r>
              <a:rPr sz="2000" b="1">
                <a:solidFill>
                  <a:srgbClr val="1F2D3A"/>
                </a:solidFill>
              </a:rPr>
              <a:t>bounds-unchecked</a:t>
            </a:r>
            <a:r>
              <a:rPr sz="2000" b="0">
                <a:solidFill>
                  <a:srgbClr val="1F2D3A"/>
                </a:solidFill>
              </a:rPr>
              <a:t> overflow.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listening network port is an </a:t>
            </a:r>
            <a:r>
              <a:rPr sz="2000" b="1">
                <a:solidFill>
                  <a:srgbClr val="1F2D3A"/>
                </a:solidFill>
              </a:rPr>
              <a:t>attack surface</a:t>
            </a:r>
            <a:r>
              <a:rPr sz="2000" b="0">
                <a:solidFill>
                  <a:srgbClr val="1F2D3A"/>
                </a:solidFill>
              </a:rPr>
              <a:t>; never open a service you don't use.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Try It Yourself: What If Beta Is Halved?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Halve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beta</a:t>
            </a:r>
            <a:r>
              <a:rPr sz="2000" b="0">
                <a:solidFill>
                  <a:srgbClr val="1F2D3A"/>
                </a:solidFill>
              </a:rPr>
              <a:t> value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outbreak.c</a:t>
            </a:r>
            <a:r>
              <a:rPr sz="2000" b="0">
                <a:solidFill>
                  <a:srgbClr val="1F2D3A"/>
                </a:solidFill>
              </a:rPr>
              <a:t> and rerun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does the saturation time change? In the hitlist scenario, if you raise </a:t>
            </a:r>
            <a:r>
              <a:rPr sz="2000" b="0">
                <a:solidFill>
                  <a:srgbClr val="A1123F"/>
                </a:solidFill>
                <a:latin typeface="Consolas"/>
              </a:rPr>
              <a:t>i0</a:t>
            </a:r>
            <a:r>
              <a:rPr sz="2000" b="0">
                <a:solidFill>
                  <a:srgbClr val="1F2D3A"/>
                </a:solidFill>
              </a:rPr>
              <a:t> to 100, how much of a difference remains?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Halving beta slows growth, so the saturation time </a:t>
            </a:r>
            <a:r>
              <a:rPr sz="2000" b="1">
                <a:solidFill>
                  <a:srgbClr val="1F2D3A"/>
                </a:solidFill>
              </a:rPr>
              <a:t>lengthens</a:t>
            </a:r>
            <a:r>
              <a:rPr sz="2000" b="0">
                <a:solidFill>
                  <a:srgbClr val="1F2D3A"/>
                </a:solidFill>
              </a:rPr>
              <a:t>. In the hitlist scenario the opening phase is already skipped, so raising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i0</a:t>
            </a:r>
            <a:r>
              <a:rPr sz="2000" b="0">
                <a:solidFill>
                  <a:srgbClr val="1F2D3A"/>
                </a:solidFill>
              </a:rPr>
              <a:t> has a </a:t>
            </a:r>
            <a:r>
              <a:rPr sz="2000" b="1">
                <a:solidFill>
                  <a:srgbClr val="1F2D3A"/>
                </a:solidFill>
              </a:rPr>
              <a:t>smaller</a:t>
            </a:r>
            <a:r>
              <a:rPr sz="2000" b="0">
                <a:solidFill>
                  <a:srgbClr val="1F2D3A"/>
                </a:solidFill>
              </a:rPr>
              <a:t> effect — the hitlist's real power is skipping the opening, not the starting count.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Propagation and Concealment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Concealment Ladder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91"/>
                <a:gridCol w="5736992"/>
                <a:gridCol w="2812251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changes?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Defence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Encryption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Body encrypted,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decryptor fixed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 the decryptor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Oligomorphism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handful of decryptor forms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 them 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Polymorphism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Decryptor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regenerated in every copy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Decrypt via emulation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Metamorphism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 encryption,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the entire code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is rewritten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Watch behaviour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Key idea:</a:t>
            </a:r>
            <a:r>
              <a:rPr sz="1800" b="0">
                <a:solidFill>
                  <a:srgbClr val="1F2D3A"/>
                </a:solidFill>
              </a:rPr>
              <a:t> the encrypted body looks different in every copy, but </a:t>
            </a:r>
            <a:r>
              <a:rPr sz="1800" b="1">
                <a:solidFill>
                  <a:srgbClr val="1F2D3A"/>
                </a:solidFill>
              </a:rPr>
              <a:t>always the same once decrypted.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Structure of an Encrypted/Polymorphic Virus</a:t>
            </a:r>
          </a:p>
        </p:txBody>
      </p:sp>
      <p:pic>
        <p:nvPicPr>
          <p:cNvPr id="7" name="Picture 6" descr="h02-04-polimorf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962" y="1325880"/>
            <a:ext cx="8763770" cy="42783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13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Emulation</a:t>
            </a:r>
            <a:r>
              <a:rPr sz="2000" b="0">
                <a:solidFill>
                  <a:srgbClr val="1F2D3A"/>
                </a:solidFill>
              </a:rPr>
              <a:t> runs the decryptor exactly to see this last box.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Toy Antivirus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code/week-02/01-signature-scanner</a:t>
            </a:r>
            <a:r>
              <a:rPr sz="2000" b="0">
                <a:solidFill>
                  <a:srgbClr val="1F2D3A"/>
                </a:solidFill>
              </a:rPr>
              <a:t> · Book: Recipe 12.1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harmless, non-executable </a:t>
            </a:r>
            <a:r>
              <a:rPr sz="2000" b="1">
                <a:solidFill>
                  <a:srgbClr val="1F2D3A"/>
                </a:solidFill>
              </a:rPr>
              <a:t>"CAPSULE"</a:t>
            </a:r>
            <a:r>
              <a:rPr sz="2000" b="0">
                <a:solidFill>
                  <a:srgbClr val="1F2D3A"/>
                </a:solidFill>
              </a:rPr>
              <a:t> format: header + decryptor + body.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Four methods, four limits: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828544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86"/>
                <a:gridCol w="3377379"/>
                <a:gridCol w="5325868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Catches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Evaded by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Hash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exact same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single byte changing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Pattern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small change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decryptor changing (polymorphism)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Heuristic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Signature-free samples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False positives/negatives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Emulation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All of them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Anti-emulation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Hash Is Fragile, Pattern Is Resilient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2 (hash):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sample_a.bin        CAUGHT  Sample.BlueCat.A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sample_a_1byte.bin  CLEAN   &lt;- one byte changed, digest is different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3 (pattern):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poly_1.bin  CAUGHT  Sample.Decoder.xs32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poly_2.bin  CAUGHT  Sample.Decoder.xs32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poly_3.bin  CLEAN   &lt;- the decoder changed too (polymorphism)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1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Hash</a:t>
            </a:r>
            <a:r>
              <a:rPr sz="2000" b="0">
                <a:solidFill>
                  <a:srgbClr val="1F2D3A"/>
                </a:solidFill>
              </a:rPr>
              <a:t> breaks on a single byte due to the avalanche effect; </a:t>
            </a:r>
            <a:r>
              <a:rPr sz="2000" b="1">
                <a:solidFill>
                  <a:srgbClr val="1F2D3A"/>
                </a:solidFill>
              </a:rPr>
              <a:t>pattern</a:t>
            </a:r>
            <a:r>
              <a:rPr sz="2000" b="0">
                <a:solidFill>
                  <a:srgbClr val="1F2D3A"/>
                </a:solidFill>
              </a:rPr>
              <a:t> catches the decryptor, but polymorphism evades it too.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Heuristic: Two Kinds of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5 (heuristic):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sample_a.bin  CLEAN       score=  0   &lt;- FALSE NEGATIVE (missed it)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poly_1.bin    SUSPICIOUS  score= 80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archive.bin   SUSPICIOUS  score= 50   &lt;- FALSE POSITIVE (harmless)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Caught the polymorphic sample without a signature ✅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flagged a harmless high-entropy file as suspicious ❌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And missed the plain-body sample 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This is exactly Cohen's uncertainty.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01 — Emulation Solves All of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STEP 6 (emulation):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poly_1.bin  CAUGHT  ... | 5 commands, 0 NOP, 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poly_2.bin  CAUGHT  ... | 5 commands, 0 NOP, xs32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poly_3.bin  CAUGHT  ... | 8 commands, 4 NOP, lcg8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Runs the decryptor in a </a:t>
            </a:r>
            <a:r>
              <a:rPr sz="2000" b="1">
                <a:solidFill>
                  <a:srgbClr val="1F2D3A"/>
                </a:solidFill>
              </a:rPr>
              <a:t>safe virtual machine</a:t>
            </a:r>
            <a:r>
              <a:rPr sz="2000" b="0">
                <a:solidFill>
                  <a:srgbClr val="1F2D3A"/>
                </a:solidFill>
              </a:rPr>
              <a:t> and scans the unpacked body.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three polymorphic copies reduced to </a:t>
            </a:r>
            <a:r>
              <a:rPr sz="2000" b="1">
                <a:solidFill>
                  <a:srgbClr val="1F2D3A"/>
                </a:solidFill>
              </a:rPr>
              <a:t>the same signature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Powerful but </a:t>
            </a:r>
            <a:r>
              <a:rPr sz="2000" b="1">
                <a:solidFill>
                  <a:srgbClr val="1F2D3A"/>
                </a:solidFill>
              </a:rPr>
              <a:t>expensive</a:t>
            </a:r>
            <a:r>
              <a:rPr sz="2000" b="0">
                <a:solidFill>
                  <a:srgbClr val="1F2D3A"/>
                </a:solidFill>
              </a:rPr>
              <a:t>; can be evaded if the malware detects "I'm in a virtual machine."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249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Conclusion: one method isn't enough → layered defence.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Scanning: Hash + Pattern + Emulation (animation)</a:t>
            </a:r>
          </a:p>
        </p:txBody>
      </p:sp>
      <p:pic>
        <p:nvPicPr>
          <p:cNvPr id="7" name="Picture 6" descr="signature-sca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0985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Signature Scan — Edge Case: Signature at the Last Position</a:t>
            </a:r>
          </a:p>
        </p:txBody>
      </p:sp>
      <p:pic>
        <p:nvPicPr>
          <p:cNvPr id="7" name="Picture 6" descr="signature-scan--edge-found-e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307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Entropy: A Measure of Randomness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H = -sum_{b=0}^{255} p(b),log_2 p(b) quad (0 dots 8 text{ bits/byte})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 ~ 0:</a:t>
            </a:r>
            <a:r>
              <a:rPr sz="2000" b="0">
                <a:solidFill>
                  <a:srgbClr val="1F2D3A"/>
                </a:solidFill>
              </a:rPr>
              <a:t> always the same byte · </a:t>
            </a:r>
            <a:r>
              <a:rPr sz="2000" b="1">
                <a:solidFill>
                  <a:srgbClr val="1F2D3A"/>
                </a:solidFill>
              </a:rPr>
              <a:t>H ~ 4–5:</a:t>
            </a:r>
            <a:r>
              <a:rPr sz="2000" b="0">
                <a:solidFill>
                  <a:srgbClr val="1F2D3A"/>
                </a:solidFill>
              </a:rPr>
              <a:t> text/code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 ~ 6:</a:t>
            </a:r>
            <a:r>
              <a:rPr sz="2000" b="0">
                <a:solidFill>
                  <a:srgbClr val="1F2D3A"/>
                </a:solidFill>
              </a:rPr>
              <a:t> compiled program · </a:t>
            </a:r>
            <a:r>
              <a:rPr sz="2000" b="1">
                <a:solidFill>
                  <a:srgbClr val="1F2D3A"/>
                </a:solidFill>
              </a:rPr>
              <a:t>H ~ 8:</a:t>
            </a:r>
            <a:r>
              <a:rPr sz="2000" b="0">
                <a:solidFill>
                  <a:srgbClr val="1F2D3A"/>
                </a:solidFill>
              </a:rPr>
              <a:t> encrypted/packed/random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Antivirus: "is this code packed/encrypted?" · EDR: "a process rapidly encrypting files?" (ransomware)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02 — Entropy 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code/week-02/02-entropy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tekduze.txt   0.00  |........................| tekduze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belge.txt     4.17  |#############...........| dusuk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kod.bin       6.23  |###################.....| orta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sifreli.bin   7.95  |########################| YUKSEK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rastgele.bin  7.95  |########################| YUKSEK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3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Entropy alone doesn't say "malicious": </a:t>
            </a:r>
            <a:r>
              <a:rPr sz="2000" b="0">
                <a:solidFill>
                  <a:srgbClr val="A1123F"/>
                </a:solidFill>
                <a:latin typeface="Consolas"/>
              </a:rPr>
              <a:t>.zip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.png</a:t>
            </a:r>
            <a:r>
              <a:rPr sz="2000" b="0">
                <a:solidFill>
                  <a:srgbClr val="1F2D3A"/>
                </a:solidFill>
              </a:rPr>
              <a:t> are high too. It's a clue only when it's high in an </a:t>
            </a:r>
            <a:r>
              <a:rPr sz="2000" b="1">
                <a:solidFill>
                  <a:srgbClr val="1F2D3A"/>
                </a:solidFill>
              </a:rPr>
              <a:t>unexpected place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02 — Hot Zone and Ransomware Signature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Mixed file (window 512):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1024-1535  4.04  low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1536-2047  7.54  HIGH  &lt;- hidden encrypted section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2048-2559  7.57  HIGH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Ransomware trace: document.txt 4.06 --&gt; encrypted.bin 7.94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packed program's pattern: </a:t>
            </a:r>
            <a:r>
              <a:rPr sz="2000" b="1">
                <a:solidFill>
                  <a:srgbClr val="1F2D3A"/>
                </a:solidFill>
              </a:rPr>
              <a:t>a small unpacker + a high-entropy body.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process makes this jump across many files in a short time, </a:t>
            </a:r>
            <a:r>
              <a:rPr sz="2000" b="1">
                <a:solidFill>
                  <a:srgbClr val="1F2D3A"/>
                </a:solidFill>
              </a:rPr>
              <a:t>behaviour-based</a:t>
            </a:r>
            <a:r>
              <a:rPr sz="2000" b="0">
                <a:solidFill>
                  <a:srgbClr val="1F2D3A"/>
                </a:solidFill>
              </a:rPr>
              <a:t> protection raises an alarm.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Entropy: Windowed Scanning (animation)</a:t>
            </a:r>
          </a:p>
        </p:txBody>
      </p:sp>
      <p:pic>
        <p:nvPicPr>
          <p:cNvPr id="7" name="Picture 6" descr="entrop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2741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Entropy — Edge Case: Window Doesn't Divide Evenly</a:t>
            </a:r>
          </a:p>
        </p:txBody>
      </p:sp>
      <p:pic>
        <p:nvPicPr>
          <p:cNvPr id="7" name="Picture 6" descr="entropy--edge-window-does-not-divide-evenl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274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Countermeasures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785"/>
                <a:gridCol w="4298483"/>
                <a:gridCol w="418826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Strong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Weak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Signature-based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Fast, low false-positive 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Misses unknown/polymorphic samples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Heuristic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New, signature-free samples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False positives/negatives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Behaviour-based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Resistant to concealment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Damage may already have started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Sandbox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Sees real behaviour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Slow; anti-VM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Emulation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Unpacks the decryptor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Anti-emulation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Reputation / cloud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Good against fast-spreading threats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Privacy, connectivity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Modern EDR combines all of them, weighting behaviour most heavily.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Countermeasure Layers — Diagram</a:t>
            </a:r>
          </a:p>
        </p:txBody>
      </p:sp>
      <p:pic>
        <p:nvPicPr>
          <p:cNvPr id="7" name="Picture 6" descr="h02-10-karsi-onlem-katman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96" y="1325880"/>
            <a:ext cx="10697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Behavioural Trace in EDR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process reads </a:t>
            </a:r>
            <a:r>
              <a:rPr sz="2000" b="1">
                <a:solidFill>
                  <a:srgbClr val="1F2D3A"/>
                </a:solidFill>
              </a:rPr>
              <a:t>hundreds of files</a:t>
            </a:r>
            <a:r>
              <a:rPr sz="2000" b="0">
                <a:solidFill>
                  <a:srgbClr val="1F2D3A"/>
                </a:solidFill>
              </a:rPr>
              <a:t> in a short time and writes them back in high-entropy form.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Without even looking</a:t>
            </a:r>
            <a:r>
              <a:rPr sz="2000" b="0">
                <a:solidFill>
                  <a:srgbClr val="1F2D3A"/>
                </a:solidFill>
              </a:rPr>
              <a:t> at the content, this behaviour alone is near-certain evidence of </a:t>
            </a:r>
            <a:r>
              <a:rPr sz="2000" b="1">
                <a:solidFill>
                  <a:srgbClr val="1F2D3A"/>
                </a:solidFill>
              </a:rPr>
              <a:t>ransomware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Behaviour-based protection looks at what a file "does," not what it "is."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clue is the runtime version of </a:t>
            </a:r>
            <a:r>
              <a:rPr sz="2000" b="1">
                <a:solidFill>
                  <a:srgbClr val="1F2D3A"/>
                </a:solidFill>
              </a:rPr>
              <a:t>the same idea</a:t>
            </a:r>
            <a:r>
              <a:rPr sz="2000" b="0">
                <a:solidFill>
                  <a:srgbClr val="1F2D3A"/>
                </a:solidFill>
              </a:rPr>
              <a:t> as the entropy jump in Demo 02.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Same Toolbox: Attacker and Defender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technique malware uses to </a:t>
            </a:r>
            <a:r>
              <a:rPr sz="2000" b="1">
                <a:solidFill>
                  <a:srgbClr val="1F2D3A"/>
                </a:solidFill>
              </a:rPr>
              <a:t>hide</a:t>
            </a:r>
            <a:r>
              <a:rPr sz="2000" b="0">
                <a:solidFill>
                  <a:srgbClr val="1F2D3A"/>
                </a:solidFill>
              </a:rPr>
              <a:t> and the technique legitimate software uses to </a:t>
            </a:r>
            <a:r>
              <a:rPr sz="2000" b="1">
                <a:solidFill>
                  <a:srgbClr val="1F2D3A"/>
                </a:solidFill>
              </a:rPr>
              <a:t>protect itself</a:t>
            </a:r>
            <a:r>
              <a:rPr sz="2000" b="0">
                <a:solidFill>
                  <a:srgbClr val="1F2D3A"/>
                </a:solidFill>
              </a:rPr>
              <a:t> are very often </a:t>
            </a:r>
            <a:r>
              <a:rPr sz="2000" b="1">
                <a:solidFill>
                  <a:srgbClr val="1F2D3A"/>
                </a:solidFill>
              </a:rPr>
              <a:t>the same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difference is </a:t>
            </a:r>
            <a:r>
              <a:rPr sz="2000" b="1">
                <a:solidFill>
                  <a:srgbClr val="1F2D3A"/>
                </a:solidFill>
              </a:rPr>
              <a:t>intent and context</a:t>
            </a:r>
            <a:r>
              <a:rPr sz="2000" b="0">
                <a:solidFill>
                  <a:srgbClr val="1F2D3A"/>
                </a:solidFill>
              </a:rPr>
              <a:t>: one protects your asset, the other evades signatures.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encrypted body + decryptor pattern exists both in a polymorphic virus and in a protected mobile app.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symmetry will come back throughout the term (Weeks 9, 11).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Example: Why Does a Mobile Payment App Keep Constants Encrypted?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strings/constants are kept encrypted, decrypted only at use, to </a:t>
            </a:r>
            <a:r>
              <a:rPr sz="2000" b="1">
                <a:solidFill>
                  <a:srgbClr val="1F2D3A"/>
                </a:solidFill>
              </a:rPr>
              <a:t>slow down</a:t>
            </a:r>
            <a:r>
              <a:rPr sz="2000" b="0">
                <a:solidFill>
                  <a:srgbClr val="1F2D3A"/>
                </a:solidFill>
              </a:rPr>
              <a:t> reverse engineering.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an assessor sees a </a:t>
            </a:r>
            <a:r>
              <a:rPr sz="2000" b="1">
                <a:solidFill>
                  <a:srgbClr val="1F2D3A"/>
                </a:solidFill>
              </a:rPr>
              <a:t>high-entropy region</a:t>
            </a:r>
            <a:r>
              <a:rPr sz="2000" b="0">
                <a:solidFill>
                  <a:srgbClr val="1F2D3A"/>
                </a:solidFill>
              </a:rPr>
              <a:t> in a binary, they ask: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Where is the decryptor?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How does it find the key?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How long does the key stay exposed in memory?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entropy measurement is the </a:t>
            </a:r>
            <a:r>
              <a:rPr sz="2000" b="1">
                <a:solidFill>
                  <a:srgbClr val="1F2D3A"/>
                </a:solidFill>
              </a:rPr>
              <a:t>common tool</a:t>
            </a:r>
            <a:r>
              <a:rPr sz="2000" b="0">
                <a:solidFill>
                  <a:srgbClr val="1F2D3A"/>
                </a:solidFill>
              </a:rPr>
              <a:t> of both the antivirus and the assessor.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Reputation / Cloud-Based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file's </a:t>
            </a:r>
            <a:r>
              <a:rPr sz="2000" b="1">
                <a:solidFill>
                  <a:srgbClr val="1F2D3A"/>
                </a:solidFill>
              </a:rPr>
              <a:t>prevalence, source, and digital signature</a:t>
            </a:r>
            <a:r>
              <a:rPr sz="2000" b="0">
                <a:solidFill>
                  <a:srgbClr val="1F2D3A"/>
                </a:solidFill>
              </a:rPr>
              <a:t> are queried in the cloud.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"Seen on millions of users and clean" is trusted; "never seen, unsigned" is suspicious.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Strength: updates instantly against </a:t>
            </a:r>
            <a:r>
              <a:rPr sz="2000" b="1">
                <a:solidFill>
                  <a:srgbClr val="1F2D3A"/>
                </a:solidFill>
              </a:rPr>
              <a:t>fast-spreading</a:t>
            </a:r>
            <a:r>
              <a:rPr sz="2000" b="0">
                <a:solidFill>
                  <a:srgbClr val="1F2D3A"/>
                </a:solidFill>
              </a:rPr>
              <a:t> threats.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Weakness: needs </a:t>
            </a:r>
            <a:r>
              <a:rPr sz="2000" b="1">
                <a:solidFill>
                  <a:srgbClr val="1F2D3A"/>
                </a:solidFill>
              </a:rPr>
              <a:t>connectivity</a:t>
            </a:r>
            <a:r>
              <a:rPr sz="2000" b="0">
                <a:solidFill>
                  <a:srgbClr val="1F2D3A"/>
                </a:solidFill>
              </a:rPr>
              <a:t> and raises </a:t>
            </a:r>
            <a:r>
              <a:rPr sz="2000" b="1">
                <a:solidFill>
                  <a:srgbClr val="1F2D3A"/>
                </a:solidFill>
              </a:rPr>
              <a:t>privacy</a:t>
            </a:r>
            <a:r>
              <a:rPr sz="2000" b="0">
                <a:solidFill>
                  <a:srgbClr val="1F2D3A"/>
                </a:solidFill>
              </a:rPr>
              <a:t> concerns (file information goes to the cloud).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07 — Rule-Based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code/week-02/07-rule-engine</a:t>
            </a:r>
            <a:r>
              <a:rPr sz="1800" b="0">
                <a:solidFill>
                  <a:srgbClr val="1F2D3A"/>
                </a:solidFill>
              </a:rPr>
              <a:t> · a YARA-like mini engine, </a:t>
            </a:r>
            <a:r>
              <a:rPr sz="1800" b="1">
                <a:solidFill>
                  <a:srgbClr val="1F2D3A"/>
                </a:solidFill>
              </a:rPr>
              <a:t>our own harmless patterns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29479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rule Word_Context {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string $a     = "download"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string $b     = "run"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string $magic = "CAPSULE/1"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condition ($a and $b) and $magic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247033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807"/>
                <a:gridCol w="4441863"/>
                <a:gridCol w="4441863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Lesson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Harmless manual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Word_Pair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matched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❌ A context-free rule →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false positive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Modified variant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only the wildcard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??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 pattern caught 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Target the skeleton that doesn't change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Corrupt rule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REJECTED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A detection tool is a parser too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Engine: The Condition Evaluator (animation)</a:t>
            </a:r>
          </a:p>
        </p:txBody>
      </p:sp>
      <p:pic>
        <p:nvPicPr>
          <p:cNvPr id="7" name="Picture 6" descr="rule-condition-ev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8344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Condition Evaluator — Edge Case: A Broken Condition</a:t>
            </a:r>
          </a:p>
        </p:txBody>
      </p:sp>
      <p:pic>
        <p:nvPicPr>
          <p:cNvPr id="7" name="Picture 6" descr="rule-condition-eval--edge-syntax-error-incomplete-an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770" y="1325880"/>
            <a:ext cx="97001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Blacklist vs. Whitelist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Blacklist:</a:t>
            </a:r>
            <a:r>
              <a:rPr sz="2000" b="0">
                <a:solidFill>
                  <a:srgbClr val="1F2D3A"/>
                </a:solidFill>
              </a:rPr>
              <a:t> "recognise the bad" — list known malware, allow everything else.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Whitelist:</a:t>
            </a:r>
            <a:r>
              <a:rPr sz="2000" b="0">
                <a:solidFill>
                  <a:srgbClr val="1F2D3A"/>
                </a:solidFill>
              </a:rPr>
              <a:t> "recognise the good" — list known-good, and </a:t>
            </a:r>
            <a:r>
              <a:rPr sz="2000" b="1">
                <a:solidFill>
                  <a:srgbClr val="1F2D3A"/>
                </a:solidFill>
              </a:rPr>
              <a:t>be suspicious of everything else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Integrity monitoring is the </a:t>
            </a:r>
            <a:r>
              <a:rPr sz="2000" b="1">
                <a:solidFill>
                  <a:srgbClr val="1F2D3A"/>
                </a:solidFill>
              </a:rPr>
              <a:t>file-level</a:t>
            </a:r>
            <a:r>
              <a:rPr sz="2000" b="0">
                <a:solidFill>
                  <a:srgbClr val="1F2D3A"/>
                </a:solidFill>
              </a:rPr>
              <a:t> form of a whitelist.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While the system is known-good, every file's digest is written to a </a:t>
            </a:r>
            <a:r>
              <a:rPr sz="2000" b="1">
                <a:solidFill>
                  <a:srgbClr val="1F2D3A"/>
                </a:solidFill>
              </a:rPr>
              <a:t>manifest</a:t>
            </a:r>
            <a:r>
              <a:rPr sz="2000" b="0">
                <a:solidFill>
                  <a:srgbClr val="1F2D3A"/>
                </a:solidFill>
              </a:rPr>
              <a:t>, then compared regularly.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— Which Type, Which Layer?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email attachment named </a:t>
            </a:r>
            <a:r>
              <a:rPr sz="2000" b="1">
                <a:solidFill>
                  <a:srgbClr val="1F2D3A"/>
                </a:solidFill>
              </a:rPr>
              <a:t>"invoice.pdf.exe"</a:t>
            </a:r>
            <a:r>
              <a:rPr sz="2000" b="0">
                <a:solidFill>
                  <a:srgbClr val="1F2D3A"/>
                </a:solidFill>
              </a:rPr>
              <a:t> runs when opened, and mails itself to everyone in the address 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What type of malware is this? Which layer would catch it first?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worm/trojan mix — the user </a:t>
            </a:r>
            <a:r>
              <a:rPr sz="2000" b="1">
                <a:solidFill>
                  <a:srgbClr val="1F2D3A"/>
                </a:solidFill>
              </a:rPr>
              <a:t>opens</a:t>
            </a:r>
            <a:r>
              <a:rPr sz="2000" b="0">
                <a:solidFill>
                  <a:srgbClr val="1F2D3A"/>
                </a:solidFill>
              </a:rPr>
              <a:t> it (starts like a trojan horse), then it </a:t>
            </a:r>
            <a:r>
              <a:rPr sz="2000" b="1">
                <a:solidFill>
                  <a:srgbClr val="1F2D3A"/>
                </a:solidFill>
              </a:rPr>
              <a:t>spreads on its own</a:t>
            </a:r>
            <a:r>
              <a:rPr sz="2000" b="0">
                <a:solidFill>
                  <a:srgbClr val="1F2D3A"/>
                </a:solidFill>
              </a:rPr>
              <a:t> (like a worm). The first layer to catch it: </a:t>
            </a:r>
            <a:r>
              <a:rPr sz="2000" b="1">
                <a:solidFill>
                  <a:srgbClr val="1F2D3A"/>
                </a:solidFill>
              </a:rPr>
              <a:t>signature/pattern</a:t>
            </a:r>
            <a:r>
              <a:rPr sz="2000" b="0">
                <a:solidFill>
                  <a:srgbClr val="1F2D3A"/>
                </a:solidFill>
              </a:rPr>
              <a:t> (if it's a known sample) or </a:t>
            </a:r>
            <a:r>
              <a:rPr sz="2000" b="1">
                <a:solidFill>
                  <a:srgbClr val="1F2D3A"/>
                </a:solidFill>
              </a:rPr>
              <a:t>heuristic</a:t>
            </a:r>
            <a:r>
              <a:rPr sz="2000" b="0">
                <a:solidFill>
                  <a:srgbClr val="1F2D3A"/>
                </a:solidFill>
              </a:rPr>
              <a:t> (if it's new).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— Supply Chain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backdoor is added, during the build, to a software's </a:t>
            </a:r>
            <a:r>
              <a:rPr sz="2000" b="1">
                <a:solidFill>
                  <a:srgbClr val="1F2D3A"/>
                </a:solidFill>
              </a:rPr>
              <a:t>official update</a:t>
            </a:r>
            <a:r>
              <a:rPr sz="2000" b="0">
                <a:solidFill>
                  <a:srgbClr val="1F2D3A"/>
                </a:solidFill>
              </a:rPr>
              <a:t> (SUNBURST-like).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Would signature-based detection and whitelisting catch this?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No, both fail.</a:t>
            </a:r>
            <a:r>
              <a:rPr sz="2000" b="0">
                <a:solidFill>
                  <a:srgbClr val="1F2D3A"/>
                </a:solidFill>
              </a:rPr>
              <a:t> The file is </a:t>
            </a:r>
            <a:r>
              <a:rPr sz="2000" b="1">
                <a:solidFill>
                  <a:srgbClr val="1F2D3A"/>
                </a:solidFill>
              </a:rPr>
              <a:t>validly signed</a:t>
            </a:r>
            <a:r>
              <a:rPr sz="2000" b="0">
                <a:solidFill>
                  <a:srgbClr val="1F2D3A"/>
                </a:solidFill>
              </a:rPr>
              <a:t> and already on the whitelist (the update comes from the official source). This is exactly what makes a supply chain attack terrifying: the source you trust has itself been compromised.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08 — Integrity Monitoring (Whitelist)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code/week-02/08-integrity-monitoring</a:t>
            </a:r>
            <a:r>
              <a:rPr sz="2000" b="0">
                <a:solidFill>
                  <a:srgbClr val="1F2D3A"/>
                </a:solidFill>
              </a:rPr>
              <a:t> · SHA-256 manifest + </a:t>
            </a:r>
            <a:r>
              <a:rPr sz="2000" b="1">
                <a:solidFill>
                  <a:srgbClr val="1F2D3A"/>
                </a:solidFill>
              </a:rPr>
              <a:t>HMAC seal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CHANGED  library.bin  5ab02b71... -&gt; 12c5803f... (48-&gt;62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DELETED  data.txt     (in the manifest, not in the folder)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NEW      hidden.bin   (not in the baseline)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-- attacker rewrites the manifest --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RESULT: integrity preserved    &lt;- monitor FOOLED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SEAL INVALID -&gt; DO NOT TRUST the manifest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9344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✅ Catches a digest change · ⚠️ </a:t>
            </a:r>
            <a:r>
              <a:rPr sz="2000" b="1">
                <a:solidFill>
                  <a:srgbClr val="1F2D3A"/>
                </a:solidFill>
              </a:rPr>
              <a:t>the expected values must be protected too</a:t>
            </a:r>
            <a:r>
              <a:rPr sz="2000" b="0">
                <a:solidFill>
                  <a:srgbClr val="1F2D3A"/>
                </a:solidFill>
              </a:rPr>
              <a:t> (HMAC/signature, key kept separately)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7329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Recipe 12.2: CRC32 → SHA-256/HMAC · runtime integrity checking in Week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Assessor: How to Break an Integrity Check?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two-step test: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First modify a monitored </a:t>
            </a:r>
            <a:r>
              <a:rPr sz="2000" b="1">
                <a:solidFill>
                  <a:srgbClr val="1F2D3A"/>
                </a:solidFill>
              </a:rPr>
              <a:t>file</a:t>
            </a:r>
            <a:r>
              <a:rPr sz="2000" b="0">
                <a:solidFill>
                  <a:srgbClr val="1F2D3A"/>
                </a:solidFill>
              </a:rPr>
              <a:t> → is it detected?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Then try to modify the </a:t>
            </a:r>
            <a:r>
              <a:rPr sz="2000" b="1">
                <a:solidFill>
                  <a:srgbClr val="1F2D3A"/>
                </a:solidFill>
              </a:rPr>
              <a:t>expected values</a:t>
            </a:r>
            <a:r>
              <a:rPr sz="2000" b="0">
                <a:solidFill>
                  <a:srgbClr val="1F2D3A"/>
                </a:solidFill>
              </a:rPr>
              <a:t> too (the manifest, the embedded digest).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second test can't be passed, the check only protects against </a:t>
            </a:r>
            <a:r>
              <a:rPr sz="2000" b="1">
                <a:solidFill>
                  <a:srgbClr val="1F2D3A"/>
                </a:solidFill>
              </a:rPr>
              <a:t>accidents</a:t>
            </a:r>
            <a:r>
              <a:rPr sz="2000" b="0">
                <a:solidFill>
                  <a:srgbClr val="1F2D3A"/>
                </a:solidFill>
              </a:rPr>
              <a:t>, not against an </a:t>
            </a:r>
            <a:r>
              <a:rPr sz="2000" b="1">
                <a:solidFill>
                  <a:srgbClr val="1F2D3A"/>
                </a:solidFill>
              </a:rPr>
              <a:t>attacker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Constant-Time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comparing two digests, does it stop at the </a:t>
            </a:r>
            <a:r>
              <a:rPr sz="2000" b="1">
                <a:solidFill>
                  <a:srgbClr val="1F2D3A"/>
                </a:solidFill>
              </a:rPr>
              <a:t>first differing byte</a:t>
            </a:r>
            <a:r>
              <a:rPr sz="2000" b="0">
                <a:solidFill>
                  <a:srgbClr val="1F2D3A"/>
                </a:solidFill>
              </a:rPr>
              <a:t>, or does it always take </a:t>
            </a:r>
            <a:r>
              <a:rPr sz="2000" b="1">
                <a:solidFill>
                  <a:srgbClr val="1F2D3A"/>
                </a:solidFill>
              </a:rPr>
              <a:t>the same time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time difference can </a:t>
            </a:r>
            <a:r>
              <a:rPr sz="2000" b="1">
                <a:solidFill>
                  <a:srgbClr val="1F2D3A"/>
                </a:solidFill>
              </a:rPr>
              <a:t>leak the number</a:t>
            </a:r>
            <a:r>
              <a:rPr sz="2000" b="0">
                <a:solidFill>
                  <a:srgbClr val="1F2D3A"/>
                </a:solidFill>
              </a:rPr>
              <a:t> of correct bytes (a timing side channel).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Integrity and HMAC comparisons must be done in </a:t>
            </a:r>
            <a:r>
              <a:rPr sz="2000" b="1">
                <a:solidFill>
                  <a:srgbClr val="1F2D3A"/>
                </a:solidFill>
              </a:rPr>
              <a:t>constant 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Demo 08's HMAC seal uses a special comparison.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Isn't CRC32 Enough?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CRC32</a:t>
            </a:r>
            <a:r>
              <a:rPr sz="2000" b="0">
                <a:solidFill>
                  <a:srgbClr val="1F2D3A"/>
                </a:solidFill>
              </a:rPr>
              <a:t> was designed for error detection, </a:t>
            </a:r>
            <a:r>
              <a:rPr sz="2000" b="1">
                <a:solidFill>
                  <a:srgbClr val="1F2D3A"/>
                </a:solidFill>
              </a:rPr>
              <a:t>not against an attacker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Finding </a:t>
            </a:r>
            <a:r>
              <a:rPr sz="2000" b="1">
                <a:solidFill>
                  <a:srgbClr val="1F2D3A"/>
                </a:solidFill>
              </a:rPr>
              <a:t>different content</a:t>
            </a:r>
            <a:r>
              <a:rPr sz="2000" b="0">
                <a:solidFill>
                  <a:srgbClr val="1F2D3A"/>
                </a:solidFill>
              </a:rPr>
              <a:t> that gives the same CRC32 value is easy (collisions are cheap).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modify a file and </a:t>
            </a:r>
            <a:r>
              <a:rPr sz="2000" b="1">
                <a:solidFill>
                  <a:srgbClr val="1F2D3A"/>
                </a:solidFill>
              </a:rPr>
              <a:t>restore the CRC to its old value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That's why integrity checking needs a </a:t>
            </a:r>
            <a:r>
              <a:rPr sz="2000" b="1">
                <a:solidFill>
                  <a:srgbClr val="1F2D3A"/>
                </a:solidFill>
              </a:rPr>
              <a:t>cryptographic digest</a:t>
            </a:r>
            <a:r>
              <a:rPr sz="2000" b="0">
                <a:solidFill>
                  <a:srgbClr val="1F2D3A"/>
                </a:solidFill>
              </a:rPr>
              <a:t> (SHA-256) or a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Incidents: How Did They Get In?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0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042"/>
                <a:gridCol w="6291335"/>
                <a:gridCol w="2654157"/>
              </a:tblGrid>
              <a:tr h="4340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Entry path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Error class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Morris (1988)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fingerd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gets()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overflow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sendmail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DEBUG ·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rsh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trust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CWE-120/242 · 489 · 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 (2001)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IIS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.ida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overflow (CVE-2001-0500)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Slammer (2003)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resolution service, single UDP packet (CVE-2002-0649)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Blaster (2003)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RPC/DCOM overflow (CVE-2003-0352)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Conficker (2008)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Server service path handling (CVE-2008-4250) · weak password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CWE-119 · 521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WannaCry (2017)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SMBv1 (CVE-2017-0144) · patch had shipped 2 months earlier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safety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NotPetya (2017)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distributed via an update 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CWE-494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SUNBURST (2020)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backdoor in the build environment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supply chain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Skeleton of an Incident Review — Diagram</a:t>
            </a:r>
          </a:p>
        </p:txBody>
      </p:sp>
      <p:pic>
        <p:nvPicPr>
          <p:cNvPr id="7" name="Picture 6" descr="h02-11-olay-iskele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4289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Lessons for the Programmer from These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Bounds checking:</a:t>
            </a:r>
            <a:r>
              <a:rPr sz="2000" b="0">
                <a:solidFill>
                  <a:srgbClr val="1F2D3A"/>
                </a:solidFill>
              </a:rPr>
              <a:t> most 1988–2008 epidemics were a single buffer overflow (Weeks 1 and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Leaving debug code in a release</a:t>
            </a:r>
            <a:r>
              <a:rPr sz="2000" b="0">
                <a:solidFill>
                  <a:srgbClr val="1F2D3A"/>
                </a:solidFill>
              </a:rPr>
              <a:t> (Morris / </a:t>
            </a:r>
            <a:r>
              <a:rPr sz="2000" b="0">
                <a:solidFill>
                  <a:srgbClr val="A1123F"/>
                </a:solidFill>
                <a:latin typeface="Consolas"/>
              </a:rPr>
              <a:t>sendmail</a:t>
            </a:r>
            <a:r>
              <a:rPr sz="2000" b="0">
                <a:solidFill>
                  <a:srgbClr val="1F2D3A"/>
                </a:solidFill>
              </a:rPr>
              <a:t> DEBUG)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Opening an unnecessary service:</a:t>
            </a:r>
            <a:r>
              <a:rPr sz="2000" b="0">
                <a:solidFill>
                  <a:srgbClr val="1F2D3A"/>
                </a:solidFill>
              </a:rPr>
              <a:t> every port is an attack surface (Slammer, Blaster)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Signed updates + client-side verification</a:t>
            </a:r>
            <a:r>
              <a:rPr sz="2000" b="0">
                <a:solidFill>
                  <a:srgbClr val="1F2D3A"/>
                </a:solidFill>
              </a:rPr>
              <a:t> (NotPetya) — Weeks 3 and 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Build environment and supply chain security</a:t>
            </a:r>
            <a:r>
              <a:rPr sz="2000" b="0">
                <a:solidFill>
                  <a:srgbClr val="1F2D3A"/>
                </a:solidFill>
              </a:rPr>
              <a:t> (SUNBURST) — Week 5 SBOM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The update mechanism is a security feature:</a:t>
            </a:r>
            <a:r>
              <a:rPr sz="2000" b="0">
                <a:solidFill>
                  <a:srgbClr val="1F2D3A"/>
                </a:solidFill>
              </a:rPr>
              <a:t> patch delay = an open door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Stuxnet (2010): A Nation-State-Level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Target: industrial controllers (</a:t>
            </a:r>
            <a:r>
              <a:rPr sz="1800" b="1">
                <a:solidFill>
                  <a:srgbClr val="1F2D3A"/>
                </a:solidFill>
              </a:rPr>
              <a:t>PLCs</a:t>
            </a:r>
            <a:r>
              <a:rPr sz="1800" b="0">
                <a:solidFill>
                  <a:srgbClr val="1F2D3A"/>
                </a:solidFill>
              </a:rPr>
              <a:t>) — a uranium enrichment plant.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Entry: code loading via merely displaying a </a:t>
            </a:r>
            <a:r>
              <a:rPr sz="1800" b="1">
                <a:solidFill>
                  <a:srgbClr val="1F2D3A"/>
                </a:solidFill>
              </a:rPr>
              <a:t>shortcut (.lnk)</a:t>
            </a:r>
            <a:r>
              <a:rPr sz="1800" b="0">
                <a:solidFill>
                  <a:srgbClr val="1F2D3A"/>
                </a:solidFill>
              </a:rPr>
              <a:t> file + </a:t>
            </a:r>
            <a:r>
              <a:rPr sz="1800" b="1">
                <a:solidFill>
                  <a:srgbClr val="1F2D3A"/>
                </a:solidFill>
              </a:rPr>
              <a:t>four</a:t>
            </a:r>
            <a:r>
              <a:rPr sz="1800" b="0">
                <a:solidFill>
                  <a:srgbClr val="1F2D3A"/>
                </a:solidFill>
              </a:rPr>
              <a:t> zero-day flaws.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Stolen driver signatures</a:t>
            </a:r>
            <a:r>
              <a:rPr sz="1800" b="0">
                <a:solidFill>
                  <a:srgbClr val="1F2D3A"/>
                </a:solidFill>
              </a:rPr>
              <a:t> were used — it looked trustworthy because it was signed.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Lesson for the programmer: never execute code while displaying content; protect signing keys in hardware (an HSM).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Trend: 1988–2008 vs. After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1988–2008:</a:t>
            </a:r>
            <a:r>
              <a:rPr sz="2000" b="0">
                <a:solidFill>
                  <a:srgbClr val="1F2D3A"/>
                </a:solidFill>
              </a:rPr>
              <a:t> most epidemics spread through </a:t>
            </a:r>
            <a:r>
              <a:rPr sz="2000" b="1">
                <a:solidFill>
                  <a:srgbClr val="1F2D3A"/>
                </a:solidFill>
              </a:rPr>
              <a:t>a single buffer overflow</a:t>
            </a:r>
            <a:r>
              <a:rPr sz="2000" b="0">
                <a:solidFill>
                  <a:srgbClr val="1F2D3A"/>
                </a:solidFill>
              </a:rPr>
              <a:t> (Morris → Conficker).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After 2017:</a:t>
            </a:r>
            <a:r>
              <a:rPr sz="2000" b="0">
                <a:solidFill>
                  <a:srgbClr val="1F2D3A"/>
                </a:solidFill>
              </a:rPr>
              <a:t> the entry point shifted to </a:t>
            </a:r>
            <a:r>
              <a:rPr sz="2000" b="1">
                <a:solidFill>
                  <a:srgbClr val="1F2D3A"/>
                </a:solidFill>
              </a:rPr>
              <a:t>update and build processes</a:t>
            </a:r>
            <a:r>
              <a:rPr sz="2000" b="0">
                <a:solidFill>
                  <a:srgbClr val="1F2D3A"/>
                </a:solidFill>
              </a:rPr>
              <a:t> (NotPetya, SUNBURST).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 of breaking the code, the attacker now hijacks </a:t>
            </a:r>
            <a:r>
              <a:rPr sz="2000" b="1">
                <a:solidFill>
                  <a:srgbClr val="1F2D3A"/>
                </a:solidFill>
              </a:rPr>
              <a:t>the path the code takes to reach you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ends of the defence: bounds checking (Weeks 1, 4) + signed updates/supply chain (Weeks 3, 5, 10).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WannaCry: Three Lessons in One Incident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434"/>
                <a:gridCol w="6271984"/>
                <a:gridCol w="3007115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happened in WannaCry?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This week's connection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Propagation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Spread like a worm via an SMB flaw (EternalBlue), with no user 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Worm definition, epidemic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Payload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Encrypted files and demanded ransom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Entropy jump (Demo 02)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Patch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patch had shipped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weeks before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the attack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Update = a security feature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5497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 single incident ties together this week's three main topics.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Patch Delay Is a Vulnerability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patch for WannaCry's flaw had been released </a:t>
            </a:r>
            <a:r>
              <a:rPr sz="2000" b="1">
                <a:solidFill>
                  <a:srgbClr val="1F2D3A"/>
                </a:solidFill>
              </a:rPr>
              <a:t>two months before</a:t>
            </a:r>
            <a:r>
              <a:rPr sz="2000" b="0">
                <a:solidFill>
                  <a:srgbClr val="1F2D3A"/>
                </a:solidFill>
              </a:rPr>
              <a:t> the attack.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Slammer's had existed </a:t>
            </a:r>
            <a:r>
              <a:rPr sz="2000" b="1">
                <a:solidFill>
                  <a:srgbClr val="1F2D3A"/>
                </a:solidFill>
              </a:rPr>
              <a:t>months in advance</a:t>
            </a:r>
            <a:r>
              <a:rPr sz="2000" b="0">
                <a:solidFill>
                  <a:srgbClr val="1F2D3A"/>
                </a:solidFill>
              </a:rPr>
              <a:t> too.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Conclusion: the update mechanism </a:t>
            </a:r>
            <a:r>
              <a:rPr sz="2000" b="1">
                <a:solidFill>
                  <a:srgbClr val="1F2D3A"/>
                </a:solidFill>
              </a:rPr>
              <a:t>is part of the security feature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product that's hard/slow to update keeps even fixed bugs open </a:t>
            </a:r>
            <a:r>
              <a:rPr sz="2000" b="1">
                <a:solidFill>
                  <a:srgbClr val="1F2D3A"/>
                </a:solidFill>
              </a:rPr>
              <a:t>for months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Discussion: Why Are Macros Disabled by Default?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Since 2022, Office has blocked macros by default in documents that come from the internet. Which weakness of old epidemics like Melissa and ILOVEYOU does this close?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closes the propagation path that relied on the user falling for the "enable macros" trap. A </a:t>
            </a:r>
            <a:r>
              <a:rPr sz="2000" b="1">
                <a:solidFill>
                  <a:srgbClr val="1F2D3A"/>
                </a:solidFill>
              </a:rPr>
              <a:t>safe default</a:t>
            </a:r>
            <a:r>
              <a:rPr sz="2000" b="0">
                <a:solidFill>
                  <a:srgbClr val="1F2D3A"/>
                </a:solidFill>
              </a:rPr>
              <a:t> is stronger than user training: training may not work on every user, but a safe default protects </a:t>
            </a:r>
            <a:r>
              <a:rPr sz="2000" b="1">
                <a:solidFill>
                  <a:srgbClr val="1F2D3A"/>
                </a:solidFill>
              </a:rPr>
              <a:t>everyone</a:t>
            </a:r>
            <a:r>
              <a:rPr sz="2000" b="0">
                <a:solidFill>
                  <a:srgbClr val="1F2D3A"/>
                </a:solidFill>
              </a:rPr>
              <a:t> at once.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Supply Chain: From SUNBURST to NotPetya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NotPetya (2017):</a:t>
            </a:r>
            <a:r>
              <a:rPr sz="2000" b="0">
                <a:solidFill>
                  <a:srgbClr val="1F2D3A"/>
                </a:solidFill>
              </a:rPr>
              <a:t> an accounting software's update server was hijacked, spreading to tens of thousands of machines.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SUNBURST (2020):</a:t>
            </a:r>
            <a:r>
              <a:rPr sz="2000" b="0">
                <a:solidFill>
                  <a:srgbClr val="1F2D3A"/>
                </a:solidFill>
              </a:rPr>
              <a:t> a monitoring software's </a:t>
            </a:r>
            <a:r>
              <a:rPr sz="2000" b="1">
                <a:solidFill>
                  <a:srgbClr val="1F2D3A"/>
                </a:solidFill>
              </a:rPr>
              <a:t>build environment</a:t>
            </a:r>
            <a:r>
              <a:rPr sz="2000" b="0">
                <a:solidFill>
                  <a:srgbClr val="1F2D3A"/>
                </a:solidFill>
              </a:rPr>
              <a:t> was breached, and a backdoor was added to a signed library.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Common point: the attacker targets </a:t>
            </a:r>
            <a:r>
              <a:rPr sz="2000" b="1">
                <a:solidFill>
                  <a:srgbClr val="1F2D3A"/>
                </a:solidFill>
              </a:rPr>
              <a:t>the source you trust</a:t>
            </a:r>
            <a:r>
              <a:rPr sz="2000" b="0">
                <a:solidFill>
                  <a:srgbClr val="1F2D3A"/>
                </a:solidFill>
              </a:rPr>
              <a:t>, not you.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Defence: sign updates + verify on the client, protect the build environment (Week 5 SBOM).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One-Line Lessons from These Incidents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351"/>
                <a:gridCol w="7927183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Incident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should the programmer have done?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Morris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Bounds-checked reading, not leaving debug code in a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Red / Slammer / Blaster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Validating network input length, closing unnecessary services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WannaCry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Bounds checking in the parser, disabling the old protocol, not delaying the patch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NotPetya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Signing updates and verifying them on the client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SUNBURST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Protecting the build environment, reproducible builds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Misconception: "Every Piece of Malware Is a Virus"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Misconception:</a:t>
            </a:r>
            <a:r>
              <a:rPr sz="1800" b="0">
                <a:solidFill>
                  <a:srgbClr val="1F2D3A"/>
                </a:solidFill>
              </a:rPr>
              <a:t> Anything that infects gets called a "virus."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Reality:</a:t>
            </a:r>
            <a:r>
              <a:rPr sz="1800" b="0">
                <a:solidFill>
                  <a:srgbClr val="1F2D3A"/>
                </a:solidFill>
              </a:rPr>
              <a:t> Virus is only </a:t>
            </a:r>
            <a:r>
              <a:rPr sz="1800" b="1">
                <a:solidFill>
                  <a:srgbClr val="1F2D3A"/>
                </a:solidFill>
              </a:rPr>
              <a:t>one type</a:t>
            </a:r>
            <a:r>
              <a:rPr sz="1800" b="0">
                <a:solidFill>
                  <a:srgbClr val="1F2D3A"/>
                </a:solidFill>
              </a:rPr>
              <a:t> — it attaches to a carrier and runs when the carrier runs. A worm needs no carrier; a trojan horse doesn't copy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633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Getting the type wrong leads to the wrong defence: a worm needs a </a:t>
            </a:r>
            <a:r>
              <a:rPr sz="1800" b="1">
                <a:solidFill>
                  <a:srgbClr val="1F2D3A"/>
                </a:solidFill>
              </a:rPr>
              <a:t>network patch</a:t>
            </a:r>
            <a:r>
              <a:rPr sz="1800" b="0">
                <a:solidFill>
                  <a:srgbClr val="1F2D3A"/>
                </a:solidFill>
              </a:rPr>
              <a:t>, while a trojan horse needs </a:t>
            </a:r>
            <a:r>
              <a:rPr sz="1800" b="1">
                <a:solidFill>
                  <a:srgbClr val="1F2D3A"/>
                </a:solidFill>
              </a:rPr>
              <a:t>user training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"My Signature Database Is Up to Date, I'm Safe"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An up-to-date signature database is sufficient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 signature only catches </a:t>
            </a:r>
            <a:r>
              <a:rPr sz="2000" b="1">
                <a:solidFill>
                  <a:srgbClr val="1F2D3A"/>
                </a:solidFill>
              </a:rPr>
              <a:t>the known</a:t>
            </a:r>
            <a:r>
              <a:rPr sz="2000" b="0">
                <a:solidFill>
                  <a:srgbClr val="1F2D3A"/>
                </a:solidFill>
              </a:rPr>
              <a:t>. A single-byte change evades a hash signature; a polymorphic copy whose decryptor has changed evades a </a:t>
            </a:r>
            <a:r>
              <a:rPr sz="2000" b="1">
                <a:solidFill>
                  <a:srgbClr val="1F2D3A"/>
                </a:solidFill>
              </a:rPr>
              <a:t>pattern</a:t>
            </a:r>
            <a:r>
              <a:rPr sz="2000" b="0">
                <a:solidFill>
                  <a:srgbClr val="1F2D3A"/>
                </a:solidFill>
              </a:rPr>
              <a:t> signature (Demo 01).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signature is the </a:t>
            </a:r>
            <a:r>
              <a:rPr sz="2000" b="1">
                <a:solidFill>
                  <a:srgbClr val="1F2D3A"/>
                </a:solidFill>
              </a:rPr>
              <a:t>start</a:t>
            </a:r>
            <a:r>
              <a:rPr sz="2000" b="0">
                <a:solidFill>
                  <a:srgbClr val="1F2D3A"/>
                </a:solidFill>
              </a:rPr>
              <a:t> of defence, not the end.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"High Entropy = Malicious"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Every high-entropy file is suspicious.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Encrypted, compressed, and random data are always </a:t>
            </a:r>
            <a:r>
              <a:rPr sz="2000" b="1">
                <a:solidFill>
                  <a:srgbClr val="1F2D3A"/>
                </a:solidFill>
              </a:rPr>
              <a:t>close to 8</a:t>
            </a:r>
            <a:r>
              <a:rPr sz="2000" b="0">
                <a:solidFill>
                  <a:srgbClr val="1F2D3A"/>
                </a:solidFill>
              </a:rPr>
              <a:t>; so 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.zip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.png</a:t>
            </a:r>
            <a:r>
              <a:rPr sz="2000" b="0">
                <a:solidFill>
                  <a:srgbClr val="1F2D3A"/>
                </a:solidFill>
              </a:rPr>
              <a:t>, and an encrypted backup.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Entropy is only a meaningful clue in an </a:t>
            </a:r>
            <a:r>
              <a:rPr sz="2000" b="1">
                <a:solidFill>
                  <a:srgbClr val="1F2D3A"/>
                </a:solidFill>
              </a:rPr>
              <a:t>unexpected place</a:t>
            </a:r>
            <a:r>
              <a:rPr sz="2000" b="0">
                <a:solidFill>
                  <a:srgbClr val="1F2D3A"/>
                </a:solidFill>
              </a:rPr>
              <a:t> (Demo 02).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The Limits of Sandbox and Emulation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"The sandbox came back clean, so it's clean."</a:t>
            </a:r>
            <a:r>
              <a:rPr sz="2000" b="0">
                <a:solidFill>
                  <a:srgbClr val="1F2D3A"/>
                </a:solidFill>
              </a:rPr>
              <a:t> Malware can </a:t>
            </a:r>
            <a:r>
              <a:rPr sz="2000" b="1">
                <a:solidFill>
                  <a:srgbClr val="1F2D3A"/>
                </a:solidFill>
              </a:rPr>
              <a:t>sense the virtual environment and go dormant</a:t>
            </a:r>
            <a:r>
              <a:rPr sz="2000" b="0">
                <a:solidFill>
                  <a:srgbClr val="1F2D3A"/>
                </a:solidFill>
              </a:rPr>
              <a:t>; the result means "it did nothing under these conditions," not "it's harmless."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"Emulation solves metamorphic malware too."</a:t>
            </a:r>
            <a:r>
              <a:rPr sz="2000" b="0">
                <a:solidFill>
                  <a:srgbClr val="1F2D3A"/>
                </a:solidFill>
              </a:rPr>
              <a:t> Emulation catches the moment an encrypted body is decrypted; metamorphic code has </a:t>
            </a:r>
            <a:r>
              <a:rPr sz="2000" b="1">
                <a:solidFill>
                  <a:srgbClr val="1F2D3A"/>
                </a:solidFill>
              </a:rPr>
              <a:t>no fixed body</a:t>
            </a:r>
            <a:r>
              <a:rPr sz="2000" b="0">
                <a:solidFill>
                  <a:srgbClr val="1F2D3A"/>
                </a:solidFill>
              </a:rPr>
              <a:t> to decrypt. Behaviour-based detection is needed here.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"We'll Buy a Product That Detects 100%"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If we choose the right product, no malware slips 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As Cohen (1984) proved, there is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general algorithm that answers "is this program a virus?" </a:t>
            </a:r>
            <a:r>
              <a:rPr sz="2000" b="1">
                <a:solidFill>
                  <a:srgbClr val="1F2D3A"/>
                </a:solidFill>
              </a:rPr>
              <a:t>correctly in every case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detection method strikes a </a:t>
            </a:r>
            <a:r>
              <a:rPr sz="2000" b="1">
                <a:solidFill>
                  <a:srgbClr val="1F2D3A"/>
                </a:solidFill>
              </a:rPr>
              <a:t>balance</a:t>
            </a:r>
            <a:r>
              <a:rPr sz="2000" b="0">
                <a:solidFill>
                  <a:srgbClr val="1F2D3A"/>
                </a:solidFill>
              </a:rPr>
              <a:t> between false positives and false negatives.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"I Did Integrity Monitoring with a Plain SHA-256 List"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 file list plus digests is sufficient integrity checking.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Just as the attacker modifies the file, they can update </a:t>
            </a:r>
            <a:r>
              <a:rPr sz="2000" b="1">
                <a:solidFill>
                  <a:srgbClr val="1F2D3A"/>
                </a:solidFill>
              </a:rPr>
              <a:t>the list</a:t>
            </a:r>
            <a:r>
              <a:rPr sz="2000" b="0">
                <a:solidFill>
                  <a:srgbClr val="1F2D3A"/>
                </a:solidFill>
              </a:rPr>
              <a:t>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Expected values must be </a:t>
            </a:r>
            <a:r>
              <a:rPr sz="2000" b="1">
                <a:solidFill>
                  <a:srgbClr val="1F2D3A"/>
                </a:solidFill>
              </a:rPr>
              <a:t>keyed</a:t>
            </a:r>
            <a:r>
              <a:rPr sz="2000" b="0">
                <a:solidFill>
                  <a:srgbClr val="1F2D3A"/>
                </a:solidFill>
              </a:rPr>
              <a:t> (HMAC) or </a:t>
            </a:r>
            <a:r>
              <a:rPr sz="2000" b="1">
                <a:solidFill>
                  <a:srgbClr val="1F2D3A"/>
                </a:solidFill>
              </a:rPr>
              <a:t>signed</a:t>
            </a:r>
            <a:r>
              <a:rPr sz="2000" b="0">
                <a:solidFill>
                  <a:srgbClr val="1F2D3A"/>
                </a:solidFill>
              </a:rPr>
              <a:t>, and must sit where the attacker cannot reach (Demo 08).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"The Patch Shipped, We're Done"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The risk ends the moment a patch is released.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The patch for the flaw WannaCry used had shipped </a:t>
            </a:r>
            <a:r>
              <a:rPr sz="2000" b="1">
                <a:solidFill>
                  <a:srgbClr val="1F2D3A"/>
                </a:solidFill>
              </a:rPr>
              <a:t>about two months before</a:t>
            </a:r>
            <a:r>
              <a:rPr sz="2000" b="0">
                <a:solidFill>
                  <a:srgbClr val="1F2D3A"/>
                </a:solidFill>
              </a:rPr>
              <a:t> the attack.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risk lasts </a:t>
            </a:r>
            <a:r>
              <a:rPr sz="2000" b="1">
                <a:solidFill>
                  <a:srgbClr val="1F2D3A"/>
                </a:solidFill>
              </a:rPr>
              <a:t>until the patch is applied</a:t>
            </a:r>
            <a:r>
              <a:rPr sz="2000" b="0">
                <a:solidFill>
                  <a:srgbClr val="1F2D3A"/>
                </a:solidFill>
              </a:rPr>
              <a:t>; a released patch also </a:t>
            </a:r>
            <a:r>
              <a:rPr sz="2000" b="1">
                <a:solidFill>
                  <a:srgbClr val="1F2D3A"/>
                </a:solidFill>
              </a:rPr>
              <a:t>gives the attacker a roadmap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Checklist — Malware and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propagation</a:t>
            </a:r>
            <a:r>
              <a:rPr sz="1800" b="0">
                <a:solidFill>
                  <a:srgbClr val="1F2D3A"/>
                </a:solidFill>
              </a:rPr>
              <a:t> and </a:t>
            </a:r>
            <a:r>
              <a:rPr sz="1800" b="1">
                <a:solidFill>
                  <a:srgbClr val="1F2D3A"/>
                </a:solidFill>
              </a:rPr>
              <a:t>purpose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strong/weak</a:t>
            </a:r>
            <a:r>
              <a:rPr sz="1800" b="0">
                <a:solidFill>
                  <a:srgbClr val="1F2D3A"/>
                </a:solidFill>
              </a:rPr>
              <a:t> side of hash, pattern, heuristic, behaviour/EDR, sandbox, and emulation.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one lesson</a:t>
            </a:r>
            <a:r>
              <a:rPr sz="1800" b="0">
                <a:solidFill>
                  <a:srgbClr val="1F2D3A"/>
                </a:solidFill>
              </a:rPr>
              <a:t> each from Morris, Code Red, Slammer, Stuxnet, WannaCry, NotPetya, and SUNBURST.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Attack Trees and the Audit Log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= Quantitative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Root: the attacker's </a:t>
            </a:r>
            <a:r>
              <a:rPr sz="2000" b="1">
                <a:solidFill>
                  <a:srgbClr val="1F2D3A"/>
                </a:solidFill>
              </a:rPr>
              <a:t>goal</a:t>
            </a:r>
            <a:r>
              <a:rPr sz="2000" b="0">
                <a:solidFill>
                  <a:srgbClr val="1F2D3A"/>
                </a:solidFill>
              </a:rPr>
              <a:t> · Branches: ways to reach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OR:</a:t>
            </a:r>
            <a:r>
              <a:rPr sz="2000" b="0">
                <a:solidFill>
                  <a:srgbClr val="1F2D3A"/>
                </a:solidFill>
              </a:rPr>
              <a:t> the cheapest child is enough · </a:t>
            </a:r>
            <a:r>
              <a:rPr sz="2000" b="1">
                <a:solidFill>
                  <a:srgbClr val="1F2D3A"/>
                </a:solidFill>
              </a:rPr>
              <a:t>AND:</a:t>
            </a:r>
            <a:r>
              <a:rPr sz="2000" b="0">
                <a:solidFill>
                  <a:srgbClr val="1F2D3A"/>
                </a:solidFill>
              </a:rPr>
              <a:t> the sum of the children is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a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 on the leaves finds the cheapest attack.</a:t>
            </a:r>
          </a:p>
        </p:txBody>
      </p:sp>
      <p:pic>
        <p:nvPicPr>
          <p:cNvPr id="8" name="Picture 7" descr="h02-07-saldiri-aga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815" y="2654808"/>
            <a:ext cx="6110065" cy="3499104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Steps for Building an Attack Tree — Diagram</a:t>
            </a:r>
          </a:p>
        </p:txBody>
      </p:sp>
      <p:pic>
        <p:nvPicPr>
          <p:cNvPr id="7" name="Picture 6" descr="h02-12-saldiri-agaci-kurul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04" y="1325880"/>
            <a:ext cx="940288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04 — Defence Raises the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code/week-02/04-attack-tree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BEFORE:  CHEAPEST ATTACK = 2  (read from memory)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AFTER:   CHEAPEST ATTACK = 8  (RASP added)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 (anti-debug, anti-hook) was added to the "read from memory" branch.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cheapest attack rose from </a:t>
            </a:r>
            <a:r>
              <a:rPr sz="2000" b="1">
                <a:solidFill>
                  <a:srgbClr val="1F2D3A"/>
                </a:solidFill>
              </a:rPr>
              <a:t>2 → 8</a:t>
            </a:r>
            <a:r>
              <a:rPr sz="2000" b="0">
                <a:solidFill>
                  <a:srgbClr val="1F2D3A"/>
                </a:solidFill>
              </a:rPr>
              <a:t> units; the weakest point </a:t>
            </a:r>
            <a:r>
              <a:rPr sz="2000" b="1">
                <a:solidFill>
                  <a:srgbClr val="1F2D3A"/>
                </a:solidFill>
              </a:rPr>
              <a:t>changed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how you justify a security investment </a:t>
            </a:r>
            <a:r>
              <a:rPr sz="2000" b="1">
                <a:solidFill>
                  <a:srgbClr val="1F2D3A"/>
                </a:solidFill>
              </a:rPr>
              <a:t>with a number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Tree: The Cheapest Path (animation)</a:t>
            </a:r>
          </a:p>
        </p:txBody>
      </p:sp>
      <p:pic>
        <p:nvPicPr>
          <p:cNvPr id="7" name="Picture 6" descr="attack-tree-eval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197151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— Edge Case: Root Is a Single Leaf</a:t>
            </a:r>
          </a:p>
        </p:txBody>
      </p:sp>
      <p:pic>
        <p:nvPicPr>
          <p:cNvPr id="7" name="Picture 6" descr="attack-tree-eval--edge-single-leaf-roo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884" y="1325880"/>
            <a:ext cx="82179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"AND and OR Don't Matter"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In an attack tree, the node type doesn't matter.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At an </a:t>
            </a:r>
            <a:r>
              <a:rPr sz="2000" b="1">
                <a:solidFill>
                  <a:srgbClr val="1F2D3A"/>
                </a:solidFill>
              </a:rPr>
              <a:t>OR</a:t>
            </a:r>
            <a:r>
              <a:rPr sz="2000" b="0">
                <a:solidFill>
                  <a:srgbClr val="1F2D3A"/>
                </a:solidFill>
              </a:rPr>
              <a:t> node the cheapest child is enough; at an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node the </a:t>
            </a:r>
            <a:r>
              <a:rPr sz="2000" b="1">
                <a:solidFill>
                  <a:srgbClr val="1F2D3A"/>
                </a:solidFill>
              </a:rPr>
              <a:t>sum</a:t>
            </a:r>
            <a:r>
              <a:rPr sz="2000" b="0">
                <a:solidFill>
                  <a:srgbClr val="1F2D3A"/>
                </a:solidFill>
              </a:rPr>
              <a:t> of the children is needed.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Confusing them </a:t>
            </a:r>
            <a:r>
              <a:rPr sz="2000" b="1">
                <a:solidFill>
                  <a:srgbClr val="1F2D3A"/>
                </a:solidFill>
              </a:rPr>
              <a:t>misidentifies</a:t>
            </a:r>
            <a:r>
              <a:rPr sz="2000" b="0">
                <a:solidFill>
                  <a:srgbClr val="1F2D3A"/>
                </a:solidFill>
              </a:rPr>
              <a:t> the cheapest path, and defence spending goes to </a:t>
            </a:r>
            <a:r>
              <a:rPr sz="2000" b="1">
                <a:solidFill>
                  <a:srgbClr val="1F2D3A"/>
                </a:solidFill>
              </a:rPr>
              <a:t>the wrong branch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"Let's Strengthen the Most Expensive Branch"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Strengthening the seemingly most dangerous/complex attack path is best.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The attacker always picks the </a:t>
            </a:r>
            <a:r>
              <a:rPr sz="2000" b="1">
                <a:solidFill>
                  <a:srgbClr val="1F2D3A"/>
                </a:solidFill>
              </a:rPr>
              <a:t>cheapest</a:t>
            </a:r>
            <a:r>
              <a:rPr sz="2000" b="0">
                <a:solidFill>
                  <a:srgbClr val="1F2D3A"/>
                </a:solidFill>
              </a:rPr>
              <a:t> path. If the defence doesn't raise the cost of </a:t>
            </a:r>
            <a:r>
              <a:rPr sz="2000" b="1">
                <a:solidFill>
                  <a:srgbClr val="1F2D3A"/>
                </a:solidFill>
              </a:rPr>
              <a:t>the cheapest path</a:t>
            </a:r>
            <a:r>
              <a:rPr sz="2000" b="0">
                <a:solidFill>
                  <a:srgbClr val="1F2D3A"/>
                </a:solidFill>
              </a:rPr>
              <a:t> to the root, the cheapest attack's cost </a:t>
            </a:r>
            <a:r>
              <a:rPr sz="2000" b="1">
                <a:solidFill>
                  <a:srgbClr val="1F2D3A"/>
                </a:solidFill>
              </a:rPr>
              <a:t>doesn't change at all</a:t>
            </a:r>
            <a:r>
              <a:rPr sz="2000" b="0">
                <a:solidFill>
                  <a:srgbClr val="1F2D3A"/>
                </a:solidFill>
              </a:rPr>
              <a:t> (Demo 04).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"Adding a Countermeasure Is Enough"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Adding a defence node to the tree closes the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Every countermeasure can itself </a:t>
            </a:r>
            <a:r>
              <a:rPr sz="2000" b="1">
                <a:solidFill>
                  <a:srgbClr val="1F2D3A"/>
                </a:solidFill>
              </a:rPr>
              <a:t>be bypassed</a:t>
            </a:r>
            <a:r>
              <a:rPr sz="2000" b="0">
                <a:solidFill>
                  <a:srgbClr val="1F2D3A"/>
                </a:solidFill>
              </a:rPr>
              <a:t>. Without writing the ways to defeat it (</a:t>
            </a:r>
            <a:r>
              <a:rPr sz="2000" b="1">
                <a:solidFill>
                  <a:srgbClr val="1F2D3A"/>
                </a:solidFill>
              </a:rPr>
              <a:t>a counter-countermeasure</a:t>
            </a:r>
            <a:r>
              <a:rPr sz="2000" b="0">
                <a:solidFill>
                  <a:srgbClr val="1F2D3A"/>
                </a:solidFill>
              </a:rPr>
              <a:t>) under the countermeasure node, the calculation comes out </a:t>
            </a:r>
            <a:r>
              <a:rPr sz="2000" b="1">
                <a:solidFill>
                  <a:srgbClr val="1F2D3A"/>
                </a:solidFill>
              </a:rPr>
              <a:t>optimistic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Tree vs. Audit Log: Two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Attack tree:</a:t>
            </a:r>
            <a:r>
              <a:rPr sz="2000" b="0">
                <a:solidFill>
                  <a:srgbClr val="1F2D3A"/>
                </a:solidFill>
              </a:rPr>
              <a:t> "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does the attacker come from?" — a beforehand, planning question.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Audit log:</a:t>
            </a:r>
            <a:r>
              <a:rPr sz="2000" b="0">
                <a:solidFill>
                  <a:srgbClr val="1F2D3A"/>
                </a:solidFill>
              </a:rPr>
              <a:t> "</a:t>
            </a:r>
            <a:r>
              <a:rPr sz="2000" b="1">
                <a:solidFill>
                  <a:srgbClr val="1F2D3A"/>
                </a:solidFill>
              </a:rPr>
              <a:t>Did they get in</a:t>
            </a:r>
            <a:r>
              <a:rPr sz="2000" b="0">
                <a:solidFill>
                  <a:srgbClr val="1F2D3A"/>
                </a:solidFill>
              </a:rPr>
              <a:t>, what did they do?" — an afterward, evidence question.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only way to understand what happened after an incident, and find who's responsible, is a </a:t>
            </a:r>
            <a:r>
              <a:rPr sz="2000" b="1">
                <a:solidFill>
                  <a:srgbClr val="1F2D3A"/>
                </a:solidFill>
              </a:rPr>
              <a:t>reliable record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book covers this in Recipe 13.11; the advice still holds today, only the tools have been updated.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Audit Log: What to Write, What Not to Write?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5681"/>
                <a:gridCol w="4485853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✅ Log 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❌ Never log it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Login attempts (who, when, from where)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Password, PIN, token, private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Permission and setting changes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Full card number, personal 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Sensitive operations (approval, export, deletion)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Decrypted secret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Security check results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Debug output in a release build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Recipe 13.11 · design the log </a:t>
            </a:r>
            <a:r>
              <a:rPr sz="2000" b="1">
                <a:solidFill>
                  <a:srgbClr val="1F2D3A"/>
                </a:solidFill>
              </a:rPr>
              <a:t>assuming the attacker will read it too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Audit Log — Diagram</a:t>
            </a:r>
          </a:p>
        </p:txBody>
      </p:sp>
      <p:pic>
        <p:nvPicPr>
          <p:cNvPr id="7" name="Picture 6" descr="h02-13-denetim-kay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69487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10 — Log Injection (CWE-117)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code/week-02/10-log-injection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46486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UNSAFE: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AUDIT login user=bob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AUDIT login user=admin result=SUCCESS ...  &lt;- FORGED line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AUDIT login user=carol^[[2K^Mhidden ...    &lt;- erases screen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SAFE: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AUDIT login user=bob\x0A2026-... (single line)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forged 'admin SUCCESS' line(s):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711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✅ Escape it (</a:t>
            </a:r>
            <a:r>
              <a:rPr sz="1800" b="0">
                <a:solidFill>
                  <a:srgbClr val="A1123F"/>
                </a:solidFill>
                <a:latin typeface="Consolas"/>
              </a:rPr>
              <a:t>xNN</a:t>
            </a:r>
            <a:r>
              <a:rPr sz="1800" b="0">
                <a:solidFill>
                  <a:srgbClr val="1F2D3A"/>
                </a:solidFill>
              </a:rPr>
              <a:t>) · ✅ cap the length · ✅ </a:t>
            </a:r>
            <a:r>
              <a:rPr sz="1800" b="0">
                <a:solidFill>
                  <a:srgbClr val="A1123F"/>
                </a:solidFill>
                <a:latin typeface="Consolas"/>
              </a:rPr>
              <a:t>syslog(LOG_INFO, "%s", input)</a:t>
            </a:r>
            <a:r>
              <a:rPr sz="1800" b="0">
                <a:solidFill>
                  <a:srgbClr val="1F2D3A"/>
                </a:solidFill>
              </a:rPr>
              <a:t> — the input is never a format string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Log Injection: Unsafe vs. Safe (animation)</a:t>
            </a:r>
          </a:p>
        </p:txBody>
      </p:sp>
      <p:pic>
        <p:nvPicPr>
          <p:cNvPr id="7" name="Picture 6" descr="log-injec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5" y="1325880"/>
            <a:ext cx="775304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Log Injection — Edge Case: ANSI Escape Sequence</a:t>
            </a:r>
          </a:p>
        </p:txBody>
      </p:sp>
      <p:pic>
        <p:nvPicPr>
          <p:cNvPr id="7" name="Picture 6" descr="log-injection--edge-control-character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597" y="1325880"/>
            <a:ext cx="788250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Vulnerable Code: Log Injection and Format 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fprintf(log, "giris: %s\n", kullanici_adi);  /* CWE-117 */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98903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syslog(LOG_INFO, kullanici_girdisi);  /* CWE-134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192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User-supplied data must never be used in a log as an </a:t>
            </a:r>
            <a:r>
              <a:rPr sz="2000" b="1">
                <a:solidFill>
                  <a:srgbClr val="1F2D3A"/>
                </a:solidFill>
              </a:rPr>
              <a:t>unescaped line break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directly as a format string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syslog(LOG_INFO, "%s", girdi)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Digest Chain: Simple but Breakable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Idea: every record contains </a:t>
            </a:r>
            <a:r>
              <a:rPr sz="2000" b="1">
                <a:solidFill>
                  <a:srgbClr val="1F2D3A"/>
                </a:solidFill>
              </a:rPr>
              <a:t>the digest of the previous record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Modifying a record breaks </a:t>
            </a:r>
            <a:r>
              <a:rPr sz="2000" b="1">
                <a:solidFill>
                  <a:srgbClr val="1F2D3A"/>
                </a:solidFill>
              </a:rPr>
              <a:t>only that record's own digest</a:t>
            </a:r>
            <a:r>
              <a:rPr sz="2000" b="0">
                <a:solidFill>
                  <a:srgbClr val="1F2D3A"/>
                </a:solidFill>
              </a:rPr>
              <a:t> (the verifier always checks the stored chain, never a recomputed one).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Problem: the digest is </a:t>
            </a:r>
            <a:r>
              <a:rPr sz="2000" b="1">
                <a:solidFill>
                  <a:srgbClr val="1F2D3A"/>
                </a:solidFill>
              </a:rPr>
              <a:t>unkeyed</a:t>
            </a:r>
            <a:r>
              <a:rPr sz="2000" b="0">
                <a:solidFill>
                  <a:srgbClr val="1F2D3A"/>
                </a:solidFill>
              </a:rPr>
              <a:t> — a capable attacker can recompute </a:t>
            </a:r>
            <a:r>
              <a:rPr sz="2000" b="1">
                <a:solidFill>
                  <a:srgbClr val="1F2D3A"/>
                </a:solidFill>
              </a:rPr>
              <a:t>every digest downstream</a:t>
            </a:r>
            <a:r>
              <a:rPr sz="2000" b="0">
                <a:solidFill>
                  <a:srgbClr val="1F2D3A"/>
                </a:solidFill>
              </a:rPr>
              <a:t>, hiding the tampering completely.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Solution: make the digest </a:t>
            </a:r>
            <a:r>
              <a:rPr sz="2000" b="1">
                <a:solidFill>
                  <a:srgbClr val="1F2D3A"/>
                </a:solidFill>
              </a:rPr>
              <a:t>keyed</a:t>
            </a:r>
            <a:r>
              <a:rPr sz="2000" b="0">
                <a:solidFill>
                  <a:srgbClr val="1F2D3A"/>
                </a:solidFill>
              </a:rPr>
              <a:t> → an HMAC chain (next slide).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Logging Removed from Release Builds?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log is designed assuming </a:t>
            </a:r>
            <a:r>
              <a:rPr sz="2000" b="1">
                <a:solidFill>
                  <a:srgbClr val="1F2D3A"/>
                </a:solidFill>
              </a:rPr>
              <a:t>an attacker can read it too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secret written to a log has effectively been given to </a:t>
            </a:r>
            <a:r>
              <a:rPr sz="2000" b="1">
                <a:solidFill>
                  <a:srgbClr val="1F2D3A"/>
                </a:solidFill>
              </a:rPr>
              <a:t>everyone</a:t>
            </a:r>
            <a:r>
              <a:rPr sz="2000" b="0">
                <a:solidFill>
                  <a:srgbClr val="1F2D3A"/>
                </a:solidFill>
              </a:rPr>
              <a:t> who can access the log file.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Debug code </a:t>
            </a:r>
            <a:r>
              <a:rPr sz="2000" b="1">
                <a:solidFill>
                  <a:srgbClr val="1F2D3A"/>
                </a:solidFill>
              </a:rPr>
              <a:t>silenced</a:t>
            </a:r>
            <a:r>
              <a:rPr sz="2000" b="0">
                <a:solidFill>
                  <a:srgbClr val="1F2D3A"/>
                </a:solidFill>
              </a:rPr>
              <a:t> by a disabled flag </a:t>
            </a:r>
            <a:r>
              <a:rPr sz="2000" b="1">
                <a:solidFill>
                  <a:srgbClr val="1F2D3A"/>
                </a:solidFill>
              </a:rPr>
              <a:t>stays</a:t>
            </a:r>
            <a:r>
              <a:rPr sz="2000" b="0">
                <a:solidFill>
                  <a:srgbClr val="1F2D3A"/>
                </a:solidFill>
              </a:rPr>
              <a:t> in the binary.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leaks information through its strings and </a:t>
            </a:r>
            <a:r>
              <a:rPr sz="2000" b="1">
                <a:solidFill>
                  <a:srgbClr val="1F2D3A"/>
                </a:solidFill>
              </a:rPr>
              <a:t>can be turned back on</a:t>
            </a:r>
            <a:r>
              <a:rPr sz="2000" b="0">
                <a:solidFill>
                  <a:srgbClr val="1F2D3A"/>
                </a:solidFill>
              </a:rPr>
              <a:t> — so it must be </a:t>
            </a:r>
            <a:r>
              <a:rPr sz="2000" b="1">
                <a:solidFill>
                  <a:srgbClr val="1F2D3A"/>
                </a:solidFill>
              </a:rPr>
              <a:t>fully stripped</a:t>
            </a:r>
            <a:r>
              <a:rPr sz="2000" b="0">
                <a:solidFill>
                  <a:srgbClr val="1F2D3A"/>
                </a:solidFill>
              </a:rPr>
              <a:t> from the release build.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11 — Tamper-Resistant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code/week-02/11-tamper-evident-log</a:t>
            </a:r>
            <a:r>
              <a:rPr sz="1800" b="0">
                <a:solidFill>
                  <a:srgbClr val="1F2D3A"/>
                </a:solidFill>
              </a:rPr>
              <a:t> · HMAC chain + </a:t>
            </a:r>
            <a:r>
              <a:rPr sz="1800" b="1">
                <a:solidFill>
                  <a:srgbClr val="1F2D3A"/>
                </a:solidFill>
              </a:rPr>
              <a:t>key evolution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3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2645"/>
                <a:gridCol w="2283809"/>
                <a:gridCol w="3045079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Attack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Evolving 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Static 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Modifying a record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MAC:BROKEN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caught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Deleting a record / reordering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ORDER:BROKEN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caught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Rewriting history with a compromised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✅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TAMPERED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❌ appears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INTACT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38419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key evolves one-way at every record, and the old key is deleted → records </a:t>
            </a:r>
            <a:r>
              <a:rPr sz="1800" b="1">
                <a:solidFill>
                  <a:srgbClr val="1F2D3A"/>
                </a:solidFill>
              </a:rPr>
              <a:t>before</a:t>
            </a:r>
            <a:r>
              <a:rPr sz="1800" b="0">
                <a:solidFill>
                  <a:srgbClr val="1F2D3A"/>
                </a:solidFill>
              </a:rPr>
              <a:t> the compromise stay protected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Tamper-Evident Logging: The HMAC Chain (animation)</a:t>
            </a:r>
          </a:p>
        </p:txBody>
      </p:sp>
      <p:pic>
        <p:nvPicPr>
          <p:cNvPr id="7" name="Picture 6" descr="tamper-evident-log-chai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09551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HMAC Chain — Edge Case: Static Key (No Evolution)</a:t>
            </a:r>
          </a:p>
        </p:txBody>
      </p:sp>
      <p:pic>
        <p:nvPicPr>
          <p:cNvPr id="7" name="Picture 6" descr="tamper-evident-log-chain--edge-static-key-same-tamp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1971515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Forward Security: Why Does the Key Evolve?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After every record, the key changes through a </a:t>
            </a:r>
            <a:r>
              <a:rPr sz="2000" b="1">
                <a:solidFill>
                  <a:srgbClr val="1F2D3A"/>
                </a:solidFill>
              </a:rPr>
              <a:t>one-way</a:t>
            </a:r>
            <a:r>
              <a:rPr sz="2000" b="0">
                <a:solidFill>
                  <a:srgbClr val="1F2D3A"/>
                </a:solidFill>
              </a:rPr>
              <a:t> function; the old key is </a:t>
            </a:r>
            <a:r>
              <a:rPr sz="2000" b="1">
                <a:solidFill>
                  <a:srgbClr val="1F2D3A"/>
                </a:solidFill>
              </a:rPr>
              <a:t>deleted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an attacker compromises the machine, they find only </a:t>
            </a:r>
            <a:r>
              <a:rPr sz="2000" b="1">
                <a:solidFill>
                  <a:srgbClr val="1F2D3A"/>
                </a:solidFill>
              </a:rPr>
              <a:t>the current</a:t>
            </a:r>
            <a:r>
              <a:rPr sz="2000" b="0">
                <a:solidFill>
                  <a:srgbClr val="1F2D3A"/>
                </a:solidFill>
              </a:rPr>
              <a:t> key.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</a:t>
            </a:r>
            <a:r>
              <a:rPr sz="2000" b="1">
                <a:solidFill>
                  <a:srgbClr val="1F2D3A"/>
                </a:solidFill>
              </a:rPr>
              <a:t>cannot go back</a:t>
            </a:r>
            <a:r>
              <a:rPr sz="2000" b="0">
                <a:solidFill>
                  <a:srgbClr val="1F2D3A"/>
                </a:solidFill>
              </a:rPr>
              <a:t> from that point to the keys that sealed earlier records.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records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the compromise stay protected (Schneier–Kelsey, 1999).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— Is Truncation from the End Caught?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Delete the </a:t>
            </a:r>
            <a:r>
              <a:rPr sz="2000" b="1">
                <a:solidFill>
                  <a:srgbClr val="1F2D3A"/>
                </a:solidFill>
              </a:rPr>
              <a:t>last three lines</a:t>
            </a:r>
            <a:r>
              <a:rPr sz="2000" b="0">
                <a:solidFill>
                  <a:srgbClr val="1F2D3A"/>
                </a:solidFill>
              </a:rPr>
              <a:t> from the chain Demo 11 produces.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Will the verifier notice? Why?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Only if the chain's </a:t>
            </a:r>
            <a:r>
              <a:rPr sz="2000" b="1">
                <a:solidFill>
                  <a:srgbClr val="1F2D3A"/>
                </a:solidFill>
              </a:rPr>
              <a:t>final value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record count</a:t>
            </a:r>
            <a:r>
              <a:rPr sz="2000" b="0">
                <a:solidFill>
                  <a:srgbClr val="1F2D3A"/>
                </a:solidFill>
              </a:rPr>
              <a:t> is kept separately (on a remote server). If the chain itself is kept only in the file, truncation from the end </a:t>
            </a:r>
            <a:r>
              <a:rPr sz="2000" b="1">
                <a:solidFill>
                  <a:srgbClr val="1F2D3A"/>
                </a:solidFill>
              </a:rPr>
              <a:t>does not break internal consistency</a:t>
            </a:r>
            <a:r>
              <a:rPr sz="2000" b="0">
                <a:solidFill>
                  <a:srgbClr val="1F2D3A"/>
                </a:solidFill>
              </a:rPr>
              <a:t> — because there is no record after the deleted ones left to show an inconsistency.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(Summary): Audit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user data by </a:t>
            </a:r>
            <a:r>
              <a:rPr sz="2000" b="1">
                <a:solidFill>
                  <a:srgbClr val="1F2D3A"/>
                </a:solidFill>
              </a:rPr>
              <a:t>escaping and bounding</a:t>
            </a:r>
            <a:r>
              <a:rPr sz="2000" b="0">
                <a:solidFill>
                  <a:srgbClr val="1F2D3A"/>
                </a:solidFill>
              </a:rPr>
              <a:t>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write secrets (password, key).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Seal the log with a </a:t>
            </a:r>
            <a:r>
              <a:rPr sz="2000" b="1">
                <a:solidFill>
                  <a:srgbClr val="1F2D3A"/>
                </a:solidFill>
              </a:rPr>
              <a:t>keyed chain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evolve</a:t>
            </a:r>
            <a:r>
              <a:rPr sz="2000" b="0">
                <a:solidFill>
                  <a:srgbClr val="1F2D3A"/>
                </a:solidFill>
              </a:rPr>
              <a:t> the key at every record.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Don't keep</a:t>
            </a:r>
            <a:r>
              <a:rPr sz="2000" b="0">
                <a:solidFill>
                  <a:srgbClr val="1F2D3A"/>
                </a:solidFill>
              </a:rPr>
              <a:t> the verification key on the </a:t>
            </a:r>
            <a:r>
              <a:rPr sz="2000" b="1">
                <a:solidFill>
                  <a:srgbClr val="1F2D3A"/>
                </a:solidFill>
              </a:rPr>
              <a:t>same machine</a:t>
            </a:r>
            <a:r>
              <a:rPr sz="2000" b="0">
                <a:solidFill>
                  <a:srgbClr val="1F2D3A"/>
                </a:solidFill>
              </a:rPr>
              <a:t> as the log.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possible, send records </a:t>
            </a:r>
            <a:r>
              <a:rPr sz="2000" b="1">
                <a:solidFill>
                  <a:srgbClr val="1F2D3A"/>
                </a:solidFill>
              </a:rPr>
              <a:t>immediately</a:t>
            </a:r>
            <a:r>
              <a:rPr sz="2000" b="0">
                <a:solidFill>
                  <a:srgbClr val="1F2D3A"/>
                </a:solidFill>
              </a:rPr>
              <a:t> to a separate server.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Is This Applied in the Field? — Mobile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mobile apps, the </a:t>
            </a:r>
            <a:r>
              <a:rPr sz="2000" b="1">
                <a:solidFill>
                  <a:srgbClr val="1F2D3A"/>
                </a:solidFill>
              </a:rPr>
              <a:t>on-device</a:t>
            </a:r>
            <a:r>
              <a:rPr sz="2000" b="0">
                <a:solidFill>
                  <a:srgbClr val="1F2D3A"/>
                </a:solidFill>
              </a:rPr>
              <a:t> log is kept to a minimum and contains no sensitive fields.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Security events (integrity failure, debugger detection) are </a:t>
            </a:r>
            <a:r>
              <a:rPr sz="2000" b="1">
                <a:solidFill>
                  <a:srgbClr val="1F2D3A"/>
                </a:solidFill>
              </a:rPr>
              <a:t>reported to the server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"reporting" leg of the </a:t>
            </a:r>
            <a:r>
              <a:rPr sz="2000" b="1">
                <a:solidFill>
                  <a:srgbClr val="1F2D3A"/>
                </a:solidFill>
              </a:rPr>
              <a:t>RASP</a:t>
            </a:r>
            <a:r>
              <a:rPr sz="2000" b="0">
                <a:solidFill>
                  <a:srgbClr val="1F2D3A"/>
                </a:solidFill>
              </a:rPr>
              <a:t> measures we'll see in Week 6.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on-device log is in the attacker's hands; the real evidence is the </a:t>
            </a:r>
            <a:r>
              <a:rPr sz="2000" b="1">
                <a:solidFill>
                  <a:srgbClr val="1F2D3A"/>
                </a:solidFill>
              </a:rPr>
              <a:t>remote</a:t>
            </a:r>
            <a:r>
              <a:rPr sz="2000" b="0">
                <a:solidFill>
                  <a:srgbClr val="1F2D3A"/>
                </a:solidFill>
              </a:rPr>
              <a:t> copy.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"Let's Log Everything"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More information means better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Password, PIN, key, and the </a:t>
            </a:r>
            <a:r>
              <a:rPr sz="2000" b="1">
                <a:solidFill>
                  <a:srgbClr val="1F2D3A"/>
                </a:solidFill>
              </a:rPr>
              <a:t>full card number</a:t>
            </a:r>
            <a:r>
              <a:rPr sz="2000" b="0">
                <a:solidFill>
                  <a:srgbClr val="1F2D3A"/>
                </a:solidFill>
              </a:rPr>
              <a:t> must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go into a log (CWE-532).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record carries </a:t>
            </a:r>
            <a:r>
              <a:rPr sz="2000" b="1">
                <a:solidFill>
                  <a:srgbClr val="1F2D3A"/>
                </a:solidFill>
              </a:rPr>
              <a:t>just enough</a:t>
            </a:r>
            <a:r>
              <a:rPr sz="2000" b="0">
                <a:solidFill>
                  <a:srgbClr val="1F2D3A"/>
                </a:solidFill>
              </a:rPr>
              <a:t> information to reconstruct the event: who, what, when, where, result.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"I Wrote the Username As-Is"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 field coming from the user can be written straight to the log.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An input containing a line break produces a </a:t>
            </a:r>
            <a:r>
              <a:rPr sz="2000" b="1">
                <a:solidFill>
                  <a:srgbClr val="1F2D3A"/>
                </a:solidFill>
              </a:rPr>
              <a:t>fake log line</a:t>
            </a:r>
            <a:r>
              <a:rPr sz="2000" b="0">
                <a:solidFill>
                  <a:srgbClr val="1F2D3A"/>
                </a:solidFill>
              </a:rPr>
              <a:t> (CWE-117, Demo 10).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Control characters must be </a:t>
            </a:r>
            <a:r>
              <a:rPr sz="2000" b="1">
                <a:solidFill>
                  <a:srgbClr val="1F2D3A"/>
                </a:solidFill>
              </a:rPr>
              <a:t>escaped</a:t>
            </a:r>
            <a:r>
              <a:rPr sz="2000" b="0">
                <a:solidFill>
                  <a:srgbClr val="1F2D3A"/>
                </a:solidFill>
              </a:rPr>
              <a:t>, or structured (field-by-field) logging must be used.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"I Appended a Digest to the Record, So Tampering Will Show"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Appending a digest to the end of the file is sufficient protection.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An attacker can </a:t>
            </a:r>
            <a:r>
              <a:rPr sz="2000" b="1">
                <a:solidFill>
                  <a:srgbClr val="1F2D3A"/>
                </a:solidFill>
              </a:rPr>
              <a:t>recompute</a:t>
            </a:r>
            <a:r>
              <a:rPr sz="2000" b="0">
                <a:solidFill>
                  <a:srgbClr val="1F2D3A"/>
                </a:solidFill>
              </a:rPr>
              <a:t> an unkeyed digest.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HMAC chain catches insertion/modification; to catch </a:t>
            </a:r>
            <a:r>
              <a:rPr sz="2000" b="1">
                <a:solidFill>
                  <a:srgbClr val="1F2D3A"/>
                </a:solidFill>
              </a:rPr>
              <a:t>truncation from the end</a:t>
            </a:r>
            <a:r>
              <a:rPr sz="2000" b="0">
                <a:solidFill>
                  <a:srgbClr val="1F2D3A"/>
                </a:solidFill>
              </a:rPr>
              <a:t>, the final chain value must be kept separately (</a:t>
            </a:r>
            <a:r>
              <a:rPr sz="2000" b="1">
                <a:solidFill>
                  <a:srgbClr val="1F2D3A"/>
                </a:solidFill>
              </a:rPr>
              <a:t>on a remote server</a:t>
            </a:r>
            <a:r>
              <a:rPr sz="2000" b="0">
                <a:solidFill>
                  <a:srgbClr val="1F2D3A"/>
                </a:solidFill>
              </a:rPr>
              <a:t>) (Demo 11).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Checklist — Attack Tree and Audit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AND/OR</a:t>
            </a:r>
            <a:r>
              <a:rPr sz="1800" b="0">
                <a:solidFill>
                  <a:srgbClr val="1F2D3A"/>
                </a:solidFill>
              </a:rPr>
              <a:t> rules and find the cheapest path.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how a defence changes</a:t>
            </a:r>
            <a:r>
              <a:rPr sz="1800" b="0">
                <a:solidFill>
                  <a:srgbClr val="1F2D3A"/>
                </a:solidFill>
              </a:rPr>
              <a:t> the cheapest path (Demo 04).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should and shouldn't</a:t>
            </a:r>
            <a:r>
              <a:rPr sz="1800" b="0">
                <a:solidFill>
                  <a:srgbClr val="1F2D3A"/>
                </a:solidFill>
              </a:rPr>
              <a:t> appear in an audit log line.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what they can't catch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Access Control and Models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Subject, Object, Right — and the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Subject</a:t>
            </a:r>
            <a:r>
              <a:rPr sz="2000" b="0">
                <a:solidFill>
                  <a:srgbClr val="1F2D3A"/>
                </a:solidFill>
              </a:rPr>
              <a:t> (user/process) · </a:t>
            </a:r>
            <a:r>
              <a:rPr sz="2000" b="1">
                <a:solidFill>
                  <a:srgbClr val="1F2D3A"/>
                </a:solidFill>
              </a:rPr>
              <a:t>Object</a:t>
            </a:r>
            <a:r>
              <a:rPr sz="2000" b="0">
                <a:solidFill>
                  <a:srgbClr val="1F2D3A"/>
                </a:solidFill>
              </a:rPr>
              <a:t> (file/record) · </a:t>
            </a:r>
            <a:r>
              <a:rPr sz="2000" b="1">
                <a:solidFill>
                  <a:srgbClr val="1F2D3A"/>
                </a:solidFill>
              </a:rPr>
              <a:t>Right</a:t>
            </a:r>
            <a:r>
              <a:rPr sz="2000" b="0">
                <a:solidFill>
                  <a:srgbClr val="1F2D3A"/>
                </a:solidFill>
              </a:rPr>
              <a:t> (read/write/execute).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02968"/>
          <a:ext cx="818365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3091601"/>
                <a:gridCol w="1636730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payment_key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log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application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write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library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read, write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write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attacker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39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matrix is stored in two forms: </a:t>
            </a:r>
            <a:r>
              <a:rPr sz="2000" b="1">
                <a:solidFill>
                  <a:srgbClr val="1F2D3A"/>
                </a:solidFill>
              </a:rPr>
              <a:t>ACL</a:t>
            </a:r>
            <a:r>
              <a:rPr sz="2000" b="0">
                <a:solidFill>
                  <a:srgbClr val="1F2D3A"/>
                </a:solidFill>
              </a:rPr>
              <a:t> (column: the object holds who can access it) · </a:t>
            </a:r>
            <a:r>
              <a:rPr sz="2000" b="1">
                <a:solidFill>
                  <a:srgbClr val="1F2D3A"/>
                </a:solidFill>
              </a:rPr>
              <a:t>Capability</a:t>
            </a:r>
            <a:r>
              <a:rPr sz="2000" b="0">
                <a:solidFill>
                  <a:srgbClr val="1F2D3A"/>
                </a:solidFill>
              </a:rPr>
              <a:t> (row: the subject's tickets).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DAC · MAC · RBAC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268"/>
                <a:gridCol w="6588096"/>
                <a:gridCol w="3088170"/>
              </a:tblGrid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Who decides?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DAC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owner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of the object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Unix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chmod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Windows DACL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System/policy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(owner cannot change it)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Bell–LaPadula, SELinux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148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RBAC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Permissions attach to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roles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users are assigned to roles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"Accountant"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815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Real systems use all three </a:t>
            </a:r>
            <a:r>
              <a:rPr sz="1800" b="1">
                <a:solidFill>
                  <a:srgbClr val="1F2D3A"/>
                </a:solidFill>
              </a:rPr>
              <a:t>together</a:t>
            </a:r>
            <a:r>
              <a:rPr sz="1800" b="0">
                <a:solidFill>
                  <a:srgbClr val="1F2D3A"/>
                </a:solidFill>
              </a:rPr>
              <a:t>; the effective decision is usually the </a:t>
            </a:r>
            <a:r>
              <a:rPr sz="1800" b="1">
                <a:solidFill>
                  <a:srgbClr val="1F2D3A"/>
                </a:solidFill>
              </a:rPr>
              <a:t>intersection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9816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DAC is </a:t>
            </a:r>
            <a:r>
              <a:rPr sz="1800" b="1">
                <a:solidFill>
                  <a:srgbClr val="1F2D3A"/>
                </a:solidFill>
              </a:rPr>
              <a:t>flexible</a:t>
            </a:r>
            <a:r>
              <a:rPr sz="1800" b="0">
                <a:solidFill>
                  <a:srgbClr val="1F2D3A"/>
                </a:solidFill>
              </a:rPr>
              <a:t> but leak-prone; MAC is </a:t>
            </a:r>
            <a:r>
              <a:rPr sz="1800" b="1">
                <a:solidFill>
                  <a:srgbClr val="1F2D3A"/>
                </a:solidFill>
              </a:rPr>
              <a:t>strict</a:t>
            </a:r>
            <a:r>
              <a:rPr sz="1800" b="0">
                <a:solidFill>
                  <a:srgbClr val="1F2D3A"/>
                </a:solidFill>
              </a:rPr>
              <a:t> (military/labelled); RBAC is </a:t>
            </a:r>
            <a:r>
              <a:rPr sz="1800" b="1">
                <a:solidFill>
                  <a:srgbClr val="1F2D3A"/>
                </a:solidFill>
              </a:rPr>
              <a:t>enterprise</a:t>
            </a:r>
            <a:r>
              <a:rPr sz="1800" b="0">
                <a:solidFill>
                  <a:srgbClr val="1F2D3A"/>
                </a:solidFill>
              </a:rPr>
              <a:t>, role-based and easy to administer.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DAC and MAC — Diagram</a:t>
            </a:r>
          </a:p>
        </p:txBody>
      </p:sp>
      <p:pic>
        <p:nvPicPr>
          <p:cNvPr id="7" name="Picture 6" descr="h02-14-dac-m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54233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03 — DAC Alone (Matrix)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code/week-02/03-access-model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library(D   ) R   payment_key (D   ) DAC:YES =&gt; ALLOW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app    (D   ) R   payment_key (D   ) DAC:no  =&gt; DENY  (not in the matrix)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attacker(D   ) R   payment_key (D   ) DAC:no  =&gt; DENY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65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 even the application has </a:t>
            </a:r>
            <a:r>
              <a:rPr sz="2000" b="1">
                <a:solidFill>
                  <a:srgbClr val="1F2D3A"/>
                </a:solidFill>
              </a:rPr>
              <a:t>direct access</a:t>
            </a:r>
            <a:r>
              <a:rPr sz="2000" b="0">
                <a:solidFill>
                  <a:srgbClr val="1F2D3A"/>
                </a:solidFill>
              </a:rPr>
              <a:t> to the payment key → </a:t>
            </a:r>
            <a:r>
              <a:rPr sz="2000" b="1">
                <a:solidFill>
                  <a:srgbClr val="1F2D3A"/>
                </a:solidFill>
              </a:rPr>
              <a:t>least privilege.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Bell–LaPadula: Confidentiality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Levels: Public &lt; Confidential &lt; Top Secret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read up:</a:t>
            </a:r>
            <a:r>
              <a:rPr sz="2000" b="0">
                <a:solidFill>
                  <a:srgbClr val="1F2D3A"/>
                </a:solidFill>
              </a:rPr>
              <a:t> cannot read something more confidential than itself.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*</a:t>
            </a:r>
            <a:r>
              <a:rPr sz="2000" b="0" i="1">
                <a:solidFill>
                  <a:srgbClr val="1F2D3A"/>
                </a:solidFill>
              </a:rPr>
              <a:t>No write down (the </a:t>
            </a:r>
            <a:r>
              <a:rPr sz="2000" b="0">
                <a:solidFill>
                  <a:srgbClr val="1F2D3A"/>
                </a:solidFill>
              </a:rPr>
              <a:t>-property):** cannot write to something less confidential than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587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"Read down, write up"</a:t>
            </a:r>
            <a:r>
              <a:rPr sz="2000" b="0">
                <a:solidFill>
                  <a:srgbClr val="1F2D3A"/>
                </a:solidFill>
              </a:rPr>
              <a:t> — confidential information </a:t>
            </a:r>
            <a:r>
              <a:rPr sz="2000" b="1">
                <a:solidFill>
                  <a:srgbClr val="1F2D3A"/>
                </a:solidFill>
              </a:rPr>
              <a:t>cannot leak downward.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7299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Example: a user labelled "Confidential" </a:t>
            </a:r>
            <a:r>
              <a:rPr sz="2000" b="1">
                <a:solidFill>
                  <a:srgbClr val="1F2D3A"/>
                </a:solidFill>
              </a:rPr>
              <a:t>cannot read</a:t>
            </a:r>
            <a:r>
              <a:rPr sz="2000" b="0">
                <a:solidFill>
                  <a:srgbClr val="1F2D3A"/>
                </a:solidFill>
              </a:rPr>
              <a:t> a "Top Secret" document; a "Top Secret" process </a:t>
            </a:r>
            <a:r>
              <a:rPr sz="2000" b="1">
                <a:solidFill>
                  <a:srgbClr val="1F2D3A"/>
                </a:solidFill>
              </a:rPr>
              <a:t>cannot write</a:t>
            </a:r>
            <a:r>
              <a:rPr sz="2000" b="0">
                <a:solidFill>
                  <a:srgbClr val="1F2D3A"/>
                </a:solidFill>
              </a:rPr>
              <a:t> to a "Public" file (this is how the leak is prevented).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Biba: Integrity (the Reverse of BLP)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Levels: External &lt; Application &lt; Kernel (trustworthiness)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read down:</a:t>
            </a:r>
            <a:r>
              <a:rPr sz="2000" b="0">
                <a:solidFill>
                  <a:srgbClr val="1F2D3A"/>
                </a:solidFill>
              </a:rPr>
              <a:t> cannot read data less trustworthy than itself.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write up:</a:t>
            </a:r>
            <a:r>
              <a:rPr sz="2000" b="0">
                <a:solidFill>
                  <a:srgbClr val="1F2D3A"/>
                </a:solidFill>
              </a:rPr>
              <a:t> cannot write to data more trustworthy than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1">
                <a:solidFill>
                  <a:srgbClr val="1F2D3A"/>
                </a:solidFill>
              </a:rPr>
              <a:t>"Read up, write down"</a:t>
            </a:r>
            <a:r>
              <a:rPr sz="2000" b="0">
                <a:solidFill>
                  <a:srgbClr val="1F2D3A"/>
                </a:solidFill>
              </a:rPr>
              <a:t> — dirty information </a:t>
            </a:r>
            <a:r>
              <a:rPr sz="2000" b="1">
                <a:solidFill>
                  <a:srgbClr val="1F2D3A"/>
                </a:solidFill>
              </a:rPr>
              <a:t>cannot rise upward</a:t>
            </a:r>
            <a:r>
              <a:rPr sz="2000" b="0">
                <a:solidFill>
                  <a:srgbClr val="1F2D3A"/>
                </a:solidFill>
              </a:rPr>
              <a:t> and corrupt the clean.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BLP and Biba: Opposite Directions</a:t>
            </a:r>
          </a:p>
        </p:txBody>
      </p:sp>
      <p:pic>
        <p:nvPicPr>
          <p:cNvPr id="7" name="Picture 6" descr="h02-05-blp-bi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020" y="1325880"/>
            <a:ext cx="6149655" cy="3068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039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Opposite directions:</a:t>
            </a:r>
            <a:r>
              <a:rPr sz="2000" b="0">
                <a:solidFill>
                  <a:srgbClr val="1F2D3A"/>
                </a:solidFill>
              </a:rPr>
              <a:t> BLP protects confidentiality (no read up + no write down), Biba protects integrity (no read down + no write up).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83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data must be both confidential and trustworthy at once → it is only processed </a:t>
            </a:r>
            <a:r>
              <a:rPr sz="2000" b="1">
                <a:solidFill>
                  <a:srgbClr val="1F2D3A"/>
                </a:solidFill>
              </a:rPr>
              <a:t>at its own level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Clark–Wilson: Commercial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Instead of military levels, </a:t>
            </a:r>
            <a:r>
              <a:rPr sz="2000" b="1">
                <a:solidFill>
                  <a:srgbClr val="1F2D3A"/>
                </a:solidFill>
              </a:rPr>
              <a:t>well-formed transactions + separation of duty</a:t>
            </a:r>
            <a:r>
              <a:rPr sz="2000" b="0">
                <a:solidFill>
                  <a:srgbClr val="1F2D3A"/>
                </a:solidFill>
              </a:rPr>
              <a:t> (1987, banking):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CDI:</a:t>
            </a:r>
            <a:r>
              <a:rPr sz="2000" b="0">
                <a:solidFill>
                  <a:srgbClr val="1F2D3A"/>
                </a:solidFill>
              </a:rPr>
              <a:t> data whose integrity is preserved (a balance).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TP:</a:t>
            </a:r>
            <a:r>
              <a:rPr sz="2000" b="0">
                <a:solidFill>
                  <a:srgbClr val="1F2D3A"/>
                </a:solidFill>
              </a:rPr>
              <a:t> only </a:t>
            </a:r>
            <a:r>
              <a:rPr sz="2000" b="1">
                <a:solidFill>
                  <a:srgbClr val="1F2D3A"/>
                </a:solidFill>
              </a:rPr>
              <a:t>approved transactions</a:t>
            </a:r>
            <a:r>
              <a:rPr sz="2000" b="0">
                <a:solidFill>
                  <a:srgbClr val="1F2D3A"/>
                </a:solidFill>
              </a:rPr>
              <a:t> touch a CDI (no direct writes).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IVP:</a:t>
            </a:r>
            <a:r>
              <a:rPr sz="2000" b="0">
                <a:solidFill>
                  <a:srgbClr val="1F2D3A"/>
                </a:solidFill>
              </a:rPr>
              <a:t> regularly checks consistency ("debits = credits").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Separation of duty:</a:t>
            </a:r>
            <a:r>
              <a:rPr sz="2000" b="0">
                <a:solidFill>
                  <a:srgbClr val="1F2D3A"/>
                </a:solidFill>
              </a:rPr>
              <a:t> initiator ≠ approver.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1058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"Touch data not directly, but through </a:t>
            </a:r>
            <a:r>
              <a:rPr sz="2000" b="1">
                <a:solidFill>
                  <a:srgbClr val="1F2D3A"/>
                </a:solidFill>
              </a:rPr>
              <a:t>verified transactions</a:t>
            </a:r>
            <a:r>
              <a:rPr sz="2000" b="0">
                <a:solidFill>
                  <a:srgbClr val="1F2D3A"/>
                </a:solidFill>
              </a:rPr>
              <a:t>."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03 — BLP and Biba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BLP:  clerk    READ  operation  BLP:DENY =&gt; DENY  (read up)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general  WRITE notice     BLP:DENY =&gt; DENY  (write down)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Biba: listener WRITE record     BIBA:DENY =&gt; DENY  (write up)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processor READ  incoming  BIBA:DENY =&gt; DENY  (read down)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DAC says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 (allowed) in both cases; it is the </a:t>
            </a:r>
            <a:r>
              <a:rPr sz="2000" b="1">
                <a:solidFill>
                  <a:srgbClr val="1F2D3A"/>
                </a:solidFill>
              </a:rPr>
              <a:t>system (MAC)</a:t>
            </a:r>
            <a:r>
              <a:rPr sz="2000" b="0">
                <a:solidFill>
                  <a:srgbClr val="1F2D3A"/>
                </a:solidFill>
              </a:rPr>
              <a:t> rule that brings the denial.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Access Matrix: DAC + BLP + Biba + Chinese Wall (animation)</a:t>
            </a:r>
          </a:p>
        </p:txBody>
      </p:sp>
      <p:pic>
        <p:nvPicPr>
          <p:cNvPr id="7" name="Picture 6" descr="access-matrix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35457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Access Matrix — Edge Case: Equal Labels</a:t>
            </a:r>
          </a:p>
        </p:txBody>
      </p:sp>
      <p:pic>
        <p:nvPicPr>
          <p:cNvPr id="7" name="Picture 6" descr="access-matrix--edge-equal-labels-always-o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35457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Unix Access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-rwxr-x---</a:t>
            </a:r>
            <a:r>
              <a:rPr sz="2000" b="0">
                <a:solidFill>
                  <a:srgbClr val="1F2D3A"/>
                </a:solidFill>
              </a:rPr>
              <a:t> → owner / group / others, each with </a:t>
            </a:r>
            <a:r>
              <a:rPr sz="2000" b="1">
                <a:solidFill>
                  <a:srgbClr val="1F2D3A"/>
                </a:solidFill>
              </a:rPr>
              <a:t>read-write-execute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identities: </a:t>
            </a:r>
            <a:r>
              <a:rPr sz="2000" b="1">
                <a:solidFill>
                  <a:srgbClr val="1F2D3A"/>
                </a:solidFill>
              </a:rPr>
              <a:t>effective / real / saved</a:t>
            </a:r>
            <a:r>
              <a:rPr sz="2000" b="0">
                <a:solidFill>
                  <a:srgbClr val="1F2D3A"/>
                </a:solidFill>
              </a:rPr>
              <a:t> UID.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setuid:</a:t>
            </a:r>
            <a:r>
              <a:rPr sz="2000" b="0">
                <a:solidFill>
                  <a:srgbClr val="1F2D3A"/>
                </a:solidFill>
              </a:rPr>
              <a:t> the program runs with the authority of </a:t>
            </a:r>
            <a:r>
              <a:rPr sz="2000" b="1">
                <a:solidFill>
                  <a:srgbClr val="1F2D3A"/>
                </a:solidFill>
              </a:rPr>
              <a:t>its owner</a:t>
            </a:r>
            <a:r>
              <a:rPr sz="2000" b="0">
                <a:solidFill>
                  <a:srgbClr val="1F2D3A"/>
                </a:solidFill>
              </a:rPr>
              <a:t> (usually root) — powerful but dangerous.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sticky bit:</a:t>
            </a:r>
            <a:r>
              <a:rPr sz="2000" b="0">
                <a:solidFill>
                  <a:srgbClr val="1F2D3A"/>
                </a:solidFill>
              </a:rPr>
              <a:t> cannot delete someone else's file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/tmp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Book: Recipe 2.1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Unix Permission Bits — Diagram</a:t>
            </a:r>
          </a:p>
        </p:txBody>
      </p:sp>
      <p:pic>
        <p:nvPicPr>
          <p:cNvPr id="7" name="Picture 6" descr="h02-08-unix-izin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86133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Windows Access Model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040"/>
                <a:gridCol w="3320901"/>
                <a:gridCol w="411159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Unix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Windows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Identity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UID/GID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Permission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Mode bits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ACEs inside a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DACL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Auditing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syslog (external)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SACL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(built-in)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"Open to everyone"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chmod 777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NULL DACL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DACL:</a:t>
            </a:r>
            <a:r>
              <a:rPr sz="1800" b="0">
                <a:solidFill>
                  <a:srgbClr val="1F2D3A"/>
                </a:solidFill>
              </a:rPr>
              <a:t> who can do what (ACE = SID + right + allow/deny).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Modern Windows: </a:t>
            </a:r>
            <a:r>
              <a:rPr sz="1800" b="1">
                <a:solidFill>
                  <a:srgbClr val="1F2D3A"/>
                </a:solidFill>
              </a:rPr>
              <a:t>MIC</a:t>
            </a:r>
            <a:r>
              <a:rPr sz="1800" b="0">
                <a:solidFill>
                  <a:srgbClr val="1F2D3A"/>
                </a:solidFill>
              </a:rPr>
              <a:t> and </a:t>
            </a:r>
            <a:r>
              <a:rPr sz="1800" b="1">
                <a:solidFill>
                  <a:srgbClr val="1F2D3A"/>
                </a:solidFill>
              </a:rPr>
              <a:t>AppContainer</a:t>
            </a:r>
            <a:r>
              <a:rPr sz="1800" b="0">
                <a:solidFill>
                  <a:srgbClr val="1F2D3A"/>
                </a:solidFill>
              </a:rPr>
              <a:t> (Biba-like). Book: Recipe 2.2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06 — TOCTOU Race (CWE-367)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code/week-02/06-toctou</a:t>
            </a:r>
            <a:r>
              <a:rPr sz="2000" b="0">
                <a:solidFill>
                  <a:srgbClr val="1F2D3A"/>
                </a:solidFill>
              </a:rPr>
              <a:t> (WSL/Linux only) · Book: Recipe 2.3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UNSAFE (lstat first, then fopen):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&gt;&gt;&gt; ATTACK SUCCEEDED: write redirected to secret_target.txt!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SAFE (O_NOFOLLOW, one step):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rejected: the target is a symbolic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54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gap between checking and using</a:t>
            </a:r>
            <a:r>
              <a:rPr sz="2000" b="0">
                <a:solidFill>
                  <a:srgbClr val="1F2D3A"/>
                </a:solidFill>
              </a:rPr>
              <a:t> is a race. Solution: a single atomic step (</a:t>
            </a:r>
            <a:r>
              <a:rPr sz="2000" b="0">
                <a:solidFill>
                  <a:srgbClr val="A1123F"/>
                </a:solidFill>
                <a:latin typeface="Consolas"/>
              </a:rPr>
              <a:t>O_NOFOLLOW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O_EXCL</a:t>
            </a:r>
            <a:r>
              <a:rPr sz="2000" b="0">
                <a:solidFill>
                  <a:srgbClr val="1F2D3A"/>
                </a:solidFill>
              </a:rPr>
              <a:t>), work through the fd.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TOCTOU Race: The Window Between Check and Use (animation)</a:t>
            </a:r>
          </a:p>
        </p:txBody>
      </p:sp>
      <p:pic>
        <p:nvPicPr>
          <p:cNvPr id="7" name="Picture 6" descr="toctou-race-timeli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271" y="1325880"/>
            <a:ext cx="7897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TOCTOU — Edge Case: SAFE, No Attacker</a:t>
            </a:r>
          </a:p>
        </p:txBody>
      </p:sp>
      <p:pic>
        <p:nvPicPr>
          <p:cNvPr id="7" name="Picture 6" descr="toctou-race-timeline--edge-safe-no-attack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271" y="1325880"/>
            <a:ext cx="7897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12 — The ACE Evaluation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code/week-02/12-ace-evaluation</a:t>
            </a:r>
            <a:r>
              <a:rPr sz="1800" b="0">
                <a:solidFill>
                  <a:srgbClr val="1F2D3A"/>
                </a:solidFill>
              </a:rPr>
              <a:t> · Recipe 2.2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112471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1a canonical: DENY Everyone FULL | ALLOW Marketing WRITE  =&gt; DENY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1b broken:    ALLOW Marketing WRITE | ... DENY Everyone   =&gt; ALLOW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2a NULL DACL (unrelated account) =&gt; ALLOW (TAKE_OWNER, WRITE_DAC dahil!)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2b EMPTY DACL (same account)     =&gt; DENY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3b inheritance broken            =&gt; DENY (list ended)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695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Order matters: </a:t>
            </a:r>
            <a:r>
              <a:rPr sz="1800" b="1">
                <a:solidFill>
                  <a:srgbClr val="1F2D3A"/>
                </a:solidFill>
              </a:rPr>
              <a:t>explicit DENY → explicit ALLOW → inherited DENY → inherited ALLOW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❌ NULL DACL = </a:t>
            </a:r>
            <a:r>
              <a:rPr sz="1800" b="1">
                <a:solidFill>
                  <a:srgbClr val="1F2D3A"/>
                </a:solidFill>
              </a:rPr>
              <a:t>every</a:t>
            </a:r>
            <a:r>
              <a:rPr sz="1800" b="0">
                <a:solidFill>
                  <a:srgbClr val="1F2D3A"/>
                </a:solidFill>
              </a:rPr>
              <a:t> right to everyone · ✅ grant the needed rights explicitly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The owner can change permissions no matter what the DACL says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Windows ACE Evaluation Order (animation)</a:t>
            </a:r>
          </a:p>
        </p:txBody>
      </p:sp>
      <p:pic>
        <p:nvPicPr>
          <p:cNvPr id="7" name="Picture 6" descr="windows-ace-evaluation-ord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781" y="1325880"/>
            <a:ext cx="1004413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ACE Order — Edge Case: Canonical Order, DENY First</a:t>
            </a:r>
          </a:p>
        </p:txBody>
      </p:sp>
      <p:pic>
        <p:nvPicPr>
          <p:cNvPr id="7" name="Picture 6" descr="windows-ace-evaluation-order--edge-canonical-deny-first-stops-earl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572" y="1325880"/>
            <a:ext cx="942055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13 — Unix Permissions, umask, setuid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code/week-02/13-unix-permissions-umask</a:t>
            </a:r>
            <a:r>
              <a:rPr sz="1800" b="0">
                <a:solidFill>
                  <a:srgbClr val="1F2D3A"/>
                </a:solidFill>
              </a:rPr>
              <a:t> · Recipe 2.1, 2.7, 1.3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alice  read paradox.txt ---rwxrwx  owner -&gt; DENY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zoe    read paradox.txt ---rwxrwx  other -&gt; ALLOW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0666 &amp; ~umask:  000 -&gt; rw-rw-rw-   022 -&gt; rw-r--r--   077 -&gt; rw-------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seteuid(1001)  r/e/s = 1001/1001/0   &lt;- saved UID still 0!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6876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The first matching class</a:t>
            </a:r>
            <a:r>
              <a:rPr sz="1800" b="0">
                <a:solidFill>
                  <a:srgbClr val="1F2D3A"/>
                </a:solidFill>
              </a:rPr>
              <a:t> decides (owner → group → others)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A1123F"/>
                </a:solidFill>
                <a:latin typeface="Consolas"/>
              </a:rPr>
              <a:t>fopen()</a:t>
            </a:r>
            <a:r>
              <a:rPr sz="1800" b="0">
                <a:solidFill>
                  <a:srgbClr val="1F2D3A"/>
                </a:solidFill>
              </a:rPr>
              <a:t> requests 0666 → for a sensitive file: </a:t>
            </a:r>
            <a:r>
              <a:rPr sz="1800" b="0">
                <a:solidFill>
                  <a:srgbClr val="A1123F"/>
                </a:solidFill>
                <a:latin typeface="Consolas"/>
              </a:rPr>
              <a:t>open(..., 0600)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Dropping privilege for good: </a:t>
            </a:r>
            <a:r>
              <a:rPr sz="1800" b="0">
                <a:solidFill>
                  <a:srgbClr val="A1123F"/>
                </a:solidFill>
                <a:latin typeface="Consolas"/>
              </a:rPr>
              <a:t>setresuid()</a:t>
            </a:r>
            <a:r>
              <a:rPr sz="1800" b="0">
                <a:solidFill>
                  <a:srgbClr val="1F2D3A"/>
                </a:solidFill>
              </a:rPr>
              <a:t> + verify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Unix Permission Check and umask (animation)</a:t>
            </a:r>
          </a:p>
        </p:txBody>
      </p:sp>
      <p:pic>
        <p:nvPicPr>
          <p:cNvPr id="7" name="Picture 6" descr="unix-permission-chec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2305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Unix Permissions — Edge Case: umask 000 Danger</a:t>
            </a:r>
          </a:p>
        </p:txBody>
      </p:sp>
      <p:pic>
        <p:nvPicPr>
          <p:cNvPr id="7" name="Picture 6" descr="unix-permission-check--edge-umask-000-dangerou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90" y="1325880"/>
            <a:ext cx="874211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Demo 14 — RBAC, Separation of Duty, Clark–Wilson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A1123F"/>
                </a:solidFill>
                <a:latin typeface="Consolas"/>
              </a:rPr>
              <a:t>code/week-02/14-rbac-clark-wilson</a:t>
            </a:r>
            <a:r>
              <a:rPr sz="1800" b="0">
                <a:solidFill>
                  <a:srgbClr val="1F2D3A"/>
                </a:solidFill>
              </a:rPr>
              <a:t> · a bank simulation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42515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ASSIGN carl TELLER            SSD(TELLER,APPROVER) -&gt; DENY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SESSION dana TELLER,AUDITOR   DSD(TELLER,AUDITOR)  -&gt; DENY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SESSION dana AUDITOR          -&gt; OK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dana IVP: expected 20250, found 20250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6876"/>
            <a:ext cx="10911535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SSD:</a:t>
            </a:r>
            <a:r>
              <a:rPr sz="1800" b="0">
                <a:solidFill>
                  <a:srgbClr val="1F2D3A"/>
                </a:solidFill>
              </a:rPr>
              <a:t> cannot be assigned to two conflicting roles · </a:t>
            </a:r>
            <a:r>
              <a:rPr sz="1800" b="1">
                <a:solidFill>
                  <a:srgbClr val="1F2D3A"/>
                </a:solidFill>
              </a:rPr>
              <a:t>DSD:</a:t>
            </a:r>
            <a:r>
              <a:rPr sz="1800" b="0">
                <a:solidFill>
                  <a:srgbClr val="1F2D3A"/>
                </a:solidFill>
              </a:rPr>
              <a:t> cannot have both active in the same session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Only a </a:t>
            </a:r>
            <a:r>
              <a:rPr sz="1800" b="1">
                <a:solidFill>
                  <a:srgbClr val="1F2D3A"/>
                </a:solidFill>
              </a:rPr>
              <a:t>certified TP</a:t>
            </a:r>
            <a:r>
              <a:rPr sz="1800" b="0">
                <a:solidFill>
                  <a:srgbClr val="1F2D3A"/>
                </a:solidFill>
              </a:rPr>
              <a:t> touches a CDI; a large transfer → </a:t>
            </a:r>
            <a:r>
              <a:rPr sz="1800" b="1">
                <a:solidFill>
                  <a:srgbClr val="1F2D3A"/>
                </a:solidFill>
              </a:rPr>
              <a:t>second-person approval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⚠️ If a faulty TP gets certified, the rules don't see it — the </a:t>
            </a:r>
            <a:r>
              <a:rPr sz="1800" b="1">
                <a:solidFill>
                  <a:srgbClr val="1F2D3A"/>
                </a:solidFill>
              </a:rPr>
              <a:t>IVP catches it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RBAC + Clark–Wilson: Transaction Check Gates (animation)</a:t>
            </a:r>
          </a:p>
        </p:txBody>
      </p:sp>
      <p:pic>
        <p:nvPicPr>
          <p:cNvPr id="7" name="Picture 6" descr="rbac-clark-wilson-transaction-chec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88" y="1325880"/>
            <a:ext cx="62297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RBAC — Edge Case: User Not Recognized</a:t>
            </a:r>
          </a:p>
        </p:txBody>
      </p:sp>
      <p:pic>
        <p:nvPicPr>
          <p:cNvPr id="7" name="Picture 6" descr="rbac-clark-wilson-transaction-check--edge-unrecognized-us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988" y="1325880"/>
            <a:ext cx="62297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"We Verified Identity, So We Verified Authorization Too"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 user who can log in can do anything.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Authentication</a:t>
            </a:r>
            <a:r>
              <a:rPr sz="2000" b="0">
                <a:solidFill>
                  <a:srgbClr val="1F2D3A"/>
                </a:solidFill>
              </a:rPr>
              <a:t> is the question "who are you?"; </a:t>
            </a:r>
            <a:r>
              <a:rPr sz="2000" b="1">
                <a:solidFill>
                  <a:srgbClr val="1F2D3A"/>
                </a:solidFill>
              </a:rPr>
              <a:t>authorization</a:t>
            </a:r>
            <a:r>
              <a:rPr sz="2000" b="0">
                <a:solidFill>
                  <a:srgbClr val="1F2D3A"/>
                </a:solidFill>
              </a:rPr>
              <a:t> is the question "can you do this?" — separate steps.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CWE-862</a:t>
            </a:r>
            <a:r>
              <a:rPr sz="2000" b="0">
                <a:solidFill>
                  <a:srgbClr val="1F2D3A"/>
                </a:solidFill>
              </a:rPr>
              <a:t> (missing authorization), fourth on the 2025 CWE Top 25, is exactly this mistake.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"If There's an Error, Let's Allow It"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If the policy can't be read or is unclear, </a:t>
            </a:r>
            <a:r>
              <a:rPr sz="2000" b="1">
                <a:solidFill>
                  <a:srgbClr val="1F2D3A"/>
                </a:solidFill>
              </a:rPr>
              <a:t>access should be granted</a:t>
            </a:r>
            <a:r>
              <a:rPr sz="2000" b="0">
                <a:solidFill>
                  <a:srgbClr val="1F2D3A"/>
                </a:solidFill>
              </a:rPr>
              <a:t> so the user isn't inconvenienced.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1">
                <a:solidFill>
                  <a:srgbClr val="1F2D3A"/>
                </a:solidFill>
              </a:rPr>
              <a:t>safe default</a:t>
            </a:r>
            <a:r>
              <a:rPr sz="2000" b="0">
                <a:solidFill>
                  <a:srgbClr val="1F2D3A"/>
                </a:solidFill>
              </a:rPr>
              <a:t> principle says the exact opposite: if the policy can't be read, the answer must be </a:t>
            </a:r>
            <a:r>
              <a:rPr sz="2000" b="1">
                <a:solidFill>
                  <a:srgbClr val="1F2D3A"/>
                </a:solidFill>
              </a:rPr>
              <a:t>deny</a:t>
            </a:r>
            <a:r>
              <a:rPr sz="2000" b="0">
                <a:solidFill>
                  <a:srgbClr val="1F2D3A"/>
                </a:solidFill>
              </a:rPr>
              <a:t> (CWE-636, the "fail-open" error).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"Fail-closed" (deny on error) is the default for secure systems.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"NULL DACL and an Empty DACL Are the Same"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Both look like "no permissions."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 </a:t>
            </a:r>
            <a:r>
              <a:rPr sz="2000" b="1">
                <a:solidFill>
                  <a:srgbClr val="1F2D3A"/>
                </a:solidFill>
              </a:rPr>
              <a:t>NULL DACL</a:t>
            </a:r>
            <a:r>
              <a:rPr sz="2000" b="0">
                <a:solidFill>
                  <a:srgbClr val="1F2D3A"/>
                </a:solidFill>
              </a:rPr>
              <a:t> (no DACL at all) grants </a:t>
            </a:r>
            <a:r>
              <a:rPr sz="2000" b="1">
                <a:solidFill>
                  <a:srgbClr val="1F2D3A"/>
                </a:solidFill>
              </a:rPr>
              <a:t>full access to everyone</a:t>
            </a:r>
            <a:r>
              <a:rPr sz="2000" b="0">
                <a:solidFill>
                  <a:srgbClr val="1F2D3A"/>
                </a:solidFill>
              </a:rPr>
              <a:t> — including taking ownership. An </a:t>
            </a:r>
            <a:r>
              <a:rPr sz="2000" b="1">
                <a:solidFill>
                  <a:srgbClr val="1F2D3A"/>
                </a:solidFill>
              </a:rPr>
              <a:t>empty DACL</a:t>
            </a:r>
            <a:r>
              <a:rPr sz="2000" b="0">
                <a:solidFill>
                  <a:srgbClr val="1F2D3A"/>
                </a:solidFill>
              </a:rPr>
              <a:t> (a list with no ACEs) grants </a:t>
            </a:r>
            <a:r>
              <a:rPr sz="2000" b="1">
                <a:solidFill>
                  <a:srgbClr val="1F2D3A"/>
                </a:solidFill>
              </a:rPr>
              <a:t>no rights to anyone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first is a serious vulnerability (CWE-732); confusing the two is dangerous (Demo 12).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"ACE Order Doesn't Matter"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The same ACEs in a different order give the same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Windows evaluates ACEs </a:t>
            </a:r>
            <a:r>
              <a:rPr sz="2000" b="1">
                <a:solidFill>
                  <a:srgbClr val="1F2D3A"/>
                </a:solidFill>
              </a:rPr>
              <a:t>in order</a:t>
            </a:r>
            <a:r>
              <a:rPr sz="2000" b="0">
                <a:solidFill>
                  <a:srgbClr val="1F2D3A"/>
                </a:solidFill>
              </a:rPr>
              <a:t> and stops at the </a:t>
            </a:r>
            <a:r>
              <a:rPr sz="2000" b="1">
                <a:solidFill>
                  <a:srgbClr val="1F2D3A"/>
                </a:solidFill>
              </a:rPr>
              <a:t>first determining</a:t>
            </a:r>
            <a:r>
              <a:rPr sz="2000" b="0">
                <a:solidFill>
                  <a:srgbClr val="1F2D3A"/>
                </a:solidFill>
              </a:rPr>
              <a:t> entry.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canonical order, explicit deny entries come before allow entries; a manually mis-ordered DACL can </a:t>
            </a:r>
            <a:r>
              <a:rPr sz="2000" b="1">
                <a:solidFill>
                  <a:srgbClr val="1F2D3A"/>
                </a:solidFill>
              </a:rPr>
              <a:t>cancel out</a:t>
            </a:r>
            <a:r>
              <a:rPr sz="2000" b="0">
                <a:solidFill>
                  <a:srgbClr val="1F2D3A"/>
                </a:solidFill>
              </a:rPr>
              <a:t> an intended denial (Demo 12).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"chmod 777 Fixed the Problem"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Papering over an "access denied" error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chmod 777</a:t>
            </a:r>
            <a:r>
              <a:rPr sz="2000" b="0">
                <a:solidFill>
                  <a:srgbClr val="1F2D3A"/>
                </a:solidFill>
              </a:rPr>
              <a:t> is a practical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Opening permissions to everyone </a:t>
            </a:r>
            <a:r>
              <a:rPr sz="2000" b="1">
                <a:solidFill>
                  <a:srgbClr val="1F2D3A"/>
                </a:solidFill>
              </a:rPr>
              <a:t>doesn't solve the problem, it magnifies it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Secrets should be created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0600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umask</a:t>
            </a:r>
            <a:r>
              <a:rPr sz="2000" b="0">
                <a:solidFill>
                  <a:srgbClr val="1F2D3A"/>
                </a:solidFill>
              </a:rPr>
              <a:t> should be set </a:t>
            </a:r>
            <a:r>
              <a:rPr sz="2000" b="1">
                <a:solidFill>
                  <a:srgbClr val="1F2D3A"/>
                </a:solidFill>
              </a:rPr>
              <a:t>deliberately</a:t>
            </a:r>
            <a:r>
              <a:rPr sz="2000" b="0">
                <a:solidFill>
                  <a:srgbClr val="1F2D3A"/>
                </a:solidFill>
              </a:rPr>
              <a:t> at the start of the program (Demo 13).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"We Set Up RBAC, So Separation of Duty Comes for Free"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Setting up role-based access control automatically provides separation of duty.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If the same person is given both the "initiate refund" and "approve refund" roles, RBAC </a:t>
            </a:r>
            <a:r>
              <a:rPr sz="2000" b="1">
                <a:solidFill>
                  <a:srgbClr val="1F2D3A"/>
                </a:solidFill>
              </a:rPr>
              <a:t>does not provide</a:t>
            </a:r>
            <a:r>
              <a:rPr sz="2000" b="0">
                <a:solidFill>
                  <a:srgbClr val="1F2D3A"/>
                </a:solidFill>
              </a:rPr>
              <a:t> separation of duty.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static (</a:t>
            </a:r>
            <a:r>
              <a:rPr sz="2000" b="1">
                <a:solidFill>
                  <a:srgbClr val="1F2D3A"/>
                </a:solidFill>
              </a:rPr>
              <a:t>SSD</a:t>
            </a:r>
            <a:r>
              <a:rPr sz="2000" b="0">
                <a:solidFill>
                  <a:srgbClr val="1F2D3A"/>
                </a:solidFill>
              </a:rPr>
              <a:t>) or dynamic (</a:t>
            </a:r>
            <a:r>
              <a:rPr sz="2000" b="1">
                <a:solidFill>
                  <a:srgbClr val="1F2D3A"/>
                </a:solidFill>
              </a:rPr>
              <a:t>DSD</a:t>
            </a:r>
            <a:r>
              <a:rPr sz="2000" b="0">
                <a:solidFill>
                  <a:srgbClr val="1F2D3A"/>
                </a:solidFill>
              </a:rPr>
              <a:t>) separation-of-duty constraint must be defined </a:t>
            </a:r>
            <a:r>
              <a:rPr sz="2000" b="1">
                <a:solidFill>
                  <a:srgbClr val="1F2D3A"/>
                </a:solidFill>
              </a:rPr>
              <a:t>separately</a:t>
            </a:r>
            <a:r>
              <a:rPr sz="2000" b="0">
                <a:solidFill>
                  <a:srgbClr val="1F2D3A"/>
                </a:solidFill>
              </a:rPr>
              <a:t> (Demo 14).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Mobile Permission Model and Least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1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app runs in its own </a:t>
            </a:r>
            <a:r>
              <a:rPr sz="2000" b="1">
                <a:solidFill>
                  <a:srgbClr val="1F2D3A"/>
                </a:solidFill>
              </a:rPr>
              <a:t>sandbox</a:t>
            </a:r>
            <a:r>
              <a:rPr sz="2000" b="0">
                <a:solidFill>
                  <a:srgbClr val="1F2D3A"/>
                </a:solidFill>
              </a:rPr>
              <a:t> — it cannot access other apps' data by default.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resources (camera, location, contacts) require </a:t>
            </a:r>
            <a:r>
              <a:rPr sz="2000" b="1">
                <a:solidFill>
                  <a:srgbClr val="1F2D3A"/>
                </a:solidFill>
              </a:rPr>
              <a:t>runtime permission</a:t>
            </a:r>
            <a:r>
              <a:rPr sz="2000" b="0">
                <a:solidFill>
                  <a:srgbClr val="1F2D3A"/>
                </a:solidFill>
              </a:rPr>
              <a:t>; there's no access without user approval.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 </a:t>
            </a:r>
            <a:r>
              <a:rPr sz="2000" b="1">
                <a:solidFill>
                  <a:srgbClr val="1F2D3A"/>
                </a:solidFill>
              </a:rPr>
              <a:t>hybrid model</a:t>
            </a:r>
            <a:r>
              <a:rPr sz="2000" b="0">
                <a:solidFill>
                  <a:srgbClr val="1F2D3A"/>
                </a:solidFill>
              </a:rPr>
              <a:t> resembling DAC (user consent) combined with MAC (the system's mandatory sandbox boundary).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the </a:t>
            </a:r>
            <a:r>
              <a:rPr sz="2000" b="1">
                <a:solidFill>
                  <a:srgbClr val="1F2D3A"/>
                </a:solidFill>
              </a:rPr>
              <a:t>concrete form</a:t>
            </a:r>
            <a:r>
              <a:rPr sz="2000" b="0">
                <a:solidFill>
                  <a:srgbClr val="1F2D3A"/>
                </a:solidFill>
              </a:rPr>
              <a:t>, in today's mobile operating systems, of the principle of least privilege (Week 1).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Checklist — Access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460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who decides?</a:t>
            </a:r>
            <a:r>
              <a:rPr sz="1800" b="0">
                <a:solidFill>
                  <a:srgbClr val="1F2D3A"/>
                </a:solidFill>
              </a:rPr>
              <a:t>"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difference</a:t>
            </a:r>
            <a:r>
              <a:rPr sz="1800" b="0">
                <a:solidFill>
                  <a:srgbClr val="1F2D3A"/>
                </a:solidFill>
              </a:rPr>
              <a:t> between authentication and authorization with an example.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ls -l</a:t>
            </a:r>
            <a:r>
              <a:rPr sz="1800" b="0">
                <a:solidFill>
                  <a:srgbClr val="1F2D3A"/>
                </a:solidFill>
              </a:rPr>
              <a:t> output, the setuid/sticky bits, and a umask calculation.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critical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separately</a:t>
            </a:r>
            <a:r>
              <a:rPr sz="1800" b="0">
                <a:solidFill>
                  <a:srgbClr val="1F2D3A"/>
                </a:solidFill>
              </a:rPr>
              <a:t> with SSD/DSD in RBAC.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Vulnerability Classification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CWE: A Catalogue of Weakness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= the </a:t>
            </a:r>
            <a:r>
              <a:rPr sz="2000" b="1">
                <a:solidFill>
                  <a:srgbClr val="1F2D3A"/>
                </a:solidFill>
              </a:rPr>
              <a:t>type</a:t>
            </a:r>
            <a:r>
              <a:rPr sz="2000" b="0">
                <a:solidFill>
                  <a:srgbClr val="1F2D3A"/>
                </a:solidFill>
              </a:rPr>
              <a:t> of a weakness (SQL injection → CWE-89).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CWE Top 25:</a:t>
            </a:r>
            <a:r>
              <a:rPr sz="2000" b="0">
                <a:solidFill>
                  <a:srgbClr val="1F2D3A"/>
                </a:solidFill>
              </a:rPr>
              <a:t> that year's 25 most common/dangerous weaknesses.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78888"/>
          <a:ext cx="7274355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5273908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CWE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Weakness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Out-of-bounds write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CWE-89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 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CWE-367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TOCTOU (Demo 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CWE-798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Hardcoded credentials/key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6106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Hierarchical: pillar → class → base → variant. Pick the </a:t>
            </a:r>
            <a:r>
              <a:rPr sz="2000" b="1">
                <a:solidFill>
                  <a:srgbClr val="1F2D3A"/>
                </a:solidFill>
              </a:rPr>
              <a:t>most concrete</a:t>
            </a:r>
            <a:r>
              <a:rPr sz="2000" b="0">
                <a:solidFill>
                  <a:srgbClr val="1F2D3A"/>
                </a:solidFill>
              </a:rPr>
              <a:t> CWE.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"CWE and CVE Are the Same Thing"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Both mean the same thing and can be used interchangeably.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CWE</a:t>
            </a:r>
            <a:r>
              <a:rPr sz="2000" b="0">
                <a:solidFill>
                  <a:srgbClr val="1F2D3A"/>
                </a:solidFill>
              </a:rPr>
              <a:t> is the </a:t>
            </a:r>
            <a:r>
              <a:rPr sz="2000" b="1">
                <a:solidFill>
                  <a:srgbClr val="1F2D3A"/>
                </a:solidFill>
              </a:rPr>
              <a:t>type</a:t>
            </a:r>
            <a:r>
              <a:rPr sz="2000" b="0">
                <a:solidFill>
                  <a:srgbClr val="1F2D3A"/>
                </a:solidFill>
              </a:rPr>
              <a:t> of a weakness (SQL injection → CWE-89). </a:t>
            </a:r>
            <a:r>
              <a:rPr sz="2000" b="1">
                <a:solidFill>
                  <a:srgbClr val="1F2D3A"/>
                </a:solidFill>
              </a:rPr>
              <a:t>CVE</a:t>
            </a:r>
            <a:r>
              <a:rPr sz="2000" b="0">
                <a:solidFill>
                  <a:srgbClr val="1F2D3A"/>
                </a:solidFill>
              </a:rPr>
              <a:t> is the </a:t>
            </a:r>
            <a:r>
              <a:rPr sz="2000" b="1">
                <a:solidFill>
                  <a:srgbClr val="1F2D3A"/>
                </a:solidFill>
              </a:rPr>
              <a:t>identity</a:t>
            </a:r>
            <a:r>
              <a:rPr sz="2000" b="0">
                <a:solidFill>
                  <a:srgbClr val="1F2D3A"/>
                </a:solidFill>
              </a:rPr>
              <a:t> of a specific flaw in a specific product (Heartbleed → CVE-2014-0160).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CVE </a:t>
            </a:r>
            <a:r>
              <a:rPr sz="2000" b="1">
                <a:solidFill>
                  <a:srgbClr val="1F2D3A"/>
                </a:solidFill>
              </a:rPr>
              <a:t>belongs to</a:t>
            </a:r>
            <a:r>
              <a:rPr sz="2000" b="0">
                <a:solidFill>
                  <a:srgbClr val="1F2D3A"/>
                </a:solidFill>
              </a:rPr>
              <a:t> one or more CWE types.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"Picking the Most General CWE Is Safe"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When unsure, writing the top-level (general) CWE is safer.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A top-level entry like CWE-20 (improper input validation) </a:t>
            </a:r>
            <a:r>
              <a:rPr sz="2000" b="1">
                <a:solidFill>
                  <a:srgbClr val="1F2D3A"/>
                </a:solidFill>
              </a:rPr>
              <a:t>doesn't explain the fix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Rule: pick the </a:t>
            </a:r>
            <a:r>
              <a:rPr sz="2000" b="1">
                <a:solidFill>
                  <a:srgbClr val="1F2D3A"/>
                </a:solidFill>
              </a:rPr>
              <a:t>most concrete</a:t>
            </a:r>
            <a:r>
              <a:rPr sz="2000" b="0">
                <a:solidFill>
                  <a:srgbClr val="1F2D3A"/>
                </a:solidFill>
              </a:rPr>
              <a:t> CWE possible (preferably at the base level).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Top 10 and MASVS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9731"/>
                <a:gridCol w="2530211"/>
                <a:gridCol w="411159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CWE / Top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All software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Catalogue / priority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Top 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Awareness / priority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ASVS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Verification standard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OWASP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MASVS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+ 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Mobile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Verification + 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MASVS-RESILIENCE</a:t>
            </a:r>
            <a:r>
              <a:rPr sz="2000" b="0">
                <a:solidFill>
                  <a:srgbClr val="1F2D3A"/>
                </a:solidFill>
              </a:rPr>
              <a:t> = resistance to reverse engineering → this course's code obfuscation (Weeks 9, 14), RASP (Week 6), and white-box (Week 11) topics.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and MASVS — Diagram</a:t>
            </a:r>
          </a:p>
        </p:txBody>
      </p:sp>
      <p:pic>
        <p:nvPicPr>
          <p:cNvPr id="7" name="Picture 6" descr="h02-16-owasp-masv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77117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"OWASP Top 10 Is a Checklist"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If I satisfy the 10 items on the Top 10, I'm secure.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The Top 10 is an </a:t>
            </a:r>
            <a:r>
              <a:rPr sz="2000" b="1">
                <a:solidFill>
                  <a:srgbClr val="1F2D3A"/>
                </a:solidFill>
              </a:rPr>
              <a:t>awareness</a:t>
            </a:r>
            <a:r>
              <a:rPr sz="2000" b="0">
                <a:solidFill>
                  <a:srgbClr val="1F2D3A"/>
                </a:solidFill>
              </a:rPr>
              <a:t> document, not a verification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Verifiable requirements live in </a:t>
            </a:r>
            <a:r>
              <a:rPr sz="2000" b="1">
                <a:solidFill>
                  <a:srgbClr val="1F2D3A"/>
                </a:solidFill>
              </a:rPr>
              <a:t>ASVS</a:t>
            </a:r>
            <a:r>
              <a:rPr sz="2000" b="0">
                <a:solidFill>
                  <a:srgbClr val="1F2D3A"/>
                </a:solidFill>
              </a:rPr>
              <a:t> for the web, and in </a:t>
            </a:r>
            <a:r>
              <a:rPr sz="2000" b="1">
                <a:solidFill>
                  <a:srgbClr val="1F2D3A"/>
                </a:solidFill>
              </a:rPr>
              <a:t>MASVS and MASTG</a:t>
            </a:r>
            <a:r>
              <a:rPr sz="2000" b="0">
                <a:solidFill>
                  <a:srgbClr val="1F2D3A"/>
                </a:solidFill>
              </a:rPr>
              <a:t> for mobile.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CVE and CVSS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CVE:</a:t>
            </a:r>
            <a:r>
              <a:rPr sz="2000" b="0">
                <a:solidFill>
                  <a:srgbClr val="1F2D3A"/>
                </a:solidFill>
              </a:rPr>
              <a:t> the </a:t>
            </a:r>
            <a:r>
              <a:rPr sz="2000" b="1">
                <a:solidFill>
                  <a:srgbClr val="1F2D3A"/>
                </a:solidFill>
              </a:rPr>
              <a:t>identity</a:t>
            </a:r>
            <a:r>
              <a:rPr sz="2000" b="0">
                <a:solidFill>
                  <a:srgbClr val="1F2D3A"/>
                </a:solidFill>
              </a:rPr>
              <a:t> of a specific flaw in a specific product (CVE-2014-0160 = Heartbleed). A </a:t>
            </a:r>
            <a:r>
              <a:rPr sz="2000" b="1">
                <a:solidFill>
                  <a:srgbClr val="1F2D3A"/>
                </a:solidFill>
              </a:rPr>
              <a:t>name</a:t>
            </a:r>
            <a:r>
              <a:rPr sz="2000" b="0">
                <a:solidFill>
                  <a:srgbClr val="1F2D3A"/>
                </a:solidFill>
              </a:rPr>
              <a:t>, not a severity.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CVSS:</a:t>
            </a:r>
            <a:r>
              <a:rPr sz="2000" b="0">
                <a:solidFill>
                  <a:srgbClr val="1F2D3A"/>
                </a:solidFill>
              </a:rPr>
              <a:t> a flaw's </a:t>
            </a:r>
            <a:r>
              <a:rPr sz="2000" b="1">
                <a:solidFill>
                  <a:srgbClr val="1F2D3A"/>
                </a:solidFill>
              </a:rPr>
              <a:t>severity</a:t>
            </a:r>
            <a:r>
              <a:rPr sz="2000" b="0">
                <a:solidFill>
                  <a:srgbClr val="1F2D3A"/>
                </a:solidFill>
              </a:rPr>
              <a:t>, 0.0–10.0. Three groups: </a:t>
            </a:r>
            <a:r>
              <a:rPr sz="2000" b="1">
                <a:solidFill>
                  <a:srgbClr val="1F2D3A"/>
                </a:solidFill>
              </a:rPr>
              <a:t>Base</a:t>
            </a:r>
            <a:r>
              <a:rPr sz="2000" b="0">
                <a:solidFill>
                  <a:srgbClr val="1F2D3A"/>
                </a:solidFill>
              </a:rPr>
              <a:t> (fixed), Temporal, Environmental.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CVE belongs to one or more </a:t>
            </a:r>
            <a:r>
              <a:rPr sz="2000" b="1">
                <a:solidFill>
                  <a:srgbClr val="1F2D3A"/>
                </a:solidFill>
              </a:rPr>
              <a:t>CWE types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CWE, CVE, CVSS — Diagram</a:t>
            </a:r>
          </a:p>
        </p:txBody>
      </p:sp>
      <p:pic>
        <p:nvPicPr>
          <p:cNvPr id="7" name="Picture 6" descr="h02-15-cwe-cve-cv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4477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CVSS v3.1 Base Score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446"/>
                <a:gridCol w="3158602"/>
                <a:gridCol w="588648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Values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From where?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Network / Adjacent / Local / Physical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How hard?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 / High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Privileges needed?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 / Low / 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UI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Victim needed?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 / Required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scope change?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Unchanged / Changed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C/I/A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Impact?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 / Low / None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v4.0:</a:t>
            </a:r>
            <a:r>
              <a:rPr sz="1800" b="0">
                <a:solidFill>
                  <a:srgbClr val="1F2D3A"/>
                </a:solidFill>
              </a:rPr>
              <a:t> separate VC/VI/VA + SC/SI/SA instead of scope; base score = CVSS-B.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Demo 05 — CVSS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code/week-02/05-cvss</a:t>
            </a:r>
            <a:r>
              <a:rPr sz="2000" b="0">
                <a:solidFill>
                  <a:srgbClr val="1F2D3A"/>
                </a:solidFill>
              </a:rPr>
              <a:t> (Python)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AV:N/AC:L/PR:N/UI:N/S:U/C:H/I:H/A:H  = 9.8  Critical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... S:U -&gt; S:C          = 10.0 Critical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AV:L (local) /PR:L/... C:H/I:H/A:H    = 7.8 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6512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Remote + unauthenticated</a:t>
            </a:r>
            <a:r>
              <a:rPr sz="2000" b="0">
                <a:solidFill>
                  <a:srgbClr val="1F2D3A"/>
                </a:solidFill>
              </a:rPr>
              <a:t> is highest; a scope change pushes it to 10.0.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The base score </a:t>
            </a:r>
            <a:r>
              <a:rPr sz="2000" b="1">
                <a:solidFill>
                  <a:srgbClr val="1F2D3A"/>
                </a:solidFill>
              </a:rPr>
              <a:t>doesn't know the context</a:t>
            </a:r>
            <a:r>
              <a:rPr sz="2000" b="0">
                <a:solidFill>
                  <a:srgbClr val="1F2D3A"/>
                </a:solidFill>
              </a:rPr>
              <a:t>: a 4.0 flaw that hits your asset exactly can matter more to you than a 9.8.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v3.1 Base Score Calculation (animation)</a:t>
            </a:r>
          </a:p>
        </p:txBody>
      </p:sp>
      <p:pic>
        <p:nvPicPr>
          <p:cNvPr id="7" name="Picture 6" descr="cvss-scor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030" y="1325880"/>
            <a:ext cx="948363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— Edge Case: No Impact at All</a:t>
            </a:r>
          </a:p>
        </p:txBody>
      </p:sp>
      <p:pic>
        <p:nvPicPr>
          <p:cNvPr id="7" name="Picture 6" descr="cvss-score--edge-no-impac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53" y="1325880"/>
            <a:ext cx="104389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CVSS Score → Severity Band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600134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672"/>
                <a:gridCol w="300067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Band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0.1–3.9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4.0–6.9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7.0–8.9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9.0–10.0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Critical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Even with the same impact (C:H/I:H/A:H), a </a:t>
            </a:r>
            <a:r>
              <a:rPr sz="1800" b="1">
                <a:solidFill>
                  <a:srgbClr val="1F2D3A"/>
                </a:solidFill>
              </a:rPr>
              <a:t>remote + unauthenticated</a:t>
            </a:r>
            <a:r>
              <a:rPr sz="1800" b="0">
                <a:solidFill>
                  <a:srgbClr val="1F2D3A"/>
                </a:solidFill>
              </a:rPr>
              <a:t> flaw scores a higher band than a </a:t>
            </a:r>
            <a:r>
              <a:rPr sz="1800" b="1">
                <a:solidFill>
                  <a:srgbClr val="1F2D3A"/>
                </a:solidFill>
              </a:rPr>
              <a:t>local + authenticated</a:t>
            </a:r>
            <a:r>
              <a:rPr sz="1800" b="0">
                <a:solidFill>
                  <a:srgbClr val="1F2D3A"/>
                </a:solidFill>
              </a:rPr>
              <a:t> one.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v4.0 in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6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Released in 2023; fixes some of v3.1's weaknesses.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base score is now called </a:t>
            </a:r>
            <a:r>
              <a:rPr sz="2000" b="1">
                <a:solidFill>
                  <a:srgbClr val="1F2D3A"/>
                </a:solidFill>
              </a:rPr>
              <a:t>CVSS-B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Scope (S)</a:t>
            </a:r>
            <a:r>
              <a:rPr sz="2000" b="0">
                <a:solidFill>
                  <a:srgbClr val="1F2D3A"/>
                </a:solidFill>
              </a:rPr>
              <a:t> metric was removed; replaced by separate </a:t>
            </a:r>
            <a:r>
              <a:rPr sz="2000" b="1">
                <a:solidFill>
                  <a:srgbClr val="1F2D3A"/>
                </a:solidFill>
              </a:rPr>
              <a:t>Vulnerable System Impact</a:t>
            </a:r>
            <a:r>
              <a:rPr sz="2000" b="0">
                <a:solidFill>
                  <a:srgbClr val="1F2D3A"/>
                </a:solidFill>
              </a:rPr>
              <a:t> (VC/VI/VA) and </a:t>
            </a:r>
            <a:r>
              <a:rPr sz="2000" b="1">
                <a:solidFill>
                  <a:srgbClr val="1F2D3A"/>
                </a:solidFill>
              </a:rPr>
              <a:t>Subsequent System Impact</a:t>
            </a:r>
            <a:r>
              <a:rPr sz="2000" b="0">
                <a:solidFill>
                  <a:srgbClr val="1F2D3A"/>
                </a:solidFill>
              </a:rPr>
              <a:t> (SC/SI/SA).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 exploit maturity (E) and threat/environmental metrics, </a:t>
            </a:r>
            <a:r>
              <a:rPr sz="2000" b="1">
                <a:solidFill>
                  <a:srgbClr val="1F2D3A"/>
                </a:solidFill>
              </a:rPr>
              <a:t>CVSS-BTE</a:t>
            </a:r>
            <a:r>
              <a:rPr sz="2000" b="0">
                <a:solidFill>
                  <a:srgbClr val="1F2D3A"/>
                </a:solidFill>
              </a:rPr>
              <a:t> can be computed.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course's calculator was written for v3.1; in the field it's still the most common.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"I'll Feed a v3.1 Vector into v4.0"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 CVSS v3.1 vector works directly in a v4.0 calculator.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v4.0 has no </a:t>
            </a:r>
            <a:r>
              <a:rPr sz="2000" b="1">
                <a:solidFill>
                  <a:srgbClr val="1F2D3A"/>
                </a:solidFill>
              </a:rPr>
              <a:t>Scope (S)</a:t>
            </a:r>
            <a:r>
              <a:rPr sz="2000" b="0">
                <a:solidFill>
                  <a:srgbClr val="1F2D3A"/>
                </a:solidFill>
              </a:rPr>
              <a:t>; it has </a:t>
            </a:r>
            <a:r>
              <a:rPr sz="2000" b="1">
                <a:solidFill>
                  <a:srgbClr val="1F2D3A"/>
                </a:solidFill>
              </a:rPr>
              <a:t>AT, VC/VI/VA, SC/SI/SA</a:t>
            </a:r>
            <a:r>
              <a:rPr sz="2000" b="0">
                <a:solidFill>
                  <a:srgbClr val="1F2D3A"/>
                </a:solidFill>
              </a:rPr>
              <a:t> metrics, and UI takes three values (N/P/A).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Vectors are not </a:t>
            </a:r>
            <a:r>
              <a:rPr sz="2000" b="1">
                <a:solidFill>
                  <a:srgbClr val="1F2D3A"/>
                </a:solidFill>
              </a:rPr>
              <a:t>converted</a:t>
            </a:r>
            <a:r>
              <a:rPr sz="2000" b="0">
                <a:solidFill>
                  <a:srgbClr val="1F2D3A"/>
                </a:solidFill>
              </a:rPr>
              <a:t> between versions, they're </a:t>
            </a:r>
            <a:r>
              <a:rPr sz="2000" b="1">
                <a:solidFill>
                  <a:srgbClr val="1F2D3A"/>
                </a:solidFill>
              </a:rPr>
              <a:t>rebuilt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CVSS's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"CVSS is 9.8, let's patch it right away; 4.0 can wait."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base score </a:t>
            </a:r>
            <a:r>
              <a:rPr sz="2000" b="1">
                <a:solidFill>
                  <a:srgbClr val="1F2D3A"/>
                </a:solidFill>
              </a:rPr>
              <a:t>doesn't know the context</a:t>
            </a:r>
            <a:r>
              <a:rPr sz="2000" b="0">
                <a:solidFill>
                  <a:srgbClr val="1F2D3A"/>
                </a:solidFill>
              </a:rPr>
              <a:t>: it measures only the flaw's own properties.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4.0 flaw that's exactly the door to your </a:t>
            </a:r>
            <a:r>
              <a:rPr sz="2000" b="1">
                <a:solidFill>
                  <a:srgbClr val="1F2D3A"/>
                </a:solidFill>
              </a:rPr>
              <a:t>most valuable asset</a:t>
            </a:r>
            <a:r>
              <a:rPr sz="2000" b="0">
                <a:solidFill>
                  <a:srgbClr val="1F2D3A"/>
                </a:solidFill>
              </a:rPr>
              <a:t> can matter more to you than a 9.8.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what the </a:t>
            </a:r>
            <a:r>
              <a:rPr sz="2000" b="1">
                <a:solidFill>
                  <a:srgbClr val="1F2D3A"/>
                </a:solidFill>
              </a:rPr>
              <a:t>Environmental</a:t>
            </a:r>
            <a:r>
              <a:rPr sz="2000" b="0">
                <a:solidFill>
                  <a:srgbClr val="1F2D3A"/>
                </a:solidFill>
              </a:rPr>
              <a:t> metrics and your </a:t>
            </a:r>
            <a:r>
              <a:rPr sz="2000" b="1">
                <a:solidFill>
                  <a:srgbClr val="1F2D3A"/>
                </a:solidFill>
              </a:rPr>
              <a:t>asset table</a:t>
            </a:r>
            <a:r>
              <a:rPr sz="2000" b="0">
                <a:solidFill>
                  <a:srgbClr val="1F2D3A"/>
                </a:solidFill>
              </a:rPr>
              <a:t> (S5) are for.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score is a </a:t>
            </a:r>
            <a:r>
              <a:rPr sz="2000" b="1">
                <a:solidFill>
                  <a:srgbClr val="1F2D3A"/>
                </a:solidFill>
              </a:rPr>
              <a:t>starting point</a:t>
            </a:r>
            <a:r>
              <a:rPr sz="2000" b="0">
                <a:solidFill>
                  <a:srgbClr val="1F2D3A"/>
                </a:solidFill>
              </a:rPr>
              <a:t> for prioritisation, not the final word.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Assessor: From Finding to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Concrete questions for rating a finding </a:t>
            </a:r>
            <a:r>
              <a:rPr sz="1800" b="1">
                <a:solidFill>
                  <a:srgbClr val="1F2D3A"/>
                </a:solidFill>
              </a:rPr>
              <a:t>reproducibly</a:t>
            </a:r>
            <a:r>
              <a:rPr sz="18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Can the attacker use this </a:t>
            </a:r>
            <a:r>
              <a:rPr sz="1800" b="1">
                <a:solidFill>
                  <a:srgbClr val="1F2D3A"/>
                </a:solidFill>
              </a:rPr>
              <a:t>over the network</a:t>
            </a:r>
            <a:r>
              <a:rPr sz="1800" b="0">
                <a:solidFill>
                  <a:srgbClr val="1F2D3A"/>
                </a:solidFill>
              </a:rPr>
              <a:t>, or only </a:t>
            </a:r>
            <a:r>
              <a:rPr sz="1800" b="1">
                <a:solidFill>
                  <a:srgbClr val="1F2D3A"/>
                </a:solidFill>
              </a:rPr>
              <a:t>with the device in hand</a:t>
            </a:r>
            <a:r>
              <a:rPr sz="1800" b="0">
                <a:solidFill>
                  <a:srgbClr val="1F2D3A"/>
                </a:solidFill>
              </a:rPr>
              <a:t> (AV)?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Does it need prior </a:t>
            </a:r>
            <a:r>
              <a:rPr sz="1800" b="1">
                <a:solidFill>
                  <a:srgbClr val="1F2D3A"/>
                </a:solidFill>
              </a:rPr>
              <a:t>privilege</a:t>
            </a:r>
            <a:r>
              <a:rPr sz="1800" b="0">
                <a:solidFill>
                  <a:srgbClr val="1F2D3A"/>
                </a:solidFill>
              </a:rPr>
              <a:t> or </a:t>
            </a:r>
            <a:r>
              <a:rPr sz="1800" b="1">
                <a:solidFill>
                  <a:srgbClr val="1F2D3A"/>
                </a:solidFill>
              </a:rPr>
              <a:t>user interaction</a:t>
            </a:r>
            <a:r>
              <a:rPr sz="1800" b="0">
                <a:solidFill>
                  <a:srgbClr val="1F2D3A"/>
                </a:solidFill>
              </a:rPr>
              <a:t> first (PR, UI)?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Does the impact stay in the affected component, or spill outside it (S)?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In this course's context (the program runs on the attacker's device), most findings come out </a:t>
            </a:r>
            <a:r>
              <a:rPr sz="1800" b="1">
                <a:solidFill>
                  <a:srgbClr val="1F2D3A"/>
                </a:solidFill>
              </a:rPr>
              <a:t>local (AV:L)</a:t>
            </a:r>
            <a:r>
              <a:rPr sz="1800" b="0">
                <a:solidFill>
                  <a:srgbClr val="1F2D3A"/>
                </a:solidFill>
              </a:rPr>
              <a:t>; the risk doesn't drop even if the score does.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Beyond CVSS: EPSS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EPSS</a:t>
            </a:r>
            <a:r>
              <a:rPr sz="2000" b="0">
                <a:solidFill>
                  <a:srgbClr val="1F2D3A"/>
                </a:solidFill>
              </a:rPr>
              <a:t> (Exploit Prediction Scoring System): the </a:t>
            </a:r>
            <a:r>
              <a:rPr sz="2000" b="1">
                <a:solidFill>
                  <a:srgbClr val="1F2D3A"/>
                </a:solidFill>
              </a:rPr>
              <a:t>probability a flaw is exploited within 30 days</a:t>
            </a:r>
            <a:r>
              <a:rPr sz="2000" b="0">
                <a:solidFill>
                  <a:srgbClr val="1F2D3A"/>
                </a:solidFill>
              </a:rPr>
              <a:t> (0–1).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 measures severity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EPSS measures probability</a:t>
            </a:r>
            <a:r>
              <a:rPr sz="2000" b="0">
                <a:solidFill>
                  <a:srgbClr val="1F2D3A"/>
                </a:solidFill>
              </a:rPr>
              <a:t> — they answer </a:t>
            </a:r>
            <a:r>
              <a:rPr sz="2000" b="1">
                <a:solidFill>
                  <a:srgbClr val="1F2D3A"/>
                </a:solidFill>
              </a:rPr>
              <a:t>different questions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"EPSS is high, so CVSS must be high too" is </a:t>
            </a:r>
            <a:r>
              <a:rPr sz="2000" b="1">
                <a:solidFill>
                  <a:srgbClr val="1F2D3A"/>
                </a:solidFill>
              </a:rPr>
              <a:t>wrong</a:t>
            </a:r>
            <a:r>
              <a:rPr sz="2000" b="0">
                <a:solidFill>
                  <a:srgbClr val="1F2D3A"/>
                </a:solidFill>
              </a:rPr>
              <a:t>; the two are measured independently.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Reading them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 clarifies the priority order.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Beyond CVSS: KEV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KEV</a:t>
            </a:r>
            <a:r>
              <a:rPr sz="2000" b="0">
                <a:solidFill>
                  <a:srgbClr val="1F2D3A"/>
                </a:solidFill>
              </a:rPr>
              <a:t> (Known Exploited Vulnerabilities): a catalogue of flaws </a:t>
            </a:r>
            <a:r>
              <a:rPr sz="2000" b="1">
                <a:solidFill>
                  <a:srgbClr val="1F2D3A"/>
                </a:solidFill>
              </a:rPr>
              <a:t>proven</a:t>
            </a:r>
            <a:r>
              <a:rPr sz="2000" b="0">
                <a:solidFill>
                  <a:srgbClr val="1F2D3A"/>
                </a:solidFill>
              </a:rPr>
              <a:t> to be exploited.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entry: a CVE id, evidence of exploitation, remediation guidance.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"Not in KEV means it's not being exploited" is </a:t>
            </a:r>
            <a:r>
              <a:rPr sz="2000" b="1">
                <a:solidFill>
                  <a:srgbClr val="1F2D3A"/>
                </a:solidFill>
              </a:rPr>
              <a:t>wrong</a:t>
            </a:r>
            <a:r>
              <a:rPr sz="2000" b="0">
                <a:solidFill>
                  <a:srgbClr val="1F2D3A"/>
                </a:solidFill>
              </a:rPr>
              <a:t> — absence from the list is not proof of safety.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flaw in KEV must be handled as a </a:t>
            </a:r>
            <a:r>
              <a:rPr sz="2000" b="1">
                <a:solidFill>
                  <a:srgbClr val="1F2D3A"/>
                </a:solidFill>
              </a:rPr>
              <a:t>priority</a:t>
            </a:r>
            <a:r>
              <a:rPr sz="2000" b="0">
                <a:solidFill>
                  <a:srgbClr val="1F2D3A"/>
                </a:solidFill>
              </a:rPr>
              <a:t>, even with a low CVSS score.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SSVC: Decision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Five questions that turn a finding into a </a:t>
            </a:r>
            <a:r>
              <a:rPr sz="1800" b="1">
                <a:solidFill>
                  <a:srgbClr val="1F2D3A"/>
                </a:solidFill>
              </a:rPr>
              <a:t>decision</a:t>
            </a:r>
            <a:r>
              <a:rPr sz="18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Is there an exploit? · Can it be automated?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What is the technical impact? · How widely is the mission affected?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How is public well-being affected?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result is one of four decisions: *</a:t>
            </a:r>
            <a:r>
              <a:rPr sz="1800" b="0" i="1">
                <a:solidFill>
                  <a:srgbClr val="1F2D3A"/>
                </a:solidFill>
              </a:rPr>
              <a:t>Track / Track</a:t>
            </a:r>
            <a:r>
              <a:rPr sz="1800" b="0">
                <a:solidFill>
                  <a:srgbClr val="1F2D3A"/>
                </a:solidFill>
              </a:rPr>
              <a:t> / Attend / Act**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Example: Five Findings, Two Rankings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05"/>
                <a:gridCol w="6172181"/>
                <a:gridCol w="2424785"/>
                <a:gridCol w="881740"/>
                <a:gridCol w="771522"/>
              </a:tblGrid>
              <a:tr h="61950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EPSS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KEV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 length check in the parser, remote code execution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Internet-facing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Local privilege escalation in the driver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Employee computers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0.41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1950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Cookie missing the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Secure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flag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Internet-facing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0.08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1363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Ranking by CVSS alone and ranking with EPSS+KEV added can come out </a:t>
            </a:r>
            <a:r>
              <a:rPr sz="2000" b="1">
                <a:solidFill>
                  <a:srgbClr val="1F2D3A"/>
                </a:solidFill>
              </a:rPr>
              <a:t>differently</a:t>
            </a:r>
            <a:r>
              <a:rPr sz="2000" b="0">
                <a:solidFill>
                  <a:srgbClr val="1F2D3A"/>
                </a:solidFill>
              </a:rPr>
              <a:t>; B5 sits in the middle by CVSS but rises to the top because it's in KEV.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Misconception: "Device Flaws Score Low, So They're Unimportant"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Misconception:</a:t>
            </a:r>
            <a:r>
              <a:rPr sz="2000" b="0">
                <a:solidFill>
                  <a:srgbClr val="1F2D3A"/>
                </a:solidFill>
              </a:rPr>
              <a:t> A flaw scoring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AV:L</a:t>
            </a:r>
            <a:r>
              <a:rPr sz="2000" b="0">
                <a:solidFill>
                  <a:srgbClr val="1F2D3A"/>
                </a:solidFill>
              </a:rPr>
              <a:t> (local access) can be ignored if the score is 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Reality:</a:t>
            </a:r>
            <a:r>
              <a:rPr sz="2000" b="0">
                <a:solidFill>
                  <a:srgbClr val="1F2D3A"/>
                </a:solidFill>
              </a:rPr>
              <a:t> In this course's attacker model, </a:t>
            </a:r>
            <a:r>
              <a:rPr sz="2000" b="1">
                <a:solidFill>
                  <a:srgbClr val="1F2D3A"/>
                </a:solidFill>
              </a:rPr>
              <a:t>the device is already in the attacker's hands</a:t>
            </a:r>
            <a:r>
              <a:rPr sz="2000" b="0">
                <a:solidFill>
                  <a:srgbClr val="1F2D3A"/>
                </a:solidFill>
              </a:rPr>
              <a:t> (white-box).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risk </a:t>
            </a:r>
            <a:r>
              <a:rPr sz="2000" b="1">
                <a:solidFill>
                  <a:srgbClr val="1F2D3A"/>
                </a:solidFill>
              </a:rPr>
              <a:t>doesn't decrease</a:t>
            </a:r>
            <a:r>
              <a:rPr sz="2000" b="0">
                <a:solidFill>
                  <a:srgbClr val="1F2D3A"/>
                </a:solidFill>
              </a:rPr>
              <a:t> even if the score does; the score should be written alongside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 (time, expertise, equipment).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Practice: Build the Vector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An attacker takes over a system completely </a:t>
            </a:r>
            <a:r>
              <a:rPr sz="2000" b="1">
                <a:solidFill>
                  <a:srgbClr val="1F2D3A"/>
                </a:solidFill>
              </a:rPr>
              <a:t>over the network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without authentication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without user interaction</a:t>
            </a:r>
            <a:r>
              <a:rPr sz="2000" b="0">
                <a:solidFill>
                  <a:srgbClr val="1F2D3A"/>
                </a:solidFill>
              </a:rPr>
              <a:t> (confidentiality, integrity, and availability are all fully broken). What is the CVSS v3.1 vector and score?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AV:N/AC:L/PR:N/UI:N/S:U/C:H/I:H/A:H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9.8 (Critical)</a:t>
            </a:r>
            <a:r>
              <a:rPr sz="2000" b="0">
                <a:solidFill>
                  <a:srgbClr val="1F2D3A"/>
                </a:solidFill>
              </a:rPr>
              <a:t>. If the scope had also changed (S:C), the score would rise to </a:t>
            </a:r>
            <a:r>
              <a:rPr sz="2000" b="1">
                <a:solidFill>
                  <a:srgbClr val="1F2D3A"/>
                </a:solidFill>
              </a:rPr>
              <a:t>10.0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Vulnerability Lifecycle</a:t>
            </a:r>
          </a:p>
        </p:txBody>
      </p:sp>
      <p:pic>
        <p:nvPicPr>
          <p:cNvPr id="7" name="Picture 6" descr="h02-06-zafiyet-yasam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198" y="1325880"/>
            <a:ext cx="5535299" cy="28387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274312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Zero-day:</a:t>
            </a:r>
            <a:r>
              <a:rPr sz="2000" b="0">
                <a:solidFill>
                  <a:srgbClr val="1F2D3A"/>
                </a:solidFill>
              </a:rPr>
              <a:t> a flaw the vendor doesn't know about / has no patch for.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Responsible disclosure:</a:t>
            </a:r>
            <a:r>
              <a:rPr sz="2000" b="0">
                <a:solidFill>
                  <a:srgbClr val="1F2D3A"/>
                </a:solidFill>
              </a:rPr>
              <a:t> report to the vendor first, wait ~90 days, then disclose.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Patch gap:</a:t>
            </a:r>
            <a:r>
              <a:rPr sz="2000" b="0">
                <a:solidFill>
                  <a:srgbClr val="1F2D3A"/>
                </a:solidFill>
              </a:rPr>
              <a:t> once the patch ships, the flaw becomes public; whoever hasn't updated stays vulnerable (WannaCry).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Lifecycle: Four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Discovery:</a:t>
            </a:r>
            <a:r>
              <a:rPr sz="2000" b="0">
                <a:solidFill>
                  <a:srgbClr val="1F2D3A"/>
                </a:solidFill>
              </a:rPr>
              <a:t> the flaw is found (a researcher, an attacker, or the vendor).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Report:</a:t>
            </a:r>
            <a:r>
              <a:rPr sz="2000" b="0">
                <a:solidFill>
                  <a:srgbClr val="1F2D3A"/>
                </a:solidFill>
              </a:rPr>
              <a:t> the researcher reports it to the vendor (or the attacker quietly uses it).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Patch:</a:t>
            </a:r>
            <a:r>
              <a:rPr sz="2000" b="0">
                <a:solidFill>
                  <a:srgbClr val="1F2D3A"/>
                </a:solidFill>
              </a:rPr>
              <a:t> the vendor writes and releases a fix.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Release:</a:t>
            </a:r>
            <a:r>
              <a:rPr sz="2000" b="0">
                <a:solidFill>
                  <a:srgbClr val="1F2D3A"/>
                </a:solidFill>
              </a:rPr>
              <a:t> the patch reaches the user; the risk ends </a:t>
            </a:r>
            <a:r>
              <a:rPr sz="2000" b="1">
                <a:solidFill>
                  <a:srgbClr val="1F2D3A"/>
                </a:solidFill>
              </a:rPr>
              <a:t>if it's applied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609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time between every arrow is the </a:t>
            </a:r>
            <a:r>
              <a:rPr sz="2000" b="1">
                <a:solidFill>
                  <a:srgbClr val="1F2D3A"/>
                </a:solidFill>
              </a:rPr>
              <a:t>window</a:t>
            </a:r>
            <a:r>
              <a:rPr sz="2000" b="0">
                <a:solidFill>
                  <a:srgbClr val="1F2D3A"/>
                </a:solidFill>
              </a:rPr>
              <a:t> given to the attacker.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Flaw's Lifeline — Diagram</a:t>
            </a:r>
          </a:p>
        </p:txBody>
      </p:sp>
      <p:pic>
        <p:nvPicPr>
          <p:cNvPr id="7" name="Picture 6" descr="h02-17-acik-yasam-cizg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815" y="1325880"/>
            <a:ext cx="965606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Responsible Disclosure vs. Full Disclosure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245"/>
                <a:gridCol w="4731550"/>
                <a:gridCol w="4248739"/>
              </a:tblGrid>
              <a:tr h="393923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Responsible disclosure (coordinated)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Full disclosure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Who knows first?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vendor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Everyone at 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Waiting period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~90 days (for the patch)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Goal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Protect users while pushing the vendor to 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Force the vendor's hand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 (disclosed once a patch exists)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 (the flaw is known while unpatched)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05225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Full disclosure</a:t>
            </a:r>
            <a:r>
              <a:rPr sz="1800" b="0">
                <a:solidFill>
                  <a:srgbClr val="1F2D3A"/>
                </a:solidFill>
              </a:rPr>
              <a:t> is the controversial one in the industry.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 Bounty Programmes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Programmes where companies </a:t>
            </a:r>
            <a:r>
              <a:rPr sz="2000" b="1">
                <a:solidFill>
                  <a:srgbClr val="1F2D3A"/>
                </a:solidFill>
              </a:rPr>
              <a:t>reward</a:t>
            </a:r>
            <a:r>
              <a:rPr sz="2000" b="0">
                <a:solidFill>
                  <a:srgbClr val="1F2D3A"/>
                </a:solidFill>
              </a:rPr>
              <a:t> researchers who report flaws </a:t>
            </a:r>
            <a:r>
              <a:rPr sz="2000" b="1">
                <a:solidFill>
                  <a:srgbClr val="1F2D3A"/>
                </a:solidFill>
              </a:rPr>
              <a:t>responsibly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steer researchers toward </a:t>
            </a:r>
            <a:r>
              <a:rPr sz="2000" b="1">
                <a:solidFill>
                  <a:srgbClr val="1F2D3A"/>
                </a:solidFill>
              </a:rPr>
              <a:t>responsible disclosure</a:t>
            </a:r>
            <a:r>
              <a:rPr sz="2000" b="0">
                <a:solidFill>
                  <a:srgbClr val="1F2D3A"/>
                </a:solidFill>
              </a:rPr>
              <a:t> instead of full disclosure.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gain for the researcher; </a:t>
            </a:r>
            <a:r>
              <a:rPr sz="2000" b="1">
                <a:solidFill>
                  <a:srgbClr val="1F2D3A"/>
                </a:solidFill>
              </a:rPr>
              <a:t>early warning</a:t>
            </a:r>
            <a:r>
              <a:rPr sz="2000" b="0">
                <a:solidFill>
                  <a:srgbClr val="1F2D3A"/>
                </a:solidFill>
              </a:rPr>
              <a:t> for the company.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Now standard practice at most large tech companies.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 the Field: What Happens When a Flaw Is Reported?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a product team, the lifecycle is a </a:t>
            </a:r>
            <a:r>
              <a:rPr sz="2000" b="1">
                <a:solidFill>
                  <a:srgbClr val="1F2D3A"/>
                </a:solidFill>
              </a:rPr>
              <a:t>process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reporting </a:t>
            </a:r>
            <a:r>
              <a:rPr sz="2000" b="1">
                <a:solidFill>
                  <a:srgbClr val="1F2D3A"/>
                </a:solidFill>
              </a:rPr>
              <a:t>channel: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security.txt</a:t>
            </a:r>
            <a:r>
              <a:rPr sz="2000" b="0">
                <a:solidFill>
                  <a:srgbClr val="1F2D3A"/>
                </a:solidFill>
              </a:rPr>
              <a:t>, a security email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responsible</a:t>
            </a:r>
            <a:r>
              <a:rPr sz="2000" b="0">
                <a:solidFill>
                  <a:srgbClr val="1F2D3A"/>
                </a:solidFill>
              </a:rPr>
              <a:t> person/team.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patch </a:t>
            </a:r>
            <a:r>
              <a:rPr sz="2000" b="1">
                <a:solidFill>
                  <a:srgbClr val="1F2D3A"/>
                </a:solidFill>
              </a:rPr>
              <a:t>SLA:</a:t>
            </a:r>
            <a:r>
              <a:rPr sz="2000" b="0">
                <a:solidFill>
                  <a:srgbClr val="1F2D3A"/>
                </a:solidFill>
              </a:rPr>
              <a:t> how quickly will it be fixed?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release/patch </a:t>
            </a:r>
            <a:r>
              <a:rPr sz="2000" b="1">
                <a:solidFill>
                  <a:srgbClr val="1F2D3A"/>
                </a:solidFill>
              </a:rPr>
              <a:t>announcement</a:t>
            </a:r>
            <a:r>
              <a:rPr sz="2000" b="0">
                <a:solidFill>
                  <a:srgbClr val="1F2D3A"/>
                </a:solidFill>
              </a:rPr>
              <a:t> mechanism.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assessment questions not just the code, but this </a:t>
            </a:r>
            <a:r>
              <a:rPr sz="2000" b="1">
                <a:solidFill>
                  <a:srgbClr val="1F2D3A"/>
                </a:solidFill>
              </a:rPr>
              <a:t>process</a:t>
            </a:r>
            <a:r>
              <a:rPr sz="2000" b="0">
                <a:solidFill>
                  <a:srgbClr val="1F2D3A"/>
                </a:solidFill>
              </a:rPr>
              <a:t> too.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Full Disclosure Controversial?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Why is full disclosure considered risky?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flaw is announced to everyone </a:t>
            </a:r>
            <a:r>
              <a:rPr sz="2000" b="1">
                <a:solidFill>
                  <a:srgbClr val="1F2D3A"/>
                </a:solidFill>
              </a:rPr>
              <a:t>while there's no patch</a:t>
            </a:r>
            <a:r>
              <a:rPr sz="2000" b="0">
                <a:solidFill>
                  <a:srgbClr val="1F2D3A"/>
                </a:solidFill>
              </a:rPr>
              <a:t>. It forces the vendor to act, but it also hands attackers a </a:t>
            </a:r>
            <a:r>
              <a:rPr sz="2000" b="1">
                <a:solidFill>
                  <a:srgbClr val="1F2D3A"/>
                </a:solidFill>
              </a:rPr>
              <a:t>ready-made roadmap</a:t>
            </a:r>
            <a:r>
              <a:rPr sz="2000" b="0">
                <a:solidFill>
                  <a:srgbClr val="1F2D3A"/>
                </a:solidFill>
              </a:rPr>
              <a:t> — while users are still unprotected.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Checklist — Vulnerability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00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distinguish</a:t>
            </a:r>
            <a:r>
              <a:rPr sz="1800" b="0">
                <a:solidFill>
                  <a:srgbClr val="1F2D3A"/>
                </a:solidFill>
              </a:rPr>
              <a:t> CWE, CVE, and CVSS in one sentence each.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by hand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different questions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Term Project: This Week (S4)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one CWE to every row</a:t>
            </a:r>
            <a:r>
              <a:rPr sz="2000" b="0">
                <a:solidFill>
                  <a:srgbClr val="1F2D3A"/>
                </a:solidFill>
              </a:rPr>
              <a:t> of your S4 attack/threat table.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attack tree</a:t>
            </a:r>
            <a:r>
              <a:rPr sz="2000" b="0">
                <a:solidFill>
                  <a:srgbClr val="1F2D3A"/>
                </a:solidFill>
              </a:rPr>
              <a:t> (Demo 04 format) for your most critical asset; cheapest path + most effective countermeasure.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CVEs</a:t>
            </a:r>
            <a:r>
              <a:rPr sz="2000" b="0">
                <a:solidFill>
                  <a:srgbClr val="1F2D3A"/>
                </a:solidFill>
              </a:rPr>
              <a:t> of the components you use and score them with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access model</a:t>
            </a:r>
            <a:r>
              <a:rPr sz="2000" b="0">
                <a:solidFill>
                  <a:srgbClr val="1F2D3A"/>
                </a:solidFill>
              </a:rPr>
              <a:t> (DAC / MAC / RBAC).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6092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| ID | Tehdit | Varlik | Yol | CWE | Onlem | Bolum |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Class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436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Classify the malware, pick the layer:</a:t>
            </a:r>
            <a:r>
              <a:rPr sz="2000" b="0">
                <a:solidFill>
                  <a:srgbClr val="1F2D3A"/>
                </a:solidFill>
              </a:rPr>
              <a:t> type and first catching layer across six scenarios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Attack tree duel:</a:t>
            </a:r>
            <a:r>
              <a:rPr sz="2000" b="0">
                <a:solidFill>
                  <a:srgbClr val="1F2D3A"/>
                </a:solidFill>
              </a:rPr>
              <a:t> the other group hunts for a cheaper path not on the tree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From matrix to model:</a:t>
            </a:r>
            <a:r>
              <a:rPr sz="2000" b="0">
                <a:solidFill>
                  <a:srgbClr val="1F2D3A"/>
                </a:solidFill>
              </a:rPr>
              <a:t> write the same policy as an ACL, capability list, and BLP/Biba labels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From finding to patch order:</a:t>
            </a:r>
            <a:r>
              <a:rPr sz="2000" b="0">
                <a:solidFill>
                  <a:srgbClr val="1F2D3A"/>
                </a:solidFill>
              </a:rPr>
              <a:t> rank five findings with CWE + CVSS + EPSS + KEV + SSVC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Tamper with the audit log:</a:t>
            </a:r>
            <a:r>
              <a:rPr sz="2000" b="0">
                <a:solidFill>
                  <a:srgbClr val="1F2D3A"/>
                </a:solidFill>
              </a:rPr>
              <a:t> try modifying/deleting/truncating the Demo 11 chain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1">
                <a:solidFill>
                  <a:srgbClr val="1F2D3A"/>
                </a:solidFill>
              </a:rPr>
              <a:t>Code-reading tournament:</a:t>
            </a:r>
            <a:r>
              <a:rPr sz="2000" b="0">
                <a:solidFill>
                  <a:srgbClr val="1F2D3A"/>
                </a:solidFill>
              </a:rPr>
              <a:t> write the CWE, the attack, and the fix for four code pieces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1">
                <a:solidFill>
                  <a:srgbClr val="1F2D3A"/>
                </a:solidFill>
              </a:rPr>
              <a:t>Incident autopsy:</a:t>
            </a:r>
            <a:r>
              <a:rPr sz="2000" b="0">
                <a:solidFill>
                  <a:srgbClr val="1F2D3A"/>
                </a:solidFill>
              </a:rPr>
              <a:t> fill in CVE-CWE-CVSS-dates for Heartbleed/WannaCry/Log4Shell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(Selected)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9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Difference between virus, worm, trojan horse?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Polymorphism ≠ metamorphism: what's the difference?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Does high entropy </a:t>
            </a:r>
            <a:r>
              <a:rPr sz="2000" b="1">
                <a:solidFill>
                  <a:srgbClr val="1F2D3A"/>
                </a:solidFill>
              </a:rPr>
              <a:t>prove</a:t>
            </a:r>
            <a:r>
              <a:rPr sz="2000" b="0">
                <a:solidFill>
                  <a:srgbClr val="1F2D3A"/>
                </a:solidFill>
              </a:rPr>
              <a:t> malice?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BLP's two rules, and what do they protect?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How does Biba differ from BLP?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Difference between DAC and MAC?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7. </a:t>
            </a:r>
            <a:r>
              <a:rPr sz="2000" b="0">
                <a:solidFill>
                  <a:srgbClr val="1F2D3A"/>
                </a:solidFill>
              </a:rPr>
              <a:t>Difference between CWE and CVE?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8. </a:t>
            </a:r>
            <a:r>
              <a:rPr sz="2000" b="0">
                <a:solidFill>
                  <a:srgbClr val="1F2D3A"/>
                </a:solidFill>
              </a:rPr>
              <a:t>What does the CVSS Base score not measure?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(1–4)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545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A </a:t>
            </a:r>
            <a:r>
              <a:rPr sz="1800" b="1">
                <a:solidFill>
                  <a:srgbClr val="1F2D3A"/>
                </a:solidFill>
              </a:rPr>
              <a:t>virus</a:t>
            </a:r>
            <a:r>
              <a:rPr sz="1800" b="0">
                <a:solidFill>
                  <a:srgbClr val="1F2D3A"/>
                </a:solidFill>
              </a:rPr>
              <a:t> infects another program; a </a:t>
            </a:r>
            <a:r>
              <a:rPr sz="1800" b="1">
                <a:solidFill>
                  <a:srgbClr val="1F2D3A"/>
                </a:solidFill>
              </a:rPr>
              <a:t>worm</a:t>
            </a:r>
            <a:r>
              <a:rPr sz="1800" b="0">
                <a:solidFill>
                  <a:srgbClr val="1F2D3A"/>
                </a:solidFill>
              </a:rPr>
              <a:t> copies itself over the network on its own; a </a:t>
            </a:r>
            <a:r>
              <a:rPr sz="1800" b="1">
                <a:solidFill>
                  <a:srgbClr val="1F2D3A"/>
                </a:solidFill>
              </a:rPr>
              <a:t>trojan horse</a:t>
            </a:r>
            <a:r>
              <a:rPr sz="1800" b="0">
                <a:solidFill>
                  <a:srgbClr val="1F2D3A"/>
                </a:solidFill>
              </a:rPr>
              <a:t> looks useful while carrying hidden harm.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Polymorphic</a:t>
            </a:r>
            <a:r>
              <a:rPr sz="1800" b="0">
                <a:solidFill>
                  <a:srgbClr val="1F2D3A"/>
                </a:solidFill>
              </a:rPr>
              <a:t> encrypts itself differently in every copy; </a:t>
            </a:r>
            <a:r>
              <a:rPr sz="1800" b="1">
                <a:solidFill>
                  <a:srgbClr val="1F2D3A"/>
                </a:solidFill>
              </a:rPr>
              <a:t>metamorphic</a:t>
            </a:r>
            <a:r>
              <a:rPr sz="1800" b="0">
                <a:solidFill>
                  <a:srgbClr val="1F2D3A"/>
                </a:solidFill>
              </a:rPr>
              <a:t> rewrites its own code.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High entropy is a </a:t>
            </a:r>
            <a:r>
              <a:rPr sz="1800" b="1">
                <a:solidFill>
                  <a:srgbClr val="1F2D3A"/>
                </a:solidFill>
              </a:rPr>
              <a:t>clue</a:t>
            </a:r>
            <a:r>
              <a:rPr sz="1800" b="0">
                <a:solidFill>
                  <a:srgbClr val="1F2D3A"/>
                </a:solidFill>
              </a:rPr>
              <a:t> (encrypted/packed); alone it doesn't prove malice (legitimate compression is high-entropy too).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1">
                <a:solidFill>
                  <a:srgbClr val="1F2D3A"/>
                </a:solidFill>
              </a:rPr>
              <a:t>BLP:</a:t>
            </a:r>
            <a:r>
              <a:rPr sz="1800" b="0">
                <a:solidFill>
                  <a:srgbClr val="1F2D3A"/>
                </a:solidFill>
              </a:rPr>
              <a:t> no read up + no write down → protects </a:t>
            </a:r>
            <a:r>
              <a:rPr sz="1800" b="1">
                <a:solidFill>
                  <a:srgbClr val="1F2D3A"/>
                </a:solidFill>
              </a:rPr>
              <a:t>confidentiality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(5–8)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Biba</a:t>
            </a:r>
            <a:r>
              <a:rPr sz="1800" b="0">
                <a:solidFill>
                  <a:srgbClr val="1F2D3A"/>
                </a:solidFill>
              </a:rPr>
              <a:t> is the reverse of BLP: no read down + no write up → protects </a:t>
            </a:r>
            <a:r>
              <a:rPr sz="1800" b="1">
                <a:solidFill>
                  <a:srgbClr val="1F2D3A"/>
                </a:solidFill>
              </a:rPr>
              <a:t>integrity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DAC</a:t>
            </a:r>
            <a:r>
              <a:rPr sz="1800" b="0">
                <a:solidFill>
                  <a:srgbClr val="1F2D3A"/>
                </a:solidFill>
              </a:rPr>
              <a:t>: the owner decides permissions (flexible, leak-prone); </a:t>
            </a:r>
            <a:r>
              <a:rPr sz="1800" b="1">
                <a:solidFill>
                  <a:srgbClr val="1F2D3A"/>
                </a:solidFill>
              </a:rPr>
              <a:t>MAC</a:t>
            </a:r>
            <a:r>
              <a:rPr sz="1800" b="0">
                <a:solidFill>
                  <a:srgbClr val="1F2D3A"/>
                </a:solidFill>
              </a:rPr>
              <a:t>: the system's mandatory labelled rules (strict).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CWE</a:t>
            </a:r>
            <a:r>
              <a:rPr sz="1800" b="0">
                <a:solidFill>
                  <a:srgbClr val="1F2D3A"/>
                </a:solidFill>
              </a:rPr>
              <a:t> is a weakness </a:t>
            </a:r>
            <a:r>
              <a:rPr sz="1800" b="1">
                <a:solidFill>
                  <a:srgbClr val="1F2D3A"/>
                </a:solidFill>
              </a:rPr>
              <a:t>type</a:t>
            </a:r>
            <a:r>
              <a:rPr sz="1800" b="0">
                <a:solidFill>
                  <a:srgbClr val="1F2D3A"/>
                </a:solidFill>
              </a:rPr>
              <a:t> (e.g. CWE-416); </a:t>
            </a:r>
            <a:r>
              <a:rPr sz="1800" b="1">
                <a:solidFill>
                  <a:srgbClr val="1F2D3A"/>
                </a:solidFill>
              </a:rPr>
              <a:t>CVE</a:t>
            </a:r>
            <a:r>
              <a:rPr sz="1800" b="0">
                <a:solidFill>
                  <a:srgbClr val="1F2D3A"/>
                </a:solidFill>
              </a:rPr>
              <a:t> is a </a:t>
            </a:r>
            <a:r>
              <a:rPr sz="1800" b="1">
                <a:solidFill>
                  <a:srgbClr val="1F2D3A"/>
                </a:solidFill>
              </a:rPr>
              <a:t>concrete</a:t>
            </a:r>
            <a:r>
              <a:rPr sz="1800" b="0">
                <a:solidFill>
                  <a:srgbClr val="1F2D3A"/>
                </a:solidFill>
              </a:rPr>
              <a:t> flaw in a specific product.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The </a:t>
            </a:r>
            <a:r>
              <a:rPr sz="1800" b="1">
                <a:solidFill>
                  <a:srgbClr val="1F2D3A"/>
                </a:solidFill>
              </a:rPr>
              <a:t>CVSS Base score</a:t>
            </a:r>
            <a:r>
              <a:rPr sz="1800" b="0">
                <a:solidFill>
                  <a:srgbClr val="1F2D3A"/>
                </a:solidFill>
              </a:rPr>
              <a:t> measures exploitability/impact, but alone doesn't measure </a:t>
            </a:r>
            <a:r>
              <a:rPr sz="1800" b="1">
                <a:solidFill>
                  <a:srgbClr val="1F2D3A"/>
                </a:solidFill>
              </a:rPr>
              <a:t>how likely exploitation is in the field</a:t>
            </a:r>
            <a:r>
              <a:rPr sz="1800" b="0">
                <a:solidFill>
                  <a:srgbClr val="1F2D3A"/>
                </a:solidFill>
              </a:rPr>
              <a:t> (threat/environment).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(Continued)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strength/weakness of signature and heuristic detection?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How is log injection (CWE-117) prevented?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is responsible disclosure?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Self-Check — Answers (9–11)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Signature</a:t>
            </a:r>
            <a:r>
              <a:rPr sz="2000" b="0">
                <a:solidFill>
                  <a:srgbClr val="1F2D3A"/>
                </a:solidFill>
              </a:rPr>
              <a:t> is fast but misses new samples; </a:t>
            </a:r>
            <a:r>
              <a:rPr sz="2000" b="1">
                <a:solidFill>
                  <a:srgbClr val="1F2D3A"/>
                </a:solidFill>
              </a:rPr>
              <a:t>heuristic</a:t>
            </a:r>
            <a:r>
              <a:rPr sz="2000" b="0">
                <a:solidFill>
                  <a:srgbClr val="1F2D3A"/>
                </a:solidFill>
              </a:rPr>
              <a:t> finds new ones but produces false alarms.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Sanitise/escape</a:t>
            </a:r>
            <a:r>
              <a:rPr sz="2000" b="0">
                <a:solidFill>
                  <a:srgbClr val="1F2D3A"/>
                </a:solidFill>
              </a:rPr>
              <a:t> line-break and control characters in user data written to the log; use structured logging.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Reporting a flaw to the </a:t>
            </a:r>
            <a:r>
              <a:rPr sz="2000" b="1">
                <a:solidFill>
                  <a:srgbClr val="1F2D3A"/>
                </a:solidFill>
              </a:rPr>
              <a:t>vendor first</a:t>
            </a:r>
            <a:r>
              <a:rPr sz="2000" b="0">
                <a:solidFill>
                  <a:srgbClr val="1F2D3A"/>
                </a:solidFill>
              </a:rPr>
              <a:t>, allowing time for a patch, and </a:t>
            </a:r>
            <a:r>
              <a:rPr sz="2000" b="1">
                <a:solidFill>
                  <a:srgbClr val="1F2D3A"/>
                </a:solidFill>
              </a:rPr>
              <a:t>disclosing it publicly</a:t>
            </a:r>
            <a:r>
              <a:rPr sz="2000" b="0">
                <a:solidFill>
                  <a:srgbClr val="1F2D3A"/>
                </a:solidFill>
              </a:rPr>
              <a:t> afterward.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7827"/>
                <a:gridCol w="686370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Polymorphic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Encrypted differently in every copy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Signature/heuristic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Known trace / suspicious behaviour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Entropy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measure of randomness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DAC/MAC/RBAC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Access control models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BLP/Biba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Confidentiality / integrity 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CWE/CVE/CVSS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Type / concrete flaw / score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(continued)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9921"/>
                <a:gridCol w="720161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EPSS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probability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a flaw is exploited within 30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KEV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catalogue of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proven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exploited flaws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SSVC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Track–Act decision from exploit/impact/prevalence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Responsible / full disclosure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Report to the vendor first / disclose publicly right away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Authentication / authorization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"Who are you?" / "Can you do this?"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Safe default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If the policy is unclear, the answer is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deny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(fail-closed)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3 — Data Security: In Transit, at Rest, in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760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used the </a:t>
            </a:r>
            <a:r>
              <a:rPr sz="2000" b="1">
                <a:solidFill>
                  <a:srgbClr val="1F2D3A"/>
                </a:solidFill>
              </a:rPr>
              <a:t>entropy</a:t>
            </a:r>
            <a:r>
              <a:rPr sz="2000" b="0">
                <a:solidFill>
                  <a:srgbClr val="1F2D3A"/>
                </a:solidFill>
              </a:rPr>
              <a:t> measure to detect malware; next week we reuse it again to assess the disorder in the input of a cryptographic random number generator (CSPRNG). Week 3 covers encryption fundamentals, TLS 1.3 and certificate pinning, local encryption with AES-GCM, and secure deletion (Source: Viega &amp; Messier, Recipes 9.1–9.3, 10.7–10.9, 4.9–4.11, 13.2).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582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The vulnerability language we prioritised this week with CWE and CVSS will reappear in </a:t>
            </a:r>
            <a:r>
              <a:rPr sz="2000" b="1">
                <a:solidFill>
                  <a:srgbClr val="1F2D3A"/>
                </a:solidFill>
              </a:rPr>
              <a:t>Week 12</a:t>
            </a:r>
            <a:r>
              <a:rPr sz="2000" b="0">
                <a:solidFill>
                  <a:srgbClr val="1F2D3A"/>
                </a:solidFill>
              </a:rPr>
              <a:t> as an input to penetration-test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2 — Computer Viruses and Security Models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