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This week we harden the code itself: first bug-free code, then protections that limit the damage if a bug slips through, and finally obfuscation that makes it harder to read.</a:t>
            </a:r>
          </a:p>
          <a:p/>
          <a:p>
            <a:r>
              <a:t>Speaker note: This week we harden the code itself: first bug-free code, then protections that limit the damage if a bug slips through, and finally obfuscation that makes it harder to 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This week we harden the code itself. We assume students know C but not security terms; we will define every term. Demos are under code/week-04.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Next, the format string vulnerability.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show live how %x scans argument slots in order, where it reaches the secret value, and open the "what %n would do" preset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open the "percent-n" preset from the selector; emphasize that %n does not just read, it writes — this is why a "harmless-looking" marker is actually a write primitive.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show live how a freed block goes onto the free list and how the next malloc hands it back; switch to the "double-free" preset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open the "double-free" preset from the selector; show live how freeing the same pointer a second time corrupts the allocator's free list, and how this usually opens the door to a further heap overflow.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show live how the unchecked add silently wraps, and how checked_add catches the same overflow before adding.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open the "edge-secure" preset from the selector; compare side by side how the SAME sequence of adds that leads to UB in the buggy version is stopped by checked_add BEFORE adding in the compiled secure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After the break, static analysis, sanitizers, fuzzing.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show live which bound each record violates (or doesn't); contrast with the buggy version reading out of bounds on the same inputs.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open the "edge-all-bad" preset from the selector; show that NOT ONE record passes, and walk through which principle (length/type/range/format) each one violates and is rejected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show live whether each candidate opens new coverage, and how the session stops the moment a crash is found.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open the "edge-immediate-crash" preset from the selector; make the point that the most valuable input can sometimes appear at the very first step of a session — this is a result of the mutation strategy, not "luck."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Next, compiler and OS protections.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These are the "limit the damage if a bug slips through" layer. None of them removes the bug; they make exploitation harder.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show live how strcpy fills buffer[64] and reaches the canary, then the frame and return address; highlight the hardened build catching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open the "weak-overflow" preset from the selector; show that the exact SAME 75-character input we just saw caught by the canary in the hardened build sails straight through to the return address when the canary is absent — without the flag on, nothing but CERT/sanitizer/fuzzing stops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Next, an introduction to code obfuscation.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The introductory layer of obfuscation. Depth comes in Weeks 9 and 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show live how every byte is XOR'd with the key, and how the symbols visible with nm differ between the exposed and hidden builds.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open the "edge-zero-key" preset from the selector; show live that when the XOR key is 0x00, every byte XORs with itself and stays unchanged — the "hiding" step does nothing at all. Key choice is part of the design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show live how the plain version takes a direct if-chain while the flattened version walks the dispatcher from state=0 again for every guess.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open the "flat-all-wrong-length" preset from the selector; even in the flattened version, the dispatcher MUST still pass through the length-check state first — reading stays harder, but the meaning of the flow hasn't 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prove experimentally that (x*x)%4 is never 2 for any integer; highlight that the decoy branch (decoy_branch) never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open the "edge-extremes" preset from the selector; show that the (x*x)%4 identity still never equals 2 even at values like INT_MAX/INT_MIN (despite the potential for signed overflow) — tie this back to this week's integer overflow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Next, the project and the solved self-check.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We trace a single overflow from buggy code to attack, then to the fix; we see all three of this week's layers (coding, compiler/OS, not obfuscation but correction) in the same example. Can be worked through on the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gif"/><Relationship Id="rId4" Type="http://schemas.openxmlformats.org/officeDocument/2006/relationships/notesSlide" Target="../notesSlides/notesSlide4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gif"/><Relationship Id="rId4" Type="http://schemas.openxmlformats.org/officeDocument/2006/relationships/notesSlide" Target="../notesSlides/notesSlide5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gif"/><Relationship Id="rId4" Type="http://schemas.openxmlformats.org/officeDocument/2006/relationships/notesSlide" Target="../notesSlides/notesSlide6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gif"/><Relationship Id="rId4" Type="http://schemas.openxmlformats.org/officeDocument/2006/relationships/notesSlide" Target="../notesSlides/notesSlide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gif"/><Relationship Id="rId4" Type="http://schemas.openxmlformats.org/officeDocument/2006/relationships/notesSlide" Target="../notesSlides/notesSlide8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gif"/><Relationship Id="rId4" Type="http://schemas.openxmlformats.org/officeDocument/2006/relationships/notesSlide" Target="../notesSlides/notesSlide9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6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7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8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9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0.gif"/><Relationship Id="rId4" Type="http://schemas.openxmlformats.org/officeDocument/2006/relationships/notesSlide" Target="../notesSlides/notesSlide11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1.gif"/><Relationship Id="rId4" Type="http://schemas.openxmlformats.org/officeDocument/2006/relationships/notesSlide" Target="../notesSlides/notesSlide12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2.gif"/><Relationship Id="rId4" Type="http://schemas.openxmlformats.org/officeDocument/2006/relationships/notesSlide" Target="../notesSlides/notesSlide13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3.gif"/><Relationship Id="rId4" Type="http://schemas.openxmlformats.org/officeDocument/2006/relationships/notesSlide" Target="../notesSlides/notesSlide14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4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5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6.gif"/><Relationship Id="rId4" Type="http://schemas.openxmlformats.org/officeDocument/2006/relationships/notesSlide" Target="../notesSlides/notesSlide1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7.gif"/><Relationship Id="rId4" Type="http://schemas.openxmlformats.org/officeDocument/2006/relationships/notesSlide" Target="../notesSlides/notesSlide18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8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9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9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0.gif"/><Relationship Id="rId4" Type="http://schemas.openxmlformats.org/officeDocument/2006/relationships/notesSlide" Target="../notesSlides/notesSlide21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1.gif"/><Relationship Id="rId4" Type="http://schemas.openxmlformats.org/officeDocument/2006/relationships/notesSlide" Target="../notesSlides/notesSlide22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2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3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4.gif"/><Relationship Id="rId4" Type="http://schemas.openxmlformats.org/officeDocument/2006/relationships/notesSlide" Target="../notesSlides/notesSlide23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5.gif"/><Relationship Id="rId4" Type="http://schemas.openxmlformats.org/officeDocument/2006/relationships/notesSlide" Target="../notesSlides/notesSlide24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6.gif"/><Relationship Id="rId4" Type="http://schemas.openxmlformats.org/officeDocument/2006/relationships/notesSlide" Target="../notesSlides/notesSlide25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7.gif"/><Relationship Id="rId4" Type="http://schemas.openxmlformats.org/officeDocument/2006/relationships/notesSlide" Target="../notesSlides/notesSlide26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Code Hardening: C/C++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CEN429 Secure Programming — Week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Asst. Prof. Dr. Uğur CORUH · 09.10.2026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Today's Plan (3 Hours)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953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9044"/>
                <a:gridCol w="727435"/>
                <a:gridCol w="9655055"/>
              </a:tblGrid>
              <a:tr h="738378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Hour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Section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Topic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738378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Layers of hardening · SEI CERT · input validation principles · CERT pairs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38378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2–4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Format string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Demo 1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UAF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Demo 2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integer/UB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Demo 3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error handling/signals · static analysis · sanitizers · fuzzing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Demo 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738378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5–7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Compiler/OS protections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Demo 5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secure build pipeline (CI) · code obfuscation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Demo 6–7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end to end · project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38912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Learning outcome:</a:t>
            </a:r>
            <a:r>
              <a:rPr sz="2000" b="0">
                <a:solidFill>
                  <a:srgbClr val="1F2D3A"/>
                </a:solidFill>
              </a:rPr>
              <a:t> LO.3 (binary application protections)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A Brief History — the Race Between Memory Bugs and Defences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1988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Morris Worm</a:t>
            </a:r>
            <a:r>
              <a:rPr sz="1800" b="0">
                <a:solidFill>
                  <a:srgbClr val="1F2D3A"/>
                </a:solidFill>
              </a:rPr>
              <a:t> announces the buffer overflow to the world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1996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0" i="1">
                <a:solidFill>
                  <a:srgbClr val="1F2D3A"/>
                </a:solidFill>
              </a:rPr>
              <a:t>Smashing the Stack for Fun and Profit</a:t>
            </a:r>
            <a:r>
              <a:rPr sz="1800" b="0">
                <a:solidFill>
                  <a:srgbClr val="1F2D3A"/>
                </a:solidFill>
              </a:rPr>
              <a:t> teaches exploitation to everyone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1998 → 2004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canary</a:t>
            </a:r>
            <a:r>
              <a:rPr sz="1800" b="0">
                <a:solidFill>
                  <a:srgbClr val="1F2D3A"/>
                </a:solidFill>
              </a:rPr>
              <a:t> (StackGuard) · </a:t>
            </a:r>
            <a:r>
              <a:rPr sz="1800" b="1">
                <a:solidFill>
                  <a:srgbClr val="1F2D3A"/>
                </a:solidFill>
              </a:rPr>
              <a:t>ASLR</a:t>
            </a:r>
            <a:r>
              <a:rPr sz="1800" b="0">
                <a:solidFill>
                  <a:srgbClr val="1F2D3A"/>
                </a:solidFill>
              </a:rPr>
              <a:t> (PaX) · </a:t>
            </a:r>
            <a:r>
              <a:rPr sz="1800" b="1">
                <a:solidFill>
                  <a:srgbClr val="1F2D3A"/>
                </a:solidFill>
              </a:rPr>
              <a:t>DEP/NX</a:t>
            </a:r>
            <a:r>
              <a:rPr sz="1800" b="0">
                <a:solidFill>
                  <a:srgbClr val="1F2D3A"/>
                </a:solidFill>
              </a:rPr>
              <a:t> · FORTIFY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2012–13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AddressSanitizer</a:t>
            </a:r>
            <a:r>
              <a:rPr sz="1800" b="0">
                <a:solidFill>
                  <a:srgbClr val="1F2D3A"/>
                </a:solidFill>
              </a:rPr>
              <a:t> and </a:t>
            </a:r>
            <a:r>
              <a:rPr sz="1800" b="1">
                <a:solidFill>
                  <a:srgbClr val="1F2D3A"/>
                </a:solidFill>
              </a:rPr>
              <a:t>fuzzing</a:t>
            </a:r>
            <a:r>
              <a:rPr sz="1800" b="0">
                <a:solidFill>
                  <a:srgbClr val="1F2D3A"/>
                </a:solidFill>
              </a:rPr>
              <a:t> (AFL) catch bugs automatically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98648"/>
            <a:ext cx="10911535" cy="86868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800" b="0">
                <a:solidFill>
                  <a:srgbClr val="1F2D3A"/>
                </a:solidFill>
              </a:rPr>
              <a:t>This course follows this race: write the bug → let the tool catch it → let the compiler/OS protect.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We Bring from Earlier Weeks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3291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Process memory: stack and heap</a:t>
            </a:r>
            <a:r>
              <a:rPr sz="2000" b="0">
                <a:solidFill>
                  <a:srgbClr val="1F2D3A"/>
                </a:solidFill>
              </a:rPr>
              <a:t> — the stack automatically manages the local variables of function calls, the heap is managed manually with </a:t>
            </a:r>
            <a:r>
              <a:rPr sz="2000" b="0">
                <a:solidFill>
                  <a:srgbClr val="A1123F"/>
                </a:solidFill>
                <a:latin typeface="Consolas"/>
              </a:rPr>
              <a:t>malloc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(Week 1)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Buffer overflow</a:t>
            </a:r>
            <a:r>
              <a:rPr sz="2000" b="0">
                <a:solidFill>
                  <a:srgbClr val="1F2D3A"/>
                </a:solidFill>
              </a:rPr>
              <a:t> — writing more data to an array than its allocated size; the overflowing bytes land on neighbouring memory </a:t>
            </a:r>
            <a:r>
              <a:rPr sz="2000" b="1">
                <a:solidFill>
                  <a:srgbClr val="1F2D3A"/>
                </a:solidFill>
              </a:rPr>
              <a:t>(Week 1)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Stack frame and return address</a:t>
            </a:r>
            <a:r>
              <a:rPr sz="2000" b="0">
                <a:solidFill>
                  <a:srgbClr val="1F2D3A"/>
                </a:solidFill>
              </a:rPr>
              <a:t> — the region a function call gets on the stack, holding its local variables and the return address </a:t>
            </a:r>
            <a:r>
              <a:rPr sz="2000" b="1">
                <a:solidFill>
                  <a:srgbClr val="1F2D3A"/>
                </a:solidFill>
              </a:rPr>
              <a:t>(Week 1)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The white-box attacker model</a:t>
            </a:r>
            <a:r>
              <a:rPr sz="2000" b="0">
                <a:solidFill>
                  <a:srgbClr val="1F2D3A"/>
                </a:solidFill>
              </a:rPr>
              <a:t> — the owner of the device is also a possible attacker; they can read memory, attach a debugger </a:t>
            </a:r>
            <a:r>
              <a:rPr sz="2000" b="1">
                <a:solidFill>
                  <a:srgbClr val="1F2D3A"/>
                </a:solidFill>
              </a:rPr>
              <a:t>(Week 1)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CWE</a:t>
            </a:r>
            <a:r>
              <a:rPr sz="2000" b="0">
                <a:solidFill>
                  <a:srgbClr val="1F2D3A"/>
                </a:solidFill>
              </a:rPr>
              <a:t> — a numbered catalogue of software weaknesses </a:t>
            </a:r>
            <a:r>
              <a:rPr sz="2000" b="1">
                <a:solidFill>
                  <a:srgbClr val="1F2D3A"/>
                </a:solidFill>
              </a:rPr>
              <a:t>(Week 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27448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This week: on top of these foundations we build SEI CERT rules, sanitizers, and compiler/OS protections — applying the Weeks 1–3 principles/threat-model/crypto foundation to the C/C++ code itself.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This Week's Concepts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Each term is defined once, where it first appears in the body; here we only mark </a:t>
            </a:r>
            <a:r>
              <a:rPr sz="1800" b="1">
                <a:solidFill>
                  <a:srgbClr val="1F2D3A"/>
                </a:solidFill>
              </a:rPr>
              <a:t>where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42515"/>
          <a:ext cx="10002239" cy="3374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38074"/>
                <a:gridCol w="2364165"/>
              </a:tblGrid>
              <a:tr h="337413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Concept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Where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Layers of hardening · SEI CERT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Input validation principles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Format string vulnerability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Use-after-free (UAF)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Undefined behaviour (UB)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Error handling, signals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Static analysis · sanitizers · fuzzing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Compiler/OS protections · CI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74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Code obfuscation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Pointer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Pointer:</a:t>
            </a:r>
            <a:r>
              <a:rPr sz="2000" b="0">
                <a:solidFill>
                  <a:srgbClr val="1F2D3A"/>
                </a:solidFill>
              </a:rPr>
              <a:t> a variable that holds a memory </a:t>
            </a:r>
            <a:r>
              <a:rPr sz="2000" b="1">
                <a:solidFill>
                  <a:srgbClr val="1F2D3A"/>
                </a:solidFill>
              </a:rPr>
              <a:t>address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p</a:t>
            </a:r>
            <a:r>
              <a:rPr sz="2000" b="0">
                <a:solidFill>
                  <a:srgbClr val="1F2D3A"/>
                </a:solidFill>
              </a:rPr>
              <a:t> is an address; </a:t>
            </a:r>
            <a:r>
              <a:rPr sz="2000" b="0">
                <a:solidFill>
                  <a:srgbClr val="A1123F"/>
                </a:solidFill>
                <a:latin typeface="Consolas"/>
              </a:rPr>
              <a:t>*p</a:t>
            </a:r>
            <a:r>
              <a:rPr sz="2000" b="0">
                <a:solidFill>
                  <a:srgbClr val="1F2D3A"/>
                </a:solidFill>
              </a:rPr>
              <a:t> is the value at that address.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Wrong address → crash or wrong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Compiler Flag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Flag:</a:t>
            </a:r>
            <a:r>
              <a:rPr sz="2000" b="0">
                <a:solidFill>
                  <a:srgbClr val="1F2D3A"/>
                </a:solidFill>
              </a:rPr>
              <a:t> an option passed to the compiler.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Example: </a:t>
            </a:r>
            <a:r>
              <a:rPr sz="2000" b="0">
                <a:solidFill>
                  <a:srgbClr val="A1123F"/>
                </a:solidFill>
                <a:latin typeface="Consolas"/>
              </a:rPr>
              <a:t>-O2</a:t>
            </a:r>
            <a:r>
              <a:rPr sz="2000" b="0">
                <a:solidFill>
                  <a:srgbClr val="1F2D3A"/>
                </a:solidFill>
              </a:rPr>
              <a:t> (optimisation), </a:t>
            </a:r>
            <a:r>
              <a:rPr sz="2000" b="0">
                <a:solidFill>
                  <a:srgbClr val="A1123F"/>
                </a:solidFill>
                <a:latin typeface="Consolas"/>
              </a:rPr>
              <a:t>-Wall</a:t>
            </a:r>
            <a:r>
              <a:rPr sz="2000" b="0">
                <a:solidFill>
                  <a:srgbClr val="1F2D3A"/>
                </a:solidFill>
              </a:rPr>
              <a:t> (warnings), </a:t>
            </a:r>
            <a:r>
              <a:rPr sz="2000" b="0">
                <a:solidFill>
                  <a:srgbClr val="A1123F"/>
                </a:solidFill>
                <a:latin typeface="Consolas"/>
              </a:rPr>
              <a:t>-fsanitize=address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right flags catch many bugs </a:t>
            </a:r>
            <a:r>
              <a:rPr sz="2000" b="1">
                <a:solidFill>
                  <a:srgbClr val="1F2D3A"/>
                </a:solidFill>
              </a:rPr>
              <a:t>at compile time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Warning vs Error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Error:</a:t>
            </a:r>
            <a:r>
              <a:rPr sz="2000" b="0">
                <a:solidFill>
                  <a:srgbClr val="1F2D3A"/>
                </a:solidFill>
              </a:rPr>
              <a:t> compilation stops.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Warning:</a:t>
            </a:r>
            <a:r>
              <a:rPr sz="2000" b="0">
                <a:solidFill>
                  <a:srgbClr val="1F2D3A"/>
                </a:solidFill>
              </a:rPr>
              <a:t> compilation continues but a problem is reported.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Rule: </a:t>
            </a:r>
            <a:r>
              <a:rPr sz="2000" b="1">
                <a:solidFill>
                  <a:srgbClr val="1F2D3A"/>
                </a:solidFill>
              </a:rPr>
              <a:t>turn warnings into errors</a:t>
            </a:r>
            <a:r>
              <a:rPr sz="2000" b="0">
                <a:solidFill>
                  <a:srgbClr val="1F2D3A"/>
                </a:solidFill>
              </a:rPr>
              <a:t> (</a:t>
            </a:r>
            <a:r>
              <a:rPr sz="2000" b="0">
                <a:solidFill>
                  <a:srgbClr val="A1123F"/>
                </a:solidFill>
                <a:latin typeface="Consolas"/>
              </a:rPr>
              <a:t>-Werror</a:t>
            </a:r>
            <a:r>
              <a:rPr sz="2000" b="0">
                <a:solidFill>
                  <a:srgbClr val="1F2D3A"/>
                </a:solidFill>
              </a:rPr>
              <a:t>) — an ignored warning is a future vulnerability.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How Do the Demos Work?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55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Demos live under </a:t>
            </a:r>
            <a:r>
              <a:rPr sz="2000" b="0">
                <a:solidFill>
                  <a:srgbClr val="A1123F"/>
                </a:solidFill>
                <a:latin typeface="Consolas"/>
              </a:rPr>
              <a:t>code/week-04</a:t>
            </a:r>
            <a:r>
              <a:rPr sz="2000" b="0">
                <a:solidFill>
                  <a:srgbClr val="1F2D3A"/>
                </a:solidFill>
              </a:rPr>
              <a:t>; they run on </a:t>
            </a:r>
            <a:r>
              <a:rPr sz="2000" b="1">
                <a:solidFill>
                  <a:srgbClr val="1F2D3A"/>
                </a:solidFill>
              </a:rPr>
              <a:t>Windows (Visual Studio 2022)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1">
                <a:solidFill>
                  <a:srgbClr val="1F2D3A"/>
                </a:solidFill>
              </a:rPr>
              <a:t>WSL/Linux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Build: Windows </a:t>
            </a:r>
            <a:r>
              <a:rPr sz="2000" b="0">
                <a:solidFill>
                  <a:srgbClr val="A1123F"/>
                </a:solidFill>
                <a:latin typeface="Consolas"/>
              </a:rPr>
              <a:t>.build.ps1</a:t>
            </a:r>
            <a:r>
              <a:rPr sz="2000" b="0">
                <a:solidFill>
                  <a:srgbClr val="1F2D3A"/>
                </a:solidFill>
              </a:rPr>
              <a:t> · WSL/Linux </a:t>
            </a:r>
            <a:r>
              <a:rPr sz="2000" b="0">
                <a:solidFill>
                  <a:srgbClr val="A1123F"/>
                </a:solidFill>
                <a:latin typeface="Consolas"/>
              </a:rPr>
              <a:t>./build.sh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Run: in each demo folder, Windows </a:t>
            </a:r>
            <a:r>
              <a:rPr sz="2000" b="0">
                <a:solidFill>
                  <a:srgbClr val="A1123F"/>
                </a:solidFill>
                <a:latin typeface="Consolas"/>
              </a:rPr>
              <a:t>.demo.ps1</a:t>
            </a:r>
            <a:r>
              <a:rPr sz="2000" b="0">
                <a:solidFill>
                  <a:srgbClr val="1F2D3A"/>
                </a:solidFill>
              </a:rPr>
              <a:t> · WSL/Linux </a:t>
            </a:r>
            <a:r>
              <a:rPr sz="2000" b="0">
                <a:solidFill>
                  <a:srgbClr val="A1123F"/>
                </a:solidFill>
                <a:latin typeface="Consolas"/>
              </a:rPr>
              <a:t>sh demo.sh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Fuzzing (Demo 4)</a:t>
            </a:r>
            <a:r>
              <a:rPr sz="2000" b="0">
                <a:solidFill>
                  <a:srgbClr val="1F2D3A"/>
                </a:solidFill>
              </a:rPr>
              <a:t> needs </a:t>
            </a:r>
            <a:r>
              <a:rPr sz="2000" b="1">
                <a:solidFill>
                  <a:srgbClr val="1F2D3A"/>
                </a:solidFill>
              </a:rPr>
              <a:t>clang</a:t>
            </a:r>
            <a:r>
              <a:rPr sz="2000" b="0">
                <a:solidFill>
                  <a:srgbClr val="1F2D3A"/>
                </a:solidFill>
              </a:rPr>
              <a:t> on Linux/WSL (</a:t>
            </a:r>
            <a:r>
              <a:rPr sz="2000" b="0">
                <a:solidFill>
                  <a:srgbClr val="A1123F"/>
                </a:solidFill>
                <a:latin typeface="Consolas"/>
              </a:rPr>
              <a:t>sudo apt install -y clang</a:t>
            </a:r>
            <a:r>
              <a:rPr sz="2000" b="0">
                <a:solidFill>
                  <a:srgbClr val="1F2D3A"/>
                </a:solidFill>
              </a:rPr>
              <a:t>); on Windows it needs Visual Studio's "C++ AddressSanitizer" component.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691128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⚠️ </a:t>
            </a:r>
            <a:r>
              <a:rPr sz="2000" b="1">
                <a:solidFill>
                  <a:srgbClr val="1F2D3A"/>
                </a:solidFill>
              </a:rPr>
              <a:t>Ethics:</a:t>
            </a:r>
            <a:r>
              <a:rPr sz="2000" b="0">
                <a:solidFill>
                  <a:srgbClr val="1F2D3A"/>
                </a:solidFill>
              </a:rPr>
              <a:t> the demos run only against </a:t>
            </a:r>
            <a:r>
              <a:rPr sz="2000" b="1">
                <a:solidFill>
                  <a:srgbClr val="1F2D3A"/>
                </a:solidFill>
              </a:rPr>
              <a:t>our own small programs</a:t>
            </a:r>
            <a:r>
              <a:rPr sz="2000" b="0">
                <a:solidFill>
                  <a:srgbClr val="1F2D3A"/>
                </a:solidFill>
              </a:rPr>
              <a:t>; none of them touch another program or system.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1. Layers and SEI CERT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Three Layers, the Right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Code hardening is three layers. The order matters: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First, bug-free code</a:t>
            </a:r>
            <a:r>
              <a:rPr sz="2000" b="0">
                <a:solidFill>
                  <a:srgbClr val="1F2D3A"/>
                </a:solidFill>
              </a:rPr>
              <a:t> (secure coding)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Then, limit the damage</a:t>
            </a:r>
            <a:r>
              <a:rPr sz="2000" b="0">
                <a:solidFill>
                  <a:srgbClr val="1F2D3A"/>
                </a:solidFill>
              </a:rPr>
              <a:t> (compiler/OS protections)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Finally, make it harder to read</a:t>
            </a:r>
            <a:r>
              <a:rPr sz="2000" b="0">
                <a:solidFill>
                  <a:srgbClr val="1F2D3A"/>
                </a:solidFill>
              </a:rPr>
              <a:t> (obfuscation)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204464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⚠️ Obfuscation does </a:t>
            </a:r>
            <a:r>
              <a:rPr sz="2000" b="1">
                <a:solidFill>
                  <a:srgbClr val="1F2D3A"/>
                </a:solidFill>
              </a:rPr>
              <a:t>not fix</a:t>
            </a:r>
            <a:r>
              <a:rPr sz="2000" b="0">
                <a:solidFill>
                  <a:srgbClr val="1F2D3A"/>
                </a:solidFill>
              </a:rPr>
              <a:t> the bug.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This Order?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Adding protection to buggy code is like painting over a rotten foundation.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First </a:t>
            </a:r>
            <a:r>
              <a:rPr sz="2000" b="1">
                <a:solidFill>
                  <a:srgbClr val="1F2D3A"/>
                </a:solidFill>
              </a:rPr>
              <a:t>remove</a:t>
            </a:r>
            <a:r>
              <a:rPr sz="2000" b="0">
                <a:solidFill>
                  <a:srgbClr val="1F2D3A"/>
                </a:solidFill>
              </a:rPr>
              <a:t> the bug; then </a:t>
            </a:r>
            <a:r>
              <a:rPr sz="2000" b="1">
                <a:solidFill>
                  <a:srgbClr val="1F2D3A"/>
                </a:solidFill>
              </a:rPr>
              <a:t>catch</a:t>
            </a:r>
            <a:r>
              <a:rPr sz="2000" b="0">
                <a:solidFill>
                  <a:srgbClr val="1F2D3A"/>
                </a:solidFill>
              </a:rPr>
              <a:t> what slips through; finally </a:t>
            </a:r>
            <a:r>
              <a:rPr sz="2000" b="1">
                <a:solidFill>
                  <a:srgbClr val="1F2D3A"/>
                </a:solidFill>
              </a:rPr>
              <a:t>slow down</a:t>
            </a:r>
            <a:r>
              <a:rPr sz="2000" b="0">
                <a:solidFill>
                  <a:srgbClr val="1F2D3A"/>
                </a:solidFill>
              </a:rPr>
              <a:t> reverse engineering.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We will see all three this week, in this order.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Anatomy of a CERT Rule —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SEI CERT C/C++:</a:t>
            </a:r>
            <a:r>
              <a:rPr sz="2000" b="0">
                <a:solidFill>
                  <a:srgbClr val="1F2D3A"/>
                </a:solidFill>
              </a:rPr>
              <a:t> the rulebook of secure coding, distilled from real-world vulnerabilities.</a:t>
            </a:r>
          </a:p>
        </p:txBody>
      </p:sp>
      <p:pic>
        <p:nvPicPr>
          <p:cNvPr id="8" name="Picture 7" descr="h04-15-cert-kural-anatomi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05736"/>
            <a:ext cx="10911535" cy="340143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Three Layers — Diagram</a:t>
            </a:r>
          </a:p>
        </p:txBody>
      </p:sp>
      <p:pic>
        <p:nvPicPr>
          <p:cNvPr id="7" name="Picture 6" descr="h04-05-uc-katm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9871" y="1325880"/>
            <a:ext cx="8471953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Layer 2 · Secure 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Question:</a:t>
            </a:r>
            <a:r>
              <a:rPr sz="2000" b="0">
                <a:solidFill>
                  <a:srgbClr val="1F2D3A"/>
                </a:solidFill>
              </a:rPr>
              <a:t> is there a bug in my code?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Tools:</a:t>
            </a:r>
            <a:r>
              <a:rPr sz="2000" b="0">
                <a:solidFill>
                  <a:srgbClr val="1F2D3A"/>
                </a:solidFill>
              </a:rPr>
              <a:t> CERT rules, sanitizers, fuzzing.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Goal:</a:t>
            </a:r>
            <a:r>
              <a:rPr sz="2000" b="0">
                <a:solidFill>
                  <a:srgbClr val="1F2D3A"/>
                </a:solidFill>
              </a:rPr>
              <a:t> not writing the bug in the first place.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Layer 3 · Compiler/OS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Question:</a:t>
            </a:r>
            <a:r>
              <a:rPr sz="2000" b="0">
                <a:solidFill>
                  <a:srgbClr val="1F2D3A"/>
                </a:solidFill>
              </a:rPr>
              <a:t> if a bug slips through, is it hard to exploit?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Tools:</a:t>
            </a:r>
            <a:r>
              <a:rPr sz="2000" b="0">
                <a:solidFill>
                  <a:srgbClr val="1F2D3A"/>
                </a:solidFill>
              </a:rPr>
              <a:t> canary, FORTIFY, ASLR, NX, RELRO, CFI.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Goal:</a:t>
            </a:r>
            <a:r>
              <a:rPr sz="2000" b="0">
                <a:solidFill>
                  <a:srgbClr val="1F2D3A"/>
                </a:solidFill>
              </a:rPr>
              <a:t> making exploitation of the remaining bug expensive.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Layer 4 · Obfuscation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Question:</a:t>
            </a:r>
            <a:r>
              <a:rPr sz="2000" b="0">
                <a:solidFill>
                  <a:srgbClr val="1F2D3A"/>
                </a:solidFill>
              </a:rPr>
              <a:t> does someone reading the code understand it?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Tools:</a:t>
            </a:r>
            <a:r>
              <a:rPr sz="2000" b="0">
                <a:solidFill>
                  <a:srgbClr val="1F2D3A"/>
                </a:solidFill>
              </a:rPr>
              <a:t> symbol/string hiding, removing logging, flattening.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Goal:</a:t>
            </a:r>
            <a:r>
              <a:rPr sz="2000" b="0">
                <a:solidFill>
                  <a:srgbClr val="1F2D3A"/>
                </a:solidFill>
              </a:rPr>
              <a:t> slowing down reverse engineering.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From the Field: Scheme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In a certified product: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"Common vulnerabilities must be addressed: sensitive data, injection, overflow, language-specific weaknesses"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"Defensive programming </a:t>
            </a:r>
            <a:r>
              <a:rPr sz="2000" b="1">
                <a:solidFill>
                  <a:srgbClr val="1F2D3A"/>
                </a:solidFill>
              </a:rPr>
              <a:t>consistent across the entire codebase</a:t>
            </a:r>
            <a:r>
              <a:rPr sz="2000" b="0">
                <a:solidFill>
                  <a:srgbClr val="1F2D3A"/>
                </a:solidFill>
              </a:rPr>
              <a:t>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"Protection against static and dynamic reverse engineering"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3466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➡️ Eighteen hardening measures on the native side </a:t>
            </a:r>
            <a:r>
              <a:rPr sz="2000" b="1">
                <a:solidFill>
                  <a:srgbClr val="1F2D3A"/>
                </a:solidFill>
              </a:rPr>
              <a:t>alone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SEI CERT: What Does a Rule Look Like?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Parts of every CERT rule: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Identifier: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STR31-C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MEM50-CPP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Title:</a:t>
            </a:r>
            <a:r>
              <a:rPr sz="2000" b="0">
                <a:solidFill>
                  <a:srgbClr val="1F2D3A"/>
                </a:solidFill>
              </a:rPr>
              <a:t> one sentence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Noncompliant example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1">
                <a:solidFill>
                  <a:srgbClr val="1F2D3A"/>
                </a:solidFill>
              </a:rPr>
              <a:t>compliant solution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Risk level</a:t>
            </a:r>
            <a:r>
              <a:rPr sz="2000" b="0">
                <a:solidFill>
                  <a:srgbClr val="1F2D3A"/>
                </a:solidFill>
              </a:rPr>
              <a:t> (L1/L2/L3) and a </a:t>
            </a:r>
            <a:r>
              <a:rPr sz="2000" b="1">
                <a:solidFill>
                  <a:srgbClr val="1F2D3A"/>
                </a:solidFill>
              </a:rPr>
              <a:t>CWE</a:t>
            </a:r>
            <a:r>
              <a:rPr sz="2000" b="0">
                <a:solidFill>
                  <a:srgbClr val="1F2D3A"/>
                </a:solidFill>
              </a:rPr>
              <a:t> link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Rule or Recommendation?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Rule:</a:t>
            </a:r>
            <a:r>
              <a:rPr sz="2000" b="0">
                <a:solidFill>
                  <a:srgbClr val="1F2D3A"/>
                </a:solidFill>
              </a:rPr>
              <a:t> violating it is a </a:t>
            </a:r>
            <a:r>
              <a:rPr sz="2000" b="1">
                <a:solidFill>
                  <a:srgbClr val="1F2D3A"/>
                </a:solidFill>
              </a:rPr>
              <a:t>vulnerability</a:t>
            </a:r>
            <a:r>
              <a:rPr sz="2000" b="0">
                <a:solidFill>
                  <a:srgbClr val="1F2D3A"/>
                </a:solidFill>
              </a:rPr>
              <a:t>, and it can be checked automatically.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Recommendation:</a:t>
            </a:r>
            <a:r>
              <a:rPr sz="2000" b="0">
                <a:solidFill>
                  <a:srgbClr val="1F2D3A"/>
                </a:solidFill>
              </a:rPr>
              <a:t> good practice.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Start a review with </a:t>
            </a:r>
            <a:r>
              <a:rPr sz="2000" b="1">
                <a:solidFill>
                  <a:srgbClr val="1F2D3A"/>
                </a:solidFill>
              </a:rPr>
              <a:t>L1</a:t>
            </a:r>
            <a:r>
              <a:rPr sz="2000" b="0">
                <a:solidFill>
                  <a:srgbClr val="1F2D3A"/>
                </a:solidFill>
              </a:rPr>
              <a:t> (highest risk) rules.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How Is the Risk Level Determined?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Risk = </a:t>
            </a:r>
            <a:r>
              <a:rPr sz="2000" b="1">
                <a:solidFill>
                  <a:srgbClr val="1F2D3A"/>
                </a:solidFill>
              </a:rPr>
              <a:t>severity × likelihood × cost to fix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L1:</a:t>
            </a:r>
            <a:r>
              <a:rPr sz="2000" b="0">
                <a:solidFill>
                  <a:srgbClr val="1F2D3A"/>
                </a:solidFill>
              </a:rPr>
              <a:t> high risk, these first.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L2 / L3:</a:t>
            </a:r>
            <a:r>
              <a:rPr sz="2000" b="0">
                <a:solidFill>
                  <a:srgbClr val="1F2D3A"/>
                </a:solidFill>
              </a:rPr>
              <a:t> progressively lower.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CERT Categories (1)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9696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5364"/>
                <a:gridCol w="2155364"/>
                <a:gridCol w="6600805"/>
              </a:tblGrid>
              <a:tr h="393923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Abbreviation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Example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9392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Integers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INT32-C: do not allow signed overflow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92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ARR/STR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Array/string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STR31-C: allocate sufficient space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9392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MEM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Memory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MEM30-C: do not access freed memory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92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FIO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File I/O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FIO30-C: exclude input from the format string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CERT Categories (2)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331"/>
                <a:gridCol w="2834164"/>
                <a:gridCol w="5810038"/>
              </a:tblGrid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Abbreviation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Example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ENV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Environment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ENV33-C: do not call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system()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SIG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Signals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SIG30-C: only safe fn. in the handler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ERR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Error handling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ERR33-C: detect a library error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3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CON/MSC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Concurrency/misc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CON43-C, MSC32-C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191256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C++: MEM50-CPP, CTR50-CPP, STR50-CPP, EXP53-CPP, ERR50-CPP.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Automated CERT Auditing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Warnings: </a:t>
            </a:r>
            <a:r>
              <a:rPr sz="2000" b="0">
                <a:solidFill>
                  <a:srgbClr val="A1123F"/>
                </a:solidFill>
                <a:latin typeface="Consolas"/>
              </a:rPr>
              <a:t>-Wall -Wextra -Wformat=2 -Wconversion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clang-tidy cert-*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cppcheck --addon=cert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MSVC </a:t>
            </a:r>
            <a:r>
              <a:rPr sz="2000" b="0">
                <a:solidFill>
                  <a:srgbClr val="A1123F"/>
                </a:solidFill>
                <a:latin typeface="Consolas"/>
              </a:rPr>
              <a:t>/analyze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030728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The evaluator runs this scan first, then reads by hand.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Input Validation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Input Validation — Diagram</a:t>
            </a:r>
          </a:p>
        </p:txBody>
      </p:sp>
      <p:pic>
        <p:nvPicPr>
          <p:cNvPr id="7" name="Picture 6" descr="h04-06-girdi-dogrula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08459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Where Does Input Come From?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From more places than you'd think. And </a:t>
            </a:r>
            <a:r>
              <a:rPr sz="2000" b="1">
                <a:solidFill>
                  <a:srgbClr val="1F2D3A"/>
                </a:solidFill>
              </a:rPr>
              <a:t>all of it is untrusted</a:t>
            </a:r>
            <a:r>
              <a:rPr sz="2000" b="0">
                <a:solidFill>
                  <a:srgbClr val="1F2D3A"/>
                </a:solidFill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Command line, environment variables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File, network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IPC (another process on the same machine)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Database, library interface (JNI)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Commonly Forgotten Inputs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Even </a:t>
            </a:r>
            <a:r>
              <a:rPr sz="2000" b="0">
                <a:solidFill>
                  <a:srgbClr val="A1123F"/>
                </a:solidFill>
                <a:latin typeface="Consolas"/>
              </a:rPr>
              <a:t>argv[0]</a:t>
            </a:r>
            <a:r>
              <a:rPr sz="2000" b="0">
                <a:solidFill>
                  <a:srgbClr val="1F2D3A"/>
                </a:solidFill>
              </a:rPr>
              <a:t> can be the attacker's; </a:t>
            </a:r>
            <a:r>
              <a:rPr sz="2000" b="0">
                <a:solidFill>
                  <a:srgbClr val="A1123F"/>
                </a:solidFill>
                <a:latin typeface="Consolas"/>
              </a:rPr>
              <a:t>PATH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LANG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Length fields</a:t>
            </a:r>
            <a:r>
              <a:rPr sz="2000" b="0">
                <a:solidFill>
                  <a:srgbClr val="1F2D3A"/>
                </a:solidFill>
              </a:rPr>
              <a:t> inside a file format.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Network: says "16 bytes," sends 1 byte.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"Our own data" may have changed since.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Five Principles of Input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Allow-list</a:t>
            </a:r>
            <a:r>
              <a:rPr sz="2000" b="0">
                <a:solidFill>
                  <a:srgbClr val="1F2D3A"/>
                </a:solidFill>
              </a:rPr>
              <a:t> (enumerate what's permitted), not a deny-list.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Canonicalize first</a:t>
            </a:r>
            <a:r>
              <a:rPr sz="2000" b="0">
                <a:solidFill>
                  <a:srgbClr val="1F2D3A"/>
                </a:solidFill>
              </a:rPr>
              <a:t>, then validate.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Length → type → range → format</a:t>
            </a:r>
            <a:r>
              <a:rPr sz="2000" b="0">
                <a:solidFill>
                  <a:srgbClr val="1F2D3A"/>
                </a:solidFill>
              </a:rPr>
              <a:t>, in that order.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At the </a:t>
            </a:r>
            <a:r>
              <a:rPr sz="2000" b="1">
                <a:solidFill>
                  <a:srgbClr val="1F2D3A"/>
                </a:solidFill>
              </a:rPr>
              <a:t>trust boundary</a:t>
            </a:r>
            <a:r>
              <a:rPr sz="2000" b="0">
                <a:solidFill>
                  <a:srgbClr val="1F2D3A"/>
                </a:solidFill>
              </a:rPr>
              <a:t>, as early as possible.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5. </a:t>
            </a:r>
            <a:r>
              <a:rPr sz="2000" b="1">
                <a:solidFill>
                  <a:srgbClr val="1F2D3A"/>
                </a:solidFill>
              </a:rPr>
              <a:t>Reject</a:t>
            </a:r>
            <a:r>
              <a:rPr sz="2000" b="0">
                <a:solidFill>
                  <a:srgbClr val="1F2D3A"/>
                </a:solidFill>
              </a:rPr>
              <a:t>, don't "clean up" and use it anyway.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Principle 1 · Allow-List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Deny-list:</a:t>
            </a:r>
            <a:r>
              <a:rPr sz="2000" b="0">
                <a:solidFill>
                  <a:srgbClr val="1F2D3A"/>
                </a:solidFill>
              </a:rPr>
              <a:t> "these are forbidden" — something always gets forgotten.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Allow-list:</a:t>
            </a:r>
            <a:r>
              <a:rPr sz="2000" b="0">
                <a:solidFill>
                  <a:srgbClr val="1F2D3A"/>
                </a:solidFill>
              </a:rPr>
              <a:t> "only these are permitted" — a safe default.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Example: a username may only contain </a:t>
            </a:r>
            <a:r>
              <a:rPr sz="2000" b="0">
                <a:solidFill>
                  <a:srgbClr val="A1123F"/>
                </a:solidFill>
                <a:latin typeface="Consolas"/>
              </a:rPr>
              <a:t>[a-z0-9_]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Principle 2 · Canonicalize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same thing, spelled differently: </a:t>
            </a:r>
            <a:r>
              <a:rPr sz="2000" b="0">
                <a:solidFill>
                  <a:srgbClr val="A1123F"/>
                </a:solidFill>
                <a:latin typeface="Consolas"/>
              </a:rPr>
              <a:t>/tmp/../etc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%2e%2e/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Reduce it to </a:t>
            </a:r>
            <a:r>
              <a:rPr sz="2000" b="1">
                <a:solidFill>
                  <a:srgbClr val="1F2D3A"/>
                </a:solidFill>
              </a:rPr>
              <a:t>one form</a:t>
            </a:r>
            <a:r>
              <a:rPr sz="2000" b="0">
                <a:solidFill>
                  <a:srgbClr val="1F2D3A"/>
                </a:solidFill>
              </a:rPr>
              <a:t> (canonicalize) first, then check it.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Otherwise the check can be bypassed.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Principle 3 · </a:t>
            </a:r>
            <a:r>
              <a:rPr sz="3000" b="1">
                <a:solidFill>
                  <a:srgbClr val="006D77"/>
                </a:solidFill>
                <a:latin typeface="Consolas"/>
              </a:rPr>
              <a:t>strtol</a:t>
            </a:r>
            <a:r>
              <a:rPr sz="3000" b="1">
                <a:solidFill>
                  <a:srgbClr val="006D77"/>
                </a:solidFill>
              </a:rPr>
              <a:t>, Not </a:t>
            </a:r>
            <a:r>
              <a:rPr sz="3000" b="1">
                <a:solidFill>
                  <a:srgbClr val="006D77"/>
                </a:solidFill>
                <a:latin typeface="Consolas"/>
              </a:rPr>
              <a:t>atoi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errno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long value = strtol(s, &amp;end, 10);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(end == s)         return -1;  /* no digits at all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(*end != '\0')     return -1;  /* "12abc"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(errno == ERANGE)  return -1;  /* overflowed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(value &lt; min_val || value &gt; max_val) return -1;  /* business rule */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Is </a:t>
            </a:r>
            <a:r>
              <a:rPr sz="3000" b="1">
                <a:solidFill>
                  <a:srgbClr val="006D77"/>
                </a:solidFill>
                <a:latin typeface="Consolas"/>
              </a:rPr>
              <a:t>atoi</a:t>
            </a:r>
            <a:r>
              <a:rPr sz="3000" b="1">
                <a:solidFill>
                  <a:srgbClr val="006D77"/>
                </a:solidFill>
              </a:rPr>
              <a:t> Dangerous?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atoi("abc")</a:t>
            </a:r>
            <a:r>
              <a:rPr sz="2000" b="0">
                <a:solidFill>
                  <a:srgbClr val="1F2D3A"/>
                </a:solidFill>
              </a:rPr>
              <a:t> = 0 (the error is silent)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atoi("99999999999")</a:t>
            </a:r>
            <a:r>
              <a:rPr sz="2000" b="0">
                <a:solidFill>
                  <a:srgbClr val="1F2D3A"/>
                </a:solidFill>
              </a:rPr>
              <a:t> = </a:t>
            </a:r>
            <a:r>
              <a:rPr sz="2000" b="1">
                <a:solidFill>
                  <a:srgbClr val="1F2D3A"/>
                </a:solidFill>
              </a:rPr>
              <a:t>undefined</a:t>
            </a:r>
            <a:r>
              <a:rPr sz="2000" b="0">
                <a:solidFill>
                  <a:srgbClr val="1F2D3A"/>
                </a:solidFill>
              </a:rPr>
              <a:t> (overflow)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atoi("12abc")</a:t>
            </a:r>
            <a:r>
              <a:rPr sz="2000" b="0">
                <a:solidFill>
                  <a:srgbClr val="1F2D3A"/>
                </a:solidFill>
              </a:rPr>
              <a:t> = 12 (the extra characters are ignored)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54808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strtol</a:t>
            </a:r>
            <a:r>
              <a:rPr sz="2000" b="0">
                <a:solidFill>
                  <a:srgbClr val="1F2D3A"/>
                </a:solidFill>
              </a:rPr>
              <a:t> reports </a:t>
            </a:r>
            <a:r>
              <a:rPr sz="2000" b="1">
                <a:solidFill>
                  <a:srgbClr val="1F2D3A"/>
                </a:solidFill>
              </a:rPr>
              <a:t>every error</a:t>
            </a:r>
            <a:r>
              <a:rPr sz="2000" b="0">
                <a:solidFill>
                  <a:srgbClr val="1F2D3A"/>
                </a:solidFill>
              </a:rPr>
              <a:t> to you; </a:t>
            </a:r>
            <a:r>
              <a:rPr sz="2000" b="0">
                <a:solidFill>
                  <a:srgbClr val="A1123F"/>
                </a:solidFill>
                <a:latin typeface="Consolas"/>
              </a:rPr>
              <a:t>atoi</a:t>
            </a:r>
            <a:r>
              <a:rPr sz="2000" b="0">
                <a:solidFill>
                  <a:srgbClr val="1F2D3A"/>
                </a:solidFill>
              </a:rPr>
              <a:t> does not.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Principle 3 · a Length-Prefixed Record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(remaining &lt; 3) return -1;                     /* not even a header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uint16_t length = buffer[1] &lt;&lt; 8 | buffer[2];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(length &gt; remaining - 3)     return -1;         /* SOURCE: declared &gt; received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(length &gt; sizeof rec-&gt;data)  return -1;         /* DEST: doesn't fit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memcpy(rec-&gt;data, buffer + 3, length);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Two Separate Checks, the Right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Source check:</a:t>
            </a:r>
            <a:r>
              <a:rPr sz="2000" b="0">
                <a:solidFill>
                  <a:srgbClr val="1F2D3A"/>
                </a:solidFill>
              </a:rPr>
              <a:t> is the declared length greater than the data that arrived?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Destination check:</a:t>
            </a:r>
            <a:r>
              <a:rPr sz="2000" b="0">
                <a:solidFill>
                  <a:srgbClr val="1F2D3A"/>
                </a:solidFill>
              </a:rPr>
              <a:t> does it fit in the destination buffer?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Order: </a:t>
            </a:r>
            <a:r>
              <a:rPr sz="2000" b="0">
                <a:solidFill>
                  <a:srgbClr val="A1123F"/>
                </a:solidFill>
                <a:latin typeface="Consolas"/>
              </a:rPr>
              <a:t>remaining &lt; 3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first</a:t>
            </a:r>
            <a:r>
              <a:rPr sz="2000" b="0">
                <a:solidFill>
                  <a:srgbClr val="1F2D3A"/>
                </a:solidFill>
              </a:rPr>
              <a:t>, so </a:t>
            </a:r>
            <a:r>
              <a:rPr sz="2000" b="0">
                <a:solidFill>
                  <a:srgbClr val="A1123F"/>
                </a:solidFill>
                <a:latin typeface="Consolas"/>
              </a:rPr>
              <a:t>remaining - 3</a:t>
            </a:r>
            <a:r>
              <a:rPr sz="2000" b="0">
                <a:solidFill>
                  <a:srgbClr val="1F2D3A"/>
                </a:solidFill>
              </a:rPr>
              <a:t> does not wrap.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 the field: every array coming from JNI is </a:t>
            </a:r>
            <a:r>
              <a:rPr sz="2000" b="1">
                <a:solidFill>
                  <a:srgbClr val="1F2D3A"/>
                </a:solidFill>
              </a:rPr>
              <a:t>re-validated</a:t>
            </a:r>
            <a:r>
              <a:rPr sz="2000" b="0">
                <a:solidFill>
                  <a:srgbClr val="1F2D3A"/>
                </a:solidFill>
              </a:rPr>
              <a:t> on the native side.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CERT Pair · STR31-C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strcpy(copy, name);                               /* WRONG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n = snprintf(copy, sizeof copy, "%s", name);  /* COMPLIANT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(n &lt; 0 || (size_t)n &gt;= sizeof copy) { /* truncated */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68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strcpy</a:t>
            </a:r>
            <a:r>
              <a:rPr sz="2000" b="0">
                <a:solidFill>
                  <a:srgbClr val="1F2D3A"/>
                </a:solidFill>
              </a:rPr>
              <a:t> does not know bounds; </a:t>
            </a:r>
            <a:r>
              <a:rPr sz="2000" b="0">
                <a:solidFill>
                  <a:srgbClr val="A1123F"/>
                </a:solidFill>
                <a:latin typeface="Consolas"/>
              </a:rPr>
              <a:t>snprintf</a:t>
            </a:r>
            <a:r>
              <a:rPr sz="2000" b="0">
                <a:solidFill>
                  <a:srgbClr val="1F2D3A"/>
                </a:solidFill>
              </a:rPr>
              <a:t> knows the size and reports </a:t>
            </a:r>
            <a:r>
              <a:rPr sz="2000" b="1">
                <a:solidFill>
                  <a:srgbClr val="1F2D3A"/>
                </a:solidFill>
              </a:rPr>
              <a:t>truncation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CERT Pair · INT30-C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size_t remaining = total - read_count;  /* WRONG: read_count&gt;total → huge number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(read_count &gt; total) return ERROR;   /* COMPLIANT: check order first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size_t remaining = total - read_count;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68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Unsigned subtraction </a:t>
            </a:r>
            <a:r>
              <a:rPr sz="2000" b="1">
                <a:solidFill>
                  <a:srgbClr val="1F2D3A"/>
                </a:solidFill>
              </a:rPr>
              <a:t>wraps</a:t>
            </a:r>
            <a:r>
              <a:rPr sz="2000" b="0">
                <a:solidFill>
                  <a:srgbClr val="1F2D3A"/>
                </a:solidFill>
              </a:rPr>
              <a:t>; check the logic first.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CERT Pair · MEM30-C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(n = head; n; n = n-&gt;next) free(n);              /* WRONG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while (n) { Node *s = n-&gt;next; free(n); n = s; }      /* COMPLIANT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Reading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n-&gt;next</a:t>
            </a:r>
            <a:r>
              <a:rPr sz="2000" b="0">
                <a:solidFill>
                  <a:srgbClr val="1F2D3A"/>
                </a:solidFill>
              </a:rPr>
              <a:t> after 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free(n)</a:t>
            </a:r>
            <a:r>
              <a:rPr sz="2000" b="0">
                <a:solidFill>
                  <a:srgbClr val="1F2D3A"/>
                </a:solidFill>
              </a:rPr>
              <a:t> = accessing freed memory.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CERT Pair · ERR33-C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FILE *f = fopen(path,"rb"); fread(t,1,n,f);        /* WRONG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(!f) return ERROR;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(fread(t,1,n,f) &lt; n &amp;&amp; ferror(f)) return ERROR; /* COMPLIANT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68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Check </a:t>
            </a:r>
            <a:r>
              <a:rPr sz="2000" b="1">
                <a:solidFill>
                  <a:srgbClr val="1F2D3A"/>
                </a:solidFill>
              </a:rPr>
              <a:t>every</a:t>
            </a:r>
            <a:r>
              <a:rPr sz="2000" b="0">
                <a:solidFill>
                  <a:srgbClr val="1F2D3A"/>
                </a:solidFill>
              </a:rPr>
              <a:t> return value; </a:t>
            </a:r>
            <a:r>
              <a:rPr sz="2000" b="0">
                <a:solidFill>
                  <a:srgbClr val="A1123F"/>
                </a:solidFill>
                <a:latin typeface="Consolas"/>
              </a:rPr>
              <a:t>fopen</a:t>
            </a:r>
            <a:r>
              <a:rPr sz="2000" b="0">
                <a:solidFill>
                  <a:srgbClr val="1F2D3A"/>
                </a:solidFill>
              </a:rPr>
              <a:t> can return NULL.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Rule: Tie the Finding to an Identifier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Match every finding to a CERT identifier: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"This line is a MEM30-C violation (CWE-416)."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8978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This makes the finding </a:t>
            </a:r>
            <a:r>
              <a:rPr sz="2000" b="1">
                <a:solidFill>
                  <a:srgbClr val="1F2D3A"/>
                </a:solidFill>
              </a:rPr>
              <a:t>objective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1">
                <a:solidFill>
                  <a:srgbClr val="1F2D3A"/>
                </a:solidFill>
              </a:rPr>
              <a:t>searchable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1 — Quick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The three layers, and the right order?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Difference between a rule and a recommendation?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Why is </a:t>
            </a:r>
            <a:r>
              <a:rPr sz="2000" b="0">
                <a:solidFill>
                  <a:srgbClr val="A1123F"/>
                </a:solidFill>
                <a:latin typeface="Consolas"/>
              </a:rPr>
              <a:t>atoi</a:t>
            </a:r>
            <a:r>
              <a:rPr sz="2000" b="0">
                <a:solidFill>
                  <a:srgbClr val="1F2D3A"/>
                </a:solidFill>
              </a:rPr>
              <a:t> more dangerous than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strtol</a:t>
            </a:r>
            <a:r>
              <a:rPr sz="2000" b="0">
                <a:solidFill>
                  <a:srgbClr val="1F2D3A"/>
                </a:solidFill>
              </a:rPr>
              <a:t>?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1 —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Order:</a:t>
            </a:r>
            <a:r>
              <a:rPr sz="2000" b="0">
                <a:solidFill>
                  <a:srgbClr val="1F2D3A"/>
                </a:solidFill>
              </a:rPr>
              <a:t> secure code (source) → </a:t>
            </a:r>
            <a:r>
              <a:rPr sz="2000" b="1">
                <a:solidFill>
                  <a:srgbClr val="1F2D3A"/>
                </a:solidFill>
              </a:rPr>
              <a:t>compiler/tool</a:t>
            </a:r>
            <a:r>
              <a:rPr sz="2000" b="0">
                <a:solidFill>
                  <a:srgbClr val="1F2D3A"/>
                </a:solidFill>
              </a:rPr>
              <a:t> protections → </a:t>
            </a:r>
            <a:r>
              <a:rPr sz="2000" b="1">
                <a:solidFill>
                  <a:srgbClr val="1F2D3A"/>
                </a:solidFill>
              </a:rPr>
              <a:t>OS/runtime</a:t>
            </a:r>
            <a:r>
              <a:rPr sz="2000" b="0">
                <a:solidFill>
                  <a:srgbClr val="1F2D3A"/>
                </a:solidFill>
              </a:rPr>
              <a:t> protections. First write it correctly, then harden it, then defend it at runtime.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A </a:t>
            </a:r>
            <a:r>
              <a:rPr sz="2000" b="1">
                <a:solidFill>
                  <a:srgbClr val="1F2D3A"/>
                </a:solidFill>
              </a:rPr>
              <a:t>rule</a:t>
            </a:r>
            <a:r>
              <a:rPr sz="2000" b="0">
                <a:solidFill>
                  <a:srgbClr val="1F2D3A"/>
                </a:solidFill>
              </a:rPr>
              <a:t> always applies, and violating it is a defect; a </a:t>
            </a:r>
            <a:r>
              <a:rPr sz="2000" b="1">
                <a:solidFill>
                  <a:srgbClr val="1F2D3A"/>
                </a:solidFill>
              </a:rPr>
              <a:t>recommendation</a:t>
            </a:r>
            <a:r>
              <a:rPr sz="2000" b="0">
                <a:solidFill>
                  <a:srgbClr val="1F2D3A"/>
                </a:solidFill>
              </a:rPr>
              <a:t> is good practice depending on context.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A1123F"/>
                </a:solidFill>
                <a:latin typeface="Consolas"/>
              </a:rPr>
              <a:t>atoi</a:t>
            </a:r>
            <a:r>
              <a:rPr sz="2000" b="0">
                <a:solidFill>
                  <a:srgbClr val="1F2D3A"/>
                </a:solidFill>
              </a:rPr>
              <a:t> does </a:t>
            </a:r>
            <a:r>
              <a:rPr sz="2000" b="1">
                <a:solidFill>
                  <a:srgbClr val="1F2D3A"/>
                </a:solidFill>
              </a:rPr>
              <a:t>not report</a:t>
            </a:r>
            <a:r>
              <a:rPr sz="2000" b="0">
                <a:solidFill>
                  <a:srgbClr val="1F2D3A"/>
                </a:solidFill>
              </a:rPr>
              <a:t> errors (undefined/0 on overflow/invalid input);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strtol</a:t>
            </a:r>
            <a:r>
              <a:rPr sz="2000" b="0">
                <a:solidFill>
                  <a:srgbClr val="1F2D3A"/>
                </a:solidFill>
              </a:rPr>
              <a:t> lets you check </a:t>
            </a:r>
            <a:r>
              <a:rPr sz="2000" b="1">
                <a:solidFill>
                  <a:srgbClr val="1F2D3A"/>
                </a:solidFill>
              </a:rPr>
              <a:t>both the error and the bound</a:t>
            </a:r>
            <a:r>
              <a:rPr sz="2000" b="0">
                <a:solidFill>
                  <a:srgbClr val="1F2D3A"/>
                </a:solidFill>
              </a:rPr>
              <a:t> via </a:t>
            </a:r>
            <a:r>
              <a:rPr sz="2000" b="0">
                <a:solidFill>
                  <a:srgbClr val="A1123F"/>
                </a:solidFill>
                <a:latin typeface="Consolas"/>
              </a:rPr>
              <a:t>endptr</a:t>
            </a:r>
            <a:r>
              <a:rPr sz="2000" b="0">
                <a:solidFill>
                  <a:srgbClr val="1F2D3A"/>
                </a:solidFill>
              </a:rPr>
              <a:t>+</a:t>
            </a:r>
            <a:r>
              <a:rPr sz="2000" b="0">
                <a:solidFill>
                  <a:srgbClr val="A1123F"/>
                </a:solidFill>
                <a:latin typeface="Consolas"/>
              </a:rPr>
              <a:t>ERANGE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2. Format String Vulnerability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Format String Vulnerability — Diagram</a:t>
            </a:r>
          </a:p>
        </p:txBody>
      </p:sp>
      <p:pic>
        <p:nvPicPr>
          <p:cNvPr id="7" name="Picture 6" descr="h04-07-bicim-dizi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545887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Problem · </a:t>
            </a:r>
            <a:r>
              <a:rPr sz="3000" b="1">
                <a:solidFill>
                  <a:srgbClr val="006D77"/>
                </a:solidFill>
                <a:latin typeface="Consolas"/>
              </a:rPr>
              <a:t>printf(input)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printf(user_input);        /* WRONG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printf("%s", user_input);  /* CORRECT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In the first case, user input is interpreted as a </a:t>
            </a:r>
            <a:r>
              <a:rPr sz="2000" b="1">
                <a:solidFill>
                  <a:srgbClr val="1F2D3A"/>
                </a:solidFill>
              </a:rPr>
              <a:t>format string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Is It Dangerous?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printf</a:t>
            </a:r>
            <a:r>
              <a:rPr sz="2000" b="0">
                <a:solidFill>
                  <a:srgbClr val="1F2D3A"/>
                </a:solidFill>
              </a:rPr>
              <a:t> treats the </a:t>
            </a:r>
            <a:r>
              <a:rPr sz="2000" b="0">
                <a:solidFill>
                  <a:srgbClr val="A1123F"/>
                </a:solidFill>
                <a:latin typeface="Consolas"/>
              </a:rPr>
              <a:t>%</a:t>
            </a:r>
            <a:r>
              <a:rPr sz="2000" b="0">
                <a:solidFill>
                  <a:srgbClr val="1F2D3A"/>
                </a:solidFill>
              </a:rPr>
              <a:t> markers in the format string as a </a:t>
            </a:r>
            <a:r>
              <a:rPr sz="2000" b="1">
                <a:solidFill>
                  <a:srgbClr val="1F2D3A"/>
                </a:solidFill>
              </a:rPr>
              <a:t>command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If the user supplies </a:t>
            </a:r>
            <a:r>
              <a:rPr sz="2000" b="0">
                <a:solidFill>
                  <a:srgbClr val="A1123F"/>
                </a:solidFill>
                <a:latin typeface="Consolas"/>
              </a:rPr>
              <a:t>%x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%s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%n</a:t>
            </a:r>
            <a:r>
              <a:rPr sz="2000" b="0">
                <a:solidFill>
                  <a:srgbClr val="1F2D3A"/>
                </a:solidFill>
              </a:rPr>
              <a:t>, they make the program do work.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Brief History · Format String Bugs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55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1999–2000</a:t>
            </a:r>
            <a:r>
              <a:rPr sz="2000" b="0">
                <a:solidFill>
                  <a:srgbClr val="1F2D3A"/>
                </a:solidFill>
              </a:rPr>
              <a:t> — real vulnerabilities in widely used FTP servers like </a:t>
            </a:r>
            <a:r>
              <a:rPr sz="2000" b="1">
                <a:solidFill>
                  <a:srgbClr val="1F2D3A"/>
                </a:solidFill>
              </a:rPr>
              <a:t>wu-ftpd</a:t>
            </a:r>
            <a:r>
              <a:rPr sz="2000" b="0">
                <a:solidFill>
                  <a:srgbClr val="1F2D3A"/>
                </a:solidFill>
              </a:rPr>
              <a:t> brought this bug class to wide attention.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Attackers used user data that leaked into logging calls as a format string to leak information, even achieve remote code execution.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Lesson: a "harmless-looking" marker like </a:t>
            </a:r>
            <a:r>
              <a:rPr sz="2000" b="0">
                <a:solidFill>
                  <a:srgbClr val="A1123F"/>
                </a:solidFill>
                <a:latin typeface="Consolas"/>
              </a:rPr>
              <a:t>%n</a:t>
            </a:r>
            <a:r>
              <a:rPr sz="2000" b="0">
                <a:solidFill>
                  <a:srgbClr val="1F2D3A"/>
                </a:solidFill>
              </a:rPr>
              <a:t> is actually a </a:t>
            </a:r>
            <a:r>
              <a:rPr sz="2000" b="1">
                <a:solidFill>
                  <a:srgbClr val="1F2D3A"/>
                </a:solidFill>
              </a:rPr>
              <a:t>write primitive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Response: </a:t>
            </a:r>
            <a:r>
              <a:rPr sz="2000" b="0">
                <a:solidFill>
                  <a:srgbClr val="A1123F"/>
                </a:solidFill>
                <a:latin typeface="Consolas"/>
              </a:rPr>
              <a:t>-Wformat-security</a:t>
            </a:r>
            <a:r>
              <a:rPr sz="2000" b="0">
                <a:solidFill>
                  <a:srgbClr val="1F2D3A"/>
                </a:solidFill>
              </a:rPr>
              <a:t> at compile time, </a:t>
            </a:r>
            <a:r>
              <a:rPr sz="2000" b="0">
                <a:solidFill>
                  <a:srgbClr val="A1123F"/>
                </a:solidFill>
                <a:latin typeface="Consolas"/>
              </a:rPr>
              <a:t>_FORTIFY_SOURCE</a:t>
            </a:r>
            <a:r>
              <a:rPr sz="2000" b="0">
                <a:solidFill>
                  <a:srgbClr val="1F2D3A"/>
                </a:solidFill>
              </a:rPr>
              <a:t> at run time.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Marker · </a:t>
            </a:r>
            <a:r>
              <a:rPr sz="3000" b="1">
                <a:solidFill>
                  <a:srgbClr val="006D77"/>
                </a:solidFill>
                <a:latin typeface="Consolas"/>
              </a:rPr>
              <a:t>%x</a:t>
            </a:r>
            <a:r>
              <a:rPr sz="3000" b="1">
                <a:solidFill>
                  <a:srgbClr val="006D77"/>
                </a:solidFill>
              </a:rPr>
              <a:t>, </a:t>
            </a:r>
            <a:r>
              <a:rPr sz="3000" b="1">
                <a:solidFill>
                  <a:srgbClr val="006D77"/>
                </a:solidFill>
                <a:latin typeface="Consolas"/>
              </a:rPr>
              <a:t>%p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Reads</a:t>
            </a:r>
            <a:r>
              <a:rPr sz="2000" b="0">
                <a:solidFill>
                  <a:srgbClr val="1F2D3A"/>
                </a:solidFill>
              </a:rPr>
              <a:t> values off the stack and prints them.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→ </a:t>
            </a:r>
            <a:r>
              <a:rPr sz="2000" b="1">
                <a:solidFill>
                  <a:srgbClr val="1F2D3A"/>
                </a:solidFill>
              </a:rPr>
              <a:t>information leak</a:t>
            </a:r>
            <a:r>
              <a:rPr sz="2000" b="0">
                <a:solidFill>
                  <a:srgbClr val="1F2D3A"/>
                </a:solidFill>
              </a:rPr>
              <a:t> (addresses, secret values).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Weakens ASLR (if an address leaks).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Marker · </a:t>
            </a:r>
            <a:r>
              <a:rPr sz="3000" b="1">
                <a:solidFill>
                  <a:srgbClr val="006D77"/>
                </a:solidFill>
                <a:latin typeface="Consolas"/>
              </a:rPr>
              <a:t>%s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Treats a value on the stack as a </a:t>
            </a:r>
            <a:r>
              <a:rPr sz="2000" b="1">
                <a:solidFill>
                  <a:srgbClr val="1F2D3A"/>
                </a:solidFill>
              </a:rPr>
              <a:t>pointer</a:t>
            </a:r>
            <a:r>
              <a:rPr sz="2000" b="0">
                <a:solidFill>
                  <a:srgbClr val="1F2D3A"/>
                </a:solidFill>
              </a:rPr>
              <a:t> and reads the string at that address.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Random address → crash or memory read.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Marker · </a:t>
            </a:r>
            <a:r>
              <a:rPr sz="3000" b="1">
                <a:solidFill>
                  <a:srgbClr val="006D77"/>
                </a:solidFill>
                <a:latin typeface="Consolas"/>
              </a:rPr>
              <a:t>%n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Writes</a:t>
            </a:r>
            <a:r>
              <a:rPr sz="2000" b="0">
                <a:solidFill>
                  <a:srgbClr val="1F2D3A"/>
                </a:solidFill>
              </a:rPr>
              <a:t> the number of characters printed so far to an address.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→ </a:t>
            </a:r>
            <a:r>
              <a:rPr sz="2000" b="1">
                <a:solidFill>
                  <a:srgbClr val="1F2D3A"/>
                </a:solidFill>
              </a:rPr>
              <a:t>writes to memory</a:t>
            </a:r>
            <a:r>
              <a:rPr sz="2000" b="0">
                <a:solidFill>
                  <a:srgbClr val="1F2D3A"/>
                </a:solidFill>
              </a:rPr>
              <a:t> → corruption, hijacking control.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most dangerous one.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Same Bug Elsewhere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Not just </a:t>
            </a:r>
            <a:r>
              <a:rPr sz="2000" b="0">
                <a:solidFill>
                  <a:srgbClr val="A1123F"/>
                </a:solidFill>
                <a:latin typeface="Consolas"/>
              </a:rPr>
              <a:t>printf</a:t>
            </a:r>
            <a:r>
              <a:rPr sz="2000" b="0">
                <a:solidFill>
                  <a:srgbClr val="1F2D3A"/>
                </a:solidFill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syslog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fprintf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snprintf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err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warn</a:t>
            </a:r>
            <a:r>
              <a:rPr sz="2000" b="0">
                <a:solidFill>
                  <a:srgbClr val="1F2D3A"/>
                </a:solidFill>
              </a:rPr>
              <a:t> — they all take a format string.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Rule: the format string is </a:t>
            </a:r>
            <a:r>
              <a:rPr sz="2000" b="1">
                <a:solidFill>
                  <a:srgbClr val="1F2D3A"/>
                </a:solidFill>
              </a:rPr>
              <a:t>always constant</a:t>
            </a:r>
            <a:r>
              <a:rPr sz="2000" b="0">
                <a:solidFill>
                  <a:srgbClr val="1F2D3A"/>
                </a:solidFill>
              </a:rPr>
              <a:t> (FIO30-C).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Demo 1 — Format String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A1123F"/>
                </a:solidFill>
                <a:latin typeface="Consolas"/>
              </a:rPr>
              <a:t>code/week-04/01-format-string</a:t>
            </a:r>
            <a:r>
              <a:rPr sz="1800" b="0">
                <a:solidFill>
                  <a:srgbClr val="1F2D3A"/>
                </a:solidFill>
              </a:rPr>
              <a:t> · CWE-134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42515"/>
          <a:ext cx="10911534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3689"/>
                <a:gridCol w="8977845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Step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What Is Seen?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GCC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-Wformat-security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warns; MSVC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/analyze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catches it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%x.%x…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The stack is dumped, the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secret (synthetic) value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appears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AAAA%n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Unprotected Linux crashes; Windows CRT rejects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%n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_FORTIFY_SOURCE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: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%n in writable segment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Markers appear only as text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Animation — %x scans the stack</a:t>
            </a:r>
          </a:p>
        </p:txBody>
      </p:sp>
      <p:pic>
        <p:nvPicPr>
          <p:cNvPr id="7" name="Picture 6" descr="format-string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740283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Animation — Edge Case: What </a:t>
            </a:r>
            <a:r>
              <a:rPr sz="3000" b="1">
                <a:solidFill>
                  <a:srgbClr val="006D77"/>
                </a:solidFill>
                <a:latin typeface="Consolas"/>
              </a:rPr>
              <a:t>%n</a:t>
            </a:r>
            <a:r>
              <a:rPr sz="3000" b="1">
                <a:solidFill>
                  <a:srgbClr val="006D77"/>
                </a:solidFill>
              </a:rPr>
              <a:t> Would Do Next</a:t>
            </a:r>
          </a:p>
        </p:txBody>
      </p:sp>
      <p:pic>
        <p:nvPicPr>
          <p:cNvPr id="7" name="Picture 6" descr="format-string--percent-n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881034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Fix · Layer by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The format string is always </a:t>
            </a:r>
            <a:r>
              <a:rPr sz="2000" b="1">
                <a:solidFill>
                  <a:srgbClr val="1F2D3A"/>
                </a:solidFill>
              </a:rPr>
              <a:t>constant</a:t>
            </a:r>
            <a:r>
              <a:rPr sz="2000" b="0">
                <a:solidFill>
                  <a:srgbClr val="1F2D3A"/>
                </a:solidFill>
              </a:rPr>
              <a:t> (FIO30-C).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Warning: </a:t>
            </a:r>
            <a:r>
              <a:rPr sz="2000" b="0">
                <a:solidFill>
                  <a:srgbClr val="A1123F"/>
                </a:solidFill>
                <a:latin typeface="Consolas"/>
              </a:rPr>
              <a:t>-Wformat -Wformat-security -Werror=format-security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Have the compiler </a:t>
            </a:r>
            <a:r>
              <a:rPr sz="2000" b="1">
                <a:solidFill>
                  <a:srgbClr val="1F2D3A"/>
                </a:solidFill>
              </a:rPr>
              <a:t>check</a:t>
            </a:r>
            <a:r>
              <a:rPr sz="2000" b="0">
                <a:solidFill>
                  <a:srgbClr val="1F2D3A"/>
                </a:solidFill>
              </a:rPr>
              <a:t> your own function too: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54808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gunluk_yaz(int duzey, const char *bicim, ...)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__attribute__((format(printf, 2, 3)));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16808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Runtime: </a:t>
            </a:r>
            <a:r>
              <a:rPr sz="2000" b="0">
                <a:solidFill>
                  <a:srgbClr val="A1123F"/>
                </a:solidFill>
                <a:latin typeface="Consolas"/>
              </a:rPr>
              <a:t>_FORTIFY_SOURCE=2</a:t>
            </a:r>
            <a:r>
              <a:rPr sz="2000" b="0">
                <a:solidFill>
                  <a:srgbClr val="1F2D3A"/>
                </a:solidFill>
              </a:rPr>
              <a:t>; MS CRT has </a:t>
            </a:r>
            <a:r>
              <a:rPr sz="2000" b="0">
                <a:solidFill>
                  <a:srgbClr val="A1123F"/>
                </a:solidFill>
                <a:latin typeface="Consolas"/>
              </a:rPr>
              <a:t>%n</a:t>
            </a:r>
            <a:r>
              <a:rPr sz="2000" b="0">
                <a:solidFill>
                  <a:srgbClr val="1F2D3A"/>
                </a:solidFill>
              </a:rPr>
              <a:t> disabled.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3. Memory: Use-After-Free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Stack and Heap — Diagram</a:t>
            </a:r>
          </a:p>
        </p:txBody>
      </p:sp>
      <p:pic>
        <p:nvPicPr>
          <p:cNvPr id="7" name="Picture 6" descr="h04-13-yigin-obe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365" y="1325880"/>
            <a:ext cx="10508965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Use-After-Free — Diagram</a:t>
            </a:r>
          </a:p>
        </p:txBody>
      </p:sp>
      <p:pic>
        <p:nvPicPr>
          <p:cNvPr id="7" name="Picture 6" descr="h04-08-u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895138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Is UAF? · 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 object is on the heap.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Two pointers</a:t>
            </a:r>
            <a:r>
              <a:rPr sz="2000" b="0">
                <a:solidFill>
                  <a:srgbClr val="1F2D3A"/>
                </a:solidFill>
              </a:rPr>
              <a:t> point to the same object.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UAF · Step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One of them 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</a:t>
            </a:r>
            <a:r>
              <a:rPr sz="2000" b="0">
                <a:solidFill>
                  <a:srgbClr val="1F2D3A"/>
                </a:solidFill>
              </a:rPr>
              <a:t>s it.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other still holds that address → a </a:t>
            </a:r>
            <a:r>
              <a:rPr sz="2000" b="1">
                <a:solidFill>
                  <a:srgbClr val="1F2D3A"/>
                </a:solidFill>
              </a:rPr>
              <a:t>dangling</a:t>
            </a:r>
            <a:r>
              <a:rPr sz="2000" b="0">
                <a:solidFill>
                  <a:srgbClr val="1F2D3A"/>
                </a:solidFill>
              </a:rPr>
              <a:t> pointer.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UAF · Step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allocator gives the same block to </a:t>
            </a:r>
            <a:r>
              <a:rPr sz="2000" b="1">
                <a:solidFill>
                  <a:srgbClr val="1F2D3A"/>
                </a:solidFill>
              </a:rPr>
              <a:t>another object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dangling pointer now reads/writes </a:t>
            </a:r>
            <a:r>
              <a:rPr sz="2000" b="1">
                <a:solidFill>
                  <a:srgbClr val="1F2D3A"/>
                </a:solidFill>
              </a:rPr>
              <a:t>foreign data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the object has a </a:t>
            </a:r>
            <a:r>
              <a:rPr sz="2000" b="1">
                <a:solidFill>
                  <a:srgbClr val="1F2D3A"/>
                </a:solidFill>
              </a:rPr>
              <a:t>function pointer</a:t>
            </a:r>
            <a:r>
              <a:rPr sz="2000" b="0">
                <a:solidFill>
                  <a:srgbClr val="1F2D3A"/>
                </a:solidFill>
              </a:rPr>
              <a:t> (C++ virtual table), the risk grows.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Is UAF So Common?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Most of the "memory corruption fixed" notes in browser/OS updates fall into this class.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Complex ownership → a dangling pointer.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Demo 2 — UAF and Double Free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A1123F"/>
                </a:solidFill>
                <a:latin typeface="Consolas"/>
              </a:rPr>
              <a:t>code/week-04/02-use-after-free</a:t>
            </a:r>
            <a:r>
              <a:rPr sz="1800" b="0">
                <a:solidFill>
                  <a:srgbClr val="1F2D3A"/>
                </a:solidFill>
              </a:rPr>
              <a:t> · CWE-416/415 · MEM30-C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42515"/>
          <a:ext cx="10911534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8697"/>
                <a:gridCol w="9232837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Step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What Is Seen?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The freed block gets reused → role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user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→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admin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 ASan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heap-use-after-free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+ locations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Double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free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→ undefined behaviour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 ASan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attempting double-free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free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+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NULL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single owner → safe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Animation — a small heap</a:t>
            </a:r>
          </a:p>
        </p:txBody>
      </p:sp>
      <p:pic>
        <p:nvPicPr>
          <p:cNvPr id="7" name="Picture 6" descr="use-after-fre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591489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Animation — Edge Case: Double Free</a:t>
            </a:r>
          </a:p>
        </p:txBody>
      </p:sp>
      <p:pic>
        <p:nvPicPr>
          <p:cNvPr id="7" name="Picture 6" descr="use-after-free--double-fre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727883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ASan Report · Three Stack Traces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ERROR: heap-use-after-free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#0 mode_uaf uaf.c:49   &lt;- 1. USE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freed here: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#1 mode_uaf  uaf.c:38   &lt;- 2. FREE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allocated here: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#1 mode_uaf     uaf.c:32   &lt;- 3. ALLOCATION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4378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fix is usually at </a:t>
            </a:r>
            <a:r>
              <a:rPr sz="2000" b="1">
                <a:solidFill>
                  <a:srgbClr val="1F2D3A"/>
                </a:solidFill>
              </a:rPr>
              <a:t>location 2</a:t>
            </a:r>
            <a:r>
              <a:rPr sz="2000" b="0">
                <a:solidFill>
                  <a:srgbClr val="1F2D3A"/>
                </a:solidFill>
              </a:rPr>
              <a:t>: the ownership decision was wrong there.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Fix · the C 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Set the pointer to </a:t>
            </a:r>
            <a:r>
              <a:rPr sz="2000" b="0">
                <a:solidFill>
                  <a:srgbClr val="A1123F"/>
                </a:solidFill>
                <a:latin typeface="Consolas"/>
              </a:rPr>
              <a:t>NULL</a:t>
            </a:r>
            <a:r>
              <a:rPr sz="2000" b="0">
                <a:solidFill>
                  <a:srgbClr val="1F2D3A"/>
                </a:solidFill>
              </a:rPr>
              <a:t> after 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Establish a </a:t>
            </a:r>
            <a:r>
              <a:rPr sz="2000" b="1">
                <a:solidFill>
                  <a:srgbClr val="1F2D3A"/>
                </a:solidFill>
              </a:rPr>
              <a:t>single owner</a:t>
            </a:r>
            <a:r>
              <a:rPr sz="2000" b="0">
                <a:solidFill>
                  <a:srgbClr val="1F2D3A"/>
                </a:solidFill>
              </a:rPr>
              <a:t>, a single release point.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Write down the ownership rule: "who releases this memory?"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Fix · C++ Smart Pointers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365957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8331"/>
                <a:gridCol w="5637626"/>
              </a:tblGrid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Need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C++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Single owner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std::unique_ptr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Shared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std::shared_ptr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Non-owning observation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std::weak_ptr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→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lock()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3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Array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std::vector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std::array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3191256"/>
            <a:ext cx="10911535" cy="44439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if (auto o = cache.lock()) use(*o);  // otherwise stale memory is never accessed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5382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⚠️ </a:t>
            </a:r>
            <a:r>
              <a:rPr sz="1800" b="0">
                <a:solidFill>
                  <a:srgbClr val="A1123F"/>
                </a:solidFill>
                <a:latin typeface="Consolas"/>
              </a:rPr>
              <a:t>get()</a:t>
            </a:r>
            <a:r>
              <a:rPr sz="1800" b="0">
                <a:solidFill>
                  <a:srgbClr val="1F2D3A"/>
                </a:solidFill>
              </a:rPr>
              <a:t> is a raw pointer; when a </a:t>
            </a:r>
            <a:r>
              <a:rPr sz="1800" b="0">
                <a:solidFill>
                  <a:srgbClr val="A1123F"/>
                </a:solidFill>
                <a:latin typeface="Consolas"/>
              </a:rPr>
              <a:t>vector</a:t>
            </a:r>
            <a:r>
              <a:rPr sz="1800" b="0">
                <a:solidFill>
                  <a:srgbClr val="1F2D3A"/>
                </a:solidFill>
              </a:rPr>
              <a:t> grows, its iterators are invalidated.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69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Integers and UB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Integer Overflow — Diagram</a:t>
            </a:r>
          </a:p>
        </p:txBody>
      </p:sp>
      <p:pic>
        <p:nvPicPr>
          <p:cNvPr id="7" name="Picture 6" descr="h04-09-tamsay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900233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Four Integer Bugs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0666"/>
                <a:gridCol w="4492985"/>
                <a:gridCol w="2727883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Bug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Example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Unsigned wraparound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0u - 1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= 4,294,967,295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Logic error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Signed overflow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INT_MAX + 1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Undefined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Conversion loss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long long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→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int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Truncation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Shift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1 &lt;&lt; 31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Undefined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Does It Matter? · Multiplication Overflow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uint32_t size = count * 4;   /* count = 0x40000001 → size = 4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array = malloc(size);        /* small block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loop writes `count` times → heap overflow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68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Writing too much into a small allocated block = an overflow.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UB · the Compiler Can Delete the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Undefined behaviour (UB):</a:t>
            </a:r>
            <a:r>
              <a:rPr sz="2000" b="0">
                <a:solidFill>
                  <a:srgbClr val="1F2D3A"/>
                </a:solidFill>
              </a:rPr>
              <a:t> an operation whose result the C/C++ standard does not define (e.g., signed integer overflow).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05736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(x + 100 &lt; x)   /* assumes "if it overflows, it gets smaller"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-1;     /* signed overflow is UB → the compiler MAY DELETE this branch */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677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 "works" at </a:t>
            </a:r>
            <a:r>
              <a:rPr sz="2000" b="0">
                <a:solidFill>
                  <a:srgbClr val="A1123F"/>
                </a:solidFill>
                <a:latin typeface="Consolas"/>
              </a:rPr>
              <a:t>-O0</a:t>
            </a:r>
            <a:r>
              <a:rPr sz="2000" b="0">
                <a:solidFill>
                  <a:srgbClr val="1F2D3A"/>
                </a:solidFill>
              </a:rPr>
              <a:t>, at </a:t>
            </a:r>
            <a:r>
              <a:rPr sz="2000" b="0">
                <a:solidFill>
                  <a:srgbClr val="A1123F"/>
                </a:solidFill>
                <a:latin typeface="Consolas"/>
              </a:rPr>
              <a:t>-O2</a:t>
            </a:r>
            <a:r>
              <a:rPr sz="2000" b="0">
                <a:solidFill>
                  <a:srgbClr val="1F2D3A"/>
                </a:solidFill>
              </a:rPr>
              <a:t> the check </a:t>
            </a:r>
            <a:r>
              <a:rPr sz="2000" b="1">
                <a:solidFill>
                  <a:srgbClr val="1F2D3A"/>
                </a:solidFill>
              </a:rPr>
              <a:t>disappears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UB cannot be relied on.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Correct: Check First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((b &gt; 0 &amp;&amp; a &gt; INT_MAX - b) ||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(b &lt; 0 &amp;&amp; a &lt; INT_MIN - b)) return false;   /* before the overflow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(__builtin_mul_overflow(a, b, &amp;result)) return false;  /* GCC/Clang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C23: &lt;stdckdint.h&gt; ckd_add/ckd_mul · MSVC: &lt;intsafe.h&gt;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58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Catch the overflow </a:t>
            </a:r>
            <a:r>
              <a:rPr sz="2000" b="1">
                <a:solidFill>
                  <a:srgbClr val="1F2D3A"/>
                </a:solidFill>
              </a:rPr>
              <a:t>before it happens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Demo 3 — UB and UBSan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A1123F"/>
                </a:solidFill>
                <a:latin typeface="Consolas"/>
              </a:rPr>
              <a:t>code/week-04/03-undefined-behavior</a:t>
            </a:r>
            <a:r>
              <a:rPr sz="1800" b="0">
                <a:solidFill>
                  <a:srgbClr val="1F2D3A"/>
                </a:solidFill>
              </a:rPr>
              <a:t> · CWE-190/758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42515"/>
            <a:ext cx="10911535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Signed overflow, invalid shift, misaligned access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On x86, most produce a wrong result </a:t>
            </a:r>
            <a:r>
              <a:rPr sz="1800" b="1">
                <a:solidFill>
                  <a:srgbClr val="1F2D3A"/>
                </a:solidFill>
              </a:rPr>
              <a:t>silently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A1123F"/>
                </a:solidFill>
                <a:latin typeface="Consolas"/>
              </a:rPr>
              <a:t>-fsanitize=undefined</a:t>
            </a:r>
            <a:r>
              <a:rPr sz="1800" b="0">
                <a:solidFill>
                  <a:srgbClr val="1F2D3A"/>
                </a:solidFill>
              </a:rPr>
              <a:t> → </a:t>
            </a:r>
            <a:r>
              <a:rPr sz="1800" b="0">
                <a:solidFill>
                  <a:srgbClr val="A1123F"/>
                </a:solidFill>
                <a:latin typeface="Consolas"/>
              </a:rPr>
              <a:t>signed integer overflow: 2147483647 + 1 ...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Windows: no UBSan → </a:t>
            </a:r>
            <a:r>
              <a:rPr sz="1800" b="0">
                <a:solidFill>
                  <a:srgbClr val="A1123F"/>
                </a:solidFill>
                <a:latin typeface="Consolas"/>
              </a:rPr>
              <a:t>/RTC</a:t>
            </a:r>
            <a:r>
              <a:rPr sz="1800" b="0">
                <a:solidFill>
                  <a:srgbClr val="1F2D3A"/>
                </a:solidFill>
              </a:rPr>
              <a:t>, </a:t>
            </a:r>
            <a:r>
              <a:rPr sz="1800" b="0">
                <a:solidFill>
                  <a:srgbClr val="A1123F"/>
                </a:solidFill>
                <a:latin typeface="Consolas"/>
              </a:rPr>
              <a:t>/analyze</a:t>
            </a:r>
            <a:r>
              <a:rPr sz="1800" b="0">
                <a:solidFill>
                  <a:srgbClr val="1F2D3A"/>
                </a:solidFill>
              </a:rPr>
              <a:t>, CERT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15283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⚠️ </a:t>
            </a:r>
            <a:r>
              <a:rPr sz="1800" b="0">
                <a:solidFill>
                  <a:srgbClr val="A1123F"/>
                </a:solidFill>
                <a:latin typeface="Consolas"/>
              </a:rPr>
              <a:t>-fwrapv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1">
                <a:solidFill>
                  <a:srgbClr val="1F2D3A"/>
                </a:solidFill>
              </a:rPr>
              <a:t>hides</a:t>
            </a:r>
            <a:r>
              <a:rPr sz="1800" b="0">
                <a:solidFill>
                  <a:srgbClr val="1F2D3A"/>
                </a:solidFill>
              </a:rPr>
              <a:t> the logic error; do not use it for diagnosis.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Animation — INT_MAX + add</a:t>
            </a:r>
          </a:p>
        </p:txBody>
      </p:sp>
      <p:pic>
        <p:nvPicPr>
          <p:cNvPr id="7" name="Picture 6" descr="integer-overflow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8940" y="1325880"/>
            <a:ext cx="5553814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Animation — Edge Case: the Secure Version Rejects the Same Input</a:t>
            </a:r>
          </a:p>
        </p:txBody>
      </p:sp>
      <p:pic>
        <p:nvPicPr>
          <p:cNvPr id="7" name="Picture 6" descr="integer-overflow--edge-secur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8940" y="1325880"/>
            <a:ext cx="5553814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Error Handling and Signals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Signal Handler — Diagram</a:t>
            </a:r>
          </a:p>
        </p:txBody>
      </p:sp>
      <p:pic>
        <p:nvPicPr>
          <p:cNvPr id="7" name="Picture 6" descr="h04-12-siny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383" y="1325880"/>
            <a:ext cx="10558928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Unchecked Return Value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9812"/>
                <a:gridCol w="6511722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Call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If Not Checked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malloc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Writing to NULL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setresuid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Stays privileged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RAND_bytes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The "random" key is zero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EVP_DecryptFinal_ex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Tampered data is assumed verified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Rules for Error Handling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Check every return value (ERR33-C); </a:t>
            </a:r>
            <a:r>
              <a:rPr sz="2000" b="0">
                <a:solidFill>
                  <a:srgbClr val="A1123F"/>
                </a:solidFill>
                <a:latin typeface="Consolas"/>
              </a:rPr>
              <a:t>[[nodiscard]]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On error, return to a </a:t>
            </a:r>
            <a:r>
              <a:rPr sz="2000" b="1">
                <a:solidFill>
                  <a:srgbClr val="1F2D3A"/>
                </a:solidFill>
              </a:rPr>
              <a:t>safe state</a:t>
            </a:r>
            <a:r>
              <a:rPr sz="2000" b="0">
                <a:solidFill>
                  <a:srgbClr val="1F2D3A"/>
                </a:solidFill>
              </a:rPr>
              <a:t> (</a:t>
            </a:r>
            <a:r>
              <a:rPr sz="2000" b="0">
                <a:solidFill>
                  <a:srgbClr val="A1123F"/>
                </a:solidFill>
                <a:latin typeface="Consolas"/>
              </a:rPr>
              <a:t>goto cleanup</a:t>
            </a:r>
            <a:r>
              <a:rPr sz="2000" b="0">
                <a:solidFill>
                  <a:srgbClr val="1F2D3A"/>
                </a:solidFill>
              </a:rPr>
              <a:t>) — </a:t>
            </a:r>
            <a:r>
              <a:rPr sz="2000" b="1">
                <a:solidFill>
                  <a:srgbClr val="1F2D3A"/>
                </a:solidFill>
              </a:rPr>
              <a:t>fail-closed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The message must not give a hint: "no such user" ≠ "wrong password."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From the Field: Opaque Return Values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Native functions do not return a detailed </a:t>
            </a:r>
            <a:r>
              <a:rPr sz="2000" b="1">
                <a:solidFill>
                  <a:srgbClr val="1F2D3A"/>
                </a:solidFill>
              </a:rPr>
              <a:t>error code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Only success/failure, and even that is </a:t>
            </a:r>
            <a:r>
              <a:rPr sz="2000" b="1">
                <a:solidFill>
                  <a:srgbClr val="1F2D3A"/>
                </a:solidFill>
              </a:rPr>
              <a:t>opaque</a:t>
            </a:r>
            <a:r>
              <a:rPr sz="2000" b="0">
                <a:solidFill>
                  <a:srgbClr val="1F2D3A"/>
                </a:solidFill>
              </a:rPr>
              <a:t> (Week 9).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detailed code = a map for the attacker of "which check you tripped."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separate, secure channel for diagnosis → recorded as a </a:t>
            </a:r>
            <a:r>
              <a:rPr sz="2000" b="1">
                <a:solidFill>
                  <a:srgbClr val="1F2D3A"/>
                </a:solidFill>
              </a:rPr>
              <a:t>trade-off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Signal Handler · Rule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volatile sig_atomic_t stop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void handler(int s){ (void)s; stop = 1; }  /* ONLY a flag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 </a:t>
            </a:r>
            <a:r>
              <a:rPr sz="2000" b="0">
                <a:solidFill>
                  <a:srgbClr val="A1123F"/>
                </a:solidFill>
                <a:latin typeface="Consolas"/>
              </a:rPr>
              <a:t>printf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malloc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</a:t>
            </a:r>
            <a:r>
              <a:rPr sz="2000" b="0">
                <a:solidFill>
                  <a:srgbClr val="1F2D3A"/>
                </a:solidFill>
              </a:rPr>
              <a:t> in the handler (SIG30-C).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 not call functions that are not async-signal-safe.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sigaction()</a:t>
            </a:r>
            <a:r>
              <a:rPr sz="2000" b="0">
                <a:solidFill>
                  <a:srgbClr val="1F2D3A"/>
                </a:solidFill>
              </a:rPr>
              <a:t> instead of </a:t>
            </a:r>
            <a:r>
              <a:rPr sz="2000" b="0">
                <a:solidFill>
                  <a:srgbClr val="A1123F"/>
                </a:solidFill>
                <a:latin typeface="Consolas"/>
              </a:rPr>
              <a:t>signal()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Real Incident: regreSSHion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2024 CVE-2024-6387: the timeout </a:t>
            </a:r>
            <a:r>
              <a:rPr sz="2000" b="1">
                <a:solidFill>
                  <a:srgbClr val="1F2D3A"/>
                </a:solidFill>
              </a:rPr>
              <a:t>signal handler</a:t>
            </a:r>
            <a:r>
              <a:rPr sz="2000" b="0">
                <a:solidFill>
                  <a:srgbClr val="1F2D3A"/>
                </a:solidFill>
              </a:rPr>
              <a:t> called an unsafe logging function.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Result: remote code execution risk.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Lesson: only set a flag inside a handler.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2–3 — Quick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Why is </a:t>
            </a:r>
            <a:r>
              <a:rPr sz="2000" b="0">
                <a:solidFill>
                  <a:srgbClr val="A1123F"/>
                </a:solidFill>
                <a:latin typeface="Consolas"/>
              </a:rPr>
              <a:t>%n</a:t>
            </a:r>
            <a:r>
              <a:rPr sz="2000" b="0">
                <a:solidFill>
                  <a:srgbClr val="1F2D3A"/>
                </a:solidFill>
              </a:rPr>
              <a:t> the most dangerous?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The three traces in a UAF report? Which one gets the fix?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Why can </a:t>
            </a:r>
            <a:r>
              <a:rPr sz="2000" b="0">
                <a:solidFill>
                  <a:srgbClr val="A1123F"/>
                </a:solidFill>
                <a:latin typeface="Consolas"/>
              </a:rPr>
              <a:t>if (x+100 &lt; x)</a:t>
            </a:r>
            <a:r>
              <a:rPr sz="2000" b="0">
                <a:solidFill>
                  <a:srgbClr val="1F2D3A"/>
                </a:solidFill>
              </a:rPr>
              <a:t> be deleted?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Why is there no </a:t>
            </a:r>
            <a:r>
              <a:rPr sz="2000" b="0">
                <a:solidFill>
                  <a:srgbClr val="A1123F"/>
                </a:solidFill>
                <a:latin typeface="Consolas"/>
              </a:rPr>
              <a:t>printf</a:t>
            </a:r>
            <a:r>
              <a:rPr sz="2000" b="0">
                <a:solidFill>
                  <a:srgbClr val="1F2D3A"/>
                </a:solidFill>
              </a:rPr>
              <a:t> in a signal handler?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2–3 —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3246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A1123F"/>
                </a:solidFill>
                <a:latin typeface="Consolas"/>
              </a:rPr>
              <a:t>%n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WRITES</a:t>
            </a:r>
            <a:r>
              <a:rPr sz="2000" b="0">
                <a:solidFill>
                  <a:srgbClr val="1F2D3A"/>
                </a:solidFill>
              </a:rPr>
              <a:t> the number of bytes printed so far </a:t>
            </a:r>
            <a:r>
              <a:rPr sz="2000" b="1">
                <a:solidFill>
                  <a:srgbClr val="1F2D3A"/>
                </a:solidFill>
              </a:rPr>
              <a:t>to memory</a:t>
            </a:r>
            <a:r>
              <a:rPr sz="2000" b="0">
                <a:solidFill>
                  <a:srgbClr val="1F2D3A"/>
                </a:solidFill>
              </a:rPr>
              <a:t> → an attacker can write to an address of their choosing and hijack control flow.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allocated-by · freed-by · use-here.</a:t>
            </a:r>
            <a:r>
              <a:rPr sz="2000" b="0">
                <a:solidFill>
                  <a:srgbClr val="1F2D3A"/>
                </a:solidFill>
              </a:rPr>
              <a:t> The fix is usually </a:t>
            </a:r>
            <a:r>
              <a:rPr sz="2000" b="1">
                <a:solidFill>
                  <a:srgbClr val="1F2D3A"/>
                </a:solidFill>
              </a:rPr>
              <a:t>between freed↔use</a:t>
            </a:r>
            <a:r>
              <a:rPr sz="2000" b="0">
                <a:solidFill>
                  <a:srgbClr val="1F2D3A"/>
                </a:solidFill>
              </a:rPr>
              <a:t>: set the pointer to </a:t>
            </a:r>
            <a:r>
              <a:rPr sz="2000" b="0">
                <a:solidFill>
                  <a:srgbClr val="A1123F"/>
                </a:solidFill>
                <a:latin typeface="Consolas"/>
              </a:rPr>
              <a:t>NULL</a:t>
            </a:r>
            <a:r>
              <a:rPr sz="2000" b="0">
                <a:solidFill>
                  <a:srgbClr val="1F2D3A"/>
                </a:solidFill>
              </a:rPr>
              <a:t> after 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</a:t>
            </a:r>
            <a:r>
              <a:rPr sz="2000" b="0">
                <a:solidFill>
                  <a:srgbClr val="1F2D3A"/>
                </a:solidFill>
              </a:rPr>
              <a:t>, or fix the lifetime.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Signed overflow is </a:t>
            </a:r>
            <a:r>
              <a:rPr sz="2000" b="1">
                <a:solidFill>
                  <a:srgbClr val="1F2D3A"/>
                </a:solidFill>
              </a:rPr>
              <a:t>undefined behaviour</a:t>
            </a:r>
            <a:r>
              <a:rPr sz="2000" b="0">
                <a:solidFill>
                  <a:srgbClr val="1F2D3A"/>
                </a:solidFill>
              </a:rPr>
              <a:t>; the compiler assumes "overflow never happens" → the condition is always </a:t>
            </a:r>
            <a:r>
              <a:rPr sz="2000" b="0">
                <a:solidFill>
                  <a:srgbClr val="A1123F"/>
                </a:solidFill>
                <a:latin typeface="Consolas"/>
              </a:rPr>
              <a:t>false</a:t>
            </a:r>
            <a:r>
              <a:rPr sz="2000" b="0">
                <a:solidFill>
                  <a:srgbClr val="1F2D3A"/>
                </a:solidFill>
              </a:rPr>
              <a:t> → it </a:t>
            </a:r>
            <a:r>
              <a:rPr sz="2000" b="1">
                <a:solidFill>
                  <a:srgbClr val="1F2D3A"/>
                </a:solidFill>
              </a:rPr>
              <a:t>deletes</a:t>
            </a:r>
            <a:r>
              <a:rPr sz="2000" b="0">
                <a:solidFill>
                  <a:srgbClr val="1F2D3A"/>
                </a:solidFill>
              </a:rPr>
              <a:t> it. Do the check with </a:t>
            </a:r>
            <a:r>
              <a:rPr sz="2000" b="0">
                <a:solidFill>
                  <a:srgbClr val="A1123F"/>
                </a:solidFill>
                <a:latin typeface="Consolas"/>
              </a:rPr>
              <a:t>__builtin_add_overflow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A1123F"/>
                </a:solidFill>
                <a:latin typeface="Consolas"/>
              </a:rPr>
              <a:t>printf</a:t>
            </a:r>
            <a:r>
              <a:rPr sz="2000" b="0">
                <a:solidFill>
                  <a:srgbClr val="1F2D3A"/>
                </a:solidFill>
              </a:rPr>
              <a:t> is </a:t>
            </a:r>
            <a:r>
              <a:rPr sz="2000" b="1">
                <a:solidFill>
                  <a:srgbClr val="1F2D3A"/>
                </a:solidFill>
              </a:rPr>
              <a:t>not async-signal-safe</a:t>
            </a:r>
            <a:r>
              <a:rPr sz="2000" b="0">
                <a:solidFill>
                  <a:srgbClr val="1F2D3A"/>
                </a:solidFill>
              </a:rPr>
              <a:t>; if the handler re-enters it, locks/state get corrupted → deadlock/crash. Only safe calls like </a:t>
            </a:r>
            <a:r>
              <a:rPr sz="2000" b="0">
                <a:solidFill>
                  <a:srgbClr val="A1123F"/>
                </a:solidFill>
                <a:latin typeface="Consolas"/>
              </a:rPr>
              <a:t>write</a:t>
            </a:r>
            <a:r>
              <a:rPr sz="2000" b="0">
                <a:solidFill>
                  <a:srgbClr val="1F2D3A"/>
                </a:solidFill>
              </a:rPr>
              <a:t> are allowed.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87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4. Static Analysis, Sanitizers, Fuzzing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ASan Redzone — Diagram</a:t>
            </a:r>
          </a:p>
        </p:txBody>
      </p:sp>
      <p:pic>
        <p:nvPicPr>
          <p:cNvPr id="7" name="Picture 6" descr="h04-11-as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7833" y="1325880"/>
            <a:ext cx="6656028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Static ↔ Dynamic — Diagram</a:t>
            </a:r>
          </a:p>
        </p:txBody>
      </p:sp>
      <p:pic>
        <p:nvPicPr>
          <p:cNvPr id="7" name="Picture 6" descr="h04-10-statik-dinami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412391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Is Static Analysis?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Examining code </a:t>
            </a:r>
            <a:r>
              <a:rPr sz="2000" b="1">
                <a:solidFill>
                  <a:srgbClr val="1F2D3A"/>
                </a:solidFill>
              </a:rPr>
              <a:t>without running</a:t>
            </a:r>
            <a:r>
              <a:rPr sz="2000" b="0">
                <a:solidFill>
                  <a:srgbClr val="1F2D3A"/>
                </a:solidFill>
              </a:rPr>
              <a:t> it, looking for bugs.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Advantage: it also sees paths that never execute. Disadvantage: it produces </a:t>
            </a:r>
            <a:r>
              <a:rPr sz="2000" b="1">
                <a:solidFill>
                  <a:srgbClr val="1F2D3A"/>
                </a:solidFill>
              </a:rPr>
              <a:t>false alarms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Static Analysis · Layer by Layer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0499"/>
                <a:gridCol w="6178821"/>
                <a:gridCol w="2892214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Level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Tool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What It Finds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Warnings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-Wall -Wextra -Wconversion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Conversion, format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Analyser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-fanalyzer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clang --analyze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/analyze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NULL, leaks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Rule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clang-tidy cert-*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cppcheck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CERT violation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Semantic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CodeQL, Semgrep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Data flow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Commercial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Coverity, Klocwork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Deep analysis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Tainted Data: Source → Sink</a:t>
            </a:r>
          </a:p>
        </p:txBody>
      </p:sp>
      <p:pic>
        <p:nvPicPr>
          <p:cNvPr id="7" name="Picture 6" descr="h04-14-kirli-ve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03204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467651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tool sees </a:t>
            </a:r>
            <a:r>
              <a:rPr sz="2000" b="1">
                <a:solidFill>
                  <a:srgbClr val="1F2D3A"/>
                </a:solidFill>
              </a:rPr>
              <a:t>unvalidated</a:t>
            </a:r>
            <a:r>
              <a:rPr sz="2000" b="0">
                <a:solidFill>
                  <a:srgbClr val="1F2D3A"/>
                </a:solidFill>
              </a:rPr>
              <a:t> data flowing to a dangerous place.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Living with False Alarms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Start with </a:t>
            </a:r>
            <a:r>
              <a:rPr sz="2000" b="1">
                <a:solidFill>
                  <a:srgbClr val="1F2D3A"/>
                </a:solidFill>
              </a:rPr>
              <a:t>high-confidence</a:t>
            </a:r>
            <a:r>
              <a:rPr sz="2000" b="0">
                <a:solidFill>
                  <a:srgbClr val="1F2D3A"/>
                </a:solidFill>
              </a:rPr>
              <a:t> rules.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Every suppression has a </a:t>
            </a:r>
            <a:r>
              <a:rPr sz="2000" b="1">
                <a:solidFill>
                  <a:srgbClr val="1F2D3A"/>
                </a:solidFill>
              </a:rPr>
              <a:t>reason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0">
                <a:solidFill>
                  <a:srgbClr val="A1123F"/>
                </a:solidFill>
                <a:latin typeface="Consolas"/>
              </a:rPr>
              <a:t>// NOLINT(cert-err33-c): neden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Zero warnings</a:t>
            </a:r>
            <a:r>
              <a:rPr sz="2000" b="0">
                <a:solidFill>
                  <a:srgbClr val="1F2D3A"/>
                </a:solidFill>
              </a:rPr>
              <a:t> on new code (enforced by CI).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54808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The evaluator asks for the developer's own scan report.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Is a Sanitizer?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tool that catches memory/UB bugs while the program runs.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Almost no false alarms; but it only finds bugs on the path that </a:t>
            </a:r>
            <a:r>
              <a:rPr sz="2000" b="1">
                <a:solidFill>
                  <a:srgbClr val="1F2D3A"/>
                </a:solidFill>
              </a:rPr>
              <a:t>actually executes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→ combine with tests + fuzzing.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Brief History · AddressSanitizer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2012</a:t>
            </a:r>
            <a:r>
              <a:rPr sz="2000" b="0">
                <a:solidFill>
                  <a:srgbClr val="1F2D3A"/>
                </a:solidFill>
              </a:rPr>
              <a:t> — Google released </a:t>
            </a:r>
            <a:r>
              <a:rPr sz="2000" b="1">
                <a:solidFill>
                  <a:srgbClr val="1F2D3A"/>
                </a:solidFill>
              </a:rPr>
              <a:t>AddressSanitizer</a:t>
            </a:r>
            <a:r>
              <a:rPr sz="2000" b="0">
                <a:solidFill>
                  <a:srgbClr val="1F2D3A"/>
                </a:solidFill>
              </a:rPr>
              <a:t> (ASan): compile-time instrumentation + shadow memory catches overflow/UAF </a:t>
            </a:r>
            <a:r>
              <a:rPr sz="2000" b="1">
                <a:solidFill>
                  <a:srgbClr val="1F2D3A"/>
                </a:solidFill>
              </a:rPr>
              <a:t>immediately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Before this, this class of bug usually crashed </a:t>
            </a:r>
            <a:r>
              <a:rPr sz="2000" b="1">
                <a:solidFill>
                  <a:srgbClr val="1F2D3A"/>
                </a:solidFill>
              </a:rPr>
              <a:t>silently</a:t>
            </a:r>
            <a:r>
              <a:rPr sz="2000" b="0">
                <a:solidFill>
                  <a:srgbClr val="1F2D3A"/>
                </a:solidFill>
              </a:rPr>
              <a:t> or went unnoticed entirely.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ASan + fuzzing together catch input that doesn't crash the program but does corrupt memory (this week's Sections 4/11).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The Sanitizer Family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5796"/>
                <a:gridCol w="4744145"/>
                <a:gridCol w="4111592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Sanitizer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Finds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Flag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ASan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Overflow, UAF, double free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-fsanitize=address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LSan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Leaks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with ASan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UBSan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Overflow, shift, NULL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-fsanitize=undefined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MSan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Uninitialized reads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-fsanitize=memory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TSan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Data race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-fsanitize=thread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How Does ASan Work? · Shadow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One </a:t>
            </a:r>
            <a:r>
              <a:rPr sz="2000" b="1">
                <a:solidFill>
                  <a:srgbClr val="1F2D3A"/>
                </a:solidFill>
              </a:rPr>
              <a:t>shadow byte</a:t>
            </a:r>
            <a:r>
              <a:rPr sz="2000" b="0">
                <a:solidFill>
                  <a:srgbClr val="1F2D3A"/>
                </a:solidFill>
              </a:rPr>
              <a:t> per 8 bytes: how much of it is valid?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</a:t>
            </a:r>
            <a:r>
              <a:rPr sz="2000" b="1">
                <a:solidFill>
                  <a:srgbClr val="1F2D3A"/>
                </a:solidFill>
              </a:rPr>
              <a:t>poisoned region</a:t>
            </a:r>
            <a:r>
              <a:rPr sz="2000" b="0">
                <a:solidFill>
                  <a:srgbClr val="1F2D3A"/>
                </a:solidFill>
              </a:rPr>
              <a:t> (redzone) before/after arrays.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Freed blocks wait in </a:t>
            </a:r>
            <a:r>
              <a:rPr sz="2000" b="1">
                <a:solidFill>
                  <a:srgbClr val="1F2D3A"/>
                </a:solidFill>
              </a:rPr>
              <a:t>quarantine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shadow check before every access.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ASan's Blind Spot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struct { char name[8]; long role; } 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strcpy(k.name, long_input);   /* name → role overflows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field-to-field overflow </a:t>
            </a:r>
            <a:r>
              <a:rPr sz="2000" b="1">
                <a:solidFill>
                  <a:srgbClr val="1F2D3A"/>
                </a:solidFill>
              </a:rPr>
              <a:t>inside</a:t>
            </a:r>
            <a:r>
              <a:rPr sz="2000" b="0">
                <a:solidFill>
                  <a:srgbClr val="1F2D3A"/>
                </a:solidFill>
              </a:rPr>
              <a:t> the same structure → no poisoned region in between → ASan </a:t>
            </a:r>
            <a:r>
              <a:rPr sz="2000" b="1">
                <a:solidFill>
                  <a:srgbClr val="1F2D3A"/>
                </a:solidFill>
              </a:rPr>
              <a:t>cannot see it</a:t>
            </a:r>
            <a:r>
              <a:rPr sz="2000" b="0">
                <a:solidFill>
                  <a:srgbClr val="1F2D3A"/>
                </a:solidFill>
              </a:rPr>
              <a:t> (Week 1 Demo 3).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Sanitizers Do Not Ship in the Release Build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gcc -g -O1 -fno-omit-frame-pointer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-fsanitize=address,undefined p.c -o p_test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Slows things down (~2×), uses memory.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Only in </a:t>
            </a:r>
            <a:r>
              <a:rPr sz="2000" b="1">
                <a:solidFill>
                  <a:srgbClr val="1F2D3A"/>
                </a:solidFill>
              </a:rPr>
              <a:t>test/CI</a:t>
            </a:r>
            <a:r>
              <a:rPr sz="2000" b="0">
                <a:solidFill>
                  <a:srgbClr val="1F2D3A"/>
                </a:solidFill>
              </a:rPr>
              <a:t>; disabled in the release build.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Is Fuzzing? · Coverage-Guided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Fuzzing:</a:t>
            </a:r>
            <a:r>
              <a:rPr sz="2000" b="0">
                <a:solidFill>
                  <a:srgbClr val="1F2D3A"/>
                </a:solidFill>
              </a:rPr>
              <a:t> feeding a program a large number of automatically generated, mostly malformed inputs to look for crashes.</a:t>
            </a:r>
          </a:p>
        </p:txBody>
      </p:sp>
      <p:pic>
        <p:nvPicPr>
          <p:cNvPr id="8" name="Picture 7" descr="h04-01-fuzzing-dongus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05736"/>
            <a:ext cx="10911535" cy="31235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43901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An input that opens a new code path is </a:t>
            </a:r>
            <a:r>
              <a:rPr sz="2000" b="1">
                <a:solidFill>
                  <a:srgbClr val="1F2D3A"/>
                </a:solidFill>
              </a:rPr>
              <a:t>saved</a:t>
            </a:r>
            <a:r>
              <a:rPr sz="2000" b="0">
                <a:solidFill>
                  <a:srgbClr val="1F2D3A"/>
                </a:solidFill>
              </a:rPr>
              <a:t> and worked on further.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Does Fuzzing Find?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 finds magic bytes and the right length field </a:t>
            </a:r>
            <a:r>
              <a:rPr sz="2000" b="1">
                <a:solidFill>
                  <a:srgbClr val="1F2D3A"/>
                </a:solidFill>
              </a:rPr>
              <a:t>on its own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Inputs a human would never think of.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Tools: libFuzzer, AFL++, honggfuzz, OSS-Fuzz (tens of thousands of bugs).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Brief History · Fuzzing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1990</a:t>
            </a:r>
            <a:r>
              <a:rPr sz="2000" b="0">
                <a:solidFill>
                  <a:srgbClr val="1F2D3A"/>
                </a:solidFill>
              </a:rPr>
              <a:t> — Barton Miller's "Fuzz" study crashed 25-33% of Unix utilities with random input; the academic origin of fuzzing.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2013</a:t>
            </a:r>
            <a:r>
              <a:rPr sz="2000" b="0">
                <a:solidFill>
                  <a:srgbClr val="1F2D3A"/>
                </a:solidFill>
              </a:rPr>
              <a:t> — </a:t>
            </a:r>
            <a:r>
              <a:rPr sz="2000" b="1">
                <a:solidFill>
                  <a:srgbClr val="1F2D3A"/>
                </a:solidFill>
              </a:rPr>
              <a:t>AFL</a:t>
            </a:r>
            <a:r>
              <a:rPr sz="2000" b="0">
                <a:solidFill>
                  <a:srgbClr val="1F2D3A"/>
                </a:solidFill>
              </a:rPr>
              <a:t> (american fuzzy lop) made coverage feedback practical and mainstream.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Then came </a:t>
            </a:r>
            <a:r>
              <a:rPr sz="2000" b="1">
                <a:solidFill>
                  <a:srgbClr val="1F2D3A"/>
                </a:solidFill>
              </a:rPr>
              <a:t>libFuzzer</a:t>
            </a:r>
            <a:r>
              <a:rPr sz="2000" b="0">
                <a:solidFill>
                  <a:srgbClr val="1F2D3A"/>
                </a:solidFill>
              </a:rPr>
              <a:t> (built into the compiler, fast) and OSS-Fuzz (a service that continuously fuzzes major open-source projects).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Writing a Fuzz Target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LLVMFuzzerTestOneInput(const uint8_t *data, size_t size)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parse_document((const unsigned char *)data, size);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465832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clang -g -O1 -fsanitize=fuzzer,address fuzz.c parser.c -o f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./f corpus/ -max_total_time=10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 Good Fuzz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Four properties: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Fast</a:t>
            </a:r>
            <a:r>
              <a:rPr sz="2000" b="0">
                <a:solidFill>
                  <a:srgbClr val="1F2D3A"/>
                </a:solidFill>
              </a:rPr>
              <a:t> (no network/disk)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Deterministic</a:t>
            </a:r>
            <a:r>
              <a:rPr sz="2000" b="0">
                <a:solidFill>
                  <a:srgbClr val="1F2D3A"/>
                </a:solidFill>
              </a:rPr>
              <a:t> (same input → same result)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Stateless</a:t>
            </a:r>
            <a:r>
              <a:rPr sz="2000" b="0">
                <a:solidFill>
                  <a:srgbClr val="1F2D3A"/>
                </a:solidFill>
              </a:rPr>
              <a:t> (not affected by the previous call)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Single job</a:t>
            </a:r>
            <a:r>
              <a:rPr sz="2000" b="0">
                <a:solidFill>
                  <a:srgbClr val="1F2D3A"/>
                </a:solidFill>
              </a:rPr>
              <a:t> (tests one function)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Demo 4 — Finding Bugs with Fuzzing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A1123F"/>
                </a:solidFill>
                <a:latin typeface="Consolas"/>
              </a:rPr>
              <a:t>code/week-04/04-fuzzing</a:t>
            </a:r>
            <a:r>
              <a:rPr sz="1800" b="0">
                <a:solidFill>
                  <a:srgbClr val="1F2D3A"/>
                </a:solidFill>
              </a:rPr>
              <a:t> · CWE-125/787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42515"/>
          <a:ext cx="8547368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4871"/>
                <a:gridCol w="7092497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Step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What Happens?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seeds/normal.bin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is fine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libFuzzer ≤ 10 s → a crashing input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Replay with ASan → full report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Fixed version → no crash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crash.bin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is safely rejected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4031588"/>
            <a:ext cx="10911535" cy="57150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800" b="0">
                <a:solidFill>
                  <a:srgbClr val="1F2D3A"/>
                </a:solidFill>
              </a:rPr>
              <a:t>"This function was fuzzed for this long" = strong evidence (S16).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Animation — an allow-list parser</a:t>
            </a:r>
          </a:p>
        </p:txBody>
      </p:sp>
      <p:pic>
        <p:nvPicPr>
          <p:cNvPr id="7" name="Picture 6" descr="input-validation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894" y="1325880"/>
            <a:ext cx="7559907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Animation — Edge Case: Every Record Is Malformed</a:t>
            </a:r>
          </a:p>
        </p:txBody>
      </p:sp>
      <p:pic>
        <p:nvPicPr>
          <p:cNvPr id="7" name="Picture 6" descr="input-validation--edge-all-bad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7271" y="1325880"/>
            <a:ext cx="7897152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Animation — coverage-guided fuzzing</a:t>
            </a:r>
          </a:p>
        </p:txBody>
      </p:sp>
      <p:pic>
        <p:nvPicPr>
          <p:cNvPr id="7" name="Picture 6" descr="fuzzing-loop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2232" y="1325880"/>
            <a:ext cx="5967230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Animation — Edge Case: the Very First Candidate Crashes</a:t>
            </a:r>
          </a:p>
        </p:txBody>
      </p:sp>
      <p:pic>
        <p:nvPicPr>
          <p:cNvPr id="7" name="Picture 6" descr="fuzzing-loop--edge-immediate-crash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2232" y="1325880"/>
            <a:ext cx="5967230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4 — Quick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The difference between static and dynamic analysis?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Which overflow can ASan not see?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The four properties of a good fuzz target?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4 —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540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Static:</a:t>
            </a:r>
            <a:r>
              <a:rPr sz="2000" b="0">
                <a:solidFill>
                  <a:srgbClr val="1F2D3A"/>
                </a:solidFill>
              </a:rPr>
              <a:t> examines all paths without running the code (can have false positives). </a:t>
            </a:r>
            <a:r>
              <a:rPr sz="2000" b="1">
                <a:solidFill>
                  <a:srgbClr val="1F2D3A"/>
                </a:solidFill>
              </a:rPr>
              <a:t>Dynamic:</a:t>
            </a:r>
            <a:r>
              <a:rPr sz="2000" b="0">
                <a:solidFill>
                  <a:srgbClr val="1F2D3A"/>
                </a:solidFill>
              </a:rPr>
              <a:t> while running, observes </a:t>
            </a:r>
            <a:r>
              <a:rPr sz="2000" b="1">
                <a:solidFill>
                  <a:srgbClr val="1F2D3A"/>
                </a:solidFill>
              </a:rPr>
              <a:t>real</a:t>
            </a:r>
            <a:r>
              <a:rPr sz="2000" b="0">
                <a:solidFill>
                  <a:srgbClr val="1F2D3A"/>
                </a:solidFill>
              </a:rPr>
              <a:t> bugs only on the path that actually executes.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ASan sees the places where it placed a </a:t>
            </a:r>
            <a:r>
              <a:rPr sz="2000" b="1">
                <a:solidFill>
                  <a:srgbClr val="1F2D3A"/>
                </a:solidFill>
              </a:rPr>
              <a:t>redzone</a:t>
            </a:r>
            <a:r>
              <a:rPr sz="2000" b="0">
                <a:solidFill>
                  <a:srgbClr val="1F2D3A"/>
                </a:solidFill>
              </a:rPr>
              <a:t>; it cannot see a </a:t>
            </a:r>
            <a:r>
              <a:rPr sz="2000" b="1">
                <a:solidFill>
                  <a:srgbClr val="1F2D3A"/>
                </a:solidFill>
              </a:rPr>
              <a:t>field-to-field</a:t>
            </a:r>
            <a:r>
              <a:rPr sz="2000" b="0">
                <a:solidFill>
                  <a:srgbClr val="1F2D3A"/>
                </a:solidFill>
              </a:rPr>
              <a:t> overflow inside an object, or paths that </a:t>
            </a:r>
            <a:r>
              <a:rPr sz="2000" b="1">
                <a:solidFill>
                  <a:srgbClr val="1F2D3A"/>
                </a:solidFill>
              </a:rPr>
              <a:t>never execute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Fast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deterministic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self-sufficient</a:t>
            </a:r>
            <a:r>
              <a:rPr sz="2000" b="0">
                <a:solidFill>
                  <a:srgbClr val="1F2D3A"/>
                </a:solidFill>
              </a:rPr>
              <a:t> (not dependent on external state), a target that handles a </a:t>
            </a:r>
            <a:r>
              <a:rPr sz="2000" b="1">
                <a:solidFill>
                  <a:srgbClr val="1F2D3A"/>
                </a:solidFill>
              </a:rPr>
              <a:t>narrow input surface</a:t>
            </a:r>
            <a:r>
              <a:rPr sz="2000" b="0">
                <a:solidFill>
                  <a:srgbClr val="1F2D3A"/>
                </a:solidFill>
              </a:rPr>
              <a:t> and fails cleanly on a crash.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5. Compiler and OS Protections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Compiler/OS Protections — Diagram</a:t>
            </a:r>
          </a:p>
        </p:txBody>
      </p:sp>
      <p:pic>
        <p:nvPicPr>
          <p:cNvPr id="7" name="Picture 6" descr="h04-02-derleyici-os-korumala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8960" y="1325880"/>
            <a:ext cx="6553775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Layer 3 · the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Say a bug slipped through.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There are automatic protections that make exploitation </a:t>
            </a:r>
            <a:r>
              <a:rPr sz="2000" b="1">
                <a:solidFill>
                  <a:srgbClr val="1F2D3A"/>
                </a:solidFill>
              </a:rPr>
              <a:t>expensive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Most are turned on with a </a:t>
            </a:r>
            <a:r>
              <a:rPr sz="2000" b="1">
                <a:solidFill>
                  <a:srgbClr val="1F2D3A"/>
                </a:solidFill>
              </a:rPr>
              <a:t>compile flag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Not free, but cheap.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Stack Canary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</a:t>
            </a:r>
            <a:r>
              <a:rPr sz="2000" b="1">
                <a:solidFill>
                  <a:srgbClr val="1F2D3A"/>
                </a:solidFill>
              </a:rPr>
              <a:t>sentinel value</a:t>
            </a:r>
            <a:r>
              <a:rPr sz="2000" b="0">
                <a:solidFill>
                  <a:srgbClr val="1F2D3A"/>
                </a:solidFill>
              </a:rPr>
              <a:t> is placed just before the return address.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an overflow corrupts this value, it is noticed before the return and the program </a:t>
            </a:r>
            <a:r>
              <a:rPr sz="2000" b="1">
                <a:solidFill>
                  <a:srgbClr val="1F2D3A"/>
                </a:solidFill>
              </a:rPr>
              <a:t>halts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-fstack-protector-strong</a:t>
            </a:r>
            <a:r>
              <a:rPr sz="2000" b="0">
                <a:solidFill>
                  <a:srgbClr val="1F2D3A"/>
                </a:solidFill>
              </a:rPr>
              <a:t> / MSVC </a:t>
            </a:r>
            <a:r>
              <a:rPr sz="2000" b="0">
                <a:solidFill>
                  <a:srgbClr val="A1123F"/>
                </a:solidFill>
                <a:latin typeface="Consolas"/>
              </a:rPr>
              <a:t>/GS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Brief History · Compiler/OS Protections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585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1998</a:t>
            </a:r>
            <a:r>
              <a:rPr sz="2000" b="0">
                <a:solidFill>
                  <a:srgbClr val="1F2D3A"/>
                </a:solidFill>
              </a:rPr>
              <a:t> — </a:t>
            </a:r>
            <a:r>
              <a:rPr sz="2000" b="1">
                <a:solidFill>
                  <a:srgbClr val="1F2D3A"/>
                </a:solidFill>
              </a:rPr>
              <a:t>StackGuard</a:t>
            </a:r>
            <a:r>
              <a:rPr sz="2000" b="0">
                <a:solidFill>
                  <a:srgbClr val="1F2D3A"/>
                </a:solidFill>
              </a:rPr>
              <a:t>: the first to add the stack-canary idea to a compiler automatically.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2001</a:t>
            </a:r>
            <a:r>
              <a:rPr sz="2000" b="0">
                <a:solidFill>
                  <a:srgbClr val="1F2D3A"/>
                </a:solidFill>
              </a:rPr>
              <a:t> — the </a:t>
            </a:r>
            <a:r>
              <a:rPr sz="2000" b="1">
                <a:solidFill>
                  <a:srgbClr val="1F2D3A"/>
                </a:solidFill>
              </a:rPr>
              <a:t>PaX</a:t>
            </a:r>
            <a:r>
              <a:rPr sz="2000" b="0">
                <a:solidFill>
                  <a:srgbClr val="1F2D3A"/>
                </a:solidFill>
              </a:rPr>
              <a:t> project brought </a:t>
            </a:r>
            <a:r>
              <a:rPr sz="2000" b="1">
                <a:solidFill>
                  <a:srgbClr val="1F2D3A"/>
                </a:solidFill>
              </a:rPr>
              <a:t>ASLR</a:t>
            </a:r>
            <a:r>
              <a:rPr sz="2000" b="0">
                <a:solidFill>
                  <a:srgbClr val="1F2D3A"/>
                </a:solidFill>
              </a:rPr>
              <a:t> (address space layout randomization) to the Linux kernel.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2003–2004</a:t>
            </a:r>
            <a:r>
              <a:rPr sz="2000" b="0">
                <a:solidFill>
                  <a:srgbClr val="1F2D3A"/>
                </a:solidFill>
              </a:rPr>
              <a:t> — </a:t>
            </a:r>
            <a:r>
              <a:rPr sz="2000" b="1">
                <a:solidFill>
                  <a:srgbClr val="1F2D3A"/>
                </a:solidFill>
              </a:rPr>
              <a:t>W^X / NX / DEP</a:t>
            </a:r>
            <a:r>
              <a:rPr sz="2000" b="0">
                <a:solidFill>
                  <a:srgbClr val="1F2D3A"/>
                </a:solidFill>
              </a:rPr>
              <a:t>: a memory page can no longer be both writable and executable at once.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Together, these three form the foundation of today's compiler/OS protections.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Stack Overflow and Canary — Diagram</a:t>
            </a:r>
          </a:p>
        </p:txBody>
      </p:sp>
      <p:pic>
        <p:nvPicPr>
          <p:cNvPr id="7" name="Picture 6" descr="h04-04-yigin-kanary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3818" y="1325880"/>
            <a:ext cx="8804058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_FORTIFY_SOURCE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Catches </a:t>
            </a:r>
            <a:r>
              <a:rPr sz="2000" b="1">
                <a:solidFill>
                  <a:srgbClr val="1F2D3A"/>
                </a:solidFill>
              </a:rPr>
              <a:t>library calls</a:t>
            </a:r>
            <a:r>
              <a:rPr sz="2000" b="0">
                <a:solidFill>
                  <a:srgbClr val="1F2D3A"/>
                </a:solidFill>
              </a:rPr>
              <a:t> that write more than a buffer's known size.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-D_FORTIFY_SOURCE=2</a:t>
            </a:r>
            <a:r>
              <a:rPr sz="2000" b="0">
                <a:solidFill>
                  <a:srgbClr val="1F2D3A"/>
                </a:solidFill>
              </a:rPr>
              <a:t> (+ at least </a:t>
            </a:r>
            <a:r>
              <a:rPr sz="2000" b="0">
                <a:solidFill>
                  <a:srgbClr val="A1123F"/>
                </a:solidFill>
                <a:latin typeface="Consolas"/>
              </a:rPr>
              <a:t>-O1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Does not protect your </a:t>
            </a:r>
            <a:r>
              <a:rPr sz="2000" b="1">
                <a:solidFill>
                  <a:srgbClr val="1F2D3A"/>
                </a:solidFill>
              </a:rPr>
              <a:t>own loops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PIE + ASLR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ASLR:</a:t>
            </a:r>
            <a:r>
              <a:rPr sz="2000" b="0">
                <a:solidFill>
                  <a:srgbClr val="1F2D3A"/>
                </a:solidFill>
              </a:rPr>
              <a:t> randomizes addresses.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PIE:</a:t>
            </a:r>
            <a:r>
              <a:rPr sz="2000" b="0">
                <a:solidFill>
                  <a:srgbClr val="1F2D3A"/>
                </a:solidFill>
              </a:rPr>
              <a:t> makes the program itself load at a random address too.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-fPIE -pie</a:t>
            </a:r>
            <a:r>
              <a:rPr sz="2000" b="0">
                <a:solidFill>
                  <a:srgbClr val="1F2D3A"/>
                </a:solidFill>
              </a:rPr>
              <a:t> / </a:t>
            </a:r>
            <a:r>
              <a:rPr sz="2000" b="0">
                <a:solidFill>
                  <a:srgbClr val="A1123F"/>
                </a:solidFill>
                <a:latin typeface="Consolas"/>
              </a:rPr>
              <a:t>/DYNAMICBASE /HIGHENTROPYVA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DEP/NX and RELRO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DEP/NX:</a:t>
            </a:r>
            <a:r>
              <a:rPr sz="2000" b="0">
                <a:solidFill>
                  <a:srgbClr val="1F2D3A"/>
                </a:solidFill>
              </a:rPr>
              <a:t> makes the data region non-executable (default).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RELRO:</a:t>
            </a:r>
            <a:r>
              <a:rPr sz="2000" b="0">
                <a:solidFill>
                  <a:srgbClr val="1F2D3A"/>
                </a:solidFill>
              </a:rPr>
              <a:t> makes tables like the GOT read-only → </a:t>
            </a:r>
            <a:r>
              <a:rPr sz="2000" b="0">
                <a:solidFill>
                  <a:srgbClr val="A1123F"/>
                </a:solidFill>
                <a:latin typeface="Consolas"/>
              </a:rPr>
              <a:t>-Wl,-z,relro,-z,now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CFI / CFG and the Shadow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CFI/CFG:</a:t>
            </a:r>
            <a:r>
              <a:rPr sz="2000" b="0">
                <a:solidFill>
                  <a:srgbClr val="1F2D3A"/>
                </a:solidFill>
              </a:rPr>
              <a:t> checks that indirect calls only go to </a:t>
            </a:r>
            <a:r>
              <a:rPr sz="2000" b="1">
                <a:solidFill>
                  <a:srgbClr val="1F2D3A"/>
                </a:solidFill>
              </a:rPr>
              <a:t>valid</a:t>
            </a:r>
            <a:r>
              <a:rPr sz="2000" b="0">
                <a:solidFill>
                  <a:srgbClr val="1F2D3A"/>
                </a:solidFill>
              </a:rPr>
              <a:t> targets.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-fcf-protection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-fsanitize=cfi</a:t>
            </a:r>
            <a:r>
              <a:rPr sz="2000" b="0">
                <a:solidFill>
                  <a:srgbClr val="1F2D3A"/>
                </a:solidFill>
              </a:rPr>
              <a:t> / </a:t>
            </a:r>
            <a:r>
              <a:rPr sz="2000" b="0">
                <a:solidFill>
                  <a:srgbClr val="A1123F"/>
                </a:solidFill>
                <a:latin typeface="Consolas"/>
              </a:rPr>
              <a:t>/guard:cf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Shadow stack:</a:t>
            </a:r>
            <a:r>
              <a:rPr sz="2000" b="0">
                <a:solidFill>
                  <a:srgbClr val="1F2D3A"/>
                </a:solidFill>
              </a:rPr>
              <a:t> a second copy of the return addresses (CET).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Protections · One Table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5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3895"/>
                <a:gridCol w="5279775"/>
                <a:gridCol w="3167865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Protection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GCC/Clang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MSVC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Canary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-fstack-protector-strong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/GS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FORTIFY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-D_FORTIFY_SOURCE=2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Secure CRT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PIE/ASLR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-fPIE -pie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/DYNAMICBASE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NX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default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/NXCOMPAT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RELRO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-Wl,-z,relro,-z,now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CFI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-fcf-protection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/guard:cf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Every Protection Has Limits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5926"/>
                <a:gridCol w="4959788"/>
                <a:gridCol w="4215820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Protection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Stops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Does Not Stop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Canary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Overflow reaching the return address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Heap overflow, a leaked canary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FORTIFY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Library-call overflow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Your own loops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ASLR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Assuming a fixed address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Address leak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NX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Code in the data region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Code reuse (ROP)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Main Rule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Every protection makes a </a:t>
            </a:r>
            <a:r>
              <a:rPr sz="2000" b="1">
                <a:solidFill>
                  <a:srgbClr val="1F2D3A"/>
                </a:solidFill>
              </a:rPr>
              <a:t>technique</a:t>
            </a:r>
            <a:r>
              <a:rPr sz="2000" b="0">
                <a:solidFill>
                  <a:srgbClr val="1F2D3A"/>
                </a:solidFill>
              </a:rPr>
              <a:t> harder; it does not remove a </a:t>
            </a:r>
            <a:r>
              <a:rPr sz="2000" b="1">
                <a:solidFill>
                  <a:srgbClr val="1F2D3A"/>
                </a:solidFill>
              </a:rPr>
              <a:t>class of bug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None of them is enough for a logic error → secure coding comes first.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Demo 5 — Turning Protections On and 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A1123F"/>
                </a:solidFill>
                <a:latin typeface="Consolas"/>
              </a:rPr>
              <a:t>code/week-04/05-compiler-protections</a:t>
            </a:r>
            <a:r>
              <a:rPr sz="1800" b="0">
                <a:solidFill>
                  <a:srgbClr val="1F2D3A"/>
                </a:solidFill>
              </a:rPr>
              <a:t> · CWE-121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42515"/>
            <a:ext cx="10911535" cy="11201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The same overflow: </a:t>
            </a:r>
            <a:r>
              <a:rPr sz="1800" b="0">
                <a:solidFill>
                  <a:srgbClr val="A1123F"/>
                </a:solidFill>
                <a:latin typeface="Consolas"/>
              </a:rPr>
              <a:t>overflow_weak</a:t>
            </a:r>
            <a:r>
              <a:rPr sz="1800" b="0">
                <a:solidFill>
                  <a:srgbClr val="1F2D3A"/>
                </a:solidFill>
              </a:rPr>
              <a:t> (off) vs </a:t>
            </a:r>
            <a:r>
              <a:rPr sz="1800" b="0">
                <a:solidFill>
                  <a:srgbClr val="A1123F"/>
                </a:solidFill>
                <a:latin typeface="Consolas"/>
              </a:rPr>
              <a:t>overflow_hardened</a:t>
            </a:r>
            <a:r>
              <a:rPr sz="1800" b="0">
                <a:solidFill>
                  <a:srgbClr val="1F2D3A"/>
                </a:solidFill>
              </a:rPr>
              <a:t> (on).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Hardened: </a:t>
            </a:r>
            <a:r>
              <a:rPr sz="1800" b="0">
                <a:solidFill>
                  <a:srgbClr val="A1123F"/>
                </a:solidFill>
                <a:latin typeface="Consolas"/>
              </a:rPr>
              <a:t>*** stack smashing detected ***</a:t>
            </a:r>
            <a:r>
              <a:rPr sz="1800" b="0">
                <a:solidFill>
                  <a:srgbClr val="1F2D3A"/>
                </a:solidFill>
              </a:rPr>
              <a:t> / Windows </a:t>
            </a:r>
            <a:r>
              <a:rPr sz="1800" b="0">
                <a:solidFill>
                  <a:srgbClr val="A1123F"/>
                </a:solidFill>
                <a:latin typeface="Consolas"/>
              </a:rPr>
              <a:t>0xC0000409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Weak: silent corruption or a crash.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072383"/>
            <a:ext cx="10911535" cy="78455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readelf -h p | grep Type          # DYN = PIE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readelf -d p | grep BIND_NOW      # full RELRO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readelf -s p | grep __stack_chk   # canary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Animation — the stack canary</a:t>
            </a:r>
          </a:p>
        </p:txBody>
      </p:sp>
      <p:pic>
        <p:nvPicPr>
          <p:cNvPr id="7" name="Picture 6" descr="compiler-protections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678285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Animation — Edge Case: Same Overflow, WEAK Build Has No Canary</a:t>
            </a:r>
          </a:p>
        </p:txBody>
      </p:sp>
      <p:pic>
        <p:nvPicPr>
          <p:cNvPr id="7" name="Picture 6" descr="compiler-protections--weak-overflow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025471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Recommended Release Flags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GCC/Clang: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-O2 -D_FORTIFY_SOURCE=2 -fstack-protector-strong -fPIE -pie -Wl,-z,relro,-z,now -fcf-protection -Wall -Wextra -Wformat=2 -Werror=format-security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553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MSVC: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0504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/O2 /GS /sdl /guard:cf /DYNAMICBASE /HIGHENTROPYVA /NXCOMPAT /CETCOMPAT /W4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Protection Table =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879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evaluator extracts a </a:t>
            </a:r>
            <a:r>
              <a:rPr sz="2000" b="1">
                <a:solidFill>
                  <a:srgbClr val="1F2D3A"/>
                </a:solidFill>
              </a:rPr>
              <a:t>protection table</a:t>
            </a:r>
            <a:r>
              <a:rPr sz="2000" b="0">
                <a:solidFill>
                  <a:srgbClr val="1F2D3A"/>
                </a:solidFill>
              </a:rPr>
              <a:t> for every binary and </a:t>
            </a:r>
            <a:r>
              <a:rPr sz="2000" b="0">
                <a:solidFill>
                  <a:srgbClr val="A1123F"/>
                </a:solidFill>
                <a:latin typeface="Consolas"/>
              </a:rPr>
              <a:t>.so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disabled protection is a </a:t>
            </a:r>
            <a:r>
              <a:rPr sz="2000" b="1">
                <a:solidFill>
                  <a:srgbClr val="1F2D3A"/>
                </a:solidFill>
              </a:rPr>
              <a:t>finding</a:t>
            </a:r>
            <a:r>
              <a:rPr sz="2000" b="0">
                <a:solidFill>
                  <a:srgbClr val="1F2D3A"/>
                </a:solidFill>
              </a:rPr>
              <a:t>; its justification must be in the trade-off record.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Scheme: the application can also </a:t>
            </a:r>
            <a:r>
              <a:rPr sz="2000" b="1">
                <a:solidFill>
                  <a:srgbClr val="1F2D3A"/>
                </a:solidFill>
              </a:rPr>
              <a:t>verify itself</a:t>
            </a:r>
            <a:r>
              <a:rPr sz="2000" b="0">
                <a:solidFill>
                  <a:srgbClr val="1F2D3A"/>
                </a:solidFill>
              </a:rPr>
              <a:t> that the protections are enabled.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Secure Build Pipeline (CI)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CI (Continuous Integration):</a:t>
            </a:r>
            <a:r>
              <a:rPr sz="2000" b="0">
                <a:solidFill>
                  <a:srgbClr val="1F2D3A"/>
                </a:solidFill>
              </a:rPr>
              <a:t> a system that runs an automatic build + tests on every code change.</a:t>
            </a:r>
          </a:p>
        </p:txBody>
      </p:sp>
      <p:pic>
        <p:nvPicPr>
          <p:cNvPr id="8" name="Picture 7" descr="h04-03-ci-hatt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816" y="2205736"/>
            <a:ext cx="10396062" cy="3398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71398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Every failing step </a:t>
            </a:r>
            <a:r>
              <a:rPr sz="2000" b="1">
                <a:solidFill>
                  <a:srgbClr val="1F2D3A"/>
                </a:solidFill>
              </a:rPr>
              <a:t>stops</a:t>
            </a:r>
            <a:r>
              <a:rPr sz="2000" b="0">
                <a:solidFill>
                  <a:srgbClr val="1F2D3A"/>
                </a:solidFill>
              </a:rPr>
              <a:t> the merge.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CI · Failure Criteria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300"/>
                <a:gridCol w="7025234"/>
              </a:tblGrid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Failure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Build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 single warning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Sanitizer-enabled test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Any report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Fuzzing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 new crash (old corpus = regression)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3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Binary audit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Log strings, symbols, a disabled protection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The Course's CMake Modes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8001791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7883"/>
                <a:gridCol w="5273908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Mode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Flags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korumasiz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-O0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optimize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-O2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asan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-O1 -fsanitize=address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denetimli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-O2 -D_FORTIFY_SOURCE=2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guvenli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-O2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+ fixed source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514953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Most of the protection flags: Demo 5's </a:t>
            </a:r>
            <a:r>
              <a:rPr sz="1800" b="0">
                <a:solidFill>
                  <a:srgbClr val="A1123F"/>
                </a:solidFill>
                <a:latin typeface="Consolas"/>
              </a:rPr>
              <a:t>overflow_hardened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Build Environment Is a Target Too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Access logging; pinning dependencies (Week 5's SBOM).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Signed releases; </a:t>
            </a:r>
            <a:r>
              <a:rPr sz="2000" b="1">
                <a:solidFill>
                  <a:srgbClr val="1F2D3A"/>
                </a:solidFill>
              </a:rPr>
              <a:t>reproducible</a:t>
            </a:r>
            <a:r>
              <a:rPr sz="2000" b="0">
                <a:solidFill>
                  <a:srgbClr val="1F2D3A"/>
                </a:solidFill>
              </a:rPr>
              <a:t> builds.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the build machine is compromised, the entire product is affected.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5 — Quick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What does the canary stop, and what does it not stop?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Why is ASLR weakened by an information leak?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Why is "no protection is enough for a logic error"?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5 —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870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Stops:</a:t>
            </a:r>
            <a:r>
              <a:rPr sz="2000" b="0">
                <a:solidFill>
                  <a:srgbClr val="1F2D3A"/>
                </a:solidFill>
              </a:rPr>
              <a:t> a </a:t>
            </a:r>
            <a:r>
              <a:rPr sz="2000" b="1">
                <a:solidFill>
                  <a:srgbClr val="1F2D3A"/>
                </a:solidFill>
              </a:rPr>
              <a:t>sequential</a:t>
            </a:r>
            <a:r>
              <a:rPr sz="2000" b="0">
                <a:solidFill>
                  <a:srgbClr val="1F2D3A"/>
                </a:solidFill>
              </a:rPr>
              <a:t> stack overflow that overwrites the return address (the canary gets corrupted). </a:t>
            </a:r>
            <a:r>
              <a:rPr sz="2000" b="1">
                <a:solidFill>
                  <a:srgbClr val="1F2D3A"/>
                </a:solidFill>
              </a:rPr>
              <a:t>Does not stop:</a:t>
            </a:r>
            <a:r>
              <a:rPr sz="2000" b="0">
                <a:solidFill>
                  <a:srgbClr val="1F2D3A"/>
                </a:solidFill>
              </a:rPr>
              <a:t> a targeted write, a heap overflow, an information leak.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A single </a:t>
            </a:r>
            <a:r>
              <a:rPr sz="2000" b="1">
                <a:solidFill>
                  <a:srgbClr val="1F2D3A"/>
                </a:solidFill>
              </a:rPr>
              <a:t>leaked address</a:t>
            </a:r>
            <a:r>
              <a:rPr sz="2000" b="0">
                <a:solidFill>
                  <a:srgbClr val="1F2D3A"/>
                </a:solidFill>
              </a:rPr>
              <a:t> reveals the module's base address (the offset is fixed) → the entire randomisation </a:t>
            </a:r>
            <a:r>
              <a:rPr sz="2000" b="1">
                <a:solidFill>
                  <a:srgbClr val="1F2D3A"/>
                </a:solidFill>
              </a:rPr>
              <a:t>collapses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Protections catch </a:t>
            </a:r>
            <a:r>
              <a:rPr sz="2000" b="1">
                <a:solidFill>
                  <a:srgbClr val="1F2D3A"/>
                </a:solidFill>
              </a:rPr>
              <a:t>memory</a:t>
            </a:r>
            <a:r>
              <a:rPr sz="2000" b="0">
                <a:solidFill>
                  <a:srgbClr val="1F2D3A"/>
                </a:solidFill>
              </a:rPr>
              <a:t> violations; incorrect authorization/business logic is a </a:t>
            </a:r>
            <a:r>
              <a:rPr sz="2000" b="1">
                <a:solidFill>
                  <a:srgbClr val="1F2D3A"/>
                </a:solidFill>
              </a:rPr>
              <a:t>valid</a:t>
            </a:r>
            <a:r>
              <a:rPr sz="2000" b="0">
                <a:solidFill>
                  <a:srgbClr val="1F2D3A"/>
                </a:solidFill>
              </a:rPr>
              <a:t> memory access → no protection is triggered. Correct design + review is required.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6. Introduction to Code Obfuscation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Layer 4 · Why?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White-box attacker: reads strings, finds functions by name, bypasses checks.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Obfuscation: same behaviour, </a:t>
            </a:r>
            <a:r>
              <a:rPr sz="2000" b="1">
                <a:solidFill>
                  <a:srgbClr val="1F2D3A"/>
                </a:solidFill>
              </a:rPr>
              <a:t>harder to understand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Two Attacker Models — Diagram</a:t>
            </a:r>
          </a:p>
        </p:txBody>
      </p:sp>
      <p:pic>
        <p:nvPicPr>
          <p:cNvPr id="7" name="Picture 6" descr="h04-17-iki-saldirgan-model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257" y="1325880"/>
            <a:ext cx="10763181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Purpose of Obfuscation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Not making it impossible, but making it </a:t>
            </a:r>
            <a:r>
              <a:rPr sz="2000" b="1">
                <a:solidFill>
                  <a:srgbClr val="1F2D3A"/>
                </a:solidFill>
              </a:rPr>
              <a:t>expensive</a:t>
            </a:r>
            <a:r>
              <a:rPr sz="2000" b="0">
                <a:solidFill>
                  <a:srgbClr val="1F2D3A"/>
                </a:solidFill>
              </a:rPr>
              <a:t> (Cookbook 12.1):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cost &gt; the value being protected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make automation harder (diversification, Week 14)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buy </a:t>
            </a:r>
            <a:r>
              <a:rPr sz="2000" b="1">
                <a:solidFill>
                  <a:srgbClr val="1F2D3A"/>
                </a:solidFill>
              </a:rPr>
              <a:t>time</a:t>
            </a:r>
            <a:r>
              <a:rPr sz="2000" b="0">
                <a:solidFill>
                  <a:srgbClr val="1F2D3A"/>
                </a:solidFill>
              </a:rPr>
              <a:t> for the other layers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204464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A few simple techniques + data hiding, rather than one advanced technique.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Brief History · a Taxonomy of Obfuscation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540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1997</a:t>
            </a:r>
            <a:r>
              <a:rPr sz="2000" b="0">
                <a:solidFill>
                  <a:srgbClr val="1F2D3A"/>
                </a:solidFill>
              </a:rPr>
              <a:t> — Collberg, Thomborson, and Low published the work that organized obfuscation techniques into a </a:t>
            </a:r>
            <a:r>
              <a:rPr sz="2000" b="1">
                <a:solidFill>
                  <a:srgbClr val="1F2D3A"/>
                </a:solidFill>
              </a:rPr>
              <a:t>systematic taxonomy</a:t>
            </a:r>
            <a:r>
              <a:rPr sz="2000" b="0">
                <a:solidFill>
                  <a:srgbClr val="1F2D3A"/>
                </a:solidFill>
              </a:rPr>
              <a:t>: layout, data, control, and preventive transformations.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What we saw this week — string/symbol hiding = a </a:t>
            </a:r>
            <a:r>
              <a:rPr sz="2000" b="1">
                <a:solidFill>
                  <a:srgbClr val="1F2D3A"/>
                </a:solidFill>
              </a:rPr>
              <a:t>data</a:t>
            </a:r>
            <a:r>
              <a:rPr sz="2000" b="0">
                <a:solidFill>
                  <a:srgbClr val="1F2D3A"/>
                </a:solidFill>
              </a:rPr>
              <a:t> transformation; control-flow flattening and the opaque predicate = a </a:t>
            </a:r>
            <a:r>
              <a:rPr sz="2000" b="1">
                <a:solidFill>
                  <a:srgbClr val="1F2D3A"/>
                </a:solidFill>
              </a:rPr>
              <a:t>control</a:t>
            </a:r>
            <a:r>
              <a:rPr sz="2000" b="0">
                <a:solidFill>
                  <a:srgbClr val="1F2D3A"/>
                </a:solidFill>
              </a:rPr>
              <a:t> transformation.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taxonomy is still the shared vocabulary of academic and industrial obfuscation literature.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Obfuscation Map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3460"/>
                <a:gridCol w="6001344"/>
                <a:gridCol w="1636730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Family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What It Hides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Week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Layout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Names, structure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Data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Constants, strings, variables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4, 9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Control flow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Algorithm structure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4, 9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Preventive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Analysis tool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Virtualisation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Machine code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9, 14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From the Field: 18 Measures on the Native 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4305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Symbol visibility off · name mangling · constant arithmetic hiding · string encryption (decrypt on use, </a:t>
            </a:r>
            <a:r>
              <a:rPr sz="2000" b="1">
                <a:solidFill>
                  <a:srgbClr val="1F2D3A"/>
                </a:solidFill>
              </a:rPr>
              <a:t>wipe immediately</a:t>
            </a:r>
            <a:r>
              <a:rPr sz="2000" b="0">
                <a:solidFill>
                  <a:srgbClr val="1F2D3A"/>
                </a:solidFill>
              </a:rPr>
              <a:t>) · opaque booleans · your own library functions · fake operation/dead branch · flattening + randomised exit · </a:t>
            </a:r>
            <a:r>
              <a:rPr sz="2000" b="1">
                <a:solidFill>
                  <a:srgbClr val="1F2D3A"/>
                </a:solidFill>
              </a:rPr>
              <a:t>no</a:t>
            </a:r>
            <a:r>
              <a:rPr sz="2000" b="0">
                <a:solidFill>
                  <a:srgbClr val="1F2D3A"/>
                </a:solidFill>
              </a:rPr>
              <a:t> logging in the release build.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661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➡️ The strength comes from </a:t>
            </a:r>
            <a:r>
              <a:rPr sz="2000" b="1">
                <a:solidFill>
                  <a:srgbClr val="1F2D3A"/>
                </a:solidFill>
              </a:rPr>
              <a:t>combining them</a:t>
            </a:r>
            <a:r>
              <a:rPr sz="2000" b="0">
                <a:solidFill>
                  <a:srgbClr val="1F2D3A"/>
                </a:solidFill>
              </a:rPr>
              <a:t>, and from RASP.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Three Cheap Measures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6172"/>
                <a:gridCol w="8425362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Measure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How?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Hide symbols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static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,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-fvisibility=hidden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,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strip -s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Remove logging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Empty the macro at compile time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Hide strings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Encrypt at compile time, decrypt on use, wipe immediately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Logging Macro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#ifdef LOG_ENABLED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#  define LOG(...) fprintf(stderr, __VA_ARGS__)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#else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#  define LOG(...) ((void)0)   /* neither the string nor the call end up in the binary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#endif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7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LOG_ENABLED</a:t>
            </a:r>
            <a:r>
              <a:rPr sz="2000" b="0">
                <a:solidFill>
                  <a:srgbClr val="1F2D3A"/>
                </a:solidFill>
              </a:rPr>
              <a:t> is not defined in the release build → the logging is </a:t>
            </a:r>
            <a:r>
              <a:rPr sz="2000" b="1">
                <a:solidFill>
                  <a:srgbClr val="1F2D3A"/>
                </a:solidFill>
              </a:rPr>
              <a:t>never compiled in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a Runtime Flag Is Not Enough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(debug_flag) printf("...");  /* BAD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98903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string </a:t>
            </a:r>
            <a:r>
              <a:rPr sz="2000" b="1">
                <a:solidFill>
                  <a:srgbClr val="1F2D3A"/>
                </a:solidFill>
              </a:rPr>
              <a:t>remains</a:t>
            </a:r>
            <a:r>
              <a:rPr sz="2000" b="0">
                <a:solidFill>
                  <a:srgbClr val="1F2D3A"/>
                </a:solidFill>
              </a:rPr>
              <a:t> in the binary.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attacker can flip the flag and turn logging back on.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right way: remove it </a:t>
            </a:r>
            <a:r>
              <a:rPr sz="2000" b="1">
                <a:solidFill>
                  <a:srgbClr val="1F2D3A"/>
                </a:solidFill>
              </a:rPr>
              <a:t>at compile time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String Hiding ≠ Key Storage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25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decrypted string sits </a:t>
            </a:r>
            <a:r>
              <a:rPr sz="2000" b="1">
                <a:solidFill>
                  <a:srgbClr val="1F2D3A"/>
                </a:solidFill>
              </a:rPr>
              <a:t>in memory, in the clear</a:t>
            </a:r>
            <a:r>
              <a:rPr sz="2000" b="0">
                <a:solidFill>
                  <a:srgbClr val="1F2D3A"/>
                </a:solidFill>
              </a:rPr>
              <a:t>, while it's in use.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decryption key is </a:t>
            </a:r>
            <a:r>
              <a:rPr sz="2000" b="1">
                <a:solidFill>
                  <a:srgbClr val="1F2D3A"/>
                </a:solidFill>
              </a:rPr>
              <a:t>inside</a:t>
            </a:r>
            <a:r>
              <a:rPr sz="2000" b="0">
                <a:solidFill>
                  <a:srgbClr val="1F2D3A"/>
                </a:solidFill>
              </a:rPr>
              <a:t> the program.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What it stops: static scans like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Against someone inspecting it while running → RASP (6). A real key → whitebox (11).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Demo 6 — Symbol and String Leakage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A1123F"/>
                </a:solidFill>
                <a:latin typeface="Consolas"/>
              </a:rPr>
              <a:t>code/week-04/06-symbol-strings</a:t>
            </a:r>
            <a:r>
              <a:rPr sz="1800" b="0">
                <a:solidFill>
                  <a:srgbClr val="1F2D3A"/>
                </a:solidFill>
              </a:rPr>
              <a:t> · CWE-200/215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42515"/>
          <a:ext cx="10911534" cy="21835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6730"/>
                <a:gridCol w="9274804"/>
              </a:tblGrid>
              <a:tr h="43671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Step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What Happens?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3671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secret_exposed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and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secret_hidden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give the same result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671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strings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The license string and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[LOG]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are visible in the open one; not in the closed one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3671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nm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license_verify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is visible in the open one; no symbol in the closed one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67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Windows: names are in the PDB; the closed build produces no PDB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Animation — string + symbol hiding</a:t>
            </a:r>
          </a:p>
        </p:txBody>
      </p:sp>
      <p:pic>
        <p:nvPicPr>
          <p:cNvPr id="7" name="Picture 6" descr="symbol-string-hiding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600203"/>
          </a:xfrm>
          <a:prstGeom prst="rect">
            <a:avLst/>
          </a:prstGeom>
        </p:spPr>
      </p:pic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Animation — Edge Case: a Bad Key Choice (0x00)</a:t>
            </a:r>
          </a:p>
        </p:txBody>
      </p:sp>
      <p:pic>
        <p:nvPicPr>
          <p:cNvPr id="7" name="Picture 6" descr="symbol-string-hiding--edge-zero-key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600203"/>
          </a:xfrm>
          <a:prstGeom prst="rect">
            <a:avLst/>
          </a:prstGeom>
        </p:spPr>
      </p:pic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Symbol and String Hiding — Diagram</a:t>
            </a:r>
          </a:p>
        </p:txBody>
      </p:sp>
      <p:pic>
        <p:nvPicPr>
          <p:cNvPr id="7" name="Picture 6" descr="h04-18-sembol-dize-gizle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492202"/>
          </a:xfrm>
          <a:prstGeom prst="rect">
            <a:avLst/>
          </a:prstGeom>
        </p:spPr>
      </p:pic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Control-Flow Flattening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state =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(;;) switch (state)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case 1: state = 2; break;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case 2: state = (condition ? 3 : 4); break;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case 3: state = 5; break;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case 4: return FAILURE;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case 5: return SUCCESS;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21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blocks' natural adjacency is lost; the order lives only in the </a:t>
            </a:r>
            <a:r>
              <a:rPr sz="2000" b="1">
                <a:solidFill>
                  <a:srgbClr val="1F2D3A"/>
                </a:solidFill>
              </a:rPr>
              <a:t>state variable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Flattening: Before/After — Diagram</a:t>
            </a:r>
          </a:p>
        </p:txBody>
      </p:sp>
      <p:pic>
        <p:nvPicPr>
          <p:cNvPr id="7" name="Picture 6" descr="h04-19-duzlestirme-gir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253" y="1325880"/>
            <a:ext cx="10671188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Strengthens Flattening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Hide the state values</a:t>
            </a:r>
            <a:r>
              <a:rPr sz="2000" b="0">
                <a:solidFill>
                  <a:srgbClr val="1F2D3A"/>
                </a:solidFill>
              </a:rPr>
              <a:t> (arithmetic transformation)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Fake/dead blocks</a:t>
            </a:r>
            <a:r>
              <a:rPr sz="2000" b="0">
                <a:solidFill>
                  <a:srgbClr val="1F2D3A"/>
                </a:solidFill>
              </a:rPr>
              <a:t> (which one is real?)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Randomised exit</a:t>
            </a:r>
            <a:r>
              <a:rPr sz="2000" b="0">
                <a:solidFill>
                  <a:srgbClr val="1F2D3A"/>
                </a:solidFill>
              </a:rPr>
              <a:t> (where the error was caught becomes unreadable)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Opaque values</a:t>
            </a:r>
            <a:r>
              <a:rPr sz="2000" b="0">
                <a:solidFill>
                  <a:srgbClr val="1F2D3A"/>
                </a:solidFill>
              </a:rPr>
              <a:t> (a single byte cannot flip it)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307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template alone is solved quickly on its own → Week 9 depth.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Demo 7 — Flattening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A1123F"/>
                </a:solidFill>
                <a:latin typeface="Consolas"/>
              </a:rPr>
              <a:t>code/week-04/07-flow-flattening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42515"/>
          <a:ext cx="10911535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6968"/>
                <a:gridCol w="9884567"/>
              </a:tblGrid>
              <a:tr h="41147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Step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What Happens?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1147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pin.c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and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pin_flattened.c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give the same result (the PIN is synthetic)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147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objdump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: the flattened version has far more branches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1148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Timing: the cost of flattening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598163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➡️ Automated with Tigress's </a:t>
            </a:r>
            <a:r>
              <a:rPr sz="1800" b="0">
                <a:solidFill>
                  <a:srgbClr val="A1123F"/>
                </a:solidFill>
                <a:latin typeface="Consolas"/>
              </a:rPr>
              <a:t>Flatten</a:t>
            </a:r>
            <a:r>
              <a:rPr sz="1800" b="0">
                <a:solidFill>
                  <a:srgbClr val="1F2D3A"/>
                </a:solidFill>
              </a:rPr>
              <a:t> in Week 14; measuring effectiveness in Week 9.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Animation — the dispatcher state machine</a:t>
            </a:r>
          </a:p>
        </p:txBody>
      </p:sp>
      <p:pic>
        <p:nvPicPr>
          <p:cNvPr id="7" name="Picture 6" descr="flow-flattening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5130" y="1325880"/>
            <a:ext cx="7941435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Animation — Edge Case: Every Guess Has the Wrong Length</a:t>
            </a:r>
          </a:p>
        </p:txBody>
      </p:sp>
      <p:pic>
        <p:nvPicPr>
          <p:cNvPr id="7" name="Picture 6" descr="flow-flattening--flat-all-wrong-length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876677"/>
          </a:xfrm>
          <a:prstGeom prst="rect">
            <a:avLst/>
          </a:prstGeom>
        </p:spPr>
      </p:pic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Animation — the opaque predicate</a:t>
            </a:r>
          </a:p>
        </p:txBody>
      </p:sp>
      <p:pic>
        <p:nvPicPr>
          <p:cNvPr id="7" name="Picture 6" descr="opaque-predicat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513407"/>
          </a:xfrm>
          <a:prstGeom prst="rect">
            <a:avLst/>
          </a:prstGeom>
        </p:spPr>
      </p:pic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Animation — Edge Case: Values Near the INT Bounds</a:t>
            </a:r>
          </a:p>
        </p:txBody>
      </p:sp>
      <p:pic>
        <p:nvPicPr>
          <p:cNvPr id="7" name="Picture 6" descr="opaque-predicate--edge-extremes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045912"/>
          </a:xfrm>
          <a:prstGeom prst="rect">
            <a:avLst/>
          </a:prstGeom>
        </p:spPr>
      </p:pic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Concept: Three Techniques Leading into Week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879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Function name hiding:</a:t>
            </a:r>
            <a:r>
              <a:rPr sz="2000" b="0">
                <a:solidFill>
                  <a:srgbClr val="1F2D3A"/>
                </a:solidFill>
              </a:rPr>
              <a:t> exported names are meaningless; readability handled via a macro.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Allocation-size hiding:</a:t>
            </a:r>
            <a:r>
              <a:rPr sz="2000" b="0">
                <a:solidFill>
                  <a:srgbClr val="1F2D3A"/>
                </a:solidFill>
              </a:rPr>
              <a:t> blur the "32 bytes = a key" tell.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Dynamic decryption:</a:t>
            </a:r>
            <a:r>
              <a:rPr sz="2000" b="0">
                <a:solidFill>
                  <a:srgbClr val="1F2D3A"/>
                </a:solidFill>
              </a:rPr>
              <a:t> sensitive code sits encrypted in the binary; conflicts with DEP/NX, used selectively.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6 — Quick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Does obfuscation fix the bug?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Why isn't silencing logging with a runtime flag enough?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Three techniques that strengthen flattening?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6 —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540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No.</a:t>
            </a:r>
            <a:r>
              <a:rPr sz="2000" b="0">
                <a:solidFill>
                  <a:srgbClr val="1F2D3A"/>
                </a:solidFill>
              </a:rPr>
              <a:t> Obfuscation only makes reverse engineering harder; the bug </a:t>
            </a:r>
            <a:r>
              <a:rPr sz="2000" b="1">
                <a:solidFill>
                  <a:srgbClr val="1F2D3A"/>
                </a:solidFill>
              </a:rPr>
              <a:t>stays where it is</a:t>
            </a:r>
            <a:r>
              <a:rPr sz="2000" b="0">
                <a:solidFill>
                  <a:srgbClr val="1F2D3A"/>
                </a:solidFill>
              </a:rPr>
              <a:t>. </a:t>
            </a:r>
            <a:r>
              <a:rPr sz="2000" b="1">
                <a:solidFill>
                  <a:srgbClr val="1F2D3A"/>
                </a:solidFill>
              </a:rPr>
              <a:t>Fix first, then obfuscate.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The string/code </a:t>
            </a:r>
            <a:r>
              <a:rPr sz="2000" b="1">
                <a:solidFill>
                  <a:srgbClr val="1F2D3A"/>
                </a:solidFill>
              </a:rPr>
              <a:t>remains</a:t>
            </a:r>
            <a:r>
              <a:rPr sz="2000" b="0">
                <a:solidFill>
                  <a:srgbClr val="1F2D3A"/>
                </a:solidFill>
              </a:rPr>
              <a:t> in the binary; the attacker can flip the flag or read the strings. Remove logging in the release build </a:t>
            </a:r>
            <a:r>
              <a:rPr sz="2000" b="1">
                <a:solidFill>
                  <a:srgbClr val="1F2D3A"/>
                </a:solidFill>
              </a:rPr>
              <a:t>at compile time</a:t>
            </a:r>
            <a:r>
              <a:rPr sz="2000" b="0">
                <a:solidFill>
                  <a:srgbClr val="1F2D3A"/>
                </a:solidFill>
              </a:rPr>
              <a:t> (macro/dead-code elimination).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Opaque predicates</a:t>
            </a:r>
            <a:r>
              <a:rPr sz="2000" b="0">
                <a:solidFill>
                  <a:srgbClr val="1F2D3A"/>
                </a:solidFill>
              </a:rPr>
              <a:t> + </a:t>
            </a:r>
            <a:r>
              <a:rPr sz="2000" b="1">
                <a:solidFill>
                  <a:srgbClr val="1F2D3A"/>
                </a:solidFill>
              </a:rPr>
              <a:t>fake blocks/dead branches</a:t>
            </a:r>
            <a:r>
              <a:rPr sz="2000" b="0">
                <a:solidFill>
                  <a:srgbClr val="1F2D3A"/>
                </a:solidFill>
              </a:rPr>
              <a:t> + </a:t>
            </a:r>
            <a:r>
              <a:rPr sz="2000" b="1">
                <a:solidFill>
                  <a:srgbClr val="1F2D3A"/>
                </a:solidFill>
              </a:rPr>
              <a:t>state-variable encoding &amp; randomised exit</a:t>
            </a:r>
            <a:r>
              <a:rPr sz="2000" b="0">
                <a:solidFill>
                  <a:srgbClr val="1F2D3A"/>
                </a:solidFill>
              </a:rPr>
              <a:t> (also name/string hiding).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162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End to End: Closing One Overflow in Three Layers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Buggy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greet(const char *name)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char buffer[16];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strcpy(buffer, name);          /* no bound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printf("Hello %s\n", buffer);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7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What happens if </a:t>
            </a:r>
            <a:r>
              <a:rPr sz="2000" b="0">
                <a:solidFill>
                  <a:srgbClr val="A1123F"/>
                </a:solidFill>
                <a:latin typeface="Consolas"/>
              </a:rPr>
              <a:t>name</a:t>
            </a:r>
            <a:r>
              <a:rPr sz="2000" b="0">
                <a:solidFill>
                  <a:srgbClr val="1F2D3A"/>
                </a:solidFill>
              </a:rPr>
              <a:t> is longer than 16 bytes?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Happens? · Step by 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buffer</a:t>
            </a:r>
            <a:r>
              <a:rPr sz="2000" b="0">
                <a:solidFill>
                  <a:srgbClr val="1F2D3A"/>
                </a:solidFill>
              </a:rPr>
              <a:t> is 16 bytes on the stack.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strcpy</a:t>
            </a:r>
            <a:r>
              <a:rPr sz="2000" b="0">
                <a:solidFill>
                  <a:srgbClr val="1F2D3A"/>
                </a:solidFill>
              </a:rPr>
              <a:t> copies </a:t>
            </a:r>
            <a:r>
              <a:rPr sz="2000" b="0">
                <a:solidFill>
                  <a:srgbClr val="A1123F"/>
                </a:solidFill>
                <a:latin typeface="Consolas"/>
              </a:rPr>
              <a:t>name</a:t>
            </a:r>
            <a:r>
              <a:rPr sz="2000" b="0">
                <a:solidFill>
                  <a:srgbClr val="1F2D3A"/>
                </a:solidFill>
              </a:rPr>
              <a:t> all the way to its end, paying no attention to bounds.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</a:t>
            </a:r>
            <a:r>
              <a:rPr sz="2000" b="0">
                <a:solidFill>
                  <a:srgbClr val="A1123F"/>
                </a:solidFill>
                <a:latin typeface="Consolas"/>
              </a:rPr>
              <a:t>name</a:t>
            </a:r>
            <a:r>
              <a:rPr sz="2000" b="0">
                <a:solidFill>
                  <a:srgbClr val="1F2D3A"/>
                </a:solidFill>
              </a:rPr>
              <a:t> longer than 16 → neighbouring memory (including the return address) is corrupted.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Attack · Outcome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Short overflow: a neighbouring variable gets corrupted (a logic bug).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Long overflow: the </a:t>
            </a:r>
            <a:r>
              <a:rPr sz="2000" b="1">
                <a:solidFill>
                  <a:srgbClr val="1F2D3A"/>
                </a:solidFill>
              </a:rPr>
              <a:t>return address</a:t>
            </a:r>
            <a:r>
              <a:rPr sz="2000" b="0">
                <a:solidFill>
                  <a:srgbClr val="1F2D3A"/>
                </a:solidFill>
              </a:rPr>
              <a:t> gets corrupted → crash or control hijacking.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Without protection: a serious vulnerability (CWE-121).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Fix 1 · Bounded Copying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n = snprintf(buffer, sizeof buffer, "%s", name);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(n &lt; 0 || (size_t)n &gt;= sizeof buffer)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/* truncated: reject or flag it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58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snprintf</a:t>
            </a:r>
            <a:r>
              <a:rPr sz="2000" b="0">
                <a:solidFill>
                  <a:srgbClr val="1F2D3A"/>
                </a:solidFill>
              </a:rPr>
              <a:t> knows the size and </a:t>
            </a:r>
            <a:r>
              <a:rPr sz="2000" b="1">
                <a:solidFill>
                  <a:srgbClr val="1F2D3A"/>
                </a:solidFill>
              </a:rPr>
              <a:t>reports truncation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Fix 2 · Layers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Coding: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snprintf</a:t>
            </a:r>
            <a:r>
              <a:rPr sz="2000" b="0">
                <a:solidFill>
                  <a:srgbClr val="1F2D3A"/>
                </a:solidFill>
              </a:rPr>
              <a:t> (STR31-C).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Compiler: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-fstack-protector-strong</a:t>
            </a:r>
            <a:r>
              <a:rPr sz="2000" b="0">
                <a:solidFill>
                  <a:srgbClr val="1F2D3A"/>
                </a:solidFill>
              </a:rPr>
              <a:t> (canary).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FORTIFY: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-D_FORTIFY_SOURCE=2</a:t>
            </a:r>
            <a:r>
              <a:rPr sz="2000" b="0">
                <a:solidFill>
                  <a:srgbClr val="1F2D3A"/>
                </a:solidFill>
              </a:rPr>
              <a:t> checks the library call.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Testing:</a:t>
            </a:r>
            <a:r>
              <a:rPr sz="2000" b="0">
                <a:solidFill>
                  <a:srgbClr val="1F2D3A"/>
                </a:solidFill>
              </a:rPr>
              <a:t> ASan catches the overflow with a long input.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Lesson: One Line, Many Layers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One bug: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strcpy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Defence: the right function + compiler protection + sanitizer testing.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But the </a:t>
            </a:r>
            <a:r>
              <a:rPr sz="2000" b="1">
                <a:solidFill>
                  <a:srgbClr val="1F2D3A"/>
                </a:solidFill>
              </a:rPr>
              <a:t>real</a:t>
            </a:r>
            <a:r>
              <a:rPr sz="2000" b="0">
                <a:solidFill>
                  <a:srgbClr val="1F2D3A"/>
                </a:solidFill>
              </a:rPr>
              <a:t> fix is in the first line: bounded copying.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Classic Mistakes — Summary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3686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5167"/>
                <a:gridCol w="909294"/>
                <a:gridCol w="6117072"/>
              </a:tblGrid>
              <a:tr h="526694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Mistake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Section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Rule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52669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Ignoring warnings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Turn warnings into errors with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-Werror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; keep the CERT scan clean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669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"Cleaning up" input and using it anyway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Reject dangerous input; allow-list + rejection is safest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52669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Not checking the return value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2–3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Check every return (ERR33-C);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fopen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/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malloc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can return NULL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669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Hiding UB with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-fwrapv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2–3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Making the overflow "defined" hides the logic bug; diagnose with UBSan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52669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Shipping the sanitizer in the release build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Test/CI only; disabled in the release build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669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Covering up a bug with obfuscation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Obfuscation doesn't fix it, only hides it; fix first, then obfuscate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122468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All six mistakes were covered earlier in this deck; here they are gathered in one glance.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170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7. Project and Closing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Project · S9 "Code Hardening" —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checksec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dumpbin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clang-tidy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cppcheck</a:t>
            </a:r>
            <a:r>
              <a:rPr sz="2000" b="0">
                <a:solidFill>
                  <a:srgbClr val="1F2D3A"/>
                </a:solidFill>
              </a:rPr>
              <a:t>; fix ≥ 5 findings (with rule ids).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Project · S9 —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 output.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-Werror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307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Measure card:</a:t>
            </a:r>
            <a:r>
              <a:rPr sz="2000" b="0">
                <a:solidFill>
                  <a:srgbClr val="1F2D3A"/>
                </a:solidFill>
              </a:rPr>
              <a:t> Description → Implementation → Verification → Residual risk.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Solved Self-Check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Which of the three layers actually removes the bug?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Only </a:t>
            </a:r>
            <a:r>
              <a:rPr sz="2000" b="1">
                <a:solidFill>
                  <a:srgbClr val="1F2D3A"/>
                </a:solidFill>
              </a:rPr>
              <a:t>secure coding</a:t>
            </a:r>
            <a:r>
              <a:rPr sz="2000" b="0">
                <a:solidFill>
                  <a:srgbClr val="1F2D3A"/>
                </a:solidFill>
              </a:rPr>
              <a:t> (layer 2). Compiler/OS protections make exploitation harder; obfuscation slows down reading — neither one </a:t>
            </a:r>
            <a:r>
              <a:rPr sz="2000" b="1">
                <a:solidFill>
                  <a:srgbClr val="1F2D3A"/>
                </a:solidFill>
              </a:rPr>
              <a:t>removes</a:t>
            </a:r>
            <a:r>
              <a:rPr sz="2000" b="0">
                <a:solidFill>
                  <a:srgbClr val="1F2D3A"/>
                </a:solidFill>
              </a:rPr>
              <a:t> the bug.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What is the mildest outcome of `printf(girdi)`?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An </a:t>
            </a:r>
            <a:r>
              <a:rPr sz="2000" b="1">
                <a:solidFill>
                  <a:srgbClr val="1F2D3A"/>
                </a:solidFill>
              </a:rPr>
              <a:t>information leak</a:t>
            </a:r>
            <a:r>
              <a:rPr sz="2000" b="0">
                <a:solidFill>
                  <a:srgbClr val="1F2D3A"/>
                </a:solidFill>
              </a:rPr>
              <a:t> (reading the stack via </a:t>
            </a:r>
            <a:r>
              <a:rPr sz="2000" b="0">
                <a:solidFill>
                  <a:srgbClr val="A1123F"/>
                </a:solidFill>
                <a:latin typeface="Consolas"/>
              </a:rPr>
              <a:t>%x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%p</a:t>
            </a:r>
            <a:r>
              <a:rPr sz="2000" b="0">
                <a:solidFill>
                  <a:srgbClr val="1F2D3A"/>
                </a:solidFill>
              </a:rPr>
              <a:t>). The worst is writing to memory via </a:t>
            </a:r>
            <a:r>
              <a:rPr sz="2000" b="0">
                <a:solidFill>
                  <a:srgbClr val="A1123F"/>
                </a:solidFill>
                <a:latin typeface="Consolas"/>
              </a:rPr>
              <a:t>%n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The three stack traces in a UAF report? Which one gets the fix?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Use, free, allocation. The fix is usually at the </a:t>
            </a:r>
            <a:r>
              <a:rPr sz="2000" b="1">
                <a:solidFill>
                  <a:srgbClr val="1F2D3A"/>
                </a:solidFill>
              </a:rPr>
              <a:t>free</a:t>
            </a:r>
            <a:r>
              <a:rPr sz="2000" b="0">
                <a:solidFill>
                  <a:srgbClr val="1F2D3A"/>
                </a:solidFill>
              </a:rPr>
              <a:t> point (an ownership decision).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Why can `if (x + 100 &lt; x)` be deleted?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Signed integer overflow is </a:t>
            </a:r>
            <a:r>
              <a:rPr sz="2000" b="1">
                <a:solidFill>
                  <a:srgbClr val="1F2D3A"/>
                </a:solidFill>
              </a:rPr>
              <a:t>undefined behaviour</a:t>
            </a:r>
            <a:r>
              <a:rPr sz="2000" b="0">
                <a:solidFill>
                  <a:srgbClr val="1F2D3A"/>
                </a:solidFill>
              </a:rPr>
              <a:t>; the compiler assumes "overflow never happens" and can optimise the check away, </a:t>
            </a:r>
            <a:r>
              <a:rPr sz="2000" b="1">
                <a:solidFill>
                  <a:srgbClr val="1F2D3A"/>
                </a:solidFill>
              </a:rPr>
              <a:t>deleting</a:t>
            </a:r>
            <a:r>
              <a:rPr sz="2000" b="0">
                <a:solidFill>
                  <a:srgbClr val="1F2D3A"/>
                </a:solidFill>
              </a:rPr>
              <a:t> it.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Why is there no `printf` in a signal handler?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printf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malloc</a:t>
            </a:r>
            <a:r>
              <a:rPr sz="2000" b="0">
                <a:solidFill>
                  <a:srgbClr val="1F2D3A"/>
                </a:solidFill>
              </a:rPr>
              <a:t> are </a:t>
            </a:r>
            <a:r>
              <a:rPr sz="2000" b="1">
                <a:solidFill>
                  <a:srgbClr val="1F2D3A"/>
                </a:solidFill>
              </a:rPr>
              <a:t>not async-signal-safe</a:t>
            </a:r>
            <a:r>
              <a:rPr sz="2000" b="0">
                <a:solidFill>
                  <a:srgbClr val="1F2D3A"/>
                </a:solidFill>
              </a:rPr>
              <a:t>; if the handler calls them while interrupted mid-state, corruption follows. Only a flag is set (SIG30-C).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Which overflow can ASan not see?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A </a:t>
            </a:r>
            <a:r>
              <a:rPr sz="2000" b="1">
                <a:solidFill>
                  <a:srgbClr val="1F2D3A"/>
                </a:solidFill>
              </a:rPr>
              <a:t>field-to-field</a:t>
            </a:r>
            <a:r>
              <a:rPr sz="2000" b="0">
                <a:solidFill>
                  <a:srgbClr val="1F2D3A"/>
                </a:solidFill>
              </a:rPr>
              <a:t> overflow inside the same structure (there is no poisoned region between them).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The four properties of a good fuzz target?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Fast, deterministic, stateless, single job.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What does the canary stop, and what does it not stop?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Stops:</a:t>
            </a:r>
            <a:r>
              <a:rPr sz="2000" b="0">
                <a:solidFill>
                  <a:srgbClr val="1F2D3A"/>
                </a:solidFill>
              </a:rPr>
              <a:t> a stack overflow that reaches the return address. </a:t>
            </a:r>
            <a:r>
              <a:rPr sz="2000" b="1">
                <a:solidFill>
                  <a:srgbClr val="1F2D3A"/>
                </a:solidFill>
              </a:rPr>
              <a:t>Does not stop:</a:t>
            </a:r>
            <a:r>
              <a:rPr sz="2000" b="0">
                <a:solidFill>
                  <a:srgbClr val="1F2D3A"/>
                </a:solidFill>
              </a:rPr>
              <a:t> heap overflow, corruption of earlier variables, a leaked canary.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Why is ASLR weakened by an information leak?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If one address leaks, the attacker can </a:t>
            </a:r>
            <a:r>
              <a:rPr sz="2000" b="1">
                <a:solidFill>
                  <a:srgbClr val="1F2D3A"/>
                </a:solidFill>
              </a:rPr>
              <a:t>calculate</a:t>
            </a:r>
            <a:r>
              <a:rPr sz="2000" b="0">
                <a:solidFill>
                  <a:srgbClr val="1F2D3A"/>
                </a:solidFill>
              </a:rPr>
              <a:t> the other addresses relative to it; the advantage of randomisation is lost.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Why isn't silencing logging with a runtime flag enough?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The string </a:t>
            </a:r>
            <a:r>
              <a:rPr sz="2000" b="1">
                <a:solidFill>
                  <a:srgbClr val="1F2D3A"/>
                </a:solidFill>
              </a:rPr>
              <a:t>remains</a:t>
            </a:r>
            <a:r>
              <a:rPr sz="2000" b="0">
                <a:solidFill>
                  <a:srgbClr val="1F2D3A"/>
                </a:solidFill>
              </a:rPr>
              <a:t> in the binary and the attacker can flip the flag to turn logging back on. It must be removed </a:t>
            </a:r>
            <a:r>
              <a:rPr sz="2000" b="1">
                <a:solidFill>
                  <a:srgbClr val="1F2D3A"/>
                </a:solidFill>
              </a:rPr>
              <a:t>at compile time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Three techniques that strengthen flattening?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Hiding state values, fake/dead blocks, a randomised exit point (and opaque values).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Why is string hiding not the same as key storage?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The decrypted string is in memory, in the clear, while it's in use, and the decryption key sits inside the program; it only stops </a:t>
            </a:r>
            <a:r>
              <a:rPr sz="2000" b="1">
                <a:solidFill>
                  <a:srgbClr val="1F2D3A"/>
                </a:solidFill>
              </a:rPr>
              <a:t>static</a:t>
            </a:r>
            <a:r>
              <a:rPr sz="2000" b="0">
                <a:solidFill>
                  <a:srgbClr val="1F2D3A"/>
                </a:solidFill>
              </a:rPr>
              <a:t> scanning.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Summary: This Week in One Sentence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First </a:t>
            </a:r>
            <a:r>
              <a:rPr sz="2000" b="1">
                <a:solidFill>
                  <a:srgbClr val="1F2D3A"/>
                </a:solidFill>
              </a:rPr>
              <a:t>bug-free code</a:t>
            </a:r>
            <a:r>
              <a:rPr sz="2000" b="0">
                <a:solidFill>
                  <a:srgbClr val="1F2D3A"/>
                </a:solidFill>
              </a:rPr>
              <a:t> (CERT + sanitizer + fuzzing), then </a:t>
            </a:r>
            <a:r>
              <a:rPr sz="2000" b="1">
                <a:solidFill>
                  <a:srgbClr val="1F2D3A"/>
                </a:solidFill>
              </a:rPr>
              <a:t>limit the damage</a:t>
            </a:r>
            <a:r>
              <a:rPr sz="2000" b="0">
                <a:solidFill>
                  <a:srgbClr val="1F2D3A"/>
                </a:solidFill>
              </a:rPr>
              <a:t> (compiler/OS protections), and finally </a:t>
            </a:r>
            <a:r>
              <a:rPr sz="2000" b="1">
                <a:solidFill>
                  <a:srgbClr val="1F2D3A"/>
                </a:solidFill>
              </a:rPr>
              <a:t>make it harder to read</a:t>
            </a:r>
            <a:r>
              <a:rPr sz="2000" b="0">
                <a:solidFill>
                  <a:srgbClr val="1F2D3A"/>
                </a:solidFill>
              </a:rPr>
              <a:t> (obfuscation) — and no protection substitutes for secure coding. Secure code is not written once; it is </a:t>
            </a:r>
            <a:r>
              <a:rPr sz="2000" b="1">
                <a:solidFill>
                  <a:srgbClr val="1F2D3A"/>
                </a:solidFill>
              </a:rPr>
              <a:t>checked with tools on every build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Glossary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002239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3460"/>
                <a:gridCol w="6728779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Term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Undefined behaviour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UAF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Use-after-free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CERT/CWE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Rulebook / weakness catalogue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Sanitizer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Runtime bug detector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Fuzzing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Finding crashes with random input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Canary/ASLR/NX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Compiler/OS protections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Next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Week 5 — Java and Interpreted Languages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51808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This week we dealt with manually managed memory in C/C++ and compiler/OS protections; Week 5 shows how the JVM eliminates most of these bugs (overflow, UAF, UB), but opens a new bug class such as injection (SQL, command, path).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197855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The SEI CERT Java rules will be compared with today's SEI CERT C/C++ rules; we will also cover obfuscation with ProGuard/R8, dependency security, and SBOM.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013703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Preparation: JDK 17+, Maven · </a:t>
            </a:r>
            <a:r>
              <a:rPr sz="2000" b="0">
                <a:solidFill>
                  <a:srgbClr val="A1123F"/>
                </a:solidFill>
                <a:latin typeface="Consolas"/>
              </a:rPr>
              <a:t>code/week-05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99351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First correct code, then protection, finally obfuscation. The order matters.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CEN429 Week 4 — Code Hardening: C/C++</dc:title>
  <dc:subject/>
  <dc:creator>Asst. Prof. Dr.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