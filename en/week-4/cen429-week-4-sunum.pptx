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we harden the code itself: first bug-free code, then protections that limit the damage if a bug slips through, and finally obfuscation that makes it harder to read.</a:t>
            </a:r>
          </a:p>
          <a:p/>
          <a:p>
            <a:r>
              <a:t>Speaker note: This week we harden the code itself: first bug-free code, then protections that limit the damage if a bug slips through, and finally obfuscation that makes it harder to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we harden the code itself. We assume students know C but not security terms; we will define every term. Demos are under code/week-04.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the format string vulnerability.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After the break, static analysis, sanitizers,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compiler and OS protections.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These are the "limit the damage if a bug slips through" layer. None of them removes the bug; they make exploitation harder.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an introduction to code obfuscation.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introductory layer of obfuscation. Depth comes in Weeks 9 and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Next, the project and the solved self-check.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We trace a single overflow from buggy code to attack, then to the fix; we see all three of this week's layers (coding, compiler/OS, not obfuscation but correction) in the same example. Can be worked through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Code Hardening: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53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044"/>
                <a:gridCol w="727435"/>
                <a:gridCol w="9655055"/>
              </a:tblGrid>
              <a:tr h="73837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837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Layers of hardening · SEI CERT · input validation principles · CERT pairs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837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Format string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UAF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integer/UB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error handling/signals · static analysis · sanitizers · fuzzing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837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Compiler/OS protections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secure build pipeline (CI) · code obfuscation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6–7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end to end ·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8912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outcome:</a:t>
            </a:r>
            <a:r>
              <a:rPr sz="2000" b="0">
                <a:solidFill>
                  <a:srgbClr val="1F2D3A"/>
                </a:solidFill>
              </a:rPr>
              <a:t> LO.3 (binary application protections)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Brief History — the Race Between Memory Bugs and Defences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announces the buffer overflow to the world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teaches exploitation to everyone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canary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and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catch bugs automatically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This course follows this race: write the bug → let the tool catch it → let the compiler/OS protect.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We Bring from Earlier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Process memory: stack and heap</a:t>
            </a:r>
            <a:r>
              <a:rPr sz="2000" b="0">
                <a:solidFill>
                  <a:srgbClr val="1F2D3A"/>
                </a:solidFill>
              </a:rPr>
              <a:t> — the stack automatically manages the local variables of function calls, the heap is managed manually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Buffer overflow</a:t>
            </a:r>
            <a:r>
              <a:rPr sz="2000" b="0">
                <a:solidFill>
                  <a:srgbClr val="1F2D3A"/>
                </a:solidFill>
              </a:rPr>
              <a:t> — writing more data to an array than its allocated size; the overflowing bytes land on neighbouring memory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Stack frame and return address</a:t>
            </a:r>
            <a:r>
              <a:rPr sz="2000" b="0">
                <a:solidFill>
                  <a:srgbClr val="1F2D3A"/>
                </a:solidFill>
              </a:rPr>
              <a:t> — the region a function call gets on the stack, holding its local variables and the return address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The white-box attacker model</a:t>
            </a:r>
            <a:r>
              <a:rPr sz="2000" b="0">
                <a:solidFill>
                  <a:srgbClr val="1F2D3A"/>
                </a:solidFill>
              </a:rPr>
              <a:t> — the owner of the device is also a possible attacker; they can read memory, attach a debugger </a:t>
            </a:r>
            <a:r>
              <a:rPr sz="2000" b="1">
                <a:solidFill>
                  <a:srgbClr val="1F2D3A"/>
                </a:solidFill>
              </a:rPr>
              <a:t>(Week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— a numbered catalogue of software weaknesses </a:t>
            </a:r>
            <a:r>
              <a:rPr sz="2000" b="1">
                <a:solidFill>
                  <a:srgbClr val="1F2D3A"/>
                </a:solidFill>
              </a:rPr>
              <a:t>(Week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2744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week: on top of these foundations we build SEI CERT rules, sanitizers, and compiler/OS protections — applying the Weeks 1–3 principles/threat-model/crypto foundation to the C/C++ code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Each term is defined once, where it first appears in the body; here we only mark </a:t>
            </a:r>
            <a:r>
              <a:rPr sz="1800" b="1">
                <a:solidFill>
                  <a:srgbClr val="1F2D3A"/>
                </a:solidFill>
              </a:rPr>
              <a:t>where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38074"/>
                <a:gridCol w="2364165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Layers of hardening · SEI CERT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Input validation principles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Format string vulnerability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Use-after-free (UAF)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Undefined behaviour (UB)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Error handling, signals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Static analysis · sanitizers · 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Compiler/OS protections · 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obfuscation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Pointer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Pointer:</a:t>
            </a:r>
            <a:r>
              <a:rPr sz="2000" b="0">
                <a:solidFill>
                  <a:srgbClr val="1F2D3A"/>
                </a:solidFill>
              </a:rPr>
              <a:t> a variable that holds a memory </a:t>
            </a:r>
            <a:r>
              <a:rPr sz="2000" b="1">
                <a:solidFill>
                  <a:srgbClr val="1F2D3A"/>
                </a:solidFill>
              </a:rPr>
              <a:t>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is an address;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is the value at that address.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Wrong address → crash or wrong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Compiler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Flag:</a:t>
            </a:r>
            <a:r>
              <a:rPr sz="2000" b="0">
                <a:solidFill>
                  <a:srgbClr val="1F2D3A"/>
                </a:solidFill>
              </a:rPr>
              <a:t> an option passed to the compiler.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Example: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(optimisation),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(warnings),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right flags catch many bugs </a:t>
            </a:r>
            <a:r>
              <a:rPr sz="2000" b="1">
                <a:solidFill>
                  <a:srgbClr val="1F2D3A"/>
                </a:solidFill>
              </a:rPr>
              <a:t>at compile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Warning vs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Error:</a:t>
            </a:r>
            <a:r>
              <a:rPr sz="2000" b="0">
                <a:solidFill>
                  <a:srgbClr val="1F2D3A"/>
                </a:solidFill>
              </a:rPr>
              <a:t> compilation stops.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Warning:</a:t>
            </a:r>
            <a:r>
              <a:rPr sz="2000" b="0">
                <a:solidFill>
                  <a:srgbClr val="1F2D3A"/>
                </a:solidFill>
              </a:rPr>
              <a:t> compilation continues but a problem is reported.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Rule: </a:t>
            </a:r>
            <a:r>
              <a:rPr sz="2000" b="1">
                <a:solidFill>
                  <a:srgbClr val="1F2D3A"/>
                </a:solidFill>
              </a:rPr>
              <a:t>turn warnings into errors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an ignored warning is a future vulnerability.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Do the Demos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Demos live under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code/week-04</a:t>
            </a:r>
            <a:r>
              <a:rPr sz="2000" b="0">
                <a:solidFill>
                  <a:srgbClr val="1F2D3A"/>
                </a:solidFill>
              </a:rPr>
              <a:t>; they run on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WSL/Linux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Run: in each demo folder,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 (Demo 4)</a:t>
            </a:r>
            <a:r>
              <a:rPr sz="2000" b="0">
                <a:solidFill>
                  <a:srgbClr val="1F2D3A"/>
                </a:solidFill>
              </a:rPr>
              <a:t> needs </a:t>
            </a:r>
            <a:r>
              <a:rPr sz="2000" b="1">
                <a:solidFill>
                  <a:srgbClr val="1F2D3A"/>
                </a:solidFill>
              </a:rPr>
              <a:t>clang</a:t>
            </a:r>
            <a:r>
              <a:rPr sz="2000" b="0">
                <a:solidFill>
                  <a:srgbClr val="1F2D3A"/>
                </a:solidFill>
              </a:rPr>
              <a:t> on Linux/WSL (</a:t>
            </a:r>
            <a:r>
              <a:rPr sz="2000" b="0">
                <a:solidFill>
                  <a:srgbClr val="A1123F"/>
                </a:solidFill>
                <a:latin typeface="Consolas"/>
              </a:rPr>
              <a:t>sudo apt install -y clang</a:t>
            </a:r>
            <a:r>
              <a:rPr sz="2000" b="0">
                <a:solidFill>
                  <a:srgbClr val="1F2D3A"/>
                </a:solidFill>
              </a:rPr>
              <a:t>); on Windows it needs Visual Studio's "C++ AddressSanitizer" component.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69112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Ethics:</a:t>
            </a:r>
            <a:r>
              <a:rPr sz="2000" b="0">
                <a:solidFill>
                  <a:srgbClr val="1F2D3A"/>
                </a:solidFill>
              </a:rPr>
              <a:t> the demos run only against </a:t>
            </a:r>
            <a:r>
              <a:rPr sz="2000" b="1">
                <a:solidFill>
                  <a:srgbClr val="1F2D3A"/>
                </a:solidFill>
              </a:rPr>
              <a:t>our own small programs</a:t>
            </a:r>
            <a:r>
              <a:rPr sz="2000" b="0">
                <a:solidFill>
                  <a:srgbClr val="1F2D3A"/>
                </a:solidFill>
              </a:rPr>
              <a:t>; none of them touch another program or system.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Layers and SEI CERT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Three Layers, the Right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Code hardening is three layers. The order matters: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First, bug-free code</a:t>
            </a:r>
            <a:r>
              <a:rPr sz="2000" b="0">
                <a:solidFill>
                  <a:srgbClr val="1F2D3A"/>
                </a:solidFill>
              </a:rPr>
              <a:t> (secure coding)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Then, limit the damage</a:t>
            </a:r>
            <a:r>
              <a:rPr sz="2000" b="0">
                <a:solidFill>
                  <a:srgbClr val="1F2D3A"/>
                </a:solidFill>
              </a:rPr>
              <a:t> (compiler/OS protections)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Finally, make it harder to read</a:t>
            </a:r>
            <a:r>
              <a:rPr sz="2000" b="0">
                <a:solidFill>
                  <a:srgbClr val="1F2D3A"/>
                </a:solidFill>
              </a:rPr>
              <a:t> (obfuscation)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Obfuscation does </a:t>
            </a:r>
            <a:r>
              <a:rPr sz="2000" b="1">
                <a:solidFill>
                  <a:srgbClr val="1F2D3A"/>
                </a:solidFill>
              </a:rPr>
              <a:t>not fix</a:t>
            </a:r>
            <a:r>
              <a:rPr sz="2000" b="0">
                <a:solidFill>
                  <a:srgbClr val="1F2D3A"/>
                </a:solidFill>
              </a:rPr>
              <a:t> the bug.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This Order?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Adding protection to buggy code is like painting over a rotten foundation.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First </a:t>
            </a:r>
            <a:r>
              <a:rPr sz="2000" b="1">
                <a:solidFill>
                  <a:srgbClr val="1F2D3A"/>
                </a:solidFill>
              </a:rPr>
              <a:t>remove</a:t>
            </a:r>
            <a:r>
              <a:rPr sz="2000" b="0">
                <a:solidFill>
                  <a:srgbClr val="1F2D3A"/>
                </a:solidFill>
              </a:rPr>
              <a:t> the bug; then </a:t>
            </a:r>
            <a:r>
              <a:rPr sz="2000" b="1">
                <a:solidFill>
                  <a:srgbClr val="1F2D3A"/>
                </a:solidFill>
              </a:rPr>
              <a:t>catch</a:t>
            </a:r>
            <a:r>
              <a:rPr sz="2000" b="0">
                <a:solidFill>
                  <a:srgbClr val="1F2D3A"/>
                </a:solidFill>
              </a:rPr>
              <a:t> what slips through; finally </a:t>
            </a:r>
            <a:r>
              <a:rPr sz="2000" b="1">
                <a:solidFill>
                  <a:srgbClr val="1F2D3A"/>
                </a:solidFill>
              </a:rPr>
              <a:t>slow down</a:t>
            </a:r>
            <a:r>
              <a:rPr sz="2000" b="0">
                <a:solidFill>
                  <a:srgbClr val="1F2D3A"/>
                </a:solidFill>
              </a:rPr>
              <a:t> reverse engineering.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 will see all three this week, in this order.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Anatomy of a CERT Rule —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the rulebook of secure coding, distilled from real-world vulnerabilities.</a:t>
            </a:r>
          </a:p>
        </p:txBody>
      </p:sp>
      <p:pic>
        <p:nvPicPr>
          <p:cNvPr id="8" name="Picture 7" descr="h04-15-cert-kural-anatom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05736"/>
            <a:ext cx="10911535" cy="34014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Three Layers — Diagram</a:t>
            </a:r>
          </a:p>
        </p:txBody>
      </p:sp>
      <p:pic>
        <p:nvPicPr>
          <p:cNvPr id="7" name="Picture 6" descr="h04-05-uc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871" y="1325880"/>
            <a:ext cx="847195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Layer 2 · Secure 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is there a bug in my code?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Tools:</a:t>
            </a:r>
            <a:r>
              <a:rPr sz="2000" b="0">
                <a:solidFill>
                  <a:srgbClr val="1F2D3A"/>
                </a:solidFill>
              </a:rPr>
              <a:t> CERT rules, sanitizers,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Goal:</a:t>
            </a:r>
            <a:r>
              <a:rPr sz="2000" b="0">
                <a:solidFill>
                  <a:srgbClr val="1F2D3A"/>
                </a:solidFill>
              </a:rPr>
              <a:t> not writing the bug in the first place.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Layer 3 · Compiler/OS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if a bug slips through, is it hard to exploit?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Tools:</a:t>
            </a:r>
            <a:r>
              <a:rPr sz="2000" b="0">
                <a:solidFill>
                  <a:srgbClr val="1F2D3A"/>
                </a:solidFill>
              </a:rPr>
              <a:t> canary,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Goal:</a:t>
            </a:r>
            <a:r>
              <a:rPr sz="2000" b="0">
                <a:solidFill>
                  <a:srgbClr val="1F2D3A"/>
                </a:solidFill>
              </a:rPr>
              <a:t> making exploitation of the remaining bug expensive.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Layer 4 · Obfuscation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does someone reading the code understand 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Tools:</a:t>
            </a:r>
            <a:r>
              <a:rPr sz="2000" b="0">
                <a:solidFill>
                  <a:srgbClr val="1F2D3A"/>
                </a:solidFill>
              </a:rPr>
              <a:t> symbol/string hiding, removing logging, flattening.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Goal:</a:t>
            </a:r>
            <a:r>
              <a:rPr sz="2000" b="0">
                <a:solidFill>
                  <a:srgbClr val="1F2D3A"/>
                </a:solidFill>
              </a:rPr>
              <a:t> slowing down reverse engineering.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From the Field: Scheme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a certified product: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"Common vulnerabilities must be addressed: sensitive data, injection, overflow, language-specific weaknesses"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"Defensive programming </a:t>
            </a:r>
            <a:r>
              <a:rPr sz="2000" b="1">
                <a:solidFill>
                  <a:srgbClr val="1F2D3A"/>
                </a:solidFill>
              </a:rPr>
              <a:t>consistent across the entire codebase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"Protection against static and dynamic reverse engineering"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Eighteen hardening measures on the native side </a:t>
            </a:r>
            <a:r>
              <a:rPr sz="2000" b="1">
                <a:solidFill>
                  <a:srgbClr val="1F2D3A"/>
                </a:solidFill>
              </a:rPr>
              <a:t>alone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What Does a Rule Look Like?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Parts of every CERT rule: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Identifier: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Title:</a:t>
            </a:r>
            <a:r>
              <a:rPr sz="2000" b="0">
                <a:solidFill>
                  <a:srgbClr val="1F2D3A"/>
                </a:solidFill>
              </a:rPr>
              <a:t> one sentence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Noncompliant example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compliant solution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level</a:t>
            </a:r>
            <a:r>
              <a:rPr sz="2000" b="0">
                <a:solidFill>
                  <a:srgbClr val="1F2D3A"/>
                </a:solidFill>
              </a:rPr>
              <a:t> (L1/L2/L3) and a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link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 or Recommendation?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Rule:</a:t>
            </a:r>
            <a:r>
              <a:rPr sz="2000" b="0">
                <a:solidFill>
                  <a:srgbClr val="1F2D3A"/>
                </a:solidFill>
              </a:rPr>
              <a:t> violating it is a </a:t>
            </a:r>
            <a:r>
              <a:rPr sz="2000" b="1">
                <a:solidFill>
                  <a:srgbClr val="1F2D3A"/>
                </a:solidFill>
              </a:rPr>
              <a:t>vulnerability</a:t>
            </a:r>
            <a:r>
              <a:rPr sz="2000" b="0">
                <a:solidFill>
                  <a:srgbClr val="1F2D3A"/>
                </a:solidFill>
              </a:rPr>
              <a:t>, and it can be checked automatically.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Recommendation:</a:t>
            </a:r>
            <a:r>
              <a:rPr sz="2000" b="0">
                <a:solidFill>
                  <a:srgbClr val="1F2D3A"/>
                </a:solidFill>
              </a:rPr>
              <a:t> good practice.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Start a review with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(highest risk) rules.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Is the Risk Level Determined?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severity × likelihood × cost to fix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high risk, these first.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progressively lower.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Categories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364"/>
                <a:gridCol w="2155364"/>
                <a:gridCol w="6600805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Abbreviation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Integers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do not allow signed overflow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Array/string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allocate sufficient space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do not access freed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File I/O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exclude input from the format string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Categories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331"/>
                <a:gridCol w="2834164"/>
                <a:gridCol w="581003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Abbreviation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Environment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do not call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only safe fn. in the handler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Error handling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detect a library 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Concurrency/misc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Automated CERT Auditing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Warnings: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The evaluator runs this scan first, then reads by hand.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Input Validation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Input Validation — Diagram</a:t>
            </a:r>
          </a:p>
        </p:txBody>
      </p:sp>
      <p:pic>
        <p:nvPicPr>
          <p:cNvPr id="7" name="Picture 6" descr="h04-06-girdi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845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Where Does Input Come From?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From more places than you'd think. And </a:t>
            </a:r>
            <a:r>
              <a:rPr sz="2000" b="1">
                <a:solidFill>
                  <a:srgbClr val="1F2D3A"/>
                </a:solidFill>
              </a:rPr>
              <a:t>all of it is untrusted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Command line, environment variables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File, network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(another process on the same machine)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Database, library interface (JNI)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Commonly Forgotten 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Even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can be the attacker's;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Length fields</a:t>
            </a:r>
            <a:r>
              <a:rPr sz="2000" b="0">
                <a:solidFill>
                  <a:srgbClr val="1F2D3A"/>
                </a:solidFill>
              </a:rPr>
              <a:t> inside a file format.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Network: says "16 bytes," sends 1 byte.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"Our own data" may have changed since.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Five Principles of Input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Allow-list</a:t>
            </a:r>
            <a:r>
              <a:rPr sz="2000" b="0">
                <a:solidFill>
                  <a:srgbClr val="1F2D3A"/>
                </a:solidFill>
              </a:rPr>
              <a:t> (enumerate what's permitted), not a deny-list.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Canonicalize first</a:t>
            </a:r>
            <a:r>
              <a:rPr sz="2000" b="0">
                <a:solidFill>
                  <a:srgbClr val="1F2D3A"/>
                </a:solidFill>
              </a:rPr>
              <a:t>, then validate.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Length → type → range → format</a:t>
            </a:r>
            <a:r>
              <a:rPr sz="2000" b="0">
                <a:solidFill>
                  <a:srgbClr val="1F2D3A"/>
                </a:solidFill>
              </a:rPr>
              <a:t>, in that order.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At the </a:t>
            </a:r>
            <a:r>
              <a:rPr sz="2000" b="1">
                <a:solidFill>
                  <a:srgbClr val="1F2D3A"/>
                </a:solidFill>
              </a:rPr>
              <a:t>trust boundary</a:t>
            </a:r>
            <a:r>
              <a:rPr sz="2000" b="0">
                <a:solidFill>
                  <a:srgbClr val="1F2D3A"/>
                </a:solidFill>
              </a:rPr>
              <a:t>, as early as possible.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Reject</a:t>
            </a:r>
            <a:r>
              <a:rPr sz="2000" b="0">
                <a:solidFill>
                  <a:srgbClr val="1F2D3A"/>
                </a:solidFill>
              </a:rPr>
              <a:t>, don't "clean up" and use it anyway.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Principle 1 · Allow-List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Deny-list:</a:t>
            </a:r>
            <a:r>
              <a:rPr sz="2000" b="0">
                <a:solidFill>
                  <a:srgbClr val="1F2D3A"/>
                </a:solidFill>
              </a:rPr>
              <a:t> "these are forbidden" — something always gets forgotten.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Allow-list:</a:t>
            </a:r>
            <a:r>
              <a:rPr sz="2000" b="0">
                <a:solidFill>
                  <a:srgbClr val="1F2D3A"/>
                </a:solidFill>
              </a:rPr>
              <a:t> "only these are permitted" — a safe default.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Example: a username may only contain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Principle 2 · Canonicalize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same thing, spelled differently: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Reduce it to </a:t>
            </a:r>
            <a:r>
              <a:rPr sz="2000" b="1">
                <a:solidFill>
                  <a:srgbClr val="1F2D3A"/>
                </a:solidFill>
              </a:rPr>
              <a:t>one form</a:t>
            </a:r>
            <a:r>
              <a:rPr sz="2000" b="0">
                <a:solidFill>
                  <a:srgbClr val="1F2D3A"/>
                </a:solidFill>
              </a:rPr>
              <a:t> (canonicalize) first, then check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Otherwise the check can be bypassed.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Principle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  <a:r>
              <a:rPr sz="3000" b="1">
                <a:solidFill>
                  <a:srgbClr val="006D77"/>
                </a:solidFill>
              </a:rPr>
              <a:t>, Not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Dangerous?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(the error is silent)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undefined</a:t>
            </a:r>
            <a:r>
              <a:rPr sz="2000" b="0">
                <a:solidFill>
                  <a:srgbClr val="1F2D3A"/>
                </a:solidFill>
              </a:rPr>
              <a:t> (overflow)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(the extra characters are ignored)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reports </a:t>
            </a:r>
            <a:r>
              <a:rPr sz="2000" b="1">
                <a:solidFill>
                  <a:srgbClr val="1F2D3A"/>
                </a:solidFill>
              </a:rPr>
              <a:t>every error</a:t>
            </a:r>
            <a:r>
              <a:rPr sz="2000" b="0">
                <a:solidFill>
                  <a:srgbClr val="1F2D3A"/>
                </a:solidFill>
              </a:rPr>
              <a:t> to you;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does not.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Principle 3 · a Length-Prefixed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Two Separate Checks, the Right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Source check:</a:t>
            </a:r>
            <a:r>
              <a:rPr sz="2000" b="0">
                <a:solidFill>
                  <a:srgbClr val="1F2D3A"/>
                </a:solidFill>
              </a:rPr>
              <a:t> is the declared length greater than the data that arrived?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Destination check:</a:t>
            </a:r>
            <a:r>
              <a:rPr sz="2000" b="0">
                <a:solidFill>
                  <a:srgbClr val="1F2D3A"/>
                </a:solidFill>
              </a:rPr>
              <a:t> does it fit in the destination buffer?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Order: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first</a:t>
            </a:r>
            <a:r>
              <a:rPr sz="2000" b="0">
                <a:solidFill>
                  <a:srgbClr val="1F2D3A"/>
                </a:solidFill>
              </a:rPr>
              <a:t>, so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does not wrap.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the field: every array coming from JNI is </a:t>
            </a:r>
            <a:r>
              <a:rPr sz="2000" b="1">
                <a:solidFill>
                  <a:srgbClr val="1F2D3A"/>
                </a:solidFill>
              </a:rPr>
              <a:t>re-validated</a:t>
            </a:r>
            <a:r>
              <a:rPr sz="2000" b="0">
                <a:solidFill>
                  <a:srgbClr val="1F2D3A"/>
                </a:solidFill>
              </a:rPr>
              <a:t> on the native side.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Pair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does not know bounds;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knows the size and reports </a:t>
            </a:r>
            <a:r>
              <a:rPr sz="2000" b="1">
                <a:solidFill>
                  <a:srgbClr val="1F2D3A"/>
                </a:solidFill>
              </a:rPr>
              <a:t>truncation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Pair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Unsigned subtraction </a:t>
            </a:r>
            <a:r>
              <a:rPr sz="2000" b="1">
                <a:solidFill>
                  <a:srgbClr val="1F2D3A"/>
                </a:solidFill>
              </a:rPr>
              <a:t>wraps</a:t>
            </a:r>
            <a:r>
              <a:rPr sz="2000" b="0">
                <a:solidFill>
                  <a:srgbClr val="1F2D3A"/>
                </a:solidFill>
              </a:rPr>
              <a:t>; check the logic first.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Pair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Reading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 = accessing freed memory.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Pair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Check </a:t>
            </a:r>
            <a:r>
              <a:rPr sz="2000" b="1">
                <a:solidFill>
                  <a:srgbClr val="1F2D3A"/>
                </a:solidFill>
              </a:rPr>
              <a:t>every</a:t>
            </a:r>
            <a:r>
              <a:rPr sz="2000" b="0">
                <a:solidFill>
                  <a:srgbClr val="1F2D3A"/>
                </a:solidFill>
              </a:rPr>
              <a:t> return value;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can return NULL.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Rule: Tie the Finding to an Identifier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Match every finding to a CERT identifier: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"This line is a MEM30-C violation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makes the finding </a:t>
            </a:r>
            <a:r>
              <a:rPr sz="2000" b="1">
                <a:solidFill>
                  <a:srgbClr val="1F2D3A"/>
                </a:solidFill>
              </a:rPr>
              <a:t>objective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searchable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three layers, and the right order?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Difference between a rule and a recommendation?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more dangerous than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Order:</a:t>
            </a:r>
            <a:r>
              <a:rPr sz="2000" b="0">
                <a:solidFill>
                  <a:srgbClr val="1F2D3A"/>
                </a:solidFill>
              </a:rPr>
              <a:t> secure code (source) → </a:t>
            </a:r>
            <a:r>
              <a:rPr sz="2000" b="1">
                <a:solidFill>
                  <a:srgbClr val="1F2D3A"/>
                </a:solidFill>
              </a:rPr>
              <a:t>compiler/tool</a:t>
            </a:r>
            <a:r>
              <a:rPr sz="2000" b="0">
                <a:solidFill>
                  <a:srgbClr val="1F2D3A"/>
                </a:solidFill>
              </a:rPr>
              <a:t> protections → </a:t>
            </a:r>
            <a:r>
              <a:rPr sz="2000" b="1">
                <a:solidFill>
                  <a:srgbClr val="1F2D3A"/>
                </a:solidFill>
              </a:rPr>
              <a:t>OS/runtime</a:t>
            </a:r>
            <a:r>
              <a:rPr sz="2000" b="0">
                <a:solidFill>
                  <a:srgbClr val="1F2D3A"/>
                </a:solidFill>
              </a:rPr>
              <a:t> protections. First write it correctly, then harden it, then defend it at runtime.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rule</a:t>
            </a:r>
            <a:r>
              <a:rPr sz="2000" b="0">
                <a:solidFill>
                  <a:srgbClr val="1F2D3A"/>
                </a:solidFill>
              </a:rPr>
              <a:t> always applies, and violating it is a defect; a </a:t>
            </a:r>
            <a:r>
              <a:rPr sz="2000" b="1">
                <a:solidFill>
                  <a:srgbClr val="1F2D3A"/>
                </a:solidFill>
              </a:rPr>
              <a:t>recommendation</a:t>
            </a:r>
            <a:r>
              <a:rPr sz="2000" b="0">
                <a:solidFill>
                  <a:srgbClr val="1F2D3A"/>
                </a:solidFill>
              </a:rPr>
              <a:t> is good practice depending on context.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does </a:t>
            </a:r>
            <a:r>
              <a:rPr sz="2000" b="1">
                <a:solidFill>
                  <a:srgbClr val="1F2D3A"/>
                </a:solidFill>
              </a:rPr>
              <a:t>not report</a:t>
            </a:r>
            <a:r>
              <a:rPr sz="2000" b="0">
                <a:solidFill>
                  <a:srgbClr val="1F2D3A"/>
                </a:solidFill>
              </a:rPr>
              <a:t> errors (undefined/0 on overflow/invalid input);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lets you check </a:t>
            </a:r>
            <a:r>
              <a:rPr sz="2000" b="1">
                <a:solidFill>
                  <a:srgbClr val="1F2D3A"/>
                </a:solidFill>
              </a:rPr>
              <a:t>both the error and the bound</a:t>
            </a:r>
            <a:r>
              <a:rPr sz="2000" b="0">
                <a:solidFill>
                  <a:srgbClr val="1F2D3A"/>
                </a:solidFill>
              </a:rPr>
              <a:t> via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Format String Vulnerability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Format String Vulnerability — Diagram</a:t>
            </a:r>
          </a:p>
        </p:txBody>
      </p:sp>
      <p:pic>
        <p:nvPicPr>
          <p:cNvPr id="7" name="Picture 6" descr="h04-07-bicim-diz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4588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Problem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the first case, user input is interpreted as a </a:t>
            </a:r>
            <a:r>
              <a:rPr sz="2000" b="1">
                <a:solidFill>
                  <a:srgbClr val="1F2D3A"/>
                </a:solidFill>
              </a:rPr>
              <a:t>format string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 It Dangerous?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treats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markers in the format string as a </a:t>
            </a:r>
            <a:r>
              <a:rPr sz="2000" b="1">
                <a:solidFill>
                  <a:srgbClr val="1F2D3A"/>
                </a:solidFill>
              </a:rPr>
              <a:t>command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the user supplies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, they make the program do work.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Marker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Reads</a:t>
            </a:r>
            <a:r>
              <a:rPr sz="2000" b="0">
                <a:solidFill>
                  <a:srgbClr val="1F2D3A"/>
                </a:solidFill>
              </a:rPr>
              <a:t> values off the stack and prints them.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information leak</a:t>
            </a:r>
            <a:r>
              <a:rPr sz="2000" b="0">
                <a:solidFill>
                  <a:srgbClr val="1F2D3A"/>
                </a:solidFill>
              </a:rPr>
              <a:t> (addresses, secret values).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Weakens ASLR (if an address leaks).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Marker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Treats a value on the stack as a </a:t>
            </a:r>
            <a:r>
              <a:rPr sz="2000" b="1">
                <a:solidFill>
                  <a:srgbClr val="1F2D3A"/>
                </a:solidFill>
              </a:rPr>
              <a:t>pointer</a:t>
            </a:r>
            <a:r>
              <a:rPr sz="2000" b="0">
                <a:solidFill>
                  <a:srgbClr val="1F2D3A"/>
                </a:solidFill>
              </a:rPr>
              <a:t> and reads the string at that address.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Random address → crash or memory read.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Marker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Writes</a:t>
            </a:r>
            <a:r>
              <a:rPr sz="2000" b="0">
                <a:solidFill>
                  <a:srgbClr val="1F2D3A"/>
                </a:solidFill>
              </a:rPr>
              <a:t> the number of characters printed so far to an address.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writes to memory</a:t>
            </a:r>
            <a:r>
              <a:rPr sz="2000" b="0">
                <a:solidFill>
                  <a:srgbClr val="1F2D3A"/>
                </a:solidFill>
              </a:rPr>
              <a:t> → corruption, hijacking control.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most dangerous one.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Same Bug Elsewhere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 just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they all take a format string.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Rule: the format string is </a:t>
            </a:r>
            <a:r>
              <a:rPr sz="2000" b="1">
                <a:solidFill>
                  <a:srgbClr val="1F2D3A"/>
                </a:solidFill>
              </a:rPr>
              <a:t>always constant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Format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689"/>
                <a:gridCol w="897784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Is Seen?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warns;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catches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stack is dumped, the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secret (synthetic) value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appears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Unprotected Linux crashes; Windows CRT rejects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Markers appear only as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Fix · Layer by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format string is always </a:t>
            </a:r>
            <a:r>
              <a:rPr sz="2000" b="1">
                <a:solidFill>
                  <a:srgbClr val="1F2D3A"/>
                </a:solidFill>
              </a:rPr>
              <a:t>constant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Warning: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Have the compiler </a:t>
            </a:r>
            <a:r>
              <a:rPr sz="2000" b="1">
                <a:solidFill>
                  <a:srgbClr val="1F2D3A"/>
                </a:solidFill>
              </a:rPr>
              <a:t>check</a:t>
            </a:r>
            <a:r>
              <a:rPr sz="2000" b="0">
                <a:solidFill>
                  <a:srgbClr val="1F2D3A"/>
                </a:solidFill>
              </a:rPr>
              <a:t> your own function too: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Runtime: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has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disabled.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Memory: Use-After-Free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Stack and Heap — Diagram</a:t>
            </a:r>
          </a:p>
        </p:txBody>
      </p:sp>
      <p:pic>
        <p:nvPicPr>
          <p:cNvPr id="7" name="Picture 6" descr="h04-13-yigin-ob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65" y="1325880"/>
            <a:ext cx="1050896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Use-After-Free — Diagram</a:t>
            </a:r>
          </a:p>
        </p:txBody>
      </p:sp>
      <p:pic>
        <p:nvPicPr>
          <p:cNvPr id="7" name="Picture 6" descr="h04-08-u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9513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UAF? ·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object is on the heap.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Two pointers</a:t>
            </a:r>
            <a:r>
              <a:rPr sz="2000" b="0">
                <a:solidFill>
                  <a:srgbClr val="1F2D3A"/>
                </a:solidFill>
              </a:rPr>
              <a:t> point to the same object.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of them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s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other still holds that address → a </a:t>
            </a:r>
            <a:r>
              <a:rPr sz="2000" b="1">
                <a:solidFill>
                  <a:srgbClr val="1F2D3A"/>
                </a:solidFill>
              </a:rPr>
              <a:t>dangling</a:t>
            </a:r>
            <a:r>
              <a:rPr sz="2000" b="0">
                <a:solidFill>
                  <a:srgbClr val="1F2D3A"/>
                </a:solidFill>
              </a:rPr>
              <a:t> pointer.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Step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allocator gives the same block to </a:t>
            </a:r>
            <a:r>
              <a:rPr sz="2000" b="1">
                <a:solidFill>
                  <a:srgbClr val="1F2D3A"/>
                </a:solidFill>
              </a:rPr>
              <a:t>another 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dangling pointer now reads/writes </a:t>
            </a:r>
            <a:r>
              <a:rPr sz="2000" b="1">
                <a:solidFill>
                  <a:srgbClr val="1F2D3A"/>
                </a:solidFill>
              </a:rPr>
              <a:t>foreign data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object has a </a:t>
            </a:r>
            <a:r>
              <a:rPr sz="2000" b="1">
                <a:solidFill>
                  <a:srgbClr val="1F2D3A"/>
                </a:solidFill>
              </a:rPr>
              <a:t>function pointer</a:t>
            </a:r>
            <a:r>
              <a:rPr sz="2000" b="0">
                <a:solidFill>
                  <a:srgbClr val="1F2D3A"/>
                </a:solidFill>
              </a:rPr>
              <a:t> (C++ virtual table), the risk grows.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Is UAF So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Most of the "memory corruption fixed" notes in browser/OS updates fall into this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Complex ownership → a dangling pointer.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and Double 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92328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Is Seen?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freed block gets reused → role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locations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Double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undefined behaviour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single owner → safe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Report · Three Stack Traces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fix is usually at </a:t>
            </a:r>
            <a:r>
              <a:rPr sz="2000" b="1">
                <a:solidFill>
                  <a:srgbClr val="1F2D3A"/>
                </a:solidFill>
              </a:rPr>
              <a:t>location 2</a:t>
            </a:r>
            <a:r>
              <a:rPr sz="2000" b="0">
                <a:solidFill>
                  <a:srgbClr val="1F2D3A"/>
                </a:solidFill>
              </a:rPr>
              <a:t>: the ownership decision was wrong there.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Fix · the C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Set the pointer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Establish a </a:t>
            </a:r>
            <a:r>
              <a:rPr sz="2000" b="1">
                <a:solidFill>
                  <a:srgbClr val="1F2D3A"/>
                </a:solidFill>
              </a:rPr>
              <a:t>single owner</a:t>
            </a:r>
            <a:r>
              <a:rPr sz="2000" b="0">
                <a:solidFill>
                  <a:srgbClr val="1F2D3A"/>
                </a:solidFill>
              </a:rPr>
              <a:t>, a single release point.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 down the ownership rule: "who releases this memory?"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Fix · C++ Smart Pointers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563762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Single owner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Shared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Non-owning observation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is a raw pointer; when a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grows, its iterators are invalidated.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Integers and UB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Integer Overflow — Diagram</a:t>
            </a:r>
          </a:p>
        </p:txBody>
      </p:sp>
      <p:pic>
        <p:nvPicPr>
          <p:cNvPr id="7" name="Picture 6" descr="h04-09-tamsa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00233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Four Integer Bugs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0666"/>
                <a:gridCol w="4492985"/>
                <a:gridCol w="27278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Unsigned wraparound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4,294,967,295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Logic error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Signed overflow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Undefined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Conversion loss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Truncation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Shift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Undefined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Does It Matter? · Multiplication Overflow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Writing too much into a small allocated block = an overflow.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the Compiler Can Delete the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Undefined behaviour (UB):</a:t>
            </a:r>
            <a:r>
              <a:rPr sz="2000" b="0">
                <a:solidFill>
                  <a:srgbClr val="1F2D3A"/>
                </a:solidFill>
              </a:rPr>
              <a:t> an operation whose result the C/C++ standard does not define (e.g., signed integer overflow).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7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"works"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, at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the check </a:t>
            </a:r>
            <a:r>
              <a:rPr sz="2000" b="1">
                <a:solidFill>
                  <a:srgbClr val="1F2D3A"/>
                </a:solidFill>
              </a:rPr>
              <a:t>disappears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 cannot be relied on.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Correct: Check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Catch the overflow </a:t>
            </a:r>
            <a:r>
              <a:rPr sz="2000" b="1">
                <a:solidFill>
                  <a:srgbClr val="1F2D3A"/>
                </a:solidFill>
              </a:rPr>
              <a:t>before it happens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and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Signed overflow, invalid shift, misaligned access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On x86, most produce a wrong result </a:t>
            </a:r>
            <a:r>
              <a:rPr sz="1800" b="1">
                <a:solidFill>
                  <a:srgbClr val="1F2D3A"/>
                </a:solidFill>
              </a:rPr>
              <a:t>silently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no UBSan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hides</a:t>
            </a:r>
            <a:r>
              <a:rPr sz="1800" b="0">
                <a:solidFill>
                  <a:srgbClr val="1F2D3A"/>
                </a:solidFill>
              </a:rPr>
              <a:t> the logic error; do not use it for diagnosis.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Error Handling and Signals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Signal Handler — Diagram</a:t>
            </a:r>
          </a:p>
        </p:txBody>
      </p:sp>
      <p:pic>
        <p:nvPicPr>
          <p:cNvPr id="7" name="Picture 6" descr="h04-12-sin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83" y="1325880"/>
            <a:ext cx="1055892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Unchecked Return Value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9812"/>
                <a:gridCol w="651172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Call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If Not Checked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Writing to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Stays privileged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"random" key is 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Tampered data is assumed verified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Rules for Error Handling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Check every return value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On error, return to a </a:t>
            </a:r>
            <a:r>
              <a:rPr sz="2000" b="1">
                <a:solidFill>
                  <a:srgbClr val="1F2D3A"/>
                </a:solidFill>
              </a:rPr>
              <a:t>safe state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cleanup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message must not give a hint: "no such user" ≠ "wrong password."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From the Field: Opaque Return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functions do not return a detailed </a:t>
            </a:r>
            <a:r>
              <a:rPr sz="2000" b="1">
                <a:solidFill>
                  <a:srgbClr val="1F2D3A"/>
                </a:solidFill>
              </a:rPr>
              <a:t>error code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success/failure, and even that is </a:t>
            </a:r>
            <a:r>
              <a:rPr sz="2000" b="1">
                <a:solidFill>
                  <a:srgbClr val="1F2D3A"/>
                </a:solidFill>
              </a:rPr>
              <a:t>opaque</a:t>
            </a:r>
            <a:r>
              <a:rPr sz="2000" b="0">
                <a:solidFill>
                  <a:srgbClr val="1F2D3A"/>
                </a:solidFill>
              </a:rPr>
              <a:t> (Week 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detailed code = a map for the attacker of "which check you tripped."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separate, secure channel for diagnosis → recorded as a </a:t>
            </a:r>
            <a:r>
              <a:rPr sz="2000" b="1">
                <a:solidFill>
                  <a:srgbClr val="1F2D3A"/>
                </a:solidFill>
              </a:rPr>
              <a:t>trade-off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Signal Handler ·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in the handler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 not call functions that are not async-signal-safe.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 instead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Real Incident: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the timeout </a:t>
            </a:r>
            <a:r>
              <a:rPr sz="2000" b="1">
                <a:solidFill>
                  <a:srgbClr val="1F2D3A"/>
                </a:solidFill>
              </a:rPr>
              <a:t>signal handler</a:t>
            </a:r>
            <a:r>
              <a:rPr sz="2000" b="0">
                <a:solidFill>
                  <a:srgbClr val="1F2D3A"/>
                </a:solidFill>
              </a:rPr>
              <a:t> called an unsafe logging function.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Result: remote code execution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Lesson: only set a flag inside a handler.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2–3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Why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the most dangerous?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 three traces in a UAF report? Which one gets the fix?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can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be deleted?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Why is there no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in a signal handler?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2–3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46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WRITES</a:t>
            </a:r>
            <a:r>
              <a:rPr sz="2000" b="0">
                <a:solidFill>
                  <a:srgbClr val="1F2D3A"/>
                </a:solidFill>
              </a:rPr>
              <a:t> the number of bytes printed so far </a:t>
            </a:r>
            <a:r>
              <a:rPr sz="2000" b="1">
                <a:solidFill>
                  <a:srgbClr val="1F2D3A"/>
                </a:solidFill>
              </a:rPr>
              <a:t>to memory</a:t>
            </a:r>
            <a:r>
              <a:rPr sz="2000" b="0">
                <a:solidFill>
                  <a:srgbClr val="1F2D3A"/>
                </a:solidFill>
              </a:rPr>
              <a:t> → an attacker can write to an address of their choosing and hijack control flow.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The fix is usually </a:t>
            </a:r>
            <a:r>
              <a:rPr sz="2000" b="1">
                <a:solidFill>
                  <a:srgbClr val="1F2D3A"/>
                </a:solidFill>
              </a:rPr>
              <a:t>between freed↔use</a:t>
            </a:r>
            <a:r>
              <a:rPr sz="2000" b="0">
                <a:solidFill>
                  <a:srgbClr val="1F2D3A"/>
                </a:solidFill>
              </a:rPr>
              <a:t>: set the pointer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after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, or fix the lifetime.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Signed overflow is </a:t>
            </a:r>
            <a:r>
              <a:rPr sz="2000" b="1">
                <a:solidFill>
                  <a:srgbClr val="1F2D3A"/>
                </a:solidFill>
              </a:rPr>
              <a:t>undefined behaviour</a:t>
            </a:r>
            <a:r>
              <a:rPr sz="2000" b="0">
                <a:solidFill>
                  <a:srgbClr val="1F2D3A"/>
                </a:solidFill>
              </a:rPr>
              <a:t>; the compiler assumes "overflow never happens" → the condition is always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it </a:t>
            </a:r>
            <a:r>
              <a:rPr sz="2000" b="1">
                <a:solidFill>
                  <a:srgbClr val="1F2D3A"/>
                </a:solidFill>
              </a:rPr>
              <a:t>deletes</a:t>
            </a:r>
            <a:r>
              <a:rPr sz="2000" b="0">
                <a:solidFill>
                  <a:srgbClr val="1F2D3A"/>
                </a:solidFill>
              </a:rPr>
              <a:t> it. Do the check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is </a:t>
            </a:r>
            <a:r>
              <a:rPr sz="2000" b="1">
                <a:solidFill>
                  <a:srgbClr val="1F2D3A"/>
                </a:solidFill>
              </a:rPr>
              <a:t>not async-signal-safe</a:t>
            </a:r>
            <a:r>
              <a:rPr sz="2000" b="0">
                <a:solidFill>
                  <a:srgbClr val="1F2D3A"/>
                </a:solidFill>
              </a:rPr>
              <a:t>; if the handler re-enters it, locks/state get corrupted → deadlock/crash. Only safe calls like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are allowed.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Static Analysis, Sanitizers, Fuzzing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Redzone — Diagram</a:t>
            </a:r>
          </a:p>
        </p:txBody>
      </p:sp>
      <p:pic>
        <p:nvPicPr>
          <p:cNvPr id="7" name="Picture 6" descr="h04-11-a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833" y="1325880"/>
            <a:ext cx="665602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Static ↔ Dynamic — Diagram</a:t>
            </a:r>
          </a:p>
        </p:txBody>
      </p:sp>
      <p:pic>
        <p:nvPicPr>
          <p:cNvPr id="7" name="Picture 6" descr="h04-10-statik-dina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12391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Static Analysis?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Examining code </a:t>
            </a:r>
            <a:r>
              <a:rPr sz="2000" b="1">
                <a:solidFill>
                  <a:srgbClr val="1F2D3A"/>
                </a:solidFill>
              </a:rPr>
              <a:t>without running</a:t>
            </a:r>
            <a:r>
              <a:rPr sz="2000" b="0">
                <a:solidFill>
                  <a:srgbClr val="1F2D3A"/>
                </a:solidFill>
              </a:rPr>
              <a:t> it, looking for bugs.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Advantage: it also sees paths that never execute. Disadvantage: it produces </a:t>
            </a:r>
            <a:r>
              <a:rPr sz="2000" b="1">
                <a:solidFill>
                  <a:srgbClr val="1F2D3A"/>
                </a:solidFill>
              </a:rPr>
              <a:t>false alarms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Static Analysis · Layer by Layer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0499"/>
                <a:gridCol w="6178821"/>
                <a:gridCol w="28922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It Finds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Conversion, format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Analyser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leaks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violation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Semantic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flow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Commercial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Deep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Tainted Data: Source → Sink</a:t>
            </a:r>
          </a:p>
        </p:txBody>
      </p:sp>
      <p:pic>
        <p:nvPicPr>
          <p:cNvPr id="7" name="Picture 6" descr="h04-14-kirli-v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320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46765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tool sees </a:t>
            </a:r>
            <a:r>
              <a:rPr sz="2000" b="1">
                <a:solidFill>
                  <a:srgbClr val="1F2D3A"/>
                </a:solidFill>
              </a:rPr>
              <a:t>unvalidated</a:t>
            </a:r>
            <a:r>
              <a:rPr sz="2000" b="0">
                <a:solidFill>
                  <a:srgbClr val="1F2D3A"/>
                </a:solidFill>
              </a:rPr>
              <a:t> data flowing to a dangerous place.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Living with False Alarms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Start with </a:t>
            </a:r>
            <a:r>
              <a:rPr sz="2000" b="1">
                <a:solidFill>
                  <a:srgbClr val="1F2D3A"/>
                </a:solidFill>
              </a:rPr>
              <a:t>high-confidence</a:t>
            </a:r>
            <a:r>
              <a:rPr sz="2000" b="0">
                <a:solidFill>
                  <a:srgbClr val="1F2D3A"/>
                </a:solidFill>
              </a:rPr>
              <a:t> rules.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Every suppression has a </a:t>
            </a:r>
            <a:r>
              <a:rPr sz="2000" b="1">
                <a:solidFill>
                  <a:srgbClr val="1F2D3A"/>
                </a:solidFill>
              </a:rPr>
              <a:t>reason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Zero warnings</a:t>
            </a:r>
            <a:r>
              <a:rPr sz="2000" b="0">
                <a:solidFill>
                  <a:srgbClr val="1F2D3A"/>
                </a:solidFill>
              </a:rPr>
              <a:t> on new code (enforced by CI).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The evaluator asks for the developer's own scan report.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Sanitizer?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tool that catches memory/UB bugs while the program runs.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Almost no false alarms; but it only finds bugs on the path that </a:t>
            </a:r>
            <a:r>
              <a:rPr sz="2000" b="1">
                <a:solidFill>
                  <a:srgbClr val="1F2D3A"/>
                </a:solidFill>
              </a:rPr>
              <a:t>actually executes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combine with tests + fuzzing.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Sanitizer Family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96"/>
                <a:gridCol w="4744145"/>
                <a:gridCol w="411159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Overflow, UAF, double free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with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Overflow, shift,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Uninitialized reads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race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Does ASan Work? · Shadow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</a:t>
            </a:r>
            <a:r>
              <a:rPr sz="2000" b="1">
                <a:solidFill>
                  <a:srgbClr val="1F2D3A"/>
                </a:solidFill>
              </a:rPr>
              <a:t>shadow byte</a:t>
            </a:r>
            <a:r>
              <a:rPr sz="2000" b="0">
                <a:solidFill>
                  <a:srgbClr val="1F2D3A"/>
                </a:solidFill>
              </a:rPr>
              <a:t> per 8 bytes: how much of it is valid?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poisoned region</a:t>
            </a:r>
            <a:r>
              <a:rPr sz="2000" b="0">
                <a:solidFill>
                  <a:srgbClr val="1F2D3A"/>
                </a:solidFill>
              </a:rPr>
              <a:t> (redzone) before/after arrays.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Freed blocks wait in </a:t>
            </a:r>
            <a:r>
              <a:rPr sz="2000" b="1">
                <a:solidFill>
                  <a:srgbClr val="1F2D3A"/>
                </a:solidFill>
              </a:rPr>
              <a:t>quarantine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shadow check before every access.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ASan's Blind Spot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field-to-field overflow </a:t>
            </a:r>
            <a:r>
              <a:rPr sz="2000" b="1">
                <a:solidFill>
                  <a:srgbClr val="1F2D3A"/>
                </a:solidFill>
              </a:rPr>
              <a:t>inside</a:t>
            </a:r>
            <a:r>
              <a:rPr sz="2000" b="0">
                <a:solidFill>
                  <a:srgbClr val="1F2D3A"/>
                </a:solidFill>
              </a:rPr>
              <a:t> the same structure → no poisoned region in between → ASan </a:t>
            </a:r>
            <a:r>
              <a:rPr sz="2000" b="1">
                <a:solidFill>
                  <a:srgbClr val="1F2D3A"/>
                </a:solidFill>
              </a:rPr>
              <a:t>cannot see it</a:t>
            </a:r>
            <a:r>
              <a:rPr sz="2000" b="0">
                <a:solidFill>
                  <a:srgbClr val="1F2D3A"/>
                </a:solidFill>
              </a:rPr>
              <a:t> (Week 1 Demo 3).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Sanitizers Do Not Ship in the Release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Slows things down (~2×), uses memory.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in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; disabled in the release build.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Fuzzing? · Coverage-Guided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feeding a program a large number of automatically generated, mostly malformed inputs to look for crashes.</a:t>
            </a:r>
          </a:p>
        </p:txBody>
      </p:sp>
      <p:pic>
        <p:nvPicPr>
          <p:cNvPr id="8" name="Picture 7" descr="h04-01-fuzzing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05736"/>
            <a:ext cx="10911535" cy="31235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4390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input that opens a new code path is </a:t>
            </a:r>
            <a:r>
              <a:rPr sz="2000" b="1">
                <a:solidFill>
                  <a:srgbClr val="1F2D3A"/>
                </a:solidFill>
              </a:rPr>
              <a:t>saved</a:t>
            </a:r>
            <a:r>
              <a:rPr sz="2000" b="0">
                <a:solidFill>
                  <a:srgbClr val="1F2D3A"/>
                </a:solidFill>
              </a:rPr>
              <a:t> and worked on further.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Does Fuzzing Find?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finds magic bytes and the right length field </a:t>
            </a:r>
            <a:r>
              <a:rPr sz="2000" b="1">
                <a:solidFill>
                  <a:srgbClr val="1F2D3A"/>
                </a:solidFill>
              </a:rPr>
              <a:t>on its own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Inputs a human would never think of.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Tools: libFuzzer, AFL++, honggfuzz, OSS-Fuzz (tens of thousands of bugs).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Writing a Fuzz Target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Good Fuzz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Four properties: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Fast</a:t>
            </a:r>
            <a:r>
              <a:rPr sz="2000" b="0">
                <a:solidFill>
                  <a:srgbClr val="1F2D3A"/>
                </a:solidFill>
              </a:rPr>
              <a:t> (no network/disk)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Deterministic</a:t>
            </a:r>
            <a:r>
              <a:rPr sz="2000" b="0">
                <a:solidFill>
                  <a:srgbClr val="1F2D3A"/>
                </a:solidFill>
              </a:rPr>
              <a:t> (same input → same result)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Stateless</a:t>
            </a:r>
            <a:r>
              <a:rPr sz="2000" b="0">
                <a:solidFill>
                  <a:srgbClr val="1F2D3A"/>
                </a:solidFill>
              </a:rPr>
              <a:t> (not affected by the previous call)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Single job</a:t>
            </a:r>
            <a:r>
              <a:rPr sz="2000" b="0">
                <a:solidFill>
                  <a:srgbClr val="1F2D3A"/>
                </a:solidFill>
              </a:rPr>
              <a:t> (tests one function)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Finding Bugs with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547368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709249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Happens?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 fine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 → a crashing input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Replay with ASan → full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Fixed version → no crash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 safely rejected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"This function was fuzzed for this long" = strong evidence (S16).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4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difference between static and dynamic analysis?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Which overflow can ASan not see?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four properties of a good fuzz target?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4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Static:</a:t>
            </a:r>
            <a:r>
              <a:rPr sz="2000" b="0">
                <a:solidFill>
                  <a:srgbClr val="1F2D3A"/>
                </a:solidFill>
              </a:rPr>
              <a:t> examines all paths without running the code (can have false positives). </a:t>
            </a:r>
            <a:r>
              <a:rPr sz="2000" b="1">
                <a:solidFill>
                  <a:srgbClr val="1F2D3A"/>
                </a:solidFill>
              </a:rPr>
              <a:t>Dynamic:</a:t>
            </a:r>
            <a:r>
              <a:rPr sz="2000" b="0">
                <a:solidFill>
                  <a:srgbClr val="1F2D3A"/>
                </a:solidFill>
              </a:rPr>
              <a:t> while running, observes </a:t>
            </a:r>
            <a:r>
              <a:rPr sz="2000" b="1">
                <a:solidFill>
                  <a:srgbClr val="1F2D3A"/>
                </a:solidFill>
              </a:rPr>
              <a:t>real</a:t>
            </a:r>
            <a:r>
              <a:rPr sz="2000" b="0">
                <a:solidFill>
                  <a:srgbClr val="1F2D3A"/>
                </a:solidFill>
              </a:rPr>
              <a:t> bugs only on the path that actually executes.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sees the places where it placed a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; it cannot see a </a:t>
            </a:r>
            <a:r>
              <a:rPr sz="2000" b="1">
                <a:solidFill>
                  <a:srgbClr val="1F2D3A"/>
                </a:solidFill>
              </a:rPr>
              <a:t>field-to-field</a:t>
            </a:r>
            <a:r>
              <a:rPr sz="2000" b="0">
                <a:solidFill>
                  <a:srgbClr val="1F2D3A"/>
                </a:solidFill>
              </a:rPr>
              <a:t> overflow inside an object, or paths that </a:t>
            </a:r>
            <a:r>
              <a:rPr sz="2000" b="1">
                <a:solidFill>
                  <a:srgbClr val="1F2D3A"/>
                </a:solidFill>
              </a:rPr>
              <a:t>never execute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Fast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self-sufficient</a:t>
            </a:r>
            <a:r>
              <a:rPr sz="2000" b="0">
                <a:solidFill>
                  <a:srgbClr val="1F2D3A"/>
                </a:solidFill>
              </a:rPr>
              <a:t> (not dependent on external state), a target that handles a </a:t>
            </a:r>
            <a:r>
              <a:rPr sz="2000" b="1">
                <a:solidFill>
                  <a:srgbClr val="1F2D3A"/>
                </a:solidFill>
              </a:rPr>
              <a:t>narrow input surface</a:t>
            </a:r>
            <a:r>
              <a:rPr sz="2000" b="0">
                <a:solidFill>
                  <a:srgbClr val="1F2D3A"/>
                </a:solidFill>
              </a:rPr>
              <a:t> and fails cleanly on a crash.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Compiler and OS Protections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Compiler/OS Protections — Diagram</a:t>
            </a:r>
          </a:p>
        </p:txBody>
      </p:sp>
      <p:pic>
        <p:nvPicPr>
          <p:cNvPr id="7" name="Picture 6" descr="h04-02-derleyici-os-koruma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8960" y="1325880"/>
            <a:ext cx="655377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Layer 3 · 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Say a bug slipped 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There are automatic protections that make exploitation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Most are turned on with a </a:t>
            </a:r>
            <a:r>
              <a:rPr sz="2000" b="1">
                <a:solidFill>
                  <a:srgbClr val="1F2D3A"/>
                </a:solidFill>
              </a:rPr>
              <a:t>compile flag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free, but cheap.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Stack Canary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sentinel value</a:t>
            </a:r>
            <a:r>
              <a:rPr sz="2000" b="0">
                <a:solidFill>
                  <a:srgbClr val="1F2D3A"/>
                </a:solidFill>
              </a:rPr>
              <a:t> is placed just before the return address.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an overflow corrupts this value, it is noticed before the return and the program </a:t>
            </a:r>
            <a:r>
              <a:rPr sz="2000" b="1">
                <a:solidFill>
                  <a:srgbClr val="1F2D3A"/>
                </a:solidFill>
              </a:rPr>
              <a:t>halts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Stack Overflow and Canary — Diagram</a:t>
            </a:r>
          </a:p>
        </p:txBody>
      </p:sp>
      <p:pic>
        <p:nvPicPr>
          <p:cNvPr id="7" name="Picture 6" descr="h04-04-yigin-kanar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818" y="1325880"/>
            <a:ext cx="880405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Catches </a:t>
            </a:r>
            <a:r>
              <a:rPr sz="2000" b="1">
                <a:solidFill>
                  <a:srgbClr val="1F2D3A"/>
                </a:solidFill>
              </a:rPr>
              <a:t>library calls</a:t>
            </a:r>
            <a:r>
              <a:rPr sz="2000" b="0">
                <a:solidFill>
                  <a:srgbClr val="1F2D3A"/>
                </a:solidFill>
              </a:rPr>
              <a:t> that write more than a buffer's known size.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at least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Does not protect your </a:t>
            </a:r>
            <a:r>
              <a:rPr sz="2000" b="1">
                <a:solidFill>
                  <a:srgbClr val="1F2D3A"/>
                </a:solidFill>
              </a:rPr>
              <a:t>own loops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randomizes addresses.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makes the program itself load at a random address too.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and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makes the data region non-executable (default).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makes tables like the GOT read-only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and the Shadow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checks that indirect calls only go to </a:t>
            </a:r>
            <a:r>
              <a:rPr sz="2000" b="1">
                <a:solidFill>
                  <a:srgbClr val="1F2D3A"/>
                </a:solidFill>
              </a:rPr>
              <a:t>valid</a:t>
            </a:r>
            <a:r>
              <a:rPr sz="2000" b="0">
                <a:solidFill>
                  <a:srgbClr val="1F2D3A"/>
                </a:solidFill>
              </a:rPr>
              <a:t> targets.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Shadow stack:</a:t>
            </a:r>
            <a:r>
              <a:rPr sz="2000" b="0">
                <a:solidFill>
                  <a:srgbClr val="1F2D3A"/>
                </a:solidFill>
              </a:rPr>
              <a:t> a second copy of the return addresses (CET).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Protections · One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95"/>
                <a:gridCol w="5279775"/>
                <a:gridCol w="316786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Protection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default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Every Protection Has Limits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926"/>
                <a:gridCol w="4959788"/>
                <a:gridCol w="421582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Protection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Stops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Does Not Stop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Overflow reaching the return 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Heap overflow, a leaked canary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Library-call overflow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Your own loops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Assuming a fixed 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Address leak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Code in the data region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Code reuse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Main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protection makes a </a:t>
            </a:r>
            <a:r>
              <a:rPr sz="2000" b="1">
                <a:solidFill>
                  <a:srgbClr val="1F2D3A"/>
                </a:solidFill>
              </a:rPr>
              <a:t>technique</a:t>
            </a:r>
            <a:r>
              <a:rPr sz="2000" b="0">
                <a:solidFill>
                  <a:srgbClr val="1F2D3A"/>
                </a:solidFill>
              </a:rPr>
              <a:t> harder; it does not remove a </a:t>
            </a:r>
            <a:r>
              <a:rPr sz="2000" b="1">
                <a:solidFill>
                  <a:srgbClr val="1F2D3A"/>
                </a:solidFill>
              </a:rPr>
              <a:t>class of bug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None of them is enough for a logic error → secure coding comes first.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Turning Protections On and 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The same overflow: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(off)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(on).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Hardened: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Weak: silent corruption or a crash.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Recommended Release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Protection Table =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evaluator extracts a </a:t>
            </a:r>
            <a:r>
              <a:rPr sz="2000" b="1">
                <a:solidFill>
                  <a:srgbClr val="1F2D3A"/>
                </a:solidFill>
              </a:rPr>
              <a:t>protection table</a:t>
            </a:r>
            <a:r>
              <a:rPr sz="2000" b="0">
                <a:solidFill>
                  <a:srgbClr val="1F2D3A"/>
                </a:solidFill>
              </a:rPr>
              <a:t> for every binary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disabled protection is a </a:t>
            </a:r>
            <a:r>
              <a:rPr sz="2000" b="1">
                <a:solidFill>
                  <a:srgbClr val="1F2D3A"/>
                </a:solidFill>
              </a:rPr>
              <a:t>finding</a:t>
            </a:r>
            <a:r>
              <a:rPr sz="2000" b="0">
                <a:solidFill>
                  <a:srgbClr val="1F2D3A"/>
                </a:solidFill>
              </a:rPr>
              <a:t>; its justification must be in the trade-off record.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Scheme: the application can also </a:t>
            </a:r>
            <a:r>
              <a:rPr sz="2000" b="1">
                <a:solidFill>
                  <a:srgbClr val="1F2D3A"/>
                </a:solidFill>
              </a:rPr>
              <a:t>verify itself</a:t>
            </a:r>
            <a:r>
              <a:rPr sz="2000" b="0">
                <a:solidFill>
                  <a:srgbClr val="1F2D3A"/>
                </a:solidFill>
              </a:rPr>
              <a:t> that the protections are enabled.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Secure Build Pipeline (CI)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a system that runs an automatic build + tests on every code change.</a:t>
            </a:r>
          </a:p>
        </p:txBody>
      </p:sp>
      <p:pic>
        <p:nvPicPr>
          <p:cNvPr id="8" name="Picture 7" descr="h04-03-ci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16" y="2205736"/>
            <a:ext cx="10396062" cy="3398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failing step </a:t>
            </a:r>
            <a:r>
              <a:rPr sz="2000" b="1">
                <a:solidFill>
                  <a:srgbClr val="1F2D3A"/>
                </a:solidFill>
              </a:rPr>
              <a:t>stops</a:t>
            </a:r>
            <a:r>
              <a:rPr sz="2000" b="0">
                <a:solidFill>
                  <a:srgbClr val="1F2D3A"/>
                </a:solidFill>
              </a:rPr>
              <a:t> the merge.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Failure Criteria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300"/>
                <a:gridCol w="7025234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single warning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Sanitizer-enabled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Any report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new crash (old corpus = regression)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Binary audit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Log strings, symbols, a disabled 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Course's CMake Modes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2739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fixed 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Most of the protection flags: Demo 5's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Build Environment Is a Target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Access logging; pinning dependencies (Week 5's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Signed releases; </a:t>
            </a:r>
            <a:r>
              <a:rPr sz="2000" b="1">
                <a:solidFill>
                  <a:srgbClr val="1F2D3A"/>
                </a:solidFill>
              </a:rPr>
              <a:t>reproducible</a:t>
            </a:r>
            <a:r>
              <a:rPr sz="2000" b="0">
                <a:solidFill>
                  <a:srgbClr val="1F2D3A"/>
                </a:solidFill>
              </a:rPr>
              <a:t> builds.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build machine is compromised, the entire product is affected.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What does the canary stop, and what does it not stop?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is ASLR weakened by an information leak?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is "no protection is enough for a logic error"?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87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Stops:</a:t>
            </a:r>
            <a:r>
              <a:rPr sz="2000" b="0">
                <a:solidFill>
                  <a:srgbClr val="1F2D3A"/>
                </a:solidFill>
              </a:rPr>
              <a:t> a </a:t>
            </a:r>
            <a:r>
              <a:rPr sz="2000" b="1">
                <a:solidFill>
                  <a:srgbClr val="1F2D3A"/>
                </a:solidFill>
              </a:rPr>
              <a:t>sequential</a:t>
            </a:r>
            <a:r>
              <a:rPr sz="2000" b="0">
                <a:solidFill>
                  <a:srgbClr val="1F2D3A"/>
                </a:solidFill>
              </a:rPr>
              <a:t> stack overflow that overwrites the return address (the canary gets corrupted). </a:t>
            </a:r>
            <a:r>
              <a:rPr sz="2000" b="1">
                <a:solidFill>
                  <a:srgbClr val="1F2D3A"/>
                </a:solidFill>
              </a:rPr>
              <a:t>Does not stop:</a:t>
            </a:r>
            <a:r>
              <a:rPr sz="2000" b="0">
                <a:solidFill>
                  <a:srgbClr val="1F2D3A"/>
                </a:solidFill>
              </a:rPr>
              <a:t> a targeted write, a heap overflow, an information leak.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 single </a:t>
            </a:r>
            <a:r>
              <a:rPr sz="2000" b="1">
                <a:solidFill>
                  <a:srgbClr val="1F2D3A"/>
                </a:solidFill>
              </a:rPr>
              <a:t>leaked address</a:t>
            </a:r>
            <a:r>
              <a:rPr sz="2000" b="0">
                <a:solidFill>
                  <a:srgbClr val="1F2D3A"/>
                </a:solidFill>
              </a:rPr>
              <a:t> reveals the module's base address (the offset is fixed) → the entire randomisation </a:t>
            </a:r>
            <a:r>
              <a:rPr sz="2000" b="1">
                <a:solidFill>
                  <a:srgbClr val="1F2D3A"/>
                </a:solidFill>
              </a:rPr>
              <a:t>collapses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Protections catch </a:t>
            </a:r>
            <a:r>
              <a:rPr sz="2000" b="1">
                <a:solidFill>
                  <a:srgbClr val="1F2D3A"/>
                </a:solidFill>
              </a:rPr>
              <a:t>memory</a:t>
            </a:r>
            <a:r>
              <a:rPr sz="2000" b="0">
                <a:solidFill>
                  <a:srgbClr val="1F2D3A"/>
                </a:solidFill>
              </a:rPr>
              <a:t> violations; incorrect authorization/business logic is a </a:t>
            </a:r>
            <a:r>
              <a:rPr sz="2000" b="1">
                <a:solidFill>
                  <a:srgbClr val="1F2D3A"/>
                </a:solidFill>
              </a:rPr>
              <a:t>valid</a:t>
            </a:r>
            <a:r>
              <a:rPr sz="2000" b="0">
                <a:solidFill>
                  <a:srgbClr val="1F2D3A"/>
                </a:solidFill>
              </a:rPr>
              <a:t> memory access → no protection is triggered. Correct design + review is required.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Introduction to Code Obfuscation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Layer 4 · Why?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White-box attacker: reads strings, finds functions by name, bypasses checks.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Obfuscation: same behaviour, </a:t>
            </a:r>
            <a:r>
              <a:rPr sz="2000" b="1">
                <a:solidFill>
                  <a:srgbClr val="1F2D3A"/>
                </a:solidFill>
              </a:rPr>
              <a:t>harder to understand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Two Attacker Models — Diagram</a:t>
            </a:r>
          </a:p>
        </p:txBody>
      </p:sp>
      <p:pic>
        <p:nvPicPr>
          <p:cNvPr id="7" name="Picture 6" descr="h04-17-iki-saldirga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57" y="1325880"/>
            <a:ext cx="10763181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Purpose of Obfuscation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 making it impossible, but making it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cost &gt; the value being protected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make automation harder (diversification, Week 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buy </a:t>
            </a:r>
            <a:r>
              <a:rPr sz="2000" b="1">
                <a:solidFill>
                  <a:srgbClr val="1F2D3A"/>
                </a:solidFill>
              </a:rPr>
              <a:t>time</a:t>
            </a:r>
            <a:r>
              <a:rPr sz="2000" b="0">
                <a:solidFill>
                  <a:srgbClr val="1F2D3A"/>
                </a:solidFill>
              </a:rPr>
              <a:t> for the other 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 few simple techniques + data hiding, rather than one advanced technique.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Obfuscation Map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001344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It Hides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Layout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Names, 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Constants, strings, variables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Control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Algorithm 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Preventive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Analysis tool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Virtualisation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Machine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From the Field: 18 Measures on the Native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Symbol visibility off · name mangling · constant arithmetic hiding · string encryption (decrypt on use, </a:t>
            </a:r>
            <a:r>
              <a:rPr sz="2000" b="1">
                <a:solidFill>
                  <a:srgbClr val="1F2D3A"/>
                </a:solidFill>
              </a:rPr>
              <a:t>wipe immediately</a:t>
            </a:r>
            <a:r>
              <a:rPr sz="2000" b="0">
                <a:solidFill>
                  <a:srgbClr val="1F2D3A"/>
                </a:solidFill>
              </a:rPr>
              <a:t>) · opaque booleans · your own library functions · fake operation/dead branch · flattening + randomised exit ·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logging in the release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61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The strength comes from </a:t>
            </a:r>
            <a:r>
              <a:rPr sz="2000" b="1">
                <a:solidFill>
                  <a:srgbClr val="1F2D3A"/>
                </a:solidFill>
              </a:rPr>
              <a:t>combining them</a:t>
            </a:r>
            <a:r>
              <a:rPr sz="2000" b="0">
                <a:solidFill>
                  <a:srgbClr val="1F2D3A"/>
                </a:solidFill>
              </a:rPr>
              <a:t>, and from RASP.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Three Cheap Measures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6172"/>
                <a:gridCol w="842536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How?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Hide symbols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Remove logging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Empty the macro at compile 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Hide strings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Encrypt at compile time, decrypt on use, wipe immediately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Logging Macro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is not defined in the release build → the logging is </a:t>
            </a:r>
            <a:r>
              <a:rPr sz="2000" b="1">
                <a:solidFill>
                  <a:srgbClr val="1F2D3A"/>
                </a:solidFill>
              </a:rPr>
              <a:t>never compiled 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a Runtime Flag Is Not Enough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string </a:t>
            </a:r>
            <a:r>
              <a:rPr sz="2000" b="1">
                <a:solidFill>
                  <a:srgbClr val="1F2D3A"/>
                </a:solidFill>
              </a:rPr>
              <a:t>remains</a:t>
            </a:r>
            <a:r>
              <a:rPr sz="2000" b="0">
                <a:solidFill>
                  <a:srgbClr val="1F2D3A"/>
                </a:solidFill>
              </a:rPr>
              <a:t> in the binary.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attacker can flip the flag and turn logging back 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right way: remove it </a:t>
            </a:r>
            <a:r>
              <a:rPr sz="2000" b="1">
                <a:solidFill>
                  <a:srgbClr val="1F2D3A"/>
                </a:solidFill>
              </a:rPr>
              <a:t>at compile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String Hiding ≠ Key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decrypted string sits </a:t>
            </a:r>
            <a:r>
              <a:rPr sz="2000" b="1">
                <a:solidFill>
                  <a:srgbClr val="1F2D3A"/>
                </a:solidFill>
              </a:rPr>
              <a:t>in memory, in the clear</a:t>
            </a:r>
            <a:r>
              <a:rPr sz="2000" b="0">
                <a:solidFill>
                  <a:srgbClr val="1F2D3A"/>
                </a:solidFill>
              </a:rPr>
              <a:t>, while it's in use.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decryption key is </a:t>
            </a:r>
            <a:r>
              <a:rPr sz="2000" b="1">
                <a:solidFill>
                  <a:srgbClr val="1F2D3A"/>
                </a:solidFill>
              </a:rPr>
              <a:t>inside</a:t>
            </a:r>
            <a:r>
              <a:rPr sz="2000" b="0">
                <a:solidFill>
                  <a:srgbClr val="1F2D3A"/>
                </a:solidFill>
              </a:rPr>
              <a:t> the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it stops: static scans like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Against someone inspecting it while running → RASP (6). A real key → whitebox (11).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Symbol and String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9274804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Happens?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and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give the same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license string and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are visible in the open one; not in the closed one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is visible in the open one; no symbol in the closed 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names are in the PDB; the closed build produces no PDB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Symbol and String Hiding — Diagram</a:t>
            </a:r>
          </a:p>
        </p:txBody>
      </p:sp>
      <p:pic>
        <p:nvPicPr>
          <p:cNvPr id="7" name="Picture 6" descr="h04-18-sembol-dize-giz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92202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Control-Flow Flattening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blocks' natural adjacency is lost; the order lives only in the </a:t>
            </a:r>
            <a:r>
              <a:rPr sz="2000" b="1">
                <a:solidFill>
                  <a:srgbClr val="1F2D3A"/>
                </a:solidFill>
              </a:rPr>
              <a:t>state variable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Flattening: Before/After — Diagram</a:t>
            </a:r>
          </a:p>
        </p:txBody>
      </p:sp>
      <p:pic>
        <p:nvPicPr>
          <p:cNvPr id="7" name="Picture 6" descr="h04-19-duzlestirme-gi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53" y="1325880"/>
            <a:ext cx="1067118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Strengthens Flattening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Hide the state values</a:t>
            </a:r>
            <a:r>
              <a:rPr sz="2000" b="0">
                <a:solidFill>
                  <a:srgbClr val="1F2D3A"/>
                </a:solidFill>
              </a:rPr>
              <a:t> (arithmetic transformation)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Fake/dead blocks</a:t>
            </a:r>
            <a:r>
              <a:rPr sz="2000" b="0">
                <a:solidFill>
                  <a:srgbClr val="1F2D3A"/>
                </a:solidFill>
              </a:rPr>
              <a:t> (which one is real?)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Randomised exit</a:t>
            </a:r>
            <a:r>
              <a:rPr sz="2000" b="0">
                <a:solidFill>
                  <a:srgbClr val="1F2D3A"/>
                </a:solidFill>
              </a:rPr>
              <a:t> (where the error was caught becomes unreadable)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Opaque values</a:t>
            </a:r>
            <a:r>
              <a:rPr sz="2000" b="0">
                <a:solidFill>
                  <a:srgbClr val="1F2D3A"/>
                </a:solidFill>
              </a:rPr>
              <a:t> (a single byte cannot flip 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template alone is solved quickly on its own → Week 9 depth.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Flattening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65"/>
                <a:gridCol w="980656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Happens?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and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give the same result (the PIN is synthetic)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the flattened version has far more branches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Timing: the cost of flattening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Automated with Tigress's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in Week 14; measuring effectiveness in Week 9.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Concept: Three Techniques Leading into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Function name hiding:</a:t>
            </a:r>
            <a:r>
              <a:rPr sz="2000" b="0">
                <a:solidFill>
                  <a:srgbClr val="1F2D3A"/>
                </a:solidFill>
              </a:rPr>
              <a:t> exported names are meaningless; readability handled via a macro.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Allocation-size hiding:</a:t>
            </a:r>
            <a:r>
              <a:rPr sz="2000" b="0">
                <a:solidFill>
                  <a:srgbClr val="1F2D3A"/>
                </a:solidFill>
              </a:rPr>
              <a:t> blur the "32 bytes = a key" tell.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Dynamic decryption:</a:t>
            </a:r>
            <a:r>
              <a:rPr sz="2000" b="0">
                <a:solidFill>
                  <a:srgbClr val="1F2D3A"/>
                </a:solidFill>
              </a:rPr>
              <a:t> sensitive code sits encrypted in the binary; conflicts with DEP/NX, used selectively.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6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Does obfuscation fix the bug?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isn't silencing logging with a runtime flag enough?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Three techniques that strengthen flattening?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6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No.</a:t>
            </a:r>
            <a:r>
              <a:rPr sz="2000" b="0">
                <a:solidFill>
                  <a:srgbClr val="1F2D3A"/>
                </a:solidFill>
              </a:rPr>
              <a:t> Obfuscation only makes reverse engineering harder; the bug </a:t>
            </a:r>
            <a:r>
              <a:rPr sz="2000" b="1">
                <a:solidFill>
                  <a:srgbClr val="1F2D3A"/>
                </a:solidFill>
              </a:rPr>
              <a:t>stays where it is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1">
                <a:solidFill>
                  <a:srgbClr val="1F2D3A"/>
                </a:solidFill>
              </a:rPr>
              <a:t>Fix first, then obfuscate.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 string/code </a:t>
            </a:r>
            <a:r>
              <a:rPr sz="2000" b="1">
                <a:solidFill>
                  <a:srgbClr val="1F2D3A"/>
                </a:solidFill>
              </a:rPr>
              <a:t>remains</a:t>
            </a:r>
            <a:r>
              <a:rPr sz="2000" b="0">
                <a:solidFill>
                  <a:srgbClr val="1F2D3A"/>
                </a:solidFill>
              </a:rPr>
              <a:t> in the binary; the attacker can flip the flag or read the strings. Remove logging in the release build </a:t>
            </a:r>
            <a:r>
              <a:rPr sz="2000" b="1">
                <a:solidFill>
                  <a:srgbClr val="1F2D3A"/>
                </a:solidFill>
              </a:rPr>
              <a:t>at compile time</a:t>
            </a:r>
            <a:r>
              <a:rPr sz="2000" b="0">
                <a:solidFill>
                  <a:srgbClr val="1F2D3A"/>
                </a:solidFill>
              </a:rPr>
              <a:t> (macro/dead-code elimination).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Opaque predicates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fake blocks/dead branches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state-variable encoding &amp; randomised exit</a:t>
            </a:r>
            <a:r>
              <a:rPr sz="2000" b="0">
                <a:solidFill>
                  <a:srgbClr val="1F2D3A"/>
                </a:solidFill>
              </a:rPr>
              <a:t> (also name/string hiding).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End to End: Closing One Overflow in Three Layers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Buggy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happens if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is longer than 16 bytes?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Happens? · Step by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is 16 bytes on the stack.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copies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all the way to its end, paying no attention to bounds.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longer than 16 → neighbouring memory (including the return address) is corrupted.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· Outcome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Short overflow: a neighbouring variable gets corrupted (a logic bug).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Long overflow: the </a:t>
            </a:r>
            <a:r>
              <a:rPr sz="2000" b="1">
                <a:solidFill>
                  <a:srgbClr val="1F2D3A"/>
                </a:solidFill>
              </a:rPr>
              <a:t>return address</a:t>
            </a:r>
            <a:r>
              <a:rPr sz="2000" b="0">
                <a:solidFill>
                  <a:srgbClr val="1F2D3A"/>
                </a:solidFill>
              </a:rPr>
              <a:t> gets corrupted → crash or control hijacking.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Without protection: a serious vulnerability (CWE-121).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Fix 1 · Bounded Copying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knows the size and </a:t>
            </a:r>
            <a:r>
              <a:rPr sz="2000" b="1">
                <a:solidFill>
                  <a:srgbClr val="1F2D3A"/>
                </a:solidFill>
              </a:rPr>
              <a:t>reports truncation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Fix 2 ·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Coding: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Compiler: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(canary).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checks the library call.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Testing:</a:t>
            </a:r>
            <a:r>
              <a:rPr sz="2000" b="0">
                <a:solidFill>
                  <a:srgbClr val="1F2D3A"/>
                </a:solidFill>
              </a:rPr>
              <a:t> ASan catches the overflow with a long input.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Lesson: One Line, Many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bug: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Defence: the right function + compiler protection + sanitizer testing.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the </a:t>
            </a:r>
            <a:r>
              <a:rPr sz="2000" b="1">
                <a:solidFill>
                  <a:srgbClr val="1F2D3A"/>
                </a:solidFill>
              </a:rPr>
              <a:t>real</a:t>
            </a:r>
            <a:r>
              <a:rPr sz="2000" b="0">
                <a:solidFill>
                  <a:srgbClr val="1F2D3A"/>
                </a:solidFill>
              </a:rPr>
              <a:t> fix is in the first line: bounded copying.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Classic Mistakes — Summary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5167"/>
                <a:gridCol w="909294"/>
                <a:gridCol w="6117072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Mistake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Ignoring warnings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Turn warnings into errors with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-Werror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keep the CERT scan clean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"Cleaning up" input and using it anyway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Reject dangerous input; allow-list + rejection is safest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 checking the return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Check every return (ERR33-C);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fopen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can return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Hiding UB with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-fwrapv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Making the overflow "defined" hides the logic bug; diagnose with UBSan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Shipping the sanitizer in the release 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Test/CI only; disabled in the release 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Covering up a bug with obfuscation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Obfuscation doesn't fix it, only hides it; fix first, then obfuscate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1224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All six mistakes were covered earlier in this deck; here they are gathered in one glance.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Project and Closing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"Code Hardening"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; fix ≥ 5 findings (with rule ids).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output.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Measure card:</a:t>
            </a:r>
            <a:r>
              <a:rPr sz="2000" b="0">
                <a:solidFill>
                  <a:srgbClr val="1F2D3A"/>
                </a:solidFill>
              </a:rPr>
              <a:t> Description → Implementation → Verification → Residual risk.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Solved Self-Check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of the three layers actually removes the bug?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Only </a:t>
            </a:r>
            <a:r>
              <a:rPr sz="2000" b="1">
                <a:solidFill>
                  <a:srgbClr val="1F2D3A"/>
                </a:solidFill>
              </a:rPr>
              <a:t>secure coding</a:t>
            </a:r>
            <a:r>
              <a:rPr sz="2000" b="0">
                <a:solidFill>
                  <a:srgbClr val="1F2D3A"/>
                </a:solidFill>
              </a:rPr>
              <a:t> (layer 2). Compiler/OS protections make exploitation harder; obfuscation slows down reading — neither one </a:t>
            </a:r>
            <a:r>
              <a:rPr sz="2000" b="1">
                <a:solidFill>
                  <a:srgbClr val="1F2D3A"/>
                </a:solidFill>
              </a:rPr>
              <a:t>removes</a:t>
            </a:r>
            <a:r>
              <a:rPr sz="2000" b="0">
                <a:solidFill>
                  <a:srgbClr val="1F2D3A"/>
                </a:solidFill>
              </a:rPr>
              <a:t> the bug.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is the mildest outcome of `printf(girdi)`?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An </a:t>
            </a:r>
            <a:r>
              <a:rPr sz="2000" b="1">
                <a:solidFill>
                  <a:srgbClr val="1F2D3A"/>
                </a:solidFill>
              </a:rPr>
              <a:t>information leak</a:t>
            </a:r>
            <a:r>
              <a:rPr sz="2000" b="0">
                <a:solidFill>
                  <a:srgbClr val="1F2D3A"/>
                </a:solidFill>
              </a:rPr>
              <a:t> (reading the stack via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). The worst is writing to memory via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three stack traces in a UAF report? Which one gets the fix?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Use, free, allocation. The fix is usually at the </a:t>
            </a:r>
            <a:r>
              <a:rPr sz="2000" b="1">
                <a:solidFill>
                  <a:srgbClr val="1F2D3A"/>
                </a:solidFill>
              </a:rPr>
              <a:t>free</a:t>
            </a:r>
            <a:r>
              <a:rPr sz="2000" b="0">
                <a:solidFill>
                  <a:srgbClr val="1F2D3A"/>
                </a:solidFill>
              </a:rPr>
              <a:t> point (an ownership decision).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can `if (x + 100 &lt; x)` be deleted?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Signed integer overflow is </a:t>
            </a:r>
            <a:r>
              <a:rPr sz="2000" b="1">
                <a:solidFill>
                  <a:srgbClr val="1F2D3A"/>
                </a:solidFill>
              </a:rPr>
              <a:t>undefined behaviour</a:t>
            </a:r>
            <a:r>
              <a:rPr sz="2000" b="0">
                <a:solidFill>
                  <a:srgbClr val="1F2D3A"/>
                </a:solidFill>
              </a:rPr>
              <a:t>; the compiler assumes "overflow never happens" and can optimise the check away, </a:t>
            </a:r>
            <a:r>
              <a:rPr sz="2000" b="1">
                <a:solidFill>
                  <a:srgbClr val="1F2D3A"/>
                </a:solidFill>
              </a:rPr>
              <a:t>deleting</a:t>
            </a:r>
            <a:r>
              <a:rPr sz="2000" b="0">
                <a:solidFill>
                  <a:srgbClr val="1F2D3A"/>
                </a:solidFill>
              </a:rPr>
              <a:t>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 there no `printf` in a signal handler?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are </a:t>
            </a:r>
            <a:r>
              <a:rPr sz="2000" b="1">
                <a:solidFill>
                  <a:srgbClr val="1F2D3A"/>
                </a:solidFill>
              </a:rPr>
              <a:t>not async-signal-safe</a:t>
            </a:r>
            <a:r>
              <a:rPr sz="2000" b="0">
                <a:solidFill>
                  <a:srgbClr val="1F2D3A"/>
                </a:solidFill>
              </a:rPr>
              <a:t>; if the handler calls them while interrupted mid-state, corruption follows. Only a flag is set (SIG30-C).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overflow can ASan not see?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 </a:t>
            </a:r>
            <a:r>
              <a:rPr sz="2000" b="1">
                <a:solidFill>
                  <a:srgbClr val="1F2D3A"/>
                </a:solidFill>
              </a:rPr>
              <a:t>field-to-field</a:t>
            </a:r>
            <a:r>
              <a:rPr sz="2000" b="0">
                <a:solidFill>
                  <a:srgbClr val="1F2D3A"/>
                </a:solidFill>
              </a:rPr>
              <a:t> overflow inside the same structure (there is no poisoned region between them).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properties of a good fuzz target?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Fast, deterministic, stateless, single job.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does the canary stop, and what does it not stop?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Stops:</a:t>
            </a:r>
            <a:r>
              <a:rPr sz="2000" b="0">
                <a:solidFill>
                  <a:srgbClr val="1F2D3A"/>
                </a:solidFill>
              </a:rPr>
              <a:t> a stack overflow that reaches the return address. </a:t>
            </a:r>
            <a:r>
              <a:rPr sz="2000" b="1">
                <a:solidFill>
                  <a:srgbClr val="1F2D3A"/>
                </a:solidFill>
              </a:rPr>
              <a:t>Does not stop:</a:t>
            </a:r>
            <a:r>
              <a:rPr sz="2000" b="0">
                <a:solidFill>
                  <a:srgbClr val="1F2D3A"/>
                </a:solidFill>
              </a:rPr>
              <a:t> heap overflow, corruption of earlier variables, a leaked canary.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 ASLR weakened by an information leak?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If one address leaks, the attacker can </a:t>
            </a:r>
            <a:r>
              <a:rPr sz="2000" b="1">
                <a:solidFill>
                  <a:srgbClr val="1F2D3A"/>
                </a:solidFill>
              </a:rPr>
              <a:t>calculate</a:t>
            </a:r>
            <a:r>
              <a:rPr sz="2000" b="0">
                <a:solidFill>
                  <a:srgbClr val="1F2D3A"/>
                </a:solidFill>
              </a:rPr>
              <a:t> the other addresses relative to it; the advantage of randomisation is lost.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isn't silencing logging with a runtime flag enough?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string </a:t>
            </a:r>
            <a:r>
              <a:rPr sz="2000" b="1">
                <a:solidFill>
                  <a:srgbClr val="1F2D3A"/>
                </a:solidFill>
              </a:rPr>
              <a:t>remains</a:t>
            </a:r>
            <a:r>
              <a:rPr sz="2000" b="0">
                <a:solidFill>
                  <a:srgbClr val="1F2D3A"/>
                </a:solidFill>
              </a:rPr>
              <a:t> in the binary and the attacker can flip the flag to turn logging back on. It must be removed </a:t>
            </a:r>
            <a:r>
              <a:rPr sz="2000" b="1">
                <a:solidFill>
                  <a:srgbClr val="1F2D3A"/>
                </a:solidFill>
              </a:rPr>
              <a:t>at compile time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Three techniques that strengthen flattening?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Hiding state values, fake/dead blocks, a randomised exit point (and opaque values).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is string hiding not the same as key storage?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decrypted string is in memory, in the clear, while it's in use, and the decryption key sits inside the program; it only stops </a:t>
            </a:r>
            <a:r>
              <a:rPr sz="2000" b="1">
                <a:solidFill>
                  <a:srgbClr val="1F2D3A"/>
                </a:solidFill>
              </a:rPr>
              <a:t>static</a:t>
            </a:r>
            <a:r>
              <a:rPr sz="2000" b="0">
                <a:solidFill>
                  <a:srgbClr val="1F2D3A"/>
                </a:solidFill>
              </a:rPr>
              <a:t> scanning.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Summary: This Week in One Sentence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First </a:t>
            </a:r>
            <a:r>
              <a:rPr sz="2000" b="1">
                <a:solidFill>
                  <a:srgbClr val="1F2D3A"/>
                </a:solidFill>
              </a:rPr>
              <a:t>bug-free code</a:t>
            </a:r>
            <a:r>
              <a:rPr sz="2000" b="0">
                <a:solidFill>
                  <a:srgbClr val="1F2D3A"/>
                </a:solidFill>
              </a:rPr>
              <a:t> (CERT + sanitizer + fuzzing), then </a:t>
            </a:r>
            <a:r>
              <a:rPr sz="2000" b="1">
                <a:solidFill>
                  <a:srgbClr val="1F2D3A"/>
                </a:solidFill>
              </a:rPr>
              <a:t>limit the damage</a:t>
            </a:r>
            <a:r>
              <a:rPr sz="2000" b="0">
                <a:solidFill>
                  <a:srgbClr val="1F2D3A"/>
                </a:solidFill>
              </a:rPr>
              <a:t> (compiler/OS protections), and finally </a:t>
            </a:r>
            <a:r>
              <a:rPr sz="2000" b="1">
                <a:solidFill>
                  <a:srgbClr val="1F2D3A"/>
                </a:solidFill>
              </a:rPr>
              <a:t>make it harder to read</a:t>
            </a:r>
            <a:r>
              <a:rPr sz="2000" b="0">
                <a:solidFill>
                  <a:srgbClr val="1F2D3A"/>
                </a:solidFill>
              </a:rPr>
              <a:t> (obfuscation) — and no protection substitutes for secure coding. Secure code is not written once; it is </a:t>
            </a:r>
            <a:r>
              <a:rPr sz="2000" b="1">
                <a:solidFill>
                  <a:srgbClr val="1F2D3A"/>
                </a:solidFill>
              </a:rPr>
              <a:t>checked with tools on every build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Undefined behaviour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Use-after-free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Rulebook / weakness catalogue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Runtime bug detector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Finding crashes with random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Canary/ASLR/NX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Compiler/OS protections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5 — Java and Interpreted Languages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This week we dealt with manually managed memory in C/C++ and compiler/OS protections; Week 5 shows how the JVM eliminates most of these bugs (overflow, UAF, UB), but opens a new bug class such as injection (SQL, command, path).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97855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The SEI CERT Java rules will be compared with today's SEI CERT C/C++ rules; we will also cover obfuscation with ProGuard/R8, dependency security, and SBOM.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137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Preparation: JDK 17+, Maven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935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First correct code, then protection, finally obfuscation. The order matters.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4 — Code Hardening: C/C++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