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  <p:sldId id="410" r:id="rId162"/>
    <p:sldId id="411" r:id="rId163"/>
    <p:sldId id="412" r:id="rId16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Relationship Id="rId153" Type="http://schemas.openxmlformats.org/officeDocument/2006/relationships/slide" Target="slides/slide146.xml"/><Relationship Id="rId154" Type="http://schemas.openxmlformats.org/officeDocument/2006/relationships/slide" Target="slides/slide147.xml"/><Relationship Id="rId155" Type="http://schemas.openxmlformats.org/officeDocument/2006/relationships/slide" Target="slides/slide148.xml"/><Relationship Id="rId156" Type="http://schemas.openxmlformats.org/officeDocument/2006/relationships/slide" Target="slides/slide149.xml"/><Relationship Id="rId157" Type="http://schemas.openxmlformats.org/officeDocument/2006/relationships/slide" Target="slides/slide150.xml"/><Relationship Id="rId158" Type="http://schemas.openxmlformats.org/officeDocument/2006/relationships/slide" Target="slides/slide151.xml"/><Relationship Id="rId159" Type="http://schemas.openxmlformats.org/officeDocument/2006/relationships/slide" Target="slides/slide152.xml"/><Relationship Id="rId160" Type="http://schemas.openxmlformats.org/officeDocument/2006/relationships/slide" Target="slides/slide153.xml"/><Relationship Id="rId161" Type="http://schemas.openxmlformats.org/officeDocument/2006/relationships/slide" Target="slides/slide154.xml"/><Relationship Id="rId162" Type="http://schemas.openxmlformats.org/officeDocument/2006/relationships/slide" Target="slides/slide155.xml"/><Relationship Id="rId163" Type="http://schemas.openxmlformats.org/officeDocument/2006/relationships/slide" Target="slides/slide156.xml"/><Relationship Id="rId164" Type="http://schemas.openxmlformats.org/officeDocument/2006/relationships/slide" Target="slides/slide15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This week we move to managed languages: memory safety comes for free, but injection, deserialisation, readable bytecode and dependencies bring new risks.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We cover Week 4's C/C++ counterpart in Java/interpreted languages. We assume zero prior knowledge; every term will be defined.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Next, SQL injection.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Next, deserialisation and XML.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Next, bytecode and obfuscation.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Next, SBOM and dependency security.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Next, the project and the solved self-check.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We trace a single SQL injection from buggy code to the attack, the fix, and layered defence.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7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8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9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0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2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3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4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5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006D77"/>
                </a:solidFill>
              </a:rPr>
              <a:t>Code Hardening: Java and Interpreted Languages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CEN429 Secure Programming — Week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51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Asst. Prof. Dr. Uğur CORUH · 16.10.2026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Today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715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841"/>
                <a:gridCol w="740906"/>
                <a:gridCol w="9631787"/>
              </a:tblGrid>
              <a:tr h="678942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Hour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Section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Topic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67894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1–4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Managed languages and the root of injection, SEI CERT · SQL injection </a:t>
                      </a:r>
                      <a:r>
                        <a:rPr sz="1296" b="1">
                          <a:solidFill>
                            <a:srgbClr val="1F2D3A"/>
                          </a:solidFill>
                        </a:rPr>
                        <a:t>Demo 1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· Command injection </a:t>
                      </a:r>
                      <a:r>
                        <a:rPr sz="1296" b="1">
                          <a:solidFill>
                            <a:srgbClr val="1F2D3A"/>
                          </a:solidFill>
                        </a:rPr>
                        <a:t>Demo 2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· Path traversal </a:t>
                      </a:r>
                      <a:r>
                        <a:rPr sz="1296" b="1">
                          <a:solidFill>
                            <a:srgbClr val="1F2D3A"/>
                          </a:solidFill>
                        </a:rPr>
                        <a:t>Demo 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7894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5–7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Unsafe deserialisation </a:t>
                      </a:r>
                      <a:r>
                        <a:rPr sz="1296" b="1">
                          <a:solidFill>
                            <a:srgbClr val="1F2D3A"/>
                          </a:solidFill>
                        </a:rPr>
                        <a:t>Demo 7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· XML/XXE, templates, XSS · Python and JavaScript (ReDoS)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67894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8–12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Bytecode </a:t>
                      </a:r>
                      <a:r>
                        <a:rPr sz="1296" b="1">
                          <a:solidFill>
                            <a:srgbClr val="1F2D3A"/>
                          </a:solidFill>
                        </a:rPr>
                        <a:t>Demo 4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· ProGuard/R8 + string obfuscation </a:t>
                      </a:r>
                      <a:r>
                        <a:rPr sz="1296" b="1">
                          <a:solidFill>
                            <a:srgbClr val="1F2D3A"/>
                          </a:solidFill>
                        </a:rPr>
                        <a:t>Demo 5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· Android R8/measurement · SBOM </a:t>
                      </a:r>
                      <a:r>
                        <a:rPr sz="1296" b="1">
                          <a:solidFill>
                            <a:srgbClr val="1F2D3A"/>
                          </a:solidFill>
                        </a:rPr>
                        <a:t>Demo 6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· Project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4151376"/>
            <a:ext cx="10911535" cy="10012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F2D3A"/>
                </a:solidFill>
              </a:rPr>
              <a:t>Learning outcomes (LO.3 / LO.4):</a:t>
            </a:r>
            <a:r>
              <a:rPr sz="1800" b="0">
                <a:solidFill>
                  <a:srgbClr val="1F2D3A"/>
                </a:solidFill>
              </a:rPr>
              <a:t> recognise and prevent the injection class (SQL, command, path, XML, deserialisation) · obfuscate with ProGuard/R8 and write </a:t>
            </a:r>
            <a:r>
              <a:rPr sz="1800" b="0">
                <a:solidFill>
                  <a:srgbClr val="A1123F"/>
                </a:solidFill>
                <a:latin typeface="Consolas"/>
              </a:rPr>
              <a:t>-keep</a:t>
            </a:r>
            <a:r>
              <a:rPr sz="1800" b="0">
                <a:solidFill>
                  <a:srgbClr val="1F2D3A"/>
                </a:solidFill>
              </a:rPr>
              <a:t> rules · produce an SBOM and manage dependency risk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5262372"/>
            <a:ext cx="10911535" cy="86868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1800" b="0">
                <a:solidFill>
                  <a:srgbClr val="1F2D3A"/>
                </a:solidFill>
              </a:rPr>
              <a:t>A managed language largely solves memory bugs; but data mixing with commands (injection) exists in every language.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What We Bring from Earlier Weeks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540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Memory bugs (overflow, use of freed memory, undefined behaviour)</a:t>
            </a:r>
            <a:r>
              <a:rPr sz="2000" b="0">
                <a:solidFill>
                  <a:srgbClr val="1F2D3A"/>
                </a:solidFill>
              </a:rPr>
              <a:t> — across the first four weeks we saw how these bugs arise in C/C++ and how they are prevented </a:t>
            </a:r>
            <a:r>
              <a:rPr sz="2000" b="1">
                <a:solidFill>
                  <a:srgbClr val="1F2D3A"/>
                </a:solidFill>
              </a:rPr>
              <a:t>(Week 4)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The structure of the SEI CERT rule book</a:t>
            </a:r>
            <a:r>
              <a:rPr sz="2000" b="0">
                <a:solidFill>
                  <a:srgbClr val="1F2D3A"/>
                </a:solidFill>
              </a:rPr>
              <a:t> — identifier, non-compliant example, compliant solution and risk </a:t>
            </a:r>
            <a:r>
              <a:rPr sz="2000" b="1">
                <a:solidFill>
                  <a:srgbClr val="1F2D3A"/>
                </a:solidFill>
              </a:rPr>
              <a:t>(Week 4)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TOCTOU (time-of-check to time-of-use)</a:t>
            </a:r>
            <a:r>
              <a:rPr sz="2000" b="0">
                <a:solidFill>
                  <a:srgbClr val="1F2D3A"/>
                </a:solidFill>
              </a:rPr>
              <a:t> — the gap between checking a file's permissions and actually using it is a race-condition flaw </a:t>
            </a:r>
            <a:r>
              <a:rPr sz="2000" b="1">
                <a:solidFill>
                  <a:srgbClr val="1F2D3A"/>
                </a:solidFill>
              </a:rPr>
              <a:t>(Week 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975608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This week: memory bugs → which ones disappear at the </a:t>
            </a:r>
            <a:r>
              <a:rPr sz="2000" b="1">
                <a:solidFill>
                  <a:srgbClr val="1F2D3A"/>
                </a:solidFill>
              </a:rPr>
              <a:t>language level</a:t>
            </a:r>
            <a:r>
              <a:rPr sz="2000" b="0">
                <a:solidFill>
                  <a:srgbClr val="1F2D3A"/>
                </a:solidFill>
              </a:rPr>
              <a:t> (Section 1); the SEI CERT structure → the </a:t>
            </a:r>
            <a:r>
              <a:rPr sz="2000" b="1">
                <a:solidFill>
                  <a:srgbClr val="1F2D3A"/>
                </a:solidFill>
              </a:rPr>
              <a:t>Oracle Java</a:t>
            </a:r>
            <a:r>
              <a:rPr sz="2000" b="0">
                <a:solidFill>
                  <a:srgbClr val="1F2D3A"/>
                </a:solidFill>
              </a:rPr>
              <a:t> standard (Section 1); TOCTOU → re-checking the root </a:t>
            </a:r>
            <a:r>
              <a:rPr sz="2000" b="1">
                <a:solidFill>
                  <a:srgbClr val="1F2D3A"/>
                </a:solidFill>
              </a:rPr>
              <a:t>after</a:t>
            </a:r>
            <a:r>
              <a:rPr sz="2000" b="0">
                <a:solidFill>
                  <a:srgbClr val="1F2D3A"/>
                </a:solidFill>
              </a:rPr>
              <a:t> the file is opened, in path traversal (Section 4).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This Week's Concepts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Each term is defined once, where it first appears in the body; here we only mark </a:t>
            </a:r>
            <a:r>
              <a:rPr sz="1800" b="1">
                <a:solidFill>
                  <a:srgbClr val="1F2D3A"/>
                </a:solidFill>
              </a:rPr>
              <a:t>where</a:t>
            </a:r>
            <a:r>
              <a:rPr sz="1800" b="0">
                <a:solidFill>
                  <a:srgbClr val="1F2D3A"/>
                </a:solidFill>
              </a:rPr>
              <a:t>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842515"/>
          <a:ext cx="6910637" cy="3374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64613"/>
                <a:gridCol w="2546024"/>
              </a:tblGrid>
              <a:tr h="337413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Concept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Where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3741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Injection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Section 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3741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The JVM and bytecode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Section 8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3741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Parameterised query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Section 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3741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Deserialisation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Section 5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3741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XXE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Section 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3741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Path traversal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Section 4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3741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ProGuard / R8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Section 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3741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The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-keep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rule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Section 9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3741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SBOM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Section 12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Background: Managed Languages and Garbage Collection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209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Managed language:</a:t>
            </a:r>
            <a:r>
              <a:rPr sz="2000" b="0">
                <a:solidFill>
                  <a:srgbClr val="1F2D3A"/>
                </a:solidFill>
              </a:rPr>
              <a:t> a language that manages memory </a:t>
            </a:r>
            <a:r>
              <a:rPr sz="2000" b="1">
                <a:solidFill>
                  <a:srgbClr val="1F2D3A"/>
                </a:solidFill>
              </a:rPr>
              <a:t>automatically</a:t>
            </a:r>
            <a:r>
              <a:rPr sz="2000" b="0">
                <a:solidFill>
                  <a:srgbClr val="1F2D3A"/>
                </a:solidFill>
              </a:rPr>
              <a:t> (Java, C#, Python, JS); the programmer never calls </a:t>
            </a:r>
            <a:r>
              <a:rPr sz="2000" b="0">
                <a:solidFill>
                  <a:srgbClr val="A1123F"/>
                </a:solidFill>
                <a:latin typeface="Consolas"/>
              </a:rPr>
              <a:t>malloc</a:t>
            </a:r>
            <a:r>
              <a:rPr sz="2000" b="0">
                <a:solidFill>
                  <a:srgbClr val="1F2D3A"/>
                </a:solidFill>
              </a:rPr>
              <a:t>/</a:t>
            </a:r>
            <a:r>
              <a:rPr sz="2000" b="0">
                <a:solidFill>
                  <a:srgbClr val="A1123F"/>
                </a:solidFill>
                <a:latin typeface="Consolas"/>
              </a:rPr>
              <a:t>free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GC (garbage collector):</a:t>
            </a:r>
            <a:r>
              <a:rPr sz="2000" b="0">
                <a:solidFill>
                  <a:srgbClr val="1F2D3A"/>
                </a:solidFill>
              </a:rPr>
              <a:t> automatically cleans up objects no longer used, in the background; the programmer never frees memory by hand.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This single difference → most memory bugs (overflow, use-after-free) </a:t>
            </a:r>
            <a:r>
              <a:rPr sz="2000" b="1">
                <a:solidFill>
                  <a:srgbClr val="1F2D3A"/>
                </a:solidFill>
              </a:rPr>
              <a:t>disappear</a:t>
            </a:r>
            <a:r>
              <a:rPr sz="2000" b="0">
                <a:solidFill>
                  <a:srgbClr val="1F2D3A"/>
                </a:solidFill>
              </a:rPr>
              <a:t>; Section 1 shows this in detail.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Background: Databases and 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SQL:</a:t>
            </a:r>
            <a:r>
              <a:rPr sz="2000" b="0">
                <a:solidFill>
                  <a:srgbClr val="1F2D3A"/>
                </a:solidFill>
              </a:rPr>
              <a:t> a database query language (</a:t>
            </a:r>
            <a:r>
              <a:rPr sz="2000" b="0">
                <a:solidFill>
                  <a:srgbClr val="A1123F"/>
                </a:solidFill>
                <a:latin typeface="Consolas"/>
              </a:rPr>
              <a:t>SELECT ... WHERE ...</a:t>
            </a:r>
            <a:r>
              <a:rPr sz="2000" b="0">
                <a:solidFill>
                  <a:srgbClr val="1F2D3A"/>
                </a:solidFill>
              </a:rPr>
              <a:t>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application puts user input into the query.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If put in wrong → </a:t>
            </a:r>
            <a:r>
              <a:rPr sz="2000" b="1">
                <a:solidFill>
                  <a:srgbClr val="1F2D3A"/>
                </a:solidFill>
              </a:rPr>
              <a:t>SQL injection</a:t>
            </a:r>
            <a:r>
              <a:rPr sz="2000" b="0">
                <a:solidFill>
                  <a:srgbClr val="1F2D3A"/>
                </a:solidFill>
              </a:rPr>
              <a:t> (Section 2).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Background: Reflection and Dependencies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164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Reflection:</a:t>
            </a:r>
            <a:r>
              <a:rPr sz="2000" b="0">
                <a:solidFill>
                  <a:srgbClr val="1F2D3A"/>
                </a:solidFill>
              </a:rPr>
              <a:t> finding and calling a class/method </a:t>
            </a:r>
            <a:r>
              <a:rPr sz="2000" b="1">
                <a:solidFill>
                  <a:srgbClr val="1F2D3A"/>
                </a:solidFill>
              </a:rPr>
              <a:t>by its name, at run time</a:t>
            </a:r>
            <a:r>
              <a:rPr sz="2000" b="0">
                <a:solidFill>
                  <a:srgbClr val="1F2D3A"/>
                </a:solidFill>
              </a:rPr>
              <a:t> (</a:t>
            </a:r>
            <a:r>
              <a:rPr sz="2000" b="0">
                <a:solidFill>
                  <a:srgbClr val="A1123F"/>
                </a:solidFill>
                <a:latin typeface="Consolas"/>
              </a:rPr>
              <a:t>Class.forName("...")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getMethod("...")</a:t>
            </a:r>
            <a:r>
              <a:rPr sz="2000" b="0">
                <a:solidFill>
                  <a:srgbClr val="1F2D3A"/>
                </a:solidFill>
              </a:rPr>
              <a:t>); obfuscation can break this → </a:t>
            </a:r>
            <a:r>
              <a:rPr sz="2000" b="0">
                <a:solidFill>
                  <a:srgbClr val="A1123F"/>
                </a:solidFill>
                <a:latin typeface="Consolas"/>
              </a:rPr>
              <a:t>-keep</a:t>
            </a:r>
            <a:r>
              <a:rPr sz="2000" b="0">
                <a:solidFill>
                  <a:srgbClr val="1F2D3A"/>
                </a:solidFill>
              </a:rPr>
              <a:t> is required (Section 9).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Dependency:</a:t>
            </a:r>
            <a:r>
              <a:rPr sz="2000" b="0">
                <a:solidFill>
                  <a:srgbClr val="1F2D3A"/>
                </a:solidFill>
              </a:rPr>
              <a:t> an external library your project uses that your own team did not write; even if your own code is secure, a flaw in a dependency affects you (Section 12).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How Do the Demos Work?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255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7 demos, in the </a:t>
            </a:r>
            <a:r>
              <a:rPr sz="2000" b="0">
                <a:solidFill>
                  <a:srgbClr val="A1123F"/>
                </a:solidFill>
                <a:latin typeface="Consolas"/>
              </a:rPr>
              <a:t>code/week-05</a:t>
            </a:r>
            <a:r>
              <a:rPr sz="2000" b="0">
                <a:solidFill>
                  <a:srgbClr val="1F2D3A"/>
                </a:solidFill>
              </a:rPr>
              <a:t> folder — need </a:t>
            </a:r>
            <a:r>
              <a:rPr sz="2000" b="1">
                <a:solidFill>
                  <a:srgbClr val="1F2D3A"/>
                </a:solidFill>
              </a:rPr>
              <a:t>Python 3</a:t>
            </a:r>
            <a:r>
              <a:rPr sz="2000" b="0">
                <a:solidFill>
                  <a:srgbClr val="1F2D3A"/>
                </a:solidFill>
              </a:rPr>
              <a:t> and </a:t>
            </a:r>
            <a:r>
              <a:rPr sz="2000" b="1">
                <a:solidFill>
                  <a:srgbClr val="1F2D3A"/>
                </a:solidFill>
              </a:rPr>
              <a:t>JDK 17+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main part of the SQL demo runs with Python's built-in </a:t>
            </a:r>
            <a:r>
              <a:rPr sz="2000" b="0">
                <a:solidFill>
                  <a:srgbClr val="A1123F"/>
                </a:solidFill>
                <a:latin typeface="Consolas"/>
              </a:rPr>
              <a:t>sqlite3</a:t>
            </a:r>
            <a:r>
              <a:rPr sz="2000" b="0">
                <a:solidFill>
                  <a:srgbClr val="1F2D3A"/>
                </a:solidFill>
              </a:rPr>
              <a:t> module, with nothing to download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Run: Windows </a:t>
            </a:r>
            <a:r>
              <a:rPr sz="2000" b="0">
                <a:solidFill>
                  <a:srgbClr val="A1123F"/>
                </a:solidFill>
                <a:latin typeface="Consolas"/>
              </a:rPr>
              <a:t>.demo.ps1</a:t>
            </a:r>
            <a:r>
              <a:rPr sz="2000" b="0">
                <a:solidFill>
                  <a:srgbClr val="1F2D3A"/>
                </a:solidFill>
              </a:rPr>
              <a:t> · WSL/Linux </a:t>
            </a:r>
            <a:r>
              <a:rPr sz="2000" b="0">
                <a:solidFill>
                  <a:srgbClr val="A1123F"/>
                </a:solidFill>
                <a:latin typeface="Consolas"/>
              </a:rPr>
              <a:t>sh demo.sh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For the optional Java parts (JDBC, ProGuard) every demo folder has a </a:t>
            </a:r>
            <a:r>
              <a:rPr sz="2000" b="0">
                <a:solidFill>
                  <a:srgbClr val="A1123F"/>
                </a:solidFill>
                <a:latin typeface="Consolas"/>
              </a:rPr>
              <a:t>hazirla</a:t>
            </a:r>
            <a:r>
              <a:rPr sz="2000" b="0">
                <a:solidFill>
                  <a:srgbClr val="1F2D3A"/>
                </a:solidFill>
              </a:rPr>
              <a:t> (prepare) script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691128"/>
            <a:ext cx="10911535" cy="934719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⚠️ </a:t>
            </a:r>
            <a:r>
              <a:rPr sz="2000" b="1">
                <a:solidFill>
                  <a:srgbClr val="1F2D3A"/>
                </a:solidFill>
              </a:rPr>
              <a:t>Ethics:</a:t>
            </a:r>
            <a:r>
              <a:rPr sz="2000" b="0">
                <a:solidFill>
                  <a:srgbClr val="1F2D3A"/>
                </a:solidFill>
              </a:rPr>
              <a:t> the injection examples run only against the </a:t>
            </a:r>
            <a:r>
              <a:rPr sz="2000" b="1">
                <a:solidFill>
                  <a:srgbClr val="1F2D3A"/>
                </a:solidFill>
              </a:rPr>
              <a:t>synthetic</a:t>
            </a:r>
            <a:r>
              <a:rPr sz="2000" b="0">
                <a:solidFill>
                  <a:srgbClr val="1F2D3A"/>
                </a:solidFill>
              </a:rPr>
              <a:t> database/files in the demo folder; never apply these techniques to someone else's system.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1. Managed languages and the root of injection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Short history — managed languages and the gaps that remain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1995</a:t>
            </a:r>
            <a:r>
              <a:rPr sz="1800" b="0">
                <a:solidFill>
                  <a:srgbClr val="1F2D3A"/>
                </a:solidFill>
              </a:rPr>
              <a:t> — </a:t>
            </a:r>
            <a:r>
              <a:rPr sz="1800" b="1">
                <a:solidFill>
                  <a:srgbClr val="1F2D3A"/>
                </a:solidFill>
              </a:rPr>
              <a:t>Java/JVM</a:t>
            </a:r>
            <a:r>
              <a:rPr sz="1800" b="0">
                <a:solidFill>
                  <a:srgbClr val="1F2D3A"/>
                </a:solidFill>
              </a:rPr>
              <a:t>: most memory bugs end at the </a:t>
            </a:r>
            <a:r>
              <a:rPr sz="1800" b="1">
                <a:solidFill>
                  <a:srgbClr val="1F2D3A"/>
                </a:solidFill>
              </a:rPr>
              <a:t>language level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1998</a:t>
            </a:r>
            <a:r>
              <a:rPr sz="1800" b="0">
                <a:solidFill>
                  <a:srgbClr val="1F2D3A"/>
                </a:solidFill>
              </a:rPr>
              <a:t> — SQL injection is documented · </a:t>
            </a:r>
            <a:r>
              <a:rPr sz="1800" b="1">
                <a:solidFill>
                  <a:srgbClr val="1F2D3A"/>
                </a:solidFill>
              </a:rPr>
              <a:t>2003</a:t>
            </a:r>
            <a:r>
              <a:rPr sz="1800" b="0">
                <a:solidFill>
                  <a:srgbClr val="1F2D3A"/>
                </a:solidFill>
              </a:rPr>
              <a:t> </a:t>
            </a:r>
            <a:r>
              <a:rPr sz="1800" b="1">
                <a:solidFill>
                  <a:srgbClr val="1F2D3A"/>
                </a:solidFill>
              </a:rPr>
              <a:t>OWASP Top 10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2002</a:t>
            </a:r>
            <a:r>
              <a:rPr sz="1800" b="0">
                <a:solidFill>
                  <a:srgbClr val="1F2D3A"/>
                </a:solidFill>
              </a:rPr>
              <a:t> — </a:t>
            </a:r>
            <a:r>
              <a:rPr sz="1800" b="1">
                <a:solidFill>
                  <a:srgbClr val="1F2D3A"/>
                </a:solidFill>
              </a:rPr>
              <a:t>ProGuard</a:t>
            </a:r>
            <a:r>
              <a:rPr sz="1800" b="0">
                <a:solidFill>
                  <a:srgbClr val="1F2D3A"/>
                </a:solidFill>
              </a:rPr>
              <a:t> (later </a:t>
            </a:r>
            <a:r>
              <a:rPr sz="1800" b="1">
                <a:solidFill>
                  <a:srgbClr val="1F2D3A"/>
                </a:solidFill>
              </a:rPr>
              <a:t>R8</a:t>
            </a:r>
            <a:r>
              <a:rPr sz="1800" b="0">
                <a:solidFill>
                  <a:srgbClr val="1F2D3A"/>
                </a:solidFill>
              </a:rPr>
              <a:t>): because bytecode is easy to reverse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2015</a:t>
            </a:r>
            <a:r>
              <a:rPr sz="1800" b="0">
                <a:solidFill>
                  <a:srgbClr val="1F2D3A"/>
                </a:solidFill>
              </a:rPr>
              <a:t> deserialisation · </a:t>
            </a:r>
            <a:r>
              <a:rPr sz="1800" b="1">
                <a:solidFill>
                  <a:srgbClr val="1F2D3A"/>
                </a:solidFill>
              </a:rPr>
              <a:t>2020–21</a:t>
            </a:r>
            <a:r>
              <a:rPr sz="1800" b="0">
                <a:solidFill>
                  <a:srgbClr val="1F2D3A"/>
                </a:solidFill>
              </a:rPr>
              <a:t> SolarWinds and </a:t>
            </a:r>
            <a:r>
              <a:rPr sz="1800" b="1">
                <a:solidFill>
                  <a:srgbClr val="1F2D3A"/>
                </a:solidFill>
              </a:rPr>
              <a:t>Log4Shell</a:t>
            </a:r>
            <a:r>
              <a:rPr sz="1800" b="0">
                <a:solidFill>
                  <a:srgbClr val="1F2D3A"/>
                </a:solidFill>
              </a:rPr>
              <a:t> → the </a:t>
            </a:r>
            <a:r>
              <a:rPr sz="1800" b="1">
                <a:solidFill>
                  <a:srgbClr val="1F2D3A"/>
                </a:solidFill>
              </a:rPr>
              <a:t>SBOM</a:t>
            </a:r>
            <a:r>
              <a:rPr sz="1800" b="0">
                <a:solidFill>
                  <a:srgbClr val="1F2D3A"/>
                </a:solidFill>
              </a:rPr>
              <a:t> era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898648"/>
            <a:ext cx="10911535" cy="57150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1800" b="0">
                <a:solidFill>
                  <a:srgbClr val="1F2D3A"/>
                </a:solidFill>
              </a:rPr>
              <a:t>The language solves </a:t>
            </a:r>
            <a:r>
              <a:rPr sz="1800" b="1">
                <a:solidFill>
                  <a:srgbClr val="1F2D3A"/>
                </a:solidFill>
              </a:rPr>
              <a:t>memory bugs</a:t>
            </a:r>
            <a:r>
              <a:rPr sz="1800" b="0">
                <a:solidFill>
                  <a:srgbClr val="1F2D3A"/>
                </a:solidFill>
              </a:rPr>
              <a:t>; it does </a:t>
            </a:r>
            <a:r>
              <a:rPr sz="1800" b="1">
                <a:solidFill>
                  <a:srgbClr val="1F2D3A"/>
                </a:solidFill>
              </a:rPr>
              <a:t>not solve injection or dependency risk</a:t>
            </a:r>
            <a:r>
              <a:rPr sz="18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What does a managed language solve?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Automatic memory management (GC) → overflow, UAF, double free are </a:t>
            </a:r>
            <a:r>
              <a:rPr sz="2000" b="1">
                <a:solidFill>
                  <a:srgbClr val="1F2D3A"/>
                </a:solidFill>
              </a:rPr>
              <a:t>largely gone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Array access is bounds-checked → </a:t>
            </a:r>
            <a:r>
              <a:rPr sz="2000" b="0">
                <a:solidFill>
                  <a:srgbClr val="A1123F"/>
                </a:solidFill>
                <a:latin typeface="Consolas"/>
              </a:rPr>
              <a:t>ArrayIndexOutOfBounds</a:t>
            </a:r>
            <a:r>
              <a:rPr sz="2000" b="0">
                <a:solidFill>
                  <a:srgbClr val="1F2D3A"/>
                </a:solidFill>
              </a:rPr>
              <a:t> (a crash, not exploitation).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Type safety is stricter.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What does a managed language NOT solve?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Injection</a:t>
            </a:r>
            <a:r>
              <a:rPr sz="2000" b="0">
                <a:solidFill>
                  <a:srgbClr val="1F2D3A"/>
                </a:solidFill>
              </a:rPr>
              <a:t> (data = command) — exists in every language.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Logic errors</a:t>
            </a:r>
            <a:r>
              <a:rPr sz="2000" b="0">
                <a:solidFill>
                  <a:srgbClr val="1F2D3A"/>
                </a:solidFill>
              </a:rPr>
              <a:t>, authorisation errors.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Dependency</a:t>
            </a:r>
            <a:r>
              <a:rPr sz="2000" b="0">
                <a:solidFill>
                  <a:srgbClr val="1F2D3A"/>
                </a:solidFill>
              </a:rPr>
              <a:t> vulnerabilities.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Deserialisation</a:t>
            </a:r>
            <a:r>
              <a:rPr sz="2000" b="0">
                <a:solidFill>
                  <a:srgbClr val="1F2D3A"/>
                </a:solidFill>
              </a:rPr>
              <a:t> attacks.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030728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Memory bugs went down; the new front is injection and the supply chain.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Managed language: solves / does not solve — diagram</a:t>
            </a:r>
          </a:p>
        </p:txBody>
      </p:sp>
      <p:pic>
        <p:nvPicPr>
          <p:cNvPr id="7" name="Picture 6" descr="h05-02-yonetilen-d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16" y="1325880"/>
            <a:ext cx="10234863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SEI CERT Oracle Java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separate </a:t>
            </a:r>
            <a:r>
              <a:rPr sz="2000" b="1">
                <a:solidFill>
                  <a:srgbClr val="1F2D3A"/>
                </a:solidFill>
              </a:rPr>
              <a:t>rule book</a:t>
            </a:r>
            <a:r>
              <a:rPr sz="2000" b="0">
                <a:solidFill>
                  <a:srgbClr val="1F2D3A"/>
                </a:solidFill>
              </a:rPr>
              <a:t> for Java (CERT Oracle Coding Standard for Java).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Same structure: noncompliant example + compliant solution + risk.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Sample areas: injection, serialisation, concurrency, sensitive data.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CERT Oracle Java — diagram</a:t>
            </a:r>
          </a:p>
        </p:txBody>
      </p:sp>
      <p:pic>
        <p:nvPicPr>
          <p:cNvPr id="7" name="Picture 6" descr="h05-11-cert-jav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90933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SEI CERT · rules touching this week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27212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6036"/>
                <a:gridCol w="2372072"/>
                <a:gridCol w="7353425"/>
              </a:tblGrid>
              <a:tr h="453542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Prefix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Category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Rule (example)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45354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IDS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Input validation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IDS00-J SQL · IDS07-J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Runtime.exec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· IDS16/17-J XML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5354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FIO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Input/output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FIO16-J: canonicalise path names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5354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SER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Serialisation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SER12-J: do not deserialise untrusted data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5354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MSC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Miscellaneous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MSC03-J: do not embed sensitive information in code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53544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ERR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Error handling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ERR01-J: do not leak sensitive information in an exception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4156862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IDs end with the </a:t>
            </a:r>
            <a:r>
              <a:rPr sz="1800" b="0">
                <a:solidFill>
                  <a:srgbClr val="A1123F"/>
                </a:solidFill>
                <a:latin typeface="Consolas"/>
              </a:rPr>
              <a:t>-J</a:t>
            </a:r>
            <a:r>
              <a:rPr sz="1800" b="0">
                <a:solidFill>
                  <a:srgbClr val="1F2D3A"/>
                </a:solidFill>
              </a:rPr>
              <a:t> suffix.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Sensitive data in Java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Java </a:t>
            </a:r>
            <a:r>
              <a:rPr sz="2000" b="0">
                <a:solidFill>
                  <a:srgbClr val="A1123F"/>
                </a:solidFill>
                <a:latin typeface="Consolas"/>
              </a:rPr>
              <a:t>String</a:t>
            </a:r>
            <a:r>
              <a:rPr sz="2000" b="0">
                <a:solidFill>
                  <a:srgbClr val="1F2D3A"/>
                </a:solidFill>
              </a:rPr>
              <a:t> is </a:t>
            </a:r>
            <a:r>
              <a:rPr sz="2000" b="1">
                <a:solidFill>
                  <a:srgbClr val="1F2D3A"/>
                </a:solidFill>
              </a:rPr>
              <a:t>immutable</a:t>
            </a:r>
            <a:r>
              <a:rPr sz="2000" b="0">
                <a:solidFill>
                  <a:srgbClr val="1F2D3A"/>
                </a:solidFill>
              </a:rPr>
              <a:t> → it cannot be erased from memory.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For a password/key use </a:t>
            </a:r>
            <a:r>
              <a:rPr sz="2000" b="0">
                <a:solidFill>
                  <a:srgbClr val="A1123F"/>
                </a:solidFill>
                <a:latin typeface="Consolas"/>
              </a:rPr>
              <a:t>char[]</a:t>
            </a:r>
            <a:r>
              <a:rPr sz="2000" b="0">
                <a:solidFill>
                  <a:srgbClr val="1F2D3A"/>
                </a:solidFill>
              </a:rPr>
              <a:t>, and </a:t>
            </a:r>
            <a:r>
              <a:rPr sz="2000" b="1">
                <a:solidFill>
                  <a:srgbClr val="1F2D3A"/>
                </a:solidFill>
              </a:rPr>
              <a:t>fill</a:t>
            </a:r>
            <a:r>
              <a:rPr sz="2000" b="0">
                <a:solidFill>
                  <a:srgbClr val="1F2D3A"/>
                </a:solidFill>
              </a:rPr>
              <a:t> it (</a:t>
            </a:r>
            <a:r>
              <a:rPr sz="2000" b="0">
                <a:solidFill>
                  <a:srgbClr val="A1123F"/>
                </a:solidFill>
                <a:latin typeface="Consolas"/>
              </a:rPr>
              <a:t>Arrays.fill</a:t>
            </a:r>
            <a:r>
              <a:rPr sz="2000" b="0">
                <a:solidFill>
                  <a:srgbClr val="1F2D3A"/>
                </a:solidFill>
              </a:rPr>
              <a:t>) once you are done.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GC does </a:t>
            </a:r>
            <a:r>
              <a:rPr sz="2000" b="1">
                <a:solidFill>
                  <a:srgbClr val="1F2D3A"/>
                </a:solidFill>
              </a:rPr>
              <a:t>not guarantee</a:t>
            </a:r>
            <a:r>
              <a:rPr sz="2000" b="0">
                <a:solidFill>
                  <a:srgbClr val="1F2D3A"/>
                </a:solidFill>
              </a:rPr>
              <a:t> when it will collect.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The common root of injection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Injection = </a:t>
            </a:r>
            <a:r>
              <a:rPr sz="2000" b="1">
                <a:solidFill>
                  <a:srgbClr val="1F2D3A"/>
                </a:solidFill>
              </a:rPr>
              <a:t>data</a:t>
            </a:r>
            <a:r>
              <a:rPr sz="2000" b="0">
                <a:solidFill>
                  <a:srgbClr val="1F2D3A"/>
                </a:solidFill>
              </a:rPr>
              <a:t> mixing with </a:t>
            </a:r>
            <a:r>
              <a:rPr sz="2000" b="1">
                <a:solidFill>
                  <a:srgbClr val="1F2D3A"/>
                </a:solidFill>
              </a:rPr>
              <a:t>command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40128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User data goes to an interpreter (SQL, shell, XML) as a </a:t>
            </a:r>
            <a:r>
              <a:rPr sz="2000" b="1">
                <a:solidFill>
                  <a:srgbClr val="1F2D3A"/>
                </a:solidFill>
              </a:rPr>
              <a:t>command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root is the same; the target (SQL/shell/XML) changes.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The root of injection — data or code? — diagram</a:t>
            </a:r>
          </a:p>
        </p:txBody>
      </p:sp>
      <p:pic>
        <p:nvPicPr>
          <p:cNvPr id="7" name="Picture 6" descr="h05-01-enjeksiyon-kok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7883" y="1325880"/>
            <a:ext cx="9915929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The common root of the fix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 same principle in every injection type: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Separate data from code</a:t>
            </a:r>
            <a:r>
              <a:rPr sz="2000" b="0">
                <a:solidFill>
                  <a:srgbClr val="1F2D3A"/>
                </a:solidFill>
              </a:rPr>
              <a:t> (a parameterised API).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Never embed data into a command via </a:t>
            </a:r>
            <a:r>
              <a:rPr sz="2000" b="1">
                <a:solidFill>
                  <a:srgbClr val="1F2D3A"/>
                </a:solidFill>
              </a:rPr>
              <a:t>string concatenation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Allow list + context-appropriate escaping (last resort).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One channel or two channels? — table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4927"/>
                <a:gridCol w="4546472"/>
                <a:gridCol w="4660134"/>
              </a:tblGrid>
              <a:tr h="351129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Interpreter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One channel (wrong)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Two channels (correct)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SQL engine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"...WHERE name='" + name + "'"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PreparedStatement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+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?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Shell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exec("sh -c '...' " + host)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ProcessBuilder(...)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— no shell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File system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new File(root, request)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Canonicalise + root check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113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XML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Building XML by string concatenation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Building elements with a DOM/StAX API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191256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Same principle, four different interpreters.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Injection families (today)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7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SQL injection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Command injection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Path traversal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Deserialisation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XML/XXE, templates, XSS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40664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All share the </a:t>
            </a:r>
            <a:r>
              <a:rPr sz="2000" b="1">
                <a:solidFill>
                  <a:srgbClr val="1F2D3A"/>
                </a:solidFill>
              </a:rPr>
              <a:t>same</a:t>
            </a:r>
            <a:r>
              <a:rPr sz="2000" b="0">
                <a:solidFill>
                  <a:srgbClr val="1F2D3A"/>
                </a:solidFill>
              </a:rPr>
              <a:t> root and the </a:t>
            </a:r>
            <a:r>
              <a:rPr sz="2000" b="1">
                <a:solidFill>
                  <a:srgbClr val="1F2D3A"/>
                </a:solidFill>
              </a:rPr>
              <a:t>same</a:t>
            </a:r>
            <a:r>
              <a:rPr sz="2000" b="0">
                <a:solidFill>
                  <a:srgbClr val="1F2D3A"/>
                </a:solidFill>
              </a:rPr>
              <a:t> fix logic.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Rule of this section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A managed language solves the </a:t>
            </a:r>
            <a:r>
              <a:rPr sz="2000" b="1">
                <a:solidFill>
                  <a:srgbClr val="1F2D3A"/>
                </a:solidFill>
              </a:rPr>
              <a:t>memory</a:t>
            </a:r>
            <a:r>
              <a:rPr sz="2000" b="0">
                <a:solidFill>
                  <a:srgbClr val="1F2D3A"/>
                </a:solidFill>
              </a:rPr>
              <a:t> bug; it does not solve </a:t>
            </a:r>
            <a:r>
              <a:rPr sz="2000" b="1">
                <a:solidFill>
                  <a:srgbClr val="1F2D3A"/>
                </a:solidFill>
              </a:rPr>
              <a:t>injection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40128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root of injection is always the same: data = command.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fix is always the same: </a:t>
            </a:r>
            <a:r>
              <a:rPr sz="2000" b="1">
                <a:solidFill>
                  <a:srgbClr val="1F2D3A"/>
                </a:solidFill>
              </a:rPr>
              <a:t>separate</a:t>
            </a:r>
            <a:r>
              <a:rPr sz="2000" b="0">
                <a:solidFill>
                  <a:srgbClr val="1F2D3A"/>
                </a:solidFill>
              </a:rPr>
              <a:t> data from code.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We will now see this principle applied to each injection type in turn.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Section 1 — quick 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Which error class does a managed language largely solve?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What does it not solve?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What is the common root of injection?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Section 1 — 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209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1">
                <a:solidFill>
                  <a:srgbClr val="1F2D3A"/>
                </a:solidFill>
              </a:rPr>
              <a:t>Memory-safety</a:t>
            </a:r>
            <a:r>
              <a:rPr sz="2000" b="0">
                <a:solidFill>
                  <a:srgbClr val="1F2D3A"/>
                </a:solidFill>
              </a:rPr>
              <a:t> bugs (buffer overflow, use-after-free, double/dangling pointer) — through the GC + bounds checking.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1">
                <a:solidFill>
                  <a:srgbClr val="1F2D3A"/>
                </a:solidFill>
              </a:rPr>
              <a:t>Logic/injection/authorisation</a:t>
            </a:r>
            <a:r>
              <a:rPr sz="2000" b="0">
                <a:solidFill>
                  <a:srgbClr val="1F2D3A"/>
                </a:solidFill>
              </a:rPr>
              <a:t> bugs, unsafe deserialisation, weak cryptography, </a:t>
            </a:r>
            <a:r>
              <a:rPr sz="2000" b="1">
                <a:solidFill>
                  <a:srgbClr val="1F2D3A"/>
                </a:solidFill>
              </a:rPr>
              <a:t>dependency</a:t>
            </a:r>
            <a:r>
              <a:rPr sz="2000" b="0">
                <a:solidFill>
                  <a:srgbClr val="1F2D3A"/>
                </a:solidFill>
              </a:rPr>
              <a:t> flaws — these are above the language, unsolved.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Untrusted </a:t>
            </a:r>
            <a:r>
              <a:rPr sz="2000" b="1">
                <a:solidFill>
                  <a:srgbClr val="1F2D3A"/>
                </a:solidFill>
              </a:rPr>
              <a:t>DATA</a:t>
            </a:r>
            <a:r>
              <a:rPr sz="2000" b="0">
                <a:solidFill>
                  <a:srgbClr val="1F2D3A"/>
                </a:solidFill>
              </a:rPr>
              <a:t> mixing with </a:t>
            </a:r>
            <a:r>
              <a:rPr sz="2000" b="1">
                <a:solidFill>
                  <a:srgbClr val="1F2D3A"/>
                </a:solidFill>
              </a:rPr>
              <a:t>CODE/command</a:t>
            </a:r>
            <a:r>
              <a:rPr sz="2000" b="0">
                <a:solidFill>
                  <a:srgbClr val="1F2D3A"/>
                </a:solidFill>
              </a:rPr>
              <a:t> in the same channel; the interpreter parses the data as a </a:t>
            </a:r>
            <a:r>
              <a:rPr sz="2000" b="1">
                <a:solidFill>
                  <a:srgbClr val="1F2D3A"/>
                </a:solidFill>
              </a:rPr>
              <a:t>command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2. SQL injection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Buggy code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String q = "SELECT * FROM kul WHERE ad = '" + ad + "'";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stmt.executeQuery(q);   // HATALI: ad komuta karışır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87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What if </a:t>
            </a:r>
            <a:r>
              <a:rPr sz="2000" b="0">
                <a:solidFill>
                  <a:srgbClr val="A1123F"/>
                </a:solidFill>
                <a:latin typeface="Consolas"/>
              </a:rPr>
              <a:t>ad</a:t>
            </a:r>
            <a:r>
              <a:rPr sz="2000" b="0">
                <a:solidFill>
                  <a:srgbClr val="1F2D3A"/>
                </a:solidFill>
              </a:rPr>
              <a:t> contains a quote and SQL?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Attack · 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 user enters this as </a:t>
            </a:r>
            <a:r>
              <a:rPr sz="2000" b="0">
                <a:solidFill>
                  <a:srgbClr val="A1123F"/>
                </a:solidFill>
                <a:latin typeface="Consolas"/>
              </a:rPr>
              <a:t>ad</a:t>
            </a:r>
            <a:r>
              <a:rPr sz="2000" b="0">
                <a:solidFill>
                  <a:srgbClr val="1F2D3A"/>
                </a:solidFill>
              </a:rPr>
              <a:t>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5536"/>
            <a:ext cx="10911535" cy="463295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' OR '1'='1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48559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 query becomes: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998215"/>
            <a:ext cx="10911535" cy="463295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SELECT * FROM kul WHERE ad = '' OR '1'='1'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57123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'1'='1'</a:t>
            </a:r>
            <a:r>
              <a:rPr sz="2000" b="0">
                <a:solidFill>
                  <a:srgbClr val="1F2D3A"/>
                </a:solidFill>
              </a:rPr>
              <a:t> is always true → </a:t>
            </a:r>
            <a:r>
              <a:rPr sz="2000" b="1">
                <a:solidFill>
                  <a:srgbClr val="1F2D3A"/>
                </a:solidFill>
              </a:rPr>
              <a:t>all rows</a:t>
            </a:r>
            <a:r>
              <a:rPr sz="2000" b="0">
                <a:solidFill>
                  <a:srgbClr val="1F2D3A"/>
                </a:solidFill>
              </a:rPr>
              <a:t> are returned.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Why did it happen?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ad</a:t>
            </a:r>
            <a:r>
              <a:rPr sz="2000" b="0">
                <a:solidFill>
                  <a:srgbClr val="1F2D3A"/>
                </a:solidFill>
              </a:rPr>
              <a:t> was concatenated into the query </a:t>
            </a:r>
            <a:r>
              <a:rPr sz="2000" b="1">
                <a:solidFill>
                  <a:srgbClr val="1F2D3A"/>
                </a:solidFill>
              </a:rPr>
              <a:t>text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quote closed the data and moved into the </a:t>
            </a:r>
            <a:r>
              <a:rPr sz="2000" b="1">
                <a:solidFill>
                  <a:srgbClr val="1F2D3A"/>
                </a:solidFill>
              </a:rPr>
              <a:t>command</a:t>
            </a:r>
            <a:r>
              <a:rPr sz="2000" b="0">
                <a:solidFill>
                  <a:srgbClr val="1F2D3A"/>
                </a:solidFill>
              </a:rPr>
              <a:t> part.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Data and command got </a:t>
            </a:r>
            <a:r>
              <a:rPr sz="2000" b="1">
                <a:solidFill>
                  <a:srgbClr val="1F2D3A"/>
                </a:solidFill>
              </a:rPr>
              <a:t>mixed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SQL injection step by step — diagram</a:t>
            </a:r>
          </a:p>
        </p:txBody>
      </p:sp>
      <p:pic>
        <p:nvPicPr>
          <p:cNvPr id="7" name="Picture 6" descr="h05-03-sql-enjeksiy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553209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Correct · parameterised query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03022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PreparedStatement ps =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con.prepareStatement("SELECT * FROM kul WHERE ad = ?");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ps.setString(1, ad);    // ad yalnız VERİ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ps.executeQuery();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583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?</a:t>
            </a:r>
            <a:r>
              <a:rPr sz="2000" b="0">
                <a:solidFill>
                  <a:srgbClr val="1F2D3A"/>
                </a:solidFill>
              </a:rPr>
              <a:t> is a </a:t>
            </a:r>
            <a:r>
              <a:rPr sz="2000" b="1">
                <a:solidFill>
                  <a:srgbClr val="1F2D3A"/>
                </a:solidFill>
              </a:rPr>
              <a:t>parameter</a:t>
            </a:r>
            <a:r>
              <a:rPr sz="2000" b="0">
                <a:solidFill>
                  <a:srgbClr val="1F2D3A"/>
                </a:solidFill>
              </a:rPr>
              <a:t>; </a:t>
            </a:r>
            <a:r>
              <a:rPr sz="2000" b="0">
                <a:solidFill>
                  <a:srgbClr val="A1123F"/>
                </a:solidFill>
                <a:latin typeface="Consolas"/>
              </a:rPr>
              <a:t>ad</a:t>
            </a:r>
            <a:r>
              <a:rPr sz="2000" b="0">
                <a:solidFill>
                  <a:srgbClr val="1F2D3A"/>
                </a:solidFill>
              </a:rPr>
              <a:t> is never interpreted as a command.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Why does it work?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query skeleton is sent (compiled) to the database </a:t>
            </a:r>
            <a:r>
              <a:rPr sz="2000" b="1">
                <a:solidFill>
                  <a:srgbClr val="1F2D3A"/>
                </a:solidFill>
              </a:rPr>
              <a:t>beforehand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ad</a:t>
            </a:r>
            <a:r>
              <a:rPr sz="2000" b="0">
                <a:solidFill>
                  <a:srgbClr val="1F2D3A"/>
                </a:solidFill>
              </a:rPr>
              <a:t> is bound afterwards as </a:t>
            </a:r>
            <a:r>
              <a:rPr sz="2000" b="1">
                <a:solidFill>
                  <a:srgbClr val="1F2D3A"/>
                </a:solidFill>
              </a:rPr>
              <a:t>data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Even if it contains a quote, it stays data.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Other layers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Least privilege:</a:t>
            </a:r>
            <a:r>
              <a:rPr sz="2000" b="0">
                <a:solidFill>
                  <a:srgbClr val="1F2D3A"/>
                </a:solidFill>
              </a:rPr>
              <a:t> the application's DB user should do only what is needed.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Input validation:</a:t>
            </a:r>
            <a:r>
              <a:rPr sz="2000" b="0">
                <a:solidFill>
                  <a:srgbClr val="1F2D3A"/>
                </a:solidFill>
              </a:rPr>
              <a:t> an allow list, regardless.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If you use an </a:t>
            </a:r>
            <a:r>
              <a:rPr sz="2000" b="1">
                <a:solidFill>
                  <a:srgbClr val="1F2D3A"/>
                </a:solidFill>
              </a:rPr>
              <a:t>ORM</a:t>
            </a:r>
            <a:r>
              <a:rPr sz="2000" b="0">
                <a:solidFill>
                  <a:srgbClr val="1F2D3A"/>
                </a:solidFill>
              </a:rPr>
              <a:t>, use its parameterised API too (not string concatenation).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⚠️ Escaping is the last resort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Manually escaping quotes is </a:t>
            </a:r>
            <a:r>
              <a:rPr sz="2000" b="1">
                <a:solidFill>
                  <a:srgbClr val="1F2D3A"/>
                </a:solidFill>
              </a:rPr>
              <a:t>error-prone</a:t>
            </a:r>
            <a:r>
              <a:rPr sz="2000" b="0">
                <a:solidFill>
                  <a:srgbClr val="1F2D3A"/>
                </a:solidFill>
              </a:rPr>
              <a:t>; every DB is different.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</a:t>
            </a:r>
            <a:r>
              <a:rPr sz="2000" b="1">
                <a:solidFill>
                  <a:srgbClr val="1F2D3A"/>
                </a:solidFill>
              </a:rPr>
              <a:t>always</a:t>
            </a:r>
            <a:r>
              <a:rPr sz="2000" b="0">
                <a:solidFill>
                  <a:srgbClr val="1F2D3A"/>
                </a:solidFill>
              </a:rPr>
              <a:t>-first priority is a parameterised query.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Escaping only where parameters are not possible, and carefully.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SQL injection · rule of this section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Never</a:t>
            </a:r>
            <a:r>
              <a:rPr sz="2000" b="0">
                <a:solidFill>
                  <a:srgbClr val="1F2D3A"/>
                </a:solidFill>
              </a:rPr>
              <a:t> build a query with string concatenation.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Always</a:t>
            </a:r>
            <a:r>
              <a:rPr sz="2000" b="0">
                <a:solidFill>
                  <a:srgbClr val="1F2D3A"/>
                </a:solidFill>
              </a:rPr>
              <a:t> use a parameterised query (</a:t>
            </a:r>
            <a:r>
              <a:rPr sz="2000" b="0">
                <a:solidFill>
                  <a:srgbClr val="A1123F"/>
                </a:solidFill>
                <a:latin typeface="Consolas"/>
              </a:rPr>
              <a:t>PreparedStatement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?</a:t>
            </a:r>
            <a:r>
              <a:rPr sz="2000" b="0">
                <a:solidFill>
                  <a:srgbClr val="1F2D3A"/>
                </a:solidFill>
              </a:rPr>
              <a:t>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Use an </a:t>
            </a:r>
            <a:r>
              <a:rPr sz="2000" b="1">
                <a:solidFill>
                  <a:srgbClr val="1F2D3A"/>
                </a:solidFill>
              </a:rPr>
              <a:t>allow list</a:t>
            </a:r>
            <a:r>
              <a:rPr sz="2000" b="0">
                <a:solidFill>
                  <a:srgbClr val="1F2D3A"/>
                </a:solidFill>
              </a:rPr>
              <a:t> for identifiers such as column/table names.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Escaping only as a last resort.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3. Command injection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Shell or no shell — diagram</a:t>
            </a:r>
          </a:p>
        </p:txBody>
      </p:sp>
      <p:pic>
        <p:nvPicPr>
          <p:cNvPr id="7" name="Picture 6" descr="h05-04-komut-enjeksiy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725823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Buggy code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463295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Runtime.getRuntime().exec("ping " + host);  // HATALI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98903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What if </a:t>
            </a:r>
            <a:r>
              <a:rPr sz="2000" b="0">
                <a:solidFill>
                  <a:srgbClr val="A1123F"/>
                </a:solidFill>
                <a:latin typeface="Consolas"/>
              </a:rPr>
              <a:t>host</a:t>
            </a:r>
            <a:r>
              <a:rPr sz="2000" b="0">
                <a:solidFill>
                  <a:srgbClr val="1F2D3A"/>
                </a:solidFill>
              </a:rPr>
              <a:t> contains a shell metacharacter?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Attack · 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As </a:t>
            </a:r>
            <a:r>
              <a:rPr sz="2000" b="0">
                <a:solidFill>
                  <a:srgbClr val="A1123F"/>
                </a:solidFill>
                <a:latin typeface="Consolas"/>
              </a:rPr>
              <a:t>host</a:t>
            </a:r>
            <a:r>
              <a:rPr sz="2000" b="0">
                <a:solidFill>
                  <a:srgbClr val="1F2D3A"/>
                </a:solidFill>
              </a:rPr>
              <a:t>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5536"/>
            <a:ext cx="10911535" cy="463295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example.com; rm -rf veri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48559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 shell runs this as </a:t>
            </a:r>
            <a:r>
              <a:rPr sz="2000" b="1">
                <a:solidFill>
                  <a:srgbClr val="1F2D3A"/>
                </a:solidFill>
              </a:rPr>
              <a:t>two commands</a:t>
            </a:r>
            <a:r>
              <a:rPr sz="2000" b="0">
                <a:solidFill>
                  <a:srgbClr val="1F2D3A"/>
                </a:solidFill>
              </a:rPr>
              <a:t>: </a:t>
            </a:r>
            <a:r>
              <a:rPr sz="2000" b="0">
                <a:solidFill>
                  <a:srgbClr val="A1123F"/>
                </a:solidFill>
                <a:latin typeface="Consolas"/>
              </a:rPr>
              <a:t>ping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1">
                <a:solidFill>
                  <a:srgbClr val="1F2D3A"/>
                </a:solidFill>
              </a:rPr>
              <a:t>and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rm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98215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 i="1">
                <a:solidFill>
                  <a:srgbClr val="1F2D3A"/>
                </a:solidFill>
              </a:rPr>
              <a:t>(The example is synthetic; never run it.)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Why did it happen?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command was handed to a </a:t>
            </a:r>
            <a:r>
              <a:rPr sz="2000" b="1">
                <a:solidFill>
                  <a:srgbClr val="1F2D3A"/>
                </a:solidFill>
              </a:rPr>
              <a:t>shell</a:t>
            </a:r>
            <a:r>
              <a:rPr sz="2000" b="0">
                <a:solidFill>
                  <a:srgbClr val="1F2D3A"/>
                </a:solidFill>
              </a:rPr>
              <a:t> as text.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;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|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&amp;&amp;</a:t>
            </a:r>
            <a:r>
              <a:rPr sz="2000" b="0">
                <a:solidFill>
                  <a:srgbClr val="1F2D3A"/>
                </a:solidFill>
              </a:rPr>
              <a:t> are </a:t>
            </a:r>
            <a:r>
              <a:rPr sz="2000" b="1">
                <a:solidFill>
                  <a:srgbClr val="1F2D3A"/>
                </a:solidFill>
              </a:rPr>
              <a:t>command separators</a:t>
            </a:r>
            <a:r>
              <a:rPr sz="2000" b="0">
                <a:solidFill>
                  <a:srgbClr val="1F2D3A"/>
                </a:solidFill>
              </a:rPr>
              <a:t> in the shell.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Data got mixed into the command line.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Correct · argument array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463295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new ProcessBuilder("ping", "-c", "1", host).start();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98903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No shell</a:t>
            </a:r>
            <a:r>
              <a:rPr sz="2000" b="0">
                <a:solidFill>
                  <a:srgbClr val="1F2D3A"/>
                </a:solidFill>
              </a:rPr>
              <a:t>; </a:t>
            </a:r>
            <a:r>
              <a:rPr sz="2000" b="0">
                <a:solidFill>
                  <a:srgbClr val="A1123F"/>
                </a:solidFill>
                <a:latin typeface="Consolas"/>
              </a:rPr>
              <a:t>host</a:t>
            </a:r>
            <a:r>
              <a:rPr sz="2000" b="0">
                <a:solidFill>
                  <a:srgbClr val="1F2D3A"/>
                </a:solidFill>
              </a:rPr>
              <a:t> is a single </a:t>
            </a:r>
            <a:r>
              <a:rPr sz="2000" b="1">
                <a:solidFill>
                  <a:srgbClr val="1F2D3A"/>
                </a:solidFill>
              </a:rPr>
              <a:t>argument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Metacharacters are not interpreted.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Additional rules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Where possible, do </a:t>
            </a:r>
            <a:r>
              <a:rPr sz="2000" b="1">
                <a:solidFill>
                  <a:srgbClr val="1F2D3A"/>
                </a:solidFill>
              </a:rPr>
              <a:t>not</a:t>
            </a:r>
            <a:r>
              <a:rPr sz="2000" b="0">
                <a:solidFill>
                  <a:srgbClr val="1F2D3A"/>
                </a:solidFill>
              </a:rPr>
              <a:t> run an external command at all; use a library API.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If you must: a fixed path, an argument array, an allow list.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Similar to </a:t>
            </a:r>
            <a:r>
              <a:rPr sz="2000" b="0">
                <a:solidFill>
                  <a:srgbClr val="A1123F"/>
                </a:solidFill>
                <a:latin typeface="Consolas"/>
              </a:rPr>
              <a:t>ENV33-C</a:t>
            </a:r>
            <a:r>
              <a:rPr sz="2000" b="0">
                <a:solidFill>
                  <a:srgbClr val="1F2D3A"/>
                </a:solidFill>
              </a:rPr>
              <a:t>: calling </a:t>
            </a:r>
            <a:r>
              <a:rPr sz="2000" b="0">
                <a:solidFill>
                  <a:srgbClr val="A1123F"/>
                </a:solidFill>
                <a:latin typeface="Consolas"/>
              </a:rPr>
              <a:t>system()</a:t>
            </a:r>
            <a:r>
              <a:rPr sz="2000" b="0">
                <a:solidFill>
                  <a:srgbClr val="1F2D3A"/>
                </a:solidFill>
              </a:rPr>
              <a:t>/a shell.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Command injection · rule of this section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Where possible, </a:t>
            </a:r>
            <a:r>
              <a:rPr sz="2000" b="1">
                <a:solidFill>
                  <a:srgbClr val="1F2D3A"/>
                </a:solidFill>
              </a:rPr>
              <a:t>never</a:t>
            </a:r>
            <a:r>
              <a:rPr sz="2000" b="0">
                <a:solidFill>
                  <a:srgbClr val="1F2D3A"/>
                </a:solidFill>
              </a:rPr>
              <a:t> run an external command.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If you must: a shell-less </a:t>
            </a:r>
            <a:r>
              <a:rPr sz="2000" b="1">
                <a:solidFill>
                  <a:srgbClr val="1F2D3A"/>
                </a:solidFill>
              </a:rPr>
              <a:t>argument array</a:t>
            </a:r>
            <a:r>
              <a:rPr sz="2000" b="0">
                <a:solidFill>
                  <a:srgbClr val="1F2D3A"/>
                </a:solidFill>
              </a:rPr>
              <a:t> (</a:t>
            </a:r>
            <a:r>
              <a:rPr sz="2000" b="0">
                <a:solidFill>
                  <a:srgbClr val="A1123F"/>
                </a:solidFill>
                <a:latin typeface="Consolas"/>
              </a:rPr>
              <a:t>ProcessBuilder</a:t>
            </a:r>
            <a:r>
              <a:rPr sz="2000" b="0">
                <a:solidFill>
                  <a:srgbClr val="1F2D3A"/>
                </a:solidFill>
              </a:rPr>
              <a:t>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fixed path + allow list; watch input starting with </a:t>
            </a:r>
            <a:r>
              <a:rPr sz="2000" b="0">
                <a:solidFill>
                  <a:srgbClr val="A1123F"/>
                </a:solidFill>
                <a:latin typeface="Consolas"/>
              </a:rPr>
              <a:t>-</a:t>
            </a:r>
            <a:r>
              <a:rPr sz="2000" b="0">
                <a:solidFill>
                  <a:srgbClr val="1F2D3A"/>
                </a:solidFill>
              </a:rPr>
              <a:t> (argument injection).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44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4. Path traversal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Path traversal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Path traversal:</a:t>
            </a:r>
            <a:r>
              <a:rPr sz="2000" b="0">
                <a:solidFill>
                  <a:srgbClr val="1F2D3A"/>
                </a:solidFill>
              </a:rPr>
              <a:t> escaping </a:t>
            </a:r>
            <a:r>
              <a:rPr sz="2000" b="1">
                <a:solidFill>
                  <a:srgbClr val="1F2D3A"/>
                </a:solidFill>
              </a:rPr>
              <a:t>outside</a:t>
            </a:r>
            <a:r>
              <a:rPr sz="2000" b="0">
                <a:solidFill>
                  <a:srgbClr val="1F2D3A"/>
                </a:solidFill>
              </a:rPr>
              <a:t> the allowed folder with </a:t>
            </a:r>
            <a:r>
              <a:rPr sz="2000" b="0">
                <a:solidFill>
                  <a:srgbClr val="A1123F"/>
                </a:solidFill>
                <a:latin typeface="Consolas"/>
              </a:rPr>
              <a:t>../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Like </a:t>
            </a:r>
            <a:r>
              <a:rPr sz="2000" b="0">
                <a:solidFill>
                  <a:srgbClr val="A1123F"/>
                </a:solidFill>
                <a:latin typeface="Consolas"/>
              </a:rPr>
              <a:t>files/../../etc/passwd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Prevented with canonicalisation + a root check.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Two steps that close off path traversal — diagram</a:t>
            </a:r>
          </a:p>
        </p:txBody>
      </p:sp>
      <p:pic>
        <p:nvPicPr>
          <p:cNvPr id="7" name="Picture 6" descr="h05-05-yol-gecis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811334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Buggy code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463295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File f = new File("yuklenen/" + adi);  // HATALI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98903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What if </a:t>
            </a:r>
            <a:r>
              <a:rPr sz="2000" b="0">
                <a:solidFill>
                  <a:srgbClr val="A1123F"/>
                </a:solidFill>
                <a:latin typeface="Consolas"/>
              </a:rPr>
              <a:t>adi</a:t>
            </a:r>
            <a:r>
              <a:rPr sz="2000" b="0">
                <a:solidFill>
                  <a:srgbClr val="1F2D3A"/>
                </a:solidFill>
              </a:rPr>
              <a:t> contains </a:t>
            </a:r>
            <a:r>
              <a:rPr sz="2000" b="0">
                <a:solidFill>
                  <a:srgbClr val="A1123F"/>
                </a:solidFill>
                <a:latin typeface="Consolas"/>
              </a:rPr>
              <a:t>../</a:t>
            </a:r>
            <a:r>
              <a:rPr sz="2000" b="0">
                <a:solidFill>
                  <a:srgbClr val="1F2D3A"/>
                </a:solidFill>
              </a:rPr>
              <a:t>?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Attack · 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As </a:t>
            </a:r>
            <a:r>
              <a:rPr sz="2000" b="0">
                <a:solidFill>
                  <a:srgbClr val="A1123F"/>
                </a:solidFill>
                <a:latin typeface="Consolas"/>
              </a:rPr>
              <a:t>adi</a:t>
            </a:r>
            <a:r>
              <a:rPr sz="2000" b="0">
                <a:solidFill>
                  <a:srgbClr val="1F2D3A"/>
                </a:solidFill>
              </a:rPr>
              <a:t>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5536"/>
            <a:ext cx="10911535" cy="463295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../../etc/passwd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48559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Result: </a:t>
            </a:r>
            <a:r>
              <a:rPr sz="2000" b="0">
                <a:solidFill>
                  <a:srgbClr val="A1123F"/>
                </a:solidFill>
                <a:latin typeface="Consolas"/>
              </a:rPr>
              <a:t>yuklenen/../../etc/passwd</a:t>
            </a:r>
            <a:r>
              <a:rPr sz="2000" b="0">
                <a:solidFill>
                  <a:srgbClr val="1F2D3A"/>
                </a:solidFill>
              </a:rPr>
              <a:t> → </a:t>
            </a:r>
            <a:r>
              <a:rPr sz="2000" b="1">
                <a:solidFill>
                  <a:srgbClr val="1F2D3A"/>
                </a:solidFill>
              </a:rPr>
              <a:t>outside</a:t>
            </a:r>
            <a:r>
              <a:rPr sz="2000" b="0">
                <a:solidFill>
                  <a:srgbClr val="1F2D3A"/>
                </a:solidFill>
              </a:rPr>
              <a:t> the allowed folder.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Why did it happen?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adi</a:t>
            </a:r>
            <a:r>
              <a:rPr sz="2000" b="0">
                <a:solidFill>
                  <a:srgbClr val="1F2D3A"/>
                </a:solidFill>
              </a:rPr>
              <a:t> was appended </a:t>
            </a:r>
            <a:r>
              <a:rPr sz="2000" b="1">
                <a:solidFill>
                  <a:srgbClr val="1F2D3A"/>
                </a:solidFill>
              </a:rPr>
              <a:t>directly</a:t>
            </a:r>
            <a:r>
              <a:rPr sz="2000" b="0">
                <a:solidFill>
                  <a:srgbClr val="1F2D3A"/>
                </a:solidFill>
              </a:rPr>
              <a:t> into the file path.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</a:t>
            </a:r>
            <a:r>
              <a:rPr sz="2000" b="0">
                <a:solidFill>
                  <a:srgbClr val="A1123F"/>
                </a:solidFill>
                <a:latin typeface="Consolas"/>
              </a:rPr>
              <a:t>../</a:t>
            </a:r>
            <a:r>
              <a:rPr sz="2000" b="0">
                <a:solidFill>
                  <a:srgbClr val="1F2D3A"/>
                </a:solidFill>
              </a:rPr>
              <a:t> sequence was read by the interpreter (the file system) as "go up a folder."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There was no check: whether the folder was left was never even asked.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Correct · canonicalise + root check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841247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Path kok = Paths.get("yuklenen").toRealPath();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Path hedef = kok.resolve(adi).normalize().toRealPath();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if (!hedef.startsWith(kok)) throw new SecurityException();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685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Is the canonical path </a:t>
            </a:r>
            <a:r>
              <a:rPr sz="2000" b="1">
                <a:solidFill>
                  <a:srgbClr val="1F2D3A"/>
                </a:solidFill>
              </a:rPr>
              <a:t>inside the root</a:t>
            </a:r>
            <a:r>
              <a:rPr sz="2000" b="0">
                <a:solidFill>
                  <a:srgbClr val="1F2D3A"/>
                </a:solidFill>
              </a:rPr>
              <a:t>? If not, reject.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Why does it work?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First the path is turned </a:t>
            </a:r>
            <a:r>
              <a:rPr sz="2000" b="1">
                <a:solidFill>
                  <a:srgbClr val="1F2D3A"/>
                </a:solidFill>
              </a:rPr>
              <a:t>canonical</a:t>
            </a:r>
            <a:r>
              <a:rPr sz="2000" b="0">
                <a:solidFill>
                  <a:srgbClr val="1F2D3A"/>
                </a:solidFill>
              </a:rPr>
              <a:t> (single, definite).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Then we check whether the canonical path is </a:t>
            </a:r>
            <a:r>
              <a:rPr sz="2000" b="1">
                <a:solidFill>
                  <a:srgbClr val="1F2D3A"/>
                </a:solidFill>
              </a:rPr>
              <a:t>inside</a:t>
            </a:r>
            <a:r>
              <a:rPr sz="2000" b="0">
                <a:solidFill>
                  <a:srgbClr val="1F2D3A"/>
                </a:solidFill>
              </a:rPr>
              <a:t> the root.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../</a:t>
            </a:r>
            <a:r>
              <a:rPr sz="2000" b="0">
                <a:solidFill>
                  <a:srgbClr val="1F2D3A"/>
                </a:solidFill>
              </a:rPr>
              <a:t>, an encoded form (</a:t>
            </a:r>
            <a:r>
              <a:rPr sz="2000" b="0">
                <a:solidFill>
                  <a:srgbClr val="A1123F"/>
                </a:solidFill>
                <a:latin typeface="Consolas"/>
              </a:rPr>
              <a:t>..%2f</a:t>
            </a:r>
            <a:r>
              <a:rPr sz="2000" b="0">
                <a:solidFill>
                  <a:srgbClr val="1F2D3A"/>
                </a:solidFill>
              </a:rPr>
              <a:t>), or a symbolic link — all of them land on the same real path </a:t>
            </a:r>
            <a:r>
              <a:rPr sz="2000" b="1">
                <a:solidFill>
                  <a:srgbClr val="1F2D3A"/>
                </a:solidFill>
              </a:rPr>
              <a:t>after</a:t>
            </a:r>
            <a:r>
              <a:rPr sz="2000" b="0">
                <a:solidFill>
                  <a:srgbClr val="1F2D3A"/>
                </a:solidFill>
              </a:rPr>
              <a:t> canonicalisation; none of them can escape the check.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Path traversal · extra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Restrict the file name to an </a:t>
            </a:r>
            <a:r>
              <a:rPr sz="2000" b="1">
                <a:solidFill>
                  <a:srgbClr val="1F2D3A"/>
                </a:solidFill>
              </a:rPr>
              <a:t>allow list</a:t>
            </a:r>
            <a:r>
              <a:rPr sz="2000" b="0">
                <a:solidFill>
                  <a:srgbClr val="1F2D3A"/>
                </a:solidFill>
              </a:rPr>
              <a:t> (</a:t>
            </a:r>
            <a:r>
              <a:rPr sz="2000" b="0">
                <a:solidFill>
                  <a:srgbClr val="A1123F"/>
                </a:solidFill>
                <a:latin typeface="Consolas"/>
              </a:rPr>
              <a:t>[a-zA-Z0-9_.-]</a:t>
            </a:r>
            <a:r>
              <a:rPr sz="2000" b="0">
                <a:solidFill>
                  <a:srgbClr val="1F2D3A"/>
                </a:solidFill>
              </a:rPr>
              <a:t>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Symbolic links (</a:t>
            </a:r>
            <a:r>
              <a:rPr sz="2000" b="0">
                <a:solidFill>
                  <a:srgbClr val="A1123F"/>
                </a:solidFill>
                <a:latin typeface="Consolas"/>
              </a:rPr>
              <a:t>symlink</a:t>
            </a:r>
            <a:r>
              <a:rPr sz="2000" b="0">
                <a:solidFill>
                  <a:srgbClr val="1F2D3A"/>
                </a:solidFill>
              </a:rPr>
              <a:t>) are resolved by canonicalisation.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Do not make a user name </a:t>
            </a:r>
            <a:r>
              <a:rPr sz="2000" b="1">
                <a:solidFill>
                  <a:srgbClr val="1F2D3A"/>
                </a:solidFill>
              </a:rPr>
              <a:t>directly</a:t>
            </a:r>
            <a:r>
              <a:rPr sz="2000" b="0">
                <a:solidFill>
                  <a:srgbClr val="1F2D3A"/>
                </a:solidFill>
              </a:rPr>
              <a:t> into a file name.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Path traversal · rule of this section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Never</a:t>
            </a:r>
            <a:r>
              <a:rPr sz="2000" b="0">
                <a:solidFill>
                  <a:srgbClr val="1F2D3A"/>
                </a:solidFill>
              </a:rPr>
              <a:t> trust the raw string (</a:t>
            </a:r>
            <a:r>
              <a:rPr sz="2000" b="0">
                <a:solidFill>
                  <a:srgbClr val="A1123F"/>
                </a:solidFill>
                <a:latin typeface="Consolas"/>
              </a:rPr>
              <a:t>contains("..")</a:t>
            </a:r>
            <a:r>
              <a:rPr sz="2000" b="0">
                <a:solidFill>
                  <a:srgbClr val="1F2D3A"/>
                </a:solidFill>
              </a:rPr>
              <a:t> is not enough).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First </a:t>
            </a:r>
            <a:r>
              <a:rPr sz="2000" b="1">
                <a:solidFill>
                  <a:srgbClr val="1F2D3A"/>
                </a:solidFill>
              </a:rPr>
              <a:t>canonicalise</a:t>
            </a:r>
            <a:r>
              <a:rPr sz="2000" b="0">
                <a:solidFill>
                  <a:srgbClr val="1F2D3A"/>
                </a:solidFill>
              </a:rPr>
              <a:t>, then check whether it is </a:t>
            </a:r>
            <a:r>
              <a:rPr sz="2000" b="1">
                <a:solidFill>
                  <a:srgbClr val="1F2D3A"/>
                </a:solidFill>
              </a:rPr>
              <a:t>inside the root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Resolve symbolic links too (</a:t>
            </a:r>
            <a:r>
              <a:rPr sz="2000" b="0">
                <a:solidFill>
                  <a:srgbClr val="A1123F"/>
                </a:solidFill>
                <a:latin typeface="Consolas"/>
              </a:rPr>
              <a:t>toRealPath()</a:t>
            </a:r>
            <a:r>
              <a:rPr sz="2000" b="0">
                <a:solidFill>
                  <a:srgbClr val="1F2D3A"/>
                </a:solidFill>
              </a:rPr>
              <a:t>); repeat the check after the file is opened as well.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Three injections · common lesson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5420"/>
                <a:gridCol w="4091825"/>
                <a:gridCol w="4944289"/>
              </a:tblGrid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Wrong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Correct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SQL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String concatenation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Parameterised query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Command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Text to the shell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Argument array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Path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Concatenating </a:t>
                      </a:r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../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Canonicalise + root check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296265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Same root: </a:t>
            </a:r>
            <a:r>
              <a:rPr sz="2000" b="1">
                <a:solidFill>
                  <a:srgbClr val="1F2D3A"/>
                </a:solidFill>
              </a:rPr>
              <a:t>separate data from code/command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Sections 2–4 — quick 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Why does </a:t>
            </a:r>
            <a:r>
              <a:rPr sz="2000" b="0">
                <a:solidFill>
                  <a:srgbClr val="A1123F"/>
                </a:solidFill>
                <a:latin typeface="Consolas"/>
              </a:rPr>
              <a:t>' OR '1'='1</a:t>
            </a:r>
            <a:r>
              <a:rPr sz="2000" b="0">
                <a:solidFill>
                  <a:srgbClr val="1F2D3A"/>
                </a:solidFill>
              </a:rPr>
              <a:t> return all rows?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Why is a </a:t>
            </a:r>
            <a:r>
              <a:rPr sz="2000" b="0">
                <a:solidFill>
                  <a:srgbClr val="A1123F"/>
                </a:solidFill>
                <a:latin typeface="Consolas"/>
              </a:rPr>
              <a:t>ProcessBuilder</a:t>
            </a:r>
            <a:r>
              <a:rPr sz="2000" b="0">
                <a:solidFill>
                  <a:srgbClr val="1F2D3A"/>
                </a:solidFill>
              </a:rPr>
              <a:t> argument array safe?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Which two steps close off path traversal?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Sections 2–4 — 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540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Once joined into the string it makes the </a:t>
            </a:r>
            <a:r>
              <a:rPr sz="2000" b="0">
                <a:solidFill>
                  <a:srgbClr val="A1123F"/>
                </a:solidFill>
                <a:latin typeface="Consolas"/>
              </a:rPr>
              <a:t>WHERE</a:t>
            </a:r>
            <a:r>
              <a:rPr sz="2000" b="0">
                <a:solidFill>
                  <a:srgbClr val="1F2D3A"/>
                </a:solidFill>
              </a:rPr>
              <a:t> condition </a:t>
            </a:r>
            <a:r>
              <a:rPr sz="2000" b="1">
                <a:solidFill>
                  <a:srgbClr val="1F2D3A"/>
                </a:solidFill>
              </a:rPr>
              <a:t>always true</a:t>
            </a:r>
            <a:r>
              <a:rPr sz="2000" b="0">
                <a:solidFill>
                  <a:srgbClr val="1F2D3A"/>
                </a:solidFill>
              </a:rPr>
              <a:t> → all rows (data was parsed as code).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Arguments pass </a:t>
            </a:r>
            <a:r>
              <a:rPr sz="2000" b="1">
                <a:solidFill>
                  <a:srgbClr val="1F2D3A"/>
                </a:solidFill>
              </a:rPr>
              <a:t>to the program, not the shell</a:t>
            </a:r>
            <a:r>
              <a:rPr sz="2000" b="0">
                <a:solidFill>
                  <a:srgbClr val="1F2D3A"/>
                </a:solidFill>
              </a:rPr>
              <a:t>, one by one; there is no metacharacter interpretation (</a:t>
            </a:r>
            <a:r>
              <a:rPr sz="2000" b="0">
                <a:solidFill>
                  <a:srgbClr val="A1123F"/>
                </a:solidFill>
                <a:latin typeface="Consolas"/>
              </a:rPr>
              <a:t>;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|</a:t>
            </a:r>
            <a:r>
              <a:rPr sz="2000" b="0">
                <a:solidFill>
                  <a:srgbClr val="1F2D3A"/>
                </a:solidFill>
              </a:rPr>
              <a:t>) → command injection is closed off.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(1) Convert to a </a:t>
            </a:r>
            <a:r>
              <a:rPr sz="2000" b="1">
                <a:solidFill>
                  <a:srgbClr val="1F2D3A"/>
                </a:solidFill>
              </a:rPr>
              <a:t>canonical path</a:t>
            </a:r>
            <a:r>
              <a:rPr sz="2000" b="0">
                <a:solidFill>
                  <a:srgbClr val="1F2D3A"/>
                </a:solidFill>
              </a:rPr>
              <a:t> (</a:t>
            </a:r>
            <a:r>
              <a:rPr sz="2000" b="0">
                <a:solidFill>
                  <a:srgbClr val="A1123F"/>
                </a:solidFill>
                <a:latin typeface="Consolas"/>
              </a:rPr>
              <a:t>realpath</a:t>
            </a:r>
            <a:r>
              <a:rPr sz="2000" b="0">
                <a:solidFill>
                  <a:srgbClr val="1F2D3A"/>
                </a:solidFill>
              </a:rPr>
              <a:t>/normalise), (2) verify it is inside the allowed </a:t>
            </a:r>
            <a:r>
              <a:rPr sz="2000" b="1">
                <a:solidFill>
                  <a:srgbClr val="1F2D3A"/>
                </a:solidFill>
              </a:rPr>
              <a:t>root directory</a:t>
            </a:r>
            <a:r>
              <a:rPr sz="2000" b="0">
                <a:solidFill>
                  <a:srgbClr val="1F2D3A"/>
                </a:solidFill>
              </a:rPr>
              <a:t> (an allow list). Never put user input directly into a path.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57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5. Unsafe deserialisation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Serialisation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Serialisation:</a:t>
            </a:r>
            <a:r>
              <a:rPr sz="2000" b="0">
                <a:solidFill>
                  <a:srgbClr val="1F2D3A"/>
                </a:solidFill>
              </a:rPr>
              <a:t> converting an object to a byte sequence (to save or send it).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Deserialisation:</a:t>
            </a:r>
            <a:r>
              <a:rPr sz="2000" b="0">
                <a:solidFill>
                  <a:srgbClr val="1F2D3A"/>
                </a:solidFill>
              </a:rPr>
              <a:t> converting the bytes back into an object.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Deserialising untrusted bytes is </a:t>
            </a:r>
            <a:r>
              <a:rPr sz="2000" b="1">
                <a:solidFill>
                  <a:srgbClr val="1F2D3A"/>
                </a:solidFill>
              </a:rPr>
              <a:t>dangerous</a:t>
            </a:r>
            <a:r>
              <a:rPr sz="2000" b="0">
                <a:solidFill>
                  <a:srgbClr val="1F2D3A"/>
                </a:solidFill>
              </a:rPr>
              <a:t> (code execution).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Buggy code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463295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Object o = new ObjectInputStream(giris).readObject();  // TEHLİKELİ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98903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What if </a:t>
            </a:r>
            <a:r>
              <a:rPr sz="2000" b="0">
                <a:solidFill>
                  <a:srgbClr val="A1123F"/>
                </a:solidFill>
                <a:latin typeface="Consolas"/>
              </a:rPr>
              <a:t>giris</a:t>
            </a:r>
            <a:r>
              <a:rPr sz="2000" b="0">
                <a:solidFill>
                  <a:srgbClr val="1F2D3A"/>
                </a:solidFill>
              </a:rPr>
              <a:t> comes from an untrusted source?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Deserialisation gadget chain — diagram</a:t>
            </a:r>
          </a:p>
        </p:txBody>
      </p:sp>
      <p:pic>
        <p:nvPicPr>
          <p:cNvPr id="7" name="Picture 6" descr="h05-06-deserializ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607846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Turning untrusted bytes into an object is </a:t>
            </a:r>
            <a:r>
              <a:rPr sz="2000" b="1">
                <a:solidFill>
                  <a:srgbClr val="1F2D3A"/>
                </a:solidFill>
              </a:rPr>
              <a:t>dangerous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In Java, </a:t>
            </a:r>
            <a:r>
              <a:rPr sz="2000" b="0">
                <a:solidFill>
                  <a:srgbClr val="A1123F"/>
                </a:solidFill>
                <a:latin typeface="Consolas"/>
              </a:rPr>
              <a:t>ObjectInputStream.readObject()</a:t>
            </a:r>
            <a:r>
              <a:rPr sz="2000" b="0">
                <a:solidFill>
                  <a:srgbClr val="1F2D3A"/>
                </a:solidFill>
              </a:rPr>
              <a:t> can run </a:t>
            </a:r>
            <a:r>
              <a:rPr sz="2000" b="1">
                <a:solidFill>
                  <a:srgbClr val="1F2D3A"/>
                </a:solidFill>
              </a:rPr>
              <a:t>code</a:t>
            </a:r>
            <a:r>
              <a:rPr sz="2000" b="0">
                <a:solidFill>
                  <a:srgbClr val="1F2D3A"/>
                </a:solidFill>
              </a:rPr>
              <a:t> while unpacking (gadget chains).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Result: remote code execution.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Why is this so bad?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Objects' </a:t>
            </a:r>
            <a:r>
              <a:rPr sz="2000" b="1">
                <a:solidFill>
                  <a:srgbClr val="1F2D3A"/>
                </a:solidFill>
              </a:rPr>
              <a:t>constructors/methods</a:t>
            </a:r>
            <a:r>
              <a:rPr sz="2000" b="0">
                <a:solidFill>
                  <a:srgbClr val="1F2D3A"/>
                </a:solidFill>
              </a:rPr>
              <a:t> run during unpacking.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If suitable libraries (gadgets) are present, they can be chained to run commands.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Input that looks like "just data" behaves like </a:t>
            </a:r>
            <a:r>
              <a:rPr sz="2000" b="1">
                <a:solidFill>
                  <a:srgbClr val="1F2D3A"/>
                </a:solidFill>
              </a:rPr>
              <a:t>code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Correct · best: do not do it at 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Do not deserialise untrusted data with </a:t>
            </a:r>
            <a:r>
              <a:rPr sz="2000" b="1">
                <a:solidFill>
                  <a:srgbClr val="1F2D3A"/>
                </a:solidFill>
              </a:rPr>
              <a:t>native serialisation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Use a </a:t>
            </a:r>
            <a:r>
              <a:rPr sz="2000" b="1">
                <a:solidFill>
                  <a:srgbClr val="1F2D3A"/>
                </a:solidFill>
              </a:rPr>
              <a:t>JSON/data</a:t>
            </a:r>
            <a:r>
              <a:rPr sz="2000" b="0">
                <a:solidFill>
                  <a:srgbClr val="1F2D3A"/>
                </a:solidFill>
              </a:rPr>
              <a:t> format + a strict schema instead.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Read only the fields you expect.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If you must · filter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841247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ObjectInputFilter f = ObjectInputFilter.Config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.createFilter("com.uygulama.*;!*");  // yalnız izinli sınıflar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ois.setObjectInputFilter(f);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685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If a single class is expected, a narrower pattern also works: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826512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ois.setObjectInputFilter(ObjectInputFilter.Config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.createFilter("com.uygulama.Oturum;!*"));  // yalnız bu sınıf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588512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Allow list</a:t>
            </a:r>
            <a:r>
              <a:rPr sz="2000" b="0">
                <a:solidFill>
                  <a:srgbClr val="1F2D3A"/>
                </a:solidFill>
              </a:rPr>
              <a:t>: only the expected classes.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Also set a depth/size limit (against DoS).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Deserialisation · rule of this section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Deserialising an untrusted byte stream hands the attacker the power to </a:t>
            </a:r>
            <a:r>
              <a:rPr sz="2000" b="1">
                <a:solidFill>
                  <a:srgbClr val="1F2D3A"/>
                </a:solidFill>
              </a:rPr>
              <a:t>choose a class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Best: </a:t>
            </a:r>
            <a:r>
              <a:rPr sz="2000" b="1">
                <a:solidFill>
                  <a:srgbClr val="1F2D3A"/>
                </a:solidFill>
              </a:rPr>
              <a:t>do not do it at all</a:t>
            </a:r>
            <a:r>
              <a:rPr sz="2000" b="0">
                <a:solidFill>
                  <a:srgbClr val="1F2D3A"/>
                </a:solidFill>
              </a:rPr>
              <a:t> (JSON + a strict schema).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If you must: an </a:t>
            </a:r>
            <a:r>
              <a:rPr sz="2000" b="1">
                <a:solidFill>
                  <a:srgbClr val="1F2D3A"/>
                </a:solidFill>
              </a:rPr>
              <a:t>allow-list filter</a:t>
            </a:r>
            <a:r>
              <a:rPr sz="2000" b="0">
                <a:solidFill>
                  <a:srgbClr val="1F2D3A"/>
                </a:solidFill>
              </a:rPr>
              <a:t>, a depth/size limit.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66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6. XML, templates, XSS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XML and XXE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XML:</a:t>
            </a:r>
            <a:r>
              <a:rPr sz="2000" b="0">
                <a:solidFill>
                  <a:srgbClr val="1F2D3A"/>
                </a:solidFill>
              </a:rPr>
              <a:t> a structured data format (built from tags).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XXE (XML External Entity):</a:t>
            </a:r>
            <a:r>
              <a:rPr sz="2000" b="0">
                <a:solidFill>
                  <a:srgbClr val="1F2D3A"/>
                </a:solidFill>
              </a:rPr>
              <a:t> abuse of XML's "external entity" feature → file reading, SSRF.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External entities are </a:t>
            </a:r>
            <a:r>
              <a:rPr sz="2000" b="1">
                <a:solidFill>
                  <a:srgbClr val="1F2D3A"/>
                </a:solidFill>
              </a:rPr>
              <a:t>disabled</a:t>
            </a:r>
            <a:r>
              <a:rPr sz="2000" b="0">
                <a:solidFill>
                  <a:srgbClr val="1F2D3A"/>
                </a:solidFill>
              </a:rPr>
              <a:t> in the XML parser.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XXE · 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XML lets you define an </a:t>
            </a:r>
            <a:r>
              <a:rPr sz="2000" b="1">
                <a:solidFill>
                  <a:srgbClr val="1F2D3A"/>
                </a:solidFill>
              </a:rPr>
              <a:t>external entity</a:t>
            </a:r>
            <a:r>
              <a:rPr sz="2000" b="0">
                <a:solidFill>
                  <a:srgbClr val="1F2D3A"/>
                </a:solidFill>
              </a:rPr>
              <a:t>; the parser </a:t>
            </a:r>
            <a:r>
              <a:rPr sz="2000" b="1">
                <a:solidFill>
                  <a:srgbClr val="1F2D3A"/>
                </a:solidFill>
              </a:rPr>
              <a:t>resolves</a:t>
            </a:r>
            <a:r>
              <a:rPr sz="2000" b="0">
                <a:solidFill>
                  <a:srgbClr val="1F2D3A"/>
                </a:solidFill>
              </a:rPr>
              <a:t> it.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An attacker can use this to read files or make the server issue a request (SSRF).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XXE — diagram</a:t>
            </a:r>
          </a:p>
        </p:txBody>
      </p:sp>
      <p:pic>
        <p:nvPicPr>
          <p:cNvPr id="7" name="Picture 6" descr="h05-07-xx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804635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XXE · correct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841247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dbf.setFeature(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"http://apache.org/xml/features/disallow-doctype-decl", true);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// ya da dış varlıkları kapat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6856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Disable external entities</a:t>
            </a:r>
            <a:r>
              <a:rPr sz="2000" b="0">
                <a:solidFill>
                  <a:srgbClr val="1F2D3A"/>
                </a:solidFill>
              </a:rPr>
              <a:t>, reject DOCTYPE.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one-line setting in most libraries.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Template injection (SSTI)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Handing user input to a template engine </a:t>
            </a:r>
            <a:r>
              <a:rPr sz="2000" b="1">
                <a:solidFill>
                  <a:srgbClr val="1F2D3A"/>
                </a:solidFill>
              </a:rPr>
              <a:t>as the template itself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engine can run it like code.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Rule: user input is </a:t>
            </a:r>
            <a:r>
              <a:rPr sz="2000" b="1">
                <a:solidFill>
                  <a:srgbClr val="1F2D3A"/>
                </a:solidFill>
              </a:rPr>
              <a:t>data</a:t>
            </a:r>
            <a:r>
              <a:rPr sz="2000" b="0">
                <a:solidFill>
                  <a:srgbClr val="1F2D3A"/>
                </a:solidFill>
              </a:rPr>
              <a:t>, the template is </a:t>
            </a:r>
            <a:r>
              <a:rPr sz="2000" b="1">
                <a:solidFill>
                  <a:srgbClr val="1F2D3A"/>
                </a:solidFill>
              </a:rPr>
              <a:t>fixed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XSS (briefly)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XSS:</a:t>
            </a:r>
            <a:r>
              <a:rPr sz="2000" b="0">
                <a:solidFill>
                  <a:srgbClr val="1F2D3A"/>
                </a:solidFill>
              </a:rPr>
              <a:t> user data leaking into a web page as </a:t>
            </a:r>
            <a:r>
              <a:rPr sz="2000" b="1">
                <a:solidFill>
                  <a:srgbClr val="1F2D3A"/>
                </a:solidFill>
              </a:rPr>
              <a:t>HTML/JS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Fix: </a:t>
            </a:r>
            <a:r>
              <a:rPr sz="2000" b="1">
                <a:solidFill>
                  <a:srgbClr val="1F2D3A"/>
                </a:solidFill>
              </a:rPr>
              <a:t>context-appropriate output encoding</a:t>
            </a:r>
            <a:r>
              <a:rPr sz="2000" b="0">
                <a:solidFill>
                  <a:srgbClr val="1F2D3A"/>
                </a:solidFill>
              </a:rPr>
              <a:t> (HTML-encode), CSP.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Same root again: data ≠ code.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XML/template/XSS · rule of this section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25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Know </a:t>
            </a:r>
            <a:r>
              <a:rPr sz="2000" b="1">
                <a:solidFill>
                  <a:srgbClr val="1F2D3A"/>
                </a:solidFill>
              </a:rPr>
              <a:t>which feature of the interpreter is turned on</a:t>
            </a:r>
            <a:r>
              <a:rPr sz="2000" b="0">
                <a:solidFill>
                  <a:srgbClr val="1F2D3A"/>
                </a:solidFill>
              </a:rPr>
              <a:t>, and disable what is not needed.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XML: external entities + DOCTYPE disabled.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Templates: user data is only a </a:t>
            </a:r>
            <a:r>
              <a:rPr sz="2000" b="1">
                <a:solidFill>
                  <a:srgbClr val="1F2D3A"/>
                </a:solidFill>
              </a:rPr>
              <a:t>variable</a:t>
            </a:r>
            <a:r>
              <a:rPr sz="2000" b="0">
                <a:solidFill>
                  <a:srgbClr val="1F2D3A"/>
                </a:solidFill>
              </a:rPr>
              <a:t>, never the template itself.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HTML: encode output </a:t>
            </a:r>
            <a:r>
              <a:rPr sz="2000" b="1">
                <a:solidFill>
                  <a:srgbClr val="1F2D3A"/>
                </a:solidFill>
              </a:rPr>
              <a:t>context-appropriately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74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7. The same bugs in Python and JavaScript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The same bugs in interpreted languages — diagram</a:t>
            </a:r>
          </a:p>
        </p:txBody>
      </p:sp>
      <p:pic>
        <p:nvPicPr>
          <p:cNvPr id="7" name="Picture 6" descr="h05-12-yorumlanan-dill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1994" y="1325880"/>
            <a:ext cx="7467706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Same root, different language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Injection exists in every language: Python </a:t>
            </a:r>
            <a:r>
              <a:rPr sz="2000" b="0">
                <a:solidFill>
                  <a:srgbClr val="A1123F"/>
                </a:solidFill>
                <a:latin typeface="Consolas"/>
              </a:rPr>
              <a:t>os.system</a:t>
            </a:r>
            <a:r>
              <a:rPr sz="2000" b="0">
                <a:solidFill>
                  <a:srgbClr val="1F2D3A"/>
                </a:solidFill>
              </a:rPr>
              <a:t>, JS </a:t>
            </a:r>
            <a:r>
              <a:rPr sz="2000" b="0">
                <a:solidFill>
                  <a:srgbClr val="A1123F"/>
                </a:solidFill>
                <a:latin typeface="Consolas"/>
              </a:rPr>
              <a:t>child_process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fix is the same: an argument array, a parameterised query.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Python · examples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os.system("cmd " + x)</a:t>
            </a:r>
            <a:r>
              <a:rPr sz="2000" b="0">
                <a:solidFill>
                  <a:srgbClr val="1F2D3A"/>
                </a:solidFill>
              </a:rPr>
              <a:t> → command injection; use </a:t>
            </a:r>
            <a:r>
              <a:rPr sz="2000" b="0">
                <a:solidFill>
                  <a:srgbClr val="A1123F"/>
                </a:solidFill>
                <a:latin typeface="Consolas"/>
              </a:rPr>
              <a:t>subprocess.run([...])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eval(input)</a:t>
            </a:r>
            <a:r>
              <a:rPr sz="2000" b="0">
                <a:solidFill>
                  <a:srgbClr val="1F2D3A"/>
                </a:solidFill>
              </a:rPr>
              <a:t> / </a:t>
            </a:r>
            <a:r>
              <a:rPr sz="2000" b="0">
                <a:solidFill>
                  <a:srgbClr val="A1123F"/>
                </a:solidFill>
                <a:latin typeface="Consolas"/>
              </a:rPr>
              <a:t>pickle.loads(untrusted)</a:t>
            </a:r>
            <a:r>
              <a:rPr sz="2000" b="0">
                <a:solidFill>
                  <a:srgbClr val="1F2D3A"/>
                </a:solidFill>
              </a:rPr>
              <a:t> → </a:t>
            </a:r>
            <a:r>
              <a:rPr sz="2000" b="1">
                <a:solidFill>
                  <a:srgbClr val="1F2D3A"/>
                </a:solidFill>
              </a:rPr>
              <a:t>never</a:t>
            </a:r>
            <a:r>
              <a:rPr sz="2000" b="0">
                <a:solidFill>
                  <a:srgbClr val="1F2D3A"/>
                </a:solidFill>
              </a:rPr>
              <a:t> with untrusted data.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SQL: parameterised (</a:t>
            </a:r>
            <a:r>
              <a:rPr sz="2000" b="0">
                <a:solidFill>
                  <a:srgbClr val="A1123F"/>
                </a:solidFill>
                <a:latin typeface="Consolas"/>
              </a:rPr>
              <a:t>cursor.execute("... ?", (x,))</a:t>
            </a:r>
            <a:r>
              <a:rPr sz="2000" b="0">
                <a:solidFill>
                  <a:srgbClr val="1F2D3A"/>
                </a:solidFill>
              </a:rPr>
              <a:t>).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Python · </a:t>
            </a:r>
            <a:r>
              <a:rPr sz="3000" b="1">
                <a:solidFill>
                  <a:srgbClr val="006D77"/>
                </a:solidFill>
                <a:latin typeface="Consolas"/>
              </a:rPr>
              <a:t>eval</a:t>
            </a:r>
            <a:r>
              <a:rPr sz="3000" b="1">
                <a:solidFill>
                  <a:srgbClr val="006D77"/>
                </a:solidFill>
              </a:rPr>
              <a:t> example (code)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deger = eval(girdi)                 # HATALI: herhangi bir Python ifadesi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import ast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deger = ast.literal_eval(girdi)     # Daha iyi: yalnız sabitler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deger = int(girdi)                  # En iyisi: beklenen türü ayrıştır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4807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Rule: user data must </a:t>
            </a:r>
            <a:r>
              <a:rPr sz="2000" b="1">
                <a:solidFill>
                  <a:srgbClr val="1F2D3A"/>
                </a:solidFill>
              </a:rPr>
              <a:t>never</a:t>
            </a:r>
            <a:r>
              <a:rPr sz="2000" b="0">
                <a:solidFill>
                  <a:srgbClr val="1F2D3A"/>
                </a:solidFill>
              </a:rPr>
              <a:t> reach </a:t>
            </a:r>
            <a:r>
              <a:rPr sz="2000" b="0">
                <a:solidFill>
                  <a:srgbClr val="A1123F"/>
                </a:solidFill>
                <a:latin typeface="Consolas"/>
              </a:rPr>
              <a:t>eval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ReDoS (regular expression DoS)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bad </a:t>
            </a:r>
            <a:r>
              <a:rPr sz="2000" b="1">
                <a:solidFill>
                  <a:srgbClr val="1F2D3A"/>
                </a:solidFill>
              </a:rPr>
              <a:t>regex</a:t>
            </a:r>
            <a:r>
              <a:rPr sz="2000" b="0">
                <a:solidFill>
                  <a:srgbClr val="1F2D3A"/>
                </a:solidFill>
              </a:rPr>
              <a:t> can spend </a:t>
            </a:r>
            <a:r>
              <a:rPr sz="2000" b="1">
                <a:solidFill>
                  <a:srgbClr val="1F2D3A"/>
                </a:solidFill>
              </a:rPr>
              <a:t>exponential</a:t>
            </a:r>
            <a:r>
              <a:rPr sz="2000" b="0">
                <a:solidFill>
                  <a:srgbClr val="1F2D3A"/>
                </a:solidFill>
              </a:rPr>
              <a:t> time on certain input.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An attacker can use this to lock up the CPU.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Fix: a safe regex, an input-length limit, a timeout.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ReDoS · a concrete example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Desen:  ^(a+)+$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Girdi:  "aaaaaaaaaaaaaaaaaaaaaaaaaaaaa!"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87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engine tries </a:t>
            </a:r>
            <a:r>
              <a:rPr sz="2000" b="1">
                <a:solidFill>
                  <a:srgbClr val="1F2D3A"/>
                </a:solidFill>
              </a:rPr>
              <a:t>millions</a:t>
            </a:r>
            <a:r>
              <a:rPr sz="2000" b="0">
                <a:solidFill>
                  <a:srgbClr val="1F2D3A"/>
                </a:solidFill>
              </a:rPr>
              <a:t> of paths to prove there is no match.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single request locks the CPU for seconds/minutes (CWE-1333).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JavaScript · prototype pollution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Prototype pollution:</a:t>
            </a:r>
            <a:r>
              <a:rPr sz="2000" b="0">
                <a:solidFill>
                  <a:srgbClr val="1F2D3A"/>
                </a:solidFill>
              </a:rPr>
              <a:t> an attacker corrupts a property </a:t>
            </a:r>
            <a:r>
              <a:rPr sz="2000" b="1">
                <a:solidFill>
                  <a:srgbClr val="1F2D3A"/>
                </a:solidFill>
              </a:rPr>
              <a:t>shared</a:t>
            </a:r>
            <a:r>
              <a:rPr sz="2000" b="0">
                <a:solidFill>
                  <a:srgbClr val="1F2D3A"/>
                </a:solidFill>
              </a:rPr>
              <a:t> by all objects, through </a:t>
            </a:r>
            <a:r>
              <a:rPr sz="2000" b="0">
                <a:solidFill>
                  <a:srgbClr val="A1123F"/>
                </a:solidFill>
                <a:latin typeface="Consolas"/>
              </a:rPr>
              <a:t>__proto__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Unexpected behaviour, authorisation bypass.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Fix: safe merging, </a:t>
            </a:r>
            <a:r>
              <a:rPr sz="2000" b="0">
                <a:solidFill>
                  <a:srgbClr val="A1123F"/>
                </a:solidFill>
                <a:latin typeface="Consolas"/>
              </a:rPr>
              <a:t>Object.create(null)</a:t>
            </a:r>
            <a:r>
              <a:rPr sz="2000" b="0">
                <a:solidFill>
                  <a:srgbClr val="1F2D3A"/>
                </a:solidFill>
              </a:rPr>
              <a:t>, up-to-date libraries.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Interpreted languages · common rule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eval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exec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pickle</a:t>
            </a:r>
            <a:r>
              <a:rPr sz="2000" b="0">
                <a:solidFill>
                  <a:srgbClr val="1F2D3A"/>
                </a:solidFill>
              </a:rPr>
              <a:t>, dynamic </a:t>
            </a:r>
            <a:r>
              <a:rPr sz="2000" b="0">
                <a:solidFill>
                  <a:srgbClr val="A1123F"/>
                </a:solidFill>
                <a:latin typeface="Consolas"/>
              </a:rPr>
              <a:t>require</a:t>
            </a:r>
            <a:r>
              <a:rPr sz="2000" b="0">
                <a:solidFill>
                  <a:srgbClr val="1F2D3A"/>
                </a:solidFill>
              </a:rPr>
              <a:t> → do </a:t>
            </a:r>
            <a:r>
              <a:rPr sz="2000" b="1">
                <a:solidFill>
                  <a:srgbClr val="1F2D3A"/>
                </a:solidFill>
              </a:rPr>
              <a:t>not</a:t>
            </a:r>
            <a:r>
              <a:rPr sz="2000" b="0">
                <a:solidFill>
                  <a:srgbClr val="1F2D3A"/>
                </a:solidFill>
              </a:rPr>
              <a:t> use with untrusted data.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Input validation + a parameterised API + up-to-date dependencies.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Sections 5–9 — quick 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Why can unsafe deserialisation run code?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Which setting disables XXE?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What is ReDoS, and how is it mitigated?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Sections 5–9 — 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540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While an object is being constructed, classes' side-effecting methods (</a:t>
            </a:r>
            <a:r>
              <a:rPr sz="2000" b="0">
                <a:solidFill>
                  <a:srgbClr val="A1123F"/>
                </a:solidFill>
                <a:latin typeface="Consolas"/>
              </a:rPr>
              <a:t>readObject</a:t>
            </a:r>
            <a:r>
              <a:rPr sz="2000" b="0">
                <a:solidFill>
                  <a:srgbClr val="1F2D3A"/>
                </a:solidFill>
              </a:rPr>
              <a:t>/</a:t>
            </a:r>
            <a:r>
              <a:rPr sz="2000" b="1">
                <a:solidFill>
                  <a:srgbClr val="1F2D3A"/>
                </a:solidFill>
              </a:rPr>
              <a:t>gadget chain</a:t>
            </a:r>
            <a:r>
              <a:rPr sz="2000" b="0">
                <a:solidFill>
                  <a:srgbClr val="1F2D3A"/>
                </a:solidFill>
              </a:rPr>
              <a:t>) fire → an attacker builds a flow using the object graph.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The parser setting that disables </a:t>
            </a:r>
            <a:r>
              <a:rPr sz="2000" b="1">
                <a:solidFill>
                  <a:srgbClr val="1F2D3A"/>
                </a:solidFill>
              </a:rPr>
              <a:t>external entities and DOCTYPE</a:t>
            </a:r>
            <a:r>
              <a:rPr sz="2000" b="0">
                <a:solidFill>
                  <a:srgbClr val="1F2D3A"/>
                </a:solidFill>
              </a:rPr>
              <a:t> (</a:t>
            </a:r>
            <a:r>
              <a:rPr sz="2000" b="0">
                <a:solidFill>
                  <a:srgbClr val="A1123F"/>
                </a:solidFill>
                <a:latin typeface="Consolas"/>
              </a:rPr>
              <a:t>disallow-doctype-decl</a:t>
            </a:r>
            <a:r>
              <a:rPr sz="2000" b="0">
                <a:solidFill>
                  <a:srgbClr val="1F2D3A"/>
                </a:solidFill>
              </a:rPr>
              <a:t>, external entities off).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1">
                <a:solidFill>
                  <a:srgbClr val="1F2D3A"/>
                </a:solidFill>
              </a:rPr>
              <a:t>ReDoS:</a:t>
            </a:r>
            <a:r>
              <a:rPr sz="2000" b="0">
                <a:solidFill>
                  <a:srgbClr val="1F2D3A"/>
                </a:solidFill>
              </a:rPr>
              <a:t> a catastrophic-backtracking regex; bad input → </a:t>
            </a:r>
            <a:r>
              <a:rPr sz="2000" b="1">
                <a:solidFill>
                  <a:srgbClr val="1F2D3A"/>
                </a:solidFill>
              </a:rPr>
              <a:t>exponential</a:t>
            </a:r>
            <a:r>
              <a:rPr sz="2000" b="0">
                <a:solidFill>
                  <a:srgbClr val="1F2D3A"/>
                </a:solidFill>
              </a:rPr>
              <a:t> time → the CPU locks up. Mitigation: a linear-time engine (RE2), avoid nested quantifiers, a length/time limit.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85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8. Bytecode and decompilation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The JVM and bytecode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JVM (Java Virtual Machine):</a:t>
            </a:r>
            <a:r>
              <a:rPr sz="2000" b="0">
                <a:solidFill>
                  <a:srgbClr val="1F2D3A"/>
                </a:solidFill>
              </a:rPr>
              <a:t> the virtual machine that runs Java.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Bytecode:</a:t>
            </a:r>
            <a:r>
              <a:rPr sz="2000" b="0">
                <a:solidFill>
                  <a:srgbClr val="1F2D3A"/>
                </a:solidFill>
              </a:rPr>
              <a:t> the intermediate form Java source is compiled into (</a:t>
            </a:r>
            <a:r>
              <a:rPr sz="2000" b="0">
                <a:solidFill>
                  <a:srgbClr val="A1123F"/>
                </a:solidFill>
                <a:latin typeface="Consolas"/>
              </a:rPr>
              <a:t>.class</a:t>
            </a:r>
            <a:r>
              <a:rPr sz="2000" b="0">
                <a:solidFill>
                  <a:srgbClr val="1F2D3A"/>
                </a:solidFill>
              </a:rPr>
              <a:t> files).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Bytecode is machine-independent; the JVM executes it.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Bytecode vs machine code — diagram</a:t>
            </a:r>
          </a:p>
        </p:txBody>
      </p:sp>
      <p:pic>
        <p:nvPicPr>
          <p:cNvPr id="7" name="Picture 6" descr="h05-08-bayt-ko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631" y="1325880"/>
            <a:ext cx="10904433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Java bytecode is easy to read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.class</a:t>
            </a:r>
            <a:r>
              <a:rPr sz="2000" b="0">
                <a:solidFill>
                  <a:srgbClr val="1F2D3A"/>
                </a:solidFill>
              </a:rPr>
              <a:t>/</a:t>
            </a:r>
            <a:r>
              <a:rPr sz="2000" b="0">
                <a:solidFill>
                  <a:srgbClr val="A1123F"/>
                </a:solidFill>
                <a:latin typeface="Consolas"/>
              </a:rPr>
              <a:t>.jar</a:t>
            </a:r>
            <a:r>
              <a:rPr sz="2000" b="0">
                <a:solidFill>
                  <a:srgbClr val="1F2D3A"/>
                </a:solidFill>
              </a:rPr>
              <a:t> bytecode decompiles back </a:t>
            </a:r>
            <a:r>
              <a:rPr sz="2000" b="1">
                <a:solidFill>
                  <a:srgbClr val="1F2D3A"/>
                </a:solidFill>
              </a:rPr>
              <a:t>very close</a:t>
            </a:r>
            <a:r>
              <a:rPr sz="2000" b="0">
                <a:solidFill>
                  <a:srgbClr val="1F2D3A"/>
                </a:solidFill>
              </a:rPr>
              <a:t> to the source.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Tools: </a:t>
            </a:r>
            <a:r>
              <a:rPr sz="2000" b="0">
                <a:solidFill>
                  <a:srgbClr val="A1123F"/>
                </a:solidFill>
                <a:latin typeface="Consolas"/>
              </a:rPr>
              <a:t>javap</a:t>
            </a:r>
            <a:r>
              <a:rPr sz="2000" b="0">
                <a:solidFill>
                  <a:srgbClr val="1F2D3A"/>
                </a:solidFill>
              </a:rPr>
              <a:t> (disassembly), JD-GUI/CFR/Procyon (decompilation).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Names, strings, structure are largely </a:t>
            </a:r>
            <a:r>
              <a:rPr sz="2000" b="1">
                <a:solidFill>
                  <a:srgbClr val="1F2D3A"/>
                </a:solidFill>
              </a:rPr>
              <a:t>visible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  <a:latin typeface="Consolas"/>
              </a:rPr>
              <a:t>javap</a:t>
            </a:r>
            <a:r>
              <a:rPr sz="3000" b="1">
                <a:solidFill>
                  <a:srgbClr val="006D77"/>
                </a:solidFill>
              </a:rPr>
              <a:t> example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463295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javap -c -p Uygulama.class    # bayt kodunu sök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98903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Method names, calls, constants are visible.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This is exactly why obfuscation is </a:t>
            </a:r>
            <a:r>
              <a:rPr sz="2000" b="1">
                <a:solidFill>
                  <a:srgbClr val="1F2D3A"/>
                </a:solidFill>
              </a:rPr>
              <a:t>even more</a:t>
            </a:r>
            <a:r>
              <a:rPr sz="2000" b="0">
                <a:solidFill>
                  <a:srgbClr val="1F2D3A"/>
                </a:solidFill>
              </a:rPr>
              <a:t> necessary in Java.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  <a:latin typeface="Consolas"/>
              </a:rPr>
              <a:t>javap</a:t>
            </a:r>
            <a:r>
              <a:rPr sz="3000" b="1">
                <a:solidFill>
                  <a:srgbClr val="006D77"/>
                </a:solidFill>
              </a:rPr>
              <a:t> output — what is visible?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59715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private static final java.lang.String GECERLI_PIN;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public boolean pinDogru(java.lang.String);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Code: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0: aload_1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1: ldc           #7    // String 4729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3: invokevirtual #9    // String.equals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6: ireturn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3276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There is no source code, but the </a:t>
            </a:r>
            <a:r>
              <a:rPr sz="2000" b="1">
                <a:solidFill>
                  <a:srgbClr val="1F2D3A"/>
                </a:solidFill>
              </a:rPr>
              <a:t>constant</a:t>
            </a:r>
            <a:r>
              <a:rPr sz="2000" b="0">
                <a:solidFill>
                  <a:srgbClr val="1F2D3A"/>
                </a:solidFill>
              </a:rPr>
              <a:t> (</a:t>
            </a:r>
            <a:r>
              <a:rPr sz="2000" b="0">
                <a:solidFill>
                  <a:srgbClr val="A1123F"/>
                </a:solidFill>
                <a:latin typeface="Consolas"/>
              </a:rPr>
              <a:t>4729</a:t>
            </a:r>
            <a:r>
              <a:rPr sz="2000" b="0">
                <a:solidFill>
                  <a:srgbClr val="1F2D3A"/>
                </a:solidFill>
              </a:rPr>
              <a:t>), the </a:t>
            </a:r>
            <a:r>
              <a:rPr sz="2000" b="1">
                <a:solidFill>
                  <a:srgbClr val="1F2D3A"/>
                </a:solidFill>
              </a:rPr>
              <a:t>names</a:t>
            </a:r>
            <a:r>
              <a:rPr sz="2000" b="0">
                <a:solidFill>
                  <a:srgbClr val="1F2D3A"/>
                </a:solidFill>
              </a:rPr>
              <a:t> (</a:t>
            </a:r>
            <a:r>
              <a:rPr sz="2000" b="0">
                <a:solidFill>
                  <a:srgbClr val="A1123F"/>
                </a:solidFill>
                <a:latin typeface="Consolas"/>
              </a:rPr>
              <a:t>GECERLI_PIN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pinDogru</a:t>
            </a:r>
            <a:r>
              <a:rPr sz="2000" b="0">
                <a:solidFill>
                  <a:srgbClr val="1F2D3A"/>
                </a:solidFill>
              </a:rPr>
              <a:t>) and the </a:t>
            </a:r>
            <a:r>
              <a:rPr sz="2000" b="1">
                <a:solidFill>
                  <a:srgbClr val="1F2D3A"/>
                </a:solidFill>
              </a:rPr>
              <a:t>logic</a:t>
            </a:r>
            <a:r>
              <a:rPr sz="2000" b="0">
                <a:solidFill>
                  <a:srgbClr val="1F2D3A"/>
                </a:solidFill>
              </a:rPr>
              <a:t> ("compare the input against this constant") are plainly visible.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Why is it easier than C?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Bytecode is </a:t>
            </a:r>
            <a:r>
              <a:rPr sz="2000" b="1">
                <a:solidFill>
                  <a:srgbClr val="1F2D3A"/>
                </a:solidFill>
              </a:rPr>
              <a:t>high-level</a:t>
            </a:r>
            <a:r>
              <a:rPr sz="2000" b="0">
                <a:solidFill>
                  <a:srgbClr val="1F2D3A"/>
                </a:solidFill>
              </a:rPr>
              <a:t> and carries type information.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Variable/method names are mostly preserved.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→ reverse engineering is cheap; obfuscation is essential.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⚠️ There are no secrets on the client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Obfuscation </a:t>
            </a:r>
            <a:r>
              <a:rPr sz="2000" b="1">
                <a:solidFill>
                  <a:srgbClr val="1F2D3A"/>
                </a:solidFill>
              </a:rPr>
              <a:t>makes this harder</a:t>
            </a:r>
            <a:r>
              <a:rPr sz="2000" b="0">
                <a:solidFill>
                  <a:srgbClr val="1F2D3A"/>
                </a:solidFill>
              </a:rPr>
              <a:t>, but it does not really </a:t>
            </a:r>
            <a:r>
              <a:rPr sz="2000" b="1">
                <a:solidFill>
                  <a:srgbClr val="1F2D3A"/>
                </a:solidFill>
              </a:rPr>
              <a:t>hide</a:t>
            </a:r>
            <a:r>
              <a:rPr sz="2000" b="0">
                <a:solidFill>
                  <a:srgbClr val="1F2D3A"/>
                </a:solidFill>
              </a:rPr>
              <a:t> the secret.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key/password that does not have to live on the client → keep it </a:t>
            </a:r>
            <a:r>
              <a:rPr sz="2000" b="1">
                <a:solidFill>
                  <a:srgbClr val="1F2D3A"/>
                </a:solidFill>
              </a:rPr>
              <a:t>on the server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secret that </a:t>
            </a:r>
            <a:r>
              <a:rPr sz="2000" b="1">
                <a:solidFill>
                  <a:srgbClr val="1F2D3A"/>
                </a:solidFill>
              </a:rPr>
              <a:t>has to</a:t>
            </a:r>
            <a:r>
              <a:rPr sz="2000" b="0">
                <a:solidFill>
                  <a:srgbClr val="1F2D3A"/>
                </a:solidFill>
              </a:rPr>
              <a:t> live on the client needs whitebox cryptography (Week 11).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93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9. ProGuard and R8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R8 and the measurement steps — diagram</a:t>
            </a:r>
          </a:p>
        </p:txBody>
      </p:sp>
      <p:pic>
        <p:nvPicPr>
          <p:cNvPr id="7" name="Picture 6" descr="h05-14-r8-olc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1532" y="1325880"/>
            <a:ext cx="8388631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What do ProGuard/R8 do?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Three jobs: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Shrinking:</a:t>
            </a:r>
            <a:r>
              <a:rPr sz="2000" b="0">
                <a:solidFill>
                  <a:srgbClr val="1F2D3A"/>
                </a:solidFill>
              </a:rPr>
              <a:t> drops unused code.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Optimisation:</a:t>
            </a:r>
            <a:r>
              <a:rPr sz="2000" b="0">
                <a:solidFill>
                  <a:srgbClr val="1F2D3A"/>
                </a:solidFill>
              </a:rPr>
              <a:t> simplifies the code.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Obfuscation:</a:t>
            </a:r>
            <a:r>
              <a:rPr sz="2000" b="0">
                <a:solidFill>
                  <a:srgbClr val="1F2D3A"/>
                </a:solidFill>
              </a:rPr>
              <a:t> makes names meaningless (</a:t>
            </a:r>
            <a:r>
              <a:rPr sz="2000" b="0">
                <a:solidFill>
                  <a:srgbClr val="A1123F"/>
                </a:solidFill>
                <a:latin typeface="Consolas"/>
              </a:rPr>
              <a:t>a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b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c</a:t>
            </a:r>
            <a:r>
              <a:rPr sz="2000" b="0">
                <a:solidFill>
                  <a:srgbClr val="1F2D3A"/>
                </a:solidFill>
              </a:rPr>
              <a:t>).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ProGuard/R8 · four stages — table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2307"/>
                <a:gridCol w="4134897"/>
                <a:gridCol w="4594330"/>
              </a:tblGrid>
              <a:tr h="351129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Stage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What it does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Security contribution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Shrinking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Drops unused code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Attack surface shrinks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Optimisation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Inlining, constant folding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Structure moves away from the source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Obfuscation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Turns names into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a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,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b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,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c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Meaningful names disappear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113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Preverification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Verification info for older JVMs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Name obfuscation example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463295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LisansDenetleyici.dogrula()  →  a.b()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98903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Meaningful names disappear.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map gets harder for a reverse engineer.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Removing dead code shrinks the binary.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Why is </a:t>
            </a:r>
            <a:r>
              <a:rPr sz="3000" b="1">
                <a:solidFill>
                  <a:srgbClr val="006D77"/>
                </a:solidFill>
                <a:latin typeface="Consolas"/>
              </a:rPr>
              <a:t>-keep</a:t>
            </a:r>
            <a:r>
              <a:rPr sz="3000" b="1">
                <a:solidFill>
                  <a:srgbClr val="006D77"/>
                </a:solidFill>
              </a:rPr>
              <a:t> needed?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Code called </a:t>
            </a:r>
            <a:r>
              <a:rPr sz="2000" b="1">
                <a:solidFill>
                  <a:srgbClr val="1F2D3A"/>
                </a:solidFill>
              </a:rPr>
              <a:t>by name</a:t>
            </a:r>
            <a:r>
              <a:rPr sz="2000" b="0">
                <a:solidFill>
                  <a:srgbClr val="1F2D3A"/>
                </a:solidFill>
              </a:rPr>
              <a:t> through reflection (an API, entry points, JNI) must be kept.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If obfuscation changes the name, the call </a:t>
            </a:r>
            <a:r>
              <a:rPr sz="2000" b="1">
                <a:solidFill>
                  <a:srgbClr val="1F2D3A"/>
                </a:solidFill>
              </a:rPr>
              <a:t>breaks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09088"/>
            <a:ext cx="10911535" cy="463295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-keep class com.uygulama.Api { public *; 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82111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For multiple entry points and annotation-marked members: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731767"/>
            <a:ext cx="10911535" cy="103022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-keep class com.uygulama.PublicApi { public *;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-keepclassmembers class *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@com.uygulama.Reflected *;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The </a:t>
            </a:r>
            <a:r>
              <a:rPr sz="3000" b="1">
                <a:solidFill>
                  <a:srgbClr val="006D77"/>
                </a:solidFill>
                <a:latin typeface="Consolas"/>
              </a:rPr>
              <a:t>-keep</a:t>
            </a:r>
            <a:r>
              <a:rPr sz="3000" b="1">
                <a:solidFill>
                  <a:srgbClr val="006D77"/>
                </a:solidFill>
              </a:rPr>
              <a:t> balance — diagram</a:t>
            </a:r>
          </a:p>
        </p:txBody>
      </p:sp>
      <p:pic>
        <p:nvPicPr>
          <p:cNvPr id="7" name="Picture 6" descr="h05-09-keep-denges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563" y="1325880"/>
            <a:ext cx="10870568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The </a:t>
            </a:r>
            <a:r>
              <a:rPr sz="3000" b="1">
                <a:solidFill>
                  <a:srgbClr val="006D77"/>
                </a:solidFill>
                <a:latin typeface="Consolas"/>
              </a:rPr>
              <a:t>-keep</a:t>
            </a:r>
            <a:r>
              <a:rPr sz="3000" b="1">
                <a:solidFill>
                  <a:srgbClr val="006D77"/>
                </a:solidFill>
              </a:rPr>
              <a:t> balance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Too little `-keep`:</a:t>
            </a:r>
            <a:r>
              <a:rPr sz="2000" b="0">
                <a:solidFill>
                  <a:srgbClr val="1F2D3A"/>
                </a:solidFill>
              </a:rPr>
              <a:t> the application crashes (reflection breaks).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Too much `-keep`:</a:t>
            </a:r>
            <a:r>
              <a:rPr sz="2000" b="0">
                <a:solidFill>
                  <a:srgbClr val="1F2D3A"/>
                </a:solidFill>
              </a:rPr>
              <a:t> obfuscation is weakened (everything stays exposed).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Keep </a:t>
            </a:r>
            <a:r>
              <a:rPr sz="2000" b="1">
                <a:solidFill>
                  <a:srgbClr val="1F2D3A"/>
                </a:solidFill>
              </a:rPr>
              <a:t>only the entry points that are genuinely required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Test</a:t>
            </a:r>
            <a:r>
              <a:rPr sz="2000" b="0">
                <a:solidFill>
                  <a:srgbClr val="1F2D3A"/>
                </a:solidFill>
              </a:rPr>
              <a:t> flows that use reflection — any crash after obfuscation?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The mapping 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R8 produces a </a:t>
            </a:r>
            <a:r>
              <a:rPr sz="2000" b="0">
                <a:solidFill>
                  <a:srgbClr val="A1123F"/>
                </a:solidFill>
                <a:latin typeface="Consolas"/>
              </a:rPr>
              <a:t>mapping.txt</a:t>
            </a:r>
            <a:r>
              <a:rPr sz="2000" b="0">
                <a:solidFill>
                  <a:srgbClr val="1F2D3A"/>
                </a:solidFill>
              </a:rPr>
              <a:t>: obfuscated name → real name.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It is </a:t>
            </a:r>
            <a:r>
              <a:rPr sz="2000" b="1">
                <a:solidFill>
                  <a:srgbClr val="1F2D3A"/>
                </a:solidFill>
              </a:rPr>
              <a:t>kept secret</a:t>
            </a:r>
            <a:r>
              <a:rPr sz="2000" b="0">
                <a:solidFill>
                  <a:srgbClr val="1F2D3A"/>
                </a:solidFill>
              </a:rPr>
              <a:t> (not shipped), but it is retained to decode crash traces.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Archived together with the version identifier.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Mapping file · example (</a:t>
            </a:r>
            <a:r>
              <a:rPr sz="3000" b="1">
                <a:solidFill>
                  <a:srgbClr val="006D77"/>
                </a:solidFill>
                <a:latin typeface="Consolas"/>
              </a:rPr>
              <a:t>mapping.txt</a:t>
            </a:r>
            <a:r>
              <a:rPr sz="3000" b="1">
                <a:solidFill>
                  <a:srgbClr val="006D77"/>
                </a:solidFill>
              </a:rPr>
              <a:t>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841247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com.ornek.odeme.KartYoneticisi -&gt; com.ornek.a: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android.content.Context baglam -&gt; a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boolean varsayilanKartiAyarla(java.lang.String) -&gt; 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685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Old name → new name. This file </a:t>
            </a:r>
            <a:r>
              <a:rPr sz="2000" b="1">
                <a:solidFill>
                  <a:srgbClr val="1F2D3A"/>
                </a:solidFill>
              </a:rPr>
              <a:t>completely</a:t>
            </a:r>
            <a:r>
              <a:rPr sz="2000" b="0">
                <a:solidFill>
                  <a:srgbClr val="1F2D3A"/>
                </a:solidFill>
              </a:rPr>
              <a:t> undoes the obfuscation.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ProGuard/R8 · rule of this section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Shrink + optimise + obfuscate; it does </a:t>
            </a:r>
            <a:r>
              <a:rPr sz="2000" b="1">
                <a:solidFill>
                  <a:srgbClr val="1F2D3A"/>
                </a:solidFill>
              </a:rPr>
              <a:t>not obfuscate strings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-keep</a:t>
            </a:r>
            <a:r>
              <a:rPr sz="2000" b="0">
                <a:solidFill>
                  <a:srgbClr val="1F2D3A"/>
                </a:solidFill>
              </a:rPr>
              <a:t> only for what is </a:t>
            </a:r>
            <a:r>
              <a:rPr sz="2000" b="1">
                <a:solidFill>
                  <a:srgbClr val="1F2D3A"/>
                </a:solidFill>
              </a:rPr>
              <a:t>genuinely</a:t>
            </a:r>
            <a:r>
              <a:rPr sz="2000" b="0">
                <a:solidFill>
                  <a:srgbClr val="1F2D3A"/>
                </a:solidFill>
              </a:rPr>
              <a:t> called through reflection/JNI.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mapping.txt</a:t>
            </a:r>
            <a:r>
              <a:rPr sz="2000" b="0">
                <a:solidFill>
                  <a:srgbClr val="1F2D3A"/>
                </a:solidFill>
              </a:rPr>
              <a:t> is a </a:t>
            </a:r>
            <a:r>
              <a:rPr sz="2000" b="1">
                <a:solidFill>
                  <a:srgbClr val="1F2D3A"/>
                </a:solidFill>
              </a:rPr>
              <a:t>secret</a:t>
            </a:r>
            <a:r>
              <a:rPr sz="2000" b="0">
                <a:solidFill>
                  <a:srgbClr val="1F2D3A"/>
                </a:solidFill>
              </a:rPr>
              <a:t>: keep it, do not distribute it.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10. String obfuscation and reflection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String obfuscation and dynamic invocation — diagram</a:t>
            </a:r>
          </a:p>
        </p:txBody>
      </p:sp>
      <p:pic>
        <p:nvPicPr>
          <p:cNvPr id="7" name="Picture 6" descr="h05-13-dize-gizle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851524"/>
          </a:xfrm>
          <a:prstGeom prst="rect">
            <a:avLst/>
          </a:prstGeom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Strings are exposed in Java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Constant strings inside </a:t>
            </a:r>
            <a:r>
              <a:rPr sz="2000" b="0">
                <a:solidFill>
                  <a:srgbClr val="A1123F"/>
                </a:solidFill>
                <a:latin typeface="Consolas"/>
              </a:rPr>
              <a:t>.class</a:t>
            </a:r>
            <a:r>
              <a:rPr sz="2000" b="0">
                <a:solidFill>
                  <a:srgbClr val="1F2D3A"/>
                </a:solidFill>
              </a:rPr>
              <a:t> appear </a:t>
            </a:r>
            <a:r>
              <a:rPr sz="2000" b="1">
                <a:solidFill>
                  <a:srgbClr val="1F2D3A"/>
                </a:solidFill>
              </a:rPr>
              <a:t>in the clear</a:t>
            </a:r>
            <a:r>
              <a:rPr sz="2000" b="0">
                <a:solidFill>
                  <a:srgbClr val="1F2D3A"/>
                </a:solidFill>
              </a:rPr>
              <a:t> (</a:t>
            </a:r>
            <a:r>
              <a:rPr sz="2000" b="0">
                <a:solidFill>
                  <a:srgbClr val="A1123F"/>
                </a:solidFill>
                <a:latin typeface="Consolas"/>
              </a:rPr>
              <a:t>strings</a:t>
            </a:r>
            <a:r>
              <a:rPr sz="2000" b="0">
                <a:solidFill>
                  <a:srgbClr val="1F2D3A"/>
                </a:solidFill>
              </a:rPr>
              <a:t>, a decompiler).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Sensitive URLs, key fragments, messages leak.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String obfuscation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Strings are </a:t>
            </a:r>
            <a:r>
              <a:rPr sz="2000" b="1">
                <a:solidFill>
                  <a:srgbClr val="1F2D3A"/>
                </a:solidFill>
              </a:rPr>
              <a:t>encoded</a:t>
            </a:r>
            <a:r>
              <a:rPr sz="2000" b="0">
                <a:solidFill>
                  <a:srgbClr val="1F2D3A"/>
                </a:solidFill>
              </a:rPr>
              <a:t> at build time, decoded at use.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Same rule as Week 4: it stops </a:t>
            </a:r>
            <a:r>
              <a:rPr sz="2000" b="0">
                <a:solidFill>
                  <a:srgbClr val="A1123F"/>
                </a:solidFill>
                <a:latin typeface="Consolas"/>
              </a:rPr>
              <a:t>strings</a:t>
            </a:r>
            <a:r>
              <a:rPr sz="2000" b="0">
                <a:solidFill>
                  <a:srgbClr val="1F2D3A"/>
                </a:solidFill>
              </a:rPr>
              <a:t>, it does </a:t>
            </a:r>
            <a:r>
              <a:rPr sz="2000" b="1">
                <a:solidFill>
                  <a:srgbClr val="1F2D3A"/>
                </a:solidFill>
              </a:rPr>
              <a:t>not keep a secret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decoding code is also in the bytecode → limited protection.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⚠️ Reflection conflicts with obfuscation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call by name (</a:t>
            </a:r>
            <a:r>
              <a:rPr sz="2000" b="0">
                <a:solidFill>
                  <a:srgbClr val="A1123F"/>
                </a:solidFill>
                <a:latin typeface="Consolas"/>
              </a:rPr>
              <a:t>getMethod("dogrula")</a:t>
            </a:r>
            <a:r>
              <a:rPr sz="2000" b="0">
                <a:solidFill>
                  <a:srgbClr val="1F2D3A"/>
                </a:solidFill>
              </a:rPr>
              <a:t>) breaks </a:t>
            </a:r>
            <a:r>
              <a:rPr sz="2000" b="1">
                <a:solidFill>
                  <a:srgbClr val="1F2D3A"/>
                </a:solidFill>
              </a:rPr>
              <a:t>after</a:t>
            </a:r>
            <a:r>
              <a:rPr sz="2000" b="0">
                <a:solidFill>
                  <a:srgbClr val="1F2D3A"/>
                </a:solidFill>
              </a:rPr>
              <a:t> obfuscation.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Fix: either </a:t>
            </a:r>
            <a:r>
              <a:rPr sz="2000" b="0">
                <a:solidFill>
                  <a:srgbClr val="A1123F"/>
                </a:solidFill>
                <a:latin typeface="Consolas"/>
              </a:rPr>
              <a:t>-keep</a:t>
            </a:r>
            <a:r>
              <a:rPr sz="2000" b="0">
                <a:solidFill>
                  <a:srgbClr val="1F2D3A"/>
                </a:solidFill>
              </a:rPr>
              <a:t>, or drop reflection and call directly.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Reducing reflection is good for both security and obfuscation.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11. Android R8 and measurement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R8 on Android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R8 is the </a:t>
            </a:r>
            <a:r>
              <a:rPr sz="2000" b="1">
                <a:solidFill>
                  <a:srgbClr val="1F2D3A"/>
                </a:solidFill>
              </a:rPr>
              <a:t>default</a:t>
            </a:r>
            <a:r>
              <a:rPr sz="2000" b="0">
                <a:solidFill>
                  <a:srgbClr val="1F2D3A"/>
                </a:solidFill>
              </a:rPr>
              <a:t> shrinker/obfuscator of the Android build.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minifyEnabled true</a:t>
            </a:r>
            <a:r>
              <a:rPr sz="2000" b="0">
                <a:solidFill>
                  <a:srgbClr val="1F2D3A"/>
                </a:solidFill>
              </a:rPr>
              <a:t> + </a:t>
            </a:r>
            <a:r>
              <a:rPr sz="2000" b="0">
                <a:solidFill>
                  <a:srgbClr val="A1123F"/>
                </a:solidFill>
                <a:latin typeface="Consolas"/>
              </a:rPr>
              <a:t>proguard-rules.pro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Produces DEX (Android bytecode).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Turning R8 on for the release build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408176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android { buildTypes { release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minifyEnabled true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shrinkResources true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proguardFiles getDefaultProguardFile('proguard-android-optimize.txt'),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      'proguard-rules.pro'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}}}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43784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 debug build is </a:t>
            </a:r>
            <a:r>
              <a:rPr sz="2000" b="1">
                <a:solidFill>
                  <a:srgbClr val="1F2D3A"/>
                </a:solidFill>
              </a:rPr>
              <a:t>not obfuscated</a:t>
            </a:r>
            <a:r>
              <a:rPr sz="2000" b="0">
                <a:solidFill>
                  <a:srgbClr val="1F2D3A"/>
                </a:solidFill>
              </a:rPr>
              <a:t>; verify that the shipped build is the </a:t>
            </a:r>
            <a:r>
              <a:rPr sz="2000" b="1">
                <a:solidFill>
                  <a:srgbClr val="1F2D3A"/>
                </a:solidFill>
              </a:rPr>
              <a:t>release</a:t>
            </a:r>
            <a:r>
              <a:rPr sz="2000" b="0">
                <a:solidFill>
                  <a:srgbClr val="1F2D3A"/>
                </a:solidFill>
              </a:rPr>
              <a:t> one. A plain Java/Gradle project without Android needs only a simpler form: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723640"/>
            <a:ext cx="10911535" cy="103022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buildTypes { release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minifyEnabled true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proguardFiles(..., 'proguard-rules.pro')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}}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Measuring the effect of obfuscation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7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Before/after obfuscation:</a:t>
            </a:r>
          </a:p>
          <a:p>
            <a:pPr lvl="1"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    – </a:t>
            </a:r>
            <a:r>
              <a:rPr sz="2000" b="0">
                <a:solidFill>
                  <a:srgbClr val="1F2D3A"/>
                </a:solidFill>
              </a:rPr>
              <a:t>the ratio of meaningful names</a:t>
            </a:r>
          </a:p>
          <a:p>
            <a:pPr lvl="1"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    – </a:t>
            </a:r>
            <a:r>
              <a:rPr sz="2000" b="0">
                <a:solidFill>
                  <a:srgbClr val="1F2D3A"/>
                </a:solidFill>
              </a:rPr>
              <a:t>the count of plain-text sensitive strings</a:t>
            </a:r>
          </a:p>
          <a:p>
            <a:pPr lvl="1"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    – </a:t>
            </a:r>
            <a:r>
              <a:rPr sz="2000" b="0">
                <a:solidFill>
                  <a:srgbClr val="1F2D3A"/>
                </a:solidFill>
              </a:rPr>
              <a:t>APK size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Measure it and write it into S9 (the measurement logic from Week 9).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Measurement table — extended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4030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49571"/>
                <a:gridCol w="6061963"/>
              </a:tblGrid>
              <a:tr h="343291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Expected change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Number of classes/methods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Decreases with shrinking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Meaningful-name ratio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Drops sharply with obfuscation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Plain-text sensitive strings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Goes to zero with string obfuscation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Package size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Decreases with shrinking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Number of log calls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Zero in the release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Time to locate a check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Increases (human trial)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Static analysis for Java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SpotBugs, Error Prone, SonarQube.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Checks close to the CERT Java rules.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On every merge, in CI.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Sections 8–13 — quick 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Why is Java bytecode easier to read than C?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What is the </a:t>
            </a:r>
            <a:r>
              <a:rPr sz="2000" b="0">
                <a:solidFill>
                  <a:srgbClr val="A1123F"/>
                </a:solidFill>
                <a:latin typeface="Consolas"/>
              </a:rPr>
              <a:t>-keep</a:t>
            </a:r>
            <a:r>
              <a:rPr sz="2000" b="0">
                <a:solidFill>
                  <a:srgbClr val="1F2D3A"/>
                </a:solidFill>
              </a:rPr>
              <a:t> balance?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Why does reflection conflict with obfuscation?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Sections 8–13 — 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870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Bytecode is </a:t>
            </a:r>
            <a:r>
              <a:rPr sz="2000" b="1">
                <a:solidFill>
                  <a:srgbClr val="1F2D3A"/>
                </a:solidFill>
              </a:rPr>
              <a:t>high-level</a:t>
            </a:r>
            <a:r>
              <a:rPr sz="2000" b="0">
                <a:solidFill>
                  <a:srgbClr val="1F2D3A"/>
                </a:solidFill>
              </a:rPr>
              <a:t>; type and </a:t>
            </a:r>
            <a:r>
              <a:rPr sz="2000" b="1">
                <a:solidFill>
                  <a:srgbClr val="1F2D3A"/>
                </a:solidFill>
              </a:rPr>
              <a:t>name metadata</a:t>
            </a:r>
            <a:r>
              <a:rPr sz="2000" b="0">
                <a:solidFill>
                  <a:srgbClr val="1F2D3A"/>
                </a:solidFill>
              </a:rPr>
              <a:t> (class/field/method) are preserved → a decompiler produces near-source output. C compiles to machine code, discarding names.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1">
                <a:solidFill>
                  <a:srgbClr val="1F2D3A"/>
                </a:solidFill>
              </a:rPr>
              <a:t>The `-keep` balance:</a:t>
            </a:r>
            <a:r>
              <a:rPr sz="2000" b="0">
                <a:solidFill>
                  <a:srgbClr val="1F2D3A"/>
                </a:solidFill>
              </a:rPr>
              <a:t> too much keep → obfuscation is weak; too little keep → reflection/serialisation breaks. Keep only the </a:t>
            </a:r>
            <a:r>
              <a:rPr sz="2000" b="1">
                <a:solidFill>
                  <a:srgbClr val="1F2D3A"/>
                </a:solidFill>
              </a:rPr>
              <a:t>external entry points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Reflection calls </a:t>
            </a:r>
            <a:r>
              <a:rPr sz="2000" b="1">
                <a:solidFill>
                  <a:srgbClr val="1F2D3A"/>
                </a:solidFill>
              </a:rPr>
              <a:t>by string</a:t>
            </a:r>
            <a:r>
              <a:rPr sz="2000" b="0">
                <a:solidFill>
                  <a:srgbClr val="1F2D3A"/>
                </a:solidFill>
              </a:rPr>
              <a:t> name; once the obfuscator renames it, the string no longer matches → a run-time error. Those names need to be kept (a gap in the obfuscation).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12. Dependency security and SBOM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The problem · supply chain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Even if your own code is flawless, a flaw in a </a:t>
            </a:r>
            <a:r>
              <a:rPr sz="2000" b="1">
                <a:solidFill>
                  <a:srgbClr val="1F2D3A"/>
                </a:solidFill>
              </a:rPr>
              <a:t>library</a:t>
            </a:r>
            <a:r>
              <a:rPr sz="2000" b="0">
                <a:solidFill>
                  <a:srgbClr val="1F2D3A"/>
                </a:solidFill>
              </a:rPr>
              <a:t> you use affects you.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modern application contains hundreds of dependencies.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"Which version do I have?" is a critical question.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Real examples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Log4Shell (Log4j): a single library flaw affected millions of systems.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malicious package (typosquatting): a fake package with a similar name.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An unmaintained/abandoned dependency.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Log4Shell · a concrete example (December 2021)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879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specific expression logged by Log4j 2 loaded and ran a class from a </a:t>
            </a:r>
            <a:r>
              <a:rPr sz="2000" b="1">
                <a:solidFill>
                  <a:srgbClr val="1F2D3A"/>
                </a:solidFill>
              </a:rPr>
              <a:t>remote</a:t>
            </a:r>
            <a:r>
              <a:rPr sz="2000" b="0">
                <a:solidFill>
                  <a:srgbClr val="1F2D3A"/>
                </a:solidFill>
              </a:rPr>
              <a:t> address.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CVE-2021-44228, CVSS </a:t>
            </a:r>
            <a:r>
              <a:rPr sz="2000" b="1">
                <a:solidFill>
                  <a:srgbClr val="1F2D3A"/>
                </a:solidFill>
              </a:rPr>
              <a:t>10.0</a:t>
            </a:r>
            <a:r>
              <a:rPr sz="2000" b="0">
                <a:solidFill>
                  <a:srgbClr val="1F2D3A"/>
                </a:solidFill>
              </a:rPr>
              <a:t> (the highest score).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real crisis was not applying the patch: it was the question of </a:t>
            </a:r>
            <a:r>
              <a:rPr sz="2000" b="1">
                <a:solidFill>
                  <a:srgbClr val="1F2D3A"/>
                </a:solidFill>
              </a:rPr>
              <a:t>which system had which version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What is an SBOM?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software's </a:t>
            </a:r>
            <a:r>
              <a:rPr sz="2000" b="1">
                <a:solidFill>
                  <a:srgbClr val="1F2D3A"/>
                </a:solidFill>
              </a:rPr>
              <a:t>bill of materials</a:t>
            </a:r>
            <a:r>
              <a:rPr sz="2000" b="0">
                <a:solidFill>
                  <a:srgbClr val="1F2D3A"/>
                </a:solidFill>
              </a:rPr>
              <a:t>: which component, which version, which licence.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When a flaw is announced, "am I affected?" is answered </a:t>
            </a:r>
            <a:r>
              <a:rPr sz="2000" b="1">
                <a:solidFill>
                  <a:srgbClr val="1F2D3A"/>
                </a:solidFill>
              </a:rPr>
              <a:t>quickly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SBOM formats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CycloneDX</a:t>
            </a:r>
            <a:r>
              <a:rPr sz="2000" b="0">
                <a:solidFill>
                  <a:srgbClr val="1F2D3A"/>
                </a:solidFill>
              </a:rPr>
              <a:t> (OWASP) — security-focused, widely used.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SPDX</a:t>
            </a:r>
            <a:r>
              <a:rPr sz="2000" b="0">
                <a:solidFill>
                  <a:srgbClr val="1F2D3A"/>
                </a:solidFill>
              </a:rPr>
              <a:t> (Linux Foundation) — strong on licensing too.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Generated automatically by tools (during the build step).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 CycloneDX example (JSON, synthetic)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59715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"bomFormat": "CycloneDX",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"components": [{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"type": "library", "name": "ornek-json", "version": "1.2.0",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"purl": "pkg:maven/com.ornek/ornek-json@1.2.0"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}]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3276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Every component: name, version, </a:t>
            </a:r>
            <a:r>
              <a:rPr sz="2000" b="1">
                <a:solidFill>
                  <a:srgbClr val="1F2D3A"/>
                </a:solidFill>
              </a:rPr>
              <a:t>purl</a:t>
            </a:r>
            <a:r>
              <a:rPr sz="2000" b="0">
                <a:solidFill>
                  <a:srgbClr val="1F2D3A"/>
                </a:solidFill>
              </a:rPr>
              <a:t> (an ecosystem-independent, uniform identifier), a hash value.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What is VEX?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VEX (Vulnerability Exploitability eXchange):</a:t>
            </a:r>
            <a:r>
              <a:rPr sz="2000" b="0">
                <a:solidFill>
                  <a:srgbClr val="1F2D3A"/>
                </a:solidFill>
              </a:rPr>
              <a:t> shares "I have this flaw, but it is </a:t>
            </a:r>
            <a:r>
              <a:rPr sz="2000" b="1">
                <a:solidFill>
                  <a:srgbClr val="1F2D3A"/>
                </a:solidFill>
              </a:rPr>
              <a:t>not exploitable</a:t>
            </a:r>
            <a:r>
              <a:rPr sz="2000" b="0">
                <a:solidFill>
                  <a:srgbClr val="1F2D3A"/>
                </a:solidFill>
              </a:rPr>
              <a:t>" information.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Reduces noise: not every CVE is a panic.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Accompanies the SBOM.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Dependency management rules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Pin</a:t>
            </a:r>
            <a:r>
              <a:rPr sz="2000" b="0">
                <a:solidFill>
                  <a:srgbClr val="1F2D3A"/>
                </a:solidFill>
              </a:rPr>
              <a:t> versions; do not pull "latest" at random.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Scan for known vulnerabilities (</a:t>
            </a:r>
            <a:r>
              <a:rPr sz="2000" b="0">
                <a:solidFill>
                  <a:srgbClr val="A1123F"/>
                </a:solidFill>
                <a:latin typeface="Consolas"/>
              </a:rPr>
              <a:t>dependency-check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npm audit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pip-audit</a:t>
            </a:r>
            <a:r>
              <a:rPr sz="2000" b="0">
                <a:solidFill>
                  <a:srgbClr val="1F2D3A"/>
                </a:solidFill>
              </a:rPr>
              <a:t>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safe update process; apply critical patches fast.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SBOM generation · example flow</a:t>
            </a:r>
          </a:p>
        </p:txBody>
      </p:sp>
      <p:pic>
        <p:nvPicPr>
          <p:cNvPr id="7" name="Picture 6" descr="h05-10-sb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7699" y="1325880"/>
            <a:ext cx="8456297" cy="294335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43789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Each release's SBOM is stored with its release identifier.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928616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# örnek: CycloneDX eklentisi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mvn org.cyclonedx:cyclonedx-maven-plugin:makeBom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5690616"/>
            <a:ext cx="10911535" cy="463295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dependency-check --scan . --format HTML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Link to the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S13:</a:t>
            </a:r>
            <a:r>
              <a:rPr sz="2000" b="0">
                <a:solidFill>
                  <a:srgbClr val="1F2D3A"/>
                </a:solidFill>
              </a:rPr>
              <a:t> a secure development process + SBOM.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An up-to-date SBOM and dependency scan for every release.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Handed-off requirements: "safe updates" belong to the upstream application (Week 13).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SBOM · rule of this section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Even if your own code is flawless, </a:t>
            </a:r>
            <a:r>
              <a:rPr sz="2000" b="1">
                <a:solidFill>
                  <a:srgbClr val="1F2D3A"/>
                </a:solidFill>
              </a:rPr>
              <a:t>your dependency's flaw affects you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SBOM = the bill of materials; VEX = the answer to "am I genuinely affected?"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Pin</a:t>
            </a:r>
            <a:r>
              <a:rPr sz="2000" b="0">
                <a:solidFill>
                  <a:srgbClr val="1F2D3A"/>
                </a:solidFill>
              </a:rPr>
              <a:t> the version, </a:t>
            </a:r>
            <a:r>
              <a:rPr sz="2000" b="1">
                <a:solidFill>
                  <a:srgbClr val="1F2D3A"/>
                </a:solidFill>
              </a:rPr>
              <a:t>scan</a:t>
            </a:r>
            <a:r>
              <a:rPr sz="2000" b="0">
                <a:solidFill>
                  <a:srgbClr val="1F2D3A"/>
                </a:solidFill>
              </a:rPr>
              <a:t> continuously, apply the critical patch fast.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Section 14 — quick 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What is an SBOM good for?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Why does VEX reduce noise?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Why do we pin dependency versions?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Section 14 — 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209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1">
                <a:solidFill>
                  <a:srgbClr val="1F2D3A"/>
                </a:solidFill>
              </a:rPr>
              <a:t>SBOM</a:t>
            </a:r>
            <a:r>
              <a:rPr sz="2000" b="0">
                <a:solidFill>
                  <a:srgbClr val="1F2D3A"/>
                </a:solidFill>
              </a:rPr>
              <a:t> = a component/dependency inventory; when a new flaw appears it answers "do I have it?" </a:t>
            </a:r>
            <a:r>
              <a:rPr sz="2000" b="1">
                <a:solidFill>
                  <a:srgbClr val="1F2D3A"/>
                </a:solidFill>
              </a:rPr>
              <a:t>quickly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1">
                <a:solidFill>
                  <a:srgbClr val="1F2D3A"/>
                </a:solidFill>
              </a:rPr>
              <a:t>VEX</a:t>
            </a:r>
            <a:r>
              <a:rPr sz="2000" b="0">
                <a:solidFill>
                  <a:srgbClr val="1F2D3A"/>
                </a:solidFill>
              </a:rPr>
              <a:t> states whether the flaw is genuinely </a:t>
            </a:r>
            <a:r>
              <a:rPr sz="2000" b="1">
                <a:solidFill>
                  <a:srgbClr val="1F2D3A"/>
                </a:solidFill>
              </a:rPr>
              <a:t>exploitable</a:t>
            </a:r>
            <a:r>
              <a:rPr sz="2000" b="0">
                <a:solidFill>
                  <a:srgbClr val="1F2D3A"/>
                </a:solidFill>
              </a:rPr>
              <a:t> in the product; unaffected ones are marked "not affected" → false alarms drop.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A pinned version = a </a:t>
            </a:r>
            <a:r>
              <a:rPr sz="2000" b="1">
                <a:solidFill>
                  <a:srgbClr val="1F2D3A"/>
                </a:solidFill>
              </a:rPr>
              <a:t>reproducible</a:t>
            </a:r>
            <a:r>
              <a:rPr sz="2000" b="0">
                <a:solidFill>
                  <a:srgbClr val="1F2D3A"/>
                </a:solidFill>
              </a:rPr>
              <a:t> build + supply-chain security; it blocks an unexpected/malicious update.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Context · a login 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An application that logs a user in with a username and password.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5536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String q = "SELECT * FROM kul WHERE ad='" + ad +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"' AND parola='" + p + "'";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37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Where is the mistake?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1 · the attacker's 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Into the </a:t>
            </a:r>
            <a:r>
              <a:rPr sz="2000" b="0">
                <a:solidFill>
                  <a:srgbClr val="A1123F"/>
                </a:solidFill>
                <a:latin typeface="Consolas"/>
              </a:rPr>
              <a:t>ad</a:t>
            </a:r>
            <a:r>
              <a:rPr sz="2000" b="0">
                <a:solidFill>
                  <a:srgbClr val="1F2D3A"/>
                </a:solidFill>
              </a:rPr>
              <a:t> field: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5536"/>
            <a:ext cx="10911535" cy="463295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yonetici' --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48559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--</a:t>
            </a:r>
            <a:r>
              <a:rPr sz="2000" b="0">
                <a:solidFill>
                  <a:srgbClr val="1F2D3A"/>
                </a:solidFill>
              </a:rPr>
              <a:t> starts a </a:t>
            </a:r>
            <a:r>
              <a:rPr sz="2000" b="1">
                <a:solidFill>
                  <a:srgbClr val="1F2D3A"/>
                </a:solidFill>
              </a:rPr>
              <a:t>comment</a:t>
            </a:r>
            <a:r>
              <a:rPr sz="2000" b="0">
                <a:solidFill>
                  <a:srgbClr val="1F2D3A"/>
                </a:solidFill>
              </a:rPr>
              <a:t> in SQL; everything after it is ignored.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2 · what does the query become?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463295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SELECT * FROM kul WHERE ad='yonetici' -- ' AND parola='...'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98903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 password check stayed </a:t>
            </a:r>
            <a:r>
              <a:rPr sz="2000" b="1">
                <a:solidFill>
                  <a:srgbClr val="1F2D3A"/>
                </a:solidFill>
              </a:rPr>
              <a:t>inside the comment</a:t>
            </a:r>
            <a:r>
              <a:rPr sz="2000" b="0">
                <a:solidFill>
                  <a:srgbClr val="1F2D3A"/>
                </a:solidFill>
              </a:rPr>
              <a:t> → an </a:t>
            </a:r>
            <a:r>
              <a:rPr sz="2000" b="0">
                <a:solidFill>
                  <a:srgbClr val="A1123F"/>
                </a:solidFill>
                <a:latin typeface="Consolas"/>
              </a:rPr>
              <a:t>yonetici</a:t>
            </a:r>
            <a:r>
              <a:rPr sz="2000" b="0">
                <a:solidFill>
                  <a:srgbClr val="1F2D3A"/>
                </a:solidFill>
              </a:rPr>
              <a:t> login with no password.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3 · impact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Authentication was </a:t>
            </a:r>
            <a:r>
              <a:rPr sz="2000" b="1">
                <a:solidFill>
                  <a:srgbClr val="1F2D3A"/>
                </a:solidFill>
              </a:rPr>
              <a:t>bypassed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Further: reading other tables with </a:t>
            </a:r>
            <a:r>
              <a:rPr sz="2000" b="0">
                <a:solidFill>
                  <a:srgbClr val="A1123F"/>
                </a:solidFill>
                <a:latin typeface="Consolas"/>
              </a:rPr>
              <a:t>UNION SELECT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; DROP TABLE</a:t>
            </a:r>
            <a:r>
              <a:rPr sz="2000" b="0">
                <a:solidFill>
                  <a:srgbClr val="1F2D3A"/>
                </a:solidFill>
              </a:rPr>
              <a:t> (if stacked queries are supported) — data loss.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4 · the fix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03022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PreparedStatement ps = con.prepareStatement(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"SELECT * FROM kul WHERE ad=? AND parola_ozet=?");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ps.setString(1, ad);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ps.setString(2, ozetle(p));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583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ad</a:t>
            </a:r>
            <a:r>
              <a:rPr sz="2000" b="0">
                <a:solidFill>
                  <a:srgbClr val="1F2D3A"/>
                </a:solidFill>
              </a:rPr>
              <a:t> and the password are now </a:t>
            </a:r>
            <a:r>
              <a:rPr sz="2000" b="1">
                <a:solidFill>
                  <a:srgbClr val="1F2D3A"/>
                </a:solidFill>
              </a:rPr>
              <a:t>data</a:t>
            </a:r>
            <a:r>
              <a:rPr sz="2000" b="0">
                <a:solidFill>
                  <a:srgbClr val="1F2D3A"/>
                </a:solidFill>
              </a:rPr>
              <a:t>; </a:t>
            </a:r>
            <a:r>
              <a:rPr sz="2000" b="0">
                <a:solidFill>
                  <a:srgbClr val="A1123F"/>
                </a:solidFill>
                <a:latin typeface="Consolas"/>
              </a:rPr>
              <a:t>--</a:t>
            </a:r>
            <a:r>
              <a:rPr sz="2000" b="0">
                <a:solidFill>
                  <a:srgbClr val="1F2D3A"/>
                </a:solidFill>
              </a:rPr>
              <a:t> has no effect.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5 · layered defence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Never store a password in plain text:</a:t>
            </a:r>
            <a:r>
              <a:rPr sz="2000" b="0">
                <a:solidFill>
                  <a:srgbClr val="1F2D3A"/>
                </a:solidFill>
              </a:rPr>
              <a:t> a hash + salt (Week 3).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Least privilege:</a:t>
            </a:r>
            <a:r>
              <a:rPr sz="2000" b="0">
                <a:solidFill>
                  <a:srgbClr val="1F2D3A"/>
                </a:solidFill>
              </a:rPr>
              <a:t> the DB user only has </a:t>
            </a:r>
            <a:r>
              <a:rPr sz="2000" b="0">
                <a:solidFill>
                  <a:srgbClr val="A1123F"/>
                </a:solidFill>
                <a:latin typeface="Consolas"/>
              </a:rPr>
              <a:t>SELECT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Input validation:</a:t>
            </a:r>
            <a:r>
              <a:rPr sz="2000" b="0">
                <a:solidFill>
                  <a:srgbClr val="1F2D3A"/>
                </a:solidFill>
              </a:rPr>
              <a:t> an allow list for the username.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Logging/monitoring:</a:t>
            </a:r>
            <a:r>
              <a:rPr sz="2000" b="0">
                <a:solidFill>
                  <a:srgbClr val="1F2D3A"/>
                </a:solidFill>
              </a:rPr>
              <a:t> failed login attempts.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Lesson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single root: data got mixed with the command.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real fix: a parameterised query.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But defence in depth at every layer.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The same bug, three languages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11082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5661"/>
                <a:gridCol w="3425714"/>
                <a:gridCol w="3425714"/>
                <a:gridCol w="2664444"/>
              </a:tblGrid>
              <a:tr h="36941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Danger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Java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Python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JS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6941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Command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Runtime.exec(str)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os.system(str)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exec(str)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9418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Safe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ProcessBuilder([...])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subprocess.run([...])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execFile([...])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The same bug, extracting data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11082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6356"/>
                <a:gridCol w="2234892"/>
                <a:gridCol w="3418071"/>
                <a:gridCol w="2892214"/>
              </a:tblGrid>
              <a:tr h="36941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Danger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Java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Python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JS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6941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Code execution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readObject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pickle.loads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,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eval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eval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,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Function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9418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Safe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JSON + schema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json.loads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JSON.parse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2543860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The root is always the same: data ≠ code.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Three languages · one rule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dynamic "run" (</a:t>
            </a:r>
            <a:r>
              <a:rPr sz="2000" b="0">
                <a:solidFill>
                  <a:srgbClr val="A1123F"/>
                </a:solidFill>
                <a:latin typeface="Consolas"/>
              </a:rPr>
              <a:t>eval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exec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pickle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readObject</a:t>
            </a:r>
            <a:r>
              <a:rPr sz="2000" b="0">
                <a:solidFill>
                  <a:srgbClr val="1F2D3A"/>
                </a:solidFill>
              </a:rPr>
              <a:t>) → </a:t>
            </a:r>
            <a:r>
              <a:rPr sz="2000" b="1">
                <a:solidFill>
                  <a:srgbClr val="1F2D3A"/>
                </a:solidFill>
              </a:rPr>
              <a:t>never</a:t>
            </a:r>
            <a:r>
              <a:rPr sz="2000" b="0">
                <a:solidFill>
                  <a:srgbClr val="1F2D3A"/>
                </a:solidFill>
              </a:rPr>
              <a:t> with untrusted data.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Command → an argument array.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SQL → parameterised.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Input → an allow list + rejection.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Injection · the general lesson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Injection is not tied to a language; it is tied to a </a:t>
            </a:r>
            <a:r>
              <a:rPr sz="2000" b="1">
                <a:solidFill>
                  <a:srgbClr val="1F2D3A"/>
                </a:solidFill>
              </a:rPr>
              <a:t>pattern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Recognise the pattern: "is user data going to an interpreter as a command?"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Once recognised, the fix is ready: separate.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Classic Mistakes — Summary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27212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89254"/>
                <a:gridCol w="991957"/>
                <a:gridCol w="5230322"/>
              </a:tblGrid>
              <a:tr h="453542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Mistake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Section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Rule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45354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Building SQL/commands with string concatenation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2, 3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Use a parameterised query / an argument array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5354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eval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/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pickle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/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readObject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with untrusted data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5, 7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Use a data format + schema, never execute it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5354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Leaving external entities open in XML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Disable external entities and DOCTYPE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5354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Protecting everything with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-keep *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9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Keep only the entry points that are genuinely required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53544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Not scanning dependencies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Produce an SBOM, scan continuously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4156862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All five were covered earlier in this deck; here they are gathered in one glance.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Project · S9/S13 (the Java side)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72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 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 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 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 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-keep</a:t>
            </a:r>
            <a:r>
              <a:rPr sz="2000" b="0">
                <a:solidFill>
                  <a:srgbClr val="1F2D3A"/>
                </a:solidFill>
              </a:rPr>
              <a:t> only the entry points that are needed.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strings</a:t>
            </a:r>
            <a:r>
              <a:rPr sz="2000" b="0">
                <a:solidFill>
                  <a:srgbClr val="1F2D3A"/>
                </a:solidFill>
              </a:rPr>
              <a:t>/a decompiler.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Question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Which error class does a managed language solve, and which does it not?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Answer:</a:t>
            </a:r>
            <a:r>
              <a:rPr sz="2000" b="0">
                <a:solidFill>
                  <a:srgbClr val="1F2D3A"/>
                </a:solidFill>
              </a:rPr>
              <a:t> It largely solves memory bugs (overflow, UAF). It </a:t>
            </a:r>
            <a:r>
              <a:rPr sz="2000" b="1">
                <a:solidFill>
                  <a:srgbClr val="1F2D3A"/>
                </a:solidFill>
              </a:rPr>
              <a:t>does not</a:t>
            </a:r>
            <a:r>
              <a:rPr sz="2000" b="0">
                <a:solidFill>
                  <a:srgbClr val="1F2D3A"/>
                </a:solidFill>
              </a:rPr>
              <a:t> solve injection, logic/authorisation errors, dependency, and deserialisation attacks.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Question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Why does `' OR '1'='1` return all rows?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Answer:</a:t>
            </a:r>
            <a:r>
              <a:rPr sz="2000" b="0">
                <a:solidFill>
                  <a:srgbClr val="1F2D3A"/>
                </a:solidFill>
              </a:rPr>
              <a:t> The input enters the query through string concatenation; the quote closes the data, and </a:t>
            </a:r>
            <a:r>
              <a:rPr sz="2000" b="0">
                <a:solidFill>
                  <a:srgbClr val="A1123F"/>
                </a:solidFill>
                <a:latin typeface="Consolas"/>
              </a:rPr>
              <a:t>OR '1'='1'</a:t>
            </a:r>
            <a:r>
              <a:rPr sz="2000" b="0">
                <a:solidFill>
                  <a:srgbClr val="1F2D3A"/>
                </a:solidFill>
              </a:rPr>
              <a:t> is always true. A parameterised query prevents this.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Question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How does `ProcessBuilder` prevent command injection?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Answer:</a:t>
            </a:r>
            <a:r>
              <a:rPr sz="2000" b="0">
                <a:solidFill>
                  <a:srgbClr val="1F2D3A"/>
                </a:solidFill>
              </a:rPr>
              <a:t> It supplies arguments as an </a:t>
            </a:r>
            <a:r>
              <a:rPr sz="2000" b="1">
                <a:solidFill>
                  <a:srgbClr val="1F2D3A"/>
                </a:solidFill>
              </a:rPr>
              <a:t>array</a:t>
            </a:r>
            <a:r>
              <a:rPr sz="2000" b="0">
                <a:solidFill>
                  <a:srgbClr val="1F2D3A"/>
                </a:solidFill>
              </a:rPr>
              <a:t> without using a shell; metacharacters (</a:t>
            </a:r>
            <a:r>
              <a:rPr sz="2000" b="0">
                <a:solidFill>
                  <a:srgbClr val="A1123F"/>
                </a:solidFill>
                <a:latin typeface="Consolas"/>
              </a:rPr>
              <a:t>;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|</a:t>
            </a:r>
            <a:r>
              <a:rPr sz="2000" b="0">
                <a:solidFill>
                  <a:srgbClr val="1F2D3A"/>
                </a:solidFill>
              </a:rPr>
              <a:t>) are not interpreted, and the input stays a single argument.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Question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Which two steps close off path traversal?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Answer:</a:t>
            </a:r>
            <a:r>
              <a:rPr sz="2000" b="0">
                <a:solidFill>
                  <a:srgbClr val="1F2D3A"/>
                </a:solidFill>
              </a:rPr>
              <a:t> Canonicalisation (</a:t>
            </a:r>
            <a:r>
              <a:rPr sz="2000" b="0">
                <a:solidFill>
                  <a:srgbClr val="A1123F"/>
                </a:solidFill>
                <a:latin typeface="Consolas"/>
              </a:rPr>
              <a:t>normalize</a:t>
            </a:r>
            <a:r>
              <a:rPr sz="2000" b="0">
                <a:solidFill>
                  <a:srgbClr val="1F2D3A"/>
                </a:solidFill>
              </a:rPr>
              <a:t>/</a:t>
            </a:r>
            <a:r>
              <a:rPr sz="2000" b="0">
                <a:solidFill>
                  <a:srgbClr val="A1123F"/>
                </a:solidFill>
                <a:latin typeface="Consolas"/>
              </a:rPr>
              <a:t>toRealPath</a:t>
            </a:r>
            <a:r>
              <a:rPr sz="2000" b="0">
                <a:solidFill>
                  <a:srgbClr val="1F2D3A"/>
                </a:solidFill>
              </a:rPr>
              <a:t>) + a root check (</a:t>
            </a:r>
            <a:r>
              <a:rPr sz="2000" b="0">
                <a:solidFill>
                  <a:srgbClr val="A1123F"/>
                </a:solidFill>
                <a:latin typeface="Consolas"/>
              </a:rPr>
              <a:t>startsWith(kok)</a:t>
            </a:r>
            <a:r>
              <a:rPr sz="2000" b="0">
                <a:solidFill>
                  <a:srgbClr val="1F2D3A"/>
                </a:solidFill>
              </a:rPr>
              <a:t>). Plus a file-name allow list.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Question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Why is unsafe deserialisation dangerous? The fix?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Answer:</a:t>
            </a:r>
            <a:r>
              <a:rPr sz="2000" b="0">
                <a:solidFill>
                  <a:srgbClr val="1F2D3A"/>
                </a:solidFill>
              </a:rPr>
              <a:t> Object methods run while unpacking; code can be run through a gadget chain. Fix: a data format + schema instead of native serialisation; if you must, an </a:t>
            </a:r>
            <a:r>
              <a:rPr sz="2000" b="0">
                <a:solidFill>
                  <a:srgbClr val="A1123F"/>
                </a:solidFill>
                <a:latin typeface="Consolas"/>
              </a:rPr>
              <a:t>ObjectInputFilter</a:t>
            </a:r>
            <a:r>
              <a:rPr sz="2000" b="0">
                <a:solidFill>
                  <a:srgbClr val="1F2D3A"/>
                </a:solidFill>
              </a:rPr>
              <a:t> allow list.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Question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What is XXE, and which setting disables it?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Answer:</a:t>
            </a:r>
            <a:r>
              <a:rPr sz="2000" b="0">
                <a:solidFill>
                  <a:srgbClr val="1F2D3A"/>
                </a:solidFill>
              </a:rPr>
              <a:t> Abuse of XML external entities (file reading/SSRF). The parser setting that disables external entities and DOCTYPE.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Question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What are ReDoS and prototype pollution?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Answer:</a:t>
            </a:r>
            <a:r>
              <a:rPr sz="2000" b="0">
                <a:solidFill>
                  <a:srgbClr val="1F2D3A"/>
                </a:solidFill>
              </a:rPr>
              <a:t> ReDoS: a bad regex spending exponential time (DoS). Prototype pollution: corrupting all objects through </a:t>
            </a:r>
            <a:r>
              <a:rPr sz="2000" b="0">
                <a:solidFill>
                  <a:srgbClr val="A1123F"/>
                </a:solidFill>
                <a:latin typeface="Consolas"/>
              </a:rPr>
              <a:t>__proto__</a:t>
            </a:r>
            <a:r>
              <a:rPr sz="2000" b="0">
                <a:solidFill>
                  <a:srgbClr val="1F2D3A"/>
                </a:solidFill>
              </a:rPr>
              <a:t> in JS. Both need input validation + a safe API.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Question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Why does Java bytecode need obfuscation more than most?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Answer:</a:t>
            </a:r>
            <a:r>
              <a:rPr sz="2000" b="0">
                <a:solidFill>
                  <a:srgbClr val="1F2D3A"/>
                </a:solidFill>
              </a:rPr>
              <a:t> Bytecode is high-level and carries type and name information; it decompiles very close to the source. Names/strings appear in the clear.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Question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What is the `-keep` balance?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Answer:</a:t>
            </a:r>
            <a:r>
              <a:rPr sz="2000" b="0">
                <a:solidFill>
                  <a:srgbClr val="1F2D3A"/>
                </a:solidFill>
              </a:rPr>
              <a:t> Too little </a:t>
            </a:r>
            <a:r>
              <a:rPr sz="2000" b="0">
                <a:solidFill>
                  <a:srgbClr val="A1123F"/>
                </a:solidFill>
                <a:latin typeface="Consolas"/>
              </a:rPr>
              <a:t>-keep</a:t>
            </a:r>
            <a:r>
              <a:rPr sz="2000" b="0">
                <a:solidFill>
                  <a:srgbClr val="1F2D3A"/>
                </a:solidFill>
              </a:rPr>
              <a:t> → reflection breaks, the application crashes. Too much → obfuscation is weakened. Only the entry points genuinely called through reflection are kept.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Question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Does string obfuscation keep a key secret in Java?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Answer:</a:t>
            </a:r>
            <a:r>
              <a:rPr sz="2000" b="0">
                <a:solidFill>
                  <a:srgbClr val="1F2D3A"/>
                </a:solidFill>
              </a:rPr>
              <a:t> No. It stops </a:t>
            </a:r>
            <a:r>
              <a:rPr sz="2000" b="0">
                <a:solidFill>
                  <a:srgbClr val="A1123F"/>
                </a:solidFill>
                <a:latin typeface="Consolas"/>
              </a:rPr>
              <a:t>strings</a:t>
            </a:r>
            <a:r>
              <a:rPr sz="2000" b="0">
                <a:solidFill>
                  <a:srgbClr val="1F2D3A"/>
                </a:solidFill>
              </a:rPr>
              <a:t>/static scanning, but the decoded string is in the clear in memory, and the decoding code is in the bytecode. A key needs different protection.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Question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What are SBOM and VEX for?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Answer:</a:t>
            </a:r>
            <a:r>
              <a:rPr sz="2000" b="0">
                <a:solidFill>
                  <a:srgbClr val="1F2D3A"/>
                </a:solidFill>
              </a:rPr>
              <a:t> An SBOM is the component list; when a flaw is announced it tells you quickly whether you are affected. VEX states whether the flaw is exploitable, reducing noise.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Question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What is the common root and fix of every injection type?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Answer:</a:t>
            </a:r>
            <a:r>
              <a:rPr sz="2000" b="0">
                <a:solidFill>
                  <a:srgbClr val="1F2D3A"/>
                </a:solidFill>
              </a:rPr>
              <a:t> Root: data mixing with command. Fix: </a:t>
            </a:r>
            <a:r>
              <a:rPr sz="2000" b="1">
                <a:solidFill>
                  <a:srgbClr val="1F2D3A"/>
                </a:solidFill>
              </a:rPr>
              <a:t>separating</a:t>
            </a:r>
            <a:r>
              <a:rPr sz="2000" b="0">
                <a:solidFill>
                  <a:srgbClr val="1F2D3A"/>
                </a:solidFill>
              </a:rPr>
              <a:t> data from code (a parameterised/argument-array API), not building a command with string concatenation.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Glossary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547816" cy="24030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82755"/>
                <a:gridCol w="6365061"/>
              </a:tblGrid>
              <a:tr h="343291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Term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Meaning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Injection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Data = command mixing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Parameterised query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Data is bound separately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Deserialisation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Bytes → object (risky)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XXE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Abuse of an XML external entity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R8/ProGuard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Shrinking + name obfuscation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SBOM/VEX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Component list / exploitability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006D77"/>
                </a:solidFill>
              </a:rPr>
              <a:t>Next Week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Week 6 — RASP and Run-Time Protection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51808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This week we used obfuscation and shrinking to make bytecode harder to read </a:t>
            </a:r>
            <a:r>
              <a:rPr sz="2000" b="1">
                <a:solidFill>
                  <a:srgbClr val="1F2D3A"/>
                </a:solidFill>
              </a:rPr>
              <a:t>statically</a:t>
            </a:r>
            <a:r>
              <a:rPr sz="2000" b="0">
                <a:solidFill>
                  <a:srgbClr val="1F2D3A"/>
                </a:solidFill>
              </a:rPr>
              <a:t>; but an attacker can also examine an application </a:t>
            </a:r>
            <a:r>
              <a:rPr sz="2000" b="1">
                <a:solidFill>
                  <a:srgbClr val="1F2D3A"/>
                </a:solidFill>
              </a:rPr>
              <a:t>while it runs</a:t>
            </a:r>
            <a:r>
              <a:rPr sz="2000" b="0">
                <a:solidFill>
                  <a:srgbClr val="1F2D3A"/>
                </a:solidFill>
              </a:rPr>
              <a:t> (attaching a debugger, dumping memory, installing a hook).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197855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In Week 6 we will see how an application verifies itself at run time with RASP (Runtime Application Self-Protection), and how it detects debuggers and hooks — the next layer built on top of this week's static defences.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CEN429 Week 5 — Code Hardening: Java and Interpreted Languages</dc:title>
  <dc:subject/>
  <dc:creator>Asst. Prof. Dr. Uğur CORUH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