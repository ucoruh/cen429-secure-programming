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is not a lecture but a demonstration week: each team shows the midterm sections of its security guide and its working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Midterm Project Demonstrations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30.10.2026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Week: Midterm Project Demonstrations (RAP1)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lecture; each team </a:t>
            </a:r>
            <a:r>
              <a:rPr sz="2000" b="1">
                <a:solidFill>
                  <a:srgbClr val="1F2D3A"/>
                </a:solidFill>
              </a:rPr>
              <a:t>submits its interim report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demonstrates its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RAP1 = </a:t>
            </a:r>
            <a:r>
              <a:rPr sz="2000" b="1">
                <a:solidFill>
                  <a:srgbClr val="1F2D3A"/>
                </a:solidFill>
              </a:rPr>
              <a:t>60%</a:t>
            </a:r>
            <a:r>
              <a:rPr sz="2000" b="0">
                <a:solidFill>
                  <a:srgbClr val="1F2D3A"/>
                </a:solidFill>
              </a:rPr>
              <a:t> of the midterm · Quiz-1 = </a:t>
            </a:r>
            <a:r>
              <a:rPr sz="2000" b="1">
                <a:solidFill>
                  <a:srgbClr val="1F2D3A"/>
                </a:solidFill>
              </a:rPr>
              <a:t>40%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Grade_Midterm = 0.6·RAP1 + 0.4·QUIZ1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Detailed rubric: project guide · order, timing, submission time: in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Late submissions are not accepted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Midterm Rubric: Five Criteria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852"/>
                <a:gridCol w="743968"/>
                <a:gridCol w="6695714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S2 · S3 interface table · S4 threat/attacker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security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asset list · S7 shell matrix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C/C++ hardening and 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(basic) · S10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management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process, SBOM · GitHub repo and plan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Interim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All midterm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2892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Evidence = the relevant guide section + code + test output; show at least one control for every threat.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the Rubric Is Read — Diagram</a:t>
            </a:r>
          </a:p>
        </p:txBody>
      </p:sp>
      <p:pic>
        <p:nvPicPr>
          <p:cNvPr id="7" name="Picture 6" descr="h07-04-rubr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397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Sections in the Interim Report?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027"/>
                <a:gridCol w="5079507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Draft / brief / plan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S0 cover · S2 overview · S3 architecture · S4 threat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scope (draft) · S5 assets (draft)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data security · S10 RASP · S13 process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hardening (basic) · S12 reporting (brief)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testing (plan) · S17 compliance matrix (draft)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Left for the final: S6 · S8 · S11 · S14 · S15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RAP1 Submission — Diagram</a:t>
            </a:r>
          </a:p>
        </p:txBody>
      </p:sp>
      <p:pic>
        <p:nvPicPr>
          <p:cNvPr id="7" name="Picture 6" descr="h07-02-r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058" y="1325880"/>
            <a:ext cx="83775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Preparation Checklist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83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866"/>
                <a:gridCol w="9992668"/>
              </a:tblGrid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you should be able to show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Repo + plan · S2 · S3 interface table · S4 STRIDE + attack tree · S5 draft (C/I/I+)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 threat → CWE + CVSS v3.1 vector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algorithm/key/binding · shell matrix · CSPRNG · AEAD verification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protection table · CERT findings · ASan+UBSan · fuzz result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 + scan · input validation 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 RASP inventory · response policy · a bypass attempt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Suggested Demonstration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Product and architecture</a:t>
            </a:r>
            <a:r>
              <a:rPr sz="1800" b="0">
                <a:solidFill>
                  <a:srgbClr val="1F2D3A"/>
                </a:solidFill>
              </a:rPr>
              <a:t> (S2–S3, ~2 min): one diagram, trust boundaries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Threats and assets</a:t>
            </a:r>
            <a:r>
              <a:rPr sz="1800" b="0">
                <a:solidFill>
                  <a:srgbClr val="1F2D3A"/>
                </a:solidFill>
              </a:rPr>
              <a:t> (S4–S5): the three most critical threats, a control for each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Live demonstration:</a:t>
            </a:r>
            <a:r>
              <a:rPr sz="1800" b="0">
                <a:solidFill>
                  <a:srgbClr val="1F2D3A"/>
                </a:solidFill>
              </a:rPr>
              <a:t> at least one control </a:t>
            </a:r>
            <a:r>
              <a:rPr sz="1800" b="1">
                <a:solidFill>
                  <a:srgbClr val="1F2D3A"/>
                </a:solidFill>
              </a:rPr>
              <a:t>working live</a:t>
            </a:r>
            <a:r>
              <a:rPr sz="1800" b="0">
                <a:solidFill>
                  <a:srgbClr val="1F2D3A"/>
                </a:solidFill>
              </a:rPr>
              <a:t> (e.g. encrypted data, signature verification, a RASP trigger) — backup video + commands ready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Evidence:</a:t>
            </a:r>
            <a:r>
              <a:rPr sz="1800" b="0">
                <a:solidFill>
                  <a:srgbClr val="1F2D3A"/>
                </a:solidFill>
              </a:rPr>
              <a:t> protection table, sanitizer/fuzz, SBOM — command + output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Remaining risk and plan:</a:t>
            </a:r>
            <a:r>
              <a:rPr sz="1800" b="0">
                <a:solidFill>
                  <a:srgbClr val="1F2D3A"/>
                </a:solidFill>
              </a:rPr>
              <a:t> what remains before the final? (honest analysis earns points)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387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For every control: </a:t>
            </a:r>
            <a:r>
              <a:rPr sz="1800" b="1">
                <a:solidFill>
                  <a:srgbClr val="1F2D3A"/>
                </a:solidFill>
              </a:rPr>
              <a:t>What does it protect? · How was it built? · How was it proven?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Demonstration Day Flow — Diagram</a:t>
            </a:r>
          </a:p>
        </p:txBody>
      </p:sp>
      <p:pic>
        <p:nvPicPr>
          <p:cNvPr id="7" name="Picture 6" descr="h07-01-gosterim-ak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2164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Sample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Which flow crossing a trust boundary is the riskiest?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How long does this asset stay unencrypted in memory, and where is it wiped?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Where does the key come from, where does it live, when is it deleted? Can the nonce repeat?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Which compiler protection is turned off, and why?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What happens when a RASP check fails?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Does the SBOM contain a vulnerable component? Are you affected?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What are your three most critical assets, their C/I/I+ labels, and their lifecycle?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Which control addresses a given threat, and how was it verified? (threat → control → evidence)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What is your remaining risk, and why is it acceptable? (answer honestly and with justification)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Common Mistakes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4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1746"/>
                <a:gridCol w="4959788"/>
              </a:tblGrid>
              <a:tr h="36758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Why is it a problem?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Guide and code are inconsistent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One of the most serious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"Secure" claimed without evidence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scored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Keys/logs/code missing from the asset 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What is not in the list is not protected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Threat table from general knowledge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Project-specific threats get missed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Unrehearsed demonstration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Time is wasted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Real password/key/personal data in the repo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serious security mistake; values must be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synthetic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Live demo crashes with no backup / remaining-risk section left empty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Looks like a lack of preparation and honest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Common Mistakes — Diagram</a:t>
            </a:r>
          </a:p>
        </p:txBody>
      </p:sp>
      <p:pic>
        <p:nvPicPr>
          <p:cNvPr id="7" name="Picture 6" descr="h07-03-sik-hat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813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Academic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Uncredited code/text, work from outside the team, fabricated results </a:t>
            </a:r>
            <a:r>
              <a:rPr sz="2000" b="1">
                <a:solidFill>
                  <a:srgbClr val="1F2D3A"/>
                </a:solidFill>
              </a:rPr>
              <a:t>are not acceptable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submitted line must be explainable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Any team member should be able to present their own section; anyone may be asked a question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After the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the feedback as a </a:t>
            </a:r>
            <a:r>
              <a:rPr sz="2000" b="1">
                <a:solidFill>
                  <a:srgbClr val="1F2D3A"/>
                </a:solidFill>
              </a:rPr>
              <a:t>finding list</a:t>
            </a:r>
            <a:r>
              <a:rPr sz="2000" b="0">
                <a:solidFill>
                  <a:srgbClr val="1F2D3A"/>
                </a:solidFill>
              </a:rPr>
              <a:t> (finding · severity · fix · date) → a small model of Week 12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Final sections: S6 · S8 · S11 · S14 · S15 · S16 results · S17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908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demonstration is a presentation of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: every claim should be backed by a document, a test, or live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 8 — Midterm Exam Week: Quiz-1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Scope: weeks 1–6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Study guide and sample questions: Week 8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7 — Midterm Project Demonstrations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