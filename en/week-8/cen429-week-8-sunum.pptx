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Quiz-1 week: we review the concepts of weeks 1-6; this deck is a study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1) sprintf overflow (STR31-C, use snprintf) + syslog format string (FIO30-C, use "%s"). 2) memset can be removed by the compiler (MSC06-C) → use explicit_bzero/SecureZeroMemory.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1) SQL injection; the definitive fix is a parameterised query (PreparedStatement) — data is never interpreted as a command, no string concatenation. 2) The plaintext is used before the tag is verified, and the return value of Final is never checked. 3) Fail-open: the error is swallowed and the connection is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Answers are on the Week 8 page, in collapsible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Midterm Exam Week: Quiz-1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31.10–08.11.2026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Quiz-1: What, When?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Scope: </a:t>
            </a:r>
            <a:r>
              <a:rPr sz="2000" b="1">
                <a:solidFill>
                  <a:srgbClr val="1F2D3A"/>
                </a:solidFill>
              </a:rPr>
              <a:t>weeks 1–6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1">
                <a:solidFill>
                  <a:srgbClr val="1F2D3A"/>
                </a:solidFill>
              </a:rPr>
              <a:t>40%</a:t>
            </a:r>
            <a:r>
              <a:rPr sz="2000" b="0">
                <a:solidFill>
                  <a:srgbClr val="1F2D3A"/>
                </a:solidFill>
              </a:rPr>
              <a:t> of the midterm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Date, time, place, duration, question format: announced </a:t>
            </a:r>
            <a:r>
              <a:rPr sz="2000" b="1">
                <a:solidFill>
                  <a:srgbClr val="1F2D3A"/>
                </a:solidFill>
              </a:rPr>
              <a:t>in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What's measured: not memorization, but the </a:t>
            </a:r>
            <a:r>
              <a:rPr sz="2000" b="1">
                <a:solidFill>
                  <a:srgbClr val="1F2D3A"/>
                </a:solidFill>
              </a:rPr>
              <a:t>why</a:t>
            </a:r>
            <a:r>
              <a:rPr sz="2000" b="0">
                <a:solidFill>
                  <a:srgbClr val="1F2D3A"/>
                </a:solidFill>
              </a:rPr>
              <a:t> question — learn frequently confused concepts by their reason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preparation: work through each week's </a:t>
            </a:r>
            <a:r>
              <a:rPr sz="2000" b="1">
                <a:solidFill>
                  <a:srgbClr val="1F2D3A"/>
                </a:solidFill>
              </a:rPr>
              <a:t>Self-check</a:t>
            </a:r>
            <a:r>
              <a:rPr sz="2000" b="0">
                <a:solidFill>
                  <a:srgbClr val="1F2D3A"/>
                </a:solidFill>
              </a:rPr>
              <a:t> questions without looking at the answers, then rerun the demos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Review the </a:t>
            </a:r>
            <a:r>
              <a:rPr sz="2000" b="1">
                <a:solidFill>
                  <a:srgbClr val="1F2D3A"/>
                </a:solidFill>
              </a:rPr>
              <a:t>Week 3 and Week 4</a:t>
            </a:r>
            <a:r>
              <a:rPr sz="2000" b="0">
                <a:solidFill>
                  <a:srgbClr val="1F2D3A"/>
                </a:solidFill>
              </a:rPr>
              <a:t> demos once more in particular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Topic Map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29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594"/>
                <a:gridCol w="10512940"/>
              </a:tblGrid>
              <a:tr h="73243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Core concepts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7324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CIA · asset–threat–vulnerability–risk · white-box · Saltzer–Schroeder · 7 layers · 7-step protection plan · interface/asset table · STRIDE, DFD · attack tree · secure startup · memory errors · secure erasure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24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Virus/worm/trojan · outbreak · rule-based detection · integrity monitoring · BLP, Biba, Clark–Wilson · Unix/Windows ACL · RBAC · CWE, OWASP, CVE, CVSS · log injection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7324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 · digest/MAC/signature · CSPRNG · nonce/IV/salt · ECB · Argon2id · HKDF · key lifecycle · TLS 1.3 · pinning · fail-open · masking · shells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6534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>
                <a:solidFill>
                  <a:srgbClr val="1F2D3A"/>
                </a:solidFill>
              </a:rPr>
              <a:t>Note: Week 2 — trust boundary and the least-privilege principle.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Topic Map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29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748"/>
                <a:gridCol w="10487786"/>
              </a:tblGrid>
              <a:tr h="73243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Core concepts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7324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SEI CERT · input validation · format string · UAF · integer/UB · error handling, signals · static analysis · sanitizers · fuzzing · canary/FORTIFY/ASLR/NX/RELRO/CFI · introduction to 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243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Managed language · CERT Java · injection root cause · SQL/command/path · deserialisation · XXE/XSS · Python/JS, ReDoS · bytecode · ProGuard/R8 · SBOM, VEX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7324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Detection–defence–deterrence · MATE · RASP architecture · integrity · debugger/environment/hook · memory protection · root/signature · flow counter · response, decoy, device 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65345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>
                <a:solidFill>
                  <a:srgbClr val="1F2D3A"/>
                </a:solidFill>
              </a:rPr>
              <a:t>Note: Week 4 — three layers (code → compiler/OS → obfuscation); Week 5 — a managed language solves memory errors, not injection.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Quiz-1 Scope — Diagram</a:t>
            </a:r>
          </a:p>
        </p:txBody>
      </p:sp>
      <p:pic>
        <p:nvPicPr>
          <p:cNvPr id="7" name="Picture 6" descr="h08-01-kaps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89" y="1325880"/>
            <a:ext cx="824931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Frequently Confused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4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566"/>
                <a:gridCol w="2933208"/>
                <a:gridCol w="5631760"/>
              </a:tblGrid>
              <a:tr h="36758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Difference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Encoding is keyless, no confidentiality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 requires a secret key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 is asymmetric → non-repudiation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 never repeats · salt is per password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PBKDF2/Argon2id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HKDF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Password (slow) · high-entropy secret (fast)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Chain validation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Hostname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"Trusted CA?" · "For this server?"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Fail-open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 error "pass" · on error "reject"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Frequently Confused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369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805"/>
                <a:gridCol w="2376770"/>
                <a:gridCol w="6049960"/>
              </a:tblGrid>
              <a:tr h="4102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Difference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ASLR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Overflow detection on return · address randomisation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UBSan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access · undefined behaviour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Unsigned wraparound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Signed overflow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Defined ·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undefined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Parameterised query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Escaping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real fix · a second line of defence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ProGuard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String 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Names · strings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coding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Delays · fixes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Tokenization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Hide on display · token bound to a vaulted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Pseudonym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Anonymous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Still personal data · cannot be linked to a person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Frequently Confused (3)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18409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165"/>
                <a:gridCol w="3637178"/>
                <a:gridCol w="418275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Difference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Vulnerability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exploitable bug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Black-box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White-box (MATE)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Has the program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Symmetric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Asymmetric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Single / paired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Encryption only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integrity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Types — Diagram</a:t>
            </a:r>
          </a:p>
        </p:txBody>
      </p:sp>
      <p:pic>
        <p:nvPicPr>
          <p:cNvPr id="7" name="Picture 6" descr="h08-02-soru-tip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3809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One-Week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4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09"/>
                <a:gridCol w="9893125"/>
              </a:tblGrid>
              <a:tr h="36758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to do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1: STRIDE, attack tree, protection plan · Demo 1–4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2: BLP, Biba, Clark–Wilson · score a CVSS vector yourself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3 (1): AEAD, nonce, KDF, random numbers · Demo 1–5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3 (2): key management, TLS, pinning, shells · Demo 6–9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4: CERT pairs, format string, UAF, UB, protections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Weeks 5–6: injection, deserialisation, ProGuard, SBOM, RASP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Work through sample questions against the clock, review mistakes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Midterm Grade Calculation — Diagram</a:t>
            </a:r>
          </a:p>
        </p:txBody>
      </p:sp>
      <p:pic>
        <p:nvPicPr>
          <p:cNvPr id="7" name="Picture 6" descr="h08-03-vize-he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940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Study Plan — Diagram</a:t>
            </a:r>
          </a:p>
        </p:txBody>
      </p:sp>
      <p:pic>
        <p:nvPicPr>
          <p:cNvPr id="7" name="Picture 6" descr="h08-04-calisma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453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a MATE attacker make cryptography alone insufficient?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key sits in memory; the attacker can run the program and read it. Cryptography provides confidentiality, but in a white-box setting the key is not protected; RASP/obfuscation/white-box cryptography is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happens if the same nonce is used twice in AES-GCM?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Confidentiality and integrity collapse; the keystream and data can leak. The nonce must always be unique.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overflow can ASan not see?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field-to-field overflow within the same structure (there is no poisoned region in between).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a canary stop, and what does it not stop?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Stops: a stack overflow that reaches the return address. Does not stop: heap overflow, variables before the canary, a leaked canary.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RASP self-hashing not enough on its own?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attacker can find the digest function and bypass it. Obfuscation + cross-checking + overlapping checks are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a KDF and a salt when deriving a key from a password?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password has low entropy; the KDF slows down guessing, and the salt stops identical passwords from producing the same key (rainbow table).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 example of the least-privilege principle?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application's DB user should only be able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</a:t>
            </a:r>
            <a:r>
              <a:rPr sz="2000" b="0">
                <a:solidFill>
                  <a:srgbClr val="1F2D3A"/>
                </a:solidFill>
              </a:rPr>
              <a:t>; it should not have </a:t>
            </a:r>
            <a:r>
              <a:rPr sz="2000" b="0">
                <a:solidFill>
                  <a:srgbClr val="A1123F"/>
                </a:solidFill>
                <a:latin typeface="Consolas"/>
              </a:rPr>
              <a:t>DROP</a:t>
            </a:r>
            <a:r>
              <a:rPr sz="2000" b="0">
                <a:solidFill>
                  <a:srgbClr val="1F2D3A"/>
                </a:solidFill>
              </a:rPr>
              <a:t> privilege. Excess privilege = greater damage.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"E" in STRIDE, and one control for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Elevation of privilege. Control: least privilege, authorization checks, secure defaults.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deserialisation dangerous, and what is the fix?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Code can execute during extraction (a gadget chain). Fix: a data format + schema; an allowlist filter if unavoidable.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· Multiple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of the following is an AEAD mode?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A) ECB B) CBC C) </a:t>
            </a:r>
            <a:r>
              <a:rPr sz="2000" b="1">
                <a:solidFill>
                  <a:srgbClr val="1F2D3A"/>
                </a:solidFill>
              </a:rPr>
              <a:t>GCM</a:t>
            </a:r>
            <a:r>
              <a:rPr sz="2000" b="0">
                <a:solidFill>
                  <a:srgbClr val="1F2D3A"/>
                </a:solidFill>
              </a:rPr>
              <a:t> ✓ D) Raw RSA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 · True/False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fixes the bug. </a:t>
            </a:r>
            <a:r>
              <a:rPr sz="2000" b="1">
                <a:solidFill>
                  <a:srgbClr val="1F2D3A"/>
                </a:solidFill>
              </a:rPr>
              <a:t>(F)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nonce must be secret. </a:t>
            </a:r>
            <a:r>
              <a:rPr sz="2000" b="1">
                <a:solidFill>
                  <a:srgbClr val="1F2D3A"/>
                </a:solidFill>
              </a:rPr>
              <a:t>(F — must be unique, not secret)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parameterised query prevents SQL injection. </a:t>
            </a:r>
            <a:r>
              <a:rPr sz="2000" b="1">
                <a:solidFill>
                  <a:srgbClr val="1F2D3A"/>
                </a:solidFill>
              </a:rPr>
              <a:t>(T)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Example: Find the Bug (1)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kaydet(const char *ad)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char tampon[32];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sprintf(tampon, "kullanici=%s", ad);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syslog(LOG_INFO, tampon);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10911535" cy="6144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char parola[64];  oku(parola, sizeof parola);  dogrula(parola);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memset(parola, 0, sizeof parola);  return;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Example: Find the Bug (2)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4439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String sql = "SELECT * FROM notlar WHERE ogrenci = '" + no + "'";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80006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EVP_DecryptUpdate(ctx, acik, &amp;n, sifreli, sifreli_n);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kullan(acik, 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EVP_DecryptFinal_ex(ctx, acik + n, &amp;m);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74289"/>
            <a:ext cx="10911535" cy="44439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try { pinDenetle(zincir); } catch (KeyStoreException e) { e.printStackTrace();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Example: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same </a:t>
            </a:r>
            <a:r>
              <a:rPr sz="2000" b="1">
                <a:solidFill>
                  <a:srgbClr val="1F2D3A"/>
                </a:solidFill>
              </a:rPr>
              <a:t>embedded AES key</a:t>
            </a:r>
            <a:r>
              <a:rPr sz="2000" b="0">
                <a:solidFill>
                  <a:srgbClr val="1F2D3A"/>
                </a:solidFill>
              </a:rPr>
              <a:t> on every user's device: risks and recommendation?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 shipped package is a </a:t>
            </a:r>
            <a:r>
              <a:rPr sz="2000" b="1">
                <a:solidFill>
                  <a:srgbClr val="1F2D3A"/>
                </a:solidFill>
              </a:rPr>
              <a:t>debug build</a:t>
            </a:r>
            <a:r>
              <a:rPr sz="2000" b="0">
                <a:solidFill>
                  <a:srgbClr val="1F2D3A"/>
                </a:solidFill>
              </a:rPr>
              <a:t>: which findings?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"I did not make this transaction": which STRIDE letter, which evidence?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A function that extracts an archive: which bugs do you guard against?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What was the real problem in Log4Shell, what would have prevented 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Why shouldn't RASP checks be evaluated with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Word (Quiz-1 Prep)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Not memorization — what's measured is the </a:t>
            </a:r>
            <a:r>
              <a:rPr sz="2000" b="1">
                <a:solidFill>
                  <a:srgbClr val="1F2D3A"/>
                </a:solidFill>
              </a:rPr>
              <a:t>why</a:t>
            </a:r>
            <a:r>
              <a:rPr sz="2000" b="0">
                <a:solidFill>
                  <a:srgbClr val="1F2D3A"/>
                </a:solidFill>
              </a:rPr>
              <a:t>: "why this mode?", "why this check?", "what doesn't it protect?"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Good luck.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 9 — Advanced Code Obfuscation and Diversification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taxonomy, opaque predicates, data encoding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Virtualisation and compiler-based obfuscation (concept)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Measuring obfuscation: potency, resilience,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8 — Midterm Exam Week: Quiz-1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