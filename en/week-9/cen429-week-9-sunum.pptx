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cover advanced code obfuscation rules. Framework: obfuscation does not make something unbreakable, it makes it expensive. We present every technique as a security rule — what it protects, its cost, its limit, how it is measured. Key protection is not obfuscation (week 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Today we take the obfuscation introduction from week 4 to an advanced level and add measurement. Main framework: obfuscation does not give unbreakability, it raises cost. We present every technique as a "rule."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Have the students answer first. Answer: on the attacker's machine, server-side checks no longer apply, unlimited attempts.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have them answer first, then open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have them answer first, then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have them answer first, then open; then move to section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section combines all the rules in a single example; it can be done live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Advanced Obfuscation and Diversification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13.11.2026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914"/>
                <a:gridCol w="1333632"/>
                <a:gridCol w="8607988"/>
              </a:tblGrid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Why is obfuscation a rule? · MATE · taxonomy · rule template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Control-flow rules (K-01…K-06)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4–6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Data rules · virtualisation/dynamic · diversification · measurement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381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 (LO.3):</a:t>
            </a:r>
            <a:r>
              <a:rPr sz="2000" b="0">
                <a:solidFill>
                  <a:srgbClr val="1F2D3A"/>
                </a:solidFill>
              </a:rPr>
              <a:t> write obfuscation as a security rule · state each technique's cost and limit · measure a protection and justify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What We Bring from Earlier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109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The white-box / MATE attacker model</a:t>
            </a:r>
            <a:r>
              <a:rPr sz="1600" b="0">
                <a:solidFill>
                  <a:srgbClr val="1F2D3A"/>
                </a:solidFill>
              </a:rPr>
              <a:t> — the threat model where whoever holds the device is also the attacker </a:t>
            </a:r>
            <a:r>
              <a:rPr sz="1600" b="1">
                <a:solidFill>
                  <a:srgbClr val="1F2D3A"/>
                </a:solidFill>
              </a:rPr>
              <a:t>(Week 1)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Debugger</a:t>
            </a:r>
            <a:r>
              <a:rPr sz="1600" b="0">
                <a:solidFill>
                  <a:srgbClr val="1F2D3A"/>
                </a:solidFill>
              </a:rPr>
              <a:t> — a tool that runs a program step by step and shows variables (gdb, lldb); we saw its run-time detection in the RASP context </a:t>
            </a:r>
            <a:r>
              <a:rPr sz="1600" b="1">
                <a:solidFill>
                  <a:srgbClr val="1F2D3A"/>
                </a:solidFill>
              </a:rPr>
              <a:t>(Week 6)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Entropy</a:t>
            </a:r>
            <a:r>
              <a:rPr sz="1600" b="0">
                <a:solidFill>
                  <a:srgbClr val="1F2D3A"/>
                </a:solidFill>
              </a:rPr>
              <a:t> — a measure of how disordered a data's bytes look; we saw it in detecting encrypted/packed content and in random number generation </a:t>
            </a:r>
            <a:r>
              <a:rPr sz="1600" b="1">
                <a:solidFill>
                  <a:srgbClr val="1F2D3A"/>
                </a:solidFill>
              </a:rPr>
              <a:t>(Weeks 2, 3)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Compiler flags, `strings` and the symbol table</a:t>
            </a:r>
            <a:r>
              <a:rPr sz="1600" b="0">
                <a:solidFill>
                  <a:srgbClr val="1F2D3A"/>
                </a:solidFill>
              </a:rPr>
              <a:t> — compiler options and the tools that list a binary's readable text/name list; the entry-level steps of obfuscation </a:t>
            </a:r>
            <a:r>
              <a:rPr sz="1600" b="1">
                <a:solidFill>
                  <a:srgbClr val="1F2D3A"/>
                </a:solidFill>
              </a:rPr>
              <a:t>(Week 4)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Decompilation</a:t>
            </a:r>
            <a:r>
              <a:rPr sz="1600" b="0">
                <a:solidFill>
                  <a:srgbClr val="1F2D3A"/>
                </a:solidFill>
              </a:rPr>
              <a:t> — turning a binary/bytecode back into something close to readable code; we saw it on JVM bytecode </a:t>
            </a:r>
            <a:r>
              <a:rPr sz="1600" b="1">
                <a:solidFill>
                  <a:srgbClr val="1F2D3A"/>
                </a:solidFill>
              </a:rPr>
              <a:t>(Week 5)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XOR</a:t>
            </a:r>
            <a:r>
              <a:rPr sz="1600" b="0">
                <a:solidFill>
                  <a:srgbClr val="1F2D3A"/>
                </a:solidFill>
              </a:rPr>
              <a:t> — 1 if the two bits differ, 0 if they match; </a:t>
            </a:r>
            <a:r>
              <a:rPr sz="1600" b="0">
                <a:solidFill>
                  <a:srgbClr val="A1123F"/>
                </a:solidFill>
                <a:latin typeface="Consolas"/>
              </a:rPr>
              <a:t>a^b^b=a</a:t>
            </a:r>
            <a:r>
              <a:rPr sz="1600" b="0">
                <a:solidFill>
                  <a:srgbClr val="1F2D3A"/>
                </a:solidFill>
              </a:rPr>
              <a:t> undoes itself; we decoded it by hand in Java string obfuscation </a:t>
            </a:r>
            <a:r>
              <a:rPr sz="1600" b="1">
                <a:solidFill>
                  <a:srgbClr val="1F2D3A"/>
                </a:solidFill>
              </a:rPr>
              <a:t>(Week 5)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Logging</a:t>
            </a:r>
            <a:r>
              <a:rPr sz="1600" b="0">
                <a:solidFill>
                  <a:srgbClr val="1F2D3A"/>
                </a:solidFill>
              </a:rPr>
              <a:t> — the informational messages a program writes while running; if sensitive information ends up in a log, the attacker reads it </a:t>
            </a:r>
            <a:r>
              <a:rPr sz="1600" b="1">
                <a:solidFill>
                  <a:srgbClr val="1F2D3A"/>
                </a:solidFill>
              </a:rPr>
              <a:t>(Week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45328"/>
            <a:ext cx="10911535" cy="373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F2D3A"/>
                </a:solidFill>
              </a:rPr>
              <a:t>This week: we use these tools and concepts at an </a:t>
            </a:r>
            <a:r>
              <a:rPr sz="1600" b="1">
                <a:solidFill>
                  <a:srgbClr val="1F2D3A"/>
                </a:solidFill>
              </a:rPr>
              <a:t>advanced</a:t>
            </a:r>
            <a:r>
              <a:rPr sz="1600" b="0">
                <a:solidFill>
                  <a:srgbClr val="1F2D3A"/>
                </a:solidFill>
              </a:rPr>
              <a:t> level and in a </a:t>
            </a:r>
            <a:r>
              <a:rPr sz="1600" b="1">
                <a:solidFill>
                  <a:srgbClr val="1F2D3A"/>
                </a:solidFill>
              </a:rPr>
              <a:t>measurable</a:t>
            </a:r>
            <a:r>
              <a:rPr sz="1600" b="0">
                <a:solidFill>
                  <a:srgbClr val="1F2D3A"/>
                </a:solidFill>
              </a:rPr>
              <a:t>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800" b="1">
                <a:solidFill>
                  <a:srgbClr val="1F2D3A"/>
                </a:solidFill>
              </a:rPr>
              <a:t>where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3911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62116"/>
                <a:gridCol w="1649418"/>
              </a:tblGrid>
              <a:tr h="35561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 as a security rule, MATE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 taxonomy (five families)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"protection rule" template (protects what/cost/limit/measurement)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Control-flow rules (K-01–K-06)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obfuscation rules (K-07–K-09)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Whole-program rules (K-10–K-12)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Diversification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Obfuscation's four metrics (potency/resilience/stealth/cost)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Deobfuscation (the other side's tools)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Its place in layered defence, project S9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Source Code?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human-readable</a:t>
            </a:r>
            <a:r>
              <a:rPr sz="2000" b="0">
                <a:solidFill>
                  <a:srgbClr val="1F2D3A"/>
                </a:solidFill>
              </a:rPr>
              <a:t> program text that </a:t>
            </a:r>
            <a:r>
              <a:rPr sz="2000" b="1">
                <a:solidFill>
                  <a:srgbClr val="1F2D3A"/>
                </a:solidFill>
              </a:rPr>
              <a:t>you</a:t>
            </a:r>
            <a:r>
              <a:rPr sz="2000" b="0">
                <a:solidFill>
                  <a:srgbClr val="1F2D3A"/>
                </a:solidFill>
              </a:rPr>
              <a:t> write (e.g., a C file).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Example: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topla(int a, int b) { return a + b;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Source code is </a:t>
            </a:r>
            <a:r>
              <a:rPr sz="2000" b="1">
                <a:solidFill>
                  <a:srgbClr val="1F2D3A"/>
                </a:solidFill>
              </a:rPr>
              <a:t>compiled</a:t>
            </a:r>
            <a:r>
              <a:rPr sz="2000" b="0">
                <a:solidFill>
                  <a:srgbClr val="1F2D3A"/>
                </a:solidFill>
              </a:rPr>
              <a:t> and turned into the form the machine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Compiler and Binary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Compiler:</a:t>
            </a:r>
            <a:r>
              <a:rPr sz="2000" b="0">
                <a:solidFill>
                  <a:srgbClr val="1F2D3A"/>
                </a:solidFill>
              </a:rPr>
              <a:t> the program that translates source code into </a:t>
            </a:r>
            <a:r>
              <a:rPr sz="2000" b="1">
                <a:solidFill>
                  <a:srgbClr val="1F2D3A"/>
                </a:solidFill>
              </a:rPr>
              <a:t>machine code</a:t>
            </a:r>
            <a:r>
              <a:rPr sz="2000" b="0">
                <a:solidFill>
                  <a:srgbClr val="1F2D3A"/>
                </a:solidFill>
              </a:rPr>
              <a:t> (gcc, clang).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Binary:</a:t>
            </a:r>
            <a:r>
              <a:rPr sz="2000" b="0">
                <a:solidFill>
                  <a:srgbClr val="1F2D3A"/>
                </a:solidFill>
              </a:rPr>
              <a:t> the result of compilation; the file the computer runs directly (</a:t>
            </a:r>
            <a:r>
              <a:rPr sz="2000" b="0">
                <a:solidFill>
                  <a:srgbClr val="A1123F"/>
                </a:solidFill>
                <a:latin typeface="Consolas"/>
              </a:rPr>
              <a:t>.exe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.so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  <p:pic>
        <p:nvPicPr>
          <p:cNvPr id="8" name="Picture 7" descr="h09-13-derleme-zinci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39288"/>
            <a:ext cx="10911535" cy="30812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Machine Code and 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Machine code:</a:t>
            </a:r>
            <a:r>
              <a:rPr sz="2000" b="0">
                <a:solidFill>
                  <a:srgbClr val="1F2D3A"/>
                </a:solidFill>
              </a:rPr>
              <a:t> the numeric instructions the processor understands.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Assembly:</a:t>
            </a:r>
            <a:r>
              <a:rPr sz="2000" b="0">
                <a:solidFill>
                  <a:srgbClr val="1F2D3A"/>
                </a:solidFill>
              </a:rPr>
              <a:t> a somewhat more human-readable form of machine code (</a:t>
            </a:r>
            <a:r>
              <a:rPr sz="2000" b="0">
                <a:solidFill>
                  <a:srgbClr val="A1123F"/>
                </a:solidFill>
                <a:latin typeface="Consolas"/>
              </a:rPr>
              <a:t>mov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cmp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jmp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what you see when you open a binary.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Reverse Engineering?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Reverse engineering:</a:t>
            </a:r>
            <a:r>
              <a:rPr sz="2000" b="0">
                <a:solidFill>
                  <a:srgbClr val="1F2D3A"/>
                </a:solidFill>
              </a:rPr>
              <a:t> looking at a binary and trying to work out </a:t>
            </a:r>
            <a:r>
              <a:rPr sz="2000" b="1">
                <a:solidFill>
                  <a:srgbClr val="1F2D3A"/>
                </a:solidFill>
              </a:rPr>
              <a:t>what the program does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the attacker's basic job.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Decompiler:</a:t>
            </a:r>
            <a:r>
              <a:rPr sz="2000" b="0">
                <a:solidFill>
                  <a:srgbClr val="1F2D3A"/>
                </a:solidFill>
              </a:rPr>
              <a:t> a tool that turns a binary back into a form close to readable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Examples: Ghidra, 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Goal: someone with no access to the source can infer the logic just by looking at the binary.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Bit, Byte, Hexadecimal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Bit:</a:t>
            </a:r>
            <a:r>
              <a:rPr sz="2000" b="0">
                <a:solidFill>
                  <a:srgbClr val="1F2D3A"/>
                </a:solidFill>
              </a:rPr>
              <a:t> 0 or 1.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Byte:</a:t>
            </a:r>
            <a:r>
              <a:rPr sz="2000" b="0">
                <a:solidFill>
                  <a:srgbClr val="1F2D3A"/>
                </a:solidFill>
              </a:rPr>
              <a:t> 8 bits.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Hexadecimal (hex):</a:t>
            </a:r>
            <a:r>
              <a:rPr sz="2000" b="0">
                <a:solidFill>
                  <a:srgbClr val="1F2D3A"/>
                </a:solidFill>
              </a:rPr>
              <a:t> written with a </a:t>
            </a:r>
            <a:r>
              <a:rPr sz="2000" b="0">
                <a:solidFill>
                  <a:srgbClr val="A1123F"/>
                </a:solidFill>
                <a:latin typeface="Consolas"/>
              </a:rPr>
              <a:t>0x</a:t>
            </a:r>
            <a:r>
              <a:rPr sz="2000" b="0">
                <a:solidFill>
                  <a:srgbClr val="1F2D3A"/>
                </a:solidFill>
              </a:rPr>
              <a:t> prefix; </a:t>
            </a:r>
            <a:r>
              <a:rPr sz="2000" b="0">
                <a:solidFill>
                  <a:srgbClr val="A1123F"/>
                </a:solidFill>
                <a:latin typeface="Consolas"/>
              </a:rPr>
              <a:t>0x2A</a:t>
            </a:r>
            <a:r>
              <a:rPr sz="2000" b="0">
                <a:solidFill>
                  <a:srgbClr val="1F2D3A"/>
                </a:solidFill>
              </a:rPr>
              <a:t> = 42.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 will see values like </a:t>
            </a:r>
            <a:r>
              <a:rPr sz="2000" b="0">
                <a:solidFill>
                  <a:srgbClr val="A1123F"/>
                </a:solidFill>
                <a:latin typeface="Consolas"/>
              </a:rPr>
              <a:t>0x5A</a:t>
            </a:r>
            <a:r>
              <a:rPr sz="2000" b="0">
                <a:solidFill>
                  <a:srgbClr val="1F2D3A"/>
                </a:solidFill>
              </a:rPr>
              <a:t> in the code; these are just numbers.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XOR?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XOR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^</a:t>
            </a:r>
            <a:r>
              <a:rPr sz="2000" b="0">
                <a:solidFill>
                  <a:srgbClr val="1F2D3A"/>
                </a:solidFill>
              </a:rPr>
              <a:t>): 1 if the two bits differ, 0 if they are the same.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Property: </a:t>
            </a:r>
            <a:r>
              <a:rPr sz="2000" b="0">
                <a:solidFill>
                  <a:srgbClr val="A1123F"/>
                </a:solidFill>
                <a:latin typeface="Consolas"/>
              </a:rPr>
              <a:t>a ^ b ^ b == a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it undoes itself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 = a ^ 0x5A;   /* şifrele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 = c ^ 0x5A;   /* geri çöz */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40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is heavily used in obfuscation because it is reversible.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Entropy (Randomness)?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Entropy:</a:t>
            </a:r>
            <a:r>
              <a:rPr sz="2000" b="0">
                <a:solidFill>
                  <a:srgbClr val="1F2D3A"/>
                </a:solidFill>
              </a:rPr>
              <a:t> how "random" a piece of data looks.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Cryptographic keys look </a:t>
            </a:r>
            <a:r>
              <a:rPr sz="2000" b="1">
                <a:solidFill>
                  <a:srgbClr val="1F2D3A"/>
                </a:solidFill>
              </a:rPr>
              <a:t>high-entropy</a:t>
            </a:r>
            <a:r>
              <a:rPr sz="2000" b="0">
                <a:solidFill>
                  <a:srgbClr val="1F2D3A"/>
                </a:solidFill>
              </a:rPr>
              <a:t> (irregular bytes).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an attacker sees a high-entropy block in a binary, they say "there might be a key here."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Function, Branch,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Function:</a:t>
            </a:r>
            <a:r>
              <a:rPr sz="2000" b="0">
                <a:solidFill>
                  <a:srgbClr val="1F2D3A"/>
                </a:solidFill>
              </a:rPr>
              <a:t> a block of code that does one job (</a:t>
            </a:r>
            <a:r>
              <a:rPr sz="2000" b="0">
                <a:solidFill>
                  <a:srgbClr val="A1123F"/>
                </a:solidFill>
                <a:latin typeface="Consolas"/>
              </a:rPr>
              <a:t>erisim_ver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Branch:</a:t>
            </a:r>
            <a:r>
              <a:rPr sz="2000" b="0">
                <a:solidFill>
                  <a:srgbClr val="1F2D3A"/>
                </a:solidFill>
              </a:rPr>
              <a:t> a fork in the road, like an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Condition:</a:t>
            </a:r>
            <a:r>
              <a:rPr sz="2000" b="0">
                <a:solidFill>
                  <a:srgbClr val="1F2D3A"/>
                </a:solidFill>
              </a:rPr>
              <a:t> the expression that decides which way the branch goes.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Basic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Basic block:</a:t>
            </a:r>
            <a:r>
              <a:rPr sz="2000" b="0">
                <a:solidFill>
                  <a:srgbClr val="1F2D3A"/>
                </a:solidFill>
              </a:rPr>
              <a:t> a sequence of instructions that runs straight through, with no branch.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an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 is reached the block ends, and two new blocks begin.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Program = basic blocks wired together.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Control Flow Graph (CFG)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CFG</a:t>
            </a:r>
            <a:r>
              <a:rPr sz="2000" b="0">
                <a:solidFill>
                  <a:srgbClr val="1F2D3A"/>
                </a:solidFill>
              </a:rPr>
              <a:t> (Control Flow Graph): a diagram that makes basic blocks its </a:t>
            </a:r>
            <a:r>
              <a:rPr sz="2000" b="1">
                <a:solidFill>
                  <a:srgbClr val="1F2D3A"/>
                </a:solidFill>
              </a:rPr>
              <a:t>nodes</a:t>
            </a:r>
            <a:r>
              <a:rPr sz="2000" b="0">
                <a:solidFill>
                  <a:srgbClr val="1F2D3A"/>
                </a:solidFill>
              </a:rPr>
              <a:t> and the transitions between them its </a:t>
            </a:r>
            <a:r>
              <a:rPr sz="2000" b="1">
                <a:solidFill>
                  <a:srgbClr val="1F2D3A"/>
                </a:solidFill>
              </a:rPr>
              <a:t>edges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is the program's "road map."</a:t>
            </a:r>
          </a:p>
        </p:txBody>
      </p:sp>
      <p:pic>
        <p:nvPicPr>
          <p:cNvPr id="8" name="Picture 7" descr="h09-12-cf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022" y="2609088"/>
            <a:ext cx="7943650" cy="35448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Week's Question in One Sentence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 have delivered the program to the user; </a:t>
            </a:r>
            <a:r>
              <a:rPr sz="2000" b="1">
                <a:solidFill>
                  <a:srgbClr val="1F2D3A"/>
                </a:solidFill>
              </a:rPr>
              <a:t>the attacker now owns it.</a:t>
            </a:r>
            <a:r>
              <a:rPr sz="2000" b="0">
                <a:solidFill>
                  <a:srgbClr val="1F2D3A"/>
                </a:solidFill>
              </a:rPr>
              <a:t> How do I make it </a:t>
            </a:r>
            <a:r>
              <a:rPr sz="2000" b="1">
                <a:solidFill>
                  <a:srgbClr val="1F2D3A"/>
                </a:solidFill>
              </a:rPr>
              <a:t>harder</a:t>
            </a:r>
            <a:r>
              <a:rPr sz="2000" b="0">
                <a:solidFill>
                  <a:srgbClr val="1F2D3A"/>
                </a:solidFill>
              </a:rPr>
              <a:t> for them to read and modify my code?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Answer: </a:t>
            </a:r>
            <a:r>
              <a:rPr sz="2000" b="1">
                <a:solidFill>
                  <a:srgbClr val="1F2D3A"/>
                </a:solidFill>
              </a:rPr>
              <a:t>code obfuscation rules.</a:t>
            </a:r>
            <a:r>
              <a:rPr sz="2000" b="0">
                <a:solidFill>
                  <a:srgbClr val="1F2D3A"/>
                </a:solidFill>
              </a:rPr>
              <a:t> Let's begin.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Why Is Obfuscation a Rule?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First, 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 have </a:t>
            </a:r>
            <a:r>
              <a:rPr sz="2000" b="1">
                <a:solidFill>
                  <a:srgbClr val="1F2D3A"/>
                </a:solidFill>
              </a:rPr>
              <a:t>delivered</a:t>
            </a:r>
            <a:r>
              <a:rPr sz="2000" b="0">
                <a:solidFill>
                  <a:srgbClr val="1F2D3A"/>
                </a:solidFill>
              </a:rPr>
              <a:t> a mobile app to the user.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Whose machine is the code running on now?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Are your server-side security checks still valid here?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many times can the attacker try?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MATE: the Attacker at the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</a:t>
            </a:r>
            <a:r>
              <a:rPr sz="2000" b="0">
                <a:solidFill>
                  <a:srgbClr val="1F2D3A"/>
                </a:solidFill>
              </a:rPr>
              <a:t>an-</a:t>
            </a:r>
            <a:r>
              <a:rPr sz="2000" b="1">
                <a:solidFill>
                  <a:srgbClr val="1F2D3A"/>
                </a:solidFill>
              </a:rPr>
              <a:t>A</a:t>
            </a:r>
            <a:r>
              <a:rPr sz="2000" b="0">
                <a:solidFill>
                  <a:srgbClr val="1F2D3A"/>
                </a:solidFill>
              </a:rPr>
              <a:t>t-</a:t>
            </a:r>
            <a:r>
              <a:rPr sz="2000" b="1">
                <a:solidFill>
                  <a:srgbClr val="1F2D3A"/>
                </a:solidFill>
              </a:rPr>
              <a:t>T</a:t>
            </a:r>
            <a:r>
              <a:rPr sz="2000" b="0">
                <a:solidFill>
                  <a:srgbClr val="1F2D3A"/>
                </a:solidFill>
              </a:rPr>
              <a:t>he-</a:t>
            </a:r>
            <a:r>
              <a:rPr sz="2000" b="1">
                <a:solidFill>
                  <a:srgbClr val="1F2D3A"/>
                </a:solidFill>
              </a:rPr>
              <a:t>E</a:t>
            </a:r>
            <a:r>
              <a:rPr sz="2000" b="0">
                <a:solidFill>
                  <a:srgbClr val="1F2D3A"/>
                </a:solidFill>
              </a:rPr>
              <a:t>nd = an attacker who possesses the program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binary is in their hands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can read and modify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have a decompiler and a debugger in hand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can try as many times as they 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also called the </a:t>
            </a:r>
            <a:r>
              <a:rPr sz="2000" b="1">
                <a:solidFill>
                  <a:srgbClr val="1F2D3A"/>
                </a:solidFill>
              </a:rPr>
              <a:t>white-box</a:t>
            </a:r>
            <a:r>
              <a:rPr sz="2000" b="0">
                <a:solidFill>
                  <a:srgbClr val="1F2D3A"/>
                </a:solidFill>
              </a:rPr>
              <a:t> model (week 1).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MATE Attacker Model — Diagram</a:t>
            </a:r>
          </a:p>
        </p:txBody>
      </p:sp>
      <p:pic>
        <p:nvPicPr>
          <p:cNvPr id="7" name="Picture 6" descr="h09-03-m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567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Black Box ≠ White Box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236"/>
                <a:gridCol w="3637178"/>
                <a:gridCol w="5001120"/>
              </a:tblGrid>
              <a:tr h="351129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Black box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White box (MATE)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Input/output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Everything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Environment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Remote server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attacker's device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Attempts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Limited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Unlimited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Defence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Crypto, verification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+ obfuscation, RASP, whitebox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Cryptography assumes a </a:t>
            </a:r>
            <a:r>
              <a:rPr sz="1800" b="1">
                <a:solidFill>
                  <a:srgbClr val="1F2D3A"/>
                </a:solidFill>
              </a:rPr>
              <a:t>black box</a:t>
            </a:r>
            <a:r>
              <a:rPr sz="1800" b="0">
                <a:solidFill>
                  <a:srgbClr val="1F2D3A"/>
                </a:solidFill>
              </a:rPr>
              <a:t>; that assumption collapses on delivery.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Brief History — Where Does Code Obfuscation Come From?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1976</a:t>
            </a:r>
            <a:r>
              <a:rPr sz="1800" b="0">
                <a:solidFill>
                  <a:srgbClr val="1F2D3A"/>
                </a:solidFill>
              </a:rPr>
              <a:t> — Diffie &amp; Hellman: the idea of "incomprehensible but working" (protection </a:t>
            </a:r>
            <a:r>
              <a:rPr sz="1800" b="1">
                <a:solidFill>
                  <a:srgbClr val="1F2D3A"/>
                </a:solidFill>
              </a:rPr>
              <a:t>through effort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1997</a:t>
            </a:r>
            <a:r>
              <a:rPr sz="1800" b="0">
                <a:solidFill>
                  <a:srgbClr val="1F2D3A"/>
                </a:solidFill>
              </a:rPr>
              <a:t> — Collberg et al. </a:t>
            </a:r>
            <a:r>
              <a:rPr sz="1800" b="1">
                <a:solidFill>
                  <a:srgbClr val="1F2D3A"/>
                </a:solidFill>
              </a:rPr>
              <a:t>taxonomy</a:t>
            </a:r>
            <a:r>
              <a:rPr sz="1800" b="0">
                <a:solidFill>
                  <a:srgbClr val="1F2D3A"/>
                </a:solidFill>
              </a:rPr>
              <a:t> + </a:t>
            </a:r>
            <a:r>
              <a:rPr sz="1800" b="0" i="1">
                <a:solidFill>
                  <a:srgbClr val="1F2D3A"/>
                </a:solidFill>
              </a:rPr>
              <a:t>potency–resilience–stealth–cost</a:t>
            </a:r>
            <a:r>
              <a:rPr sz="1800" b="0">
                <a:solidFill>
                  <a:srgbClr val="1F2D3A"/>
                </a:solidFill>
              </a:rPr>
              <a:t> (this course's five families)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2001</a:t>
            </a:r>
            <a:r>
              <a:rPr sz="1800" b="0">
                <a:solidFill>
                  <a:srgbClr val="1F2D3A"/>
                </a:solidFill>
              </a:rPr>
              <a:t> — Barak et al.: perfect obfuscation is </a:t>
            </a:r>
            <a:r>
              <a:rPr sz="1800" b="1">
                <a:solidFill>
                  <a:srgbClr val="1F2D3A"/>
                </a:solidFill>
              </a:rPr>
              <a:t>impossible</a:t>
            </a:r>
            <a:r>
              <a:rPr sz="1800" b="0">
                <a:solidFill>
                  <a:srgbClr val="1F2D3A"/>
                </a:solidFill>
              </a:rPr>
              <a:t> → not "unbreakability" but </a:t>
            </a:r>
            <a:r>
              <a:rPr sz="1800" b="1">
                <a:solidFill>
                  <a:srgbClr val="1F2D3A"/>
                </a:solidFill>
              </a:rPr>
              <a:t>cost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2002</a:t>
            </a:r>
            <a:r>
              <a:rPr sz="1800" b="0">
                <a:solidFill>
                  <a:srgbClr val="1F2D3A"/>
                </a:solidFill>
              </a:rPr>
              <a:t> — Chow et al. </a:t>
            </a:r>
            <a:r>
              <a:rPr sz="1800" b="1">
                <a:solidFill>
                  <a:srgbClr val="1F2D3A"/>
                </a:solidFill>
              </a:rPr>
              <a:t>whitebox AES</a:t>
            </a:r>
            <a:r>
              <a:rPr sz="1800" b="0">
                <a:solidFill>
                  <a:srgbClr val="1F2D3A"/>
                </a:solidFill>
              </a:rPr>
              <a:t> (week 11) · </a:t>
            </a:r>
            <a:r>
              <a:rPr sz="1800" b="1">
                <a:solidFill>
                  <a:srgbClr val="1F2D3A"/>
                </a:solidFill>
              </a:rPr>
              <a:t>2010s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Tigress</a:t>
            </a:r>
            <a:r>
              <a:rPr sz="1800" b="0">
                <a:solidFill>
                  <a:srgbClr val="1F2D3A"/>
                </a:solidFill>
              </a:rPr>
              <a:t>, O-LLVM (week 14)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9300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Obfuscation is a </a:t>
            </a:r>
            <a:r>
              <a:rPr sz="1800" b="1">
                <a:solidFill>
                  <a:srgbClr val="1F2D3A"/>
                </a:solidFill>
              </a:rPr>
              <a:t>practical delaying</a:t>
            </a:r>
            <a:r>
              <a:rPr sz="1800" b="0">
                <a:solidFill>
                  <a:srgbClr val="1F2D3A"/>
                </a:solidFill>
              </a:rPr>
              <a:t> discipline built on top of an </a:t>
            </a:r>
            <a:r>
              <a:rPr sz="1800" b="1">
                <a:solidFill>
                  <a:srgbClr val="1F2D3A"/>
                </a:solidFill>
              </a:rPr>
              <a:t>impossibility theorem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Honest Truth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An attacker with enough time, skill, and motivation breaks </a:t>
            </a:r>
            <a:r>
              <a:rPr sz="2000" b="1">
                <a:solidFill>
                  <a:srgbClr val="1F2D3A"/>
                </a:solidFill>
              </a:rPr>
              <a:t>every obfuscation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Cookbook (Recipe 12.1): anti-tampering is not "unbreakable."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 what is the goal, then?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Goal: Make Breaking It Uneconomical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Obfuscation is a tool for </a:t>
            </a:r>
            <a:r>
              <a:rPr sz="2000" b="1">
                <a:solidFill>
                  <a:srgbClr val="1F2D3A"/>
                </a:solidFill>
              </a:rPr>
              <a:t>raising cost</a:t>
            </a:r>
            <a:r>
              <a:rPr sz="2000" b="0">
                <a:solidFill>
                  <a:srgbClr val="1F2D3A"/>
                </a:solidFill>
              </a:rPr>
              <a:t>, not for keeping a secret.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 breaking it </a:t>
            </a:r>
            <a:r>
              <a:rPr sz="2000" b="1">
                <a:solidFill>
                  <a:srgbClr val="1F2D3A"/>
                </a:solidFill>
              </a:rPr>
              <a:t>expensive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 automating it </a:t>
            </a:r>
            <a:r>
              <a:rPr sz="2000" b="1">
                <a:solidFill>
                  <a:srgbClr val="1F2D3A"/>
                </a:solidFill>
              </a:rPr>
              <a:t>harder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Buy time</a:t>
            </a:r>
            <a:r>
              <a:rPr sz="2000" b="0">
                <a:solidFill>
                  <a:srgbClr val="1F2D3A"/>
                </a:solidFill>
              </a:rPr>
              <a:t> for the other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turn these into three rules.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 1 — Push the Cost Above the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attack must be </a:t>
            </a:r>
            <a:r>
              <a:rPr sz="2000" b="1">
                <a:solidFill>
                  <a:srgbClr val="1F2D3A"/>
                </a:solidFill>
              </a:rPr>
              <a:t>more expensive</a:t>
            </a:r>
            <a:r>
              <a:rPr sz="2000" b="0">
                <a:solidFill>
                  <a:srgbClr val="1F2D3A"/>
                </a:solidFill>
              </a:rPr>
              <a:t> than the protected asset.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Protecting a 10 TL secret with 1000 TL of effort: a waste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Protecting a 1000 TL secret with 10 TL of effort: insufficient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First determine the asset's value</a:t>
            </a:r>
            <a:r>
              <a:rPr sz="2000" b="0">
                <a:solidFill>
                  <a:srgbClr val="1F2D3A"/>
                </a:solidFill>
              </a:rPr>
              <a:t>, then choose the protection.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 2 — Break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attack that works on one copy should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work on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copy.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called </a:t>
            </a:r>
            <a:r>
              <a:rPr sz="2000" b="1">
                <a:solidFill>
                  <a:srgbClr val="1F2D3A"/>
                </a:solidFill>
              </a:rPr>
              <a:t>diversification</a:t>
            </a:r>
            <a:r>
              <a:rPr sz="2000" b="0">
                <a:solidFill>
                  <a:srgbClr val="1F2D3A"/>
                </a:solidFill>
              </a:rPr>
              <a:t> (section 5 of this week)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With tooling in week 14 (Tigress </a:t>
            </a:r>
            <a:r>
              <a:rPr sz="2000" b="0">
                <a:solidFill>
                  <a:srgbClr val="A1123F"/>
                </a:solidFill>
                <a:latin typeface="Consolas"/>
              </a:rPr>
              <a:t>--Seed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854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One crack should not open every door.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 3 — Buy Time for the Other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Obfuscation is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a defence on its own; it is a </a:t>
            </a:r>
            <a:r>
              <a:rPr sz="2000" b="1">
                <a:solidFill>
                  <a:srgbClr val="1F2D3A"/>
                </a:solidFill>
              </a:rPr>
              <a:t>layer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(week 6) protects it while it is running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Integrity checking, server-side checks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Holding out </a:t>
            </a:r>
            <a:r>
              <a:rPr sz="2000" b="1">
                <a:solidFill>
                  <a:srgbClr val="1F2D3A"/>
                </a:solidFill>
              </a:rPr>
              <a:t>until</a:t>
            </a:r>
            <a:r>
              <a:rPr sz="2000" b="0">
                <a:solidFill>
                  <a:srgbClr val="1F2D3A"/>
                </a:solidFill>
              </a:rPr>
              <a:t> the key/version is renewed is enough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Source's Language: Every Countermeasure Is a "Rule"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The technical guide writes every countermeasure under three headings: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Description</a:t>
            </a:r>
            <a:r>
              <a:rPr sz="1800" b="0">
                <a:solidFill>
                  <a:srgbClr val="1F2D3A"/>
                </a:solidFill>
              </a:rPr>
              <a:t> — what it protects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Implementation</a:t>
            </a:r>
            <a:r>
              <a:rPr sz="1800" b="0">
                <a:solidFill>
                  <a:srgbClr val="1F2D3A"/>
                </a:solidFill>
              </a:rPr>
              <a:t> — how it is done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Example usage</a:t>
            </a:r>
            <a:r>
              <a:rPr sz="1800" b="0">
                <a:solidFill>
                  <a:srgbClr val="1F2D3A"/>
                </a:solidFill>
              </a:rPr>
              <a:t> — 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723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Usually with a </a:t>
            </a:r>
            <a:r>
              <a:rPr sz="1800" b="1">
                <a:solidFill>
                  <a:srgbClr val="1F2D3A"/>
                </a:solidFill>
              </a:rPr>
              <a:t>compliance ID</a:t>
            </a:r>
            <a:r>
              <a:rPr sz="1800" b="0">
                <a:solidFill>
                  <a:srgbClr val="1F2D3A"/>
                </a:solidFill>
              </a:rPr>
              <a:t> too (e.g., "sensitive data is never logged in plain text").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8901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We will write it the same way: </a:t>
            </a:r>
            <a:r>
              <a:rPr sz="1800" b="0" i="1">
                <a:solidFill>
                  <a:srgbClr val="1F2D3A"/>
                </a:solidFill>
              </a:rPr>
              <a:t>what it protects · how · cost · limit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Taxonomy and Rule Template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Obfuscation Hide?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Collberg's classification: we split obfuscation by </a:t>
            </a:r>
            <a:r>
              <a:rPr sz="2000" b="1">
                <a:solidFill>
                  <a:srgbClr val="1F2D3A"/>
                </a:solidFill>
              </a:rPr>
              <a:t>what it hides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 are five families. Let's go through them in order.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Family 1 —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What does it hide?</a:t>
            </a:r>
            <a:r>
              <a:rPr sz="1800" b="0">
                <a:solidFill>
                  <a:srgbClr val="1F2D3A"/>
                </a:solidFill>
              </a:rPr>
              <a:t> Names, format, metadata.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Making symbols invisible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Making function/file names meaningless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Stripping logging from the release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723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We met this in week 4; this week we go deeper.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Family 2 —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What does it hide?</a:t>
            </a:r>
            <a:r>
              <a:rPr sz="1800" b="0">
                <a:solidFill>
                  <a:srgbClr val="1F2D3A"/>
                </a:solidFill>
              </a:rPr>
              <a:t> Constants, strings, variables.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String encoding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Constant transforms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Variable splitting/merging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Opaque boolean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52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→ Section 4 of this week.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Family 3 — Control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What does it hide?</a:t>
            </a:r>
            <a:r>
              <a:rPr sz="1800" b="0">
                <a:solidFill>
                  <a:srgbClr val="1F2D3A"/>
                </a:solidFill>
              </a:rPr>
              <a:t> The algorithm's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Control-flow flattening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Opaque predicates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Bogus and dead branches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Random exit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52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→ Section 3 of this week (coming up shortly).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Family 4 — Anti-Analysis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What does it hide?</a:t>
            </a:r>
            <a:r>
              <a:rPr sz="1800" b="0">
                <a:solidFill>
                  <a:srgbClr val="1F2D3A"/>
                </a:solidFill>
              </a:rPr>
              <a:t> The analysis tools' own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Structures that mislead a decompiler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Decoding code at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294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→ Concept this week, RASP in week 6.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Family 5 — Virtualisation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What does it hide?</a:t>
            </a:r>
            <a:r>
              <a:rPr sz="1800" b="0">
                <a:solidFill>
                  <a:srgbClr val="1F2D3A"/>
                </a:solidFill>
              </a:rPr>
              <a:t> The machine code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4343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Turning a function into a custom VM's bytecode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65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→ Concept this week (K-10), with tooling in week 14 (Tigress </a:t>
            </a:r>
            <a:r>
              <a:rPr sz="1800" b="0">
                <a:solidFill>
                  <a:srgbClr val="A1123F"/>
                </a:solidFill>
                <a:latin typeface="Consolas"/>
              </a:rPr>
              <a:t>Virtualize</a:t>
            </a:r>
            <a:r>
              <a:rPr sz="18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Virtualisation — Diagram</a:t>
            </a:r>
          </a:p>
        </p:txBody>
      </p:sp>
      <p:pic>
        <p:nvPicPr>
          <p:cNvPr id="7" name="Picture 6" descr="h09-06-sanallasti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8046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Five Families: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729227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5455767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Hides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Layout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Name, format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Constant, string, variable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Control 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Anti-analysis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Tool's work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Machine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Rule:</a:t>
            </a:r>
            <a:r>
              <a:rPr sz="1800" b="0">
                <a:solidFill>
                  <a:srgbClr val="1F2D3A"/>
                </a:solidFill>
              </a:rPr>
              <a:t> the families are used </a:t>
            </a:r>
            <a:r>
              <a:rPr sz="1800" b="1">
                <a:solidFill>
                  <a:srgbClr val="1F2D3A"/>
                </a:solidFill>
              </a:rPr>
              <a:t>together</a:t>
            </a:r>
            <a:r>
              <a:rPr sz="1800" b="0">
                <a:solidFill>
                  <a:srgbClr val="1F2D3A"/>
                </a:solidFill>
              </a:rPr>
              <a:t>, not alone.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Five Families — Potency ↑ Cost ↑</a:t>
            </a:r>
          </a:p>
        </p:txBody>
      </p:sp>
      <p:pic>
        <p:nvPicPr>
          <p:cNvPr id="7" name="Picture 6" descr="h09-01-bes-a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8" y="1325880"/>
            <a:ext cx="1021055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 the Field: All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native countermeasures listed in a certified product cover this </a:t>
            </a:r>
            <a:r>
              <a:rPr sz="2000" b="1">
                <a:solidFill>
                  <a:srgbClr val="1F2D3A"/>
                </a:solidFill>
              </a:rPr>
              <a:t>entire</a:t>
            </a:r>
            <a:r>
              <a:rPr sz="2000" b="0">
                <a:solidFill>
                  <a:srgbClr val="1F2D3A"/>
                </a:solidFill>
              </a:rPr>
              <a:t> map: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symbol hiding · name obfuscation · arithmetic transform · string encoding · opaque boolean · bogus operation · dead branch · flattening · random exit · stripping logging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85592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None of them is strong alone; strength comes from </a:t>
            </a:r>
            <a:r>
              <a:rPr sz="2000" b="1">
                <a:solidFill>
                  <a:srgbClr val="1F2D3A"/>
                </a:solidFill>
              </a:rPr>
              <a:t>togetherness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Obfuscation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delay</a:t>
            </a:r>
            <a:r>
              <a:rPr sz="2000" b="0">
                <a:solidFill>
                  <a:srgbClr val="1F2D3A"/>
                </a:solidFill>
              </a:rPr>
              <a:t> against static analysis (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symbols, decompilation)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Resistance</a:t>
            </a:r>
            <a:r>
              <a:rPr sz="2000" b="0">
                <a:solidFill>
                  <a:srgbClr val="1F2D3A"/>
                </a:solidFill>
              </a:rPr>
              <a:t> against automated attack (via diversification)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Time</a:t>
            </a:r>
            <a:r>
              <a:rPr sz="2000" b="0">
                <a:solidFill>
                  <a:srgbClr val="1F2D3A"/>
                </a:solidFill>
              </a:rPr>
              <a:t> for the other layers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measurable</a:t>
            </a:r>
            <a:r>
              <a:rPr sz="2000" b="0">
                <a:solidFill>
                  <a:srgbClr val="1F2D3A"/>
                </a:solidFill>
              </a:rPr>
              <a:t> increase in cost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Obfuscation DOES NOT Give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secrecy</a:t>
            </a:r>
            <a:r>
              <a:rPr sz="2000" b="0">
                <a:solidFill>
                  <a:srgbClr val="1F2D3A"/>
                </a:solidFill>
              </a:rPr>
              <a:t> of a secret → that is cryptography's job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Protection</a:t>
            </a:r>
            <a:r>
              <a:rPr sz="2000" b="0">
                <a:solidFill>
                  <a:srgbClr val="1F2D3A"/>
                </a:solidFill>
              </a:rPr>
              <a:t> against reading memory → RASP, whitebox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Permanent</a:t>
            </a:r>
            <a:r>
              <a:rPr sz="2000" b="0">
                <a:solidFill>
                  <a:srgbClr val="1F2D3A"/>
                </a:solidFill>
              </a:rPr>
              <a:t> security → there is no such thing as "unbreakable"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Free</a:t>
            </a:r>
            <a:r>
              <a:rPr sz="2000" b="0">
                <a:solidFill>
                  <a:srgbClr val="1F2D3A"/>
                </a:solidFill>
              </a:rPr>
              <a:t> protection → every obfuscation comes with a cost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Obfuscation Gives and Does Not Give — Diagram</a:t>
            </a:r>
          </a:p>
        </p:txBody>
      </p:sp>
      <p:pic>
        <p:nvPicPr>
          <p:cNvPr id="7" name="Picture 6" descr="h09-14-ne-verir-ne-verme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1954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The Most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Mistaking obfuscation for </a:t>
            </a:r>
            <a:r>
              <a:rPr sz="2000" b="1">
                <a:solidFill>
                  <a:srgbClr val="1F2D3A"/>
                </a:solidFill>
              </a:rPr>
              <a:t>storing a key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embedded/hidden key is still </a:t>
            </a:r>
            <a:r>
              <a:rPr sz="2000" b="1">
                <a:solidFill>
                  <a:srgbClr val="1F2D3A"/>
                </a:solidFill>
              </a:rPr>
              <a:t>there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program has to use it while it runs → it is exposed in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decoding logic is inside too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Secrecy is cryptography's job, not obfuscation's.</a:t>
            </a:r>
            <a:r>
              <a:rPr sz="2000" b="0">
                <a:solidFill>
                  <a:srgbClr val="1F2D3A"/>
                </a:solidFill>
              </a:rPr>
              <a:t> (week 3)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"Protection Rule" 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KURAL K-xx: &lt;teknik&gt;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Neyi korur?  : hangi varlık / kod bölümü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Hangi tehdit?: statik / dinamik / otomatik / kurcalama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Nasıl?       : bir cümle (kavram)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Maliyet      : boyut, hız, bakım, hata ayıklama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Sınır        : neyi korumaz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Ölçüm        : etkinlik nasıl doğrulanır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the "Measurement" Line Required?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Obfuscation is not "present/absent."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evaluator (week 13) asks </a:t>
            </a:r>
            <a:r>
              <a:rPr sz="2000" b="1">
                <a:solidFill>
                  <a:srgbClr val="1F2D3A"/>
                </a:solidFill>
              </a:rPr>
              <a:t>how much each layer delays</a:t>
            </a:r>
            <a:r>
              <a:rPr sz="2000" b="0">
                <a:solidFill>
                  <a:srgbClr val="1F2D3A"/>
                </a:solidFill>
              </a:rPr>
              <a:t> the attack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Protection without measurement = a </a:t>
            </a:r>
            <a:r>
              <a:rPr sz="2000" b="1">
                <a:solidFill>
                  <a:srgbClr val="1F2D3A"/>
                </a:solidFill>
              </a:rPr>
              <a:t>claim</a:t>
            </a:r>
            <a:r>
              <a:rPr sz="2000" b="0">
                <a:solidFill>
                  <a:srgbClr val="1F2D3A"/>
                </a:solidFill>
              </a:rPr>
              <a:t>, not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854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the project you will write S9 using this template.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Four Metrics — Diagram</a:t>
            </a:r>
          </a:p>
        </p:txBody>
      </p:sp>
      <p:pic>
        <p:nvPicPr>
          <p:cNvPr id="7" name="Picture 6" descr="h09-08-dort-ol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19" y="1325880"/>
            <a:ext cx="997065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2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How does the MATE attacker differ from a black box?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What were obfuscation's three rules?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Does obfuscation protect a key? Why?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Section 2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MATE</a:t>
            </a:r>
            <a:r>
              <a:rPr sz="1800" b="0">
                <a:solidFill>
                  <a:srgbClr val="1F2D3A"/>
                </a:solidFill>
              </a:rPr>
              <a:t> possesses the program (the code/memory is theirs, unlimited attempts); a black box only sees input/output.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Push the cost above the value · break automation (diversify) · buy time for the other layers.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No.</a:t>
            </a:r>
            <a:r>
              <a:rPr sz="1800" b="0">
                <a:solidFill>
                  <a:srgbClr val="1F2D3A"/>
                </a:solidFill>
              </a:rPr>
              <a:t> The key is exposed in memory while running and the decoding logic is inside; secrecy is cryptography's job.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Control-Flow Rules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Purpose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 treat the CFG (already defined in the background section) as this section's skeleton; the attacker's first job is to extract that skeleton.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week 4 we </a:t>
            </a:r>
            <a:r>
              <a:rPr sz="2000" b="1">
                <a:solidFill>
                  <a:srgbClr val="1F2D3A"/>
                </a:solidFill>
              </a:rPr>
              <a:t>introduced</a:t>
            </a:r>
            <a:r>
              <a:rPr sz="2000" b="0">
                <a:solidFill>
                  <a:srgbClr val="1F2D3A"/>
                </a:solidFill>
              </a:rPr>
              <a:t> flattening.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this section we add the rules that </a:t>
            </a:r>
            <a:r>
              <a:rPr sz="2000" b="1">
                <a:solidFill>
                  <a:srgbClr val="1F2D3A"/>
                </a:solidFill>
              </a:rPr>
              <a:t>strengthen</a:t>
            </a:r>
            <a:r>
              <a:rPr sz="2000" b="0">
                <a:solidFill>
                  <a:srgbClr val="1F2D3A"/>
                </a:solidFill>
              </a:rPr>
              <a:t> it: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0504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K-01 opaque predicate · K-02 arithmetic encoding · K-03 bogus/dead · K-04 flattening (in depth) · K-05 random exit · K-06 call hiding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8490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All examples are </a:t>
            </a:r>
            <a:r>
              <a:rPr sz="2000" b="1">
                <a:solidFill>
                  <a:srgbClr val="1F2D3A"/>
                </a:solidFill>
              </a:rPr>
              <a:t>synthetic</a:t>
            </a:r>
            <a:r>
              <a:rPr sz="2000" b="0">
                <a:solidFill>
                  <a:srgbClr val="1F2D3A"/>
                </a:solidFill>
              </a:rPr>
              <a:t>, built around a single check: </a:t>
            </a:r>
            <a:r>
              <a:rPr sz="2000" b="0">
                <a:solidFill>
                  <a:srgbClr val="A1123F"/>
                </a:solidFill>
                <a:latin typeface="Consolas"/>
              </a:rPr>
              <a:t>erisim_ver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K-01 · Opaque Predicates and Loops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Opaque Predicate — Diagram</a:t>
            </a:r>
          </a:p>
        </p:txBody>
      </p:sp>
      <p:pic>
        <p:nvPicPr>
          <p:cNvPr id="7" name="Picture 6" descr="h09-02-opak-yuk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147" y="1325880"/>
            <a:ext cx="901940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K-01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Which condition</a:t>
            </a:r>
            <a:r>
              <a:rPr sz="2000" b="0">
                <a:solidFill>
                  <a:srgbClr val="1F2D3A"/>
                </a:solidFill>
              </a:rPr>
              <a:t> a branch is taken under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How many times</a:t>
            </a:r>
            <a:r>
              <a:rPr sz="2000" b="0">
                <a:solidFill>
                  <a:srgbClr val="1F2D3A"/>
                </a:solidFill>
              </a:rPr>
              <a:t> a loop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Idea:</a:t>
            </a:r>
            <a:r>
              <a:rPr sz="2000" b="0">
                <a:solidFill>
                  <a:srgbClr val="1F2D3A"/>
                </a:solidFill>
              </a:rPr>
              <a:t> branch on an expression whose value the programmer knows but the tool cannot easily resolve.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K-01 · Opaque Predicate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x*(x+1) daima çifttir → sonuç daima true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opak_dogru(unsigned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((x * (x + 1)) &amp; 1u) ==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programmer knows: it is </a:t>
            </a:r>
            <a:r>
              <a:rPr sz="2000" b="1">
                <a:solidFill>
                  <a:srgbClr val="1F2D3A"/>
                </a:solidFill>
              </a:rPr>
              <a:t>always true</a:t>
            </a:r>
            <a:r>
              <a:rPr sz="2000" b="0">
                <a:solidFill>
                  <a:srgbClr val="1F2D3A"/>
                </a:solidFill>
              </a:rPr>
              <a:t>. Static analysis cannot easily prove this.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K-01 · How Is It Used?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(opak_dogru(sayac))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durum = gercek_adim(durum);   /* daima buraya girer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durum = sahte_adim(durum);    /* ölü yol: hiç çalışmaz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analyst thinks both paths are "real"; they spend their time on the fake path.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K-01 · Opaque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guide makes loops a separate rule: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for/while are </a:t>
            </a:r>
            <a:r>
              <a:rPr sz="2000" b="1">
                <a:solidFill>
                  <a:srgbClr val="1F2D3A"/>
                </a:solidFill>
              </a:rPr>
              <a:t>never shown directly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Hidden </a:t>
            </a:r>
            <a:r>
              <a:rPr sz="2000" b="1">
                <a:solidFill>
                  <a:srgbClr val="1F2D3A"/>
                </a:solidFill>
              </a:rPr>
              <a:t>inside</a:t>
            </a:r>
            <a:r>
              <a:rPr sz="2000" b="0">
                <a:solidFill>
                  <a:srgbClr val="1F2D3A"/>
                </a:solidFill>
              </a:rPr>
              <a:t> flattening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body is split into small blocks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Iteration is driven by a </a:t>
            </a:r>
            <a:r>
              <a:rPr sz="2000" b="1">
                <a:solidFill>
                  <a:srgbClr val="1F2D3A"/>
                </a:solidFill>
              </a:rPr>
              <a:t>state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8038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The information "this loop runs N times" cannot be read off the CFG.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K-01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low–medium (extra arithmetic/branch)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well-known opaque predicate patterns are recognised automatically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Countermeasure:</a:t>
            </a:r>
            <a:r>
              <a:rPr sz="1800" b="0">
                <a:solidFill>
                  <a:srgbClr val="1F2D3A"/>
                </a:solidFill>
              </a:rPr>
              <a:t> diversify (section 5)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basic block count before/after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K-02 · Arithmetic Encoding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K-02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Constants and simple computations.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hides </a:t>
            </a:r>
            <a:r>
              <a:rPr sz="2000" b="1">
                <a:solidFill>
                  <a:srgbClr val="1F2D3A"/>
                </a:solidFill>
              </a:rPr>
              <a:t>directly readable</a:t>
            </a:r>
            <a:r>
              <a:rPr sz="2000" b="0">
                <a:solidFill>
                  <a:srgbClr val="1F2D3A"/>
                </a:solidFill>
              </a:rPr>
              <a:t> hints like "this number is 0x1F, this operation is an XOR."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K-02 · Equivalent Expressions (MBA)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Replace an operation with an equivalent one that produces the same result but looks complex: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 + b   ≡   (a ^ b) + 2*(a &amp; b)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 * 2   ≡   x &lt;&lt;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7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Same result, complex appearance. (MBA = mixed boolean-arithmetic)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K-02 · Hide the Constant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0x2A doğrudan yazılmaz; iki parçadan üretilir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uint8_t esik(void)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uint8_t a = 0x37, b = 0x1D;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(uint8_t)(a ^ b);   /* = 0x2A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Searching the binary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0x2A</a:t>
            </a:r>
            <a:r>
              <a:rPr sz="2000" b="0">
                <a:solidFill>
                  <a:srgbClr val="1F2D3A"/>
                </a:solidFill>
              </a:rPr>
              <a:t> returns nothing.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K-02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MBA simplifiers (arybo/msynth) can undo many expressions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Rule:</a:t>
            </a:r>
            <a:r>
              <a:rPr sz="1800" b="0">
                <a:solidFill>
                  <a:srgbClr val="1F2D3A"/>
                </a:solidFill>
              </a:rPr>
              <a:t> weak on its own → </a:t>
            </a:r>
            <a:r>
              <a:rPr sz="1800" b="1">
                <a:solidFill>
                  <a:srgbClr val="1F2D3A"/>
                </a:solidFill>
              </a:rPr>
              <a:t>combine</a:t>
            </a:r>
            <a:r>
              <a:rPr sz="1800" b="0">
                <a:solidFill>
                  <a:srgbClr val="1F2D3A"/>
                </a:solidFill>
              </a:rPr>
              <a:t> it with control flow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a byte/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 search for the constant should return nothing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K-03 · Bogus Operations and Dead Branches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Bogus Operation ≠ Dead Branch — Diagram</a:t>
            </a:r>
          </a:p>
        </p:txBody>
      </p:sp>
      <p:pic>
        <p:nvPicPr>
          <p:cNvPr id="7" name="Picture 6" descr="h09-05-sahte-o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6823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K-03 · The Two Are Different!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guide makes these </a:t>
            </a:r>
            <a:r>
              <a:rPr sz="2000" b="1">
                <a:solidFill>
                  <a:srgbClr val="1F2D3A"/>
                </a:solidFill>
              </a:rPr>
              <a:t>separate</a:t>
            </a:r>
            <a:r>
              <a:rPr sz="2000" b="0">
                <a:solidFill>
                  <a:srgbClr val="1F2D3A"/>
                </a:solidFill>
              </a:rPr>
              <a:t> rules. The difference is critical: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Bogus operation:</a:t>
            </a:r>
            <a:r>
              <a:rPr sz="2000" b="0">
                <a:solidFill>
                  <a:srgbClr val="1F2D3A"/>
                </a:solidFill>
              </a:rPr>
              <a:t> runs, does not change the result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Dead branch:</a:t>
            </a:r>
            <a:r>
              <a:rPr sz="2000" b="0">
                <a:solidFill>
                  <a:srgbClr val="1F2D3A"/>
                </a:solidFill>
              </a:rPr>
              <a:t> never runs (protected by an opaque predicate)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K-03 ·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4065"/>
                <a:gridCol w="5299888"/>
                <a:gridCol w="3117581"/>
              </a:tblGrid>
              <a:tr h="357987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Bogus operation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Dead branch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Does it run?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Unchanged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(does not run)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Hide the real thing in a crowd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Show a fake path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K-03 · Bogus Operation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crc = crc32_guncelle(crc, veri,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crc ^= (sabit ^ sabit);   /* = crc; sonuç aynı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sabit ^ sabit == 0</a:t>
            </a:r>
            <a:r>
              <a:rPr sz="2000" b="0">
                <a:solidFill>
                  <a:srgbClr val="1F2D3A"/>
                </a:solidFill>
              </a:rPr>
              <a:t> → the CRC does not change, but the code gets more crowded.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K-03 · Dead Branch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(opak_yanlis()) {        /* daima false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sahte_kontrol();        /* hiç çalışmaz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analyst treats this block as "real" and examines it; they waste time.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K-03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760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 (bogus operation) → medium (dead branches grow the CFG)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dead code elimination drops the branch once the opaque predicate protecting it is solved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Dependency:</a:t>
            </a:r>
            <a:r>
              <a:rPr sz="1800" b="0">
                <a:solidFill>
                  <a:srgbClr val="1F2D3A"/>
                </a:solidFill>
              </a:rPr>
              <a:t> depends on the opaque predicate's </a:t>
            </a:r>
            <a:r>
              <a:rPr sz="1800" b="1">
                <a:solidFill>
                  <a:srgbClr val="1F2D3A"/>
                </a:solidFill>
              </a:rPr>
              <a:t>quality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time needed to tell dead branches apart from real ones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K-04 · Control-Flow Flattening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algorithm's </a:t>
            </a:r>
            <a:r>
              <a:rPr sz="2000" b="1">
                <a:solidFill>
                  <a:srgbClr val="1F2D3A"/>
                </a:solidFill>
              </a:rPr>
              <a:t>structure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natural adjacency of blocks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information "which block leads to which"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Idea: Vertical → Horizontal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Normal:</a:t>
            </a:r>
            <a:r>
              <a:rPr sz="2000" b="0">
                <a:solidFill>
                  <a:srgbClr val="1F2D3A"/>
                </a:solidFill>
              </a:rPr>
              <a:t> blocks follow one another (vertical flow)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Flattened:</a:t>
            </a:r>
            <a:r>
              <a:rPr sz="2000" b="0">
                <a:solidFill>
                  <a:srgbClr val="1F2D3A"/>
                </a:solidFill>
              </a:rPr>
              <a:t> all blocks sit in a single </a:t>
            </a:r>
            <a:r>
              <a:rPr sz="2000" b="0">
                <a:solidFill>
                  <a:srgbClr val="A1123F"/>
                </a:solidFill>
                <a:latin typeface="Consolas"/>
              </a:rPr>
              <a:t>switch</a:t>
            </a:r>
            <a:r>
              <a:rPr sz="2000" b="0">
                <a:solidFill>
                  <a:srgbClr val="1F2D3A"/>
                </a:solidFill>
              </a:rPr>
              <a:t> dispatcher (horizontal)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order can only be read from a </a:t>
            </a:r>
            <a:r>
              <a:rPr sz="2000" b="1">
                <a:solidFill>
                  <a:srgbClr val="1F2D3A"/>
                </a:solidFill>
              </a:rPr>
              <a:t>state variable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durum = BASLA;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(;;) switch (durum)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BASLA: durum = ADIM1;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ADIM1: durum = kosul ? ADIM2 : HATA;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ADIM2: durum = BITIR;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HATA:  return RED;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BITIR: return IZIN;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default:    return RED;   /* rastgele çıkış (K-05)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Weak on Its 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 said back in week 4: an experienced analyst can solve this template fairly quickly.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Strength comes from reinforcements.</a:t>
            </a:r>
            <a:r>
              <a:rPr sz="2000" b="0">
                <a:solidFill>
                  <a:srgbClr val="1F2D3A"/>
                </a:solidFill>
              </a:rPr>
              <a:t> In order: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Reinforcement 1 — State Values (K-02)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Scattered, arithmetically produced values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case 1, 2, 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sequence is </a:t>
            </a:r>
            <a:r>
              <a:rPr sz="2000" b="1">
                <a:solidFill>
                  <a:srgbClr val="1F2D3A"/>
                </a:solidFill>
              </a:rPr>
              <a:t>invisible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step follows which cannot be read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Reinforcement 2 — Bogus/Dead (K-03)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Bogus </a:t>
            </a:r>
            <a:r>
              <a:rPr sz="2000" b="0">
                <a:solidFill>
                  <a:srgbClr val="A1123F"/>
                </a:solidFill>
                <a:latin typeface="Consolas"/>
              </a:rPr>
              <a:t>case</a:t>
            </a:r>
            <a:r>
              <a:rPr sz="2000" b="0">
                <a:solidFill>
                  <a:srgbClr val="1F2D3A"/>
                </a:solidFill>
              </a:rPr>
              <a:t>s are added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Telling which </a:t>
            </a:r>
            <a:r>
              <a:rPr sz="2000" b="0">
                <a:solidFill>
                  <a:srgbClr val="A1123F"/>
                </a:solidFill>
                <a:latin typeface="Consolas"/>
              </a:rPr>
              <a:t>case</a:t>
            </a:r>
            <a:r>
              <a:rPr sz="2000" b="0">
                <a:solidFill>
                  <a:srgbClr val="1F2D3A"/>
                </a:solidFill>
              </a:rPr>
              <a:t> is </a:t>
            </a:r>
            <a:r>
              <a:rPr sz="2000" b="1">
                <a:solidFill>
                  <a:srgbClr val="1F2D3A"/>
                </a:solidFill>
              </a:rPr>
              <a:t>real</a:t>
            </a:r>
            <a:r>
              <a:rPr sz="2000" b="0">
                <a:solidFill>
                  <a:srgbClr val="1F2D3A"/>
                </a:solidFill>
              </a:rPr>
              <a:t> becomes harder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Reinforcement 3 — Random Exit (K-05)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Errors exit through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default</a:t>
            </a:r>
            <a:r>
              <a:rPr sz="2000" b="0">
                <a:solidFill>
                  <a:srgbClr val="1F2D3A"/>
                </a:solidFill>
              </a:rPr>
              <a:t> branch with an </a:t>
            </a:r>
            <a:r>
              <a:rPr sz="2000" b="1">
                <a:solidFill>
                  <a:srgbClr val="1F2D3A"/>
                </a:solidFill>
              </a:rPr>
              <a:t>unpredictable</a:t>
            </a:r>
            <a:r>
              <a:rPr sz="2000" b="0">
                <a:solidFill>
                  <a:srgbClr val="1F2D3A"/>
                </a:solidFill>
              </a:rPr>
              <a:t> state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Where</a:t>
            </a:r>
            <a:r>
              <a:rPr sz="2000" b="0">
                <a:solidFill>
                  <a:srgbClr val="1F2D3A"/>
                </a:solidFill>
              </a:rPr>
              <a:t> the failure happened cannot be read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Reinforcement 4 — Opaque Transitions (K-01)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case</a:t>
            </a:r>
            <a:r>
              <a:rPr sz="2000" b="0">
                <a:solidFill>
                  <a:srgbClr val="1F2D3A"/>
                </a:solidFill>
              </a:rPr>
              <a:t> transitions depend on </a:t>
            </a:r>
            <a:r>
              <a:rPr sz="2000" b="1">
                <a:solidFill>
                  <a:srgbClr val="1F2D3A"/>
                </a:solidFill>
              </a:rPr>
              <a:t>opaque conditions</a:t>
            </a:r>
            <a:r>
              <a:rPr sz="2000" b="0">
                <a:solidFill>
                  <a:srgbClr val="1F2D3A"/>
                </a:solidFill>
              </a:rPr>
              <a:t>, not fixed values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Static tracing becomes even harder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K-04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medium–high (block/branch count grows a lot, performance drops)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flattening alone → can be undone with symbolic execution (section 5)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Strength:</a:t>
            </a:r>
            <a:r>
              <a:rPr sz="1800" b="0">
                <a:solidFill>
                  <a:srgbClr val="1F2D3A"/>
                </a:solidFill>
              </a:rPr>
              <a:t> comes from the reinforcements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CFG node/edge count, tracing time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K-05 · Random Exit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K-05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Where</a:t>
            </a:r>
            <a:r>
              <a:rPr sz="2000" b="0">
                <a:solidFill>
                  <a:srgbClr val="1F2D3A"/>
                </a:solidFill>
              </a:rPr>
              <a:t> a check fails.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attacker typically: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Finds the "failure branch"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Turns it into the "success branch"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K-05 · How?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(!imza_gecerli(p))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durum = kararsiz_deger();  /* switch'te tanımsız → default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 is no direct </a:t>
            </a:r>
            <a:r>
              <a:rPr sz="2000" b="0">
                <a:solidFill>
                  <a:srgbClr val="A1123F"/>
                </a:solidFill>
                <a:latin typeface="Consolas"/>
              </a:rPr>
              <a:t>return RED</a:t>
            </a:r>
            <a:r>
              <a:rPr sz="2000" b="0">
                <a:solidFill>
                  <a:srgbClr val="1F2D3A"/>
                </a:solidFill>
              </a:rPr>
              <a:t>; the state goes to an unpredictable value.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K-05 · Success Should Exit the Same Way Too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successful exit uses the same method too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success and failure </a:t>
            </a:r>
            <a:r>
              <a:rPr sz="2000" b="1">
                <a:solidFill>
                  <a:srgbClr val="1F2D3A"/>
                </a:solidFill>
              </a:rPr>
              <a:t>look alike</a:t>
            </a:r>
            <a:r>
              <a:rPr sz="2000" b="0">
                <a:solidFill>
                  <a:srgbClr val="1F2D3A"/>
                </a:solidFill>
              </a:rPr>
              <a:t> in the flow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analyst cannot say "this is the accept branch"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K-05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not meaningful on its own, only together with flattening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Goal:</a:t>
            </a:r>
            <a:r>
              <a:rPr sz="1800" b="0">
                <a:solidFill>
                  <a:srgbClr val="1F2D3A"/>
                </a:solidFill>
              </a:rPr>
              <a:t> a single-byte patch should </a:t>
            </a:r>
            <a:r>
              <a:rPr sz="1800" b="1">
                <a:solidFill>
                  <a:srgbClr val="1F2D3A"/>
                </a:solidFill>
              </a:rPr>
              <a:t>not be enough</a:t>
            </a:r>
            <a:r>
              <a:rPr sz="1800" b="0">
                <a:solidFill>
                  <a:srgbClr val="1F2D3A"/>
                </a:solidFill>
              </a:rPr>
              <a:t> to bypass the check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time needed for a "find and flip the failure branch" attack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K-06 · Call and Dependency Hiding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K-06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Hints like: "this function calls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, so it must be doing a comparison."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Standard library calls </a:t>
            </a:r>
            <a:r>
              <a:rPr sz="2000" b="1">
                <a:solidFill>
                  <a:srgbClr val="1F2D3A"/>
                </a:solidFill>
              </a:rPr>
              <a:t>tell</a:t>
            </a:r>
            <a:r>
              <a:rPr sz="2000" b="0">
                <a:solidFill>
                  <a:srgbClr val="1F2D3A"/>
                </a:solidFill>
              </a:rPr>
              <a:t> the attacker what you are doing.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K-06 · How?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Your </a:t>
            </a:r>
            <a:r>
              <a:rPr sz="2000" b="1">
                <a:solidFill>
                  <a:srgbClr val="1F2D3A"/>
                </a:solidFill>
              </a:rPr>
              <a:t>own</a:t>
            </a:r>
            <a:r>
              <a:rPr sz="2000" b="0">
                <a:solidFill>
                  <a:srgbClr val="1F2D3A"/>
                </a:solidFill>
              </a:rPr>
              <a:t> constant-time </a:t>
            </a:r>
            <a:r>
              <a:rPr sz="2000" b="0">
                <a:solidFill>
                  <a:srgbClr val="A1123F"/>
                </a:solidFill>
                <a:latin typeface="Consolas"/>
              </a:rPr>
              <a:t>esit_mi</a:t>
            </a:r>
            <a:r>
              <a:rPr sz="2000" b="0">
                <a:solidFill>
                  <a:srgbClr val="1F2D3A"/>
                </a:solidFill>
              </a:rPr>
              <a:t>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 on the critical path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recognisable name </a:t>
            </a:r>
            <a:r>
              <a:rPr sz="2000" b="1">
                <a:solidFill>
                  <a:srgbClr val="1F2D3A"/>
                </a:solidFill>
              </a:rPr>
              <a:t>appears</a:t>
            </a:r>
            <a:r>
              <a:rPr sz="2000" b="0">
                <a:solidFill>
                  <a:srgbClr val="1F2D3A"/>
                </a:solidFill>
              </a:rPr>
              <a:t> to the linker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Bogus parameters:</a:t>
            </a:r>
            <a:r>
              <a:rPr sz="2000" b="0">
                <a:solidFill>
                  <a:srgbClr val="1F2D3A"/>
                </a:solidFill>
              </a:rPr>
              <a:t> add parameters that are never used → the signature becomes misleading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K-06 · ⚠️ Do Not Break Constant-Timeness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When you write your own comparison, make sure it stays </a:t>
            </a:r>
            <a:r>
              <a:rPr sz="2000" b="1">
                <a:solidFill>
                  <a:srgbClr val="1F2D3A"/>
                </a:solidFill>
              </a:rPr>
              <a:t>constant-time</a:t>
            </a:r>
            <a:r>
              <a:rPr sz="2000" b="0">
                <a:solidFill>
                  <a:srgbClr val="1F2D3A"/>
                </a:solidFill>
              </a:rPr>
              <a:t> (week 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early-exit comparison → opens a </a:t>
            </a:r>
            <a:r>
              <a:rPr sz="2000" b="1">
                <a:solidFill>
                  <a:srgbClr val="1F2D3A"/>
                </a:solidFill>
              </a:rPr>
              <a:t>side channel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 not create a </a:t>
            </a:r>
            <a:r>
              <a:rPr sz="2000" b="1">
                <a:solidFill>
                  <a:srgbClr val="1F2D3A"/>
                </a:solidFill>
              </a:rPr>
              <a:t>new hole</a:t>
            </a:r>
            <a:r>
              <a:rPr sz="2000" b="0">
                <a:solidFill>
                  <a:srgbClr val="1F2D3A"/>
                </a:solidFill>
              </a:rPr>
              <a:t> while adding a protection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K-06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low–medium (your own versions need maintenance)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behavioural analysis can still reveal what it does → this is a </a:t>
            </a:r>
            <a:r>
              <a:rPr sz="1800" b="1">
                <a:solidFill>
                  <a:srgbClr val="1F2D3A"/>
                </a:solidFill>
              </a:rPr>
              <a:t>delay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count of recognisable library calls in the binary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 —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K-01</a:t>
            </a:r>
            <a:r>
              <a:rPr sz="2000" b="0">
                <a:solidFill>
                  <a:srgbClr val="1F2D3A"/>
                </a:solidFill>
              </a:rPr>
              <a:t> opaque predicate/loop · </a:t>
            </a:r>
            <a:r>
              <a:rPr sz="2000" b="1">
                <a:solidFill>
                  <a:srgbClr val="1F2D3A"/>
                </a:solidFill>
              </a:rPr>
              <a:t>K-02</a:t>
            </a:r>
            <a:r>
              <a:rPr sz="2000" b="0">
                <a:solidFill>
                  <a:srgbClr val="1F2D3A"/>
                </a:solidFill>
              </a:rPr>
              <a:t> arithmetic encoding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K-03</a:t>
            </a:r>
            <a:r>
              <a:rPr sz="2000" b="0">
                <a:solidFill>
                  <a:srgbClr val="1F2D3A"/>
                </a:solidFill>
              </a:rPr>
              <a:t> bogus operation ≠ dead branch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K-04</a:t>
            </a:r>
            <a:r>
              <a:rPr sz="2000" b="0">
                <a:solidFill>
                  <a:srgbClr val="1F2D3A"/>
                </a:solidFill>
              </a:rPr>
              <a:t> flattening (with reinforcements)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K-05</a:t>
            </a:r>
            <a:r>
              <a:rPr sz="2000" b="0">
                <a:solidFill>
                  <a:srgbClr val="1F2D3A"/>
                </a:solidFill>
              </a:rPr>
              <a:t> random exit · </a:t>
            </a:r>
            <a:r>
              <a:rPr sz="2000" b="1">
                <a:solidFill>
                  <a:srgbClr val="1F2D3A"/>
                </a:solidFill>
              </a:rPr>
              <a:t>K-06</a:t>
            </a:r>
            <a:r>
              <a:rPr sz="2000" b="0">
                <a:solidFill>
                  <a:srgbClr val="1F2D3A"/>
                </a:solidFill>
              </a:rPr>
              <a:t> call hiding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3072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None is sufficient on its own; </a:t>
            </a:r>
            <a:r>
              <a:rPr sz="2000" b="1">
                <a:solidFill>
                  <a:srgbClr val="1F2D3A"/>
                </a:solidFill>
              </a:rPr>
              <a:t>together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measured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What is the difference between a bogus operation and a dead branch?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What are the 4 rules that strengthen flattening?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Which attack does random exit make harder?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Section 3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A </a:t>
            </a:r>
            <a:r>
              <a:rPr sz="1800" b="1">
                <a:solidFill>
                  <a:srgbClr val="1F2D3A"/>
                </a:solidFill>
              </a:rPr>
              <a:t>bogus operation</a:t>
            </a:r>
            <a:r>
              <a:rPr sz="1800" b="0">
                <a:solidFill>
                  <a:srgbClr val="1F2D3A"/>
                </a:solidFill>
              </a:rPr>
              <a:t> runs but does not change the result; a </a:t>
            </a:r>
            <a:r>
              <a:rPr sz="1800" b="1">
                <a:solidFill>
                  <a:srgbClr val="1F2D3A"/>
                </a:solidFill>
              </a:rPr>
              <a:t>dead branch</a:t>
            </a:r>
            <a:r>
              <a:rPr sz="1800" b="0">
                <a:solidFill>
                  <a:srgbClr val="1F2D3A"/>
                </a:solidFill>
              </a:rPr>
              <a:t>, protected by an opaque predicate, never runs at all.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Hide the state values (K-02) · bogus/dead blocks (K-03) · random exit (K-05) · opaque predicate transitions (K-01).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The "find the failure branch and flip it to success" attack; a </a:t>
            </a:r>
            <a:r>
              <a:rPr sz="1800" b="1">
                <a:solidFill>
                  <a:srgbClr val="1F2D3A"/>
                </a:solidFill>
              </a:rPr>
              <a:t>single-byte patch is no longer enough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Data and Whole-Program Rules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Data Obfuscation Rules K-07–K-09 — Diagram</a:t>
            </a:r>
          </a:p>
        </p:txBody>
      </p:sp>
      <p:pic>
        <p:nvPicPr>
          <p:cNvPr id="7" name="Picture 6" descr="h09-15-veri-gizleme-kural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27767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Control Flow ≠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Control flow</a:t>
            </a:r>
            <a:r>
              <a:rPr sz="2000" b="0">
                <a:solidFill>
                  <a:srgbClr val="1F2D3A"/>
                </a:solidFill>
              </a:rPr>
              <a:t> (section 3): hides the algorithm's </a:t>
            </a:r>
            <a:r>
              <a:rPr sz="2000" b="1">
                <a:solidFill>
                  <a:srgbClr val="1F2D3A"/>
                </a:solidFill>
              </a:rPr>
              <a:t>structure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Data obfuscation</a:t>
            </a:r>
            <a:r>
              <a:rPr sz="2000" b="0">
                <a:solidFill>
                  <a:srgbClr val="1F2D3A"/>
                </a:solidFill>
              </a:rPr>
              <a:t> (this section): hides the </a:t>
            </a:r>
            <a:r>
              <a:rPr sz="2000" b="1">
                <a:solidFill>
                  <a:srgbClr val="1F2D3A"/>
                </a:solidFill>
              </a:rPr>
              <a:t>values</a:t>
            </a:r>
            <a:r>
              <a:rPr sz="2000" b="0">
                <a:solidFill>
                  <a:srgbClr val="1F2D3A"/>
                </a:solidFill>
              </a:rPr>
              <a:t> the program processes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Strings, constants, tables, variables.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K-07 · String Encoding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readable text</a:t>
            </a:r>
            <a:r>
              <a:rPr sz="2000" b="0">
                <a:solidFill>
                  <a:srgbClr val="1F2D3A"/>
                </a:solidFill>
              </a:rPr>
              <a:t> inside a binary.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cheapest attack step: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"Lisans gecersiz"</a:t>
            </a:r>
            <a:r>
              <a:rPr sz="2000" b="0">
                <a:solidFill>
                  <a:srgbClr val="1F2D3A"/>
                </a:solidFill>
              </a:rPr>
              <a:t> or a URL → tells the attacker exactly where to look.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Sensitive strings are encoded </a:t>
            </a:r>
            <a:r>
              <a:rPr sz="2000" b="1">
                <a:solidFill>
                  <a:srgbClr val="1F2D3A"/>
                </a:solidFill>
              </a:rPr>
              <a:t>before compilation</a:t>
            </a:r>
            <a:r>
              <a:rPr sz="2000" b="0">
                <a:solidFill>
                  <a:srgbClr val="1F2D3A"/>
                </a:solidFill>
              </a:rPr>
              <a:t> (e.g., XOR)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stay </a:t>
            </a:r>
            <a:r>
              <a:rPr sz="2000" b="1">
                <a:solidFill>
                  <a:srgbClr val="1F2D3A"/>
                </a:solidFill>
              </a:rPr>
              <a:t>encoded</a:t>
            </a:r>
            <a:r>
              <a:rPr sz="2000" b="0">
                <a:solidFill>
                  <a:srgbClr val="1F2D3A"/>
                </a:solidFill>
              </a:rPr>
              <a:t> in the binary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Decoded </a:t>
            </a:r>
            <a:r>
              <a:rPr sz="2000" b="1">
                <a:solidFill>
                  <a:srgbClr val="1F2D3A"/>
                </a:solidFill>
              </a:rPr>
              <a:t>at the moment of use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Wiped</a:t>
            </a:r>
            <a:r>
              <a:rPr sz="2000" b="0">
                <a:solidFill>
                  <a:srgbClr val="1F2D3A"/>
                </a:solidFill>
              </a:rPr>
              <a:t> the instant the job is done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Example (Synthetic)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const uint8_t GIZLI[] = {0x3B,0x2A,0x2E,0x2E,0x2D};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kullan(void)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char tmp[sizeof GIZLI];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(size_t i=0;i&lt;sizeof GIZLI;i++)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tmp[i] = GIZLI[i] ^ 0x5A;      /* çöz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isle(tmp, sizeof GIZLI);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memset_s_benzeri(tmp, sizeof tmp); /* hemen sil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⚠️ Critical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decoded string is </a:t>
            </a:r>
            <a:r>
              <a:rPr sz="2000" b="1">
                <a:solidFill>
                  <a:srgbClr val="1F2D3A"/>
                </a:solidFill>
              </a:rPr>
              <a:t>exposed in memory</a:t>
            </a:r>
            <a:r>
              <a:rPr sz="2000" b="0">
                <a:solidFill>
                  <a:srgbClr val="1F2D3A"/>
                </a:solidFill>
              </a:rPr>
              <a:t> while running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decoding key is also in the binary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a </a:t>
            </a:r>
            <a:r>
              <a:rPr sz="2000" b="1">
                <a:solidFill>
                  <a:srgbClr val="1F2D3A"/>
                </a:solidFill>
              </a:rPr>
              <a:t>static-scan</a:t>
            </a:r>
            <a:r>
              <a:rPr sz="2000" b="0">
                <a:solidFill>
                  <a:srgbClr val="1F2D3A"/>
                </a:solidFill>
              </a:rPr>
              <a:t> countermeasure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the field: the decoding key is </a:t>
            </a:r>
            <a:r>
              <a:rPr sz="2000" b="1">
                <a:solidFill>
                  <a:srgbClr val="1F2D3A"/>
                </a:solidFill>
              </a:rPr>
              <a:t>split and distributed</a:t>
            </a:r>
            <a:r>
              <a:rPr sz="2000" b="0">
                <a:solidFill>
                  <a:srgbClr val="1F2D3A"/>
                </a:solidFill>
              </a:rPr>
              <a:t>, and the decoding function gets extra checks.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String Obfuscation ≠ Key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Again: string obfuscation stops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it does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protect a </a:t>
            </a:r>
            <a:r>
              <a:rPr sz="2000" b="1">
                <a:solidFill>
                  <a:srgbClr val="1F2D3A"/>
                </a:solidFill>
              </a:rPr>
              <a:t>key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the key → whitebox (week 11) or hardware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Measurement:</a:t>
            </a:r>
            <a:r>
              <a:rPr sz="2000" b="0">
                <a:solidFill>
                  <a:srgbClr val="1F2D3A"/>
                </a:solidFill>
              </a:rPr>
              <a:t> the sensitive string </a:t>
            </a:r>
            <a:r>
              <a:rPr sz="2000" b="1">
                <a:solidFill>
                  <a:srgbClr val="1F2D3A"/>
                </a:solidFill>
              </a:rPr>
              <a:t>must not</a:t>
            </a:r>
            <a:r>
              <a:rPr sz="2000" b="0">
                <a:solidFill>
                  <a:srgbClr val="1F2D3A"/>
                </a:solidFill>
              </a:rPr>
              <a:t> be found in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output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K-08 · Opaque Boolean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K-08 · Problem: Plain 0/1 Is Dangerous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Returning a check's result as a plain </a:t>
            </a:r>
            <a:r>
              <a:rPr sz="2000" b="0">
                <a:solidFill>
                  <a:srgbClr val="A1123F"/>
                </a:solidFill>
                <a:latin typeface="Consolas"/>
              </a:rPr>
              <a:t>0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flips a </a:t>
            </a:r>
            <a:r>
              <a:rPr sz="2000" b="1">
                <a:solidFill>
                  <a:srgbClr val="1F2D3A"/>
                </a:solidFill>
              </a:rPr>
              <a:t>single byte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"Failure" becomes "success"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K-08 ·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Tie the true/false value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Multiple values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a way a single-byte patch cannot flip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Functions return an </a:t>
            </a:r>
            <a:r>
              <a:rPr sz="2000" b="1">
                <a:solidFill>
                  <a:srgbClr val="1F2D3A"/>
                </a:solidFill>
              </a:rPr>
              <a:t>opaque return code</a:t>
            </a:r>
            <a:r>
              <a:rPr sz="2000" b="0">
                <a:solidFill>
                  <a:srgbClr val="1F2D3A"/>
                </a:solidFill>
              </a:rPr>
              <a:t> instead of a plain boolean.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K-08 · Example (Concept)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{ uint32_t a, b; } Karar;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Karar izin_ver(void)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(Karar){ 0xA3C1u, 0x5C3Eu };  /* a ^ b == 0xFFFF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karar_izin_mi(Karar k)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(k.a ^ k.b) == 0xFFFFu;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calling side verifies </a:t>
            </a:r>
            <a:r>
              <a:rPr sz="2000" b="1">
                <a:solidFill>
                  <a:srgbClr val="1F2D3A"/>
                </a:solidFill>
              </a:rPr>
              <a:t>both fields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K-08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solvable with enough scrutiny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Goal:</a:t>
            </a:r>
            <a:r>
              <a:rPr sz="1800" b="0">
                <a:solidFill>
                  <a:srgbClr val="1F2D3A"/>
                </a:solidFill>
              </a:rPr>
              <a:t> block a single-byte patch and crude branch-flipping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independent points &gt; 1</a:t>
            </a:r>
            <a:r>
              <a:rPr sz="1800" b="0">
                <a:solidFill>
                  <a:srgbClr val="1F2D3A"/>
                </a:solidFill>
              </a:rPr>
              <a:t> needed to flip the result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K-09 · Variable Splitting and Restructuring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K-09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recognisable footprint</a:t>
            </a:r>
            <a:r>
              <a:rPr sz="2000" b="0">
                <a:solidFill>
                  <a:srgbClr val="1F2D3A"/>
                </a:solidFill>
              </a:rPr>
              <a:t> of a sensitive variable in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Patterns like "a 32-byte block = an AES key" point the attacker straight at it.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K-09 · How?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Split</a:t>
            </a:r>
            <a:r>
              <a:rPr sz="2000" b="0">
                <a:solidFill>
                  <a:srgbClr val="1F2D3A"/>
                </a:solidFill>
              </a:rPr>
              <a:t> a variable (produce a 32-bit value from two 16-bit shares)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Merge</a:t>
            </a:r>
            <a:r>
              <a:rPr sz="2000" b="0">
                <a:solidFill>
                  <a:srgbClr val="1F2D3A"/>
                </a:solidFill>
              </a:rPr>
              <a:t> several variables into a single word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Rearrange arrays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Change buffer size/order/layout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Fill with random values</a:t>
            </a:r>
            <a:r>
              <a:rPr sz="2000" b="0">
                <a:solidFill>
                  <a:srgbClr val="1F2D3A"/>
                </a:solidFill>
              </a:rPr>
              <a:t> after use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K-09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low–medium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only slows down static/pattern analysis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time needed to recognise the sensitive buffer from the pattern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Whole-Program Rules: K-10, K-11, K-12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K-10 · Virtualisation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does it protect?</a:t>
            </a:r>
            <a:r>
              <a:rPr sz="2000" b="0">
                <a:solidFill>
                  <a:srgbClr val="1F2D3A"/>
                </a:solidFill>
              </a:rPr>
              <a:t> A function's </a:t>
            </a:r>
            <a:r>
              <a:rPr sz="2000" b="1">
                <a:solidFill>
                  <a:srgbClr val="1F2D3A"/>
                </a:solidFill>
              </a:rPr>
              <a:t>machine code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How?</a:t>
            </a:r>
            <a:r>
              <a:rPr sz="2000" b="0">
                <a:solidFill>
                  <a:srgbClr val="1F2D3A"/>
                </a:solidFill>
              </a:rPr>
              <a:t> The function → a custom </a:t>
            </a:r>
            <a:r>
              <a:rPr sz="2000" b="1">
                <a:solidFill>
                  <a:srgbClr val="1F2D3A"/>
                </a:solidFill>
              </a:rPr>
              <a:t>VM's bytecode</a:t>
            </a:r>
            <a:r>
              <a:rPr sz="2000" b="0">
                <a:solidFill>
                  <a:srgbClr val="1F2D3A"/>
                </a:solidFill>
              </a:rPr>
              <a:t>; the bytecode and a small interpreter are embedded in the binary.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attacker does not see familiar code — they see a </a:t>
            </a:r>
            <a:r>
              <a:rPr sz="2000" b="1">
                <a:solidFill>
                  <a:srgbClr val="1F2D3A"/>
                </a:solidFill>
              </a:rPr>
              <a:t>custom instruction set</a:t>
            </a:r>
            <a:r>
              <a:rPr sz="2000" b="0">
                <a:solidFill>
                  <a:srgbClr val="1F2D3A"/>
                </a:solidFill>
              </a:rPr>
              <a:t> they must first solve.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K-10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760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high</a:t>
            </a:r>
            <a:r>
              <a:rPr sz="1800" b="0">
                <a:solidFill>
                  <a:srgbClr val="1F2D3A"/>
                </a:solidFill>
              </a:rPr>
              <a:t> (interpreted code is slow; maintenance is expensive)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Use:</a:t>
            </a:r>
            <a:r>
              <a:rPr sz="1800" b="0">
                <a:solidFill>
                  <a:srgbClr val="1F2D3A"/>
                </a:solidFill>
              </a:rPr>
              <a:t> only the most critical, small, rarely-changing functions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once the VM is solved once, everything it protects opens up; if not diversified, every copy is identical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Week 14: Tigress </a:t>
            </a:r>
            <a:r>
              <a:rPr sz="1800" b="0">
                <a:solidFill>
                  <a:srgbClr val="A1123F"/>
                </a:solidFill>
                <a:latin typeface="Consolas"/>
              </a:rPr>
              <a:t>Virtualize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K-11 · Compiler-Based (O-LLVM)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does it protect?</a:t>
            </a:r>
            <a:r>
              <a:rPr sz="2000" b="0">
                <a:solidFill>
                  <a:srgbClr val="1F2D3A"/>
                </a:solidFill>
              </a:rPr>
              <a:t> The rules above, applied through a </a:t>
            </a:r>
            <a:r>
              <a:rPr sz="2000" b="1">
                <a:solidFill>
                  <a:srgbClr val="1F2D3A"/>
                </a:solidFill>
              </a:rPr>
              <a:t>compiler pass</a:t>
            </a:r>
            <a:r>
              <a:rPr sz="2000" b="0">
                <a:solidFill>
                  <a:srgbClr val="1F2D3A"/>
                </a:solidFill>
              </a:rPr>
              <a:t>, not by 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LLVM-based obfuscators: flattening, bogus control flow, instruction-substitution passes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source stays </a:t>
            </a:r>
            <a:r>
              <a:rPr sz="2000" b="1">
                <a:solidFill>
                  <a:srgbClr val="1F2D3A"/>
                </a:solidFill>
              </a:rPr>
              <a:t>readable</a:t>
            </a:r>
            <a:r>
              <a:rPr sz="2000" b="0">
                <a:solidFill>
                  <a:srgbClr val="1F2D3A"/>
                </a:solidFill>
              </a:rPr>
              <a:t>; protection is a compile option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different </a:t>
            </a:r>
            <a:r>
              <a:rPr sz="2000" b="1">
                <a:solidFill>
                  <a:srgbClr val="1F2D3A"/>
                </a:solidFill>
              </a:rPr>
              <a:t>seed</a:t>
            </a:r>
            <a:r>
              <a:rPr sz="2000" b="0">
                <a:solidFill>
                  <a:srgbClr val="1F2D3A"/>
                </a:solidFill>
              </a:rPr>
              <a:t> per build → easy diversification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K-11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medium (depends on the passes selected)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known pass patterns are recognisable; stay current with the tool's version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the difference between binaries produced with different seeds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K-12 · Dynamic Encryption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does it protect?</a:t>
            </a:r>
            <a:r>
              <a:rPr sz="2000" b="0">
                <a:solidFill>
                  <a:srgbClr val="1F2D3A"/>
                </a:solidFill>
              </a:rPr>
              <a:t> The most sensitive code sections, by keeping them </a:t>
            </a:r>
            <a:r>
              <a:rPr sz="2000" b="1">
                <a:solidFill>
                  <a:srgbClr val="1F2D3A"/>
                </a:solidFill>
              </a:rPr>
              <a:t>encrypted</a:t>
            </a:r>
            <a:r>
              <a:rPr sz="2000" b="0">
                <a:solidFill>
                  <a:srgbClr val="1F2D3A"/>
                </a:solidFill>
              </a:rPr>
              <a:t> in the binary.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How?</a:t>
            </a:r>
            <a:r>
              <a:rPr sz="2000" b="0">
                <a:solidFill>
                  <a:srgbClr val="1F2D3A"/>
                </a:solidFill>
              </a:rPr>
              <a:t> The section stays encrypted → decoded only right when it is about to run → then re-encrypted/wiped.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K-12 · ⚠️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Directly </a:t>
            </a:r>
            <a:r>
              <a:rPr sz="2000" b="1">
                <a:solidFill>
                  <a:srgbClr val="1F2D3A"/>
                </a:solidFill>
              </a:rPr>
              <a:t>conflicts</a:t>
            </a:r>
            <a:r>
              <a:rPr sz="2000" b="0">
                <a:solidFill>
                  <a:srgbClr val="1F2D3A"/>
                </a:solidFill>
              </a:rPr>
              <a:t> with OS memory protections (</a:t>
            </a:r>
            <a:r>
              <a:rPr sz="2000" b="1">
                <a:solidFill>
                  <a:srgbClr val="1F2D3A"/>
                </a:solidFill>
              </a:rPr>
              <a:t>DEP/NX, W^X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Done wrong, it both crashes and opens a </a:t>
            </a:r>
            <a:r>
              <a:rPr sz="2000" b="1">
                <a:solidFill>
                  <a:srgbClr val="1F2D3A"/>
                </a:solidFill>
              </a:rPr>
              <a:t>new hole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code sits exposed in memory for a moment while running → a memory dump can catch it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K-12 ·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If adding one protection </a:t>
            </a:r>
            <a:r>
              <a:rPr sz="2000" b="1">
                <a:solidFill>
                  <a:srgbClr val="1F2D3A"/>
                </a:solidFill>
              </a:rPr>
              <a:t>turns off</a:t>
            </a:r>
            <a:r>
              <a:rPr sz="2000" b="0">
                <a:solidFill>
                  <a:srgbClr val="1F2D3A"/>
                </a:solidFill>
              </a:rPr>
              <a:t> another, measure the net gain and record the trade-off.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practice it is used very selectively, on small sections.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Java/Managed Side (from Week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week's rules are for </a:t>
            </a:r>
            <a:r>
              <a:rPr sz="2000" b="1">
                <a:solidFill>
                  <a:srgbClr val="1F2D3A"/>
                </a:solidFill>
              </a:rPr>
              <a:t>native</a:t>
            </a:r>
            <a:r>
              <a:rPr sz="2000" b="0">
                <a:solidFill>
                  <a:srgbClr val="1F2D3A"/>
                </a:solidFill>
              </a:rPr>
              <a:t> (C/C++)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managed-language equivalent: </a:t>
            </a:r>
            <a:r>
              <a:rPr sz="2000" b="1">
                <a:solidFill>
                  <a:srgbClr val="1F2D3A"/>
                </a:solidFill>
              </a:rPr>
              <a:t>ProGuard/R8</a:t>
            </a:r>
            <a:r>
              <a:rPr sz="2000" b="0">
                <a:solidFill>
                  <a:srgbClr val="1F2D3A"/>
                </a:solidFill>
              </a:rPr>
              <a:t> name obfuscation + dead code elimination + shrinking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APIs reached via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and reflection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Two Sides Work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Java side is obfuscated with R8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native side, with this week's rules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Cross-check:</a:t>
            </a:r>
            <a:r>
              <a:rPr sz="2000" b="0">
                <a:solidFill>
                  <a:srgbClr val="1F2D3A"/>
                </a:solidFill>
              </a:rPr>
              <a:t> native verifies Java's integrity, Java verifies native's (week 6, RASP)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4 —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K-07</a:t>
            </a:r>
            <a:r>
              <a:rPr sz="2000" b="0">
                <a:solidFill>
                  <a:srgbClr val="1F2D3A"/>
                </a:solidFill>
              </a:rPr>
              <a:t> string encoding · </a:t>
            </a:r>
            <a:r>
              <a:rPr sz="2000" b="1">
                <a:solidFill>
                  <a:srgbClr val="1F2D3A"/>
                </a:solidFill>
              </a:rPr>
              <a:t>K-08</a:t>
            </a:r>
            <a:r>
              <a:rPr sz="2000" b="0">
                <a:solidFill>
                  <a:srgbClr val="1F2D3A"/>
                </a:solidFill>
              </a:rPr>
              <a:t> opaque boolean · </a:t>
            </a:r>
            <a:r>
              <a:rPr sz="2000" b="1">
                <a:solidFill>
                  <a:srgbClr val="1F2D3A"/>
                </a:solidFill>
              </a:rPr>
              <a:t>K-09</a:t>
            </a:r>
            <a:r>
              <a:rPr sz="2000" b="0">
                <a:solidFill>
                  <a:srgbClr val="1F2D3A"/>
                </a:solidFill>
              </a:rPr>
              <a:t> variable splitting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K-10</a:t>
            </a:r>
            <a:r>
              <a:rPr sz="2000" b="0">
                <a:solidFill>
                  <a:srgbClr val="1F2D3A"/>
                </a:solidFill>
              </a:rPr>
              <a:t> virtualisation (expensive) · </a:t>
            </a:r>
            <a:r>
              <a:rPr sz="2000" b="1">
                <a:solidFill>
                  <a:srgbClr val="1F2D3A"/>
                </a:solidFill>
              </a:rPr>
              <a:t>K-11</a:t>
            </a:r>
            <a:r>
              <a:rPr sz="2000" b="0">
                <a:solidFill>
                  <a:srgbClr val="1F2D3A"/>
                </a:solidFill>
              </a:rPr>
              <a:t> compiler-based (O-LLVM) · </a:t>
            </a:r>
            <a:r>
              <a:rPr sz="2000" b="1">
                <a:solidFill>
                  <a:srgbClr val="1F2D3A"/>
                </a:solidFill>
              </a:rPr>
              <a:t>K-12</a:t>
            </a:r>
            <a:r>
              <a:rPr sz="2000" b="0">
                <a:solidFill>
                  <a:srgbClr val="1F2D3A"/>
                </a:solidFill>
              </a:rPr>
              <a:t> dynamic (risky)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908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Data obfuscation </a:t>
            </a:r>
            <a:r>
              <a:rPr sz="2000" b="1">
                <a:solidFill>
                  <a:srgbClr val="1F2D3A"/>
                </a:solidFill>
              </a:rPr>
              <a:t>complements</a:t>
            </a:r>
            <a:r>
              <a:rPr sz="2000" b="0">
                <a:solidFill>
                  <a:srgbClr val="1F2D3A"/>
                </a:solidFill>
              </a:rPr>
              <a:t> control-flow obfuscation.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Does string obfuscation protect the key?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does an opaque boolean make a single-byte patch harder?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 are virtualisation's two biggest costs?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Section 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No.</a:t>
            </a:r>
            <a:r>
              <a:rPr sz="1800" b="0">
                <a:solidFill>
                  <a:srgbClr val="1F2D3A"/>
                </a:solidFill>
              </a:rPr>
              <a:t> The decoded string is exposed in memory; the decoding key is inside; it only stops </a:t>
            </a:r>
            <a:r>
              <a:rPr sz="1800" b="1">
                <a:solidFill>
                  <a:srgbClr val="1F2D3A"/>
                </a:solidFill>
              </a:rPr>
              <a:t>static</a:t>
            </a:r>
            <a:r>
              <a:rPr sz="1800" b="0">
                <a:solidFill>
                  <a:srgbClr val="1F2D3A"/>
                </a:solidFill>
              </a:rPr>
              <a:t> (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) scanning.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The result depends on multiple values; flipping it requires changing </a:t>
            </a:r>
            <a:r>
              <a:rPr sz="1800" b="1">
                <a:solidFill>
                  <a:srgbClr val="1F2D3A"/>
                </a:solidFill>
              </a:rPr>
              <a:t>&gt;1 independent points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High </a:t>
            </a:r>
            <a:r>
              <a:rPr sz="1800" b="1">
                <a:solidFill>
                  <a:srgbClr val="1F2D3A"/>
                </a:solidFill>
              </a:rPr>
              <a:t>performance</a:t>
            </a:r>
            <a:r>
              <a:rPr sz="1800" b="0">
                <a:solidFill>
                  <a:srgbClr val="1F2D3A"/>
                </a:solidFill>
              </a:rPr>
              <a:t> cost (tens of times slower) and high </a:t>
            </a:r>
            <a:r>
              <a:rPr sz="1800" b="1">
                <a:solidFill>
                  <a:srgbClr val="1F2D3A"/>
                </a:solidFill>
              </a:rPr>
              <a:t>maintenance</a:t>
            </a:r>
            <a:r>
              <a:rPr sz="1800" b="0">
                <a:solidFill>
                  <a:srgbClr val="1F2D3A"/>
                </a:solidFill>
              </a:rPr>
              <a:t> cost; that is why it is used only on small/critical functions.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Diversification and Measurement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Diversification — Diagram</a:t>
            </a:r>
          </a:p>
        </p:txBody>
      </p:sp>
      <p:pic>
        <p:nvPicPr>
          <p:cNvPr id="7" name="Picture 6" descr="h09-07-cesitlendi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14" y="1325880"/>
            <a:ext cx="1064546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Diversification: Recall Rule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An attack that works on one copy should not work on every copy.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the attacker can crack one copy and distribute the patch/script to </a:t>
            </a:r>
            <a:r>
              <a:rPr sz="2000" b="1">
                <a:solidFill>
                  <a:srgbClr val="1F2D3A"/>
                </a:solidFill>
              </a:rPr>
              <a:t>everyone</a:t>
            </a:r>
            <a:r>
              <a:rPr sz="2000" b="0">
                <a:solidFill>
                  <a:srgbClr val="1F2D3A"/>
                </a:solidFill>
              </a:rPr>
              <a:t>, one crack opens every door.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Diversification?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Producing binaries from the same source that are </a:t>
            </a:r>
            <a:r>
              <a:rPr sz="2000" b="1">
                <a:solidFill>
                  <a:srgbClr val="1F2D3A"/>
                </a:solidFill>
              </a:rPr>
              <a:t>behaviourally equivalent, structurally different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Opaque predicates, bogus blocks, state values </a:t>
            </a:r>
            <a:r>
              <a:rPr sz="2000" b="1">
                <a:solidFill>
                  <a:srgbClr val="1F2D3A"/>
                </a:solidFill>
              </a:rPr>
              <a:t>change</a:t>
            </a:r>
            <a:r>
              <a:rPr sz="2000" b="0">
                <a:solidFill>
                  <a:srgbClr val="1F2D3A"/>
                </a:solidFill>
              </a:rPr>
              <a:t> from copy to copy.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Two Kinds of Diversification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space:</a:t>
            </a:r>
            <a:r>
              <a:rPr sz="2000" b="0">
                <a:solidFill>
                  <a:srgbClr val="1F2D3A"/>
                </a:solidFill>
              </a:rPr>
              <a:t> every build/distribution gets a different </a:t>
            </a:r>
            <a:r>
              <a:rPr sz="2000" b="1">
                <a:solidFill>
                  <a:srgbClr val="1F2D3A"/>
                </a:solidFill>
              </a:rPr>
              <a:t>seed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An attack written for one copy does not work on another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time:</a:t>
            </a:r>
            <a:r>
              <a:rPr sz="2000" b="0">
                <a:solidFill>
                  <a:srgbClr val="1F2D3A"/>
                </a:solidFill>
              </a:rPr>
              <a:t> every release gets a new arrangement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An attack written for the old release breaks in the new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Works together with key/version renewal (week 10).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Diversification Prevent?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does not raise obfuscation's </a:t>
            </a:r>
            <a:r>
              <a:rPr sz="2000" b="1">
                <a:solidFill>
                  <a:srgbClr val="1F2D3A"/>
                </a:solidFill>
              </a:rPr>
              <a:t>potency</a:t>
            </a:r>
            <a:r>
              <a:rPr sz="2000" b="0">
                <a:solidFill>
                  <a:srgbClr val="1F2D3A"/>
                </a:solidFill>
              </a:rPr>
              <a:t> (a single copy can still be cracked)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it prevents </a:t>
            </a:r>
            <a:r>
              <a:rPr sz="2000" b="1">
                <a:solidFill>
                  <a:srgbClr val="1F2D3A"/>
                </a:solidFill>
              </a:rPr>
              <a:t>scaling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Week 14: with tooling, via Tigress </a:t>
            </a:r>
            <a:r>
              <a:rPr sz="2000" b="0">
                <a:solidFill>
                  <a:srgbClr val="A1123F"/>
                </a:solidFill>
                <a:latin typeface="Consolas"/>
              </a:rPr>
              <a:t>--Seed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RandomFuns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Diversification Effectiveness: a Simple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Compile the same source with </a:t>
            </a:r>
            <a:r>
              <a:rPr sz="2000" b="1">
                <a:solidFill>
                  <a:srgbClr val="1F2D3A"/>
                </a:solidFill>
              </a:rPr>
              <a:t>two different seeds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Measure the </a:t>
            </a:r>
            <a:r>
              <a:rPr sz="2000" b="1">
                <a:solidFill>
                  <a:srgbClr val="1F2D3A"/>
                </a:solidFill>
              </a:rPr>
              <a:t>byte difference</a:t>
            </a:r>
            <a:r>
              <a:rPr sz="2000" b="0">
                <a:solidFill>
                  <a:srgbClr val="1F2D3A"/>
                </a:solidFill>
              </a:rPr>
              <a:t> of the protected functions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higher the difference, the lower the odds that an attack on one works on the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Write this metric into S9.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Measuring Obfuscation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Measure?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To </a:t>
            </a:r>
            <a:r>
              <a:rPr sz="2000" b="1">
                <a:solidFill>
                  <a:srgbClr val="1F2D3A"/>
                </a:solidFill>
              </a:rPr>
              <a:t>defend</a:t>
            </a:r>
            <a:r>
              <a:rPr sz="2000" b="0">
                <a:solidFill>
                  <a:srgbClr val="1F2D3A"/>
                </a:solidFill>
              </a:rPr>
              <a:t> a protection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Collberg's framework: four dimensions.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These four are the foundation of week 13's </a:t>
            </a:r>
            <a:r>
              <a:rPr sz="2000" b="1">
                <a:solidFill>
                  <a:srgbClr val="1F2D3A"/>
                </a:solidFill>
              </a:rPr>
              <a:t>attack potential</a:t>
            </a:r>
            <a:r>
              <a:rPr sz="2000" b="0">
                <a:solidFill>
                  <a:srgbClr val="1F2D3A"/>
                </a:solidFill>
              </a:rPr>
              <a:t> scoring.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Metric 1 — Potency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how incomprehensible is it to a human?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How:</a:t>
            </a:r>
            <a:r>
              <a:rPr sz="2000" b="0">
                <a:solidFill>
                  <a:srgbClr val="1F2D3A"/>
                </a:solidFill>
              </a:rPr>
              <a:t> complexity metrics — CFG node/edge count, cyclomatic complexity, nesting depth (before/after).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Metric 2 —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how much does it withstand an automated tool?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How:</a:t>
            </a:r>
            <a:r>
              <a:rPr sz="2000" b="0">
                <a:solidFill>
                  <a:srgbClr val="1F2D3A"/>
                </a:solidFill>
              </a:rPr>
              <a:t> how long/successfully a deobfuscation tool (symbolic execution, a simplifier) takes to </a:t>
            </a:r>
            <a:r>
              <a:rPr sz="2000" b="1">
                <a:solidFill>
                  <a:srgbClr val="1F2D3A"/>
                </a:solidFill>
              </a:rPr>
              <a:t>undo</a:t>
            </a:r>
            <a:r>
              <a:rPr sz="2000" b="0">
                <a:solidFill>
                  <a:srgbClr val="1F2D3A"/>
                </a:solidFill>
              </a:rPr>
              <a:t> the protection.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Metric 3 — Stealth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does the obfuscation give itself away?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How:</a:t>
            </a:r>
            <a:r>
              <a:rPr sz="2000" b="0">
                <a:solidFill>
                  <a:srgbClr val="1F2D3A"/>
                </a:solidFill>
              </a:rPr>
              <a:t> is obfuscated code statistically distinguishable from normal code?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it is distinguishable, the attacker knows where to look.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Metric 4 —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how much does it cost 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How:</a:t>
            </a:r>
            <a:r>
              <a:rPr sz="2000" b="0">
                <a:solidFill>
                  <a:srgbClr val="1F2D3A"/>
                </a:solidFill>
              </a:rPr>
              <a:t> size increase, runtime, memory, maintenance, debugging difficulty.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Before Flattening (Concept)</a:t>
            </a:r>
          </a:p>
        </p:txBody>
      </p:sp>
      <p:pic>
        <p:nvPicPr>
          <p:cNvPr id="7" name="Picture 6" descr="h09-04-duzlesti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510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586685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Few nodes, readable flow.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After Flattening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Many nodes, a single hub; "which block comes next" cannot be read.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Potency Measurement Example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001791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472"/>
                <a:gridCol w="1818589"/>
                <a:gridCol w="1636730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Basic blocks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Edges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Cyclomatic complexity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86755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You take these numbers from the decompiler and write them into S9.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Cost Measurement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 ./program_temiz ./program_gizli   # boyut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süre: aynı girdiyle N kez çalıştır, ortalama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087880"/>
          <a:ext cx="6001343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9509"/>
                <a:gridCol w="1935917"/>
                <a:gridCol w="1935917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128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Runtime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1.7×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Interpreting the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Potency ↑ (34 blocks) and cost ↑ (28% size, 1.7× time)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</a:t>
            </a:r>
            <a:r>
              <a:rPr sz="2000" b="1">
                <a:solidFill>
                  <a:srgbClr val="1F2D3A"/>
                </a:solidFill>
              </a:rPr>
              <a:t>trade-off</a:t>
            </a:r>
            <a:r>
              <a:rPr sz="2000" b="0">
                <a:solidFill>
                  <a:srgbClr val="1F2D3A"/>
                </a:solidFill>
              </a:rPr>
              <a:t> is expected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Decision: is the gain acceptable given the asset's value?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Do not say "strong"; show </a:t>
            </a:r>
            <a:r>
              <a:rPr sz="2000" b="1">
                <a:solidFill>
                  <a:srgbClr val="1F2D3A"/>
                </a:solidFill>
              </a:rPr>
              <a:t>these numbers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Four Metrics Trade Off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0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3796"/>
                <a:gridCol w="6137738"/>
              </a:tblGrid>
              <a:tr h="3694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Raising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Potency ↑ / resilience 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Cost 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Complexity ↑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Stealth ↓ (draws more attention)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54386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Good decision: balance the four against the </a:t>
            </a:r>
            <a:r>
              <a:rPr sz="1800" b="1">
                <a:solidFill>
                  <a:srgbClr val="1F2D3A"/>
                </a:solidFill>
              </a:rPr>
              <a:t>value of the asset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Decision Rule (Write into S9)</a:t>
            </a:r>
          </a:p>
        </p:txBody>
      </p:sp>
      <p:pic>
        <p:nvPicPr>
          <p:cNvPr id="7" name="Picture 6" descr="h09-10-koruma-kura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14185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Deobfuscation and Resilience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Should We Know the Other Side's Tools?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To measure resilience correctly.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 learn these </a:t>
            </a:r>
            <a:r>
              <a:rPr sz="2000" b="1">
                <a:solidFill>
                  <a:srgbClr val="1F2D3A"/>
                </a:solidFill>
              </a:rPr>
              <a:t>to test our own defence</a:t>
            </a:r>
            <a:r>
              <a:rPr sz="2000" b="0">
                <a:solidFill>
                  <a:srgbClr val="1F2D3A"/>
                </a:solidFill>
              </a:rPr>
              <a:t> — not to attack.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Other Side's Tools — Diagram</a:t>
            </a:r>
          </a:p>
        </p:txBody>
      </p:sp>
      <p:pic>
        <p:nvPicPr>
          <p:cNvPr id="7" name="Picture 6" descr="h09-09-deobfus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70387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Tool 1 — Symbolic Execution (KLEE)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 paths are solved as mathematical constraints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Opaque predicates and flattening can be undone this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Resilience rule:</a:t>
            </a:r>
            <a:r>
              <a:rPr sz="2000" b="0">
                <a:solidFill>
                  <a:srgbClr val="1F2D3A"/>
                </a:solidFill>
              </a:rPr>
              <a:t> tie opaque predicates to structures that are expensive to solve (factorization, hashing), grow the state space — but </a:t>
            </a:r>
            <a:r>
              <a:rPr sz="2000" b="1">
                <a:solidFill>
                  <a:srgbClr val="1F2D3A"/>
                </a:solidFill>
              </a:rPr>
              <a:t>measure the cost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Tool 2 — MBA Simplifier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Undoes arithmetic encoding (K-02)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Countermeasure: also tie encoded constants to opaque predicates — layers that depend on each other are harder to solve separately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102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Rule:</a:t>
            </a:r>
            <a:r>
              <a:rPr sz="2000" b="0">
                <a:solidFill>
                  <a:srgbClr val="1F2D3A"/>
                </a:solidFill>
              </a:rPr>
              <a:t> do not </a:t>
            </a:r>
            <a:r>
              <a:rPr sz="2000" b="1">
                <a:solidFill>
                  <a:srgbClr val="1F2D3A"/>
                </a:solidFill>
              </a:rPr>
              <a:t>count</a:t>
            </a:r>
            <a:r>
              <a:rPr sz="2000" b="0">
                <a:solidFill>
                  <a:srgbClr val="1F2D3A"/>
                </a:solidFill>
              </a:rPr>
              <a:t> arithmetic encoding as a secrecy layer on its own; combine it with control flow.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Tool 3 — Pattern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Recognises known library/pass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Rule: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diversify</a:t>
            </a:r>
            <a:r>
              <a:rPr sz="2000" b="0">
                <a:solidFill>
                  <a:srgbClr val="1F2D3A"/>
                </a:solidFill>
              </a:rPr>
              <a:t>; do not rely on a single opaque predicate pattern or a single VM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(in space: several patterns/seeds · in time: change the patterns every release)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Main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Banescu et al. (Tigress + KLEE): how much each transform withstands symbolic execution is </a:t>
            </a:r>
            <a:r>
              <a:rPr sz="2000" b="1">
                <a:solidFill>
                  <a:srgbClr val="1F2D3A"/>
                </a:solidFill>
              </a:rPr>
              <a:t>measured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Resilience is not a </a:t>
            </a:r>
            <a:r>
              <a:rPr sz="2000" b="1">
                <a:solidFill>
                  <a:srgbClr val="1F2D3A"/>
                </a:solidFill>
              </a:rPr>
              <a:t>claim</a:t>
            </a:r>
            <a:r>
              <a:rPr sz="2000" b="0">
                <a:solidFill>
                  <a:srgbClr val="1F2D3A"/>
                </a:solidFill>
              </a:rPr>
              <a:t>, it is a </a:t>
            </a:r>
            <a:r>
              <a:rPr sz="2000" b="1">
                <a:solidFill>
                  <a:srgbClr val="1F2D3A"/>
                </a:solidFill>
              </a:rPr>
              <a:t>measured</a:t>
            </a:r>
            <a:r>
              <a:rPr sz="2000" b="0">
                <a:solidFill>
                  <a:srgbClr val="1F2D3A"/>
                </a:solidFill>
              </a:rPr>
              <a:t> quantity.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199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 not say "strong"; </a:t>
            </a:r>
            <a:r>
              <a:rPr sz="2000" b="1">
                <a:solidFill>
                  <a:srgbClr val="1F2D3A"/>
                </a:solidFill>
              </a:rPr>
              <a:t>produce a number</a:t>
            </a:r>
            <a:r>
              <a:rPr sz="2000" b="0">
                <a:solidFill>
                  <a:srgbClr val="1F2D3A"/>
                </a:solidFill>
              </a:rPr>
              <a:t>: "this transform pipeline did not let this problem, of this size, be solved in this much time, against this tool."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Layered Defence, Project, Closing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Obfuscation in Layered Defence — Diagram</a:t>
            </a:r>
          </a:p>
        </p:txBody>
      </p:sp>
      <p:pic>
        <p:nvPicPr>
          <p:cNvPr id="7" name="Picture 6" descr="h09-16-katmanli-savunmada-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548" y="1325880"/>
            <a:ext cx="766659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Obfuscation's Place in Layered Defence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50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7395"/>
                <a:gridCol w="839348"/>
                <a:gridCol w="6714790"/>
              </a:tblGrid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Relationship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 safety/secure compilation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Does not replace it; works together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 also hides RASP; RASP protects obfuscation while it runs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Whitebox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real protection for the key; obfuscation is the shell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Key renewal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Time "until it is renewed"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12–13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delay is scored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 Observation from the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a certified product, the native countermeasures cover </a:t>
            </a:r>
            <a:r>
              <a:rPr sz="2000" b="1">
                <a:solidFill>
                  <a:srgbClr val="1F2D3A"/>
                </a:solidFill>
              </a:rPr>
              <a:t>all</a:t>
            </a:r>
            <a:r>
              <a:rPr sz="2000" b="0">
                <a:solidFill>
                  <a:srgbClr val="1F2D3A"/>
                </a:solidFill>
              </a:rPr>
              <a:t> of this week's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But the document notes, next to every one of them: </a:t>
            </a:r>
            <a:r>
              <a:rPr sz="2000" b="1">
                <a:solidFill>
                  <a:srgbClr val="1F2D3A"/>
                </a:solidFill>
              </a:rPr>
              <a:t>"not strong on its own."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5192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convinces an evaluator: togetherness + diversification + </a:t>
            </a:r>
            <a:r>
              <a:rPr sz="2000" b="1">
                <a:solidFill>
                  <a:srgbClr val="1F2D3A"/>
                </a:solidFill>
              </a:rPr>
              <a:t>measured</a:t>
            </a:r>
            <a:r>
              <a:rPr sz="2000" b="0">
                <a:solidFill>
                  <a:srgbClr val="1F2D3A"/>
                </a:solidFill>
              </a:rPr>
              <a:t> delay.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End to End: Layer by Layer Protection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Goal of This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 take a single synthetic check (</a:t>
            </a:r>
            <a:r>
              <a:rPr sz="2000" b="0">
                <a:solidFill>
                  <a:srgbClr val="A1123F"/>
                </a:solidFill>
                <a:latin typeface="Consolas"/>
              </a:rPr>
              <a:t>erisim_ver</a:t>
            </a:r>
            <a:r>
              <a:rPr sz="2000" b="0">
                <a:solidFill>
                  <a:srgbClr val="1F2D3A"/>
                </a:solidFill>
              </a:rPr>
              <a:t>) and protect it </a:t>
            </a:r>
            <a:r>
              <a:rPr sz="2000" b="1">
                <a:solidFill>
                  <a:srgbClr val="1F2D3A"/>
                </a:solidFill>
              </a:rPr>
              <a:t>layer by layer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At every step: what was added · what we gained · what we paid.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0 · Unprotected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erisim_ver(const char *jeton)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(jeton_gecerli(jeton))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IZIN;      /* tek dal, tek dönüş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RED;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Weakness:</a:t>
            </a:r>
            <a:r>
              <a:rPr sz="2000" b="0">
                <a:solidFill>
                  <a:srgbClr val="1F2D3A"/>
                </a:solidFill>
              </a:rPr>
              <a:t> a single branch,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bypassed with a single-byte patch.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0 · What Does the Attacker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IZIN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RED</a:t>
            </a:r>
            <a:r>
              <a:rPr sz="2000" b="0">
                <a:solidFill>
                  <a:srgbClr val="1F2D3A"/>
                </a:solidFill>
              </a:rPr>
              <a:t> and the related strings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Decompile → a single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, two returns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Flip the failure branch to success (a single byte)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Time:</a:t>
            </a:r>
            <a:r>
              <a:rPr sz="2000" b="0">
                <a:solidFill>
                  <a:srgbClr val="1F2D3A"/>
                </a:solidFill>
              </a:rPr>
              <a:t> minutes. </a:t>
            </a:r>
            <a:r>
              <a:rPr sz="2000" b="1">
                <a:solidFill>
                  <a:srgbClr val="1F2D3A"/>
                </a:solidFill>
              </a:rPr>
              <a:t>Skill:</a:t>
            </a:r>
            <a:r>
              <a:rPr sz="2000" b="0">
                <a:solidFill>
                  <a:srgbClr val="1F2D3A"/>
                </a:solidFill>
              </a:rPr>
              <a:t> low.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K-07 Encode the String/Constant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IZIN/RED ve dizgeler artık düz görünmez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izin_kodu(void){ return 0x9E ^ 0x9F; } /* =1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Gain: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does not find the sensitive text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Cost:</a:t>
            </a:r>
            <a:r>
              <a:rPr sz="2000" b="0">
                <a:solidFill>
                  <a:srgbClr val="1F2D3A"/>
                </a:solidFill>
              </a:rPr>
              <a:t> very low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Measurement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184097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3202"/>
                <a:gridCol w="2182306"/>
                <a:gridCol w="1818589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Step 0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Step 1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Sensitive strings in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strings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Binary size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+0.5%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151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first layer is the cheapest and gives the highest return.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K-02 Arithmetic Encoding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karşılaştırma karmaşık ama denk bir ifadeye döner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esik = ((a ^ b) + 2*(a &amp; b));   /* = a + b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Gain:</a:t>
            </a:r>
            <a:r>
              <a:rPr sz="2000" b="0">
                <a:solidFill>
                  <a:srgbClr val="1F2D3A"/>
                </a:solidFill>
              </a:rPr>
              <a:t> the constant/computation is not directly readable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Cost:</a:t>
            </a:r>
            <a:r>
              <a:rPr sz="2000" b="0">
                <a:solidFill>
                  <a:srgbClr val="1F2D3A"/>
                </a:solidFill>
              </a:rPr>
              <a:t> low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K-04 Flatten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durum = BASLA;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for(;;) switch(durum){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BASLA: durum = kontrol()?ADIM:HATA;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ADIM:  durum = BITIR;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HATA:  return RED;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BITIR: return IZIN;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 single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 anymore; the order lives in the state variable.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What Changed?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CFG is now "horizontal" — the blocks sit in one switch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branch means "success" cannot be read directly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Cost:</a:t>
            </a:r>
            <a:r>
              <a:rPr sz="2000" b="0">
                <a:solidFill>
                  <a:srgbClr val="1F2D3A"/>
                </a:solidFill>
              </a:rPr>
              <a:t> medium (more blocks/branches, a bit slower)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K-05 Random Exit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(!kontrol()) { durum = kararsiz_deger(); break; } /* →default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Where</a:t>
            </a:r>
            <a:r>
              <a:rPr sz="2000" b="0">
                <a:solidFill>
                  <a:srgbClr val="1F2D3A"/>
                </a:solidFill>
              </a:rPr>
              <a:t> the error was caught cannot be read from the flow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single-byte patch is no longer enough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K-03 Bogus + Dead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crc ^= (s ^ s);            /* sahte işlem: sonuç aynı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(opak_yanlis()) sahte(); /* ölü dal: çalışmaz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real logic sits in a crowd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Cost:</a:t>
            </a:r>
            <a:r>
              <a:rPr sz="2000" b="0">
                <a:solidFill>
                  <a:srgbClr val="1F2D3A"/>
                </a:solidFill>
              </a:rPr>
              <a:t> medium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6 · K-08 Opaque Boolean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Karar k = izin_ver();               /* a^b==0xFFFF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(karar_izin_mi(k)) uygula();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is not a plain 0/1 → a single byte cannot flip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Flipping it requires </a:t>
            </a:r>
            <a:r>
              <a:rPr sz="2000" b="1">
                <a:solidFill>
                  <a:srgbClr val="1F2D3A"/>
                </a:solidFill>
              </a:rPr>
              <a:t>multiple</a:t>
            </a:r>
            <a:r>
              <a:rPr sz="2000" b="0">
                <a:solidFill>
                  <a:srgbClr val="1F2D3A"/>
                </a:solidFill>
              </a:rPr>
              <a:t> points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Cumulative Effect of the Layers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871"/>
                <a:gridCol w="2546024"/>
                <a:gridCol w="4728331"/>
                <a:gridCol w="2182307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Attack time (relative)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very low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4–6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K-05/03/08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20×+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 i="1">
                <a:solidFill>
                  <a:srgbClr val="1F2D3A"/>
                </a:solidFill>
              </a:rPr>
              <a:t>(Relative, for illustration; real values are measured.)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7 · K-10 Virtualisation?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for the </a:t>
            </a:r>
            <a:r>
              <a:rPr sz="2000" b="1">
                <a:solidFill>
                  <a:srgbClr val="1F2D3A"/>
                </a:solidFill>
              </a:rPr>
              <a:t>most critical</a:t>
            </a:r>
            <a:r>
              <a:rPr sz="2000" b="0">
                <a:solidFill>
                  <a:srgbClr val="1F2D3A"/>
                </a:solidFill>
              </a:rPr>
              <a:t> function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Cost:</a:t>
            </a:r>
            <a:r>
              <a:rPr sz="2000" b="0">
                <a:solidFill>
                  <a:srgbClr val="1F2D3A"/>
                </a:solidFill>
              </a:rPr>
              <a:t> high (tens of times slower)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Unnecessary</a:t>
            </a:r>
            <a:r>
              <a:rPr sz="2000" b="0">
                <a:solidFill>
                  <a:srgbClr val="1F2D3A"/>
                </a:solidFill>
              </a:rPr>
              <a:t> for most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Rule:</a:t>
            </a:r>
            <a:r>
              <a:rPr sz="2000" b="0">
                <a:solidFill>
                  <a:srgbClr val="1F2D3A"/>
                </a:solidFill>
              </a:rPr>
              <a:t> do not go this far if the value is low.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End to End: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layer made the attack a little more </a:t>
            </a:r>
            <a:r>
              <a:rPr sz="2000" b="1">
                <a:solidFill>
                  <a:srgbClr val="1F2D3A"/>
                </a:solidFill>
              </a:rPr>
              <a:t>expensive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layer added a </a:t>
            </a:r>
            <a:r>
              <a:rPr sz="2000" b="1">
                <a:solidFill>
                  <a:srgbClr val="1F2D3A"/>
                </a:solidFill>
              </a:rPr>
              <a:t>cost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Where you stop depends on the </a:t>
            </a:r>
            <a:r>
              <a:rPr sz="2000" b="1">
                <a:solidFill>
                  <a:srgbClr val="1F2D3A"/>
                </a:solidFill>
              </a:rPr>
              <a:t>asset's value</a:t>
            </a:r>
            <a:r>
              <a:rPr sz="2000" b="0">
                <a:solidFill>
                  <a:srgbClr val="1F2D3A"/>
                </a:solidFill>
              </a:rPr>
              <a:t> and on what you </a:t>
            </a:r>
            <a:r>
              <a:rPr sz="2000" b="1">
                <a:solidFill>
                  <a:srgbClr val="1F2D3A"/>
                </a:solidFill>
              </a:rPr>
              <a:t>measured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table is exactly the protection table you will put into S9.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 (Advanced Hardening)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 Protection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 2–3 critical sections (license, key derivation, integrity), fill in the rule template: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it protects · threat · how · cost · limit · measurement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 Measurement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 at least one technique, before/after: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Count of sensitive strings in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output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CFG node count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size, the duration of an operation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 — 3,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 Diversification decision:</a:t>
            </a:r>
            <a:r>
              <a:rPr sz="2000" b="0">
                <a:solidFill>
                  <a:srgbClr val="1F2D3A"/>
                </a:solidFill>
              </a:rPr>
              <a:t> yes/no + </a:t>
            </a:r>
            <a:r>
              <a:rPr sz="2000" b="1">
                <a:solidFill>
                  <a:srgbClr val="1F2D3A"/>
                </a:solidFill>
              </a:rPr>
              <a:t>justification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4. Limit and remaining risk:</a:t>
            </a:r>
            <a:r>
              <a:rPr sz="2000" b="0">
                <a:solidFill>
                  <a:srgbClr val="1F2D3A"/>
                </a:solidFill>
              </a:rPr>
              <a:t> what does each protection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protect?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5192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"This string obfuscation does not protect the key; for the key see S8 whitebox/hardware."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6964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Later: S15 (week 14, putting obfuscation into the build pipeline) · S16 (week 12, testing that behaviour is unchanged).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Through an Evaluator's 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S9 is graded on is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"I used a lot of techniques."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is graded on: </a:t>
            </a:r>
            <a:r>
              <a:rPr sz="2000" b="1">
                <a:solidFill>
                  <a:srgbClr val="1F2D3A"/>
                </a:solidFill>
              </a:rPr>
              <a:t>the justification and measurement of every technique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5192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An unmeasured protection = a claim. Not evidence.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(1–6)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What is MATE? Why does it leave cryptography insufficient on its own?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"Makes it expensive" — give an asset-value example?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Bogus operation ≠ dead branch?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Why is flattening weak on its own? Name 3 reinforcements?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Which attack does random exit make harder?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Does string obfuscation protect the key?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— Answers (1–6)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526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MATE = Man-At-The-End:</a:t>
            </a:r>
            <a:r>
              <a:rPr sz="1800" b="0">
                <a:solidFill>
                  <a:srgbClr val="1F2D3A"/>
                </a:solidFill>
              </a:rPr>
              <a:t> the attacker fully possesses the device (memory, debugger, key). Crypto assumes a secure endpoint; under MATE the key is exposed </a:t>
            </a:r>
            <a:r>
              <a:rPr sz="1800" b="1">
                <a:solidFill>
                  <a:srgbClr val="1F2D3A"/>
                </a:solidFill>
              </a:rPr>
              <a:t>while running</a:t>
            </a:r>
            <a:r>
              <a:rPr sz="1800" b="0">
                <a:solidFill>
                  <a:srgbClr val="1F2D3A"/>
                </a:solidFill>
              </a:rPr>
              <a:t> → crypto alone is not enough.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Obfuscation does not mean unbreakable; it demands </a:t>
            </a:r>
            <a:r>
              <a:rPr sz="1800" b="1">
                <a:solidFill>
                  <a:srgbClr val="1F2D3A"/>
                </a:solidFill>
              </a:rPr>
              <a:t>more time/skill/tools</a:t>
            </a:r>
            <a:r>
              <a:rPr sz="1800" b="0">
                <a:solidFill>
                  <a:srgbClr val="1F2D3A"/>
                </a:solidFill>
              </a:rPr>
              <a:t> for the attack. If breaking 100 TL worth of content requires 10,000 TL of effort, the attacker gives up.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A </a:t>
            </a:r>
            <a:r>
              <a:rPr sz="1800" b="1">
                <a:solidFill>
                  <a:srgbClr val="1F2D3A"/>
                </a:solidFill>
              </a:rPr>
              <a:t>bogus operation</a:t>
            </a:r>
            <a:r>
              <a:rPr sz="1800" b="0">
                <a:solidFill>
                  <a:srgbClr val="1F2D3A"/>
                </a:solidFill>
              </a:rPr>
              <a:t> runs but its result is not used (it tires the analyst out); a </a:t>
            </a:r>
            <a:r>
              <a:rPr sz="1800" b="1">
                <a:solidFill>
                  <a:srgbClr val="1F2D3A"/>
                </a:solidFill>
              </a:rPr>
              <a:t>dead branch</a:t>
            </a:r>
            <a:r>
              <a:rPr sz="1800" b="0">
                <a:solidFill>
                  <a:srgbClr val="1F2D3A"/>
                </a:solidFill>
              </a:rPr>
              <a:t>, protected by an opaque predicate, </a:t>
            </a:r>
            <a:r>
              <a:rPr sz="1800" b="1">
                <a:solidFill>
                  <a:srgbClr val="1F2D3A"/>
                </a:solidFill>
              </a:rPr>
              <a:t>never runs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In flattening, the dispatcher pattern is recognisable and the state variable can be tracked. Reinforcements: </a:t>
            </a:r>
            <a:r>
              <a:rPr sz="1800" b="1">
                <a:solidFill>
                  <a:srgbClr val="1F2D3A"/>
                </a:solidFill>
              </a:rPr>
              <a:t>opaque predicate · encrypting the state variable · bogus states/blocks + random exit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It makes </a:t>
            </a:r>
            <a:r>
              <a:rPr sz="1800" b="1">
                <a:solidFill>
                  <a:srgbClr val="1F2D3A"/>
                </a:solidFill>
              </a:rPr>
              <a:t>pattern-matching and automated-script</a:t>
            </a:r>
            <a:r>
              <a:rPr sz="1800" b="0">
                <a:solidFill>
                  <a:srgbClr val="1F2D3A"/>
                </a:solidFill>
              </a:rPr>
              <a:t> attacks (expecting the same pattern for the same input) and symbolic execution harder.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1">
                <a:solidFill>
                  <a:srgbClr val="1F2D3A"/>
                </a:solidFill>
              </a:rPr>
              <a:t>No.</a:t>
            </a:r>
            <a:r>
              <a:rPr sz="1800" b="0">
                <a:solidFill>
                  <a:srgbClr val="1F2D3A"/>
                </a:solidFill>
              </a:rPr>
              <a:t> String/table obfuscation makes static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 scanning harder, but the key is exposed </a:t>
            </a:r>
            <a:r>
              <a:rPr sz="1800" b="1">
                <a:solidFill>
                  <a:srgbClr val="1F2D3A"/>
                </a:solidFill>
              </a:rPr>
              <a:t>in memory while running</a:t>
            </a:r>
            <a:r>
              <a:rPr sz="1800" b="0">
                <a:solidFill>
                  <a:srgbClr val="1F2D3A"/>
                </a:solidFill>
              </a:rPr>
              <a:t> → whitebox/HSM is required.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(7–12)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What are virtualisation's two costs?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Which OS protection does self-modifying code conflict with?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The four metrics; which ones trade off?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Does diversification prevent potency or scaling?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Which rules does KLEE break? How is resilience increased?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Fill in the rule template for a section.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— Answers (7–12)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526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A large </a:t>
            </a:r>
            <a:r>
              <a:rPr sz="1800" b="1">
                <a:solidFill>
                  <a:srgbClr val="1F2D3A"/>
                </a:solidFill>
              </a:rPr>
              <a:t>performance</a:t>
            </a:r>
            <a:r>
              <a:rPr sz="1800" b="0">
                <a:solidFill>
                  <a:srgbClr val="1F2D3A"/>
                </a:solidFill>
              </a:rPr>
              <a:t> penalty (the interpreter is slow) + a </a:t>
            </a:r>
            <a:r>
              <a:rPr sz="1800" b="1">
                <a:solidFill>
                  <a:srgbClr val="1F2D3A"/>
                </a:solidFill>
              </a:rPr>
              <a:t>size</a:t>
            </a:r>
            <a:r>
              <a:rPr sz="1800" b="0">
                <a:solidFill>
                  <a:srgbClr val="1F2D3A"/>
                </a:solidFill>
              </a:rPr>
              <a:t> increase (VM + bytecode); maintenance/debugging difficulty.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W^X / DEP-NX</a:t>
            </a:r>
            <a:r>
              <a:rPr sz="1800" b="0">
                <a:solidFill>
                  <a:srgbClr val="1F2D3A"/>
                </a:solidFill>
              </a:rPr>
              <a:t> (writable-and-executable memory is forbidden); writing to a code page needs </a:t>
            </a:r>
            <a:r>
              <a:rPr sz="1800" b="0">
                <a:solidFill>
                  <a:srgbClr val="A1123F"/>
                </a:solidFill>
                <a:latin typeface="Consolas"/>
              </a:rPr>
              <a:t>mprotect</a:t>
            </a:r>
            <a:r>
              <a:rPr sz="1800" b="0">
                <a:solidFill>
                  <a:srgbClr val="1F2D3A"/>
                </a:solidFill>
              </a:rPr>
              <a:t>/</a:t>
            </a:r>
            <a:r>
              <a:rPr sz="1800" b="0">
                <a:solidFill>
                  <a:srgbClr val="A1123F"/>
                </a:solidFill>
                <a:latin typeface="Consolas"/>
              </a:rPr>
              <a:t>VirtualProtect</a:t>
            </a:r>
            <a:r>
              <a:rPr sz="1800" b="0">
                <a:solidFill>
                  <a:srgbClr val="1F2D3A"/>
                </a:solidFill>
              </a:rPr>
              <a:t>, which is blocked or suspicious.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Potency · resilience · stealth · cost.</a:t>
            </a:r>
            <a:r>
              <a:rPr sz="1800" b="0">
                <a:solidFill>
                  <a:srgbClr val="1F2D3A"/>
                </a:solidFill>
              </a:rPr>
              <a:t> Potency/resilience ↑ → cost ↑ and stealth ↓ (looks abnormal). Main trade-off: </a:t>
            </a:r>
            <a:r>
              <a:rPr sz="1800" b="1">
                <a:solidFill>
                  <a:srgbClr val="1F2D3A"/>
                </a:solidFill>
              </a:rPr>
              <a:t>resilience ↔ cost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It prevents </a:t>
            </a:r>
            <a:r>
              <a:rPr sz="1800" b="1">
                <a:solidFill>
                  <a:srgbClr val="1F2D3A"/>
                </a:solidFill>
              </a:rPr>
              <a:t>scaling</a:t>
            </a:r>
            <a:r>
              <a:rPr sz="1800" b="0">
                <a:solidFill>
                  <a:srgbClr val="1F2D3A"/>
                </a:solidFill>
              </a:rPr>
              <a:t> — it does not raise a single copy's strength; a crack does </a:t>
            </a:r>
            <a:r>
              <a:rPr sz="1800" b="1">
                <a:solidFill>
                  <a:srgbClr val="1F2D3A"/>
                </a:solidFill>
              </a:rPr>
              <a:t>not spread</a:t>
            </a:r>
            <a:r>
              <a:rPr sz="1800" b="0">
                <a:solidFill>
                  <a:srgbClr val="1F2D3A"/>
                </a:solidFill>
              </a:rPr>
              <a:t> to every copy (it breaks reuse of the attack).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1">
                <a:solidFill>
                  <a:srgbClr val="1F2D3A"/>
                </a:solidFill>
              </a:rPr>
              <a:t>KLEE</a:t>
            </a:r>
            <a:r>
              <a:rPr sz="1800" b="0">
                <a:solidFill>
                  <a:srgbClr val="1F2D3A"/>
                </a:solidFill>
              </a:rPr>
              <a:t> is symbolic execution; it can solve opaque predicates/flattening. Rule: make predicates </a:t>
            </a:r>
            <a:r>
              <a:rPr sz="1800" b="1">
                <a:solidFill>
                  <a:srgbClr val="1F2D3A"/>
                </a:solidFill>
              </a:rPr>
              <a:t>resistant to symbolic execution</a:t>
            </a:r>
            <a:r>
              <a:rPr sz="1800" b="0">
                <a:solidFill>
                  <a:srgbClr val="1F2D3A"/>
                </a:solidFill>
              </a:rPr>
              <a:t> (input-dependent, hard to solve); path-exploding structures raise resilience.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Example: </a:t>
            </a:r>
            <a:r>
              <a:rPr sz="1800" b="1">
                <a:solidFill>
                  <a:srgbClr val="1F2D3A"/>
                </a:solidFill>
              </a:rPr>
              <a:t>Rule</a:t>
            </a:r>
            <a:r>
              <a:rPr sz="1800" b="0">
                <a:solidFill>
                  <a:srgbClr val="1F2D3A"/>
                </a:solidFill>
              </a:rPr>
              <a:t> [flattening] → </a:t>
            </a:r>
            <a:r>
              <a:rPr sz="1800" b="1">
                <a:solidFill>
                  <a:srgbClr val="1F2D3A"/>
                </a:solidFill>
              </a:rPr>
              <a:t>Goal</a:t>
            </a:r>
            <a:r>
              <a:rPr sz="1800" b="0">
                <a:solidFill>
                  <a:srgbClr val="1F2D3A"/>
                </a:solidFill>
              </a:rPr>
              <a:t> [hide the flow] → </a:t>
            </a:r>
            <a:r>
              <a:rPr sz="1800" b="1">
                <a:solidFill>
                  <a:srgbClr val="1F2D3A"/>
                </a:solidFill>
              </a:rPr>
              <a:t>How</a:t>
            </a:r>
            <a:r>
              <a:rPr sz="1800" b="0">
                <a:solidFill>
                  <a:srgbClr val="1F2D3A"/>
                </a:solidFill>
              </a:rPr>
              <a:t> [Tigress Flatten + opaque predicate] → </a:t>
            </a:r>
            <a:r>
              <a:rPr sz="1800" b="1">
                <a:solidFill>
                  <a:srgbClr val="1F2D3A"/>
                </a:solidFill>
              </a:rPr>
              <a:t>Measurement</a:t>
            </a:r>
            <a:r>
              <a:rPr sz="1800" b="0">
                <a:solidFill>
                  <a:srgbClr val="1F2D3A"/>
                </a:solidFill>
              </a:rPr>
              <a:t> [size +X%, speed −Y%, instructions N→M]. The measurement line is required.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372"/>
                <a:gridCol w="8813162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MATE / white 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 attacker who possesses the program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Opaque predicate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condition whose value the programmer knows, that the tool struggles to resolve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Moving the flow into a single switch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Bogus operation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that runs but does not change the result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Dead branch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branch (protected by an opaque predicate) that never runs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7613"/>
                <a:gridCol w="7053921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Opaque boolean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true/false value that cannot be flipped with a single byte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Virtualisation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Turning a function into custom VM bytecode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Diversification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Structurally different copies from the same source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Potency/resilience/stealth/cost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obfuscation metrics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Cookbook</a:t>
            </a:r>
            <a:r>
              <a:rPr sz="2000" b="0">
                <a:solidFill>
                  <a:srgbClr val="1F2D3A"/>
                </a:solidFill>
              </a:rPr>
              <a:t> (Viega &amp; Messier) Chapter 12 — anti-tampering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Secure programming technical guide</a:t>
            </a:r>
            <a:r>
              <a:rPr sz="2000" b="0">
                <a:solidFill>
                  <a:srgbClr val="1F2D3A"/>
                </a:solidFill>
              </a:rPr>
              <a:t> — native countermeasures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Collberg &amp; Nagra, </a:t>
            </a:r>
            <a:r>
              <a:rPr sz="2000" b="0" i="1">
                <a:solidFill>
                  <a:srgbClr val="1F2D3A"/>
                </a:solidFill>
              </a:rPr>
              <a:t>Surreptitious Software</a:t>
            </a:r>
            <a:r>
              <a:rPr sz="2000" b="0">
                <a:solidFill>
                  <a:srgbClr val="1F2D3A"/>
                </a:solidFill>
              </a:rPr>
              <a:t> — taxonomy, measurement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Schrittwieser et al. (ACM CSUR 2016) — overview, deobfuscation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Banescu et al. — Tigress + KLEE resilience measurement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Obfuscator-LLVM — compiler-based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10 — Certificates and Cryptographic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We said "obfuscation does not protect the key" this week; week 10 covers choosing keys correctly, their lifecycle, and protecting them with PKI. Rule (this week) → whitebox (week 11) → automation (week 14): these three weeks form one whole.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9 — Advanced Obfuscation and Diversification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