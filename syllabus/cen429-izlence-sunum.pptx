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Ders İzlencesi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006D77"/>
                </a:solidFill>
              </a:rPr>
              <a:t>CEN429 Güvenli Programlama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Ders İzlencesi — 2026-2027 Güz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Dr. Öğr. Üyesi Uğur CORUH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Ders İzlencesi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Ders bilgileri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9169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6338"/>
                <a:gridCol w="7525196"/>
              </a:tblGrid>
              <a:tr h="364616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İletişim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ugur.coruh@erdogan.edu.tr — konu: </a:t>
                      </a:r>
                      <a:r>
                        <a:rPr sz="1439" b="1">
                          <a:solidFill>
                            <a:srgbClr val="FFFFFF"/>
                          </a:solidFill>
                        </a:rPr>
                        <a:t>[CEN429]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64616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Ofis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F-301 · görüşme e-posta ile randevuyla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4616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Ders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Cuma 09:00–12:00 · İİBF ve Hukuk Fakültesi Binası, D-402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64616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Web sitesi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ucoruh.github.io/cen429-secure-programming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4616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Sınıf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Her dönem yeni sınıf; kod 1. haftada duyurulur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64616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Dil / tür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Türkçe · Seçmeli · 7. yarıyıl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4616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Saat / kredi / AKTS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 · 3 · 5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6462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Ön koşul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CEN107 Algoritmalar ve Programlama 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Ders İzlencesi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Dersin amacı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03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Yaygın yazılım güvenlik açıklarını </a:t>
            </a:r>
            <a:r>
              <a:rPr sz="2000" b="1">
                <a:solidFill>
                  <a:srgbClr val="1F2D3A"/>
                </a:solidFill>
              </a:rPr>
              <a:t>tanımak</a:t>
            </a:r>
            <a:r>
              <a:rPr sz="2000" b="0">
                <a:solidFill>
                  <a:srgbClr val="1F2D3A"/>
                </a:solidFill>
              </a:rPr>
              <a:t>: arabellek taşması, bellek hataları, enjeksiyon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Yazılım koruma yöntemlerini </a:t>
            </a:r>
            <a:r>
              <a:rPr sz="2000" b="1">
                <a:solidFill>
                  <a:srgbClr val="1F2D3A"/>
                </a:solidFill>
              </a:rPr>
              <a:t>uygulamak</a:t>
            </a:r>
            <a:r>
              <a:rPr sz="2000" b="0">
                <a:solidFill>
                  <a:srgbClr val="1F2D3A"/>
                </a:solidFill>
              </a:rPr>
              <a:t>: veri güvenliği ve kriptografi, C/C++ ve Java sağlamlaştırma (hardening),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392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çalışma zamanı öz koruması, kod gizleme, whitebox kriptografi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88944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Güvenlik standartlarını ve </a:t>
            </a:r>
            <a:r>
              <a:rPr sz="2000" b="1">
                <a:solidFill>
                  <a:srgbClr val="1F2D3A"/>
                </a:solidFill>
              </a:rPr>
              <a:t>sızma testi planlamasını</a:t>
            </a:r>
            <a:r>
              <a:rPr sz="2000" b="0">
                <a:solidFill>
                  <a:srgbClr val="1F2D3A"/>
                </a:solidFill>
              </a:rPr>
              <a:t> bilmek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konu: </a:t>
            </a:r>
            <a:r>
              <a:rPr sz="2000" b="1">
                <a:solidFill>
                  <a:srgbClr val="1F2D3A"/>
                </a:solidFill>
              </a:rPr>
              <a:t>hatalı kod → saldırı → düzeltme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Ders İzlencesi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Öğrenme çıktıları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35826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087"/>
                <a:gridCol w="10165447"/>
              </a:tblGrid>
              <a:tr h="44782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Kod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Öğrenme çıktısı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4782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ÖÇ.1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Yaygın güvenlik açıklarını tanımlar ve sınıflandırır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4782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ÖÇ.2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Şifreleme yöntemlerini ve güvenli iletişim ilkelerini (SSL/TLS) açıklar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4782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ÖÇ.3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Kod sağlamlaştırma tekniklerini (girdi doğrulama, güvenli bellek, RASP, gizleme) C/C++ ve Java'da uygular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4782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ÖÇ.4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Şifreleme ve kimlik doğrulamayla güvenli kanal kurma ilkelerini açıklar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4782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ÖÇ.5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Güvenli tasarım ilkeleriyle yazılım planı oluşturur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4782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ÖÇ.6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Güvenlik incelemesi ve zafiyet değerlendirme yöntemlerini bilir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4783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ÖÇ.7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Güvenli programlama standartlarını ve sızma testi planlamasını bilir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Ders İzlencesi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Haftalık program (1–8)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36923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249"/>
                <a:gridCol w="2125623"/>
                <a:gridCol w="7935661"/>
              </a:tblGrid>
              <a:tr h="410260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Hf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Tarih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Konu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102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18.09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Güvenli programlamaya giriş ve uygulama koruma planı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102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25.09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Bilgisayar virüsleri ve güvenlik modelleri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102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02.10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Veri güvenliği: aktarımda, beklemede, kullanımda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102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09.10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Kod sağlamlaştırma: C/C++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102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16.10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Kod sağlamlaştırma: Java ve yorumlanan diller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102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23.10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Çalışma zamanı uygulama öz koruması (RASP)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102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30.10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Ara proje gösterimleri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1026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8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31.10–08.11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Ara sınav haftası — Quiz-1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Ders İzlencesi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Haftalık program (9–16)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3264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4719"/>
                <a:gridCol w="1769438"/>
                <a:gridCol w="8257377"/>
              </a:tblGrid>
              <a:tr h="362712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Hf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Tarih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Konu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6271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13.11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Gelişmiş kod gizleme ve çeşitlendirme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10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20.11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Sertifikalar ve kriptografik yöntemler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6271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27.11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Whitebox kriptografi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04.12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Güvenlik sertifikasyonları ve sızma testi planlaması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6271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11.12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Güvenlik gereksinimleri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18.12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Tigress ve çeşitlendirme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6271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25.12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Final proje gösterimleri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04–17.01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Final dönemi — Quiz-2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Ders İzlencesi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Değerlendirme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Tek dönem projesi:</a:t>
            </a:r>
            <a:r>
              <a:rPr sz="2000" b="0">
                <a:solidFill>
                  <a:srgbClr val="1F2D3A"/>
                </a:solidFill>
              </a:rPr>
              <a:t> C/C++ uygulaması + güvenlik kılavuzu, iki kontrol noktası (rubrikli)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İki quiz:</a:t>
            </a:r>
            <a:r>
              <a:rPr sz="2000" b="0">
                <a:solidFill>
                  <a:srgbClr val="1F2D3A"/>
                </a:solidFill>
              </a:rPr>
              <a:t> sınav haftalarında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2609088"/>
          <a:ext cx="10365956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10190"/>
                <a:gridCol w="3091601"/>
                <a:gridCol w="2364165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Bileşen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Ağırlık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Zaman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Proje kontrolü 1 (RAP1)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Vizenin %60'ı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7. hafta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Quiz-1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Vizenin %40'ı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8. hafta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Proje kontrolü 2 (RAP2)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Finalin %70'i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15. hafta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Quiz-2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Finalin %30'u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16. hafta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45933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Başarı notu = 0,4 · Vize + 0,6 · Final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Ders İzlencesi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Kaynaklar ve araçlar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961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Ders notları</a:t>
            </a:r>
            <a:r>
              <a:rPr sz="2000" b="0">
                <a:solidFill>
                  <a:srgbClr val="1F2D3A"/>
                </a:solidFill>
              </a:rPr>
              <a:t> (web sitesi) — ana kaynak, kendi başına yeterli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Ders kitabı:</a:t>
            </a:r>
            <a:r>
              <a:rPr sz="2000" b="0">
                <a:solidFill>
                  <a:srgbClr val="1F2D3A"/>
                </a:solidFill>
              </a:rPr>
              <a:t> J. Viega, M. Messier, </a:t>
            </a:r>
            <a:r>
              <a:rPr sz="2000" b="0" i="1">
                <a:solidFill>
                  <a:srgbClr val="1F2D3A"/>
                </a:solidFill>
              </a:rPr>
              <a:t>Secure Programming Cookbook for C and C++</a:t>
            </a:r>
            <a:r>
              <a:rPr sz="2000" b="0">
                <a:solidFill>
                  <a:srgbClr val="1F2D3A"/>
                </a:solidFill>
              </a:rPr>
              <a:t>, O'Reilly, 2003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Açık standartlar:</a:t>
            </a:r>
            <a:r>
              <a:rPr sz="2000" b="0">
                <a:solidFill>
                  <a:srgbClr val="1F2D3A"/>
                </a:solidFill>
              </a:rPr>
              <a:t> SEI CERT, OWASP, MITRE CWE, NIST FIPS 140-3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Dizüstü bilgisayar gerekli:</a:t>
            </a:r>
            <a:r>
              <a:rPr sz="2000" b="0">
                <a:solidFill>
                  <a:srgbClr val="1F2D3A"/>
                </a:solidFill>
              </a:rPr>
              <a:t> WSL2 + Ubuntu, GCC/Clang, CMake, gdb, OpenSSL 3, SQLite, JDK 21, Tigress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Demolar: </a:t>
            </a:r>
            <a:r>
              <a:rPr sz="2000" b="0">
                <a:solidFill>
                  <a:srgbClr val="A1123F"/>
                </a:solidFill>
                <a:latin typeface="Consolas"/>
              </a:rPr>
              <a:t>code/week-NN</a:t>
            </a:r>
            <a:r>
              <a:rPr sz="2000" b="0">
                <a:solidFill>
                  <a:srgbClr val="1F2D3A"/>
                </a:solidFill>
              </a:rPr>
              <a:t> klasörlerinde; </a:t>
            </a:r>
            <a:r>
              <a:rPr sz="2000" b="0">
                <a:solidFill>
                  <a:srgbClr val="A1123F"/>
                </a:solidFill>
                <a:latin typeface="Consolas"/>
              </a:rPr>
              <a:t>code</a:t>
            </a:r>
            <a:r>
              <a:rPr sz="2000" b="0">
                <a:solidFill>
                  <a:srgbClr val="1F2D3A"/>
                </a:solidFill>
              </a:rPr>
              <a:t> içinde bir kez derleyin, sonra </a:t>
            </a:r>
            <a:r>
              <a:rPr sz="2000" b="0">
                <a:solidFill>
                  <a:srgbClr val="A1123F"/>
                </a:solidFill>
                <a:latin typeface="Consolas"/>
              </a:rPr>
              <a:t>demo.ps1</a:t>
            </a:r>
            <a:r>
              <a:rPr sz="2000" b="0">
                <a:solidFill>
                  <a:srgbClr val="1F2D3A"/>
                </a:solidFill>
              </a:rPr>
              <a:t> (Windows) ya da </a:t>
            </a:r>
            <a:r>
              <a:rPr sz="2000" b="0">
                <a:solidFill>
                  <a:srgbClr val="A1123F"/>
                </a:solidFill>
                <a:latin typeface="Consolas"/>
              </a:rPr>
              <a:t>demo.sh</a:t>
            </a:r>
            <a:r>
              <a:rPr sz="2000" b="0">
                <a:solidFill>
                  <a:srgbClr val="1F2D3A"/>
                </a:solidFill>
              </a:rPr>
              <a:t> (WSL/Linux)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Ders İzlencesi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Kurallar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55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Geç teslim kabul edilmez</a:t>
            </a:r>
            <a:r>
              <a:rPr sz="2000" b="0">
                <a:solidFill>
                  <a:srgbClr val="1F2D3A"/>
                </a:solidFill>
              </a:rPr>
              <a:t>; beklenmedik durumlar hemen bildirilir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Akademik dürüstlük:</a:t>
            </a:r>
            <a:r>
              <a:rPr sz="2000" b="0">
                <a:solidFill>
                  <a:srgbClr val="1F2D3A"/>
                </a:solidFill>
              </a:rPr>
              <a:t> birlikte çalışmak serbest, çözüm paylaşmak ve kaynaksız alıntı yasak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İletişim:</a:t>
            </a:r>
            <a:r>
              <a:rPr sz="2000" b="0">
                <a:solidFill>
                  <a:srgbClr val="1F2D3A"/>
                </a:solidFill>
              </a:rPr>
              <a:t> üniversite e-postası, konu satırında </a:t>
            </a:r>
            <a:r>
              <a:rPr sz="2000" b="1">
                <a:solidFill>
                  <a:srgbClr val="1F2D3A"/>
                </a:solidFill>
              </a:rPr>
              <a:t>[CEN429]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Etik:</a:t>
            </a:r>
            <a:r>
              <a:rPr sz="2000" b="0">
                <a:solidFill>
                  <a:srgbClr val="1F2D3A"/>
                </a:solidFill>
              </a:rPr>
              <a:t> saldırı teknikleri yalnız </a:t>
            </a:r>
            <a:r>
              <a:rPr sz="2000" b="1">
                <a:solidFill>
                  <a:srgbClr val="1F2D3A"/>
                </a:solidFill>
              </a:rPr>
              <a:t>kendi bilgisayarınızda</a:t>
            </a:r>
            <a:r>
              <a:rPr sz="2000" b="0">
                <a:solidFill>
                  <a:srgbClr val="1F2D3A"/>
                </a:solidFill>
              </a:rPr>
              <a:t> ve verilen demolar üzerinde denenir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Ders İzlencesi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006D77"/>
                </a:solidFill>
              </a:rPr>
              <a:t>Soru ve cevap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Ders sitesi:</a:t>
            </a:r>
            <a:r>
              <a:rPr sz="2000" b="0">
                <a:solidFill>
                  <a:srgbClr val="1F2D3A"/>
                </a:solidFill>
              </a:rPr>
              <a:t> ucoruh.github.io/cen429-secure-programming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CEN429 Güvenli Programlama — Ders İzlencesi</dc:title>
  <dc:subject/>
  <dc:creator>Dr. Öğr. Üyesi Uğur CORUH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