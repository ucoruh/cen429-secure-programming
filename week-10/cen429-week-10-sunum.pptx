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kriptografinin yapı taşlarını ve PKI'yi uçtan uca kuruyoruz: kipler, MAC, RSA ve eliptik eğriler, imza, sertifika zinciri, iptal ve anahtar saklama.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kriptonun doğru kullanımı ve PKI. Öğrenciler 3. haftada girişi gördü; burada sıfırdan hatırlatıp derinleştiriyoruz. Vurgu: doğru algoritma değil, doğru KULLANIM.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Kripto terimlerini sıfırdan tanımlıyoruz; 3. haftadan hatırlatma + yeni terimler.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MAC/HMAC ve asimetrik.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dijital imza tuzakları ve DH.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PKI, X.509, zincir, iptal.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HSM, PKCS#11, PQC,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Sentetik bir kök→ara→sunucu zinciri kurup doğruluyoruz. Değerler örnektir.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biri bir slayt: hata → doğrusu. Hızlı geçilebilir.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Sertifikalar ve Kriptografik Yöntemler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812"/>
                <a:gridCol w="1103413"/>
                <a:gridCol w="8827309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algoritma/anahtar seçimi · kipler/dolgu · MAC/HMAC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RSA/ECC · OAEP/PSS · dijital imza · Diffie–Hellman · PKI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8–13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X.509 · zincir · CRL/OCSP · HSM/PKCS#11 · kuantum sonrası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anahtarlar, sertifikalar, PKI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1976–77</a:t>
            </a:r>
            <a:r>
              <a:rPr sz="1800" b="0">
                <a:solidFill>
                  <a:srgbClr val="1F2D3A"/>
                </a:solidFill>
              </a:rPr>
              <a:t> — Diffie–Hellman ve </a:t>
            </a:r>
            <a:r>
              <a:rPr sz="1800" b="1">
                <a:solidFill>
                  <a:srgbClr val="1F2D3A"/>
                </a:solidFill>
              </a:rPr>
              <a:t>RSA</a:t>
            </a:r>
            <a:r>
              <a:rPr sz="1800" b="0">
                <a:solidFill>
                  <a:srgbClr val="1F2D3A"/>
                </a:solidFill>
              </a:rPr>
              <a:t>: tanımadığınla güvenli konuşma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X.509</a:t>
            </a:r>
            <a:r>
              <a:rPr sz="1800" b="0">
                <a:solidFill>
                  <a:srgbClr val="1F2D3A"/>
                </a:solidFill>
              </a:rPr>
              <a:t> sertifika biçimi; kimliği bir </a:t>
            </a:r>
            <a:r>
              <a:rPr sz="1800" b="1">
                <a:solidFill>
                  <a:srgbClr val="1F2D3A"/>
                </a:solidFill>
              </a:rPr>
              <a:t>CA imzası</a:t>
            </a:r>
            <a:r>
              <a:rPr sz="1800" b="0">
                <a:solidFill>
                  <a:srgbClr val="1F2D3A"/>
                </a:solidFill>
              </a:rPr>
              <a:t> taşır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1995</a:t>
            </a:r>
            <a:r>
              <a:rPr sz="1800" b="0">
                <a:solidFill>
                  <a:srgbClr val="1F2D3A"/>
                </a:solidFill>
              </a:rPr>
              <a:t> — ticari CA'lar ve </a:t>
            </a:r>
            <a:r>
              <a:rPr sz="1800" b="1">
                <a:solidFill>
                  <a:srgbClr val="1F2D3A"/>
                </a:solidFill>
              </a:rPr>
              <a:t>PKI</a:t>
            </a:r>
            <a:r>
              <a:rPr sz="1800" b="0">
                <a:solidFill>
                  <a:srgbClr val="1F2D3A"/>
                </a:solidFill>
              </a:rPr>
              <a:t>; ardından </a:t>
            </a:r>
            <a:r>
              <a:rPr sz="1800" b="1">
                <a:solidFill>
                  <a:srgbClr val="1F2D3A"/>
                </a:solidFill>
              </a:rPr>
              <a:t>CRL</a:t>
            </a:r>
            <a:r>
              <a:rPr sz="1800" b="0">
                <a:solidFill>
                  <a:srgbClr val="1F2D3A"/>
                </a:solidFill>
              </a:rPr>
              <a:t> ve </a:t>
            </a:r>
            <a:r>
              <a:rPr sz="1800" b="1">
                <a:solidFill>
                  <a:srgbClr val="1F2D3A"/>
                </a:solidFill>
              </a:rPr>
              <a:t>OCSP</a:t>
            </a:r>
            <a:r>
              <a:rPr sz="1800" b="0">
                <a:solidFill>
                  <a:srgbClr val="1F2D3A"/>
                </a:solidFill>
              </a:rPr>
              <a:t> (iptal)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2014</a:t>
            </a:r>
            <a:r>
              <a:rPr sz="1800" b="0">
                <a:solidFill>
                  <a:srgbClr val="1F2D3A"/>
                </a:solidFill>
              </a:rPr>
              <a:t> Heartbleed ·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Let's Encrypt · </a:t>
            </a:r>
            <a:r>
              <a:rPr sz="1800" b="1">
                <a:solidFill>
                  <a:srgbClr val="1F2D3A"/>
                </a:solidFill>
              </a:rPr>
              <a:t>2018</a:t>
            </a:r>
            <a:r>
              <a:rPr sz="1800" b="0">
                <a:solidFill>
                  <a:srgbClr val="1F2D3A"/>
                </a:solidFill>
              </a:rPr>
              <a:t> TLS 1.3 · </a:t>
            </a:r>
            <a:r>
              <a:rPr sz="1800" b="1">
                <a:solidFill>
                  <a:srgbClr val="1F2D3A"/>
                </a:solidFill>
              </a:rPr>
              <a:t>2022–24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PQC</a:t>
            </a:r>
            <a:r>
              <a:rPr sz="1800" b="0">
                <a:solidFill>
                  <a:srgbClr val="1F2D3A"/>
                </a:solidFill>
              </a:rPr>
              <a:t> (Kyber/Dilithium)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Bugünkü kurallar (doğru kip/dolgu, zincir doğrulama, iptal) bu acı derslerden çıktı.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3. hafta:</a:t>
            </a:r>
            <a:r>
              <a:rPr sz="2000" b="0">
                <a:solidFill>
                  <a:srgbClr val="1F2D3A"/>
                </a:solidFill>
              </a:rPr>
              <a:t> kriptoya giriş (gizlilik, bütünlük).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(10):</a:t>
            </a:r>
            <a:r>
              <a:rPr sz="2000" b="0">
                <a:solidFill>
                  <a:srgbClr val="1F2D3A"/>
                </a:solidFill>
              </a:rPr>
              <a:t> doğru </a:t>
            </a:r>
            <a:r>
              <a:rPr sz="2000" b="1">
                <a:solidFill>
                  <a:srgbClr val="1F2D3A"/>
                </a:solidFill>
              </a:rPr>
              <a:t>algoritma/kip/dolgu seçimi</a:t>
            </a:r>
            <a:r>
              <a:rPr sz="2000" b="0">
                <a:solidFill>
                  <a:srgbClr val="1F2D3A"/>
                </a:solidFill>
              </a:rPr>
              <a:t>, anahtar yaşam döngüsü, </a:t>
            </a:r>
            <a:r>
              <a:rPr sz="2000" b="1">
                <a:solidFill>
                  <a:srgbClr val="1F2D3A"/>
                </a:solidFill>
              </a:rPr>
              <a:t>PKI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11. hafta:</a:t>
            </a:r>
            <a:r>
              <a:rPr sz="2000" b="0">
                <a:solidFill>
                  <a:srgbClr val="1F2D3A"/>
                </a:solidFill>
              </a:rPr>
              <a:t> anahtar yazılımda korunuyorsa → whitebox.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ÖÇ.2 / ÖÇ.4</a:t>
            </a:r>
            <a:r>
              <a:rPr sz="2000" b="0">
                <a:solidFill>
                  <a:srgbClr val="1F2D3A"/>
                </a:solidFill>
              </a:rPr>
              <a:t>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algoritma, kip, dolgu ve anahtar uzunluğu seçmek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ve anahtar değişiminin </a:t>
            </a:r>
            <a:r>
              <a:rPr sz="2000" b="1">
                <a:solidFill>
                  <a:srgbClr val="1F2D3A"/>
                </a:solidFill>
              </a:rPr>
              <a:t>tuzaklarını</a:t>
            </a:r>
            <a:r>
              <a:rPr sz="2000" b="0">
                <a:solidFill>
                  <a:srgbClr val="1F2D3A"/>
                </a:solidFill>
              </a:rPr>
              <a:t> görmek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sertifika </a:t>
            </a:r>
            <a:r>
              <a:rPr sz="2000" b="1">
                <a:solidFill>
                  <a:srgbClr val="1F2D3A"/>
                </a:solidFill>
              </a:rPr>
              <a:t>zincirini</a:t>
            </a:r>
            <a:r>
              <a:rPr sz="2000" b="0">
                <a:solidFill>
                  <a:srgbClr val="1F2D3A"/>
                </a:solidFill>
              </a:rPr>
              <a:t> doğru doğrulamak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 fikir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Kriptoda hatalar genelde algoritmada değil, </a:t>
            </a:r>
            <a:r>
              <a:rPr sz="2000" b="1">
                <a:solidFill>
                  <a:srgbClr val="1F2D3A"/>
                </a:solidFill>
              </a:rPr>
              <a:t>kullanımdadır</a:t>
            </a:r>
            <a:r>
              <a:rPr sz="2000" b="0">
                <a:solidFill>
                  <a:srgbClr val="1F2D3A"/>
                </a:solidFill>
              </a:rPr>
              <a:t>: yanlış kip, yanlış dolgu, doğrulanmayan imza, denetlenmeyen zincir.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doğru </a:t>
            </a:r>
            <a:r>
              <a:rPr sz="2000" b="1">
                <a:solidFill>
                  <a:srgbClr val="1F2D3A"/>
                </a:solidFill>
              </a:rPr>
              <a:t>kullanımı</a:t>
            </a:r>
            <a:r>
              <a:rPr sz="2000" b="0">
                <a:solidFill>
                  <a:srgbClr val="1F2D3A"/>
                </a:solidFill>
              </a:rPr>
              <a:t> öğreneceğiz.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vs asimetrik (hatırlatma)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Simetrik:</a:t>
            </a:r>
            <a:r>
              <a:rPr sz="2000" b="0">
                <a:solidFill>
                  <a:srgbClr val="1F2D3A"/>
                </a:solidFill>
              </a:rPr>
              <a:t> tek anahtar, şifrele ve çöz (AES). Hızlı.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Asimetrik:</a:t>
            </a:r>
            <a:r>
              <a:rPr sz="2000" b="0">
                <a:solidFill>
                  <a:srgbClr val="1F2D3A"/>
                </a:solidFill>
              </a:rPr>
              <a:t> açık + gizli anahtar çifti (RSA, ECC). Yavaş ama anahtar dağıtımı kolay.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Pratikte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: asimetrik ile anahtar taşı, simetrik ile veri şifrele.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Blok şifre ve kip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Blok şifre:</a:t>
            </a:r>
            <a:r>
              <a:rPr sz="2000" b="0">
                <a:solidFill>
                  <a:srgbClr val="1F2D3A"/>
                </a:solidFill>
              </a:rPr>
              <a:t> sabit boyutlu bloğu şifreler (AES: 16 bayt).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Kip (mode):</a:t>
            </a:r>
            <a:r>
              <a:rPr sz="2000" b="0">
                <a:solidFill>
                  <a:srgbClr val="1F2D3A"/>
                </a:solidFill>
              </a:rPr>
              <a:t> blokları </a:t>
            </a:r>
            <a:r>
              <a:rPr sz="2000" b="1">
                <a:solidFill>
                  <a:srgbClr val="1F2D3A"/>
                </a:solidFill>
              </a:rPr>
              <a:t>nasıl</a:t>
            </a:r>
            <a:r>
              <a:rPr sz="2000" b="0">
                <a:solidFill>
                  <a:srgbClr val="1F2D3A"/>
                </a:solidFill>
              </a:rPr>
              <a:t> zincirleyeceğimiz (CBC, GCM…).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Kip seçimi güvenliğin </a:t>
            </a:r>
            <a:r>
              <a:rPr sz="2000" b="1">
                <a:solidFill>
                  <a:srgbClr val="1F2D3A"/>
                </a:solidFill>
              </a:rPr>
              <a:t>kalbidir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Dolgu (padding)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Dolgu:</a:t>
            </a:r>
            <a:r>
              <a:rPr sz="2000" b="0">
                <a:solidFill>
                  <a:srgbClr val="1F2D3A"/>
                </a:solidFill>
              </a:rPr>
              <a:t> veri blok boyutunun katı değilse tamamlama.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Bazı kiplerde gerekir (CBC), bazılarında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 (GCM).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dolgu işleme → </a:t>
            </a:r>
            <a:r>
              <a:rPr sz="2000" b="1">
                <a:solidFill>
                  <a:srgbClr val="1F2D3A"/>
                </a:solidFill>
              </a:rPr>
              <a:t>dolgu kâhini</a:t>
            </a:r>
            <a:r>
              <a:rPr sz="2000" b="0">
                <a:solidFill>
                  <a:srgbClr val="1F2D3A"/>
                </a:solidFill>
              </a:rPr>
              <a:t> saldırısı.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AEAD (Authenticated Encryption with Associated Data):</a:t>
            </a:r>
            <a:r>
              <a:rPr sz="2000" b="0">
                <a:solidFill>
                  <a:srgbClr val="1F2D3A"/>
                </a:solidFill>
              </a:rPr>
              <a:t> gizlilik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bütünlüğü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veren şifreleme.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AES-GCM, ChaCha20-Poly1305.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tercih: ayrı MAC uğraşma, AEAD kullan.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MAC ve 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 (Message Authentication Code):</a:t>
            </a:r>
            <a:r>
              <a:rPr sz="2000" b="0">
                <a:solidFill>
                  <a:srgbClr val="1F2D3A"/>
                </a:solidFill>
              </a:rPr>
              <a:t> bir mesajın </a:t>
            </a:r>
            <a:r>
              <a:rPr sz="2000" b="1">
                <a:solidFill>
                  <a:srgbClr val="1F2D3A"/>
                </a:solidFill>
              </a:rPr>
              <a:t>değişmediğini</a:t>
            </a:r>
            <a:r>
              <a:rPr sz="2000" b="0">
                <a:solidFill>
                  <a:srgbClr val="1F2D3A"/>
                </a:solidFill>
              </a:rPr>
              <a:t> ve doğru taraftan geldiğini kanıtlayan etiket (simetrik).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HMAC:</a:t>
            </a:r>
            <a:r>
              <a:rPr sz="2000" b="0">
                <a:solidFill>
                  <a:srgbClr val="1F2D3A"/>
                </a:solidFill>
              </a:rPr>
              <a:t> özet fonksiyonuna dayalı yaygın bir MAC.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için.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Encrypt-then-MAC — şema</a:t>
            </a:r>
          </a:p>
        </p:txBody>
      </p:sp>
      <p:pic>
        <p:nvPicPr>
          <p:cNvPr id="7" name="Picture 6" descr="h10-01-encrypt-then-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 (hash)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Özet:</a:t>
            </a:r>
            <a:r>
              <a:rPr sz="2000" b="0">
                <a:solidFill>
                  <a:srgbClr val="1F2D3A"/>
                </a:solidFill>
              </a:rPr>
              <a:t> veriden hesaplanan sabit parmak izi (SHA-256).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yönlü: özetten veri geri gelmez.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ve MAC'in yapı taşı.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Dijital imza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İmza:</a:t>
            </a:r>
            <a:r>
              <a:rPr sz="2000" b="0">
                <a:solidFill>
                  <a:srgbClr val="1F2D3A"/>
                </a:solidFill>
              </a:rPr>
              <a:t> asimetrik; </a:t>
            </a:r>
            <a:r>
              <a:rPr sz="2000" b="1">
                <a:solidFill>
                  <a:srgbClr val="1F2D3A"/>
                </a:solidFill>
              </a:rPr>
              <a:t>gizli</a:t>
            </a:r>
            <a:r>
              <a:rPr sz="2000" b="0">
                <a:solidFill>
                  <a:srgbClr val="1F2D3A"/>
                </a:solidFill>
              </a:rPr>
              <a:t> anahtarla imzala, </a:t>
            </a:r>
            <a:r>
              <a:rPr sz="2000" b="1">
                <a:solidFill>
                  <a:srgbClr val="1F2D3A"/>
                </a:solidFill>
              </a:rPr>
              <a:t>açık</a:t>
            </a:r>
            <a:r>
              <a:rPr sz="2000" b="0">
                <a:solidFill>
                  <a:srgbClr val="1F2D3A"/>
                </a:solidFill>
              </a:rPr>
              <a:t> anahtarla doğrula.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Sağlar: bütünlük + </a:t>
            </a:r>
            <a:r>
              <a:rPr sz="2000" b="1">
                <a:solidFill>
                  <a:srgbClr val="1F2D3A"/>
                </a:solidFill>
              </a:rPr>
              <a:t>inkâr edilemezlik</a:t>
            </a:r>
            <a:r>
              <a:rPr sz="2000" b="0">
                <a:solidFill>
                  <a:srgbClr val="1F2D3A"/>
                </a:solidFill>
              </a:rPr>
              <a:t> (kim imzaladı).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MAC'ten farkı: asimetrik, herkes doğrulayabilir.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ve eliptik eğri (ECC)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RSA:</a:t>
            </a:r>
            <a:r>
              <a:rPr sz="2000" b="0">
                <a:solidFill>
                  <a:srgbClr val="1F2D3A"/>
                </a:solidFill>
              </a:rPr>
              <a:t> klasik asimetrik; büyük anahtarlar (2048+ bit).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ECC:</a:t>
            </a:r>
            <a:r>
              <a:rPr sz="2000" b="0">
                <a:solidFill>
                  <a:srgbClr val="1F2D3A"/>
                </a:solidFill>
              </a:rPr>
              <a:t> eliptik eğri; aynı güvenlik </a:t>
            </a:r>
            <a:r>
              <a:rPr sz="2000" b="1">
                <a:solidFill>
                  <a:srgbClr val="1F2D3A"/>
                </a:solidFill>
              </a:rPr>
              <a:t>daha küçük</a:t>
            </a:r>
            <a:r>
              <a:rPr sz="2000" b="0">
                <a:solidFill>
                  <a:srgbClr val="1F2D3A"/>
                </a:solidFill>
              </a:rPr>
              <a:t> anahtarla (Ed25519, X25519).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tercih giderek ECC.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Diffie–Hellman (DH)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DH:</a:t>
            </a:r>
            <a:r>
              <a:rPr sz="2000" b="0">
                <a:solidFill>
                  <a:srgbClr val="1F2D3A"/>
                </a:solidFill>
              </a:rPr>
              <a:t> iki tarafın, gizli anahtar </a:t>
            </a:r>
            <a:r>
              <a:rPr sz="2000" b="1">
                <a:solidFill>
                  <a:srgbClr val="1F2D3A"/>
                </a:solidFill>
              </a:rPr>
              <a:t>paylaşmadan</a:t>
            </a:r>
            <a:r>
              <a:rPr sz="2000" b="0">
                <a:solidFill>
                  <a:srgbClr val="1F2D3A"/>
                </a:solidFill>
              </a:rPr>
              <a:t> ortak bir sır türetmesi.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 üzerinden anahtar anlaşması.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Kimlik doğrulanmazsa </a:t>
            </a:r>
            <a:r>
              <a:rPr sz="2000" b="1">
                <a:solidFill>
                  <a:srgbClr val="1F2D3A"/>
                </a:solidFill>
              </a:rPr>
              <a:t>araya girme</a:t>
            </a:r>
            <a:r>
              <a:rPr sz="2000" b="0">
                <a:solidFill>
                  <a:srgbClr val="1F2D3A"/>
                </a:solidFill>
              </a:rPr>
              <a:t> (MITM) riski.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Kimliksiz DH ve MITM — şema</a:t>
            </a:r>
          </a:p>
        </p:txBody>
      </p:sp>
      <p:pic>
        <p:nvPicPr>
          <p:cNvPr id="7" name="Picture 6" descr="h10-02-dh-mit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43868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PKI ve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PKI (Public Key Infrastructure):</a:t>
            </a:r>
            <a:r>
              <a:rPr sz="2000" b="0">
                <a:solidFill>
                  <a:srgbClr val="1F2D3A"/>
                </a:solidFill>
              </a:rPr>
              <a:t> "hangi açık anahtar kime ait?" sorusunu çözen güven sistemi.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 (Certificate Authority):</a:t>
            </a:r>
            <a:r>
              <a:rPr sz="2000" b="0">
                <a:solidFill>
                  <a:srgbClr val="1F2D3A"/>
                </a:solidFill>
              </a:rPr>
              <a:t> sertifikaları imzalayan güvenilir taraf.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 CA → ara CA → sunucu sertifikası.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Sertifika ve X.509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Sertifika:</a:t>
            </a:r>
            <a:r>
              <a:rPr sz="2000" b="0">
                <a:solidFill>
                  <a:srgbClr val="1F2D3A"/>
                </a:solidFill>
              </a:rPr>
              <a:t> bir açık anahtarı bir kimliğe (alan adı) bağlayan, CA'nın imzaladığı belge.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X.509:</a:t>
            </a:r>
            <a:r>
              <a:rPr sz="2000" b="0">
                <a:solidFill>
                  <a:srgbClr val="1F2D3A"/>
                </a:solidFill>
              </a:rPr>
              <a:t> sertifikaların standart biçimi.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İçinde: konu, açık anahtar, geçerlilik, imza, SAN.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 ve OCSP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CRL (Certificate Revocation List):</a:t>
            </a:r>
            <a:r>
              <a:rPr sz="2000" b="0">
                <a:solidFill>
                  <a:srgbClr val="1F2D3A"/>
                </a:solidFill>
              </a:rPr>
              <a:t> iptal edilmiş sertifikaların </a:t>
            </a:r>
            <a:r>
              <a:rPr sz="2000" b="1">
                <a:solidFill>
                  <a:srgbClr val="1F2D3A"/>
                </a:solidFill>
              </a:rPr>
              <a:t>listesi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OCSP:</a:t>
            </a:r>
            <a:r>
              <a:rPr sz="2000" b="0">
                <a:solidFill>
                  <a:srgbClr val="1F2D3A"/>
                </a:solidFill>
              </a:rPr>
              <a:t> bir sertifikanın iptal durumunu </a:t>
            </a:r>
            <a:r>
              <a:rPr sz="2000" b="1">
                <a:solidFill>
                  <a:srgbClr val="1F2D3A"/>
                </a:solidFill>
              </a:rPr>
              <a:t>anlık</a:t>
            </a:r>
            <a:r>
              <a:rPr sz="2000" b="0">
                <a:solidFill>
                  <a:srgbClr val="1F2D3A"/>
                </a:solidFill>
              </a:rPr>
              <a:t> sorma.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"Bu sertifika hâlâ geçerli mi?" sorusu.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HSM, PKCS#11, 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HSM:</a:t>
            </a:r>
            <a:r>
              <a:rPr sz="2000" b="0">
                <a:solidFill>
                  <a:srgbClr val="1F2D3A"/>
                </a:solidFill>
              </a:rPr>
              <a:t> anahtarları saklayan/işleten özel </a:t>
            </a:r>
            <a:r>
              <a:rPr sz="2000" b="1">
                <a:solidFill>
                  <a:srgbClr val="1F2D3A"/>
                </a:solidFill>
              </a:rPr>
              <a:t>donanım</a:t>
            </a:r>
            <a:r>
              <a:rPr sz="2000" b="0">
                <a:solidFill>
                  <a:srgbClr val="1F2D3A"/>
                </a:solidFill>
              </a:rPr>
              <a:t>; anahtar dışarı çıkmaz.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PKCS#11:</a:t>
            </a:r>
            <a:r>
              <a:rPr sz="2000" b="0">
                <a:solidFill>
                  <a:srgbClr val="1F2D3A"/>
                </a:solidFill>
              </a:rPr>
              <a:t> anahtar modülleriyle konuşmanın standart arayüzü.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SoftHSM:</a:t>
            </a:r>
            <a:r>
              <a:rPr sz="2000" b="0">
                <a:solidFill>
                  <a:srgbClr val="1F2D3A"/>
                </a:solidFill>
              </a:rPr>
              <a:t> HSM'in yazılım benzetimi (test için).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Kuantum sonrası (PQC)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PQC (Post-Quantum Cryptography):</a:t>
            </a:r>
            <a:r>
              <a:rPr sz="2000" b="0">
                <a:solidFill>
                  <a:srgbClr val="1F2D3A"/>
                </a:solidFill>
              </a:rPr>
              <a:t> kuantum bilgisayara dayanıklı algoritmalar.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Bugünkü RSA/ECC gelecekte tehdit altında.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Standartlaşma sürüyor (ör. ML-KEM).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simetrik/asimetrik · blok şifre/kip · dolgu · AEAD · MAC/HMAC · özet · imza · RSA/ECC · DH · PKI/CA · sertifika/X.509 · CRL/OCSP · HSM/PKCS#11 · PQC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doğru algoritma ve anahtar seçimi.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Algoritma ve anahtar seçimi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Güncel, standart, iyi kullanılan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kural: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Güncel:</a:t>
            </a:r>
            <a:r>
              <a:rPr sz="2000" b="0">
                <a:solidFill>
                  <a:srgbClr val="1F2D3A"/>
                </a:solidFill>
              </a:rPr>
              <a:t> kırılmamış algoritma (AES, SHA-256, Ed25519).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Standart:</a:t>
            </a:r>
            <a:r>
              <a:rPr sz="2000" b="0">
                <a:solidFill>
                  <a:srgbClr val="1F2D3A"/>
                </a:solidFill>
              </a:rPr>
              <a:t> kendi kriptonu yazma; denenmiş kütüphane.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İyi kullanılan:</a:t>
            </a:r>
            <a:r>
              <a:rPr sz="2000" b="0">
                <a:solidFill>
                  <a:srgbClr val="1F2D3A"/>
                </a:solidFill>
              </a:rPr>
              <a:t> doğru kip, dolgu, anahtar yönetimi.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Kaçınılacaklar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MD5, SHA-1 (özet için), DES/3DES, RC4.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ECB kipi.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Kendi "şifreleme" algoritman.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Sabit/öngörülebilir IV veya anahtar.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uzunluğu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274355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6"/>
                <a:gridCol w="509204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Amaç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Öneri (yaklaşık)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Simetrik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AES-128 (yeter), AES-256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RSA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≥ 2048, tercih 3072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256-bit (≈ RSA-3072)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Özet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SHA-256+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 zayıf halka kuralı</a:t>
            </a:r>
          </a:p>
        </p:txBody>
      </p:sp>
      <p:pic>
        <p:nvPicPr>
          <p:cNvPr id="7" name="Picture 6" descr="h10-13-en-zayif-hal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4294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65027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Bileşenleri </a:t>
            </a:r>
            <a:r>
              <a:rPr sz="2000" b="1">
                <a:solidFill>
                  <a:srgbClr val="1F2D3A"/>
                </a:solidFill>
              </a:rPr>
              <a:t>dengeli</a:t>
            </a:r>
            <a:r>
              <a:rPr sz="2000" b="0">
                <a:solidFill>
                  <a:srgbClr val="1F2D3A"/>
                </a:solidFill>
              </a:rPr>
              <a:t> seç.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128 bit hedefliyorsan RSA-3072 ya da ECC.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Blok şifre kipleri ve dolgu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 / PSS — şema</a:t>
            </a:r>
          </a:p>
        </p:txBody>
      </p:sp>
      <p:pic>
        <p:nvPicPr>
          <p:cNvPr id="7" name="Picture 6" descr="h10-09-oaep-p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ECB · asla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ECB:</a:t>
            </a:r>
            <a:r>
              <a:rPr sz="2000" b="0">
                <a:solidFill>
                  <a:srgbClr val="1F2D3A"/>
                </a:solidFill>
              </a:rPr>
              <a:t> her bloğu bağımsız şifreler.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blok → aynı şifreli çıktı → </a:t>
            </a:r>
            <a:r>
              <a:rPr sz="2000" b="1">
                <a:solidFill>
                  <a:srgbClr val="1F2D3A"/>
                </a:solidFill>
              </a:rPr>
              <a:t>desen sızar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Ünlü "ECB penguen" örneği.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ECB kullanma.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ECB neden kötü — şema</a:t>
            </a:r>
          </a:p>
        </p:txBody>
      </p:sp>
      <p:pic>
        <p:nvPicPr>
          <p:cNvPr id="7" name="Picture 6" descr="h10-06-e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CBC · dikkatli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CBC:</a:t>
            </a:r>
            <a:r>
              <a:rPr sz="2000" b="0">
                <a:solidFill>
                  <a:srgbClr val="1F2D3A"/>
                </a:solidFill>
              </a:rPr>
              <a:t> her blok bir öncekiyle zincirlenir; </a:t>
            </a:r>
            <a:r>
              <a:rPr sz="2000" b="1">
                <a:solidFill>
                  <a:srgbClr val="1F2D3A"/>
                </a:solidFill>
              </a:rPr>
              <a:t>IV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IV </a:t>
            </a:r>
            <a:r>
              <a:rPr sz="2000" b="1">
                <a:solidFill>
                  <a:srgbClr val="1F2D3A"/>
                </a:solidFill>
              </a:rPr>
              <a:t>rastgele</a:t>
            </a:r>
            <a:r>
              <a:rPr sz="2000" b="0">
                <a:solidFill>
                  <a:srgbClr val="1F2D3A"/>
                </a:solidFill>
              </a:rPr>
              <a:t> ve tekrarsız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başına </a:t>
            </a:r>
            <a:r>
              <a:rPr sz="2000" b="1">
                <a:solidFill>
                  <a:srgbClr val="1F2D3A"/>
                </a:solidFill>
              </a:rPr>
              <a:t>bütünlük vermez</a:t>
            </a:r>
            <a:r>
              <a:rPr sz="2000" b="0">
                <a:solidFill>
                  <a:srgbClr val="1F2D3A"/>
                </a:solidFill>
              </a:rPr>
              <a:t> → ayrı MAC şart.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CBC + dolgu =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CBC dolgu gerektirir.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Yanlış dolgu işleme → </a:t>
            </a:r>
            <a:r>
              <a:rPr sz="2000" b="1">
                <a:solidFill>
                  <a:srgbClr val="1F2D3A"/>
                </a:solidFill>
              </a:rPr>
              <a:t>dolgu kâhini</a:t>
            </a:r>
            <a:r>
              <a:rPr sz="2000" b="0">
                <a:solidFill>
                  <a:srgbClr val="1F2D3A"/>
                </a:solidFill>
              </a:rPr>
              <a:t> (birazdan).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modern tercih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dolgusu · 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13 baytlık </a:t>
            </a:r>
            <a:r>
              <a:rPr sz="2000" b="0">
                <a:solidFill>
                  <a:srgbClr val="A1123F"/>
                </a:solidFill>
                <a:latin typeface="Consolas"/>
              </a:rPr>
              <a:t>"MERHABA DUNYA"</a:t>
            </a:r>
            <a:r>
              <a:rPr sz="2000" b="0">
                <a:solidFill>
                  <a:srgbClr val="1F2D3A"/>
                </a:solidFill>
              </a:rPr>
              <a:t> metnini AES-128-CBC ile şifreleyelim (K, IV yalnız gösterim için sabit):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 'MERHABA DUNYA' | openssl enc -aes-128-cbc -K "$K" -iv "$IV" -out cikti.bin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xxd -p cikti.bin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Çıktı </a:t>
            </a:r>
            <a:r>
              <a:rPr sz="2000" b="1">
                <a:solidFill>
                  <a:srgbClr val="1F2D3A"/>
                </a:solidFill>
              </a:rPr>
              <a:t>16 bayt</a:t>
            </a:r>
            <a:r>
              <a:rPr sz="2000" b="0">
                <a:solidFill>
                  <a:srgbClr val="1F2D3A"/>
                </a:solidFill>
              </a:rPr>
              <a:t> (32 hex karakter) — girdi 13 bayttı, demek ki </a:t>
            </a:r>
            <a:r>
              <a:rPr sz="2000" b="1">
                <a:solidFill>
                  <a:srgbClr val="1F2D3A"/>
                </a:solidFill>
              </a:rPr>
              <a:t>3 bayt dolgu</a:t>
            </a:r>
            <a:r>
              <a:rPr sz="2000" b="0">
                <a:solidFill>
                  <a:srgbClr val="1F2D3A"/>
                </a:solidFill>
              </a:rPr>
              <a:t> eklendi.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PKCS#7 dolgusu · çıktı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-nopad</a:t>
            </a:r>
            <a:r>
              <a:rPr sz="2000" b="0">
                <a:solidFill>
                  <a:srgbClr val="1F2D3A"/>
                </a:solidFill>
              </a:rPr>
              <a:t> ile dolgunun içeriğini görelim (yalnız öğretici amaçla):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4d45 5248 4142 4120 4455 4e59 4103 0303  MERHABA DUNYA...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 üç bayt </a:t>
            </a:r>
            <a:r>
              <a:rPr sz="2000" b="1">
                <a:solidFill>
                  <a:srgbClr val="1F2D3A"/>
                </a:solidFill>
              </a:rPr>
              <a:t>`03 03 03`</a:t>
            </a:r>
            <a:r>
              <a:rPr sz="2000" b="0">
                <a:solidFill>
                  <a:srgbClr val="1F2D3A"/>
                </a:solidFill>
              </a:rPr>
              <a:t>: eksik bayt sayısı (16 − 13 = 3) kadar, o sayı değerinde bayt eklenmiş — tam olarak PKCS#7 kuralı. Normal </a:t>
            </a:r>
            <a:r>
              <a:rPr sz="2000" b="0">
                <a:solidFill>
                  <a:srgbClr val="A1123F"/>
                </a:solidFill>
                <a:latin typeface="Consolas"/>
              </a:rPr>
              <a:t>openssl enc -d</a:t>
            </a:r>
            <a:r>
              <a:rPr sz="2000" b="0">
                <a:solidFill>
                  <a:srgbClr val="1F2D3A"/>
                </a:solidFill>
              </a:rPr>
              <a:t> bu baytları otomatik okuyup atar.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GCM · modern tercih (AEAD)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AES-GCM:</a:t>
            </a:r>
            <a:r>
              <a:rPr sz="2000" b="0">
                <a:solidFill>
                  <a:srgbClr val="1F2D3A"/>
                </a:solidFill>
              </a:rPr>
              <a:t> gizlilik </a:t>
            </a:r>
            <a:r>
              <a:rPr sz="2000" b="1">
                <a:solidFill>
                  <a:srgbClr val="1F2D3A"/>
                </a:solidFill>
              </a:rPr>
              <a:t>+</a:t>
            </a:r>
            <a:r>
              <a:rPr sz="2000" b="0">
                <a:solidFill>
                  <a:srgbClr val="1F2D3A"/>
                </a:solidFill>
              </a:rPr>
              <a:t> bütünlük birlikte.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Dolgu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bir </a:t>
            </a:r>
            <a:r>
              <a:rPr sz="2000" b="1">
                <a:solidFill>
                  <a:srgbClr val="1F2D3A"/>
                </a:solidFill>
              </a:rPr>
              <a:t>nonce</a:t>
            </a:r>
            <a:r>
              <a:rPr sz="2000" b="0">
                <a:solidFill>
                  <a:srgbClr val="1F2D3A"/>
                </a:solidFill>
              </a:rPr>
              <a:t> (tek kullanımlık sayı)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 tekrar etmemeli (aynı anahtar altında).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Nonce/IV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IV/nonce </a:t>
            </a:r>
            <a:r>
              <a:rPr sz="2000" b="1">
                <a:solidFill>
                  <a:srgbClr val="1F2D3A"/>
                </a:solidFill>
              </a:rPr>
              <a:t>benzersiz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GCM'de nonce tekrarı </a:t>
            </a:r>
            <a:r>
              <a:rPr sz="2000" b="1">
                <a:solidFill>
                  <a:srgbClr val="1F2D3A"/>
                </a:solidFill>
              </a:rPr>
              <a:t>felakettir</a:t>
            </a:r>
            <a:r>
              <a:rPr sz="2000" b="0">
                <a:solidFill>
                  <a:srgbClr val="1F2D3A"/>
                </a:solidFill>
              </a:rPr>
              <a:t> (anahtar/veri sızabilir).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Sayaç ya da rastgele (yeterli uzunlukta) kullan.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Nonce tekrarı — şema</a:t>
            </a:r>
          </a:p>
        </p:txBody>
      </p:sp>
      <p:pic>
        <p:nvPicPr>
          <p:cNvPr id="7" name="Picture 6" descr="h10-07-nonce-tekr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ChaCha20-Poly1305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AES-GCM'e AEAD alternatifi.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Donanım AES desteği yoksa hızlı.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nonce kuralı geçerli.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Dolgu kâhini (padding oracle)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 · adım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Sunucu, CBC çözerken </a:t>
            </a:r>
            <a:r>
              <a:rPr sz="2000" b="1">
                <a:solidFill>
                  <a:srgbClr val="1F2D3A"/>
                </a:solidFill>
              </a:rPr>
              <a:t>dolgu geçersiz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MAC geçersiz</a:t>
            </a:r>
            <a:r>
              <a:rPr sz="2000" b="0">
                <a:solidFill>
                  <a:srgbClr val="1F2D3A"/>
                </a:solidFill>
              </a:rPr>
              <a:t> için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yanıt/zaman verir.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Saldırgan şifreli metni değiştirip yanıtlara bakar.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Yanıt farkından </a:t>
            </a:r>
            <a:r>
              <a:rPr sz="2000" b="1">
                <a:solidFill>
                  <a:srgbClr val="1F2D3A"/>
                </a:solidFill>
              </a:rPr>
              <a:t>düz metni</a:t>
            </a:r>
            <a:r>
              <a:rPr sz="2000" b="0">
                <a:solidFill>
                  <a:srgbClr val="1F2D3A"/>
                </a:solidFill>
              </a:rPr>
              <a:t> bayt bayt çözer.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oluyor?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mesajı/zamanı, iç durumu </a:t>
            </a:r>
            <a:r>
              <a:rPr sz="2000" b="1">
                <a:solidFill>
                  <a:srgbClr val="1F2D3A"/>
                </a:solidFill>
              </a:rPr>
              <a:t>sızdırıyor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bunu bir </a:t>
            </a:r>
            <a:r>
              <a:rPr sz="2000" b="1">
                <a:solidFill>
                  <a:srgbClr val="1F2D3A"/>
                </a:solidFill>
              </a:rPr>
              <a:t>kâhin</a:t>
            </a:r>
            <a:r>
              <a:rPr sz="2000" b="0">
                <a:solidFill>
                  <a:srgbClr val="1F2D3A"/>
                </a:solidFill>
              </a:rPr>
              <a:t> (oracle) gibi kullanıyor.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AEAD kullan</a:t>
            </a:r>
            <a:r>
              <a:rPr sz="2000" b="0">
                <a:solidFill>
                  <a:srgbClr val="1F2D3A"/>
                </a:solidFill>
              </a:rPr>
              <a:t> (GCM): dolgu yok, tek doğrulama.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CBC zorundaysan: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tek ve aynı</a:t>
            </a:r>
            <a:r>
              <a:rPr sz="2000" b="0">
                <a:solidFill>
                  <a:srgbClr val="1F2D3A"/>
                </a:solidFill>
              </a:rPr>
              <a:t> hata.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Zamanlama farkı da sızıntıdır → sabit zamanlı.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Şifreleme tek başına yetmez; </a:t>
            </a:r>
            <a:r>
              <a:rPr sz="2000" b="1">
                <a:solidFill>
                  <a:srgbClr val="1F2D3A"/>
                </a:solidFill>
              </a:rPr>
              <a:t>bütünlük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tutarlı hata</a:t>
            </a:r>
            <a:r>
              <a:rPr sz="2000" b="0">
                <a:solidFill>
                  <a:srgbClr val="1F2D3A"/>
                </a:solidFill>
              </a:rPr>
              <a:t> şart.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Dolgu kâhini, "kullanım hatası"nın klasik örneğidir.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1–2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En zayıf halka kuralını bir örnekle açıklayın.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ECB neden kullanılmaz?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GCM'de nonce tekrarı neden felakettir?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Dolgu kâhinini AEAD nasıl kapatır?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1–2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Sistem </a:t>
            </a:r>
            <a:r>
              <a:rPr sz="2000" b="1">
                <a:solidFill>
                  <a:srgbClr val="1F2D3A"/>
                </a:solidFill>
              </a:rPr>
              <a:t>en zayıf bileşeni</a:t>
            </a:r>
            <a:r>
              <a:rPr sz="2000" b="0">
                <a:solidFill>
                  <a:srgbClr val="1F2D3A"/>
                </a:solidFill>
              </a:rPr>
              <a:t> kadar güvenli. Örn. AES-256 kullanıp anahtarı düz dosyada tutmak → anahtar en zayıf halka.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ECB</a:t>
            </a:r>
            <a:r>
              <a:rPr sz="2000" b="0">
                <a:solidFill>
                  <a:srgbClr val="1F2D3A"/>
                </a:solidFill>
              </a:rPr>
              <a:t> aynı açık bloğu aynı şifreli bloğa çevirir → desen sızar, anlamsal güvenlik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Aynı anahtar+nonce </a:t>
            </a:r>
            <a:r>
              <a:rPr sz="2000" b="1">
                <a:solidFill>
                  <a:srgbClr val="1F2D3A"/>
                </a:solidFill>
              </a:rPr>
              <a:t>anahtar akışını</a:t>
            </a:r>
            <a:r>
              <a:rPr sz="2000" b="0">
                <a:solidFill>
                  <a:srgbClr val="1F2D3A"/>
                </a:solidFill>
              </a:rPr>
              <a:t> tekrarlar (gizlilik çöker) ve GHASH </a:t>
            </a:r>
            <a:r>
              <a:rPr sz="2000" b="1">
                <a:solidFill>
                  <a:srgbClr val="1F2D3A"/>
                </a:solidFill>
              </a:rPr>
              <a:t>kimlik anahtarı</a:t>
            </a:r>
            <a:r>
              <a:rPr sz="2000" b="0">
                <a:solidFill>
                  <a:srgbClr val="1F2D3A"/>
                </a:solidFill>
              </a:rPr>
              <a:t> ele geçirilir → felaket.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önce etiketi doğrular, yanlış etiketli metni </a:t>
            </a:r>
            <a:r>
              <a:rPr sz="2000" b="1">
                <a:solidFill>
                  <a:srgbClr val="1F2D3A"/>
                </a:solidFill>
              </a:rPr>
              <a:t>çözmeden reddeder</a:t>
            </a:r>
            <a:r>
              <a:rPr sz="2000" b="0">
                <a:solidFill>
                  <a:srgbClr val="1F2D3A"/>
                </a:solidFill>
              </a:rPr>
              <a:t> → dolgu hatası için </a:t>
            </a:r>
            <a:r>
              <a:rPr sz="2000" b="1">
                <a:solidFill>
                  <a:srgbClr val="1F2D3A"/>
                </a:solidFill>
              </a:rPr>
              <a:t>oracle</a:t>
            </a:r>
            <a:r>
              <a:rPr sz="2000" b="0">
                <a:solidFill>
                  <a:srgbClr val="1F2D3A"/>
                </a:solidFill>
              </a:rPr>
              <a:t> kalmaz.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MAC, HMAC ve bütünlük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 neden — şema</a:t>
            </a:r>
          </a:p>
        </p:txBody>
      </p:sp>
      <p:pic>
        <p:nvPicPr>
          <p:cNvPr id="7" name="Picture 6" descr="h10-08-h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MAC?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Şifreleme gizliliği verir, </a:t>
            </a:r>
            <a:r>
              <a:rPr sz="2000" b="1">
                <a:solidFill>
                  <a:srgbClr val="1F2D3A"/>
                </a:solidFill>
              </a:rPr>
              <a:t>bütünlüğü vermez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şifreli metni değiştirebilir.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MAC: mesaj </a:t>
            </a:r>
            <a:r>
              <a:rPr sz="2000" b="1">
                <a:solidFill>
                  <a:srgbClr val="1F2D3A"/>
                </a:solidFill>
              </a:rPr>
              <a:t>değişmedi</a:t>
            </a:r>
            <a:r>
              <a:rPr sz="2000" b="0">
                <a:solidFill>
                  <a:srgbClr val="1F2D3A"/>
                </a:solidFill>
              </a:rPr>
              <a:t> ve doğru taraftan geldi.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fonksiyonuna dayalı MAC (</a:t>
            </a:r>
            <a:r>
              <a:rPr sz="2000" b="0">
                <a:solidFill>
                  <a:srgbClr val="A1123F"/>
                </a:solidFill>
                <a:latin typeface="Consolas"/>
              </a:rPr>
              <a:t>HMAC-SHA256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Simetrik anahtar; iki taraf aynı anahtarı 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 </a:t>
            </a:r>
            <a:r>
              <a:rPr sz="2000" b="1">
                <a:solidFill>
                  <a:srgbClr val="1F2D3A"/>
                </a:solidFill>
              </a:rPr>
              <a:t>sabit zamanlı</a:t>
            </a:r>
            <a:r>
              <a:rPr sz="2000" b="0">
                <a:solidFill>
                  <a:srgbClr val="1F2D3A"/>
                </a:solidFill>
              </a:rPr>
              <a:t> karşılaştırmayla.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HMAC-SHA-256 · gerçek çıktı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ödeme talimatının HMAC'ini hesaplayalım (32 baytlık anahtar, yalnız gösterim için sabit):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printf 'tutar=100;alici=TR00' |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openssl dgst -sha256 -mac HMAC -macopt hexkey:$ANAHTAR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677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SHA2-256(stdin)= a08fb115...c5f9a1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HMAC-SHA-256 · çığ etkisi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anahtarla, yalnız tutarı değiştirelim (</a:t>
            </a:r>
            <a:r>
              <a:rPr sz="2000" b="0">
                <a:solidFill>
                  <a:srgbClr val="A1123F"/>
                </a:solidFill>
                <a:latin typeface="Consolas"/>
              </a:rPr>
              <a:t>100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900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SHA2-256(stdin)= 8a786eac...91a46be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karakterlik değişiklik (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9</a:t>
            </a:r>
            <a:r>
              <a:rPr sz="2000" b="0">
                <a:solidFill>
                  <a:srgbClr val="1F2D3A"/>
                </a:solidFill>
              </a:rPr>
              <a:t>), etiketin </a:t>
            </a:r>
            <a:r>
              <a:rPr sz="2000" b="1">
                <a:solidFill>
                  <a:srgbClr val="1F2D3A"/>
                </a:solidFill>
              </a:rPr>
              <a:t>tamamen farklı</a:t>
            </a:r>
            <a:r>
              <a:rPr sz="2000" b="0">
                <a:solidFill>
                  <a:srgbClr val="1F2D3A"/>
                </a:solidFill>
              </a:rPr>
              <a:t> çıkmasına yol açtı — buna </a:t>
            </a:r>
            <a:r>
              <a:rPr sz="2000" b="1">
                <a:solidFill>
                  <a:srgbClr val="1F2D3A"/>
                </a:solidFill>
              </a:rPr>
              <a:t>çığ etkisi</a:t>
            </a:r>
            <a:r>
              <a:rPr sz="2000" b="0">
                <a:solidFill>
                  <a:srgbClr val="1F2D3A"/>
                </a:solidFill>
              </a:rPr>
              <a:t> (avalanche effect) denir. Saldırgan anahtarı bilmeden geçerli bir yeni etiket üretemez; alıcı uyuşmazlığı yakalar.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Sabit zamanlı karşılaştırma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YANLIS: ilk farkta durur, sure farki sizdirir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(memcmp(hesaplanan, gelen, 32) == 0) { /* kabul */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DOGRU: her zaman 32 baytin tamamini gezer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(CRYPTO_memcmp(hesaplanan, gelen, 32) == 0) { /* kabul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MAC/imza/parola özeti gibi gizli değerleri </a:t>
            </a:r>
            <a:r>
              <a:rPr sz="2000" b="1">
                <a:solidFill>
                  <a:srgbClr val="1F2D3A"/>
                </a:solidFill>
              </a:rPr>
              <a:t>her zaman</a:t>
            </a:r>
            <a:r>
              <a:rPr sz="2000" b="0">
                <a:solidFill>
                  <a:srgbClr val="1F2D3A"/>
                </a:solidFill>
              </a:rPr>
              <a:t> sabit zamanlı karşılaştırın;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==</a:t>
            </a:r>
            <a:r>
              <a:rPr sz="2000" b="0">
                <a:solidFill>
                  <a:srgbClr val="1F2D3A"/>
                </a:solidFill>
              </a:rPr>
              <a:t> bir zamanlama saldırısına açık kapı bırakır.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bölümün kuralı · MAC/HMAC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Bütünlüğü </a:t>
            </a:r>
            <a:r>
              <a:rPr sz="2000" b="1">
                <a:solidFill>
                  <a:srgbClr val="1F2D3A"/>
                </a:solidFill>
              </a:rPr>
              <a:t>HMAC</a:t>
            </a:r>
            <a:r>
              <a:rPr sz="2000" b="0">
                <a:solidFill>
                  <a:srgbClr val="1F2D3A"/>
                </a:solidFill>
              </a:rPr>
              <a:t> ile sağlayın; düz </a:t>
            </a:r>
            <a:r>
              <a:rPr sz="2000" b="0">
                <a:solidFill>
                  <a:srgbClr val="A1123F"/>
                </a:solidFill>
                <a:latin typeface="Consolas"/>
              </a:rPr>
              <a:t>H(K‖m)</a:t>
            </a:r>
            <a:r>
              <a:rPr sz="2000" b="0">
                <a:solidFill>
                  <a:srgbClr val="1F2D3A"/>
                </a:solidFill>
              </a:rPr>
              <a:t> değil (uzunluk uzatma riski).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Şifreleme + MAC birleşiminde sıra </a:t>
            </a:r>
            <a:r>
              <a:rPr sz="2000" b="1">
                <a:solidFill>
                  <a:srgbClr val="1F2D3A"/>
                </a:solidFill>
              </a:rPr>
              <a:t>şifrele-sonra-MAC</a:t>
            </a:r>
            <a:r>
              <a:rPr sz="2000" b="0">
                <a:solidFill>
                  <a:srgbClr val="1F2D3A"/>
                </a:solidFill>
              </a:rPr>
              <a:t>'tir.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Etiket/imza karşılaştırması </a:t>
            </a:r>
            <a:r>
              <a:rPr sz="2000" b="1">
                <a:solidFill>
                  <a:srgbClr val="1F2D3A"/>
                </a:solidFill>
              </a:rPr>
              <a:t>sabit zamanlı</a:t>
            </a:r>
            <a:r>
              <a:rPr sz="2000" b="0">
                <a:solidFill>
                  <a:srgbClr val="1F2D3A"/>
                </a:solidFill>
              </a:rPr>
              <a:t> olmalı; erken çıkışlı fonksiyon kullanmayın.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sıra · encrypt-then-MAC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1. şifrele:  c = ENC(k1, m)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2. MAC'le:   t = MAC(k2, c)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3. gönder:   c ||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şifrele,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şifreli metni MAC'le.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 geçmezse </a:t>
            </a:r>
            <a:r>
              <a:rPr sz="2000" b="1">
                <a:solidFill>
                  <a:srgbClr val="1F2D3A"/>
                </a:solidFill>
              </a:rPr>
              <a:t>çözmeye bile kalkma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Yanlış sıralar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MAC-then-encrypt:</a:t>
            </a:r>
            <a:r>
              <a:rPr sz="2000" b="0">
                <a:solidFill>
                  <a:srgbClr val="1F2D3A"/>
                </a:solidFill>
              </a:rPr>
              <a:t> dolgu kâhinine açık.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Encrypt-and-MAC:</a:t>
            </a:r>
            <a:r>
              <a:rPr sz="2000" b="0">
                <a:solidFill>
                  <a:srgbClr val="1F2D3A"/>
                </a:solidFill>
              </a:rPr>
              <a:t> MAC düz metni sızdırabilir.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Doğrusu: </a:t>
            </a:r>
            <a:r>
              <a:rPr sz="2000" b="1">
                <a:solidFill>
                  <a:srgbClr val="1F2D3A"/>
                </a:solidFill>
              </a:rPr>
              <a:t>encrypt-then-MAC</a:t>
            </a:r>
            <a:r>
              <a:rPr sz="2000" b="0">
                <a:solidFill>
                  <a:srgbClr val="1F2D3A"/>
                </a:solidFill>
              </a:rPr>
              <a:t> (ya da AEAD, zaten böyle yapar).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Yeniden oynatma (replay)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geçerli bir mesajı </a:t>
            </a:r>
            <a:r>
              <a:rPr sz="2000" b="1">
                <a:solidFill>
                  <a:srgbClr val="1F2D3A"/>
                </a:solidFill>
              </a:rPr>
              <a:t>tekrar</a:t>
            </a:r>
            <a:r>
              <a:rPr sz="2000" b="0">
                <a:solidFill>
                  <a:srgbClr val="1F2D3A"/>
                </a:solidFill>
              </a:rPr>
              <a:t> gönderir.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MAC geçerli (mesaj değişmedi) ama işlem </a:t>
            </a:r>
            <a:r>
              <a:rPr sz="2000" b="1">
                <a:solidFill>
                  <a:srgbClr val="1F2D3A"/>
                </a:solidFill>
              </a:rPr>
              <a:t>tekrarlanır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Çözüm: </a:t>
            </a:r>
            <a:r>
              <a:rPr sz="2000" b="1">
                <a:solidFill>
                  <a:srgbClr val="1F2D3A"/>
                </a:solidFill>
              </a:rPr>
              <a:t>nonce</a:t>
            </a:r>
            <a:r>
              <a:rPr sz="2000" b="0">
                <a:solidFill>
                  <a:srgbClr val="1F2D3A"/>
                </a:solidFill>
              </a:rPr>
              <a:t>, zaman damgası, sayaç.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AEAD hepsini yapar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AES-GCM: şifreleme + bütünlük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"İlişkili veri" (AAD) ile başlık/bağlamı da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tercih: ayrı MAC yerine AEAD.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Asimetrik: RSA ve ECC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↔ asimetrik — şema</a:t>
            </a:r>
          </a:p>
        </p:txBody>
      </p:sp>
      <p:pic>
        <p:nvPicPr>
          <p:cNvPr id="7" name="Picture 6" descr="h10-05-simetrik-asimetr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· iki 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Şifreleme:</a:t>
            </a:r>
            <a:r>
              <a:rPr sz="2000" b="0">
                <a:solidFill>
                  <a:srgbClr val="1F2D3A"/>
                </a:solidFill>
              </a:rPr>
              <a:t> açık anahtarla şifrele, gizli anahtarla çöz.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İmza:</a:t>
            </a:r>
            <a:r>
              <a:rPr sz="2000" b="0">
                <a:solidFill>
                  <a:srgbClr val="1F2D3A"/>
                </a:solidFill>
              </a:rPr>
              <a:t> gizli anahtarla imzala, açık anahtarla doğrula.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anahtarlar (2048+).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 · dolgu şart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Ham RSA </a:t>
            </a:r>
            <a:r>
              <a:rPr sz="2000" b="1">
                <a:solidFill>
                  <a:srgbClr val="1F2D3A"/>
                </a:solidFill>
              </a:rPr>
              <a:t>güvensizdir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Şifreleme için:</a:t>
            </a:r>
            <a:r>
              <a:rPr sz="2000" b="0">
                <a:solidFill>
                  <a:srgbClr val="1F2D3A"/>
                </a:solidFill>
              </a:rPr>
              <a:t> OAEP dolgusu.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 için:</a:t>
            </a:r>
            <a:r>
              <a:rPr sz="2000" b="0">
                <a:solidFill>
                  <a:srgbClr val="1F2D3A"/>
                </a:solidFill>
              </a:rPr>
              <a:t> PSS dolgusu.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Eski PKCS#1 v1.5: mümkünse kaçın.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 vs PSS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OAEP:</a:t>
            </a:r>
            <a:r>
              <a:rPr sz="2000" b="0">
                <a:solidFill>
                  <a:srgbClr val="1F2D3A"/>
                </a:solidFill>
              </a:rPr>
              <a:t> RSA </a:t>
            </a:r>
            <a:r>
              <a:rPr sz="2000" b="1">
                <a:solidFill>
                  <a:srgbClr val="1F2D3A"/>
                </a:solidFill>
              </a:rPr>
              <a:t>şifreleme</a:t>
            </a:r>
            <a:r>
              <a:rPr sz="2000" b="0">
                <a:solidFill>
                  <a:srgbClr val="1F2D3A"/>
                </a:solidFill>
              </a:rPr>
              <a:t> dolgusu.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PSS:</a:t>
            </a:r>
            <a:r>
              <a:rPr sz="2000" b="0">
                <a:solidFill>
                  <a:srgbClr val="1F2D3A"/>
                </a:solidFill>
              </a:rPr>
              <a:t> RSA </a:t>
            </a:r>
            <a:r>
              <a:rPr sz="2000" b="1">
                <a:solidFill>
                  <a:srgbClr val="1F2D3A"/>
                </a:solidFill>
              </a:rPr>
              <a:t>imza</a:t>
            </a:r>
            <a:r>
              <a:rPr sz="2000" b="0">
                <a:solidFill>
                  <a:srgbClr val="1F2D3A"/>
                </a:solidFill>
              </a:rPr>
              <a:t> dolgusu.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Karıştırma: OAEP imza için değil, PSS şifreleme için değil.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OAEP'in rastgeleliği · komut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mesajı iki kez OAEP ile şifreleyelim: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-encrypt -pubin -inkey rsa_acik.pem -in kisa.txt -out c1.bin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-pkeyopt rsa_padding_mode:oaep -pkeyopt rsa_oaep_md:sha256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-encrypt -pubin -inkey rsa_acik.pem -in kisa.txt -out c2.bin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-pkeyopt rsa_padding_mode:oaep -pkeyopt rsa_oaep_md:sha256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cmp c1.bin c2.bin &amp;&amp; echo AYNI || echo FARKLI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OAEP'in rastgeleliği · sonuç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c1.bin c2.bin differ: char 1, line 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FARKLI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anahtar, aynı düz metin, ama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şifreli metin — OAEP her şifrelemede yeni bir rastgele değer karıştırır. </a:t>
            </a:r>
            <a:r>
              <a:rPr sz="2000" b="1">
                <a:solidFill>
                  <a:srgbClr val="1F2D3A"/>
                </a:solidFill>
              </a:rPr>
              <a:t>Ham RSA</a:t>
            </a:r>
            <a:r>
              <a:rPr sz="2000" b="0">
                <a:solidFill>
                  <a:srgbClr val="1F2D3A"/>
                </a:solidFill>
              </a:rPr>
              <a:t> (dolgusuz) deterministiktir (</a:t>
            </a:r>
            <a:r>
              <a:rPr sz="2000" b="0">
                <a:solidFill>
                  <a:srgbClr val="A1123F"/>
                </a:solidFill>
                <a:latin typeface="Consolas"/>
              </a:rPr>
              <a:t>c = m^e mod n</a:t>
            </a:r>
            <a:r>
              <a:rPr sz="2000" b="0">
                <a:solidFill>
                  <a:srgbClr val="1F2D3A"/>
                </a:solidFill>
              </a:rPr>
              <a:t>); bu yüzden hiçbir zaman doğrudan şifreleme için kullanılmaz.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ECC · neden?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güvenlik, </a:t>
            </a:r>
            <a:r>
              <a:rPr sz="2000" b="1">
                <a:solidFill>
                  <a:srgbClr val="1F2D3A"/>
                </a:solidFill>
              </a:rPr>
              <a:t>daha küçük</a:t>
            </a:r>
            <a:r>
              <a:rPr sz="2000" b="0">
                <a:solidFill>
                  <a:srgbClr val="1F2D3A"/>
                </a:solidFill>
              </a:rPr>
              <a:t> anahtar (256-bit ≈ RSA-3072).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hızlı, daha az yer.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Mobil/gömülü için ideal.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Ed25519 ve X25519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Ed25519:</a:t>
            </a:r>
            <a:r>
              <a:rPr sz="2000" b="0">
                <a:solidFill>
                  <a:srgbClr val="1F2D3A"/>
                </a:solidFill>
              </a:rPr>
              <a:t> modern </a:t>
            </a:r>
            <a:r>
              <a:rPr sz="2000" b="1">
                <a:solidFill>
                  <a:srgbClr val="1F2D3A"/>
                </a:solidFill>
              </a:rPr>
              <a:t>imza</a:t>
            </a:r>
            <a:r>
              <a:rPr sz="2000" b="0">
                <a:solidFill>
                  <a:srgbClr val="1F2D3A"/>
                </a:solidFill>
              </a:rPr>
              <a:t> algoritması.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X25519:</a:t>
            </a:r>
            <a:r>
              <a:rPr sz="2000" b="0">
                <a:solidFill>
                  <a:srgbClr val="1F2D3A"/>
                </a:solidFill>
              </a:rPr>
              <a:t> modern </a:t>
            </a:r>
            <a:r>
              <a:rPr sz="2000" b="1">
                <a:solidFill>
                  <a:srgbClr val="1F2D3A"/>
                </a:solidFill>
              </a:rPr>
              <a:t>anahtar anlaşması</a:t>
            </a:r>
            <a:r>
              <a:rPr sz="2000" b="0">
                <a:solidFill>
                  <a:srgbClr val="1F2D3A"/>
                </a:solidFill>
              </a:rPr>
              <a:t> (DH).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Karıştırma: Ed25519 imza, X25519 anahtar.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RSA-3072 ile Ed25519 · ölçüm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ikisi de ~128 bit güvenlik düzeyinde (bkz. Bölüm 1 tablosu):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rsa_acik.pem ed_acik.pem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belge.rsa.sig belge.ed.sig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RSA-3072 ile Ed25519 · sonuç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8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6"/>
                <a:gridCol w="2182306"/>
                <a:gridCol w="218230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Dosya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RSA-3072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Açık anahtar (PEM)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636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116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384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64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Açık anahtar </a:t>
            </a:r>
            <a:r>
              <a:rPr sz="2000" b="1">
                <a:solidFill>
                  <a:srgbClr val="1F2D3A"/>
                </a:solidFill>
              </a:rPr>
              <a:t>~5,5 kat</a:t>
            </a:r>
            <a:r>
              <a:rPr sz="2000" b="0">
                <a:solidFill>
                  <a:srgbClr val="1F2D3A"/>
                </a:solidFill>
              </a:rPr>
              <a:t>, imza </a:t>
            </a:r>
            <a:r>
              <a:rPr sz="2000" b="1">
                <a:solidFill>
                  <a:srgbClr val="1F2D3A"/>
                </a:solidFill>
              </a:rPr>
              <a:t>6 kat</a:t>
            </a:r>
            <a:r>
              <a:rPr sz="2000" b="0">
                <a:solidFill>
                  <a:srgbClr val="1F2D3A"/>
                </a:solidFill>
              </a:rPr>
              <a:t> küçük. IoT/mobil el sıkışmalarında, gömülü flash'ta ya da blok zincirinde bu fark birikerek büyür.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Simetrik + asimetrik birlikte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1. X25519 ile ortak sır türet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2. Ondan bir AES anahtarı çıkar (KDF)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3. AES-GCM ile veriyi şifrele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Asimetrik: anahtar taşı. Simetrik: veri şifrele.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bunu yapar.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3–4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Encrypt-then-MAC neden doğru sıra?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Yeniden oynatma nasıl engellenir?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OAEP ve PSS hangisi ne için?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Ed25519 ve X25519 farkı?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3–4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Alıcı </a:t>
            </a:r>
            <a:r>
              <a:rPr sz="2000" b="1">
                <a:solidFill>
                  <a:srgbClr val="1F2D3A"/>
                </a:solidFill>
              </a:rPr>
              <a:t>önce MAC'i</a:t>
            </a:r>
            <a:r>
              <a:rPr sz="2000" b="0">
                <a:solidFill>
                  <a:srgbClr val="1F2D3A"/>
                </a:solidFill>
              </a:rPr>
              <a:t> doğrular, geçmezse çözmez → değiştirilmiş metin hiç işlenmez (dolgu kâhini kapanır).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Tazelik:</a:t>
            </a:r>
            <a:r>
              <a:rPr sz="2000" b="0">
                <a:solidFill>
                  <a:srgbClr val="1F2D3A"/>
                </a:solidFill>
              </a:rPr>
              <a:t> nonce/sayaç, zaman damgası + pencere, tek-kullanımlık challenge.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OAEP</a:t>
            </a:r>
            <a:r>
              <a:rPr sz="2000" b="0">
                <a:solidFill>
                  <a:srgbClr val="1F2D3A"/>
                </a:solidFill>
              </a:rPr>
              <a:t> = RSA </a:t>
            </a:r>
            <a:r>
              <a:rPr sz="2000" b="1">
                <a:solidFill>
                  <a:srgbClr val="1F2D3A"/>
                </a:solidFill>
              </a:rPr>
              <a:t>şifreleme</a:t>
            </a:r>
            <a:r>
              <a:rPr sz="2000" b="0">
                <a:solidFill>
                  <a:srgbClr val="1F2D3A"/>
                </a:solidFill>
              </a:rPr>
              <a:t> dolgusu; </a:t>
            </a:r>
            <a:r>
              <a:rPr sz="2000" b="1">
                <a:solidFill>
                  <a:srgbClr val="1F2D3A"/>
                </a:solidFill>
              </a:rPr>
              <a:t>PSS</a:t>
            </a:r>
            <a:r>
              <a:rPr sz="2000" b="0">
                <a:solidFill>
                  <a:srgbClr val="1F2D3A"/>
                </a:solidFill>
              </a:rPr>
              <a:t> = RSA </a:t>
            </a:r>
            <a:r>
              <a:rPr sz="2000" b="1">
                <a:solidFill>
                  <a:srgbClr val="1F2D3A"/>
                </a:solidFill>
              </a:rPr>
              <a:t>imza</a:t>
            </a:r>
            <a:r>
              <a:rPr sz="2000" b="0">
                <a:solidFill>
                  <a:srgbClr val="1F2D3A"/>
                </a:solidFill>
              </a:rPr>
              <a:t> dolgusu.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Ed25519</a:t>
            </a:r>
            <a:r>
              <a:rPr sz="2000" b="0">
                <a:solidFill>
                  <a:srgbClr val="1F2D3A"/>
                </a:solidFill>
              </a:rPr>
              <a:t> = imza (EdDSA); </a:t>
            </a:r>
            <a:r>
              <a:rPr sz="2000" b="1">
                <a:solidFill>
                  <a:srgbClr val="1F2D3A"/>
                </a:solidFill>
              </a:rPr>
              <a:t>X25519</a:t>
            </a:r>
            <a:r>
              <a:rPr sz="2000" b="0">
                <a:solidFill>
                  <a:srgbClr val="1F2D3A"/>
                </a:solidFill>
              </a:rPr>
              <a:t> = anahtar değişimi (ECDH). Aynı eğri ailesi, farklı iş.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Dijital imza ve tuzakları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Dijital imza — şema</a:t>
            </a:r>
          </a:p>
        </p:txBody>
      </p:sp>
      <p:pic>
        <p:nvPicPr>
          <p:cNvPr id="7" name="Picture 6" descr="h10-10-im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İmza · ne sağlar?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Bütünlük:</a:t>
            </a:r>
            <a:r>
              <a:rPr sz="2000" b="0">
                <a:solidFill>
                  <a:srgbClr val="1F2D3A"/>
                </a:solidFill>
              </a:rPr>
              <a:t> mesaj değişmedi.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Kimlik/inkâr edilemezlik:</a:t>
            </a:r>
            <a:r>
              <a:rPr sz="2000" b="0">
                <a:solidFill>
                  <a:srgbClr val="1F2D3A"/>
                </a:solidFill>
              </a:rPr>
              <a:t> gizli anahtar sahibi imzaladı.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Doğrulama: açık anahtarla, herkes yapabilir.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İmza · nerede kullanılır?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Yazılım/güncelleme imzalama.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Sertifikalar (CA imzası).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Belge/işlem imzalama.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TLS'te sunucu kimliği (CertificateVerify).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Tuzak 1 · dönüş değerini denetlememek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r = EVP_DigestVerify(ctx, imza, n, veri, 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(r) guncellemeyi_kur();   /* HATALI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Negatif hata değeri de "doğru" sayılır. Doğrusu: </a:t>
            </a:r>
            <a:r>
              <a:rPr sz="2000" b="0">
                <a:solidFill>
                  <a:srgbClr val="A1123F"/>
                </a:solidFill>
                <a:latin typeface="Consolas"/>
              </a:rPr>
              <a:t>r ==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Tuzak 2 · sürümü imzaya katmamak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yalnız içeriği kapsıyorsa, saldırgan </a:t>
            </a:r>
            <a:r>
              <a:rPr sz="2000" b="1">
                <a:solidFill>
                  <a:srgbClr val="1F2D3A"/>
                </a:solidFill>
              </a:rPr>
              <a:t>eski</a:t>
            </a:r>
            <a:r>
              <a:rPr sz="2000" b="0">
                <a:solidFill>
                  <a:srgbClr val="1F2D3A"/>
                </a:solidFill>
              </a:rPr>
              <a:t> ama geçerli imzalı sürümü yükleyebilir (downgrade).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İmzalı içerik </a:t>
            </a:r>
            <a:r>
              <a:rPr sz="2000" b="1">
                <a:solidFill>
                  <a:srgbClr val="1F2D3A"/>
                </a:solidFill>
              </a:rPr>
              <a:t>sürüm numarasını</a:t>
            </a:r>
            <a:r>
              <a:rPr sz="2000" b="0">
                <a:solidFill>
                  <a:srgbClr val="1F2D3A"/>
                </a:solidFill>
              </a:rPr>
              <a:t> da kapsamalı; eski sürüm reddedilmeli.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Tuzak 3 · yanlış anahtarla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 anahtarı güvenilir mi? Nereden geldi?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Saldırganın anahtarıyla doğrularsanız, onun imzası "geçerli" olur.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</a:t>
            </a:r>
            <a:r>
              <a:rPr sz="2000" b="1">
                <a:solidFill>
                  <a:srgbClr val="1F2D3A"/>
                </a:solidFill>
              </a:rPr>
              <a:t>sabitlenmeli</a:t>
            </a:r>
            <a:r>
              <a:rPr sz="2000" b="0">
                <a:solidFill>
                  <a:srgbClr val="1F2D3A"/>
                </a:solidFill>
              </a:rPr>
              <a:t> ya da güvenilir zincirden gelmeli.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İmza · özet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aslında </a:t>
            </a:r>
            <a:r>
              <a:rPr sz="2000" b="1">
                <a:solidFill>
                  <a:srgbClr val="1F2D3A"/>
                </a:solidFill>
              </a:rPr>
              <a:t>özetin</a:t>
            </a:r>
            <a:r>
              <a:rPr sz="2000" b="0">
                <a:solidFill>
                  <a:srgbClr val="1F2D3A"/>
                </a:solidFill>
              </a:rPr>
              <a:t> imzalanmasıdır.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Zayıf özet (MD5/SHA-1) → imza zayıf.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SHA-256+ kullan.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Diffie–Hellman ve MITM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· ne yapar?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taraf, gizli anahtar </a:t>
            </a:r>
            <a:r>
              <a:rPr sz="2000" b="1">
                <a:solidFill>
                  <a:srgbClr val="1F2D3A"/>
                </a:solidFill>
              </a:rPr>
              <a:t>paylaşmadan</a:t>
            </a:r>
            <a:r>
              <a:rPr sz="2000" b="0">
                <a:solidFill>
                  <a:srgbClr val="1F2D3A"/>
                </a:solidFill>
              </a:rPr>
              <a:t> ortak bir sır türetir.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Ağ üzerinden anahtar anlaşması.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hali: X25519.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DH · adım adım (kavram)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Ali:  a gizli, A = g^a açık gönderir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Veli: b gizli, B = g^b açık gönderir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Ortak sır: A^b = B^a = g^(ab)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Dinleyen </a:t>
            </a:r>
            <a:r>
              <a:rPr sz="2000" b="0">
                <a:solidFill>
                  <a:srgbClr val="A1123F"/>
                </a:solidFill>
                <a:latin typeface="Consolas"/>
              </a:rPr>
              <a:t>g^a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g^b</a:t>
            </a:r>
            <a:r>
              <a:rPr sz="2000" b="0">
                <a:solidFill>
                  <a:srgbClr val="1F2D3A"/>
                </a:solidFill>
              </a:rPr>
              <a:t> görür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g^(ab)</a:t>
            </a:r>
            <a:r>
              <a:rPr sz="2000" b="0">
                <a:solidFill>
                  <a:srgbClr val="1F2D3A"/>
                </a:solidFill>
              </a:rPr>
              <a:t>'yi hesaplayamaz.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X25519 · iki tarafın aynı sırra ulaşması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X25519 -out alice.key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X25519 -out bob.key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 -in alice.key -pubout -out alice.pub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 -in bob.key -pubout -out bob.pub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-derive -inkey alice.key -peerkey bob.pub -out alice_sir.bin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-derive -inkey bob.key -peerkey alice.pub -out bob_sir.bin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X25519 · sonuç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8c53744a000c1a6f...bbc1376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8c53744a000c1a6f...bbc1376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AYNI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Alice ve Bob, birbirinin </a:t>
            </a:r>
            <a:r>
              <a:rPr sz="2000" b="1">
                <a:solidFill>
                  <a:srgbClr val="1F2D3A"/>
                </a:solidFill>
              </a:rPr>
              <a:t>hiç görmediği</a:t>
            </a:r>
            <a:r>
              <a:rPr sz="2000" b="0">
                <a:solidFill>
                  <a:srgbClr val="1F2D3A"/>
                </a:solidFill>
              </a:rPr>
              <a:t> özel anahtarını bilmeden, ağdan yalnız açık anahtarları geçirerek </a:t>
            </a:r>
            <a:r>
              <a:rPr sz="2000" b="1">
                <a:solidFill>
                  <a:srgbClr val="1F2D3A"/>
                </a:solidFill>
              </a:rPr>
              <a:t>aynı</a:t>
            </a:r>
            <a:r>
              <a:rPr sz="2000" b="0">
                <a:solidFill>
                  <a:srgbClr val="1F2D3A"/>
                </a:solidFill>
              </a:rPr>
              <a:t> 32 baytlık sırra ulaştı. Bu ham sır doğrudan AES anahtarı olarak kullanılmaz; önce bir </a:t>
            </a:r>
            <a:r>
              <a:rPr sz="2000" b="1">
                <a:solidFill>
                  <a:srgbClr val="1F2D3A"/>
                </a:solidFill>
              </a:rPr>
              <a:t>KDF</a:t>
            </a:r>
            <a:r>
              <a:rPr sz="2000" b="0">
                <a:solidFill>
                  <a:srgbClr val="1F2D3A"/>
                </a:solidFill>
              </a:rPr>
              <a:t>'den (HKDF) geçirilip oturum anahtarları türetilir.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Kimliksiz DH · MITM riski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Ali ve Veli birbirinin kim olduğunu </a:t>
            </a:r>
            <a:r>
              <a:rPr sz="2000" b="1">
                <a:solidFill>
                  <a:srgbClr val="1F2D3A"/>
                </a:solidFill>
              </a:rPr>
              <a:t>doğrulamıyorsa</a:t>
            </a:r>
            <a:r>
              <a:rPr sz="2000" b="0">
                <a:solidFill>
                  <a:srgbClr val="1F2D3A"/>
                </a:solidFill>
              </a:rPr>
              <a:t>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</a:t>
            </a:r>
            <a:r>
              <a:rPr sz="2000" b="1">
                <a:solidFill>
                  <a:srgbClr val="1F2D3A"/>
                </a:solidFill>
              </a:rPr>
              <a:t>araya girer</a:t>
            </a:r>
            <a:r>
              <a:rPr sz="2000" b="0">
                <a:solidFill>
                  <a:srgbClr val="1F2D3A"/>
                </a:solidFill>
              </a:rPr>
              <a:t>: Ali ile ayrı, Veli ile ayrı DH yapar.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İkisini de dinler/değiştirir.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MITM · şema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 ↔ [Saldırgan] ↔ Veli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iki ayrı DH; saldırgan ortada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iki taraf "güvenli kanal kurdum" sanır.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 · kimlikli DH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DH değerleri, kimliği bilinen bir anahtarla </a:t>
            </a:r>
            <a:r>
              <a:rPr sz="2000" b="1">
                <a:solidFill>
                  <a:srgbClr val="1F2D3A"/>
                </a:solidFill>
              </a:rPr>
              <a:t>imzalanır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 1.3'te </a:t>
            </a:r>
            <a:r>
              <a:rPr sz="2000" b="0">
                <a:solidFill>
                  <a:srgbClr val="A1123F"/>
                </a:solidFill>
                <a:latin typeface="Consolas"/>
              </a:rPr>
              <a:t>CertificateVerify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 taraf bu kimliği </a:t>
            </a:r>
            <a:r>
              <a:rPr sz="2000" b="1">
                <a:solidFill>
                  <a:srgbClr val="1F2D3A"/>
                </a:solidFill>
              </a:rPr>
              <a:t>doğrular</a:t>
            </a:r>
            <a:r>
              <a:rPr sz="2000" b="0">
                <a:solidFill>
                  <a:srgbClr val="1F2D3A"/>
                </a:solidFill>
              </a:rPr>
              <a:t> (sertifika zinciri).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İleri gizlilik (forward secrecy)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oturum için </a:t>
            </a:r>
            <a:r>
              <a:rPr sz="2000" b="1">
                <a:solidFill>
                  <a:srgbClr val="1F2D3A"/>
                </a:solidFill>
              </a:rPr>
              <a:t>yeni</a:t>
            </a:r>
            <a:r>
              <a:rPr sz="2000" b="0">
                <a:solidFill>
                  <a:srgbClr val="1F2D3A"/>
                </a:solidFill>
              </a:rPr>
              <a:t> DH anahtarı.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vadeli anahtar sızsa bile </a:t>
            </a:r>
            <a:r>
              <a:rPr sz="2000" b="1">
                <a:solidFill>
                  <a:srgbClr val="1F2D3A"/>
                </a:solidFill>
              </a:rPr>
              <a:t>eski</a:t>
            </a:r>
            <a:r>
              <a:rPr sz="2000" b="0">
                <a:solidFill>
                  <a:srgbClr val="1F2D3A"/>
                </a:solidFill>
              </a:rPr>
              <a:t> oturumlar çözülemez.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 TLS bunu sağlar.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5–6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 doğrulamada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(r)</a:t>
            </a:r>
            <a:r>
              <a:rPr sz="2000" b="0">
                <a:solidFill>
                  <a:srgbClr val="1F2D3A"/>
                </a:solidFill>
              </a:rPr>
              <a:t> neden hatalı?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Sürüm imzaya neden katılmalı?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Kimliksiz DH'ye MITM nasıl olur? Çözüm?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İleri gizlilik ne sağlar?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5–6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Doğrulama 1=başarı, 0=başarısız, &lt;0=hata döndürür;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(r)</a:t>
            </a:r>
            <a:r>
              <a:rPr sz="2000" b="0">
                <a:solidFill>
                  <a:srgbClr val="1F2D3A"/>
                </a:solidFill>
              </a:rPr>
              <a:t> hatayı (−1) da "doğru" sayar. </a:t>
            </a:r>
            <a:r>
              <a:rPr sz="2000" b="1">
                <a:solidFill>
                  <a:srgbClr val="1F2D3A"/>
                </a:solidFill>
              </a:rPr>
              <a:t>`r == 1`</a:t>
            </a:r>
            <a:r>
              <a:rPr sz="2000" b="0">
                <a:solidFill>
                  <a:srgbClr val="1F2D3A"/>
                </a:solidFill>
              </a:rPr>
              <a:t> kontrol edin.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Aksi halde saldırgan </a:t>
            </a:r>
            <a:r>
              <a:rPr sz="2000" b="1">
                <a:solidFill>
                  <a:srgbClr val="1F2D3A"/>
                </a:solidFill>
              </a:rPr>
              <a:t>eski/güvensiz sürümü</a:t>
            </a:r>
            <a:r>
              <a:rPr sz="2000" b="0">
                <a:solidFill>
                  <a:srgbClr val="1F2D3A"/>
                </a:solidFill>
              </a:rPr>
              <a:t> aynı imzayla "geçerli" gösterir (downgrade). Sürüm imzalı veriye dahil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Ortadaki her iki tarafla ayrı anahtar kurar. Çözüm: DH'yi </a:t>
            </a:r>
            <a:r>
              <a:rPr sz="2000" b="1">
                <a:solidFill>
                  <a:srgbClr val="1F2D3A"/>
                </a:solidFill>
              </a:rPr>
              <a:t>kimlik doğrulamayla</a:t>
            </a:r>
            <a:r>
              <a:rPr sz="2000" b="0">
                <a:solidFill>
                  <a:srgbClr val="1F2D3A"/>
                </a:solidFill>
              </a:rPr>
              <a:t> bağla (imzalı DH / sertifika).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Her oturum </a:t>
            </a:r>
            <a:r>
              <a:rPr sz="2000" b="1">
                <a:solidFill>
                  <a:srgbClr val="1F2D3A"/>
                </a:solidFill>
              </a:rPr>
              <a:t>geçici (ephemeral)</a:t>
            </a:r>
            <a:r>
              <a:rPr sz="2000" b="0">
                <a:solidFill>
                  <a:srgbClr val="1F2D3A"/>
                </a:solidFill>
              </a:rPr>
              <a:t> anahtar; uzun vadeli anahtar sızsa bile </a:t>
            </a:r>
            <a:r>
              <a:rPr sz="2000" b="1">
                <a:solidFill>
                  <a:srgbClr val="1F2D3A"/>
                </a:solidFill>
              </a:rPr>
              <a:t>geçmiş oturumlar</a:t>
            </a:r>
            <a:r>
              <a:rPr sz="2000" b="0">
                <a:solidFill>
                  <a:srgbClr val="1F2D3A"/>
                </a:solidFill>
              </a:rPr>
              <a:t> çözülemez.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Açık anahtar altyapısı (PKI)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Sorun · kime güveneceğiz?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açık anahtar gördünüz. Gerçekten o kişiye/siteye mi ait?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Kötü niyetli biri kendi anahtarını "banka" diye sunabilir.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PKI bu güven sorununu çözer.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 zinciri</a:t>
            </a:r>
          </a:p>
        </p:txBody>
      </p:sp>
      <p:pic>
        <p:nvPicPr>
          <p:cNvPr id="7" name="Picture 6" descr="h10-03-p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166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60183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seviye bir alttakini </a:t>
            </a:r>
            <a:r>
              <a:rPr sz="2000" b="1">
                <a:solidFill>
                  <a:srgbClr val="1F2D3A"/>
                </a:solidFill>
              </a:rPr>
              <a:t>imzalar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Zincir doğrulama — şema</a:t>
            </a:r>
          </a:p>
        </p:txBody>
      </p:sp>
      <p:pic>
        <p:nvPicPr>
          <p:cNvPr id="7" name="Picture 6" descr="h10-12-zincir-dogru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Kök ve ara 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Kök CA:</a:t>
            </a:r>
            <a:r>
              <a:rPr sz="2000" b="0">
                <a:solidFill>
                  <a:srgbClr val="1F2D3A"/>
                </a:solidFill>
              </a:rPr>
              <a:t> çevrimdışı, kendini imzalar, çok korunur.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Ara CA:</a:t>
            </a:r>
            <a:r>
              <a:rPr sz="2000" b="0">
                <a:solidFill>
                  <a:srgbClr val="1F2D3A"/>
                </a:solidFill>
              </a:rPr>
              <a:t> günlük sertifikaları çıkarır.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 sızarsa </a:t>
            </a:r>
            <a:r>
              <a:rPr sz="2000" b="1">
                <a:solidFill>
                  <a:srgbClr val="1F2D3A"/>
                </a:solidFill>
              </a:rPr>
              <a:t>felaket</a:t>
            </a:r>
            <a:r>
              <a:rPr sz="2000" b="0">
                <a:solidFill>
                  <a:srgbClr val="1F2D3A"/>
                </a:solidFill>
              </a:rPr>
              <a:t>; bu yüzden ara CA kullanılır.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 deposu (trust store)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İşletim sistemi/tarayıcı, güvenilen </a:t>
            </a:r>
            <a:r>
              <a:rPr sz="2000" b="1">
                <a:solidFill>
                  <a:srgbClr val="1F2D3A"/>
                </a:solidFill>
              </a:rPr>
              <a:t>kök CA'ları</a:t>
            </a:r>
            <a:r>
              <a:rPr sz="2000" b="0">
                <a:solidFill>
                  <a:srgbClr val="1F2D3A"/>
                </a:solidFill>
              </a:rPr>
              <a:t> taşır.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zincir bu köklerden birine ulaşırsa güvenilir.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Ulaşamıyorsa → güvenilmez.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X.509 sertifikası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X.509 alanları — şema</a:t>
            </a:r>
          </a:p>
        </p:txBody>
      </p:sp>
      <p:pic>
        <p:nvPicPr>
          <p:cNvPr id="7" name="Picture 6" descr="h10-11-x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778947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İçinde ne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Konu (subject):</a:t>
            </a:r>
            <a:r>
              <a:rPr sz="2000" b="0">
                <a:solidFill>
                  <a:srgbClr val="1F2D3A"/>
                </a:solidFill>
              </a:rPr>
              <a:t> kime ait (alan adı).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 anahtar.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Geçerlilik:</a:t>
            </a:r>
            <a:r>
              <a:rPr sz="2000" b="0">
                <a:solidFill>
                  <a:srgbClr val="1F2D3A"/>
                </a:solidFill>
              </a:rPr>
              <a:t> başlangıç/bitiş.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Veren (issuer):</a:t>
            </a:r>
            <a:r>
              <a:rPr sz="2000" b="0">
                <a:solidFill>
                  <a:srgbClr val="1F2D3A"/>
                </a:solidFill>
              </a:rPr>
              <a:t> hangi CA imzaladı.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SAN · ad denetimi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SAN (Subject Alternative Name):</a:t>
            </a:r>
            <a:r>
              <a:rPr sz="2000" b="0">
                <a:solidFill>
                  <a:srgbClr val="1F2D3A"/>
                </a:solidFill>
              </a:rPr>
              <a:t> sertifikanın geçerli olduğu </a:t>
            </a:r>
            <a:r>
              <a:rPr sz="2000" b="1">
                <a:solidFill>
                  <a:srgbClr val="1F2D3A"/>
                </a:solidFill>
              </a:rPr>
              <a:t>alan adları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 denetimi </a:t>
            </a:r>
            <a:r>
              <a:rPr sz="2000" b="1">
                <a:solidFill>
                  <a:srgbClr val="1F2D3A"/>
                </a:solidFill>
              </a:rPr>
              <a:t>CN'e değil, SAN'a</a:t>
            </a:r>
            <a:r>
              <a:rPr sz="2000" b="0">
                <a:solidFill>
                  <a:srgbClr val="1F2D3A"/>
                </a:solidFill>
              </a:rPr>
              <a:t> yapılır.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example.com</a:t>
            </a:r>
            <a:r>
              <a:rPr sz="2000" b="0">
                <a:solidFill>
                  <a:srgbClr val="1F2D3A"/>
                </a:solidFill>
              </a:rPr>
              <a:t> için sertifika </a:t>
            </a:r>
            <a:r>
              <a:rPr sz="2000" b="0">
                <a:solidFill>
                  <a:srgbClr val="A1123F"/>
                </a:solidFill>
                <a:latin typeface="Consolas"/>
              </a:rPr>
              <a:t>baska.com</a:t>
            </a:r>
            <a:r>
              <a:rPr sz="2000" b="0">
                <a:solidFill>
                  <a:srgbClr val="1F2D3A"/>
                </a:solidFill>
              </a:rPr>
              <a:t>'da geçerli olmamalı.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Gerçek sertifika · üst alanlar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Version: 3 (0x2)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Serial Number: 35:e2:f6:8d:...:76:e7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Signature Algorithm: ecdsa-with-SHA256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Issuer: CN=CEN429 Lab Ara CA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Validity: Sep 23 2026 – Dec 22 2026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Subject: CN=localhost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Subject Public Key Info: 256 bit, NIST CURVE: P-256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047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Gerçek </a:t>
            </a:r>
            <a:r>
              <a:rPr sz="1800" b="0">
                <a:solidFill>
                  <a:srgbClr val="A1123F"/>
                </a:solidFill>
                <a:latin typeface="Consolas"/>
              </a:rPr>
              <a:t>openssl x509 -text</a:t>
            </a:r>
            <a:r>
              <a:rPr sz="1800" b="0">
                <a:solidFill>
                  <a:srgbClr val="1F2D3A"/>
                </a:solidFill>
              </a:rPr>
              <a:t> çıktısı; her alan "dört soru"dan (bir sonraki bölüm) birinin cevabını taşır.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Gerçek sertifika · uzantılar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Basic Constraints: CA:FALSE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Key Usage: critical, Digital Signature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Extended Key Usage: TLS Web Server Authentication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Subject Alternative Name: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DNS:localhost, IP Address:127.0.0.1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X509v3 Authority Key Identifier: F5:BA:39:86:...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30398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Authority Key Identifier</a:t>
            </a:r>
            <a:r>
              <a:rPr sz="1800" b="0">
                <a:solidFill>
                  <a:srgbClr val="1F2D3A"/>
                </a:solidFill>
              </a:rPr>
              <a:t>, sertifikayı imzalayan CA'nın </a:t>
            </a:r>
            <a:r>
              <a:rPr sz="1800" b="1">
                <a:solidFill>
                  <a:srgbClr val="1F2D3A"/>
                </a:solidFill>
              </a:rPr>
              <a:t>parmak izidir</a:t>
            </a:r>
            <a:r>
              <a:rPr sz="1800" b="0">
                <a:solidFill>
                  <a:srgbClr val="1F2D3A"/>
                </a:solidFill>
              </a:rPr>
              <a:t>; zinciri kurarken "aynı isimli ama farklı anahtarlı sahte ara CA" karışıklığını bununla önler.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Zincir doğrulama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sertifika zinciri doğrularken: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İmza</a:t>
            </a:r>
            <a:r>
              <a:rPr sz="2000" b="0">
                <a:solidFill>
                  <a:srgbClr val="1F2D3A"/>
                </a:solidFill>
              </a:rPr>
              <a:t> geçerli mi? (her seviye)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Zincir</a:t>
            </a:r>
            <a:r>
              <a:rPr sz="2000" b="0">
                <a:solidFill>
                  <a:srgbClr val="1F2D3A"/>
                </a:solidFill>
              </a:rPr>
              <a:t> güvenilir köke ulaşıyor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Süre</a:t>
            </a:r>
            <a:r>
              <a:rPr sz="2000" b="0">
                <a:solidFill>
                  <a:srgbClr val="1F2D3A"/>
                </a:solidFill>
              </a:rPr>
              <a:t> dolmamış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Ad</a:t>
            </a:r>
            <a:r>
              <a:rPr sz="2000" b="0">
                <a:solidFill>
                  <a:srgbClr val="1F2D3A"/>
                </a:solidFill>
              </a:rPr>
              <a:t> eşleşiyor mu (SAN)?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Dördü de </a:t>
            </a:r>
            <a:r>
              <a:rPr sz="2000" b="1">
                <a:solidFill>
                  <a:srgbClr val="1F2D3A"/>
                </a:solidFill>
              </a:rPr>
              <a:t>evet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 · zincir (issuer/subject)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-issuer -subject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ara.crt    -noout -issuer -subject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kok.crt    -noout -issuer -subject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685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issuer=CN=...Ara CA   subject=CN=localhost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issuer=CN=...Kok CA   subject=CN=...Ara CA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issuer=CN=...Kok CA   subject=CN=...Kok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Zincir okunur: </a:t>
            </a:r>
            <a:r>
              <a:rPr sz="2000" b="0">
                <a:solidFill>
                  <a:srgbClr val="A1123F"/>
                </a:solidFill>
                <a:latin typeface="Consolas"/>
              </a:rPr>
              <a:t>sunucu</a:t>
            </a:r>
            <a:r>
              <a:rPr sz="2000" b="0">
                <a:solidFill>
                  <a:srgbClr val="1F2D3A"/>
                </a:solidFill>
              </a:rPr>
              <a:t>'nun issuer'ı = </a:t>
            </a:r>
            <a:r>
              <a:rPr sz="2000" b="0">
                <a:solidFill>
                  <a:srgbClr val="A1123F"/>
                </a:solidFill>
                <a:latin typeface="Consolas"/>
              </a:rPr>
              <a:t>ara</a:t>
            </a:r>
            <a:r>
              <a:rPr sz="2000" b="0">
                <a:solidFill>
                  <a:srgbClr val="1F2D3A"/>
                </a:solidFill>
              </a:rPr>
              <a:t>'nın subject'i; kök </a:t>
            </a:r>
            <a:r>
              <a:rPr sz="2000" b="1">
                <a:solidFill>
                  <a:srgbClr val="1F2D3A"/>
                </a:solidFill>
              </a:rPr>
              <a:t>kendi kendini</a:t>
            </a:r>
            <a:r>
              <a:rPr sz="2000" b="0">
                <a:solidFill>
                  <a:srgbClr val="1F2D3A"/>
                </a:solidFill>
              </a:rPr>
              <a:t> imzalar.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 · geçerlilik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-dates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-checkend 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notBefore=Sep 23 2026 GMT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notAfter=Dec 22 2026 GMT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Certificate will not expire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388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-checkend 0</a:t>
            </a:r>
            <a:r>
              <a:rPr sz="2000" b="0">
                <a:solidFill>
                  <a:srgbClr val="1F2D3A"/>
                </a:solidFill>
              </a:rPr>
              <a:t>: "şu an itibarıyla süresi doldu mu?" TLS istemcileri bunu her bağlantıda otomatik sorar.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 · kullanım (CA:TRUE/FALSE)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sunucu.crt -noout -ext basicConstraints,keyUsage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x509 -in ara.crt    -noout -ext basicConstraints,keyUsage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sunucu.crt:  CA:FALSE            (baska sertifika imzalayamaz)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ara.crt:     CA:TRUE, pathlen:0  (yalniz uc sertifika imzalayabilir)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 · ad (SAN)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X509v3 Subject Alternative Name: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DNS:localhost, IP Address:127.0.0.1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İstemci bağlandığı adı bu listeyle karşılaştırır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Subject</a:t>
            </a:r>
            <a:r>
              <a:rPr sz="2000" b="0">
                <a:solidFill>
                  <a:srgbClr val="1F2D3A"/>
                </a:solidFill>
              </a:rPr>
              <a:t>'teki </a:t>
            </a:r>
            <a:r>
              <a:rPr sz="2000" b="0">
                <a:solidFill>
                  <a:srgbClr val="A1123F"/>
                </a:solidFill>
                <a:latin typeface="Consolas"/>
              </a:rPr>
              <a:t>CN</a:t>
            </a:r>
            <a:r>
              <a:rPr sz="2000" b="0">
                <a:solidFill>
                  <a:srgbClr val="1F2D3A"/>
                </a:solidFill>
              </a:rPr>
              <a:t>'e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istemci kütüphanesi bu dört soruyu </a:t>
            </a:r>
            <a:r>
              <a:rPr sz="2000" b="1">
                <a:solidFill>
                  <a:srgbClr val="1F2D3A"/>
                </a:solidFill>
              </a:rPr>
              <a:t>sizin yerinize</a:t>
            </a:r>
            <a:r>
              <a:rPr sz="2000" b="0">
                <a:solidFill>
                  <a:srgbClr val="1F2D3A"/>
                </a:solidFill>
              </a:rPr>
              <a:t> sorar;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'ı kapatmak ya da hataları yutmak, dört sorunun hiç sorulmaması anlamına gelir.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OpenSSL ile · örnek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-untrusted ara.crt sunucu.crt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-CAfile</a:t>
            </a:r>
            <a:r>
              <a:rPr sz="2000" b="0">
                <a:solidFill>
                  <a:srgbClr val="1F2D3A"/>
                </a:solidFill>
              </a:rPr>
              <a:t>: güvenilen kök.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-untrusted</a:t>
            </a:r>
            <a:r>
              <a:rPr sz="2000" b="0">
                <a:solidFill>
                  <a:srgbClr val="1F2D3A"/>
                </a:solidFill>
              </a:rPr>
              <a:t>: ara sertifika(lar).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Sık hata · eksik ara sertifika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 </a:t>
            </a:r>
            <a:r>
              <a:rPr sz="2000" b="1">
                <a:solidFill>
                  <a:srgbClr val="1F2D3A"/>
                </a:solidFill>
              </a:rPr>
              <a:t>ara</a:t>
            </a:r>
            <a:r>
              <a:rPr sz="2000" b="0">
                <a:solidFill>
                  <a:srgbClr val="1F2D3A"/>
                </a:solidFill>
              </a:rPr>
              <a:t> sertifikayı göndermezse zincir köke ulaşmaz.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başarısız olur; </a:t>
            </a:r>
            <a:r>
              <a:rPr sz="2000" b="0">
                <a:solidFill>
                  <a:srgbClr val="A1123F"/>
                </a:solidFill>
                <a:latin typeface="Consolas"/>
              </a:rPr>
              <a:t>-untrusted ara.crt</a:t>
            </a:r>
            <a:r>
              <a:rPr sz="2000" b="0">
                <a:solidFill>
                  <a:srgbClr val="1F2D3A"/>
                </a:solidFill>
              </a:rPr>
              <a:t> ile geçer.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Sahada çok yaygın yapılandırma hatası.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SPKI sabitleme (pinning)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Uygulama, beklenen sunucu anahtarının </a:t>
            </a:r>
            <a:r>
              <a:rPr sz="2000" b="1">
                <a:solidFill>
                  <a:srgbClr val="1F2D3A"/>
                </a:solidFill>
              </a:rPr>
              <a:t>özetini</a:t>
            </a:r>
            <a:r>
              <a:rPr sz="2000" b="0">
                <a:solidFill>
                  <a:srgbClr val="1F2D3A"/>
                </a:solidFill>
              </a:rPr>
              <a:t> gömer.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Sahte ama "geçerli" sertifika bile kabul edilmez.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Yedek pin</a:t>
            </a:r>
            <a:r>
              <a:rPr sz="2000" b="0">
                <a:solidFill>
                  <a:srgbClr val="1F2D3A"/>
                </a:solidFill>
              </a:rPr>
              <a:t> şart (anahtar değişince kilitlenmemek için).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bölümün kuralı · zincir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Zincir doğrulamanın </a:t>
            </a:r>
            <a:r>
              <a:rPr sz="2000" b="1">
                <a:solidFill>
                  <a:srgbClr val="1F2D3A"/>
                </a:solidFill>
              </a:rPr>
              <a:t>dört sorusundan</a:t>
            </a:r>
            <a:r>
              <a:rPr sz="2000" b="0">
                <a:solidFill>
                  <a:srgbClr val="1F2D3A"/>
                </a:solidFill>
              </a:rPr>
              <a:t> (imza, süre, kullanım, ad) hiçbirini atlamayın.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ad denetlemez —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denetimi ayrıca yapılmalı.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 </a:t>
            </a:r>
            <a:r>
              <a:rPr sz="2000" b="1">
                <a:solidFill>
                  <a:srgbClr val="1F2D3A"/>
                </a:solidFill>
              </a:rPr>
              <a:t>ara sertifikayı</a:t>
            </a:r>
            <a:r>
              <a:rPr sz="2000" b="0">
                <a:solidFill>
                  <a:srgbClr val="1F2D3A"/>
                </a:solidFill>
              </a:rPr>
              <a:t> göndermezse, kriptografik olarak doğru zincir bile bağlanamaz.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Sertifika iptali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Sertifika iptali — şema</a:t>
            </a:r>
          </a:p>
        </p:txBody>
      </p:sp>
      <p:pic>
        <p:nvPicPr>
          <p:cNvPr id="7" name="Picture 6" descr="h10-04-sertifika-ipt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342131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iptal?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sertifikanın gizli anahtarı sızarsa, süresi dolmadan </a:t>
            </a:r>
            <a:r>
              <a:rPr sz="2000" b="1">
                <a:solidFill>
                  <a:srgbClr val="1F2D3A"/>
                </a:solidFill>
              </a:rPr>
              <a:t>iptal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İptal edilmiş sertifika kabul edilmemeli.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CRL:</a:t>
            </a:r>
            <a:r>
              <a:rPr sz="2000" b="0">
                <a:solidFill>
                  <a:srgbClr val="1F2D3A"/>
                </a:solidFill>
              </a:rPr>
              <a:t> iptal edilmiş sertifikaların </a:t>
            </a:r>
            <a:r>
              <a:rPr sz="2000" b="1">
                <a:solidFill>
                  <a:srgbClr val="1F2D3A"/>
                </a:solidFill>
              </a:rPr>
              <a:t>periyodik listesi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Büyük olabilir, güncel olmayabilir.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OCSP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OCSP:</a:t>
            </a:r>
            <a:r>
              <a:rPr sz="2000" b="0">
                <a:solidFill>
                  <a:srgbClr val="1F2D3A"/>
                </a:solidFill>
              </a:rPr>
              <a:t> bir sertifikanın durumunu </a:t>
            </a:r>
            <a:r>
              <a:rPr sz="2000" b="1">
                <a:solidFill>
                  <a:srgbClr val="1F2D3A"/>
                </a:solidFill>
              </a:rPr>
              <a:t>anlık</a:t>
            </a:r>
            <a:r>
              <a:rPr sz="2000" b="0">
                <a:solidFill>
                  <a:srgbClr val="1F2D3A"/>
                </a:solidFill>
              </a:rPr>
              <a:t> sorma.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güncel; ama gizlilik/hız sorunları.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OCSP zımbalama (stapling)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Sunucu, OCSP yanıtını </a:t>
            </a:r>
            <a:r>
              <a:rPr sz="2000" b="1">
                <a:solidFill>
                  <a:srgbClr val="1F2D3A"/>
                </a:solidFill>
              </a:rPr>
              <a:t>kendisi</a:t>
            </a:r>
            <a:r>
              <a:rPr sz="2000" b="0">
                <a:solidFill>
                  <a:srgbClr val="1F2D3A"/>
                </a:solidFill>
              </a:rPr>
              <a:t> getirip sertifikayla sunar.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Gizlilik + hız kazanır.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 iş akışı · iptal et ve üret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ca -config ara.cnf -revoke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ca -config ara.cnf -gencrl -out ara.crl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Revoking Certificate 35E2F68D...76E7.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Database updated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9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Sertifika dosyası </a:t>
            </a:r>
            <a:r>
              <a:rPr sz="2000" b="1">
                <a:solidFill>
                  <a:srgbClr val="1F2D3A"/>
                </a:solidFill>
              </a:rPr>
              <a:t>değişmez</a:t>
            </a:r>
            <a:r>
              <a:rPr sz="2000" b="0">
                <a:solidFill>
                  <a:srgbClr val="1F2D3A"/>
                </a:solidFill>
              </a:rPr>
              <a:t>; yalnız CA'nın defterine (</a:t>
            </a:r>
            <a:r>
              <a:rPr sz="2000" b="0">
                <a:solidFill>
                  <a:srgbClr val="A1123F"/>
                </a:solidFill>
                <a:latin typeface="Consolas"/>
              </a:rPr>
              <a:t>index.txt</a:t>
            </a:r>
            <a:r>
              <a:rPr sz="2000" b="0">
                <a:solidFill>
                  <a:srgbClr val="1F2D3A"/>
                </a:solidFill>
              </a:rPr>
              <a:t>) bir iptal kaydı eklenir. </a:t>
            </a:r>
            <a:r>
              <a:rPr sz="2000" b="0">
                <a:solidFill>
                  <a:srgbClr val="A1123F"/>
                </a:solidFill>
                <a:latin typeface="Consolas"/>
              </a:rPr>
              <a:t>-gencrl</a:t>
            </a:r>
            <a:r>
              <a:rPr sz="2000" b="0">
                <a:solidFill>
                  <a:srgbClr val="1F2D3A"/>
                </a:solidFill>
              </a:rPr>
              <a:t>, bu kaydı CA'nın kendi anahtarıyla </a:t>
            </a:r>
            <a:r>
              <a:rPr sz="2000" b="1">
                <a:solidFill>
                  <a:srgbClr val="1F2D3A"/>
                </a:solidFill>
              </a:rPr>
              <a:t>imzalı</a:t>
            </a:r>
            <a:r>
              <a:rPr sz="2000" b="0">
                <a:solidFill>
                  <a:srgbClr val="1F2D3A"/>
                </a:solidFill>
              </a:rPr>
              <a:t> bir listeye dönüştürür.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CRL ile doğrulama · sonuç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-crl_check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-untrusted ara.crt -CRLfile ara.crl sunucu.crt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87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 23 at 0 depth lookup: certificate revoked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error sunucu.crt: verification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9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Sertifikanın </a:t>
            </a:r>
            <a:r>
              <a:rPr sz="2000" b="1">
                <a:solidFill>
                  <a:srgbClr val="1F2D3A"/>
                </a:solidFill>
              </a:rPr>
              <a:t>süresi hâlâ dolmamış</a:t>
            </a:r>
            <a:r>
              <a:rPr sz="2000" b="0">
                <a:solidFill>
                  <a:srgbClr val="1F2D3A"/>
                </a:solidFill>
              </a:rPr>
              <a:t> olsa bile CRL'de listelendiği için reddedildi — iptal denetimi, süre denetiminden </a:t>
            </a:r>
            <a:r>
              <a:rPr sz="2000" b="1">
                <a:solidFill>
                  <a:srgbClr val="1F2D3A"/>
                </a:solidFill>
              </a:rPr>
              <a:t>bağımsız</a:t>
            </a:r>
            <a:r>
              <a:rPr sz="2000" b="0">
                <a:solidFill>
                  <a:srgbClr val="1F2D3A"/>
                </a:solidFill>
              </a:rPr>
              <a:t> çalışır.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Fail-open tuzağı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OCSP'ye ulaşılamayınca sertifikayı </a:t>
            </a:r>
            <a:r>
              <a:rPr sz="2000" b="1">
                <a:solidFill>
                  <a:srgbClr val="1F2D3A"/>
                </a:solidFill>
              </a:rPr>
              <a:t>kabul etmek</a:t>
            </a:r>
            <a:r>
              <a:rPr sz="2000" b="0">
                <a:solidFill>
                  <a:srgbClr val="1F2D3A"/>
                </a:solidFill>
              </a:rPr>
              <a:t> = fail-open.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OCSP'yi engelleyip iptal edilmiş sertifikayı geçirebilir.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Azaltma: </a:t>
            </a:r>
            <a:r>
              <a:rPr sz="2000" b="1">
                <a:solidFill>
                  <a:srgbClr val="1F2D3A"/>
                </a:solidFill>
              </a:rPr>
              <a:t>Must-Staple</a:t>
            </a:r>
            <a:r>
              <a:rPr sz="2000" b="0">
                <a:solidFill>
                  <a:srgbClr val="1F2D3A"/>
                </a:solidFill>
              </a:rPr>
              <a:t>, kısa ömürlü sertifikalar.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7–10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Zincir doğrulamanın dört sorusu?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Ad denetimi neye yapılır (CN mi SAN mı)?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Eksik ara sertifika 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'ı bozar?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Fail-open nedir, nasıl azaltılır?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7–10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(1) zincir kök'e </a:t>
            </a:r>
            <a:r>
              <a:rPr sz="2000" b="1">
                <a:solidFill>
                  <a:srgbClr val="1F2D3A"/>
                </a:solidFill>
              </a:rPr>
              <a:t>geçerli</a:t>
            </a:r>
            <a:r>
              <a:rPr sz="2000" b="0">
                <a:solidFill>
                  <a:srgbClr val="1F2D3A"/>
                </a:solidFill>
              </a:rPr>
              <a:t> mi, (2) </a:t>
            </a:r>
            <a:r>
              <a:rPr sz="2000" b="1">
                <a:solidFill>
                  <a:srgbClr val="1F2D3A"/>
                </a:solidFill>
              </a:rPr>
              <a:t>süre</a:t>
            </a:r>
            <a:r>
              <a:rPr sz="2000" b="0">
                <a:solidFill>
                  <a:srgbClr val="1F2D3A"/>
                </a:solidFill>
              </a:rPr>
              <a:t> içinde mi, (3) </a:t>
            </a:r>
            <a:r>
              <a:rPr sz="2000" b="1">
                <a:solidFill>
                  <a:srgbClr val="1F2D3A"/>
                </a:solidFill>
              </a:rPr>
              <a:t>amaç/kısıt</a:t>
            </a:r>
            <a:r>
              <a:rPr sz="2000" b="0">
                <a:solidFill>
                  <a:srgbClr val="1F2D3A"/>
                </a:solidFill>
              </a:rPr>
              <a:t> (CA:TRUE, KeyUsage/EKU), (4) </a:t>
            </a:r>
            <a:r>
              <a:rPr sz="2000" b="1">
                <a:solidFill>
                  <a:srgbClr val="1F2D3A"/>
                </a:solidFill>
              </a:rPr>
              <a:t>iptal</a:t>
            </a:r>
            <a:r>
              <a:rPr sz="2000" b="0">
                <a:solidFill>
                  <a:srgbClr val="1F2D3A"/>
                </a:solidFill>
              </a:rPr>
              <a:t> (CRL/OCSP).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(Subject Alternative Name); CN artık kullanılmaz.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Zincir kök'e </a:t>
            </a:r>
            <a:r>
              <a:rPr sz="2000" b="1">
                <a:solidFill>
                  <a:srgbClr val="1F2D3A"/>
                </a:solidFill>
              </a:rPr>
              <a:t>kurulamaz</a:t>
            </a:r>
            <a:r>
              <a:rPr sz="2000" b="0">
                <a:solidFill>
                  <a:srgbClr val="1F2D3A"/>
                </a:solidFill>
              </a:rPr>
              <a:t>; güven yolu tamamlanmaz → başarısız. Sunucu </a:t>
            </a:r>
            <a:r>
              <a:rPr sz="2000" b="1">
                <a:solidFill>
                  <a:srgbClr val="1F2D3A"/>
                </a:solidFill>
              </a:rPr>
              <a:t>ara</a:t>
            </a:r>
            <a:r>
              <a:rPr sz="2000" b="0">
                <a:solidFill>
                  <a:srgbClr val="1F2D3A"/>
                </a:solidFill>
              </a:rPr>
              <a:t> sertifikayı da göndermeli.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Fail-open:</a:t>
            </a:r>
            <a:r>
              <a:rPr sz="2000" b="0">
                <a:solidFill>
                  <a:srgbClr val="1F2D3A"/>
                </a:solidFill>
              </a:rPr>
              <a:t> hata/erişilemezlikte "geçti" saymak. Azaltma: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, OCSP stapling / must-staple, hatayı reddet.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Anahtarı donanımda saklamak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HSM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HSM:</a:t>
            </a:r>
            <a:r>
              <a:rPr sz="2000" b="0">
                <a:solidFill>
                  <a:srgbClr val="1F2D3A"/>
                </a:solidFill>
              </a:rPr>
              <a:t> anahtarları saklayan/işleten özel donanım.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HSM'in </a:t>
            </a:r>
            <a:r>
              <a:rPr sz="2000" b="1">
                <a:solidFill>
                  <a:srgbClr val="1F2D3A"/>
                </a:solidFill>
              </a:rPr>
              <a:t>dışına çıkmaz</a:t>
            </a:r>
            <a:r>
              <a:rPr sz="2000" b="0">
                <a:solidFill>
                  <a:srgbClr val="1F2D3A"/>
                </a:solidFill>
              </a:rPr>
              <a:t>; "şunu imzala" dersiniz, sonuç döner.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Kurcalamaya dirençli.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modülleriyle konuşmanın </a:t>
            </a:r>
            <a:r>
              <a:rPr sz="2000" b="1">
                <a:solidFill>
                  <a:srgbClr val="1F2D3A"/>
                </a:solidFill>
              </a:rPr>
              <a:t>standart arayüzü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anahtarın değerini </a:t>
            </a:r>
            <a:r>
              <a:rPr sz="2000" b="1">
                <a:solidFill>
                  <a:srgbClr val="1F2D3A"/>
                </a:solidFill>
              </a:rPr>
              <a:t>görmez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HSM'ler ve yazılım benzetimleri bu arayüzü sunar.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PKCS#11 ile imzalama — şema</a:t>
            </a:r>
          </a:p>
        </p:txBody>
      </p:sp>
      <p:pic>
        <p:nvPicPr>
          <p:cNvPr id="7" name="Picture 6" descr="h10-14-pkcs11-imza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910515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SoftHSM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HSM'in </a:t>
            </a:r>
            <a:r>
              <a:rPr sz="2000" b="1">
                <a:solidFill>
                  <a:srgbClr val="1F2D3A"/>
                </a:solidFill>
              </a:rPr>
              <a:t>yazılım benzetimi</a:t>
            </a:r>
            <a:r>
              <a:rPr sz="2000" b="0">
                <a:solidFill>
                  <a:srgbClr val="1F2D3A"/>
                </a:solidFill>
              </a:rPr>
              <a:t>; aynı PKCS#11 arayüzü.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Geliştirme/test için; </a:t>
            </a:r>
            <a:r>
              <a:rPr sz="2000" b="1">
                <a:solidFill>
                  <a:srgbClr val="1F2D3A"/>
                </a:solidFill>
              </a:rPr>
              <a:t>gerçek donanım koruması yok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Üretimde gerçek HSM.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donanım?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Yazılımda anahtar, beyaz kutu saldırgana açık (11.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Donanımda anahtar yalıtılmış → çok daha güçlü.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Mümkünse anahtarı </a:t>
            </a:r>
            <a:r>
              <a:rPr sz="2000" b="1">
                <a:solidFill>
                  <a:srgbClr val="1F2D3A"/>
                </a:solidFill>
              </a:rPr>
              <a:t>yazılıma hiç koyma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yaşam döngüsü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7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5455767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Aşama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 yapılır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Üretim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Güçlü rastgelelik (CSPRNG)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Saklama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HSM/TEE ya da korunmuş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Kullanım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 az yetki, sabit zamanlı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Kripto-periyot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Ömür sınırı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Yenileme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Düzenli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İmha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Bellekten güvenli silme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bölümün kuralı · anahtar saklama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Değerli bir anahtar üretilirken </a:t>
            </a:r>
            <a:r>
              <a:rPr sz="2000" b="0">
                <a:solidFill>
                  <a:srgbClr val="A1123F"/>
                </a:solidFill>
                <a:latin typeface="Consolas"/>
              </a:rPr>
              <a:t>CKA_EXTRACTABLE=false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açıkça</a:t>
            </a:r>
            <a:r>
              <a:rPr sz="2000" b="0">
                <a:solidFill>
                  <a:srgbClr val="1F2D3A"/>
                </a:solidFill>
              </a:rPr>
              <a:t> ayarlanmalı; varsayılana güvenmeyin.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HSM'de anahtar hiç çıkmaz; uygulama yalnız bir </a:t>
            </a:r>
            <a:r>
              <a:rPr sz="2000" b="1">
                <a:solidFill>
                  <a:srgbClr val="1F2D3A"/>
                </a:solidFill>
              </a:rPr>
              <a:t>tutamaç</a:t>
            </a:r>
            <a:r>
              <a:rPr sz="2000" b="0">
                <a:solidFill>
                  <a:srgbClr val="1F2D3A"/>
                </a:solidFill>
              </a:rPr>
              <a:t> (handle) üzerinden "imzala" 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SoftHSM test içindir; üretimde gerçek HSM/donanım koruması gerekir.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Kuantum sonrası kripto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Kuantum sonrası — şema</a:t>
            </a:r>
          </a:p>
        </p:txBody>
      </p:sp>
      <p:pic>
        <p:nvPicPr>
          <p:cNvPr id="7" name="Picture 6" descr="h10-15-kuantum-sonr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429419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Tehdit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Yeterince güçlü kuantum bilgisayar, bugünkü </a:t>
            </a:r>
            <a:r>
              <a:rPr sz="2000" b="1">
                <a:solidFill>
                  <a:srgbClr val="1F2D3A"/>
                </a:solidFill>
              </a:rPr>
              <a:t>RSA/ECC</a:t>
            </a:r>
            <a:r>
              <a:rPr sz="2000" b="0">
                <a:solidFill>
                  <a:srgbClr val="1F2D3A"/>
                </a:solidFill>
              </a:rPr>
              <a:t>'yi kırabilir.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"Şimdi topla, sonra çöz" saldırısı: bugün şifreli veriyi sakla, gelecekte çöz.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PQC · yaklaşım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Kuantuma dayanıklı algoritmalar (ör. ML-KEM anahtar kapsülleme).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Standartlaşma sürüyor.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Kripto-çeviklik:</a:t>
            </a:r>
            <a:r>
              <a:rPr sz="2000" b="0">
                <a:solidFill>
                  <a:srgbClr val="1F2D3A"/>
                </a:solidFill>
              </a:rPr>
              <a:t> algoritmayı kolay değiştirebilecek tasarım.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PQC boyutları · komut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OpenSSL 3.5, standartlaşan PQC algoritmalarını </a:t>
            </a:r>
            <a:r>
              <a:rPr sz="2000" b="1">
                <a:solidFill>
                  <a:srgbClr val="1F2D3A"/>
                </a:solidFill>
              </a:rPr>
              <a:t>bugün</a:t>
            </a:r>
            <a:r>
              <a:rPr sz="2000" b="0">
                <a:solidFill>
                  <a:srgbClr val="1F2D3A"/>
                </a:solidFill>
              </a:rPr>
              <a:t> üretebilir: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ML-KEM-768 -out mlkem.pem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genpkey -algorithm ML-DSA-65  -out mldsa.pem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pkeyutl -sign -inkey mldsa.pem -rawin -in belge.txt -out belge.mldsa.sig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wc -c mlkem_pub.pem mldsa_pub.pem belge.mldsa.sig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PQC boyutları · sonuç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27480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6"/>
                <a:gridCol w="2909742"/>
                <a:gridCol w="254602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Algoritma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Açık anahtar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İmza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 (klasik)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116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64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RSA-3072 (klasik)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636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384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ML-KEM-768 (PQC)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1.714 bayt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ML-DSA-65 (PQC)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2.770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3.309 bayt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ML-DSA-65: açık anahtar Ed25519'dan </a:t>
            </a:r>
            <a:r>
              <a:rPr sz="1800" b="1">
                <a:solidFill>
                  <a:srgbClr val="1F2D3A"/>
                </a:solidFill>
              </a:rPr>
              <a:t>~24 kat</a:t>
            </a:r>
            <a:r>
              <a:rPr sz="1800" b="0">
                <a:solidFill>
                  <a:srgbClr val="1F2D3A"/>
                </a:solidFill>
              </a:rPr>
              <a:t>, imza </a:t>
            </a:r>
            <a:r>
              <a:rPr sz="1800" b="1">
                <a:solidFill>
                  <a:srgbClr val="1F2D3A"/>
                </a:solidFill>
              </a:rPr>
              <a:t>~52 kat</a:t>
            </a:r>
            <a:r>
              <a:rPr sz="1800" b="0">
                <a:solidFill>
                  <a:srgbClr val="1F2D3A"/>
                </a:solidFill>
              </a:rPr>
              <a:t> büyük. TLS'te </a:t>
            </a:r>
            <a:r>
              <a:rPr sz="1800" b="1">
                <a:solidFill>
                  <a:srgbClr val="1F2D3A"/>
                </a:solidFill>
              </a:rPr>
              <a:t>karma</a:t>
            </a:r>
            <a:r>
              <a:rPr sz="1800" b="0">
                <a:solidFill>
                  <a:srgbClr val="1F2D3A"/>
                </a:solidFill>
              </a:rPr>
              <a:t> (klasik + PQC) yaklaşım bu geçiş maliyetini yönetmek içindir.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 ne yapmalı?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Kripto-çevik ol (algoritmayı sabitleme).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Uzun ömürlü sırlar için PQC'yi izle.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Panik yok; ama hazırlık.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Proje: bu hafta (S8, S11)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S8/S11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Algoritma envanteri:</a:t>
            </a:r>
            <a:r>
              <a:rPr sz="2000" b="0">
                <a:solidFill>
                  <a:srgbClr val="1F2D3A"/>
                </a:solidFill>
              </a:rPr>
              <a:t> amaç, algoritma, kip, anahtar uzunluğu, kütüphane.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Anahtar yaşam döngüsü</a:t>
            </a:r>
            <a:r>
              <a:rPr sz="2000" b="0">
                <a:solidFill>
                  <a:srgbClr val="1F2D3A"/>
                </a:solidFill>
              </a:rPr>
              <a:t> tablosu.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RSA-2048 + AES-256 sisteminin güvenlik düzeyi?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~112 bit (en zayıf halka RSA-2048). 128 bit için RSA-3072 ya da ECC.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"Dolgu geçersiz" ve "MAC geçersiz" ayrı iletiler: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Dolgu kâhini; saldırgan yanıtlara bakıp mesajı çözebilir. Tek ve aynı hata; tercihen AEAD.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`if (EVP_DigestVerify(...))` neden hatalı?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Negatif hata değeri de doğru sayılır; denetim </a:t>
            </a:r>
            <a:r>
              <a:rPr sz="2000" b="0">
                <a:solidFill>
                  <a:srgbClr val="A1123F"/>
                </a:solidFill>
                <a:latin typeface="Consolas"/>
              </a:rPr>
              <a:t>== 1</a:t>
            </a:r>
            <a:r>
              <a:rPr sz="2000" b="0">
                <a:solidFill>
                  <a:srgbClr val="1F2D3A"/>
                </a:solidFill>
              </a:rPr>
              <a:t> olmalı. Ayrıca imzalı içerik sürümü kapsamalı.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`verify` ara sertifika olmadan neden başarısız?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Zincir köke ulaşamaz; ara sertifika eksik. Sahada sunucu ara sertifikayı göndermiyordur.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OCSP'ye ulaşılamayınca kabul: hangi örüntü, nasıl azaltılır?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Fail-open (yumuşak başarısızlık). Must-Staple ya da kısa ömürlü sertifikalar.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Kimliksiz DH'ye MITM nasıl engellenir?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DH değerleri kimliği bilinen anahtarla imzalanır (TLS 1.3 CertificateVerify) ve karşı taraf doğrular.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Zincir doğrulamanın dört sorusu?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 geçerli mi, güvenilir köke ulaşıyor mu, süre dolmamış mı, ad (SAN) eşleşiyor mu.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Anahtarı neden yazılıma koymamalı? Alternatif?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Beyaz kutu saldırgan yazılımdaki anahtarı çıkarabilir. Alternatif: HSM/TEE (PKCS#11); yoksa whitebox + katman (11. hafta).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600134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+ bütünlük birlikte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Encrypt-then-MAC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Doğru sıra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OAEP/PSS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şifre/imza dolgusu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Ed25519/X25519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/ anahtar anlaşması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Sertifika ad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CRL/OCSP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İptal listesi / anlık sorgu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Kriptoda güvenlik doğru algoritmadan çok doğru </a:t>
            </a:r>
            <a:r>
              <a:rPr sz="2000" b="1">
                <a:solidFill>
                  <a:srgbClr val="1F2D3A"/>
                </a:solidFill>
              </a:rPr>
              <a:t>kullanımdadır</a:t>
            </a:r>
            <a:r>
              <a:rPr sz="2000" b="0">
                <a:solidFill>
                  <a:srgbClr val="1F2D3A"/>
                </a:solidFill>
              </a:rPr>
              <a:t>: AEAD, doğru dolgu, doğrulanan imza, denetlenen zincir ve iyi yönetilen anahtar.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Gelecek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11. hafta — Whitebox kriptografi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Anahtar yazılımda korunuyorsa ne olur? Beyaz kutu saldırgan, tablo tabanlı WBC ve sınırları.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OpenSSL ile zincir (adım adım)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Küçük bir zincir kuralım: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Kök CA → Ara CA → Sunucu sertifikası.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</a:t>
            </a:r>
            <a:r>
              <a:rPr sz="2000" b="0">
                <a:solidFill>
                  <a:srgbClr val="1F2D3A"/>
                </a:solidFill>
              </a:rPr>
              <a:t> ile doğrulayalım ve tipik hatayı görelim.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kök CA (kendini imzalar)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-x509 -newkey ed25519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-keyout kok.key -out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-subj "/CN=Ders Kok CA" -days 3650 -nodes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Kök kendini imzalar; çevrimdışı tutulur.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ara CA (kök imzalar)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-newkey ed25519 -keyout ara.key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-out ara.csr -subj "/CN=Ders Ara CA" -nodes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x509 -req -in ara.csr -CA kok.crt -CAkey kok.key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-CAcreateserial -out ara.crt -days 1825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sunucu sertifikası (ara imzalar)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req -newkey ed25519 -keyout sunucu.key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-out sunucu.csr -subj "/CN=ornek.test" -nodes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x509 -req -in sunucu.csr -CA ara.crt -CAkey ara.key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-CAcreateserial -out sunucu.crt -days 365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doğrula (eksik ara)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HATA: unable to get local issuer certificate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Zincir köke ulaşamıyor: </a:t>
            </a:r>
            <a:r>
              <a:rPr sz="2000" b="1">
                <a:solidFill>
                  <a:srgbClr val="1F2D3A"/>
                </a:solidFill>
              </a:rPr>
              <a:t>ara sertifika eksik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doğrula (ara ile)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openssl verify -CAfile kok.crt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-untrusted ara.crt sunucu.crt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Ara sertifikayı verince zincir tamamlanır.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Sunucu, </a:t>
            </a:r>
            <a:r>
              <a:rPr sz="2000" b="1">
                <a:solidFill>
                  <a:srgbClr val="1F2D3A"/>
                </a:solidFill>
              </a:rPr>
              <a:t>ara</a:t>
            </a:r>
            <a:r>
              <a:rPr sz="2000" b="0">
                <a:solidFill>
                  <a:srgbClr val="1F2D3A"/>
                </a:solidFill>
              </a:rPr>
              <a:t> sertifikayı da göndermeli.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Eksikse istemci "issuer bulunamadı" 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Sahadaki en yaygın TLS yapılandırma hatası.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Zincirdeki dört soru · uygulaması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İmza:</a:t>
            </a:r>
            <a:r>
              <a:rPr sz="2000" b="0">
                <a:solidFill>
                  <a:srgbClr val="1F2D3A"/>
                </a:solidFill>
              </a:rPr>
              <a:t> her seviye üsttekince imzalı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Kök: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-CAfile kok.crt</a:t>
            </a:r>
            <a:r>
              <a:rPr sz="2000" b="0">
                <a:solidFill>
                  <a:srgbClr val="1F2D3A"/>
                </a:solidFill>
              </a:rPr>
              <a:t> güven deposu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-days</a:t>
            </a:r>
            <a:r>
              <a:rPr sz="2000" b="0">
                <a:solidFill>
                  <a:srgbClr val="1F2D3A"/>
                </a:solidFill>
              </a:rPr>
              <a:t> içinde ✓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Ad:</a:t>
            </a:r>
            <a:r>
              <a:rPr sz="2000" b="0">
                <a:solidFill>
                  <a:srgbClr val="1F2D3A"/>
                </a:solidFill>
              </a:rPr>
              <a:t> uygulamada SAN denetimi (verify ad denetlemez!)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Kripto tasarım vakası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mobil uygulama: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Yerel hassas veriyi şifreliyor.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Sunucuyla güvenli konuşuyor.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Güncellemeleri doğruluyor.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Kripto tasarımını yapalım.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Yerel veri şifreleme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AES-256-GCM</a:t>
            </a:r>
            <a:r>
              <a:rPr sz="2000" b="0">
                <a:solidFill>
                  <a:srgbClr val="1F2D3A"/>
                </a:solidFill>
              </a:rPr>
              <a:t> (AEAD): gizlilik + bütünlük.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Nonce sayaç/rastgele, </a:t>
            </a:r>
            <a:r>
              <a:rPr sz="2000" b="1">
                <a:solidFill>
                  <a:srgbClr val="1F2D3A"/>
                </a:solidFill>
              </a:rPr>
              <a:t>tekrarsız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 TEE/HSM'de; yoksa whitebox (11).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Sunucu iletişimi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: X25519 anahtar anlaşması + AEAD.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 zinciri doğrulama + (varsa) SPKI sabitleme + yedek pin.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Fail-open değil.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Güncelleme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Ed25519</a:t>
            </a:r>
            <a:r>
              <a:rPr sz="2000" b="0">
                <a:solidFill>
                  <a:srgbClr val="1F2D3A"/>
                </a:solidFill>
              </a:rPr>
              <a:t> imza; </a:t>
            </a:r>
            <a:r>
              <a:rPr sz="2000" b="0">
                <a:solidFill>
                  <a:srgbClr val="A1123F"/>
                </a:solidFill>
                <a:latin typeface="Consolas"/>
              </a:rPr>
              <a:t>verify ==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İmzalı içerik </a:t>
            </a:r>
            <a:r>
              <a:rPr sz="2000" b="1">
                <a:solidFill>
                  <a:srgbClr val="1F2D3A"/>
                </a:solidFill>
              </a:rPr>
              <a:t>sürümü</a:t>
            </a:r>
            <a:r>
              <a:rPr sz="2000" b="0">
                <a:solidFill>
                  <a:srgbClr val="1F2D3A"/>
                </a:solidFill>
              </a:rPr>
              <a:t> kapsar; downgrade reddi.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 anahtarı sabit/gömülü (bütünlükle korunur).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Anahtar envanteri (S8)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440738"/>
                <a:gridCol w="301502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Anahtar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Amaç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Alg/uzunluk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Saklama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 anahtarı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Yerel 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AES-256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TEE/whitebox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Oturum anahtarı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X25519 türevi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Bellek, kısa ömür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İmza doğrulama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Güncelleme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Ed25519 açık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Gömülü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Karar tabloları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kip?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İhtiyaç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Gizlilik + bütünlük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AES-GCM / ChaCha20-Poly1305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hız (donanım AES yok)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ChaCha20-Poly1305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ECB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Eski sistem CBC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encrypt-then-MAC, tek hata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asimetrik?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45621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6"/>
                <a:gridCol w="3637178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İhtiyaç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Seçim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İmza (modern)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Ed25519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anlaşması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X25519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şifreleme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RSA-OAEP (≥3072)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 imza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RSA-PSS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Karar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Modern, standart, iyi kullanılan seç.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AEAD öncelikli; ECC öncelikli.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Kararı ve gerekçesini </a:t>
            </a:r>
            <a:r>
              <a:rPr sz="2000" b="1">
                <a:solidFill>
                  <a:srgbClr val="1F2D3A"/>
                </a:solidFill>
              </a:rPr>
              <a:t>S8</a:t>
            </a:r>
            <a:r>
              <a:rPr sz="2000" b="0">
                <a:solidFill>
                  <a:srgbClr val="1F2D3A"/>
                </a:solidFill>
              </a:rPr>
              <a:t>'e yaz.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On sık kripto hatası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1 · kendi kriptonu yazmak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kendi "şifreleme" algoritman.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denenmiş kütüphane, standart algoritma.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2 · ECB kipi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ECB (desen sızar).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AEAD (GCM / ChaCha20-Poly1305).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3 · IV/nonce tekrarı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sabit ya da tekrar eden nonce.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benzersiz, tekrarsız nonce.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4 · şifreleme ama bütünlük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yalnız CBC, MAC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AEAD ya da encrypt-then-MAC.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5 · ham RSA / yanlış dolgu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ham RSA, PKCS#1 v1.5.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OAEP (şifre), PSS (imza).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6 · zayıf özet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MD5, SHA-1.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SHA-256+.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7 · imza dönüşünü denetlememek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(verify(...))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== 1</a:t>
            </a:r>
            <a:r>
              <a:rPr sz="2000" b="0">
                <a:solidFill>
                  <a:srgbClr val="1F2D3A"/>
                </a:solidFill>
              </a:rPr>
              <a:t> ve sürüm kapsanır.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8 · zincir/ad denetlememek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yalnız imzaya bakmak.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dört soru + SAN denetimi.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9 · fail-open iptal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OCSP'ye ulaşılamayınca kabul.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Must-Staple, kısa ömür.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10 · anahtarı düz gömmek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Yanlış: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static uint8_t k[16]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Doğru:</a:t>
            </a:r>
            <a:r>
              <a:rPr sz="2000" b="0">
                <a:solidFill>
                  <a:srgbClr val="1F2D3A"/>
                </a:solidFill>
              </a:rPr>
              <a:t> HSM/TEE; yoksa whitebox + katman (11).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E · TLS'i kodda kurmak (eleştirel)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Sertifika doğrulamayı kapatma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ASLA: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SSL_CTX_set_verify(ctx, SSL_VERIFY_NONE, NULL);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MITM'e kapıyı açar. "Test için" diye bırakılan bu satır sahada felakettir.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 denetimini atlamak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Zincir geçerli ama </a:t>
            </a:r>
            <a:r>
              <a:rPr sz="2000" b="1">
                <a:solidFill>
                  <a:srgbClr val="1F2D3A"/>
                </a:solidFill>
              </a:rPr>
              <a:t>ad</a:t>
            </a:r>
            <a:r>
              <a:rPr sz="2000" b="0">
                <a:solidFill>
                  <a:srgbClr val="1F2D3A"/>
                </a:solidFill>
              </a:rPr>
              <a:t> doğrulanmıyorsa, saldırganın geçerli sertifikası kabul edilir.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 bilgisayar adı (SAN) mutlaka denetlenir.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Sabitleme · dikkatli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SPKI sabitleme güçlüdür ama </a:t>
            </a:r>
            <a:r>
              <a:rPr sz="2000" b="1">
                <a:solidFill>
                  <a:srgbClr val="1F2D3A"/>
                </a:solidFill>
              </a:rPr>
              <a:t>yedek pin</a:t>
            </a:r>
            <a:r>
              <a:rPr sz="2000" b="0">
                <a:solidFill>
                  <a:srgbClr val="1F2D3A"/>
                </a:solidFill>
              </a:rPr>
              <a:t> olmadan anahtar değişince kilitlenirsiniz.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az bir yedek pin.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Eleştirel okuma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TLS kurulum kodunu okurken sorun: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Doğrulama açık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 denetleniyor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durumunda </a:t>
            </a:r>
            <a:r>
              <a:rPr sz="2000" b="1">
                <a:solidFill>
                  <a:srgbClr val="1F2D3A"/>
                </a:solidFill>
              </a:rPr>
              <a:t>fail-closed</a:t>
            </a:r>
            <a:r>
              <a:rPr sz="2000" b="0">
                <a:solidFill>
                  <a:srgbClr val="1F2D3A"/>
                </a:solidFill>
              </a:rPr>
              <a:t> mı?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F · Hızlı başvuru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Sözlük (ek)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6183202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kullanımlık sayı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KDF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türetme fonksiyonu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İleri gizlilik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Eski oturumlar sonra çözülemez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Trust store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Güvenilen kök CA'lar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Kripto-periyot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ömrü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Kripto-çeviklik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Algoritmayı kolay değiştirme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Kripto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==1</a:t>
            </a:r>
            <a:r>
              <a:rPr sz="1800" b="0">
                <a:solidFill>
                  <a:srgbClr val="1F2D3A"/>
                </a:solidFill>
              </a:rPr>
              <a:t> + sürüm kapsar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(10.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Kriptoyu "açık/kapalı" değil, </a:t>
            </a:r>
            <a:r>
              <a:rPr sz="2000" b="1">
                <a:solidFill>
                  <a:srgbClr val="1F2D3A"/>
                </a:solidFill>
              </a:rPr>
              <a:t>doğru kullanılıp kullanılmadığıyla</a:t>
            </a:r>
            <a:r>
              <a:rPr sz="2000" b="0">
                <a:solidFill>
                  <a:srgbClr val="1F2D3A"/>
                </a:solidFill>
              </a:rPr>
              <a:t> değerlendirin.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 kip, doğru dolgu, doğrulanan imza, denetlenen zincir, iyi yönetilen anahtar.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10 — Sertifikalar ve Kriptografik Yöntemler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