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kriptografinin yapı taşlarını ve PKI'yi uçtan uca kuruyoruz: kipler, MAC, RSA ve eliptik eğriler, imza, sertifika zinciri, iptal ve anahtar saklama.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kriptonun doğru kullanımı ve PKI. Öğrenciler 3. haftada girişi gördü; burada sıfırdan hatırlatıp derinleştiriyoruz. Vurgu: doğru algoritma değil, doğru KULLANIM.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MAC/HMAC ve asimetrik.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dijital imza tuzakları ve DH.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PKI, X.509, zincir, iptal.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HSM, PKCS#11, PQC,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Sertifikalar ve Kriptografik Yöntemler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20.11.2026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78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3566"/>
                <a:gridCol w="892761"/>
                <a:gridCol w="9225206"/>
              </a:tblGrid>
              <a:tr h="61950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1950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Algoritma/anahtar seçimi · blok şifre kipleri/dolgu · MAC/HMAC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950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RSA/ECC (OAEP/PSS) · dijital imza · Diffie–Hellman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1950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7–13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PKI · X.509 · OpenSSL ile zincir kurma · CRL/OCSP · HSM/PKCS#11 · kuantum sonrası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913632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Öğrenme çıktıları (ÖÇ.2 / ÖÇ.4):</a:t>
            </a:r>
            <a:r>
              <a:rPr sz="2000" b="0">
                <a:solidFill>
                  <a:srgbClr val="1F2D3A"/>
                </a:solidFill>
              </a:rPr>
              <a:t> doğru algoritma, kip, dolgu ve anahtar uzunluğu seçmek · imza ve anahtar değişiminin tuzaklarını görmek · bir sertifika zincirini doğru doğrulamak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12368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Kriptoda hatalar genelde algoritmada değil, </a:t>
            </a:r>
            <a:r>
              <a:rPr sz="2000" b="1">
                <a:solidFill>
                  <a:srgbClr val="1F2D3A"/>
                </a:solidFill>
              </a:rPr>
              <a:t>kullanımdadır</a:t>
            </a:r>
            <a:r>
              <a:rPr sz="2000" b="0">
                <a:solidFill>
                  <a:srgbClr val="1F2D3A"/>
                </a:solidFill>
              </a:rPr>
              <a:t>: yanlış kip, yanlış dolgu, doğrulanmayan imza, denetlenmeyen zincir.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Önceki haftalardan gelenler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683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006D77"/>
                </a:solidFill>
              </a:rPr>
              <a:t>• </a:t>
            </a:r>
            <a:r>
              <a:rPr sz="1400" b="1">
                <a:solidFill>
                  <a:srgbClr val="1F2D3A"/>
                </a:solidFill>
              </a:rPr>
              <a:t>Simetrik ve asimetrik şifreleme</a:t>
            </a:r>
            <a:r>
              <a:rPr sz="1400" b="0">
                <a:solidFill>
                  <a:srgbClr val="1F2D3A"/>
                </a:solidFill>
              </a:rPr>
              <a:t> — simetrik tek paylaşılan anahtarla hızlı çalışır; asimetrik açık/özel anahtar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03908"/>
            <a:ext cx="10911535" cy="3408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3A"/>
                </a:solidFill>
              </a:rPr>
              <a:t>çiftiyle anahtar dağıtımını kolaylaştırır ama yavaştır </a:t>
            </a:r>
            <a:r>
              <a:rPr sz="1400" b="1">
                <a:solidFill>
                  <a:srgbClr val="1F2D3A"/>
                </a:solidFill>
              </a:rPr>
              <a:t>(Hafta 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54504"/>
            <a:ext cx="10911535" cy="6451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006D77"/>
                </a:solidFill>
              </a:rPr>
              <a:t>• </a:t>
            </a:r>
            <a:r>
              <a:rPr sz="1400" b="1">
                <a:solidFill>
                  <a:srgbClr val="1F2D3A"/>
                </a:solidFill>
              </a:rPr>
              <a:t>AEAD</a:t>
            </a:r>
            <a:r>
              <a:rPr sz="1400" b="0">
                <a:solidFill>
                  <a:srgbClr val="1F2D3A"/>
                </a:solidFill>
              </a:rPr>
              <a:t> — şifreleme ve bütünlüğü tek çağrıda birlikte veren kimlik doğrulamalı şifreleme </a:t>
            </a:r>
            <a:r>
              <a:rPr sz="1400" b="1">
                <a:solidFill>
                  <a:srgbClr val="1F2D3A"/>
                </a:solidFill>
              </a:rPr>
              <a:t>(Hafta 3)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006D77"/>
                </a:solidFill>
              </a:rPr>
              <a:t>• </a:t>
            </a:r>
            <a:r>
              <a:rPr sz="1400" b="1">
                <a:solidFill>
                  <a:srgbClr val="1F2D3A"/>
                </a:solidFill>
              </a:rPr>
              <a:t>Özet, MAC ve dijital imza</a:t>
            </a:r>
            <a:r>
              <a:rPr sz="1400" b="0">
                <a:solidFill>
                  <a:srgbClr val="1F2D3A"/>
                </a:solidFill>
              </a:rPr>
              <a:t> — özet tek yönlü parmak izidir; MAC paylaşılan anahtarla, imza açık/özel anahtar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09391"/>
            <a:ext cx="10911535" cy="3408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3A"/>
                </a:solidFill>
              </a:rPr>
              <a:t>çiftiyle mesajın değişmediğini kanıtlar </a:t>
            </a:r>
            <a:r>
              <a:rPr sz="1400" b="1">
                <a:solidFill>
                  <a:srgbClr val="1F2D3A"/>
                </a:solidFill>
              </a:rPr>
              <a:t>(Hafta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59987"/>
            <a:ext cx="10911535" cy="3683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006D77"/>
                </a:solidFill>
              </a:rPr>
              <a:t>• </a:t>
            </a:r>
            <a:r>
              <a:rPr sz="1400" b="1">
                <a:solidFill>
                  <a:srgbClr val="1F2D3A"/>
                </a:solidFill>
              </a:rPr>
              <a:t>İleri gizlilik (forward secrecy)</a:t>
            </a:r>
            <a:r>
              <a:rPr sz="1400" b="0">
                <a:solidFill>
                  <a:srgbClr val="1F2D3A"/>
                </a:solidFill>
              </a:rPr>
              <a:t> — oturum anahtarının kullanımdan sonra silinmesiyle, bugünkü anahtar sızsa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8015"/>
            <a:ext cx="10911535" cy="3408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3A"/>
                </a:solidFill>
              </a:rPr>
              <a:t>bile geçmiş oturumların çözülememesi </a:t>
            </a:r>
            <a:r>
              <a:rPr sz="1400" b="1">
                <a:solidFill>
                  <a:srgbClr val="1F2D3A"/>
                </a:solidFill>
              </a:rPr>
              <a:t>(Hafta 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8611"/>
            <a:ext cx="10911535" cy="3683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006D77"/>
                </a:solidFill>
              </a:rPr>
              <a:t>• </a:t>
            </a:r>
            <a:r>
              <a:rPr sz="1400" b="1">
                <a:solidFill>
                  <a:srgbClr val="1F2D3A"/>
                </a:solidFill>
              </a:rPr>
              <a:t>TLS sertifika doğrulama</a:t>
            </a:r>
            <a:r>
              <a:rPr sz="1400" b="0">
                <a:solidFill>
                  <a:srgbClr val="1F2D3A"/>
                </a:solidFill>
              </a:rPr>
              <a:t> — istemcinin sunucu sertifikasını zincir, geçerlilik, kullanım amacı ve ad açısından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66639"/>
            <a:ext cx="10911535" cy="3408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3A"/>
                </a:solidFill>
              </a:rPr>
              <a:t>denetlemesi </a:t>
            </a:r>
            <a:r>
              <a:rPr sz="1400" b="1">
                <a:solidFill>
                  <a:srgbClr val="1F2D3A"/>
                </a:solidFill>
              </a:rPr>
              <a:t>(Hafta 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17235"/>
            <a:ext cx="10911535" cy="5720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3A"/>
                </a:solidFill>
              </a:rPr>
              <a:t>Bu hafta: asimetrik matematiği ve doğru kip/dolgu (Bölüm 2, 4) · HMAC iç yapısı ve imza tuzakları (Bölüm 3, 5) · DH ve kimlik doğrulaması (Bölüm 6) · PKI, X.509 ve iptal (Bölüm 7–10) derinleşiyor.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Bu haftanın kavramları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039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>
                <a:solidFill>
                  <a:srgbClr val="1F2D3A"/>
                </a:solidFill>
              </a:rPr>
              <a:t>Her terim, gövdede ilk geçtiği yerde tanımlanır; burada yalnız </a:t>
            </a:r>
            <a:r>
              <a:rPr sz="1700" b="1">
                <a:solidFill>
                  <a:srgbClr val="1F2D3A"/>
                </a:solidFill>
              </a:rPr>
              <a:t>nerede</a:t>
            </a:r>
            <a:r>
              <a:rPr sz="1700" b="0">
                <a:solidFill>
                  <a:srgbClr val="1F2D3A"/>
                </a:solidFill>
              </a:rPr>
              <a:t> olduğunu işaretliyoruz.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26006"/>
          <a:ext cx="7456214" cy="3878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3908"/>
                <a:gridCol w="2182306"/>
              </a:tblGrid>
              <a:tr h="323240">
                <a:tc>
                  <a:txBody>
                    <a:bodyPr wrap="square"/>
                    <a:lstStyle/>
                    <a:p>
                      <a:r>
                        <a:rPr sz="1224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23240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Blok şifre kipleri, dolgu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3240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MAC, HMAC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23240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RSA, eliptik eğri (ECC)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3240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Dijital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23240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Diffie–Hellman (DH)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3240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PKI, CA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23240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Sertifika, X.509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3240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OpenSSL ile zincir kurma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23240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CRL, OCSP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3240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HSM, PKCS#11, SoftHSM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23244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Kuantum sonrası (PQC)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Algoritma ve anahtar seçimi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anahtarlar, sertifikalar, PKI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1976–77</a:t>
            </a:r>
            <a:r>
              <a:rPr sz="1800" b="0">
                <a:solidFill>
                  <a:srgbClr val="1F2D3A"/>
                </a:solidFill>
              </a:rPr>
              <a:t> — Diffie–Hellman ve </a:t>
            </a:r>
            <a:r>
              <a:rPr sz="1800" b="1">
                <a:solidFill>
                  <a:srgbClr val="1F2D3A"/>
                </a:solidFill>
              </a:rPr>
              <a:t>RSA</a:t>
            </a:r>
            <a:r>
              <a:rPr sz="1800" b="0">
                <a:solidFill>
                  <a:srgbClr val="1F2D3A"/>
                </a:solidFill>
              </a:rPr>
              <a:t>: tanımadığınla güvenli konuşma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1988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X.509</a:t>
            </a:r>
            <a:r>
              <a:rPr sz="1800" b="0">
                <a:solidFill>
                  <a:srgbClr val="1F2D3A"/>
                </a:solidFill>
              </a:rPr>
              <a:t> sertifika biçimi; kimliği bir </a:t>
            </a:r>
            <a:r>
              <a:rPr sz="1800" b="1">
                <a:solidFill>
                  <a:srgbClr val="1F2D3A"/>
                </a:solidFill>
              </a:rPr>
              <a:t>CA imzası</a:t>
            </a:r>
            <a:r>
              <a:rPr sz="1800" b="0">
                <a:solidFill>
                  <a:srgbClr val="1F2D3A"/>
                </a:solidFill>
              </a:rPr>
              <a:t> taşır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1995</a:t>
            </a:r>
            <a:r>
              <a:rPr sz="1800" b="0">
                <a:solidFill>
                  <a:srgbClr val="1F2D3A"/>
                </a:solidFill>
              </a:rPr>
              <a:t> — ticari CA'lar ve </a:t>
            </a:r>
            <a:r>
              <a:rPr sz="1800" b="1">
                <a:solidFill>
                  <a:srgbClr val="1F2D3A"/>
                </a:solidFill>
              </a:rPr>
              <a:t>PKI</a:t>
            </a:r>
            <a:r>
              <a:rPr sz="1800" b="0">
                <a:solidFill>
                  <a:srgbClr val="1F2D3A"/>
                </a:solidFill>
              </a:rPr>
              <a:t>; ardından </a:t>
            </a:r>
            <a:r>
              <a:rPr sz="1800" b="1">
                <a:solidFill>
                  <a:srgbClr val="1F2D3A"/>
                </a:solidFill>
              </a:rPr>
              <a:t>CRL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OCSP</a:t>
            </a:r>
            <a:r>
              <a:rPr sz="1800" b="0">
                <a:solidFill>
                  <a:srgbClr val="1F2D3A"/>
                </a:solidFill>
              </a:rPr>
              <a:t> (iptal)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2014</a:t>
            </a:r>
            <a:r>
              <a:rPr sz="1800" b="0">
                <a:solidFill>
                  <a:srgbClr val="1F2D3A"/>
                </a:solidFill>
              </a:rPr>
              <a:t> Heartbleed · </a:t>
            </a:r>
            <a:r>
              <a:rPr sz="1800" b="1">
                <a:solidFill>
                  <a:srgbClr val="1F2D3A"/>
                </a:solidFill>
              </a:rPr>
              <a:t>2015</a:t>
            </a:r>
            <a:r>
              <a:rPr sz="1800" b="0">
                <a:solidFill>
                  <a:srgbClr val="1F2D3A"/>
                </a:solidFill>
              </a:rPr>
              <a:t> Let's Encrypt · </a:t>
            </a:r>
            <a:r>
              <a:rPr sz="1800" b="1">
                <a:solidFill>
                  <a:srgbClr val="1F2D3A"/>
                </a:solidFill>
              </a:rPr>
              <a:t>2018</a:t>
            </a:r>
            <a:r>
              <a:rPr sz="1800" b="0">
                <a:solidFill>
                  <a:srgbClr val="1F2D3A"/>
                </a:solidFill>
              </a:rPr>
              <a:t> TLS 1.3 · </a:t>
            </a:r>
            <a:r>
              <a:rPr sz="1800" b="1">
                <a:solidFill>
                  <a:srgbClr val="1F2D3A"/>
                </a:solidFill>
              </a:rPr>
              <a:t>2022–24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PQC</a:t>
            </a:r>
            <a:r>
              <a:rPr sz="1800" b="0">
                <a:solidFill>
                  <a:srgbClr val="1F2D3A"/>
                </a:solidFill>
              </a:rPr>
              <a:t> (Kyber/Dilithium)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Bugünkü kurallar (doğru kip/dolgu, zincir doğrulama, iptal) bu acı derslerden çıktı.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Güncel, standart, iyi kullanılan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kural: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Güncel:</a:t>
            </a:r>
            <a:r>
              <a:rPr sz="2000" b="0">
                <a:solidFill>
                  <a:srgbClr val="1F2D3A"/>
                </a:solidFill>
              </a:rPr>
              <a:t> kırılmamış algoritma (AES, SHA-256, Ed25519).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Standart:</a:t>
            </a:r>
            <a:r>
              <a:rPr sz="2000" b="0">
                <a:solidFill>
                  <a:srgbClr val="1F2D3A"/>
                </a:solidFill>
              </a:rPr>
              <a:t> kendi kriptonu yazma; denenmiş kütüphane.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 kullanılan:</a:t>
            </a:r>
            <a:r>
              <a:rPr sz="2000" b="0">
                <a:solidFill>
                  <a:srgbClr val="1F2D3A"/>
                </a:solidFill>
              </a:rPr>
              <a:t> doğru kip, dolgu, anahtar yönetimi.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Kaçınılacaklar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MD5, SHA-1 (özet için), DES/3DES, RC4.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ECB kipi.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"şifreleme" algoritman.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Sabit/öngörülebilir IV veya anahtar.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uzunluğu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274355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06"/>
                <a:gridCol w="5092049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Öneri (yaklaşık)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Simetrik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AES-128 (yeter), AES-256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RSA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≥ 2048, tercih 3072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256-bit (≈ RSA-3072)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Özet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SHA-256+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 zayıf halka kuralı</a:t>
            </a:r>
          </a:p>
        </p:txBody>
      </p:sp>
      <p:pic>
        <p:nvPicPr>
          <p:cNvPr id="7" name="Picture 6" descr="h10-13-en-zayif-hal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397" y="1325880"/>
            <a:ext cx="9150901" cy="38750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1063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Bileşenleri </a:t>
            </a:r>
            <a:r>
              <a:rPr sz="2000" b="1">
                <a:solidFill>
                  <a:srgbClr val="1F2D3A"/>
                </a:solidFill>
              </a:rPr>
              <a:t>dengeli</a:t>
            </a:r>
            <a:r>
              <a:rPr sz="2000" b="0">
                <a:solidFill>
                  <a:srgbClr val="1F2D3A"/>
                </a:solidFill>
              </a:rPr>
              <a:t> seç.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128 bit hedefliyorsan RSA-3072 ya da ECC.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kip?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İhtiyaç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+ 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AES-GCM / ChaCha20-Poly1305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hız (donanım AES yok)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ChaCha20-Poly1305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ECB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sistem CBC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encrypt-then-MAC, tek hata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asimetrik?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45621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6"/>
                <a:gridCol w="363717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İhtiyaç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(modern)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anlaşması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X25519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RSA-OAEP (≥3072)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RSA-PSS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Modern, standart, iyi kullanılan seç.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öncelikli; ECC öncelikli.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Kararı ve gerekçesini </a:t>
            </a:r>
            <a:r>
              <a:rPr sz="2000" b="1">
                <a:solidFill>
                  <a:srgbClr val="1F2D3A"/>
                </a:solidFill>
              </a:rPr>
              <a:t>S8</a:t>
            </a:r>
            <a:r>
              <a:rPr sz="2000" b="0">
                <a:solidFill>
                  <a:srgbClr val="1F2D3A"/>
                </a:solidFill>
              </a:rPr>
              <a:t>'e yaz.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Blok şifre kipleri ve dolgu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ECB · asla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ECB:</a:t>
            </a:r>
            <a:r>
              <a:rPr sz="2000" b="0">
                <a:solidFill>
                  <a:srgbClr val="1F2D3A"/>
                </a:solidFill>
              </a:rPr>
              <a:t> her bloğu bağımsız şifreler.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blok → aynı şifreli çıktı → </a:t>
            </a:r>
            <a:r>
              <a:rPr sz="2000" b="1">
                <a:solidFill>
                  <a:srgbClr val="1F2D3A"/>
                </a:solidFill>
              </a:rPr>
              <a:t>desen sızar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Ünlü "ECB penguen" örneği.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ECB kullanma.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ECB neden kötü — şema</a:t>
            </a:r>
          </a:p>
        </p:txBody>
      </p:sp>
      <p:pic>
        <p:nvPicPr>
          <p:cNvPr id="7" name="Picture 6" descr="h10-06-e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06529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CBC · dikkatli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CBC:</a:t>
            </a:r>
            <a:r>
              <a:rPr sz="2000" b="0">
                <a:solidFill>
                  <a:srgbClr val="1F2D3A"/>
                </a:solidFill>
              </a:rPr>
              <a:t> her blok bir öncekiyle zincirlenir; </a:t>
            </a:r>
            <a:r>
              <a:rPr sz="2000" b="1">
                <a:solidFill>
                  <a:srgbClr val="1F2D3A"/>
                </a:solidFill>
              </a:rPr>
              <a:t>IV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IV </a:t>
            </a:r>
            <a:r>
              <a:rPr sz="2000" b="1">
                <a:solidFill>
                  <a:srgbClr val="1F2D3A"/>
                </a:solidFill>
              </a:rPr>
              <a:t>rastgele</a:t>
            </a:r>
            <a:r>
              <a:rPr sz="2000" b="0">
                <a:solidFill>
                  <a:srgbClr val="1F2D3A"/>
                </a:solidFill>
              </a:rPr>
              <a:t> ve tekrarsız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</a:t>
            </a:r>
            <a:r>
              <a:rPr sz="2000" b="1">
                <a:solidFill>
                  <a:srgbClr val="1F2D3A"/>
                </a:solidFill>
              </a:rPr>
              <a:t>bütünlük vermez</a:t>
            </a:r>
            <a:r>
              <a:rPr sz="2000" b="0">
                <a:solidFill>
                  <a:srgbClr val="1F2D3A"/>
                </a:solidFill>
              </a:rPr>
              <a:t> → ayrı MAC şart.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CBC + dolgu =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CBC dolgu gerektirir.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dolgu işleme → </a:t>
            </a:r>
            <a:r>
              <a:rPr sz="2000" b="1">
                <a:solidFill>
                  <a:srgbClr val="1F2D3A"/>
                </a:solidFill>
              </a:rPr>
              <a:t>dolgu kâhini (padding oracle)</a:t>
            </a:r>
            <a:r>
              <a:rPr sz="2000" b="0">
                <a:solidFill>
                  <a:srgbClr val="1F2D3A"/>
                </a:solidFill>
              </a:rPr>
              <a:t> (birazdan).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modern tercih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PKCS#7 dolgusu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13 baytlık </a:t>
            </a:r>
            <a:r>
              <a:rPr sz="2000" b="0">
                <a:solidFill>
                  <a:srgbClr val="A1123F"/>
                </a:solidFill>
                <a:latin typeface="Consolas"/>
              </a:rPr>
              <a:t>"MERHABA DUNYA"</a:t>
            </a:r>
            <a:r>
              <a:rPr sz="2000" b="0">
                <a:solidFill>
                  <a:srgbClr val="1F2D3A"/>
                </a:solidFill>
              </a:rPr>
              <a:t> metnini AES-128-CBC ile şifreleyelim (K, IV yalnız gösterim için sabit):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printf 'MERHABA DUNYA' | openssl enc -aes-128-cbc -K "$K" -iv "$IV" -out cikti.bin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xxd -p cikti.bin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67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Çıktı </a:t>
            </a:r>
            <a:r>
              <a:rPr sz="2000" b="1">
                <a:solidFill>
                  <a:srgbClr val="1F2D3A"/>
                </a:solidFill>
              </a:rPr>
              <a:t>16 bayt</a:t>
            </a:r>
            <a:r>
              <a:rPr sz="2000" b="0">
                <a:solidFill>
                  <a:srgbClr val="1F2D3A"/>
                </a:solidFill>
              </a:rPr>
              <a:t> (32 hex karakter) — girdi 13 bayttı, demek ki </a:t>
            </a:r>
            <a:r>
              <a:rPr sz="2000" b="1">
                <a:solidFill>
                  <a:srgbClr val="1F2D3A"/>
                </a:solidFill>
              </a:rPr>
              <a:t>3 bayt dolgu</a:t>
            </a:r>
            <a:r>
              <a:rPr sz="2000" b="0">
                <a:solidFill>
                  <a:srgbClr val="1F2D3A"/>
                </a:solidFill>
              </a:rPr>
              <a:t> eklendi.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PKCS#7 dolgusu · çıktı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-nopad</a:t>
            </a:r>
            <a:r>
              <a:rPr sz="2000" b="0">
                <a:solidFill>
                  <a:srgbClr val="1F2D3A"/>
                </a:solidFill>
              </a:rPr>
              <a:t> ile dolgunun içeriğini görelim (yalnız öğretici amaçla):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4d45 5248 4142 4120 4455 4e59 4103 0303  MERHABA DUNYA...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 üç bayt </a:t>
            </a:r>
            <a:r>
              <a:rPr sz="2000" b="1">
                <a:solidFill>
                  <a:srgbClr val="1F2D3A"/>
                </a:solidFill>
              </a:rPr>
              <a:t>`03 03 03`</a:t>
            </a:r>
            <a:r>
              <a:rPr sz="2000" b="0">
                <a:solidFill>
                  <a:srgbClr val="1F2D3A"/>
                </a:solidFill>
              </a:rPr>
              <a:t>: eksik bayt sayısı (16 − 13 = 3) kadar, o sayı değerinde bayt eklenmiş — tam olarak PKCS#7 kuralı. Normal </a:t>
            </a:r>
            <a:r>
              <a:rPr sz="2000" b="0">
                <a:solidFill>
                  <a:srgbClr val="A1123F"/>
                </a:solidFill>
                <a:latin typeface="Consolas"/>
              </a:rPr>
              <a:t>openssl enc -d</a:t>
            </a:r>
            <a:r>
              <a:rPr sz="2000" b="0">
                <a:solidFill>
                  <a:srgbClr val="1F2D3A"/>
                </a:solidFill>
              </a:rPr>
              <a:t> bu baytları otomatik okuyup atar.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GCM · modern tercih (AEAD)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AES-GCM: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bütünlük birlikte.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Dolgu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bir </a:t>
            </a:r>
            <a:r>
              <a:rPr sz="2000" b="1">
                <a:solidFill>
                  <a:srgbClr val="1F2D3A"/>
                </a:solidFill>
              </a:rPr>
              <a:t>nonce</a:t>
            </a:r>
            <a:r>
              <a:rPr sz="2000" b="0">
                <a:solidFill>
                  <a:srgbClr val="1F2D3A"/>
                </a:solidFill>
              </a:rPr>
              <a:t> (tek kullanımlık sayı)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tekrar etmemeli (aynı anahtar altında).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Nonce/IV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IV/nonce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GCM'de nonce tekrarı </a:t>
            </a:r>
            <a:r>
              <a:rPr sz="2000" b="1">
                <a:solidFill>
                  <a:srgbClr val="1F2D3A"/>
                </a:solidFill>
              </a:rPr>
              <a:t>felakettir</a:t>
            </a:r>
            <a:r>
              <a:rPr sz="2000" b="0">
                <a:solidFill>
                  <a:srgbClr val="1F2D3A"/>
                </a:solidFill>
              </a:rPr>
              <a:t> (anahtar/veri sızabilir).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Sayaç ya da rastgele (yeterli uzunlukta) kullan.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Nonce tekrarı — şema</a:t>
            </a:r>
          </a:p>
        </p:txBody>
      </p:sp>
      <p:pic>
        <p:nvPicPr>
          <p:cNvPr id="7" name="Picture 6" descr="h10-07-nonce-tekr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85512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ChaCha20-Poly1305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AES-GCM'e AEAD alternatifi.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AES desteği yoksa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nonce kuralı geçerli.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Dolgu kâhini (padding oracle) · sorun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Sunucu, CBC çözerken </a:t>
            </a:r>
            <a:r>
              <a:rPr sz="2000" b="1">
                <a:solidFill>
                  <a:srgbClr val="1F2D3A"/>
                </a:solidFill>
              </a:rPr>
              <a:t>dolgu geçersiz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MAC geçersiz</a:t>
            </a:r>
            <a:r>
              <a:rPr sz="2000" b="0">
                <a:solidFill>
                  <a:srgbClr val="1F2D3A"/>
                </a:solidFill>
              </a:rPr>
              <a:t> için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yanıt/zaman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Saldırgan şifreli metni değiştirip yanıtlara bakar.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Yanıt farkından </a:t>
            </a:r>
            <a:r>
              <a:rPr sz="2000" b="1">
                <a:solidFill>
                  <a:srgbClr val="1F2D3A"/>
                </a:solidFill>
              </a:rPr>
              <a:t>düz metni</a:t>
            </a:r>
            <a:r>
              <a:rPr sz="2000" b="0">
                <a:solidFill>
                  <a:srgbClr val="1F2D3A"/>
                </a:solidFill>
              </a:rPr>
              <a:t> bayt bayt çözer.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mesajı/zamanı, iç durumu </a:t>
            </a:r>
            <a:r>
              <a:rPr sz="2000" b="1">
                <a:solidFill>
                  <a:srgbClr val="1F2D3A"/>
                </a:solidFill>
              </a:rPr>
              <a:t>sızdırıyor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 bir </a:t>
            </a:r>
            <a:r>
              <a:rPr sz="2000" b="1">
                <a:solidFill>
                  <a:srgbClr val="1F2D3A"/>
                </a:solidFill>
              </a:rPr>
              <a:t>kâhin</a:t>
            </a:r>
            <a:r>
              <a:rPr sz="2000" b="0">
                <a:solidFill>
                  <a:srgbClr val="1F2D3A"/>
                </a:solidFill>
              </a:rPr>
              <a:t> (oracle) gibi kullanıyor.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AEAD kullan</a:t>
            </a:r>
            <a:r>
              <a:rPr sz="2000" b="0">
                <a:solidFill>
                  <a:srgbClr val="1F2D3A"/>
                </a:solidFill>
              </a:rPr>
              <a:t> (GCM): dolgu yok, tek doğrulama.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CBC zorundaysan: </a:t>
            </a:r>
            <a:r>
              <a:rPr sz="2000" b="1">
                <a:solidFill>
                  <a:srgbClr val="1F2D3A"/>
                </a:solidFill>
              </a:rPr>
              <a:t>encrypt-then-MAC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tek ve aynı</a:t>
            </a:r>
            <a:r>
              <a:rPr sz="2000" b="0">
                <a:solidFill>
                  <a:srgbClr val="1F2D3A"/>
                </a:solidFill>
              </a:rPr>
              <a:t> hata.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 farkı da sızıntıdır → sabit zamanlı.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Şifreleme tek başına yetmez;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tutarlı hata</a:t>
            </a:r>
            <a:r>
              <a:rPr sz="2000" b="0">
                <a:solidFill>
                  <a:srgbClr val="1F2D3A"/>
                </a:solidFill>
              </a:rPr>
              <a:t> şart.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Dolgu kâhini, "kullanım hatası"nın klasik örneğidir.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En zayıf halka kuralını bir örnekle açıklayın.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ECB neden kullanılmaz?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GCM'de nonce tekrarı neden felakettir?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Dolgu kâhinini AEAD nasıl kapatır?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Sistem </a:t>
            </a:r>
            <a:r>
              <a:rPr sz="2000" b="1">
                <a:solidFill>
                  <a:srgbClr val="1F2D3A"/>
                </a:solidFill>
              </a:rPr>
              <a:t>en zayıf bileşeni</a:t>
            </a:r>
            <a:r>
              <a:rPr sz="2000" b="0">
                <a:solidFill>
                  <a:srgbClr val="1F2D3A"/>
                </a:solidFill>
              </a:rPr>
              <a:t> kadar güvenli. Örn. AES-256 kullanıp anahtarı düz dosyada tutmak → anahtar en zayıf halka.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ECB</a:t>
            </a:r>
            <a:r>
              <a:rPr sz="2000" b="0">
                <a:solidFill>
                  <a:srgbClr val="1F2D3A"/>
                </a:solidFill>
              </a:rPr>
              <a:t> aynı açık bloğu aynı şifreli bloğa çevirir → desen sızar, anlamsal güvenlik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Aynı anahtar+nonce </a:t>
            </a:r>
            <a:r>
              <a:rPr sz="2000" b="1">
                <a:solidFill>
                  <a:srgbClr val="1F2D3A"/>
                </a:solidFill>
              </a:rPr>
              <a:t>anahtar akışını</a:t>
            </a:r>
            <a:r>
              <a:rPr sz="2000" b="0">
                <a:solidFill>
                  <a:srgbClr val="1F2D3A"/>
                </a:solidFill>
              </a:rPr>
              <a:t> tekrarlar (gizlilik çöker) ve GHASH </a:t>
            </a:r>
            <a:r>
              <a:rPr sz="2000" b="1">
                <a:solidFill>
                  <a:srgbClr val="1F2D3A"/>
                </a:solidFill>
              </a:rPr>
              <a:t>kimlik anahtarı</a:t>
            </a:r>
            <a:r>
              <a:rPr sz="2000" b="0">
                <a:solidFill>
                  <a:srgbClr val="1F2D3A"/>
                </a:solidFill>
              </a:rPr>
              <a:t> ele geçirilir → felaket.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önce etiketi doğrular, yanlış etiketli metni </a:t>
            </a:r>
            <a:r>
              <a:rPr sz="2000" b="1">
                <a:solidFill>
                  <a:srgbClr val="1F2D3A"/>
                </a:solidFill>
              </a:rPr>
              <a:t>çözmeden reddeder</a:t>
            </a:r>
            <a:r>
              <a:rPr sz="2000" b="0">
                <a:solidFill>
                  <a:srgbClr val="1F2D3A"/>
                </a:solidFill>
              </a:rPr>
              <a:t> → dolgu hatası için </a:t>
            </a:r>
            <a:r>
              <a:rPr sz="2000" b="1">
                <a:solidFill>
                  <a:srgbClr val="1F2D3A"/>
                </a:solidFill>
              </a:rPr>
              <a:t>oracle</a:t>
            </a:r>
            <a:r>
              <a:rPr sz="2000" b="0">
                <a:solidFill>
                  <a:srgbClr val="1F2D3A"/>
                </a:solidFill>
              </a:rPr>
              <a:t> kalmaz.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MAC, HMAC ve bütünlük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HMAC neden — şema</a:t>
            </a:r>
          </a:p>
        </p:txBody>
      </p:sp>
      <p:pic>
        <p:nvPicPr>
          <p:cNvPr id="7" name="Picture 6" descr="h10-08-hm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1339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MAC?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Şifreleme gizliliği verir, </a:t>
            </a:r>
            <a:r>
              <a:rPr sz="2000" b="1">
                <a:solidFill>
                  <a:srgbClr val="1F2D3A"/>
                </a:solidFill>
              </a:rPr>
              <a:t>bütünlüğü 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şifreli metni değiştirebilir.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MAC: mesaj </a:t>
            </a:r>
            <a:r>
              <a:rPr sz="2000" b="1">
                <a:solidFill>
                  <a:srgbClr val="1F2D3A"/>
                </a:solidFill>
              </a:rPr>
              <a:t>değişmedi</a:t>
            </a:r>
            <a:r>
              <a:rPr sz="2000" b="0">
                <a:solidFill>
                  <a:srgbClr val="1F2D3A"/>
                </a:solidFill>
              </a:rPr>
              <a:t> ve doğru taraftan geldi.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HMAC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fonksiyonuna dayalı MAC (</a:t>
            </a:r>
            <a:r>
              <a:rPr sz="2000" b="0">
                <a:solidFill>
                  <a:srgbClr val="A1123F"/>
                </a:solidFill>
                <a:latin typeface="Consolas"/>
              </a:rPr>
              <a:t>HMAC-SHA256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Simetrik anahtar; iki taraf aynı anahtarı 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karşılaştırmayla.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HMAC-SHA-256 · gerçek çıktı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ödeme talimatının HMAC'ini hesaplayalım (32 baytlık anahtar, yalnız gösterim için sabit):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printf 'tutar=100;alici=TR00' |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openssl dgst -sha256 -mac HMAC -macopt hexkey:$ANAHTAR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677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SHA2-256(stdin)= a08fb115...c5f9a1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HMAC-SHA-256 · çığ etkisi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anahtarla, yalnız tutarı değiştirelim (</a:t>
            </a:r>
            <a:r>
              <a:rPr sz="2000" b="0">
                <a:solidFill>
                  <a:srgbClr val="A1123F"/>
                </a:solidFill>
                <a:latin typeface="Consolas"/>
              </a:rPr>
              <a:t>100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900</a:t>
            </a:r>
            <a:r>
              <a:rPr sz="2000" b="0">
                <a:solidFill>
                  <a:srgbClr val="1F2D3A"/>
                </a:solidFill>
              </a:rPr>
              <a:t>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SHA2-256(stdin)= 8a786eac...91a46be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karakterlik değişiklik (</a:t>
            </a:r>
            <a:r>
              <a:rPr sz="2000" b="0">
                <a:solidFill>
                  <a:srgbClr val="A1123F"/>
                </a:solidFill>
                <a:latin typeface="Consolas"/>
              </a:rPr>
              <a:t>1</a:t>
            </a:r>
            <a:r>
              <a:rPr sz="2000" b="0">
                <a:solidFill>
                  <a:srgbClr val="1F2D3A"/>
                </a:solidFill>
              </a:rPr>
              <a:t>→</a:t>
            </a:r>
            <a:r>
              <a:rPr sz="2000" b="0">
                <a:solidFill>
                  <a:srgbClr val="A1123F"/>
                </a:solidFill>
                <a:latin typeface="Consolas"/>
              </a:rPr>
              <a:t>9</a:t>
            </a:r>
            <a:r>
              <a:rPr sz="2000" b="0">
                <a:solidFill>
                  <a:srgbClr val="1F2D3A"/>
                </a:solidFill>
              </a:rPr>
              <a:t>), etiketin </a:t>
            </a:r>
            <a:r>
              <a:rPr sz="2000" b="1">
                <a:solidFill>
                  <a:srgbClr val="1F2D3A"/>
                </a:solidFill>
              </a:rPr>
              <a:t>tamamen farklı</a:t>
            </a:r>
            <a:r>
              <a:rPr sz="2000" b="0">
                <a:solidFill>
                  <a:srgbClr val="1F2D3A"/>
                </a:solidFill>
              </a:rPr>
              <a:t> çıkmasına yol açtı — buna </a:t>
            </a:r>
            <a:r>
              <a:rPr sz="2000" b="1">
                <a:solidFill>
                  <a:srgbClr val="1F2D3A"/>
                </a:solidFill>
              </a:rPr>
              <a:t>çığ etkisi</a:t>
            </a:r>
            <a:r>
              <a:rPr sz="2000" b="0">
                <a:solidFill>
                  <a:srgbClr val="1F2D3A"/>
                </a:solidFill>
              </a:rPr>
              <a:t> (avalanche effect) denir. Saldırgan anahtarı bilmeden geçerli bir yeni etiket üretemez; alıcı uyuşmazlığı yakalar.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Sabit zamanlı karşılaştırma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YANLIS: ilk farkta durur, sure farki sizdirir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(memcmp(hesaplanan, gelen, 32) == 0) { /* kabul */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DOGRU: her zaman 32 baytin tamamini gezer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(CRYPTO_memcmp(hesaplanan, gelen, 32) == 0) { /* kabul */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MAC/imza/parola özeti gibi gizli değerleri </a:t>
            </a:r>
            <a:r>
              <a:rPr sz="2000" b="1">
                <a:solidFill>
                  <a:srgbClr val="1F2D3A"/>
                </a:solidFill>
              </a:rPr>
              <a:t>her zaman</a:t>
            </a:r>
            <a:r>
              <a:rPr sz="2000" b="0">
                <a:solidFill>
                  <a:srgbClr val="1F2D3A"/>
                </a:solidFill>
              </a:rPr>
              <a:t> sabit zamanlı karşılaştırın;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==</a:t>
            </a:r>
            <a:r>
              <a:rPr sz="2000" b="0">
                <a:solidFill>
                  <a:srgbClr val="1F2D3A"/>
                </a:solidFill>
              </a:rPr>
              <a:t> bir zamanlama saldırısına açık kapı bırakır.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Encrypt-then-MAC — şema</a:t>
            </a:r>
          </a:p>
        </p:txBody>
      </p:sp>
      <p:pic>
        <p:nvPicPr>
          <p:cNvPr id="7" name="Picture 6" descr="h10-01-encrypt-then-m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58776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sıra · encrypt-then-MAC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1. şifrele:  c = ENC(k1, m)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2. MAC'le:   t = MAC(k2, c)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3. gönder:   c ||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şifrele,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şifreli metni MAC'le.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 geçmezse </a:t>
            </a:r>
            <a:r>
              <a:rPr sz="2000" b="1">
                <a:solidFill>
                  <a:srgbClr val="1F2D3A"/>
                </a:solidFill>
              </a:rPr>
              <a:t>çözmeye bile kalkma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Yanlış sıralar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MAC-then-encrypt:</a:t>
            </a:r>
            <a:r>
              <a:rPr sz="2000" b="0">
                <a:solidFill>
                  <a:srgbClr val="1F2D3A"/>
                </a:solidFill>
              </a:rPr>
              <a:t> dolgu kâhinine açık.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Encrypt-and-MAC:</a:t>
            </a:r>
            <a:r>
              <a:rPr sz="2000" b="0">
                <a:solidFill>
                  <a:srgbClr val="1F2D3A"/>
                </a:solidFill>
              </a:rPr>
              <a:t> MAC düz metni sızdırabilir.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</a:t>
            </a:r>
            <a:r>
              <a:rPr sz="2000" b="1">
                <a:solidFill>
                  <a:srgbClr val="1F2D3A"/>
                </a:solidFill>
              </a:rPr>
              <a:t>encrypt-then-MAC</a:t>
            </a:r>
            <a:r>
              <a:rPr sz="2000" b="0">
                <a:solidFill>
                  <a:srgbClr val="1F2D3A"/>
                </a:solidFill>
              </a:rPr>
              <a:t> (ya da AEAD, zaten böyle yapar).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Yeniden oynatma (replay)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geçerli bir mesajı </a:t>
            </a:r>
            <a:r>
              <a:rPr sz="2000" b="1">
                <a:solidFill>
                  <a:srgbClr val="1F2D3A"/>
                </a:solidFill>
              </a:rPr>
              <a:t>tekrar</a:t>
            </a:r>
            <a:r>
              <a:rPr sz="2000" b="0">
                <a:solidFill>
                  <a:srgbClr val="1F2D3A"/>
                </a:solidFill>
              </a:rPr>
              <a:t> gönderir.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 geçerli (mesaj değişmedi) ama işlem </a:t>
            </a:r>
            <a:r>
              <a:rPr sz="2000" b="1">
                <a:solidFill>
                  <a:srgbClr val="1F2D3A"/>
                </a:solidFill>
              </a:rPr>
              <a:t>tekrarlanır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</a:t>
            </a:r>
            <a:r>
              <a:rPr sz="2000" b="1">
                <a:solidFill>
                  <a:srgbClr val="1F2D3A"/>
                </a:solidFill>
              </a:rPr>
              <a:t>nonce</a:t>
            </a:r>
            <a:r>
              <a:rPr sz="2000" b="0">
                <a:solidFill>
                  <a:srgbClr val="1F2D3A"/>
                </a:solidFill>
              </a:rPr>
              <a:t>, zaman damgası, sayaç.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 hepsini yapar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AES-GCM: şifreleme + bütünlük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"İlişkili veri" (AAD) ile başlık/bağlamı da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tercih: ayrı MAC yerine AEAD.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· MAC/HMAC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Bütünlüğü </a:t>
            </a:r>
            <a:r>
              <a:rPr sz="2000" b="1">
                <a:solidFill>
                  <a:srgbClr val="1F2D3A"/>
                </a:solidFill>
              </a:rPr>
              <a:t>HMAC</a:t>
            </a:r>
            <a:r>
              <a:rPr sz="2000" b="0">
                <a:solidFill>
                  <a:srgbClr val="1F2D3A"/>
                </a:solidFill>
              </a:rPr>
              <a:t> ile sağlayın; düz </a:t>
            </a:r>
            <a:r>
              <a:rPr sz="2000" b="0">
                <a:solidFill>
                  <a:srgbClr val="A1123F"/>
                </a:solidFill>
                <a:latin typeface="Consolas"/>
              </a:rPr>
              <a:t>H(K‖m)</a:t>
            </a:r>
            <a:r>
              <a:rPr sz="2000" b="0">
                <a:solidFill>
                  <a:srgbClr val="1F2D3A"/>
                </a:solidFill>
              </a:rPr>
              <a:t> değil (uzunluk uzatma riski).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Şifreleme + MAC birleşiminde sıra </a:t>
            </a:r>
            <a:r>
              <a:rPr sz="2000" b="1">
                <a:solidFill>
                  <a:srgbClr val="1F2D3A"/>
                </a:solidFill>
              </a:rPr>
              <a:t>önce şifrele, sonra MAC (encrypt-then-MAC)</a:t>
            </a:r>
            <a:r>
              <a:rPr sz="2000" b="0">
                <a:solidFill>
                  <a:srgbClr val="1F2D3A"/>
                </a:solidFill>
              </a:rPr>
              <a:t>'tir.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Etiket/imza karşılaştırması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olmalı; erken çıkışlı fonksiyon kullanmayın.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Asimetrik: RSA ve ECC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↔ asimetrik — şema</a:t>
            </a:r>
          </a:p>
        </p:txBody>
      </p:sp>
      <p:pic>
        <p:nvPicPr>
          <p:cNvPr id="7" name="Picture 6" descr="h10-05-simetrik-asimetr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973793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OAEP / PSS — şema</a:t>
            </a:r>
          </a:p>
        </p:txBody>
      </p:sp>
      <p:pic>
        <p:nvPicPr>
          <p:cNvPr id="7" name="Picture 6" descr="h10-09-oaep-p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92232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 · iki iş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Şifreleme:</a:t>
            </a:r>
            <a:r>
              <a:rPr sz="2000" b="0">
                <a:solidFill>
                  <a:srgbClr val="1F2D3A"/>
                </a:solidFill>
              </a:rPr>
              <a:t> açık anahtarla şifrele, gizli anahtarla çöz.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gizli anahtarla imzala, açık anahtarla doğrula.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anahtarlar (2048+).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 · dolgu şart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Ham RSA </a:t>
            </a:r>
            <a:r>
              <a:rPr sz="2000" b="1">
                <a:solidFill>
                  <a:srgbClr val="1F2D3A"/>
                </a:solidFill>
              </a:rPr>
              <a:t>güvensizdir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 için:</a:t>
            </a:r>
            <a:r>
              <a:rPr sz="2000" b="0">
                <a:solidFill>
                  <a:srgbClr val="1F2D3A"/>
                </a:solidFill>
              </a:rPr>
              <a:t> OAEP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 için:</a:t>
            </a:r>
            <a:r>
              <a:rPr sz="2000" b="0">
                <a:solidFill>
                  <a:srgbClr val="1F2D3A"/>
                </a:solidFill>
              </a:rPr>
              <a:t> PSS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Eski PKCS#1 v1.5: mümkünse kaçın.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OAEP vs PSS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OAEP:</a:t>
            </a:r>
            <a:r>
              <a:rPr sz="2000" b="0">
                <a:solidFill>
                  <a:srgbClr val="1F2D3A"/>
                </a:solidFill>
              </a:rPr>
              <a:t> RSA </a:t>
            </a:r>
            <a:r>
              <a:rPr sz="2000" b="1">
                <a:solidFill>
                  <a:srgbClr val="1F2D3A"/>
                </a:solidFill>
              </a:rPr>
              <a:t>şifreleme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PSS:</a:t>
            </a:r>
            <a:r>
              <a:rPr sz="2000" b="0">
                <a:solidFill>
                  <a:srgbClr val="1F2D3A"/>
                </a:solidFill>
              </a:rPr>
              <a:t> RSA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Karıştırma: OAEP imza için değil, PSS şifreleme için değil.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OAEP'in rastgeleliği · komut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mesajı iki kez OAEP ile şifreleyelim: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pkeyutl -encrypt -pubin -inkey rsa_acik.pem -in kisa.txt -out c1.bin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-pkeyopt rsa_padding_mode:oaep -pkeyopt rsa_oaep_md:sha256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pkeyutl -encrypt -pubin -inkey rsa_acik.pem -in kisa.txt -out c2.bin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-pkeyopt rsa_padding_mode:oaep -pkeyopt rsa_oaep_md:sha256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cmp c1.bin c2.bin &amp;&amp; echo AYNI || echo FARKLI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OAEP'in rastgeleliği · sonuç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c1.bin c2.bin differ: char 1, line 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FARKLI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anahtar, aynı düz metin, ama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şifreli metin — OAEP her şifrelemede yeni bir rastgele değer karıştırır. </a:t>
            </a:r>
            <a:r>
              <a:rPr sz="2000" b="1">
                <a:solidFill>
                  <a:srgbClr val="1F2D3A"/>
                </a:solidFill>
              </a:rPr>
              <a:t>Ham RSA</a:t>
            </a:r>
            <a:r>
              <a:rPr sz="2000" b="0">
                <a:solidFill>
                  <a:srgbClr val="1F2D3A"/>
                </a:solidFill>
              </a:rPr>
              <a:t> (dolgusuz) deterministiktir (</a:t>
            </a:r>
            <a:r>
              <a:rPr sz="2000" b="0">
                <a:solidFill>
                  <a:srgbClr val="A1123F"/>
                </a:solidFill>
                <a:latin typeface="Consolas"/>
              </a:rPr>
              <a:t>c = m^e mod n</a:t>
            </a:r>
            <a:r>
              <a:rPr sz="2000" b="0">
                <a:solidFill>
                  <a:srgbClr val="1F2D3A"/>
                </a:solidFill>
              </a:rPr>
              <a:t>); bu yüzden hiçbir zaman doğrudan şifreleme için kullanılmaz.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ECC · neden?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güvenlik, </a:t>
            </a:r>
            <a:r>
              <a:rPr sz="2000" b="1">
                <a:solidFill>
                  <a:srgbClr val="1F2D3A"/>
                </a:solidFill>
              </a:rPr>
              <a:t>daha küçük</a:t>
            </a:r>
            <a:r>
              <a:rPr sz="2000" b="0">
                <a:solidFill>
                  <a:srgbClr val="1F2D3A"/>
                </a:solidFill>
              </a:rPr>
              <a:t> anahtar (256-bit ≈ RSA-3072).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hızlı, daha az yer.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Mobil/gömülü için ideal.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Ed25519 ve X25519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Ed25519:</a:t>
            </a:r>
            <a:r>
              <a:rPr sz="2000" b="0">
                <a:solidFill>
                  <a:srgbClr val="1F2D3A"/>
                </a:solidFill>
              </a:rPr>
              <a:t> modern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algoritması.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X25519:</a:t>
            </a:r>
            <a:r>
              <a:rPr sz="2000" b="0">
                <a:solidFill>
                  <a:srgbClr val="1F2D3A"/>
                </a:solidFill>
              </a:rPr>
              <a:t> modern </a:t>
            </a:r>
            <a:r>
              <a:rPr sz="2000" b="1">
                <a:solidFill>
                  <a:srgbClr val="1F2D3A"/>
                </a:solidFill>
              </a:rPr>
              <a:t>anahtar anlaşması</a:t>
            </a:r>
            <a:r>
              <a:rPr sz="2000" b="0">
                <a:solidFill>
                  <a:srgbClr val="1F2D3A"/>
                </a:solidFill>
              </a:rPr>
              <a:t> (DH).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Karıştırma: Ed25519 imza, X25519 anahtar.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RSA-3072 ile Ed25519 · ölçüm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ikisi de ~128 bit güvenlik düzeyinde (bkz. Bölüm 1 tablosu):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wc -c rsa_acik.pem ed_acik.pem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wc -c belge.rsa.sig belge.ed.sig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RSA-3072 ile Ed25519 · sonuç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365508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896"/>
                <a:gridCol w="2182306"/>
                <a:gridCol w="2182306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Dosya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RSA-3072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Açık anahtar (PEM)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636 bayt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116 bayt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384 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64 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6151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Açık anahtar </a:t>
            </a:r>
            <a:r>
              <a:rPr sz="2000" b="1">
                <a:solidFill>
                  <a:srgbClr val="1F2D3A"/>
                </a:solidFill>
              </a:rPr>
              <a:t>~5,5 kat</a:t>
            </a:r>
            <a:r>
              <a:rPr sz="2000" b="0">
                <a:solidFill>
                  <a:srgbClr val="1F2D3A"/>
                </a:solidFill>
              </a:rPr>
              <a:t>, imza </a:t>
            </a:r>
            <a:r>
              <a:rPr sz="2000" b="1">
                <a:solidFill>
                  <a:srgbClr val="1F2D3A"/>
                </a:solidFill>
              </a:rPr>
              <a:t>6 kat</a:t>
            </a:r>
            <a:r>
              <a:rPr sz="2000" b="0">
                <a:solidFill>
                  <a:srgbClr val="1F2D3A"/>
                </a:solidFill>
              </a:rPr>
              <a:t> küçük. IoT/mobil el sıkışmalarında, gömülü flash'ta ya da blok zincirinde bu fark birikerek büyür.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+ asimetrik birlikte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1. X25519 ile ortak sır türet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2. Ondan bir AES anahtarı çıkar (KDF)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3. AES-GCM ile veriyi şifrele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Asimetrik: anahtar taşı. Simetrik: veri şifrele.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bunu yapar.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Encrypt-then-MAC neden doğru sıra?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Yeniden oynatma nasıl engellenir?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OAEP ve PSS hangisi ne için?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Ed25519 ve X25519 farkı?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Alıcı </a:t>
            </a:r>
            <a:r>
              <a:rPr sz="2000" b="1">
                <a:solidFill>
                  <a:srgbClr val="1F2D3A"/>
                </a:solidFill>
              </a:rPr>
              <a:t>önce MAC'i</a:t>
            </a:r>
            <a:r>
              <a:rPr sz="2000" b="0">
                <a:solidFill>
                  <a:srgbClr val="1F2D3A"/>
                </a:solidFill>
              </a:rPr>
              <a:t> doğrular, geçmezse çözmez → değiştirilmiş metin hiç işlenmez (dolgu kâhini kapanır).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Tazelik:</a:t>
            </a:r>
            <a:r>
              <a:rPr sz="2000" b="0">
                <a:solidFill>
                  <a:srgbClr val="1F2D3A"/>
                </a:solidFill>
              </a:rPr>
              <a:t> nonce/sayaç, zaman damgası + pencere, tek-kullanımlık challenge.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OAEP</a:t>
            </a:r>
            <a:r>
              <a:rPr sz="2000" b="0">
                <a:solidFill>
                  <a:srgbClr val="1F2D3A"/>
                </a:solidFill>
              </a:rPr>
              <a:t> = RSA </a:t>
            </a:r>
            <a:r>
              <a:rPr sz="2000" b="1">
                <a:solidFill>
                  <a:srgbClr val="1F2D3A"/>
                </a:solidFill>
              </a:rPr>
              <a:t>şifreleme</a:t>
            </a:r>
            <a:r>
              <a:rPr sz="2000" b="0">
                <a:solidFill>
                  <a:srgbClr val="1F2D3A"/>
                </a:solidFill>
              </a:rPr>
              <a:t> dolgusu; </a:t>
            </a:r>
            <a:r>
              <a:rPr sz="2000" b="1">
                <a:solidFill>
                  <a:srgbClr val="1F2D3A"/>
                </a:solidFill>
              </a:rPr>
              <a:t>PSS</a:t>
            </a:r>
            <a:r>
              <a:rPr sz="2000" b="0">
                <a:solidFill>
                  <a:srgbClr val="1F2D3A"/>
                </a:solidFill>
              </a:rPr>
              <a:t> = RSA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Ed25519</a:t>
            </a:r>
            <a:r>
              <a:rPr sz="2000" b="0">
                <a:solidFill>
                  <a:srgbClr val="1F2D3A"/>
                </a:solidFill>
              </a:rPr>
              <a:t> = imza (EdDSA); </a:t>
            </a:r>
            <a:r>
              <a:rPr sz="2000" b="1">
                <a:solidFill>
                  <a:srgbClr val="1F2D3A"/>
                </a:solidFill>
              </a:rPr>
              <a:t>X25519</a:t>
            </a:r>
            <a:r>
              <a:rPr sz="2000" b="0">
                <a:solidFill>
                  <a:srgbClr val="1F2D3A"/>
                </a:solidFill>
              </a:rPr>
              <a:t> = anahtar değişimi (ECDH). Aynı eğri ailesi, farklı iş.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Dijital imza ve tuzakları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Dijital imza — şema</a:t>
            </a:r>
          </a:p>
        </p:txBody>
      </p:sp>
      <p:pic>
        <p:nvPicPr>
          <p:cNvPr id="7" name="Picture 6" descr="h10-10-imz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614349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ne sağlar?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Bütünlük:</a:t>
            </a:r>
            <a:r>
              <a:rPr sz="2000" b="0">
                <a:solidFill>
                  <a:srgbClr val="1F2D3A"/>
                </a:solidFill>
              </a:rPr>
              <a:t> mesaj değişmedi.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Kimlik/inkâr edilemezlik:</a:t>
            </a:r>
            <a:r>
              <a:rPr sz="2000" b="0">
                <a:solidFill>
                  <a:srgbClr val="1F2D3A"/>
                </a:solidFill>
              </a:rPr>
              <a:t> gizli anahtar sahibi imzaladı.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açık anahtarla, herkes yapabilir.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nerede kullanılır?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Yazılım/güncelleme imzalama.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Sertifikalar (CA imzası).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Belge/işlem imzalama.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TLS'te sunucu kimliği (CertificateVerify).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1 · dönüş değerini denetlememek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r = EVP_DigestVerify(ctx, imza, n, veri, m);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(r) guncellemeyi_kur();   /* HATALI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Negatif hata değeri de "doğru" sayılır. Doğrusu: </a:t>
            </a:r>
            <a:r>
              <a:rPr sz="2000" b="0">
                <a:solidFill>
                  <a:srgbClr val="A1123F"/>
                </a:solidFill>
                <a:latin typeface="Consolas"/>
              </a:rPr>
              <a:t>r == 1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2 · sürümü imzaya katmamak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yalnız içeriği kapsıyorsa, saldırgan </a:t>
            </a:r>
            <a:r>
              <a:rPr sz="2000" b="1">
                <a:solidFill>
                  <a:srgbClr val="1F2D3A"/>
                </a:solidFill>
              </a:rPr>
              <a:t>eski</a:t>
            </a:r>
            <a:r>
              <a:rPr sz="2000" b="0">
                <a:solidFill>
                  <a:srgbClr val="1F2D3A"/>
                </a:solidFill>
              </a:rPr>
              <a:t> ama geçerli imzalı sürümü yükleyebilir (downgrade).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İmzalı içerik </a:t>
            </a:r>
            <a:r>
              <a:rPr sz="2000" b="1">
                <a:solidFill>
                  <a:srgbClr val="1F2D3A"/>
                </a:solidFill>
              </a:rPr>
              <a:t>sürüm numarasını</a:t>
            </a:r>
            <a:r>
              <a:rPr sz="2000" b="0">
                <a:solidFill>
                  <a:srgbClr val="1F2D3A"/>
                </a:solidFill>
              </a:rPr>
              <a:t> da kapsamalı; eski sürüm reddedilmeli.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3 · yanlış anahtarla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anahtarı güvenilir mi? Nereden geldi?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Saldırganın anahtarıyla doğrularsanız, onun imzası "geçerli"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1">
                <a:solidFill>
                  <a:srgbClr val="1F2D3A"/>
                </a:solidFill>
              </a:rPr>
              <a:t>sabitlenmeli</a:t>
            </a:r>
            <a:r>
              <a:rPr sz="2000" b="0">
                <a:solidFill>
                  <a:srgbClr val="1F2D3A"/>
                </a:solidFill>
              </a:rPr>
              <a:t> ya da güvenilir zincirden gelmeli.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özet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aslında </a:t>
            </a:r>
            <a:r>
              <a:rPr sz="2000" b="1">
                <a:solidFill>
                  <a:srgbClr val="1F2D3A"/>
                </a:solidFill>
              </a:rPr>
              <a:t>özetin</a:t>
            </a:r>
            <a:r>
              <a:rPr sz="2000" b="0">
                <a:solidFill>
                  <a:srgbClr val="1F2D3A"/>
                </a:solidFill>
              </a:rPr>
              <a:t> imzalanmasıdır.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Zayıf özet (MD5/SHA-1) → imza zayıf.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SHA-256+ kullan.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Diffie–Hellman ve MITM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DH ·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taraf, gizli anahtar </a:t>
            </a:r>
            <a:r>
              <a:rPr sz="2000" b="1">
                <a:solidFill>
                  <a:srgbClr val="1F2D3A"/>
                </a:solidFill>
              </a:rPr>
              <a:t>paylaşmadan</a:t>
            </a:r>
            <a:r>
              <a:rPr sz="2000" b="0">
                <a:solidFill>
                  <a:srgbClr val="1F2D3A"/>
                </a:solidFill>
              </a:rPr>
              <a:t> ortak bir sır türetir.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 üzerinden anahtar anlaşması.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hali: X25519.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DH · adım adım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Ali:  a gizli, A = g^a açık gönderir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Veli: b gizli, B = g^b açık gönderir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Ortak sır: A^b = B^a = g^(ab)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Dinleyen </a:t>
            </a:r>
            <a:r>
              <a:rPr sz="2000" b="0">
                <a:solidFill>
                  <a:srgbClr val="A1123F"/>
                </a:solidFill>
                <a:latin typeface="Consolas"/>
              </a:rPr>
              <a:t>g^a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g^b</a:t>
            </a:r>
            <a:r>
              <a:rPr sz="2000" b="0">
                <a:solidFill>
                  <a:srgbClr val="1F2D3A"/>
                </a:solidFill>
              </a:rPr>
              <a:t> görür ama </a:t>
            </a:r>
            <a:r>
              <a:rPr sz="2000" b="0">
                <a:solidFill>
                  <a:srgbClr val="A1123F"/>
                </a:solidFill>
                <a:latin typeface="Consolas"/>
              </a:rPr>
              <a:t>g^(ab)</a:t>
            </a:r>
            <a:r>
              <a:rPr sz="2000" b="0">
                <a:solidFill>
                  <a:srgbClr val="1F2D3A"/>
                </a:solidFill>
              </a:rPr>
              <a:t>'yi hesaplayamaz.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X25519 · iki tarafın aynı sırra ulaşması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genpkey -algorithm X25519 -out alice.key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genpkey -algorithm X25519 -out bob.key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pkey -in alice.key -pubout -out alice.pub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pkey -in bob.key -pubout -out bob.pub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pkeyutl -derive -inkey alice.key -peerkey bob.pub -out alice_sir.bin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pkeyutl -derive -inkey bob.key -peerkey alice.pub -out bob_sir.bin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X25519 · sonuç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8c53744a000c1a6f...bbc1376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8c53744a000c1a6f...bbc1376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AYNI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14305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Alice ve Bob, birbirinin </a:t>
            </a:r>
            <a:r>
              <a:rPr sz="2000" b="1">
                <a:solidFill>
                  <a:srgbClr val="1F2D3A"/>
                </a:solidFill>
              </a:rPr>
              <a:t>hiç görmediği</a:t>
            </a:r>
            <a:r>
              <a:rPr sz="2000" b="0">
                <a:solidFill>
                  <a:srgbClr val="1F2D3A"/>
                </a:solidFill>
              </a:rPr>
              <a:t> özel anahtarını bilmeden, ağdan yalnız açık anahtarları geçirerek </a:t>
            </a:r>
            <a:r>
              <a:rPr sz="2000" b="1">
                <a:solidFill>
                  <a:srgbClr val="1F2D3A"/>
                </a:solidFill>
              </a:rPr>
              <a:t>aynı</a:t>
            </a:r>
            <a:r>
              <a:rPr sz="2000" b="0">
                <a:solidFill>
                  <a:srgbClr val="1F2D3A"/>
                </a:solidFill>
              </a:rPr>
              <a:t> 32 baytlık sırra ulaştı. Bu ham sır doğrudan AES anahtarı olarak kullanılmaz; önce bir </a:t>
            </a:r>
            <a:r>
              <a:rPr sz="2000" b="1">
                <a:solidFill>
                  <a:srgbClr val="1F2D3A"/>
                </a:solidFill>
              </a:rPr>
              <a:t>KDF</a:t>
            </a:r>
            <a:r>
              <a:rPr sz="2000" b="0">
                <a:solidFill>
                  <a:srgbClr val="1F2D3A"/>
                </a:solidFill>
              </a:rPr>
              <a:t>'den (HKDF) geçirilip oturum anahtarları türetilir.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Kimliksiz DH · MITM riski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Ali ve Veli birbirinin kim olduğunu </a:t>
            </a:r>
            <a:r>
              <a:rPr sz="2000" b="1">
                <a:solidFill>
                  <a:srgbClr val="1F2D3A"/>
                </a:solidFill>
              </a:rPr>
              <a:t>doğrulamıyorsa</a:t>
            </a:r>
            <a:r>
              <a:rPr sz="2000" b="0">
                <a:solidFill>
                  <a:srgbClr val="1F2D3A"/>
                </a:solidFill>
              </a:rPr>
              <a:t>...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araya girer</a:t>
            </a:r>
            <a:r>
              <a:rPr sz="2000" b="0">
                <a:solidFill>
                  <a:srgbClr val="1F2D3A"/>
                </a:solidFill>
              </a:rPr>
              <a:t>: Ali ile ayrı, Veli ile ayrı DH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İkisini de dinler/değiştirir.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Kimliksiz DH · MITM — şema</a:t>
            </a:r>
          </a:p>
        </p:txBody>
      </p:sp>
      <p:pic>
        <p:nvPicPr>
          <p:cNvPr id="7" name="Picture 6" descr="h10-02-dh-mit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5829" y="1325880"/>
            <a:ext cx="5680037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MITM · şema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Ali ↔ [Saldırgan] ↔ Veli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iki ayrı DH; saldırgan ortada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iki taraf "güvenli kanal kurdum" sanır.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 · kimlikli DH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DH değerleri, kimliği bilinen bir anahtarla </a:t>
            </a:r>
            <a:r>
              <a:rPr sz="2000" b="1">
                <a:solidFill>
                  <a:srgbClr val="1F2D3A"/>
                </a:solidFill>
              </a:rPr>
              <a:t>imzalanır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1.3'te </a:t>
            </a:r>
            <a:r>
              <a:rPr sz="2000" b="0">
                <a:solidFill>
                  <a:srgbClr val="A1123F"/>
                </a:solidFill>
                <a:latin typeface="Consolas"/>
              </a:rPr>
              <a:t>CertificateVerify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 taraf bu kimliği </a:t>
            </a:r>
            <a:r>
              <a:rPr sz="2000" b="1">
                <a:solidFill>
                  <a:srgbClr val="1F2D3A"/>
                </a:solidFill>
              </a:rPr>
              <a:t>doğrular</a:t>
            </a:r>
            <a:r>
              <a:rPr sz="2000" b="0">
                <a:solidFill>
                  <a:srgbClr val="1F2D3A"/>
                </a:solidFill>
              </a:rPr>
              <a:t> (sertifika zinciri).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 gizlilik (forward secrecy)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oturum için </a:t>
            </a:r>
            <a:r>
              <a:rPr sz="2000" b="1">
                <a:solidFill>
                  <a:srgbClr val="1F2D3A"/>
                </a:solidFill>
              </a:rPr>
              <a:t>yeni</a:t>
            </a:r>
            <a:r>
              <a:rPr sz="2000" b="0">
                <a:solidFill>
                  <a:srgbClr val="1F2D3A"/>
                </a:solidFill>
              </a:rPr>
              <a:t> DH anahtarı.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vadeli anahtar sızsa bile </a:t>
            </a:r>
            <a:r>
              <a:rPr sz="2000" b="1">
                <a:solidFill>
                  <a:srgbClr val="1F2D3A"/>
                </a:solidFill>
              </a:rPr>
              <a:t>eski</a:t>
            </a:r>
            <a:r>
              <a:rPr sz="2000" b="0">
                <a:solidFill>
                  <a:srgbClr val="1F2D3A"/>
                </a:solidFill>
              </a:rPr>
              <a:t> oturumlar çözülemez.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TLS bunu sağlar.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İmza doğrulamada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(r)</a:t>
            </a:r>
            <a:r>
              <a:rPr sz="2000" b="0">
                <a:solidFill>
                  <a:srgbClr val="1F2D3A"/>
                </a:solidFill>
              </a:rPr>
              <a:t> neden hatalı?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Sürüm imzaya neden katılmalı?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Kimliksiz DH'ye MITM nasıl olur? Çözüm?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İleri gizlilik ne sağlar?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Doğrulama 1=başarı, 0=başarısız, &lt;0=hata döndürür;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(r)</a:t>
            </a:r>
            <a:r>
              <a:rPr sz="2000" b="0">
                <a:solidFill>
                  <a:srgbClr val="1F2D3A"/>
                </a:solidFill>
              </a:rPr>
              <a:t> hatayı (−1) da "doğru" sayar. </a:t>
            </a:r>
            <a:r>
              <a:rPr sz="2000" b="1">
                <a:solidFill>
                  <a:srgbClr val="1F2D3A"/>
                </a:solidFill>
              </a:rPr>
              <a:t>`r == 1`</a:t>
            </a:r>
            <a:r>
              <a:rPr sz="2000" b="0">
                <a:solidFill>
                  <a:srgbClr val="1F2D3A"/>
                </a:solidFill>
              </a:rPr>
              <a:t> kontrol edin.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Aksi halde saldırgan </a:t>
            </a:r>
            <a:r>
              <a:rPr sz="2000" b="1">
                <a:solidFill>
                  <a:srgbClr val="1F2D3A"/>
                </a:solidFill>
              </a:rPr>
              <a:t>eski/güvensiz sürümü</a:t>
            </a:r>
            <a:r>
              <a:rPr sz="2000" b="0">
                <a:solidFill>
                  <a:srgbClr val="1F2D3A"/>
                </a:solidFill>
              </a:rPr>
              <a:t> aynı imzayla "geçerli" gösterir (downgrade). Sürüm imzalı veriye dahil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Ortadaki her iki tarafla ayrı anahtar kurar. Çözüm: DH'yi </a:t>
            </a:r>
            <a:r>
              <a:rPr sz="2000" b="1">
                <a:solidFill>
                  <a:srgbClr val="1F2D3A"/>
                </a:solidFill>
              </a:rPr>
              <a:t>kimlik doğrulamayla</a:t>
            </a:r>
            <a:r>
              <a:rPr sz="2000" b="0">
                <a:solidFill>
                  <a:srgbClr val="1F2D3A"/>
                </a:solidFill>
              </a:rPr>
              <a:t> bağla (imzalı DH / sertifika).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Her oturum </a:t>
            </a:r>
            <a:r>
              <a:rPr sz="2000" b="1">
                <a:solidFill>
                  <a:srgbClr val="1F2D3A"/>
                </a:solidFill>
              </a:rPr>
              <a:t>geçici (ephemeral)</a:t>
            </a:r>
            <a:r>
              <a:rPr sz="2000" b="0">
                <a:solidFill>
                  <a:srgbClr val="1F2D3A"/>
                </a:solidFill>
              </a:rPr>
              <a:t> anahtar; uzun vadeli anahtar sızsa bile </a:t>
            </a:r>
            <a:r>
              <a:rPr sz="2000" b="1">
                <a:solidFill>
                  <a:srgbClr val="1F2D3A"/>
                </a:solidFill>
              </a:rPr>
              <a:t>geçmiş oturumlar</a:t>
            </a:r>
            <a:r>
              <a:rPr sz="2000" b="0">
                <a:solidFill>
                  <a:srgbClr val="1F2D3A"/>
                </a:solidFill>
              </a:rPr>
              <a:t> çözülemez.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Açık anahtar altyapısı (PKI)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kime güveneceğiz?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açık anahtar gördünüz. Gerçekten o kişiye/siteye mi ait?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niyetli biri kendi anahtarını "banka" diye sunabilir.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PKI bu güven sorununu çözer.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 zinciri</a:t>
            </a:r>
          </a:p>
        </p:txBody>
      </p:sp>
      <p:pic>
        <p:nvPicPr>
          <p:cNvPr id="7" name="Picture 6" descr="h10-03-p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5232" y="1325880"/>
            <a:ext cx="6441231" cy="42783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13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seviye bir alttakini </a:t>
            </a:r>
            <a:r>
              <a:rPr sz="2000" b="1">
                <a:solidFill>
                  <a:srgbClr val="1F2D3A"/>
                </a:solidFill>
              </a:rPr>
              <a:t>imzalar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Zincir doğrulama — şema</a:t>
            </a:r>
          </a:p>
        </p:txBody>
      </p:sp>
      <p:pic>
        <p:nvPicPr>
          <p:cNvPr id="7" name="Picture 6" descr="h10-12-zincir-dogru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602532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ve ara 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Kök CA:</a:t>
            </a:r>
            <a:r>
              <a:rPr sz="2000" b="0">
                <a:solidFill>
                  <a:srgbClr val="1F2D3A"/>
                </a:solidFill>
              </a:rPr>
              <a:t> çevrimdışı, kendini imzalar, çok korunur.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 CA:</a:t>
            </a:r>
            <a:r>
              <a:rPr sz="2000" b="0">
                <a:solidFill>
                  <a:srgbClr val="1F2D3A"/>
                </a:solidFill>
              </a:rPr>
              <a:t> günlük sertifikaları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sızarsa </a:t>
            </a:r>
            <a:r>
              <a:rPr sz="2000" b="1">
                <a:solidFill>
                  <a:srgbClr val="1F2D3A"/>
                </a:solidFill>
              </a:rPr>
              <a:t>felaket</a:t>
            </a:r>
            <a:r>
              <a:rPr sz="2000" b="0">
                <a:solidFill>
                  <a:srgbClr val="1F2D3A"/>
                </a:solidFill>
              </a:rPr>
              <a:t>; bu yüzden ara CA kullanılır.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 deposu (trust store)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İşletim sistemi/tarayıcı, güvenilen </a:t>
            </a:r>
            <a:r>
              <a:rPr sz="2000" b="1">
                <a:solidFill>
                  <a:srgbClr val="1F2D3A"/>
                </a:solidFill>
              </a:rPr>
              <a:t>kök CA'ları</a:t>
            </a:r>
            <a:r>
              <a:rPr sz="2000" b="0">
                <a:solidFill>
                  <a:srgbClr val="1F2D3A"/>
                </a:solidFill>
              </a:rPr>
              <a:t> taşır.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zincir bu köklerden birine ulaşırsa güvenilir.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Ulaşamıyorsa → güvenilmez.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sertifika zinciri doğrularken: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İmza</a:t>
            </a:r>
            <a:r>
              <a:rPr sz="2000" b="0">
                <a:solidFill>
                  <a:srgbClr val="1F2D3A"/>
                </a:solidFill>
              </a:rPr>
              <a:t> geçerli mi? (her seviye)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Zincir</a:t>
            </a:r>
            <a:r>
              <a:rPr sz="2000" b="0">
                <a:solidFill>
                  <a:srgbClr val="1F2D3A"/>
                </a:solidFill>
              </a:rPr>
              <a:t> güvenilir köke ulaşıyor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Süre</a:t>
            </a:r>
            <a:r>
              <a:rPr sz="2000" b="0">
                <a:solidFill>
                  <a:srgbClr val="1F2D3A"/>
                </a:solidFill>
              </a:rPr>
              <a:t> dolmamış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Ad</a:t>
            </a:r>
            <a:r>
              <a:rPr sz="2000" b="0">
                <a:solidFill>
                  <a:srgbClr val="1F2D3A"/>
                </a:solidFill>
              </a:rPr>
              <a:t> eşleşiyor mu (SAN)?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Dördü de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 · zincir (issuer/subject)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x509 -in sunucu.crt -noout -issuer -subject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x509 -in ara.crt    -noout -issuer -subject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x509 -in kok.crt    -noout -issuer -subject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6856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issuer=CN=...Ara CA   subject=CN=localhost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issuer=CN=...Kok CA   subject=CN=...Ara CA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issuer=CN=...Kok CA   subject=CN=...Kok 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27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Zincir okunur: </a:t>
            </a:r>
            <a:r>
              <a:rPr sz="2000" b="0">
                <a:solidFill>
                  <a:srgbClr val="A1123F"/>
                </a:solidFill>
                <a:latin typeface="Consolas"/>
              </a:rPr>
              <a:t>sunucu</a:t>
            </a:r>
            <a:r>
              <a:rPr sz="2000" b="0">
                <a:solidFill>
                  <a:srgbClr val="1F2D3A"/>
                </a:solidFill>
              </a:rPr>
              <a:t>'nun issuer'ı = </a:t>
            </a:r>
            <a:r>
              <a:rPr sz="2000" b="0">
                <a:solidFill>
                  <a:srgbClr val="A1123F"/>
                </a:solidFill>
                <a:latin typeface="Consolas"/>
              </a:rPr>
              <a:t>ara</a:t>
            </a:r>
            <a:r>
              <a:rPr sz="2000" b="0">
                <a:solidFill>
                  <a:srgbClr val="1F2D3A"/>
                </a:solidFill>
              </a:rPr>
              <a:t>'nın subject'i; kök </a:t>
            </a:r>
            <a:r>
              <a:rPr sz="2000" b="1">
                <a:solidFill>
                  <a:srgbClr val="1F2D3A"/>
                </a:solidFill>
              </a:rPr>
              <a:t>kendi kendini</a:t>
            </a:r>
            <a:r>
              <a:rPr sz="2000" b="0">
                <a:solidFill>
                  <a:srgbClr val="1F2D3A"/>
                </a:solidFill>
              </a:rPr>
              <a:t> imzalar.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 · geçerlilik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x509 -in sunucu.crt -noout -dates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x509 -in sunucu.crt -noout -checkend 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87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notBefore=Sep 23 2026 GMT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notAfter=Dec 22 2026 GMT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Certificate will not expire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3885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-checkend 0</a:t>
            </a:r>
            <a:r>
              <a:rPr sz="2000" b="0">
                <a:solidFill>
                  <a:srgbClr val="1F2D3A"/>
                </a:solidFill>
              </a:rPr>
              <a:t>: "şu an itibarıyla süresi doldu mu?" TLS istemcileri bunu her bağlantıda otomatik sorar.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 · kullanım (CA:TRUE/FALSE)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x509 -in sunucu.crt -noout -ext basicConstraints,keyUsage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x509 -in ara.crt    -noout -ext basicConstraints,keyUsage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87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sunucu.crt:  CA:FALSE            (baska sertifika imzalayamaz)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ara.crt:     CA:TRUE, pathlen:0  (yalniz uc sertifika imzalayabilir)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 · ad (SAN)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X509v3 Subject Alternative Name: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DNS:localhost, IP Address:127.0.0.1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İstemci bağlandığı adı bu listeyle karşılaştırır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Subject</a:t>
            </a:r>
            <a:r>
              <a:rPr sz="2000" b="0">
                <a:solidFill>
                  <a:srgbClr val="1F2D3A"/>
                </a:solidFill>
              </a:rPr>
              <a:t>'teki </a:t>
            </a:r>
            <a:r>
              <a:rPr sz="2000" b="0">
                <a:solidFill>
                  <a:srgbClr val="A1123F"/>
                </a:solidFill>
                <a:latin typeface="Consolas"/>
              </a:rPr>
              <a:t>CN</a:t>
            </a:r>
            <a:r>
              <a:rPr sz="2000" b="0">
                <a:solidFill>
                  <a:srgbClr val="1F2D3A"/>
                </a:solidFill>
              </a:rPr>
              <a:t>'e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istemci kütüphanesi bu dört soruyu </a:t>
            </a:r>
            <a:r>
              <a:rPr sz="2000" b="1">
                <a:solidFill>
                  <a:srgbClr val="1F2D3A"/>
                </a:solidFill>
              </a:rPr>
              <a:t>sizin yerinize</a:t>
            </a:r>
            <a:r>
              <a:rPr sz="2000" b="0">
                <a:solidFill>
                  <a:srgbClr val="1F2D3A"/>
                </a:solidFill>
              </a:rPr>
              <a:t> sorar;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'ı kapatmak ya da hataları yutmak, dört sorunun hiç sorulmaması anlamına gelir.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OpenSSL ile · örnek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-untrusted ara.crt sunucu.crt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-CAfile</a:t>
            </a:r>
            <a:r>
              <a:rPr sz="2000" b="0">
                <a:solidFill>
                  <a:srgbClr val="1F2D3A"/>
                </a:solidFill>
              </a:rPr>
              <a:t>: güvenilen kök.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-untrusted</a:t>
            </a:r>
            <a:r>
              <a:rPr sz="2000" b="0">
                <a:solidFill>
                  <a:srgbClr val="1F2D3A"/>
                </a:solidFill>
              </a:rPr>
              <a:t>: ara sertifika(lar).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SPKI sabitleme (pinning)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Uygulama, beklenen sunucu anahtarının </a:t>
            </a:r>
            <a:r>
              <a:rPr sz="2000" b="1">
                <a:solidFill>
                  <a:srgbClr val="1F2D3A"/>
                </a:solidFill>
              </a:rPr>
              <a:t>özetini</a:t>
            </a:r>
            <a:r>
              <a:rPr sz="2000" b="0">
                <a:solidFill>
                  <a:srgbClr val="1F2D3A"/>
                </a:solidFill>
              </a:rPr>
              <a:t> gömer.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 ama "geçerli" sertifika bile kabul edilmez.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şart (anahtar değişince kilitlenmemek için).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· zincir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Zincir doğrulamanın </a:t>
            </a:r>
            <a:r>
              <a:rPr sz="2000" b="1">
                <a:solidFill>
                  <a:srgbClr val="1F2D3A"/>
                </a:solidFill>
              </a:rPr>
              <a:t>dört sorusundan</a:t>
            </a:r>
            <a:r>
              <a:rPr sz="2000" b="0">
                <a:solidFill>
                  <a:srgbClr val="1F2D3A"/>
                </a:solidFill>
              </a:rPr>
              <a:t> (imza, süre, kullanım, ad) hiçbirini atlamayın.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 ad denetlemez — </a:t>
            </a:r>
            <a:r>
              <a:rPr sz="2000" b="1">
                <a:solidFill>
                  <a:srgbClr val="1F2D3A"/>
                </a:solidFill>
              </a:rPr>
              <a:t>SAN</a:t>
            </a:r>
            <a:r>
              <a:rPr sz="2000" b="0">
                <a:solidFill>
                  <a:srgbClr val="1F2D3A"/>
                </a:solidFill>
              </a:rPr>
              <a:t> denetimi ayrıca yapılmalı.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</a:t>
            </a:r>
            <a:r>
              <a:rPr sz="2000" b="1">
                <a:solidFill>
                  <a:srgbClr val="1F2D3A"/>
                </a:solidFill>
              </a:rPr>
              <a:t>ara sertifikayı</a:t>
            </a:r>
            <a:r>
              <a:rPr sz="2000" b="0">
                <a:solidFill>
                  <a:srgbClr val="1F2D3A"/>
                </a:solidFill>
              </a:rPr>
              <a:t> göndermezse, kriptografik olarak doğru zincir bile bağlanamaz.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X.509 sertifikası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X.509 alanları — şema</a:t>
            </a:r>
          </a:p>
        </p:txBody>
      </p:sp>
      <p:pic>
        <p:nvPicPr>
          <p:cNvPr id="7" name="Picture 6" descr="h10-11-x5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5150" y="1325880"/>
            <a:ext cx="8801394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İçinde ne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Konu (subject):</a:t>
            </a:r>
            <a:r>
              <a:rPr sz="2000" b="0">
                <a:solidFill>
                  <a:srgbClr val="1F2D3A"/>
                </a:solidFill>
              </a:rPr>
              <a:t> kime ait (alan adı).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Geçerlilik:</a:t>
            </a:r>
            <a:r>
              <a:rPr sz="2000" b="0">
                <a:solidFill>
                  <a:srgbClr val="1F2D3A"/>
                </a:solidFill>
              </a:rPr>
              <a:t> başlangıç/bitiş.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Veren (issuer):</a:t>
            </a:r>
            <a:r>
              <a:rPr sz="2000" b="0">
                <a:solidFill>
                  <a:srgbClr val="1F2D3A"/>
                </a:solidFill>
              </a:rPr>
              <a:t> hangi CA imzaladı.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 · ad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SAN (Subject Alternative Name):</a:t>
            </a:r>
            <a:r>
              <a:rPr sz="2000" b="0">
                <a:solidFill>
                  <a:srgbClr val="1F2D3A"/>
                </a:solidFill>
              </a:rPr>
              <a:t> sertifikanın geçerli olduğu </a:t>
            </a:r>
            <a:r>
              <a:rPr sz="2000" b="1">
                <a:solidFill>
                  <a:srgbClr val="1F2D3A"/>
                </a:solidFill>
              </a:rPr>
              <a:t>alan adları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denetimi </a:t>
            </a:r>
            <a:r>
              <a:rPr sz="2000" b="1">
                <a:solidFill>
                  <a:srgbClr val="1F2D3A"/>
                </a:solidFill>
              </a:rPr>
              <a:t>CN'e değil, SAN'a</a:t>
            </a:r>
            <a:r>
              <a:rPr sz="2000" b="0">
                <a:solidFill>
                  <a:srgbClr val="1F2D3A"/>
                </a:solidFill>
              </a:rPr>
              <a:t> yapılır.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example.com</a:t>
            </a:r>
            <a:r>
              <a:rPr sz="2000" b="0">
                <a:solidFill>
                  <a:srgbClr val="1F2D3A"/>
                </a:solidFill>
              </a:rPr>
              <a:t> için sertifika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baska.com</a:t>
            </a:r>
            <a:r>
              <a:rPr sz="2000" b="0">
                <a:solidFill>
                  <a:srgbClr val="1F2D3A"/>
                </a:solidFill>
              </a:rPr>
              <a:t>'da geçerli olmamalı.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Gerçek sertifika · üst alanlar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Version: 3 (0x2)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Serial Number: 35:e2:f6:8d:...:76:e7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Signature Algorithm: ecdsa-with-SHA256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Issuer: CN=CEN429 Lab Ara CA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Validity: Sep 23 2026 – Dec 22 2026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Subject: CN=localhost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Subject Public Key Info: 256 bit, NIST CURVE: P-256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Gerçek </a:t>
            </a:r>
            <a:r>
              <a:rPr sz="1800" b="0">
                <a:solidFill>
                  <a:srgbClr val="A1123F"/>
                </a:solidFill>
                <a:latin typeface="Consolas"/>
              </a:rPr>
              <a:t>openssl x509 -text</a:t>
            </a:r>
            <a:r>
              <a:rPr sz="1800" b="0">
                <a:solidFill>
                  <a:srgbClr val="1F2D3A"/>
                </a:solidFill>
              </a:rPr>
              <a:t> çıktısı; her alan "dört soru"dan (bir sonraki bölüm) birinin cevabını taşır.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Gerçek sertifika · uzantılar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X509v3 Basic Constraints: CA:FALSE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X509v3 Key Usage: critical, Digital Signature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X509v3 Extended Key Usage: TLS Web Server Authentication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X509v3 Subject Alternative Name: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DNS:localhost, IP Address:127.0.0.1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X509v3 Authority Key Identifier: F5:BA:39:86:...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Authority Key Identifier</a:t>
            </a:r>
            <a:r>
              <a:rPr sz="1800" b="0">
                <a:solidFill>
                  <a:srgbClr val="1F2D3A"/>
                </a:solidFill>
              </a:rPr>
              <a:t>, sertifikayı imzalayan CA'nın </a:t>
            </a:r>
            <a:r>
              <a:rPr sz="1800" b="1">
                <a:solidFill>
                  <a:srgbClr val="1F2D3A"/>
                </a:solidFill>
              </a:rPr>
              <a:t>parmak izidir</a:t>
            </a:r>
            <a:r>
              <a:rPr sz="1800" b="0">
                <a:solidFill>
                  <a:srgbClr val="1F2D3A"/>
                </a:solidFill>
              </a:rPr>
              <a:t>; zinciri kurarken "aynı isimli ama farklı anahtarlı sahte ara CA" karışıklığını bununla önler.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OpenSSL ile sertifika zinciri kurmak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Küçük bir zincir kuralım: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CA → Ara CA → Sunucu sertifikası.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 ile doğrulayalım ve tipik hatayı görelim.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kök CA (kendini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-x509 -newkey ed25519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-keyout kok.key -out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-subj "/CN=Ders Kok CA" -days 3650 -nodes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kendini imzalar; çevrimdışı tutulur.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ara CA (kök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-newkey ed25519 -keyout ara.key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-out ara.csr -subj "/CN=Ders Ara CA" -nodes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x509 -req -in ara.csr -CA kok.crt -CAkey kok.key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-CAcreateserial -out ara.crt -days 1825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sunucu sertifikası (ara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-newkey ed25519 -keyout sunucu.key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-out sunucu.csr -subj "/CN=ornek.test" -nodes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x509 -req -in sunucu.csr -CA ara.crt -CAkey ara.key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-CAcreateserial -out sunucu.crt -days 365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doğrula (eksik ara)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sunucu.crt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HATA: unable to get local issuer certificate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Zincir köke ulaşamıyor: </a:t>
            </a:r>
            <a:r>
              <a:rPr sz="2000" b="1">
                <a:solidFill>
                  <a:srgbClr val="1F2D3A"/>
                </a:solidFill>
              </a:rPr>
              <a:t>ara sertifika eksik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doğrula (ara ile)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-untrusted ara.crt sunucu.crt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 sertifikayı verince zincir tamamlanır.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Sunucu, </a:t>
            </a:r>
            <a:r>
              <a:rPr sz="2000" b="1">
                <a:solidFill>
                  <a:srgbClr val="1F2D3A"/>
                </a:solidFill>
              </a:rPr>
              <a:t>ara</a:t>
            </a:r>
            <a:r>
              <a:rPr sz="2000" b="0">
                <a:solidFill>
                  <a:srgbClr val="1F2D3A"/>
                </a:solidFill>
              </a:rPr>
              <a:t> sertifikayı da göndermeli.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Eksikse istemci "issuer bulunamadı" 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Sahadaki en yaygın TLS yapılandırma hatası.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Zincirdeki dört soru · uygulaması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her seviye üsttekince imzalı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-CAfile kok.crt</a:t>
            </a:r>
            <a:r>
              <a:rPr sz="2000" b="0">
                <a:solidFill>
                  <a:srgbClr val="1F2D3A"/>
                </a:solidFill>
              </a:rPr>
              <a:t> güven deposu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-days</a:t>
            </a:r>
            <a:r>
              <a:rPr sz="2000" b="0">
                <a:solidFill>
                  <a:srgbClr val="1F2D3A"/>
                </a:solidFill>
              </a:rPr>
              <a:t> içinde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Ad:</a:t>
            </a:r>
            <a:r>
              <a:rPr sz="2000" b="0">
                <a:solidFill>
                  <a:srgbClr val="1F2D3A"/>
                </a:solidFill>
              </a:rPr>
              <a:t> uygulamada SAN denetimi (verify ad denetlemez!)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doğrulamayı kapatma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ASLA: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SSL_CTX_set_verify(ctx, SSL_VERIFY_NONE, NULL);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MITM'e kapıyı açar. "Test için" diye bırakılan bu satır sahada felakettir.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 denetimini atlamak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Zincir geçerli ama </a:t>
            </a:r>
            <a:r>
              <a:rPr sz="2000" b="1">
                <a:solidFill>
                  <a:srgbClr val="1F2D3A"/>
                </a:solidFill>
              </a:rPr>
              <a:t>ad</a:t>
            </a:r>
            <a:r>
              <a:rPr sz="2000" b="0">
                <a:solidFill>
                  <a:srgbClr val="1F2D3A"/>
                </a:solidFill>
              </a:rPr>
              <a:t> doğrulanmıyorsa, saldırganın geçerli sertifikası kabul edilir.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bilgisayar adı (SAN) mutlaka denetlenir.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Eleştirel okuma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TLS kurulum kodunu okurken sorun: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açık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denetleniyor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durumunda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Sertifika iptali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iptali — şema</a:t>
            </a:r>
          </a:p>
        </p:txBody>
      </p:sp>
      <p:pic>
        <p:nvPicPr>
          <p:cNvPr id="7" name="Picture 6" descr="h10-04-sertifika-ipta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760065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iptal?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sertifikanın gizli anahtarı sızarsa, süresi dolmadan </a:t>
            </a:r>
            <a:r>
              <a:rPr sz="2000" b="1">
                <a:solidFill>
                  <a:srgbClr val="1F2D3A"/>
                </a:solidFill>
              </a:rPr>
              <a:t>iptal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İptal edilmiş sertifika kabul edilmemeli.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CRL:</a:t>
            </a:r>
            <a:r>
              <a:rPr sz="2000" b="0">
                <a:solidFill>
                  <a:srgbClr val="1F2D3A"/>
                </a:solidFill>
              </a:rPr>
              <a:t> iptal edilmiş sertifikaların </a:t>
            </a:r>
            <a:r>
              <a:rPr sz="2000" b="1">
                <a:solidFill>
                  <a:srgbClr val="1F2D3A"/>
                </a:solidFill>
              </a:rPr>
              <a:t>periyodik listesi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olabilir, güncel olmayabilir.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OCSP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OCSP:</a:t>
            </a:r>
            <a:r>
              <a:rPr sz="2000" b="0">
                <a:solidFill>
                  <a:srgbClr val="1F2D3A"/>
                </a:solidFill>
              </a:rPr>
              <a:t> bir sertifikanın durumunu </a:t>
            </a:r>
            <a:r>
              <a:rPr sz="2000" b="1">
                <a:solidFill>
                  <a:srgbClr val="1F2D3A"/>
                </a:solidFill>
              </a:rPr>
              <a:t>anlık</a:t>
            </a:r>
            <a:r>
              <a:rPr sz="2000" b="0">
                <a:solidFill>
                  <a:srgbClr val="1F2D3A"/>
                </a:solidFill>
              </a:rPr>
              <a:t> sorma.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güncel; ama gizlilik/hız sorunları.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OCSP yanıtını iliştirme (stapling)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Sunucu, OCSP yanıtını </a:t>
            </a:r>
            <a:r>
              <a:rPr sz="2000" b="1">
                <a:solidFill>
                  <a:srgbClr val="1F2D3A"/>
                </a:solidFill>
              </a:rPr>
              <a:t>kendisi</a:t>
            </a:r>
            <a:r>
              <a:rPr sz="2000" b="0">
                <a:solidFill>
                  <a:srgbClr val="1F2D3A"/>
                </a:solidFill>
              </a:rPr>
              <a:t> getirip sertifikayla sunar.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Gizlilik + hız kazanır.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CRL iş akışı · iptal et ve üret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ca -config ara.cnf -revoke sunucu.crt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ca -config ara.cnf -gencrl -out ara.crl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87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Revoking Certificate 35E2F68D...76E7.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Database updated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49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 dosyası </a:t>
            </a:r>
            <a:r>
              <a:rPr sz="2000" b="1">
                <a:solidFill>
                  <a:srgbClr val="1F2D3A"/>
                </a:solidFill>
              </a:rPr>
              <a:t>değişmez</a:t>
            </a:r>
            <a:r>
              <a:rPr sz="2000" b="0">
                <a:solidFill>
                  <a:srgbClr val="1F2D3A"/>
                </a:solidFill>
              </a:rPr>
              <a:t>; yalnız CA'nın defterine (</a:t>
            </a:r>
            <a:r>
              <a:rPr sz="2000" b="0">
                <a:solidFill>
                  <a:srgbClr val="A1123F"/>
                </a:solidFill>
                <a:latin typeface="Consolas"/>
              </a:rPr>
              <a:t>index.txt</a:t>
            </a:r>
            <a:r>
              <a:rPr sz="2000" b="0">
                <a:solidFill>
                  <a:srgbClr val="1F2D3A"/>
                </a:solidFill>
              </a:rPr>
              <a:t>) bir iptal kaydı eklenir. </a:t>
            </a:r>
            <a:r>
              <a:rPr sz="2000" b="0">
                <a:solidFill>
                  <a:srgbClr val="A1123F"/>
                </a:solidFill>
                <a:latin typeface="Consolas"/>
              </a:rPr>
              <a:t>-gencrl</a:t>
            </a:r>
            <a:r>
              <a:rPr sz="2000" b="0">
                <a:solidFill>
                  <a:srgbClr val="1F2D3A"/>
                </a:solidFill>
              </a:rPr>
              <a:t>, bu kaydı CA'nın kendi anahtarıyla </a:t>
            </a:r>
            <a:r>
              <a:rPr sz="2000" b="1">
                <a:solidFill>
                  <a:srgbClr val="1F2D3A"/>
                </a:solidFill>
              </a:rPr>
              <a:t>imzalı</a:t>
            </a:r>
            <a:r>
              <a:rPr sz="2000" b="0">
                <a:solidFill>
                  <a:srgbClr val="1F2D3A"/>
                </a:solidFill>
              </a:rPr>
              <a:t> bir listeye dönüştürür.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CRL ile doğrulama · sonuç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-crl_check -CAfile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-untrusted ara.crt -CRLfile ara.crl sunucu.crt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87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error 23 at 0 depth lookup: certificate revoked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error sunucu.crt: verification failed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49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Sertifikanın </a:t>
            </a:r>
            <a:r>
              <a:rPr sz="2000" b="1">
                <a:solidFill>
                  <a:srgbClr val="1F2D3A"/>
                </a:solidFill>
              </a:rPr>
              <a:t>süresi hâlâ dolmamış</a:t>
            </a:r>
            <a:r>
              <a:rPr sz="2000" b="0">
                <a:solidFill>
                  <a:srgbClr val="1F2D3A"/>
                </a:solidFill>
              </a:rPr>
              <a:t> olsa bile CRL'de listelendiği için reddedildi — iptal denetimi, süre denetiminden </a:t>
            </a:r>
            <a:r>
              <a:rPr sz="2000" b="1">
                <a:solidFill>
                  <a:srgbClr val="1F2D3A"/>
                </a:solidFill>
              </a:rPr>
              <a:t>bağımsız</a:t>
            </a:r>
            <a:r>
              <a:rPr sz="2000" b="0">
                <a:solidFill>
                  <a:srgbClr val="1F2D3A"/>
                </a:solidFill>
              </a:rPr>
              <a:t> çalışır.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Fail-open tuzağı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OCSP'ye ulaşılamayınca sertifikayı </a:t>
            </a:r>
            <a:r>
              <a:rPr sz="2000" b="1">
                <a:solidFill>
                  <a:srgbClr val="1F2D3A"/>
                </a:solidFill>
              </a:rPr>
              <a:t>kabul etmek</a:t>
            </a:r>
            <a:r>
              <a:rPr sz="2000" b="0">
                <a:solidFill>
                  <a:srgbClr val="1F2D3A"/>
                </a:solidFill>
              </a:rPr>
              <a:t> = fail-open.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OCSP'yi engelleyip iptal edilmiş sertifikayı geçirebilir.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Azaltma: </a:t>
            </a:r>
            <a:r>
              <a:rPr sz="2000" b="1">
                <a:solidFill>
                  <a:srgbClr val="1F2D3A"/>
                </a:solidFill>
              </a:rPr>
              <a:t>Must-Staple</a:t>
            </a:r>
            <a:r>
              <a:rPr sz="2000" b="0">
                <a:solidFill>
                  <a:srgbClr val="1F2D3A"/>
                </a:solidFill>
              </a:rPr>
              <a:t>, kısa ömürlü sertifikalar.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7–10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Zincir doğrulamanın dört sorusu?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Ad denetimi neye yapılır (CN mi SAN mı)?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Eksik ara sertifika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'ı bozar?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Fail-open nedir, nasıl azaltılır?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7–10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(1) zincir kök'e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mi, (2) </a:t>
            </a:r>
            <a:r>
              <a:rPr sz="2000" b="1">
                <a:solidFill>
                  <a:srgbClr val="1F2D3A"/>
                </a:solidFill>
              </a:rPr>
              <a:t>süre</a:t>
            </a:r>
            <a:r>
              <a:rPr sz="2000" b="0">
                <a:solidFill>
                  <a:srgbClr val="1F2D3A"/>
                </a:solidFill>
              </a:rPr>
              <a:t> içinde mi, (3) </a:t>
            </a:r>
            <a:r>
              <a:rPr sz="2000" b="1">
                <a:solidFill>
                  <a:srgbClr val="1F2D3A"/>
                </a:solidFill>
              </a:rPr>
              <a:t>amaç/kısıt</a:t>
            </a:r>
            <a:r>
              <a:rPr sz="2000" b="0">
                <a:solidFill>
                  <a:srgbClr val="1F2D3A"/>
                </a:solidFill>
              </a:rPr>
              <a:t> (CA:TRUE, KeyUsage/EKU), (4) </a:t>
            </a:r>
            <a:r>
              <a:rPr sz="2000" b="1">
                <a:solidFill>
                  <a:srgbClr val="1F2D3A"/>
                </a:solidFill>
              </a:rPr>
              <a:t>iptal</a:t>
            </a:r>
            <a:r>
              <a:rPr sz="2000" b="0">
                <a:solidFill>
                  <a:srgbClr val="1F2D3A"/>
                </a:solidFill>
              </a:rPr>
              <a:t> (CRL/OCSP).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SAN</a:t>
            </a:r>
            <a:r>
              <a:rPr sz="2000" b="0">
                <a:solidFill>
                  <a:srgbClr val="1F2D3A"/>
                </a:solidFill>
              </a:rPr>
              <a:t> (Subject Alternative Name); CN artık kullanılmaz.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Zincir kök'e </a:t>
            </a:r>
            <a:r>
              <a:rPr sz="2000" b="1">
                <a:solidFill>
                  <a:srgbClr val="1F2D3A"/>
                </a:solidFill>
              </a:rPr>
              <a:t>kurulamaz</a:t>
            </a:r>
            <a:r>
              <a:rPr sz="2000" b="0">
                <a:solidFill>
                  <a:srgbClr val="1F2D3A"/>
                </a:solidFill>
              </a:rPr>
              <a:t>; güven yolu tamamlanmaz → başarısız. Sunucu </a:t>
            </a:r>
            <a:r>
              <a:rPr sz="2000" b="1">
                <a:solidFill>
                  <a:srgbClr val="1F2D3A"/>
                </a:solidFill>
              </a:rPr>
              <a:t>ara</a:t>
            </a:r>
            <a:r>
              <a:rPr sz="2000" b="0">
                <a:solidFill>
                  <a:srgbClr val="1F2D3A"/>
                </a:solidFill>
              </a:rPr>
              <a:t> sertifikayı da göndermeli.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Fail-open:</a:t>
            </a:r>
            <a:r>
              <a:rPr sz="2000" b="0">
                <a:solidFill>
                  <a:srgbClr val="1F2D3A"/>
                </a:solidFill>
              </a:rPr>
              <a:t> hata/erişilemezlikte "geçti" saymak. Azaltma: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, OCSP stapling / must-staple, hatayı reddet.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Anahtarı donanımda saklamak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HSM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HSM:</a:t>
            </a:r>
            <a:r>
              <a:rPr sz="2000" b="0">
                <a:solidFill>
                  <a:srgbClr val="1F2D3A"/>
                </a:solidFill>
              </a:rPr>
              <a:t> anahtarları saklayan/işleten özel donanım.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HSM'in </a:t>
            </a:r>
            <a:r>
              <a:rPr sz="2000" b="1">
                <a:solidFill>
                  <a:srgbClr val="1F2D3A"/>
                </a:solidFill>
              </a:rPr>
              <a:t>dışına çıkmaz</a:t>
            </a:r>
            <a:r>
              <a:rPr sz="2000" b="0">
                <a:solidFill>
                  <a:srgbClr val="1F2D3A"/>
                </a:solidFill>
              </a:rPr>
              <a:t>; "şunu imzala" dersiniz, sonuç döner.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Kurcalamaya dirençli.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PKCS#11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modülleriyle konuşmanın </a:t>
            </a:r>
            <a:r>
              <a:rPr sz="2000" b="1">
                <a:solidFill>
                  <a:srgbClr val="1F2D3A"/>
                </a:solidFill>
              </a:rPr>
              <a:t>standart arayüzü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anahtarın değerini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HSM'ler ve yazılım benzetimleri bu arayüzü sunar.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PKCS#11 ile imzalama — şema</a:t>
            </a:r>
          </a:p>
        </p:txBody>
      </p:sp>
      <p:pic>
        <p:nvPicPr>
          <p:cNvPr id="7" name="Picture 6" descr="h10-14-pkcs11-imza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7670" y="1325880"/>
            <a:ext cx="4816355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HSM'in </a:t>
            </a:r>
            <a:r>
              <a:rPr sz="2000" b="1">
                <a:solidFill>
                  <a:srgbClr val="1F2D3A"/>
                </a:solidFill>
              </a:rPr>
              <a:t>yazılım benzetimi</a:t>
            </a:r>
            <a:r>
              <a:rPr sz="2000" b="0">
                <a:solidFill>
                  <a:srgbClr val="1F2D3A"/>
                </a:solidFill>
              </a:rPr>
              <a:t>; aynı PKCS#11 arayüzü.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Geliştirme/test için; </a:t>
            </a:r>
            <a:r>
              <a:rPr sz="2000" b="1">
                <a:solidFill>
                  <a:srgbClr val="1F2D3A"/>
                </a:solidFill>
              </a:rPr>
              <a:t>gerçek donanım koruması 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Üretimde gerçek HSM.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donanım?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Yazılımda anahtar, beyaz kutu saldırgana açık (11.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Donanımda anahtar yalıtılmış → çok daha güçlü.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anahtarı </a:t>
            </a:r>
            <a:r>
              <a:rPr sz="2000" b="1">
                <a:solidFill>
                  <a:srgbClr val="1F2D3A"/>
                </a:solidFill>
              </a:rPr>
              <a:t>yazılıma hiç koyma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yaşam döngüsü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5455767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 yapılır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Üretim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Güçlü rastgelelik (CSPRNG)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Saklama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HSM/TEE ya da korunmuş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az yetki, sabit zamanlı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Kripto-periyot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Ömür sınırı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Yenileme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Düzenli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İmha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Bellekten güvenli 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· anahtar saklama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Değerli bir anahtar üretilirken </a:t>
            </a:r>
            <a:r>
              <a:rPr sz="2000" b="0">
                <a:solidFill>
                  <a:srgbClr val="A1123F"/>
                </a:solidFill>
                <a:latin typeface="Consolas"/>
              </a:rPr>
              <a:t>CKA_EXTRACTABLE=false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açıkça</a:t>
            </a:r>
            <a:r>
              <a:rPr sz="2000" b="0">
                <a:solidFill>
                  <a:srgbClr val="1F2D3A"/>
                </a:solidFill>
              </a:rPr>
              <a:t> ayarlanmalı; varsayılana güvenmeyin.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HSM'de anahtar hiç çıkmaz; uygulama yalnız bir </a:t>
            </a:r>
            <a:r>
              <a:rPr sz="2000" b="1">
                <a:solidFill>
                  <a:srgbClr val="1F2D3A"/>
                </a:solidFill>
              </a:rPr>
              <a:t>tutamaç</a:t>
            </a:r>
            <a:r>
              <a:rPr sz="2000" b="0">
                <a:solidFill>
                  <a:srgbClr val="1F2D3A"/>
                </a:solidFill>
              </a:rPr>
              <a:t> (handle) üzerinden "imzala" 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SoftHSM test içindir; üretimde gerçek HSM/donanım koruması gerekir.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Kuantum sonrası kripto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Kuantum sonrası — şema</a:t>
            </a:r>
          </a:p>
        </p:txBody>
      </p:sp>
      <p:pic>
        <p:nvPicPr>
          <p:cNvPr id="7" name="Picture 6" descr="h10-15-kuantum-sonra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179671"/>
          </a:xfrm>
          <a:prstGeom prst="rect">
            <a:avLst/>
          </a:prstGeom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Yeterince güçlü kuantum bilgisayar, bugünkü </a:t>
            </a:r>
            <a:r>
              <a:rPr sz="2000" b="1">
                <a:solidFill>
                  <a:srgbClr val="1F2D3A"/>
                </a:solidFill>
              </a:rPr>
              <a:t>RSA/ECC</a:t>
            </a:r>
            <a:r>
              <a:rPr sz="2000" b="0">
                <a:solidFill>
                  <a:srgbClr val="1F2D3A"/>
                </a:solidFill>
              </a:rPr>
              <a:t>'yi kırabilir.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"Şimdi topla, sonra çöz" saldırısı: bugün şifreli veriyi sakla, gelecekte çöz.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PQC · yaklaşım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Kuantuma dayanıklı algoritmalar (ör. ML-KEM anahtar kapsülleme).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Standartlaşma sürüyor.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Kripto-çeviklik:</a:t>
            </a:r>
            <a:r>
              <a:rPr sz="2000" b="0">
                <a:solidFill>
                  <a:srgbClr val="1F2D3A"/>
                </a:solidFill>
              </a:rPr>
              <a:t> algoritmayı kolay değiştirebilecek tasarım.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PQC boyutları · komut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OpenSSL 3.5, standartlaşan PQC algoritmalarını </a:t>
            </a:r>
            <a:r>
              <a:rPr sz="2000" b="1">
                <a:solidFill>
                  <a:srgbClr val="1F2D3A"/>
                </a:solidFill>
              </a:rPr>
              <a:t>bugün</a:t>
            </a:r>
            <a:r>
              <a:rPr sz="2000" b="0">
                <a:solidFill>
                  <a:srgbClr val="1F2D3A"/>
                </a:solidFill>
              </a:rPr>
              <a:t> üretebilir: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genpkey -algorithm ML-KEM-768 -out mlkem.pem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genpkey -algorithm ML-DSA-65  -out mldsa.pem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pkeyutl -sign -inkey mldsa.pem -rawin -in belge.txt -out belge.mldsa.sig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wc -c mlkem_pub.pem mldsa_pub.pem belge.mldsa.sig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PQC boyutları · sonuç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27480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6"/>
                <a:gridCol w="2909742"/>
                <a:gridCol w="2546024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Algoritma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Açık anahtar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 (klasik)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116 bayt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64 bayt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RSA-3072 (klasik)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636 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384 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ML-KEM-768 (PQC)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1.714 bayt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ML-DSA-65 (PQC)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2.770 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3.309 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ML-DSA-65: açık anahtar Ed25519'dan </a:t>
            </a:r>
            <a:r>
              <a:rPr sz="1800" b="1">
                <a:solidFill>
                  <a:srgbClr val="1F2D3A"/>
                </a:solidFill>
              </a:rPr>
              <a:t>~24 kat</a:t>
            </a:r>
            <a:r>
              <a:rPr sz="1800" b="0">
                <a:solidFill>
                  <a:srgbClr val="1F2D3A"/>
                </a:solidFill>
              </a:rPr>
              <a:t>, imza </a:t>
            </a:r>
            <a:r>
              <a:rPr sz="1800" b="1">
                <a:solidFill>
                  <a:srgbClr val="1F2D3A"/>
                </a:solidFill>
              </a:rPr>
              <a:t>~52 kat</a:t>
            </a:r>
            <a:r>
              <a:rPr sz="1800" b="0">
                <a:solidFill>
                  <a:srgbClr val="1F2D3A"/>
                </a:solidFill>
              </a:rPr>
              <a:t> büyük. TLS'te </a:t>
            </a:r>
            <a:r>
              <a:rPr sz="1800" b="1">
                <a:solidFill>
                  <a:srgbClr val="1F2D3A"/>
                </a:solidFill>
              </a:rPr>
              <a:t>karma</a:t>
            </a:r>
            <a:r>
              <a:rPr sz="1800" b="0">
                <a:solidFill>
                  <a:srgbClr val="1F2D3A"/>
                </a:solidFill>
              </a:rPr>
              <a:t> (klasik + PQC) yaklaşım bu geçiş maliyetini yönetmek içindir.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 ne yapmalı?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Kripto-çevik ol (algoritmayı sabitleme).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ömürlü sırlar için PQC'yi izle.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Panik yok; ama hazırlık.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13. Proje: bu hafta (S8, S11)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S8/S11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Algoritma envanteri:</a:t>
            </a:r>
            <a:r>
              <a:rPr sz="2000" b="0">
                <a:solidFill>
                  <a:srgbClr val="1F2D3A"/>
                </a:solidFill>
              </a:rPr>
              <a:t> amaç, algoritma, kip, anahtar uzunluğu, kütüphane.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Anahtar yaşam döngüsü</a:t>
            </a:r>
            <a:r>
              <a:rPr sz="2000" b="0">
                <a:solidFill>
                  <a:srgbClr val="1F2D3A"/>
                </a:solidFill>
              </a:rPr>
              <a:t> tablosu.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Uçtan uca: bir kripto tasarım vakası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Yerel hassas veriyi şifreliyor.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Sunucuyla güvenli konuşuyor.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Güncellemeleri doğruluyor.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 tasarımını yapalım.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Yerel veri şifreleme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AES-256-GCM</a:t>
            </a:r>
            <a:r>
              <a:rPr sz="2000" b="0">
                <a:solidFill>
                  <a:srgbClr val="1F2D3A"/>
                </a:solidFill>
              </a:rPr>
              <a:t> (AEAD): gizlilik + bütünlük.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sayaç/rastgele, </a:t>
            </a:r>
            <a:r>
              <a:rPr sz="2000" b="1">
                <a:solidFill>
                  <a:srgbClr val="1F2D3A"/>
                </a:solidFill>
              </a:rPr>
              <a:t>tekrarsız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TEE/HSM'de; yoksa whitebox (11).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Sunucu iletişimi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TLS 1.3</a:t>
            </a:r>
            <a:r>
              <a:rPr sz="2000" b="0">
                <a:solidFill>
                  <a:srgbClr val="1F2D3A"/>
                </a:solidFill>
              </a:rPr>
              <a:t>: X25519 anahtar anlaşması + AEAD.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 zinciri doğrulama + (varsa) SPKI sabitleme + yedek pin.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Fail-open değil.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Güncelleme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Ed25519</a:t>
            </a:r>
            <a:r>
              <a:rPr sz="2000" b="0">
                <a:solidFill>
                  <a:srgbClr val="1F2D3A"/>
                </a:solidFill>
              </a:rPr>
              <a:t> imza;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 == 1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İmzalı içerik </a:t>
            </a:r>
            <a:r>
              <a:rPr sz="2000" b="1">
                <a:solidFill>
                  <a:srgbClr val="1F2D3A"/>
                </a:solidFill>
              </a:rPr>
              <a:t>sürümü</a:t>
            </a:r>
            <a:r>
              <a:rPr sz="2000" b="0">
                <a:solidFill>
                  <a:srgbClr val="1F2D3A"/>
                </a:solidFill>
              </a:rPr>
              <a:t> kapsar; downgrade reddi.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anahtarı sabit/gömülü (bütünlükle korunur).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envanteri (S8)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2727883"/>
                <a:gridCol w="2440738"/>
                <a:gridCol w="3015029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Anahtar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Alg/uzunluk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Saklama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Yerel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TEE/whitebox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Oturum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X25519 türevi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Bellek, kısa ömür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Güncelleme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Ed25519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Gömülü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Klasik kripto hataları —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911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3836"/>
                <a:gridCol w="1115952"/>
                <a:gridCol w="5951746"/>
              </a:tblGrid>
              <a:tr h="35561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Doğrusu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56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Kendi kriptonu yazmak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Denenmiş kütüphane, standart algoritma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ECB kipi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 (GCM / ChaCha20-Poly1305)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56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IV/nonce tekrarı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Benzersiz, tekrarsız nonce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var, bütünlük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 ya da encrypt-then-MAC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56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Ham RSA / yanlış dolgu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OAEP (şifre), PSS (imza)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Zayıf özet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SHA-256+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56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dönüşünü denetlememek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== 1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ve sürüm kapsanır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Zincir/ad denetlememek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Dört soru + SAN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56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Fail-open iptal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Must-Staple, kısa ömür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 düz gömmek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HSM/TEE; yoksa whitebox + katman (11. hafta)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34741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On hatanın hepsi bu destede işlendi; burada tek bakışta toparlıyoruz.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RSA-2048 + AES-256 sisteminin güvenlik düzeyi?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~112 bit (en zayıf halka RSA-2048). 128 bit için RSA-3072 ya da ECC.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"Dolgu geçersiz" ve "MAC geçersiz" ayrı iletiler: risk?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Dolgu kâhini; saldırgan yanıtlara bakıp mesajı çözebilir. Tek ve aynı hata; tercihen AEAD.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`if (EVP_DigestVerify(...))` neden hatalı?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Negatif hata değeri de doğru sayılır; denetim </a:t>
            </a:r>
            <a:r>
              <a:rPr sz="2000" b="0">
                <a:solidFill>
                  <a:srgbClr val="A1123F"/>
                </a:solidFill>
                <a:latin typeface="Consolas"/>
              </a:rPr>
              <a:t>== 1</a:t>
            </a:r>
            <a:r>
              <a:rPr sz="2000" b="0">
                <a:solidFill>
                  <a:srgbClr val="1F2D3A"/>
                </a:solidFill>
              </a:rPr>
              <a:t> olmalı. Ayrıca imzalı içerik sürümü kapsamalı.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`verify` ara sertifika olmadan neden başarısız?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Zincir köke ulaşamaz; ara sertifika eksik. Sahada sunucu ara sertifikayı göndermiyordur.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`openssl verify` komutuna hem doğru hem alakasız bir ara sertifika verildiğinde ne olur?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OpenSSL zinciri kurabildiği herhangi bir geçerli yoldan kurar (ör. doğrudan köke); alakasız sertifika yalnızca kullanılmayan bir aday olarak kalır, doğrulama yine de başarılı olabilir. Bu kriptografik değil operasyonel bir durumdur.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ECDSA'da aynı rastgele değerin iki imzada kullanılması neden felakettir?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İki imzadan özel anahtar hesaplanabilir. Ed25519 ya da deterministik ECDSA (RFC 6979) bu riski ortadan kaldırır.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Kök CA neden çevrimdışı tutulur ve ara CA neden vardır?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Kök anahtarın ele geçirilmesi bütün zinciri çökertir ve kökü güven depolarından çıkarmak yıllar sürer. Günlük işi ara CA yapar; ele geçirilirse yalnız o iptal edilir.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Anahtarı neden yazılıma koymamalı? Alternatif?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Beyaz kutu saldırgan yazılımdaki anahtarı çıkarabilir. Alternatif: HSM/TEE (PKCS#11); yoksa whitebox + katman (11. hafta).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6001343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bütünlük birlikte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Encrypt-then-MAC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 sıra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OAEP/PSS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şifre/imza dolgusu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Ed25519/X25519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/ anahtar anlaşması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ad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CRL/OCSP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İptal listesi / anlık sorgu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 (ek)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6183202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kullanımlık sayı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KDF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türetme fonksiyonu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İleri 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oturumlar sonra çözülemez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Trust store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Güvenilen kök CA'lar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Kripto-periyot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ömrü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Kripto-çeviklik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Algoritmayı kolay değiştirme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Bir sonraki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11. hafta — Whitebox kriptografi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Bu hafta anahtarı korumanın "donanıma emanet et" yolunu (HSM, PKCS#11, </a:t>
            </a:r>
            <a:r>
              <a:rPr sz="2000" b="0">
                <a:solidFill>
                  <a:srgbClr val="A1123F"/>
                </a:solidFill>
                <a:latin typeface="Consolas"/>
              </a:rPr>
              <a:t>CKA_EXTRACTABLE=false</a:t>
            </a:r>
            <a:r>
              <a:rPr sz="2000" b="0">
                <a:solidFill>
                  <a:srgbClr val="1F2D3A"/>
                </a:solidFill>
              </a:rPr>
              <a:t>, Bölüm 11) gördük.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6765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bir uygulamanın içinde nasıl korunur? Tablo tabanlı whitebox AES ve ona karşı geliştirilen saldırılar (BGE, DCA, DFA), bu haftaki "anahtar hiç açığa çıkmasın" ilkesinin yazılım tarafındaki karşılığıdır.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10 — Sertifikalar ve Kriptografik Yöntemler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