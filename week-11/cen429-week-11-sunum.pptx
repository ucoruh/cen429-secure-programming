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kriptografiyi bir güvenlik katmanı olarak işliyoruz. Ana kural: yayımlanmış saf-yazılım WBC tasarımlarının tamamı kırıldı; WBC tek başına çözüm değil, anahtar çıkarmayı geciktiren bir katmandır ve anahtar yenileme, cihaz bağlama, sunucu risk denetimiyle birlikte anlam kazanır. Saldırıları savunmayı sınamak için öğreniyoruz.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kriptografi. Öğrenciler kriptoyu 3 ve 10. haftada gördü ama burada sıfırdan hatırlatacağız. Ana mesaj baştan verilecek: yayımlanmış saf-yazılım WBC'lerin hepsi kırıldı; WBC bir katmandır, sihir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çerçeveyi baştan kur; ders boyunca buraya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AES'in fikrini adım adım kuruyoruz. Matematiği değil, mantığı ve maliyeti öğreteceğiz. Yavaş gidin.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ara sonrası saldırı geçmişi.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geçmişi saldırı öğretmek için değil, "bu korumaya ne kadar güvenebilirim?" sorusunu yanıtlamak için anlatıyoruz.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haftayı tek senaryoda toplayan sentetik, savunma amaçlı bir örnek.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Whitebox Kriptografi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27.11.2026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995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27"/>
                <a:gridCol w="991957"/>
                <a:gridCol w="8486749"/>
              </a:tblGrid>
              <a:tr h="57084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yapılıyor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7084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0:00–0:25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Kara/gri/beyaz kutu modelleri; WBC saldırgan yetenekleri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084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0:25–0:50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Problem neden zor; naif çözümler: gömülü anahtar, XOR, code lifting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7084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0:55–1:40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tabanlı WBC (Chow AES): kodlama, bijeksiyonlar, tablo boyutu/hız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084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1:45–2:20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geçmişi: BGE, DFA, DCA, WhibOx; "hepsi kırıldı" ve karşı önlemler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7084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2:20–2:45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Katmanlı savunmadaki yeri; donanım alternatifleri (TEE/SE, HSM/SoftHSM)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08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2:45–3:00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Hatalı→saldırı→koruma; proje S8; kendini sınama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kod gizleme — "gizleme anahtarı korumaz" dedik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(11):</a:t>
            </a:r>
            <a:r>
              <a:rPr sz="2000" b="0">
                <a:solidFill>
                  <a:srgbClr val="1F2D3A"/>
                </a:solidFill>
              </a:rPr>
              <a:t> peki anahtarı yazılımda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koruruz? →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10. hafta:</a:t>
            </a:r>
            <a:r>
              <a:rPr sz="2000" b="0">
                <a:solidFill>
                  <a:srgbClr val="1F2D3A"/>
                </a:solidFill>
              </a:rPr>
              <a:t> kriptonun doğru kullanımı, anahtar yaşam döngüsü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"anahtar saldırganın elindeyken ne yaparız?" sorusunu işliyoruz.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(kriptografi, güvenli iletişim)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 modellerini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Whitebox'ın </a:t>
            </a:r>
            <a:r>
              <a:rPr sz="2000" b="1">
                <a:solidFill>
                  <a:srgbClr val="1F2D3A"/>
                </a:solidFill>
              </a:rPr>
              <a:t>ne yaptığını ve neden yetmediğini</a:t>
            </a:r>
            <a:r>
              <a:rPr sz="2000" b="0">
                <a:solidFill>
                  <a:srgbClr val="1F2D3A"/>
                </a:solidFill>
              </a:rPr>
              <a:t>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 için doğru koruma kararı vermek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uyarı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Bugüne kadar yayımlanmış </a:t>
            </a:r>
            <a:r>
              <a:rPr sz="2000" b="1">
                <a:solidFill>
                  <a:srgbClr val="1F2D3A"/>
                </a:solidFill>
              </a:rPr>
              <a:t>saf yazılım</a:t>
            </a:r>
            <a:r>
              <a:rPr sz="2000" b="0">
                <a:solidFill>
                  <a:srgbClr val="1F2D3A"/>
                </a:solidFill>
              </a:rPr>
              <a:t> whitebox tasarımlarının </a:t>
            </a:r>
            <a:r>
              <a:rPr sz="2000" b="1">
                <a:solidFill>
                  <a:srgbClr val="1F2D3A"/>
                </a:solidFill>
              </a:rPr>
              <a:t>hepsi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 yüzden bugün "whitebox = güvenli anahtar" demeyeceğiz.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Diyeceğiz ki: whitebox,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— ve tek başına yeterli değildir.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Önceki haftalardan gelenler (1)</a:t>
            </a:r>
          </a:p>
        </p:txBody>
      </p:sp>
      <p:pic>
        <p:nvPicPr>
          <p:cNvPr id="7" name="Picture 6" descr="h11-10-sifreleme-tem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055" y="1325880"/>
            <a:ext cx="3131585" cy="15499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85516"/>
            <a:ext cx="10911535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Şifreleme, anahtar, simetrik/asimetrik</a:t>
            </a:r>
            <a:r>
              <a:rPr sz="1800" b="0">
                <a:solidFill>
                  <a:srgbClr val="1F2D3A"/>
                </a:solidFill>
              </a:rPr>
              <a:t> — açık metni bir anahtarla okunamaz hale getirmek; güvenlik anahtarın gizliliğine dayanır, algoritmanın gizliliğine değil </a:t>
            </a:r>
            <a:r>
              <a:rPr sz="1800" b="1">
                <a:solidFill>
                  <a:srgbClr val="1F2D3A"/>
                </a:solidFill>
              </a:rPr>
              <a:t>(Hafta 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AES ve bit güvenlik düzeyi</a:t>
            </a:r>
            <a:r>
              <a:rPr sz="1800" b="0">
                <a:solidFill>
                  <a:srgbClr val="1F2D3A"/>
                </a:solidFill>
              </a:rPr>
              <a:t> — en yaygın simetrik algoritma, 16 baytlık bloklar, turlar; "n-bit güvenlik" ≈ 2ⁿ deneme </a:t>
            </a:r>
            <a:r>
              <a:rPr sz="1800" b="1">
                <a:solidFill>
                  <a:srgbClr val="1F2D3A"/>
                </a:solidFill>
              </a:rPr>
              <a:t>(Hafta 10)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XOR</a:t>
            </a:r>
            <a:r>
              <a:rPr sz="1800" b="0">
                <a:solidFill>
                  <a:srgbClr val="1F2D3A"/>
                </a:solidFill>
              </a:rPr>
              <a:t> — bitler farklıysa 1, aynıysa 0; </a:t>
            </a:r>
            <a:r>
              <a:rPr sz="1800" b="0">
                <a:solidFill>
                  <a:srgbClr val="A1123F"/>
                </a:solidFill>
                <a:latin typeface="Consolas"/>
              </a:rPr>
              <a:t>a^b^b=a</a:t>
            </a:r>
            <a:r>
              <a:rPr sz="1800" b="0">
                <a:solidFill>
                  <a:srgbClr val="1F2D3A"/>
                </a:solidFill>
              </a:rPr>
              <a:t> ile geri alınabilir; AES'te anahtar ekleme adımı budur </a:t>
            </a:r>
            <a:r>
              <a:rPr sz="1800" b="1">
                <a:solidFill>
                  <a:srgbClr val="1F2D3A"/>
                </a:solidFill>
              </a:rPr>
              <a:t>(Hafta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Entropi</a:t>
            </a:r>
            <a:r>
              <a:rPr sz="1800" b="0">
                <a:solidFill>
                  <a:srgbClr val="1F2D3A"/>
                </a:solidFill>
              </a:rPr>
              <a:t> — bir verinin baytlarının ne kadar rastgele göründüğünün ölçüsü; şifreli/rastgele bloklar yüksek entropili görünür </a:t>
            </a:r>
            <a:r>
              <a:rPr sz="1800" b="1">
                <a:solidFill>
                  <a:srgbClr val="1F2D3A"/>
                </a:solidFill>
              </a:rPr>
              <a:t>(Hafta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4700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hafta bu araçları </a:t>
            </a:r>
            <a:r>
              <a:rPr sz="1800" b="1">
                <a:solidFill>
                  <a:srgbClr val="1F2D3A"/>
                </a:solidFill>
              </a:rPr>
              <a:t>whitebox</a:t>
            </a:r>
            <a:r>
              <a:rPr sz="1800" b="0">
                <a:solidFill>
                  <a:srgbClr val="1F2D3A"/>
                </a:solidFill>
              </a:rPr>
              <a:t> bağlamında yeniden kullanıyoruz.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Önceki haftalardan gelenler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Hata ayıklayıcı (debugger)</a:t>
            </a:r>
            <a:r>
              <a:rPr sz="1800" b="0">
                <a:solidFill>
                  <a:srgbClr val="1F2D3A"/>
                </a:solidFill>
              </a:rPr>
              <a:t> — bir programı adım adım çalıştırıp bellek/kayıtları okuyan araç (gdb, x64dbg) </a:t>
            </a:r>
            <a:r>
              <a:rPr sz="1800" b="1">
                <a:solidFill>
                  <a:srgbClr val="1F2D3A"/>
                </a:solidFill>
              </a:rPr>
              <a:t>(Hafta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Statik ve dinamik analiz</a:t>
            </a:r>
            <a:r>
              <a:rPr sz="1800" b="0">
                <a:solidFill>
                  <a:srgbClr val="1F2D3A"/>
                </a:solidFill>
              </a:rPr>
              <a:t> — çalıştırmadan / çalıştırarak yapılan inceleme; saldırıları sınıflamakta kullanacağız </a:t>
            </a:r>
            <a:r>
              <a:rPr sz="1800" b="1">
                <a:solidFill>
                  <a:srgbClr val="1F2D3A"/>
                </a:solidFill>
              </a:rPr>
              <a:t>(Hafta 4)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Enstrümantasyon ve emülatör</a:t>
            </a:r>
            <a:r>
              <a:rPr sz="1800" b="0">
                <a:solidFill>
                  <a:srgbClr val="1F2D3A"/>
                </a:solidFill>
              </a:rPr>
              <a:t> — bir programı otomatik izleyen ve gerçek işlemciyi yazılımla taklit eden araçlar </a:t>
            </a:r>
            <a:r>
              <a:rPr sz="1800" b="1">
                <a:solidFill>
                  <a:srgbClr val="1F2D3A"/>
                </a:solidFill>
              </a:rPr>
              <a:t>(Hafta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HSM ve SoftHSM</a:t>
            </a:r>
            <a:r>
              <a:rPr sz="1800" b="0">
                <a:solidFill>
                  <a:srgbClr val="1F2D3A"/>
                </a:solidFill>
              </a:rPr>
              <a:t> — anahtarı hiç dışarı çıkarmadan işleyen özel donanım ve onun yazılım benzetimi </a:t>
            </a:r>
            <a:r>
              <a:rPr sz="1800" b="1">
                <a:solidFill>
                  <a:srgbClr val="1F2D3A"/>
                </a:solidFill>
              </a:rPr>
              <a:t>(Hafta 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8736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hafta bunları whitebox saldırganının araç kutusu ve savunma seçenekleri olarak yeniden görüyoruz.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800" b="1">
                <a:solidFill>
                  <a:srgbClr val="1F2D3A"/>
                </a:solidFill>
              </a:rPr>
              <a:t>nerede</a:t>
            </a:r>
            <a:r>
              <a:rPr sz="18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39696"/>
          <a:ext cx="10911534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5427"/>
                <a:gridCol w="1446107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Kara/gri/beyaz kutu, WBC saldırgan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Problem neden zor; naif çözümler (gömülü anahtar, XOR, code lifting)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 tabanlı WBC: kısmi değerlendirme, iç/dış kodlama, bijeksiyon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geçmişi: BGE, DFA, DCA, WhibOx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savunmadaki yer; TEE/SE, HSM/SoftHSM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Hatalı → saldırı → koruma senaryosu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 S8, kendini sınama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 bilgi · S-box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S-box (substitution box):</a:t>
            </a:r>
            <a:r>
              <a:rPr sz="2000" b="0">
                <a:solidFill>
                  <a:srgbClr val="1F2D3A"/>
                </a:solidFill>
              </a:rPr>
              <a:t> bir baytı başka bir baytla değiştiren </a:t>
            </a:r>
            <a:r>
              <a:rPr sz="2000" b="1">
                <a:solidFill>
                  <a:srgbClr val="1F2D3A"/>
                </a:solidFill>
              </a:rPr>
              <a:t>sabit bir tablo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AES'in "bayt değiştirme" adımı budur.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S-box[0x53] = 0xED</a:t>
            </a:r>
            <a:r>
              <a:rPr sz="2000" b="0">
                <a:solidFill>
                  <a:srgbClr val="1F2D3A"/>
                </a:solidFill>
              </a:rPr>
              <a:t> gibi 256 girişli bir eşleme.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tabloyu aklınızda tutun; whitebox'ın kalbi budur.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Arama tablosu (lookup 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Arama tablosu:</a:t>
            </a:r>
            <a:r>
              <a:rPr sz="2000" b="0">
                <a:solidFill>
                  <a:srgbClr val="1F2D3A"/>
                </a:solidFill>
              </a:rPr>
              <a:t> "girdiye karşılık çıktı" veren dizi.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</a:t>
            </a:r>
            <a:r>
              <a:rPr sz="2000" b="0">
                <a:solidFill>
                  <a:srgbClr val="1F2D3A"/>
                </a:solidFill>
              </a:rPr>
              <a:t> = x için önceden hesaplanmış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 yapmak yerine </a:t>
            </a:r>
            <a:r>
              <a:rPr sz="2000" b="1">
                <a:solidFill>
                  <a:srgbClr val="1F2D3A"/>
                </a:solidFill>
              </a:rPr>
              <a:t>tablodan okursunuz</a:t>
            </a:r>
            <a:r>
              <a:rPr sz="2000" b="0">
                <a:solidFill>
                  <a:srgbClr val="1F2D3A"/>
                </a:solidFill>
              </a:rPr>
              <a:t>; hızlıdır.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hesabı tablolara gömer.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 bilgi · Yan kanal (side channel)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 kanal:</a:t>
            </a:r>
            <a:r>
              <a:rPr sz="2000" b="0">
                <a:solidFill>
                  <a:srgbClr val="1F2D3A"/>
                </a:solidFill>
              </a:rPr>
              <a:t> algoritmanın matematiğini değil, çalışırken </a:t>
            </a:r>
            <a:r>
              <a:rPr sz="2000" b="1">
                <a:solidFill>
                  <a:srgbClr val="1F2D3A"/>
                </a:solidFill>
              </a:rPr>
              <a:t>sızdırdığı fiziksel/dolaylı bilgiyi</a:t>
            </a:r>
            <a:r>
              <a:rPr sz="2000" b="0">
                <a:solidFill>
                  <a:srgbClr val="1F2D3A"/>
                </a:solidFill>
              </a:rPr>
              <a:t> kullanan saldırı.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harcanan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güç</a:t>
            </a:r>
            <a:r>
              <a:rPr sz="2000" b="0">
                <a:solidFill>
                  <a:srgbClr val="1F2D3A"/>
                </a:solidFill>
              </a:rPr>
              <a:t> tüketimi, elektromanyetik yayım.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Kartlarda klasiktir; birazdan whitebox'ta yazılım karşılığını göreceğiz.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DPA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 (Differential Power Analysis):</a:t>
            </a:r>
            <a:r>
              <a:rPr sz="2000" b="0">
                <a:solidFill>
                  <a:srgbClr val="1F2D3A"/>
                </a:solidFill>
              </a:rPr>
              <a:t> bir cihazın </a:t>
            </a:r>
            <a:r>
              <a:rPr sz="2000" b="1">
                <a:solidFill>
                  <a:srgbClr val="1F2D3A"/>
                </a:solidFill>
              </a:rPr>
              <a:t>güç tüketimi</a:t>
            </a:r>
            <a:r>
              <a:rPr sz="2000" b="0">
                <a:solidFill>
                  <a:srgbClr val="1F2D3A"/>
                </a:solidFill>
              </a:rPr>
              <a:t> ölçümlerine istatistik uygulayıp anahtarı çıkaran yan kanal saldırısı.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Cihazın içine bakmaz; dışarıdan ölçer.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fikri aklınızda tutun; whitebox'ın en güçlü saldırısı (DCA) bunun yazılım hâlidir.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 bilgi · Bijeksiyon (birebir-örten eşleme)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Bijeksiyon:</a:t>
            </a:r>
            <a:r>
              <a:rPr sz="2000" b="0">
                <a:solidFill>
                  <a:srgbClr val="1F2D3A"/>
                </a:solidFill>
              </a:rPr>
              <a:t> her girdiyi tam bir çıktıya eşleyen, </a:t>
            </a:r>
            <a:r>
              <a:rPr sz="2000" b="1">
                <a:solidFill>
                  <a:srgbClr val="1F2D3A"/>
                </a:solidFill>
              </a:rPr>
              <a:t>tersi alınabilen</a:t>
            </a:r>
            <a:r>
              <a:rPr sz="2000" b="0">
                <a:solidFill>
                  <a:srgbClr val="1F2D3A"/>
                </a:solidFill>
              </a:rPr>
              <a:t> dönüşüm.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f(x) = x ^ 0x5A</a:t>
            </a:r>
            <a:r>
              <a:rPr sz="2000" b="0">
                <a:solidFill>
                  <a:srgbClr val="1F2D3A"/>
                </a:solidFill>
              </a:rPr>
              <a:t> bir bijeksiyondur (tersi yine kendisi).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tabloları </a:t>
            </a:r>
            <a:r>
              <a:rPr sz="2000" b="1">
                <a:solidFill>
                  <a:srgbClr val="1F2D3A"/>
                </a:solidFill>
              </a:rPr>
              <a:t>gizli bijeksiyonlarla</a:t>
            </a:r>
            <a:r>
              <a:rPr sz="2000" b="0">
                <a:solidFill>
                  <a:srgbClr val="1F2D3A"/>
                </a:solidFill>
              </a:rPr>
              <a:t> sarar.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 bilgi · TEE ve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TEE (Trusted Execution Environment):</a:t>
            </a:r>
            <a:r>
              <a:rPr sz="2000" b="0">
                <a:solidFill>
                  <a:srgbClr val="1F2D3A"/>
                </a:solidFill>
              </a:rPr>
              <a:t> telefon işlemcisinin, işletim sisteminden </a:t>
            </a:r>
            <a:r>
              <a:rPr sz="2000" b="1">
                <a:solidFill>
                  <a:srgbClr val="1F2D3A"/>
                </a:solidFill>
              </a:rPr>
              <a:t>yalıtılmış</a:t>
            </a:r>
            <a:r>
              <a:rPr sz="2000" b="0">
                <a:solidFill>
                  <a:srgbClr val="1F2D3A"/>
                </a:solidFill>
              </a:rPr>
              <a:t> güvenli bölgesi.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öğe (SE):</a:t>
            </a:r>
            <a:r>
              <a:rPr sz="2000" b="0">
                <a:solidFill>
                  <a:srgbClr val="1F2D3A"/>
                </a:solidFill>
              </a:rPr>
              <a:t> anahtarları saklayan ayrı, kurcalamaya dirençli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 çip.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 en güçlü koruma bunlardır; whitebox bunların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 içindir.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şifreleme/çözme · anahtar · simetrik/asimetrik · AES · S-box · arama tablosu · XOR · bit güvenlik · yan kanal · DPA · bijeksiyon · TEE/SE · HSM/SoftHSM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asıl soruya: </a:t>
            </a:r>
            <a:r>
              <a:rPr sz="2000" b="1">
                <a:solidFill>
                  <a:srgbClr val="1F2D3A"/>
                </a:solidFill>
              </a:rPr>
              <a:t>anahtar saldırganın elindeyken ne yaparız?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Üç saldırgan modeli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1883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Kerckhoffs</a:t>
            </a:r>
            <a:r>
              <a:rPr sz="1800" b="0">
                <a:solidFill>
                  <a:srgbClr val="1F2D3A"/>
                </a:solidFill>
              </a:rPr>
              <a:t>: güvenlik </a:t>
            </a:r>
            <a:r>
              <a:rPr sz="1800" b="1">
                <a:solidFill>
                  <a:srgbClr val="1F2D3A"/>
                </a:solidFill>
              </a:rPr>
              <a:t>anahtarda</a:t>
            </a:r>
            <a:r>
              <a:rPr sz="1800" b="0">
                <a:solidFill>
                  <a:srgbClr val="1F2D3A"/>
                </a:solidFill>
              </a:rPr>
              <a:t> olmalı, sistemin gizliliğinde değil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ilk </a:t>
            </a:r>
            <a:r>
              <a:rPr sz="1800" b="1">
                <a:solidFill>
                  <a:srgbClr val="1F2D3A"/>
                </a:solidFill>
              </a:rPr>
              <a:t>whitebox AES/DES</a:t>
            </a:r>
            <a:r>
              <a:rPr sz="1800" b="0">
                <a:solidFill>
                  <a:srgbClr val="1F2D3A"/>
                </a:solidFill>
              </a:rPr>
              <a:t> (DRM için) — WBC'nin doğuşu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BGE saldırısı</a:t>
            </a:r>
            <a:r>
              <a:rPr sz="1800" b="0">
                <a:solidFill>
                  <a:srgbClr val="1F2D3A"/>
                </a:solidFill>
              </a:rPr>
              <a:t> ilk WB-AES'i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 (Bos vd.): donanım DPA'sı yazılıma taşınır, otomatik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2017–2024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WhibOx</a:t>
            </a:r>
            <a:r>
              <a:rPr sz="1800" b="0">
                <a:solidFill>
                  <a:srgbClr val="1F2D3A"/>
                </a:solidFill>
              </a:rPr>
              <a:t>: yayımlanan tüm saf-yazılım adaylar kırıldı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kural: WBC bir </a:t>
            </a:r>
            <a:r>
              <a:rPr sz="1800" b="1">
                <a:solidFill>
                  <a:srgbClr val="1F2D3A"/>
                </a:solidFill>
              </a:rPr>
              <a:t>geciktirme katmanı</a:t>
            </a:r>
            <a:r>
              <a:rPr sz="1800" b="0">
                <a:solidFill>
                  <a:srgbClr val="1F2D3A"/>
                </a:solidFill>
              </a:rPr>
              <a:t>; mümkünse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(TEE/SE/HSM).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"model"?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savunmayı tasarlamadan önce </a:t>
            </a:r>
            <a:r>
              <a:rPr sz="2000" b="1">
                <a:solidFill>
                  <a:srgbClr val="1F2D3A"/>
                </a:solidFill>
              </a:rPr>
              <a:t>saldırganın neyi görebildiğini</a:t>
            </a:r>
            <a:r>
              <a:rPr sz="2000" b="0">
                <a:solidFill>
                  <a:srgbClr val="1F2D3A"/>
                </a:solidFill>
              </a:rPr>
              <a:t> belirlemeliyiz.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saldırgan modeli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model var: kara, gri, beyaz kutu.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yalnız girdi ve çıktıyı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(anahtar, ara değerler)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uzak sunucu</a:t>
            </a:r>
            <a:r>
              <a:rPr sz="2000" b="0">
                <a:solidFill>
                  <a:srgbClr val="1F2D3A"/>
                </a:solidFill>
              </a:rPr>
              <a:t> (kod sizde, saldırgan ağdan bağlanıyor).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AES/RSA'nın güvenlik kanıtları bunu varsayar.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Gri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girdi/çıktıya ek olarak </a:t>
            </a:r>
            <a:r>
              <a:rPr sz="2000" b="1">
                <a:solidFill>
                  <a:srgbClr val="1F2D3A"/>
                </a:solidFill>
              </a:rPr>
              <a:t>yan kanalları</a:t>
            </a:r>
            <a:r>
              <a:rPr sz="2000" b="0">
                <a:solidFill>
                  <a:srgbClr val="1F2D3A"/>
                </a:solidFill>
              </a:rPr>
              <a:t> görür (zaman, güç, 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doğrudan okuyamaz ama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elinde tuttuğu bir </a:t>
            </a:r>
            <a:r>
              <a:rPr sz="2000" b="1">
                <a:solidFill>
                  <a:srgbClr val="1F2D3A"/>
                </a:solidFill>
              </a:rPr>
              <a:t>akıllı kart</a:t>
            </a:r>
            <a:r>
              <a:rPr sz="2000" b="0">
                <a:solidFill>
                  <a:srgbClr val="1F2D3A"/>
                </a:solidFill>
              </a:rPr>
              <a:t> ya da gömülü cihaz.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her şeyi</a:t>
            </a:r>
            <a:r>
              <a:rPr sz="2000" b="0">
                <a:solidFill>
                  <a:srgbClr val="1F2D3A"/>
                </a:solidFill>
              </a:rPr>
              <a:t> görür: kod, bellek, tüm ara değerler.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Üstelik </a:t>
            </a:r>
            <a:r>
              <a:rPr sz="2000" b="1">
                <a:solidFill>
                  <a:srgbClr val="1F2D3A"/>
                </a:solidFill>
              </a:rPr>
              <a:t>değiştirebilir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, saldırganın kendi cihazında çalışıyor.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mobil/masaüstü uygulamanın gerçek durumudur.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model bir arada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4364613"/>
                <a:gridCol w="454647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görür /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yan kanal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Akıllı kart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 +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Yazılım, kendi cihazı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için tasarlandı; biz </a:t>
            </a:r>
            <a:r>
              <a:rPr sz="1800" b="1">
                <a:solidFill>
                  <a:srgbClr val="1F2D3A"/>
                </a:solidFill>
              </a:rPr>
              <a:t>beyaz kutudayız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saldırgan modeli — ne görüyor?</a:t>
            </a:r>
          </a:p>
        </p:txBody>
      </p:sp>
      <p:pic>
        <p:nvPicPr>
          <p:cNvPr id="7" name="Picture 6" descr="h11-01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3972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burada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matematiksel olarak güçlü.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kutuda </a:t>
            </a:r>
            <a:r>
              <a:rPr sz="2000" b="1">
                <a:solidFill>
                  <a:srgbClr val="1F2D3A"/>
                </a:solidFill>
              </a:rPr>
              <a:t>anahtar bellekte</a:t>
            </a:r>
            <a:r>
              <a:rPr sz="2000" b="0">
                <a:solidFill>
                  <a:srgbClr val="1F2D3A"/>
                </a:solidFill>
              </a:rPr>
              <a:t> bir yerdedir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zaman AES'in gücü ne işe yarar?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Güçlü kilit, anahtarı kapının yanına asarsanız işe yaramaz.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 kriptografi (WBC)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WBC:</a:t>
            </a:r>
            <a:r>
              <a:rPr sz="2000" b="0">
                <a:solidFill>
                  <a:srgbClr val="1F2D3A"/>
                </a:solidFill>
              </a:rPr>
              <a:t> şifrelemeyi, anahtar </a:t>
            </a:r>
            <a:r>
              <a:rPr sz="2000" b="1">
                <a:solidFill>
                  <a:srgbClr val="1F2D3A"/>
                </a:solidFill>
              </a:rPr>
              <a:t>hiçbir zaman açıkça bellekte olmayacak</a:t>
            </a:r>
            <a:r>
              <a:rPr sz="2000" b="0">
                <a:solidFill>
                  <a:srgbClr val="1F2D3A"/>
                </a:solidFill>
              </a:rPr>
              <a:t> biçimde gerçekleştirmek.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önceden hesaplanmış </a:t>
            </a:r>
            <a:r>
              <a:rPr sz="2000" b="1">
                <a:solidFill>
                  <a:srgbClr val="1F2D3A"/>
                </a:solidFill>
              </a:rPr>
              <a:t>arama tablolarının içine</a:t>
            </a:r>
            <a:r>
              <a:rPr sz="2000" b="0">
                <a:solidFill>
                  <a:srgbClr val="1F2D3A"/>
                </a:solidFill>
              </a:rPr>
              <a:t> gömülür.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"işte anahtar bu" diyebileceğiniz bir bayt dizisi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bir tanım değil, bir 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2002'de Chow ve arkadaşları tarafından tanımlandı.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Aslında bir </a:t>
            </a:r>
            <a:r>
              <a:rPr sz="2000" b="1">
                <a:solidFill>
                  <a:srgbClr val="1F2D3A"/>
                </a:solidFill>
              </a:rPr>
              <a:t>saldırgan modelidir</a:t>
            </a:r>
            <a:r>
              <a:rPr sz="2000" b="0">
                <a:solidFill>
                  <a:srgbClr val="1F2D3A"/>
                </a:solidFill>
              </a:rPr>
              <a:t>: "saldırgan her şeyi görüp değiştirebiliyorsa şifreleme nasıl yapılır?"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 işlenen komutlara erişir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akışını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Kullanılan </a:t>
            </a:r>
            <a:r>
              <a:rPr sz="2000" b="1">
                <a:solidFill>
                  <a:srgbClr val="1F2D3A"/>
                </a:solidFill>
              </a:rPr>
              <a:t>belleği görür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Yani programın gördüğü her ara değeri o da görür.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Değiştirir: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belleğini kurcalar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yalnız bir turunu</a:t>
            </a:r>
            <a:r>
              <a:rPr sz="2000" b="0">
                <a:solidFill>
                  <a:srgbClr val="1F2D3A"/>
                </a:solidFill>
              </a:rPr>
              <a:t> çalıştırır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koşullarını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 sayaçlarını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 (bir değeri bozar)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Kaynağın uyum maddesi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Teknik kılavuz bu bölümü şu gereksinimle açar: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"Kriptografik anahtarlar, gizlilik ve bütünlüğü korumak için </a:t>
            </a:r>
            <a:r>
              <a:rPr sz="2000" b="1">
                <a:solidFill>
                  <a:srgbClr val="1F2D3A"/>
                </a:solidFill>
              </a:rPr>
              <a:t>güvence altına alınmalı ve/veya gizlenmelidir.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hemen ekliyor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Kılavuz, bu saldırgan yeteneklerine karşı koruyanın </a:t>
            </a:r>
            <a:r>
              <a:rPr sz="2000" b="1">
                <a:solidFill>
                  <a:srgbClr val="1F2D3A"/>
                </a:solidFill>
              </a:rPr>
              <a:t>yalnız WBC olmadığını</a:t>
            </a:r>
            <a:r>
              <a:rPr sz="2000" b="0">
                <a:solidFill>
                  <a:srgbClr val="1F2D3A"/>
                </a:solidFill>
              </a:rPr>
              <a:t> söyler: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Uygulamayı ve varlıkları koruyan şey, </a:t>
            </a:r>
            <a:r>
              <a:rPr sz="2000" b="1">
                <a:solidFill>
                  <a:srgbClr val="1F2D3A"/>
                </a:solidFill>
              </a:rPr>
              <a:t>kod sağlamlaştırma (9. hafta) ve RASP (6. hafta)</a:t>
            </a:r>
            <a:r>
              <a:rPr sz="2000" b="0">
                <a:solidFill>
                  <a:srgbClr val="1F2D3A"/>
                </a:solidFill>
              </a:rPr>
              <a:t> yöntemleridir.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ilk cümleden itibaren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sunulmaz.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Problem ve naif çözümler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Problem neden bu kadar zor?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gerilim: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şifrelemek için anahtara </a:t>
            </a:r>
            <a:r>
              <a:rPr sz="2000" b="1">
                <a:solidFill>
                  <a:srgbClr val="1F2D3A"/>
                </a:solidFill>
              </a:rPr>
              <a:t>erişmek</a:t>
            </a:r>
            <a:r>
              <a:rPr sz="2000" b="0">
                <a:solidFill>
                  <a:srgbClr val="1F2D3A"/>
                </a:solidFill>
              </a:rPr>
              <a:t> zorunda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da programın gördüğü her şeyi görüyor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anahtar bir noktada </a:t>
            </a:r>
            <a:r>
              <a:rPr sz="2000" b="1">
                <a:solidFill>
                  <a:srgbClr val="1F2D3A"/>
                </a:solidFill>
              </a:rPr>
              <a:t>saldırganın da görebildiği</a:t>
            </a:r>
            <a:r>
              <a:rPr sz="2000" b="0">
                <a:solidFill>
                  <a:srgbClr val="1F2D3A"/>
                </a:solidFill>
              </a:rPr>
              <a:t> yerde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bunu "anahtarı tablolara pişirerek" aşmaya çalışır.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gizlilik değil,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gizliliği kriptodan gizlemeye </a:t>
            </a:r>
            <a:r>
              <a:rPr sz="2000" b="1">
                <a:solidFill>
                  <a:srgbClr val="1F2D3A"/>
                </a:solidFill>
              </a:rPr>
              <a:t>taşımaz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Matematiksel bir dönüşümle anahtarı tablolara </a:t>
            </a:r>
            <a:r>
              <a:rPr sz="2000" b="1">
                <a:solidFill>
                  <a:srgbClr val="1F2D3A"/>
                </a:solidFill>
              </a:rPr>
              <a:t>dağıtır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yine 9. haftadaki gibi: anahtarı geri çıkarmayı </a:t>
            </a:r>
            <a:r>
              <a:rPr sz="2000" b="1">
                <a:solidFill>
                  <a:srgbClr val="1F2D3A"/>
                </a:solidFill>
              </a:rPr>
              <a:t>çok daha pahalı</a:t>
            </a:r>
            <a:r>
              <a:rPr sz="2000" b="0">
                <a:solidFill>
                  <a:srgbClr val="1F2D3A"/>
                </a:solidFill>
              </a:rPr>
              <a:t> yapmak.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Naif çözümler neden çöker?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tablodan nasıl sızıyor — şema</a:t>
            </a:r>
          </a:p>
        </p:txBody>
      </p:sp>
      <p:pic>
        <p:nvPicPr>
          <p:cNvPr id="7" name="Picture 6" descr="h11-02-anahtar-sizm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9149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çökenleri öğreniyoruz?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WBC'ye neden ihtiyaç olduğunu görmek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başarısız "kolay" çözüm, bir güvenli programlama </a:t>
            </a:r>
            <a:r>
              <a:rPr sz="2000" b="1">
                <a:solidFill>
                  <a:srgbClr val="1F2D3A"/>
                </a:solidFill>
              </a:rPr>
              <a:t>kuralına</a:t>
            </a:r>
            <a:r>
              <a:rPr sz="2000" b="0">
                <a:solidFill>
                  <a:srgbClr val="1F2D3A"/>
                </a:solidFill>
              </a:rPr>
              <a:t> dönüşür.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Anahtarı diziye göm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0x2B, 0x7E, ... };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kolay yol, en zayıf yol.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Nasıl kırılır?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/ bayt taraması: 16 baytlık blok görünür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 taraması:</a:t>
            </a:r>
            <a:r>
              <a:rPr sz="2000" b="0">
                <a:solidFill>
                  <a:srgbClr val="1F2D3A"/>
                </a:solidFill>
              </a:rPr>
              <a:t> yüksek entropili blok "anahtar burada" der (Shamir–van Someren gözlemi)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ayıklayıcı: şifreleme çağrısında bu bloğun kullanıldığını doğrular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gömülü anahtar bir anahtar koruması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"dize gizleme anahtar saklamaz" kuralının ta kendisi.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XOR ile "karıştır"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k_gizli[16] = ...;   /* k ^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çalışırken: k = k_gizli ^ maske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"Anahtarı bir maskeyle XOR'layıp saklayayım."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Neden çöker?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 de</a:t>
            </a:r>
            <a:r>
              <a:rPr sz="2000" b="0">
                <a:solidFill>
                  <a:srgbClr val="1F2D3A"/>
                </a:solidFill>
              </a:rPr>
              <a:t> ikili dosyadadır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çözebiliyorsa, saldırgan da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bir adım fazladan; gerçek bir engel değil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neyi yapabiliyorsa, beyaz kutu saldırgan da yapar.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3 tehdidi · Kod sökme (code lifting)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Diyelim WBC anahtarı tablolara gömdü.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hiç çıkarmadan</a:t>
            </a:r>
            <a:r>
              <a:rPr sz="2000" b="0">
                <a:solidFill>
                  <a:srgbClr val="1F2D3A"/>
                </a:solidFill>
              </a:rPr>
              <a:t>, şifreleme yapan kod parçasını (tablolar + yorumlayıcı) </a:t>
            </a:r>
            <a:r>
              <a:rPr sz="2000" b="1">
                <a:solidFill>
                  <a:srgbClr val="1F2D3A"/>
                </a:solidFill>
              </a:rPr>
              <a:t>olduğu gibi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programında kullanır: anahtarı bilmeden işlevini </a:t>
            </a:r>
            <a:r>
              <a:rPr sz="2000" b="1">
                <a:solidFill>
                  <a:srgbClr val="1F2D3A"/>
                </a:solidFill>
              </a:rPr>
              <a:t>çalar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Code lifting — şema</a:t>
            </a:r>
          </a:p>
        </p:txBody>
      </p:sp>
      <p:pic>
        <p:nvPicPr>
          <p:cNvPr id="7" name="Picture 6" descr="h11-06-code-lif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79910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sökme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WBC'nin "anahtarı gizledim" demesi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sökmeye (code lifting) karşı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gerekir (birazdan 3. bölüm): tablolar yalnız belirli bir cihazda/sürümde anlamlı olsun.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çözümler: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9812"/>
                <a:gridCol w="651172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Naif çözüm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Kıran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Diziye gömülü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entropi + gdb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XOR/whitening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maske de içeride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(WBC bile)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sökme → cihaz bağlama gerekir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Kara, gri, beyaz kutu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AES güçlüyken beyaz kutuda sorun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Anahtarı diziye gömmek neden koruma değil?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Kara:</a:t>
            </a:r>
            <a:r>
              <a:rPr sz="1800" b="0">
                <a:solidFill>
                  <a:srgbClr val="1F2D3A"/>
                </a:solidFill>
              </a:rPr>
              <a:t> yalnız girdi/çıktı · </a:t>
            </a:r>
            <a:r>
              <a:rPr sz="1800" b="1">
                <a:solidFill>
                  <a:srgbClr val="1F2D3A"/>
                </a:solidFill>
              </a:rPr>
              <a:t>Gri:</a:t>
            </a:r>
            <a:r>
              <a:rPr sz="1800" b="0">
                <a:solidFill>
                  <a:srgbClr val="1F2D3A"/>
                </a:solidFill>
              </a:rPr>
              <a:t> + yan kanallar (zaman/güç) · </a:t>
            </a:r>
            <a:r>
              <a:rPr sz="1800" b="1">
                <a:solidFill>
                  <a:srgbClr val="1F2D3A"/>
                </a:solidFill>
              </a:rPr>
              <a:t>Beyaz:</a:t>
            </a:r>
            <a:r>
              <a:rPr sz="1800" b="0">
                <a:solidFill>
                  <a:srgbClr val="1F2D3A"/>
                </a:solidFill>
              </a:rPr>
              <a:t> her şey + değiştirir.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Anahtar bir noktada </a:t>
            </a:r>
            <a:r>
              <a:rPr sz="1800" b="1">
                <a:solidFill>
                  <a:srgbClr val="1F2D3A"/>
                </a:solidFill>
              </a:rPr>
              <a:t>bellekte</a:t>
            </a:r>
            <a:r>
              <a:rPr sz="1800" b="0">
                <a:solidFill>
                  <a:srgbClr val="1F2D3A"/>
                </a:solidFill>
              </a:rPr>
              <a:t>; beyaz kutu saldırgan onu görür. AES'in gücü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varsayımına dayanır.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entropi</a:t>
            </a:r>
            <a:r>
              <a:rPr sz="1800" b="0">
                <a:solidFill>
                  <a:srgbClr val="1F2D3A"/>
                </a:solidFill>
              </a:rPr>
              <a:t> taraması + gdb ile dakikalar içinde bulunur; program onu kullanmak zorundadır.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Tablo tabanlı WBC (adım adım)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öğreneceğiz?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Chow ve arkadaşlarının 2002 AES tasarımı, tablo tabanlı WBC'nin klasiğidir.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Fikri</a:t>
            </a:r>
            <a:r>
              <a:rPr sz="2000" b="0">
                <a:solidFill>
                  <a:srgbClr val="1F2D3A"/>
                </a:solidFill>
              </a:rPr>
              <a:t> (nasıl çalışır)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Maliyeti</a:t>
            </a:r>
            <a:r>
              <a:rPr sz="2000" b="0">
                <a:solidFill>
                  <a:srgbClr val="1F2D3A"/>
                </a:solidFill>
              </a:rPr>
              <a:t> (tablo boyutu, hız)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Sınırı</a:t>
            </a:r>
            <a:r>
              <a:rPr sz="2000" b="0">
                <a:solidFill>
                  <a:srgbClr val="1F2D3A"/>
                </a:solidFill>
              </a:rPr>
              <a:t> (neden yeterli değil)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Sınavda matematik yok; </a:t>
            </a:r>
            <a:r>
              <a:rPr sz="2000" b="1">
                <a:solidFill>
                  <a:srgbClr val="1F2D3A"/>
                </a:solidFill>
              </a:rPr>
              <a:t>fikir ve sınır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Hatırlatma: bir AES turunun iki adımı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Durum baytını tur anahtarıyla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'la: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Sonucu </a:t>
            </a:r>
            <a:r>
              <a:rPr sz="2000" b="1">
                <a:solidFill>
                  <a:srgbClr val="1F2D3A"/>
                </a:solidFill>
              </a:rPr>
              <a:t>S-box</a:t>
            </a:r>
            <a:r>
              <a:rPr sz="2000" b="0">
                <a:solidFill>
                  <a:srgbClr val="1F2D3A"/>
                </a:solidFill>
              </a:rPr>
              <a:t>'tan geçir: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S-box[x ^ k]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iki adım, sabit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için birleştirilebilir mi? Evet.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Anahtarı tabloya "pişir"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Normal:  çıktı = S-box[ x ^ 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WBC:     T[x]  = S-box[ x ^ k ]   (256 girişli tablo)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diye bir değişken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tablonun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gömülü.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 kazandık?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adında bir bayt dizisi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tablosu var (256 giriş)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Görünüşte anahtar kayboldu. Ama...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tek başına güvensiz?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S-box'ın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ötelenmiş</a:t>
            </a:r>
            <a:r>
              <a:rPr sz="2000" b="0">
                <a:solidFill>
                  <a:srgbClr val="1F2D3A"/>
                </a:solidFill>
              </a:rPr>
              <a:t> hali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S-box ile karşılaştırır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</a:t>
            </a:r>
            <a:r>
              <a:rPr sz="2000" b="1">
                <a:solidFill>
                  <a:srgbClr val="1F2D3A"/>
                </a:solidFill>
              </a:rPr>
              <a:t>geri çıkarır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tabloları </a:t>
            </a:r>
            <a:r>
              <a:rPr sz="2000" b="1">
                <a:solidFill>
                  <a:srgbClr val="1F2D3A"/>
                </a:solidFill>
              </a:rPr>
              <a:t>kodlamak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oyuncak örnek?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AES 256 girişli tablolarla çalışır; tahtaya sığmaz.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Fikri </a:t>
            </a:r>
            <a:r>
              <a:rPr sz="2000" b="1">
                <a:solidFill>
                  <a:srgbClr val="1F2D3A"/>
                </a:solidFill>
              </a:rPr>
              <a:t>4 değerli</a:t>
            </a:r>
            <a:r>
              <a:rPr sz="2000" b="0">
                <a:solidFill>
                  <a:srgbClr val="1F2D3A"/>
                </a:solidFill>
              </a:rPr>
              <a:t> minik bir örnekle göreceğiz.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"anahtarı tabloya pişirmek" ne demek,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görmek.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S-box tanımı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Diyelim 2 bitlik değerlerimiz var (0,1,2,3) ve şu sabit S-box: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S-box[x]: 3  2  0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</a:t>
            </a:r>
            <a:r>
              <a:rPr sz="2000" b="1">
                <a:solidFill>
                  <a:srgbClr val="1F2D3A"/>
                </a:solidFill>
              </a:rPr>
              <a:t>herkese açık</a:t>
            </a:r>
            <a:r>
              <a:rPr sz="2000" b="0">
                <a:solidFill>
                  <a:srgbClr val="1F2D3A"/>
                </a:solidFill>
              </a:rPr>
              <a:t> (algoritmanın parçası, sır değil).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ve işlem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1</a:t>
            </a:r>
            <a:r>
              <a:rPr sz="2000" b="0">
                <a:solidFill>
                  <a:srgbClr val="1F2D3A"/>
                </a:solidFill>
              </a:rPr>
              <a:t> (gizli).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İşlem (bir AES turunun mini hâli):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çıktı = S-box[x ^ k]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 = XOR.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1</a:t>
            </a:r>
            <a:r>
              <a:rPr sz="2000" b="0">
                <a:solidFill>
                  <a:srgbClr val="1F2D3A"/>
                </a:solidFill>
              </a:rPr>
              <a:t>: 0↔1, 2↔3 (son biti çevirir).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adım: normal işlem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x=0 → x^1=1 → S-box[1]=2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x=1 → x^1=0 → S-box[0]=3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x=2 → x^1=3 → S-box[3]=1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x=3 → x^1=2 → S-box[2]=0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Burada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kodda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kullanılıyor. Saldırgan görür.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 tabloya "pişir"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1]</a:t>
            </a:r>
            <a:r>
              <a:rPr sz="2000" b="0">
                <a:solidFill>
                  <a:srgbClr val="1F2D3A"/>
                </a:solidFill>
              </a:rPr>
              <a:t> diye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hesaplayıp tablo yapalım: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T[x]: 2  3  1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var. Görünüşte anahtar kayboldu.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anahtar sızıyor! (kodlama yoksa)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 ile karşılaştırır: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S-box: 3 2 0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T:     2 3 1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olduğunu bilerek 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uyuyor diye dener: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uyar.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87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</a:t>
            </a:r>
            <a:r>
              <a:rPr sz="2000" b="0">
                <a:solidFill>
                  <a:srgbClr val="1F2D3A"/>
                </a:solidFill>
              </a:rPr>
              <a:t> kodlanmamış tablo anahtarı ele verir. İşte bu yüzden iç/dış kodlama var.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Tabloları büyüt (T-box)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eşlemesi yerine, S-box ile AES'in </a:t>
            </a:r>
            <a:r>
              <a:rPr sz="2000" b="1">
                <a:solidFill>
                  <a:srgbClr val="1F2D3A"/>
                </a:solidFill>
              </a:rPr>
              <a:t>karıştırma</a:t>
            </a:r>
            <a:r>
              <a:rPr sz="2000" b="0">
                <a:solidFill>
                  <a:srgbClr val="1F2D3A"/>
                </a:solidFill>
              </a:rPr>
              <a:t> adımını (MixColumns)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8 bit girip </a:t>
            </a:r>
            <a:r>
              <a:rPr sz="2000" b="1">
                <a:solidFill>
                  <a:srgbClr val="1F2D3A"/>
                </a:solidFill>
              </a:rPr>
              <a:t>32 bit</a:t>
            </a:r>
            <a:r>
              <a:rPr sz="2000" b="0">
                <a:solidFill>
                  <a:srgbClr val="1F2D3A"/>
                </a:solidFill>
              </a:rPr>
              <a:t> çıkaran daha büyük tablolar (</a:t>
            </a:r>
            <a:r>
              <a:rPr sz="2000" b="1">
                <a:solidFill>
                  <a:srgbClr val="1F2D3A"/>
                </a:solidFill>
              </a:rPr>
              <a:t>T-box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Baytlar arası XOR'lar da küçük </a:t>
            </a:r>
            <a:r>
              <a:rPr sz="2000" b="1">
                <a:solidFill>
                  <a:srgbClr val="1F2D3A"/>
                </a:solidFill>
              </a:rPr>
              <a:t>XOR tabloları</a:t>
            </a:r>
            <a:r>
              <a:rPr sz="2000" b="0">
                <a:solidFill>
                  <a:srgbClr val="1F2D3A"/>
                </a:solidFill>
              </a:rPr>
              <a:t> (4 bit) olur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tur, bir </a:t>
            </a:r>
            <a:r>
              <a:rPr sz="2000" b="1">
                <a:solidFill>
                  <a:srgbClr val="1F2D3A"/>
                </a:solidFill>
              </a:rPr>
              <a:t>arama tabloları ağına</a:t>
            </a:r>
            <a:r>
              <a:rPr sz="2000" b="0">
                <a:solidFill>
                  <a:srgbClr val="1F2D3A"/>
                </a:solidFill>
              </a:rPr>
              <a:t> dönüşür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yerde açık bir aritmetik anahtar işlemi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tablolar hâlâ tek başına incelenebilir → kodlama şart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İç kodlamalar (internal encodings)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tablonun </a:t>
            </a:r>
            <a:r>
              <a:rPr sz="2000" b="1">
                <a:solidFill>
                  <a:srgbClr val="1F2D3A"/>
                </a:solidFill>
              </a:rPr>
              <a:t>çıkışına</a:t>
            </a:r>
            <a:r>
              <a:rPr sz="2000" b="0">
                <a:solidFill>
                  <a:srgbClr val="1F2D3A"/>
                </a:solidFill>
              </a:rPr>
              <a:t> gizli bir bijeksiyon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tablonun </a:t>
            </a:r>
            <a:r>
              <a:rPr sz="2000" b="1">
                <a:solidFill>
                  <a:srgbClr val="1F2D3A"/>
                </a:solidFill>
              </a:rPr>
              <a:t>girişinde</a:t>
            </a:r>
            <a:r>
              <a:rPr sz="2000" b="0">
                <a:solidFill>
                  <a:srgbClr val="1F2D3A"/>
                </a:solidFill>
              </a:rPr>
              <a:t> onun tersini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 kodlamalar birbirini </a:t>
            </a:r>
            <a:r>
              <a:rPr sz="2000" b="1">
                <a:solidFill>
                  <a:srgbClr val="1F2D3A"/>
                </a:solidFill>
              </a:rPr>
              <a:t>götürür</a:t>
            </a:r>
            <a:r>
              <a:rPr sz="2000" b="0">
                <a:solidFill>
                  <a:srgbClr val="1F2D3A"/>
                </a:solidFill>
              </a:rPr>
              <a:t> → sonuç doğru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ara değerler karışık</a:t>
            </a:r>
            <a:r>
              <a:rPr sz="2000" b="0">
                <a:solidFill>
                  <a:srgbClr val="1F2D3A"/>
                </a:solidFill>
              </a:rPr>
              <a:t> görünür.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— şema</a:t>
            </a:r>
          </a:p>
        </p:txBody>
      </p:sp>
      <p:pic>
        <p:nvPicPr>
          <p:cNvPr id="7" name="Picture 6" descr="h11-03-ic-kod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722308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tabloyu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inceleyen saldırganı durdurmayı amaçlar.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o tablonun girişi/çıkışı, gizli bir kodlamayla bozulmuştur.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 fikri (minik)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Çıkışa gizli bir eşleme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uygula: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T'[x] = E(T[x])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E: 0→1, 1→3, 2→0, 3→2   (gizli bijeksiyon)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T':  E(2) E(3) E(1) E(0) = 0 2 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T'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'a benzemez; basit karşılaştırma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vermez.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Kodlamanın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adım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tersini</a:t>
            </a:r>
            <a:r>
              <a:rPr sz="2000" b="0">
                <a:solidFill>
                  <a:srgbClr val="1F2D3A"/>
                </a:solidFill>
              </a:rPr>
              <a:t> uygulamalı ki sonuç doğru çıksın.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AES'te bu, tabloları </a:t>
            </a:r>
            <a:r>
              <a:rPr sz="2000" b="1">
                <a:solidFill>
                  <a:srgbClr val="1F2D3A"/>
                </a:solidFill>
              </a:rPr>
              <a:t>zincirleyerek</a:t>
            </a:r>
            <a:r>
              <a:rPr sz="2000" b="0">
                <a:solidFill>
                  <a:srgbClr val="1F2D3A"/>
                </a:solidFill>
              </a:rPr>
              <a:t> yapılır (iç kodlamalar).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kodlama fazladan tablo ve boyut demektir →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Minik örnek bile fikri gösteriyor: gizlilik ucuz değil.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Karıştırıcı bijeksiyonlar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kodlamalara ek olarak, GF(2) üzerinde doğrusal </a:t>
            </a:r>
            <a:r>
              <a:rPr sz="2000" b="1">
                <a:solidFill>
                  <a:srgbClr val="1F2D3A"/>
                </a:solidFill>
              </a:rPr>
              <a:t>karıştırıcı matrisler</a:t>
            </a:r>
            <a:r>
              <a:rPr sz="2000" b="0">
                <a:solidFill>
                  <a:srgbClr val="1F2D3A"/>
                </a:solidFill>
              </a:rPr>
              <a:t> (8×8, 32×32)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Bunlar bilgiyi tablolar arasında </a:t>
            </a:r>
            <a:r>
              <a:rPr sz="2000" b="1">
                <a:solidFill>
                  <a:srgbClr val="1F2D3A"/>
                </a:solidFill>
              </a:rPr>
              <a:t>yayar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tablodan sızan bilgi tek başına anlamlı olmaz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(GF(2) = bitlerle, XOR aritmetiğiyle çalışan matematik; ayrıntı gerekmez.)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Tablo tipleri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Chow'un tasarımında bu kodlanmış/karıştırılmış tabloların </a:t>
            </a:r>
            <a:r>
              <a:rPr sz="2000" b="1">
                <a:solidFill>
                  <a:srgbClr val="1F2D3A"/>
                </a:solidFill>
              </a:rPr>
              <a:t>tipleri</a:t>
            </a:r>
            <a:r>
              <a:rPr sz="2000" b="0">
                <a:solidFill>
                  <a:srgbClr val="1F2D3A"/>
                </a:solidFill>
              </a:rPr>
              <a:t> vardır (literatürde I–IV).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tip farklı bir rol üstlenir.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için: "tablolar tek tip değil, çeşitli" bilmek yeter.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kodlamalar F ve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dışta, tüm şifre iki gizli bijeksiyonla sarılır: </a:t>
            </a:r>
            <a:r>
              <a:rPr sz="2000" b="1">
                <a:solidFill>
                  <a:srgbClr val="1F2D3A"/>
                </a:solidFill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kılavuz: "whitebox AES işlemi F ve G adlı iki rastgele tekil-olmayan matrisle kapsüllenir"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ağ artık saf AES değil:</a:t>
            </a:r>
          </a:p>
        </p:txBody>
      </p:sp>
      <p:pic>
        <p:nvPicPr>
          <p:cNvPr id="8" name="Picture 7" descr="h11-04-dis-kod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85008"/>
            <a:ext cx="10911535" cy="215775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 neden güçlü?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gördüğü giriş/çıkış </a:t>
            </a:r>
            <a:r>
              <a:rPr sz="2000" b="1">
                <a:solidFill>
                  <a:srgbClr val="1F2D3A"/>
                </a:solidFill>
              </a:rPr>
              <a:t>standart AES'in giriş/çıkışı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tablolara bakan pek çok saldırıyı (istatistiksel/cebirsel) çok zorlaştırır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Ama en büyük sınır da 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standart AES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(sunucu/başka uç) </a:t>
            </a:r>
            <a:r>
              <a:rPr sz="2000" b="0">
                <a:solidFill>
                  <a:srgbClr val="A1123F"/>
                </a:solidFill>
                <a:latin typeface="Consolas"/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</a:t>
            </a:r>
            <a:r>
              <a:rPr sz="2000" b="0">
                <a:solidFill>
                  <a:srgbClr val="1F2D3A"/>
                </a:solidFill>
              </a:rPr>
              <a:t>'yi bilip geri almadan sonuç </a:t>
            </a:r>
            <a:r>
              <a:rPr sz="2000" b="1">
                <a:solidFill>
                  <a:srgbClr val="1F2D3A"/>
                </a:solidFill>
              </a:rPr>
              <a:t>anlamsız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dış kodlamalı WBC yalnız </a:t>
            </a:r>
            <a:r>
              <a:rPr sz="2000" b="1">
                <a:solidFill>
                  <a:srgbClr val="1F2D3A"/>
                </a:solidFill>
              </a:rPr>
              <a:t>iki ucu da sizde</a:t>
            </a:r>
            <a:r>
              <a:rPr sz="2000" b="0">
                <a:solidFill>
                  <a:srgbClr val="1F2D3A"/>
                </a:solidFill>
              </a:rPr>
              <a:t> olan protokolde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EMV gibi </a:t>
            </a:r>
            <a:r>
              <a:rPr sz="2000" b="1">
                <a:solidFill>
                  <a:srgbClr val="1F2D3A"/>
                </a:solidFill>
              </a:rPr>
              <a:t>standart AES bekleyen</a:t>
            </a:r>
            <a:r>
              <a:rPr sz="2000" b="0">
                <a:solidFill>
                  <a:srgbClr val="1F2D3A"/>
                </a:solidFill>
              </a:rPr>
              <a:t> bir protokolde kullanılamayabilir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adım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pişir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Tabloları büyüt (T-box + XOR tabloları)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Karıştırıcı bijeksiyonlar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Dış kodlamalar (F, 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anahtar açıkça yok; her şey kodlanmış tablolarda.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örnekten çıkan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gömmek onu </a:t>
            </a:r>
            <a:r>
              <a:rPr sz="2000" b="1">
                <a:solidFill>
                  <a:srgbClr val="1F2D3A"/>
                </a:solidFill>
              </a:rPr>
              <a:t>görünmez</a:t>
            </a:r>
            <a:r>
              <a:rPr sz="2000" b="0">
                <a:solidFill>
                  <a:srgbClr val="1F2D3A"/>
                </a:solidFill>
              </a:rPr>
              <a:t> yapmaz (kodlama şart)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Kodlama işi çözer ama </a:t>
            </a:r>
            <a:r>
              <a:rPr sz="2000" b="1">
                <a:solidFill>
                  <a:srgbClr val="1F2D3A"/>
                </a:solidFill>
              </a:rPr>
              <a:t>boyut/karmaşıklık</a:t>
            </a:r>
            <a:r>
              <a:rPr sz="2000" b="0">
                <a:solidFill>
                  <a:srgbClr val="1F2D3A"/>
                </a:solidFill>
              </a:rPr>
              <a:t>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Gerçekte tablolar yüzlerce KB olur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bölüm 2'deki beş adımın </a:t>
            </a:r>
            <a:r>
              <a:rPr sz="2000" b="1">
                <a:solidFill>
                  <a:srgbClr val="1F2D3A"/>
                </a:solidFill>
              </a:rPr>
              <a:t>sezgisidir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WBC'nin maliyeti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tablolara gömmenin bedeli: </a:t>
            </a:r>
            <a:r>
              <a:rPr sz="2000" b="1">
                <a:solidFill>
                  <a:srgbClr val="1F2D3A"/>
                </a:solidFill>
              </a:rPr>
              <a:t>kocaman tablolar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638521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54692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boyutu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Yüzlerce KB (~770 KB)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 anahtarı: 16–32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8573"/>
                <a:gridCol w="590296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Tur başına tablo okuması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(~3000)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AES'e göre ~50×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yavaş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 hissi: tablo boyutu hesabı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288 tablo × 1 KB ≈ </a:t>
            </a:r>
            <a:r>
              <a:rPr sz="2000" b="1">
                <a:solidFill>
                  <a:srgbClr val="1F2D3A"/>
                </a:solidFill>
              </a:rPr>
              <a:t>294.912 bayt</a:t>
            </a:r>
            <a:r>
              <a:rPr sz="2000" b="0">
                <a:solidFill>
                  <a:srgbClr val="1F2D3A"/>
                </a:solidFill>
              </a:rPr>
              <a:t> (~288 KB).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kesin sayı değil, </a:t>
            </a:r>
            <a:r>
              <a:rPr sz="2000" b="1">
                <a:solidFill>
                  <a:srgbClr val="1F2D3A"/>
                </a:solidFill>
              </a:rPr>
              <a:t>mertebe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WBC yalnız </a:t>
            </a:r>
            <a:r>
              <a:rPr sz="2000" b="1">
                <a:solidFill>
                  <a:srgbClr val="1F2D3A"/>
                </a:solidFill>
              </a:rPr>
              <a:t>seçili, kritik</a:t>
            </a:r>
            <a:r>
              <a:rPr sz="2000" b="0">
                <a:solidFill>
                  <a:srgbClr val="1F2D3A"/>
                </a:solidFill>
              </a:rPr>
              <a:t> işlemlere uygulanır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mantık 9. haftadaki sanallaştırma (K-10) ile birebir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İç kodlama ile dış kodlama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Dış kodlamanın (F, G) en büyük sınırı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WBC neden yalnız seçili işlemlere uygulanır?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A1123F"/>
                </a:solidFill>
                <a:latin typeface="Consolas"/>
              </a:rPr>
              <a:t>T</a:t>
            </a:r>
            <a:r>
              <a:rPr sz="1800" b="0">
                <a:solidFill>
                  <a:srgbClr val="1F2D3A"/>
                </a:solidFill>
              </a:rPr>
              <a:t>, bilinen S-box'ın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x^k</a:t>
            </a:r>
            <a:r>
              <a:rPr sz="1800" b="0">
                <a:solidFill>
                  <a:srgbClr val="1F2D3A"/>
                </a:solidFill>
              </a:rPr>
              <a:t> ile ötelenmişidir; iki tablo karşılaştırılıp </a:t>
            </a:r>
            <a:r>
              <a:rPr sz="1800" b="1">
                <a:solidFill>
                  <a:srgbClr val="1F2D3A"/>
                </a:solidFill>
              </a:rPr>
              <a:t>k geri çıkar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İç:</a:t>
            </a:r>
            <a:r>
              <a:rPr sz="1800" b="0">
                <a:solidFill>
                  <a:srgbClr val="1F2D3A"/>
                </a:solidFill>
              </a:rPr>
              <a:t> tablolar arası ara değerleri karıştırır · </a:t>
            </a:r>
            <a:r>
              <a:rPr sz="1800" b="1">
                <a:solidFill>
                  <a:srgbClr val="1F2D3A"/>
                </a:solidFill>
              </a:rPr>
              <a:t>Dış (F,G):</a:t>
            </a:r>
            <a:r>
              <a:rPr sz="1800" b="0">
                <a:solidFill>
                  <a:srgbClr val="1F2D3A"/>
                </a:solidFill>
              </a:rPr>
              <a:t> tüm şifreyi sarar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G∘AES∘F⁻¹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Artık </a:t>
            </a:r>
            <a:r>
              <a:rPr sz="1800" b="1">
                <a:solidFill>
                  <a:srgbClr val="1F2D3A"/>
                </a:solidFill>
              </a:rPr>
              <a:t>standart AES değildir</a:t>
            </a:r>
            <a:r>
              <a:rPr sz="1800" b="0">
                <a:solidFill>
                  <a:srgbClr val="1F2D3A"/>
                </a:solidFill>
              </a:rPr>
              <a:t>; karşı taraf F/G'yi bilmeli — EMV gibi standartlarda kullanılamayabilir.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Tablolar yüzlerce KB + ~50× yavaş; maliyet yüzünden yalnız </a:t>
            </a:r>
            <a:r>
              <a:rPr sz="1800" b="1">
                <a:solidFill>
                  <a:srgbClr val="1F2D3A"/>
                </a:solidFill>
              </a:rPr>
              <a:t>küçük/kritik</a:t>
            </a:r>
            <a:r>
              <a:rPr sz="1800" b="0">
                <a:solidFill>
                  <a:srgbClr val="1F2D3A"/>
                </a:solidFill>
              </a:rPr>
              <a:t> işlemler.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Saldırı geçmişi ve karşı önlemler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kırılma tarihi — şema</a:t>
            </a:r>
          </a:p>
        </p:txBody>
      </p:sp>
      <p:pic>
        <p:nvPicPr>
          <p:cNvPr id="7" name="Picture 6" descr="h11-08-tarih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13434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geçmişe bakıyoruz?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korumaya ne kadar güveneceğinizi, onun </a:t>
            </a:r>
            <a:r>
              <a:rPr sz="2000" b="1">
                <a:solidFill>
                  <a:srgbClr val="1F2D3A"/>
                </a:solidFill>
              </a:rPr>
              <a:t>kırılma geçmişi</a:t>
            </a:r>
            <a:r>
              <a:rPr sz="2000" b="0">
                <a:solidFill>
                  <a:srgbClr val="1F2D3A"/>
                </a:solidFill>
              </a:rPr>
              <a:t> söyler.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satır, savunmacı için bir </a:t>
            </a:r>
            <a:r>
              <a:rPr sz="2000" b="1">
                <a:solidFill>
                  <a:srgbClr val="1F2D3A"/>
                </a:solidFill>
              </a:rPr>
              <a:t>çıkarım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2002 · Doğuş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 ve arkadaşları WB-AES ve WB-DES tasarımlarını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yaklaşım doğar.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fikir umut verici; ama sınanmadı.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2004 · BGE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BGE</a:t>
            </a:r>
            <a:r>
              <a:rPr sz="2000" b="0">
                <a:solidFill>
                  <a:srgbClr val="1F2D3A"/>
                </a:solidFill>
              </a:rPr>
              <a:t> (Billet–Gilbert–Ech-Chatbi): Chow AES'i pratik sürede kırar (~2³⁰ işlem).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iç kodlamalar tek başına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2007 · WB-DES düşer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Goubin, Wyseur ve diğerleri WB-DES ve harici kodlamalı türevlerini kırar.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DES tabanlı WBC bırakılır.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2010'lar · "Daha çok tablo" denemesi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Karroumi'nin "çift AES" güçlendirmesi de kırılır (~2²²).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daha çok tablo = daha çok güç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2015 · DFA (hata enjeksiyonu)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 (Differential Fault Analysis):</a:t>
            </a:r>
            <a:r>
              <a:rPr sz="2000" b="0">
                <a:solidFill>
                  <a:srgbClr val="1F2D3A"/>
                </a:solidFill>
              </a:rPr>
              <a:t> çalışırken bir değere </a:t>
            </a:r>
            <a:r>
              <a:rPr sz="2000" b="1">
                <a:solidFill>
                  <a:srgbClr val="1F2D3A"/>
                </a:solidFill>
              </a:rPr>
              <a:t>hata enjekte edip</a:t>
            </a:r>
            <a:r>
              <a:rPr sz="2000" b="0">
                <a:solidFill>
                  <a:srgbClr val="1F2D3A"/>
                </a:solidFill>
              </a:rPr>
              <a:t> bozulan çıktıdan anahtarı geri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"Unboxing the White-Box" (Black Hat EU).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tasarımın iç matematiğini </a:t>
            </a:r>
            <a:r>
              <a:rPr sz="2000" b="1">
                <a:solidFill>
                  <a:srgbClr val="1F2D3A"/>
                </a:solidFill>
              </a:rPr>
              <a:t>bilmeden</a:t>
            </a:r>
            <a:r>
              <a:rPr sz="2000" b="0">
                <a:solidFill>
                  <a:srgbClr val="1F2D3A"/>
                </a:solidFill>
              </a:rPr>
              <a:t> de kırılır.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2016 · DCA (en önemlisi)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 (Differential Computation Analysis):</a:t>
            </a:r>
            <a:r>
              <a:rPr sz="2000" b="0">
                <a:solidFill>
                  <a:srgbClr val="1F2D3A"/>
                </a:solidFill>
              </a:rPr>
              <a:t> çalışırken üretilen ara değerlerin </a:t>
            </a:r>
            <a:r>
              <a:rPr sz="2000" b="1">
                <a:solidFill>
                  <a:srgbClr val="1F2D3A"/>
                </a:solidFill>
              </a:rPr>
              <a:t>izini</a:t>
            </a:r>
            <a:r>
              <a:rPr sz="2000" b="0">
                <a:solidFill>
                  <a:srgbClr val="1F2D3A"/>
                </a:solidFill>
              </a:rPr>
              <a:t> toplar, DPA benzeri istatistikle anahtarı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çoğu zaman </a:t>
            </a:r>
            <a:r>
              <a:rPr sz="2000" b="1">
                <a:solidFill>
                  <a:srgbClr val="1F2D3A"/>
                </a:solidFill>
              </a:rPr>
              <a:t>görmezden gelir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klasik yan kanal savunmaları WBC için de gerekli.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saldırısı — şema</a:t>
            </a:r>
          </a:p>
        </p:txBody>
      </p:sp>
      <p:pic>
        <p:nvPicPr>
          <p:cNvPr id="7" name="Picture 6" descr="h11-05-d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82769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Sezgi: neyi izliyor?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 çalışırken tablolardan </a:t>
            </a:r>
            <a:r>
              <a:rPr sz="2000" b="1">
                <a:solidFill>
                  <a:srgbClr val="1F2D3A"/>
                </a:solidFill>
              </a:rPr>
              <a:t>ara değerler</a:t>
            </a:r>
            <a:r>
              <a:rPr sz="2000" b="0">
                <a:solidFill>
                  <a:srgbClr val="1F2D3A"/>
                </a:solidFill>
              </a:rPr>
              <a:t>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 değerler, gizli anahtara </a:t>
            </a:r>
            <a:r>
              <a:rPr sz="2000" b="1">
                <a:solidFill>
                  <a:srgbClr val="1F2D3A"/>
                </a:solidFill>
              </a:rPr>
              <a:t>bağlı</a:t>
            </a:r>
            <a:r>
              <a:rPr sz="2000" b="0">
                <a:solidFill>
                  <a:srgbClr val="1F2D3A"/>
                </a:solidFill>
              </a:rPr>
              <a:t>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bu değerlerin izini toplar.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İstatistik nasıl anahtarı verir?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 anahtar baytı için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Tahmine göre ara değerin nasıl davranması gerektiğini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Toplanan izlerle </a:t>
            </a:r>
            <a:r>
              <a:rPr sz="2000" b="1">
                <a:solidFill>
                  <a:srgbClr val="1F2D3A"/>
                </a:solidFill>
              </a:rPr>
              <a:t>en iyi uyan</a:t>
            </a:r>
            <a:r>
              <a:rPr sz="2000" b="0">
                <a:solidFill>
                  <a:srgbClr val="1F2D3A"/>
                </a:solidFill>
              </a:rPr>
              <a:t> tahmin, doğru bayttır.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DPA'nın (güç analizi)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 hâlidir.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neden DCA'yı durdurmaz?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</a:t>
            </a:r>
            <a:r>
              <a:rPr sz="2000" b="1">
                <a:solidFill>
                  <a:srgbClr val="1F2D3A"/>
                </a:solidFill>
              </a:rPr>
              <a:t>karıştırır</a:t>
            </a:r>
            <a:r>
              <a:rPr sz="2000" b="0">
                <a:solidFill>
                  <a:srgbClr val="1F2D3A"/>
                </a:solidFill>
              </a:rPr>
              <a:t> ama </a:t>
            </a:r>
            <a:r>
              <a:rPr sz="2000" b="1">
                <a:solidFill>
                  <a:srgbClr val="1F2D3A"/>
                </a:solidFill>
              </a:rPr>
              <a:t>birebir</a:t>
            </a:r>
            <a:r>
              <a:rPr sz="2000" b="0">
                <a:solidFill>
                  <a:srgbClr val="1F2D3A"/>
                </a:solidFill>
              </a:rPr>
              <a:t> eşlemedir (bijeksiyon)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korelasyon çoğu zaman </a:t>
            </a:r>
            <a:r>
              <a:rPr sz="2000" b="1">
                <a:solidFill>
                  <a:srgbClr val="1F2D3A"/>
                </a:solidFill>
              </a:rPr>
              <a:t>hayatta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2016'dan sonra WBC'ler DCA'ya karşı savunmasız kaldı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2017–2024 · WhibOx yarışmaları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Akademi ve endüstri tasarımlarını yarışmaya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Gönderilen tasarımların </a:t>
            </a:r>
            <a:r>
              <a:rPr sz="2000" b="1">
                <a:solidFill>
                  <a:srgbClr val="1F2D3A"/>
                </a:solidFill>
              </a:rPr>
              <a:t>tamamı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 (bugün):</a:t>
            </a:r>
            <a:r>
              <a:rPr sz="2000" b="0">
                <a:solidFill>
                  <a:srgbClr val="1F2D3A"/>
                </a:solidFill>
              </a:rPr>
              <a:t> kırılmadan kalan yayımlanmış saf-yazılım WBC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Kronoloji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531"/>
                <a:gridCol w="3577552"/>
                <a:gridCol w="518745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Çıkarım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Chow WB-AES/DES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Doğuş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 kodlama yetmez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WB-DES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 bırakılır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Karroumi kırıldı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tablo ≠ güç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Matematiği bilmeden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 kanal savunması gerek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2017–24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ve DFA neden yeni tasarımları da vurur?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ikisi de tasarımın </a:t>
            </a:r>
            <a:r>
              <a:rPr sz="2000" b="1">
                <a:solidFill>
                  <a:srgbClr val="1F2D3A"/>
                </a:solidFill>
              </a:rPr>
              <a:t>gizli matematiğini çözmeye çalışmaz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DCA:</a:t>
            </a:r>
            <a:r>
              <a:rPr sz="2000" b="0">
                <a:solidFill>
                  <a:srgbClr val="1F2D3A"/>
                </a:solidFill>
              </a:rPr>
              <a:t> kutuyu açmaz; çalışırken </a:t>
            </a:r>
            <a:r>
              <a:rPr sz="2000" b="1">
                <a:solidFill>
                  <a:srgbClr val="1F2D3A"/>
                </a:solidFill>
              </a:rPr>
              <a:t>iz</a:t>
            </a:r>
            <a:r>
              <a:rPr sz="2000" b="0">
                <a:solidFill>
                  <a:srgbClr val="1F2D3A"/>
                </a:solidFill>
              </a:rPr>
              <a:t> toplar, istatistikle anahtarı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DFA:</a:t>
            </a:r>
            <a:r>
              <a:rPr sz="2000" b="0">
                <a:solidFill>
                  <a:srgbClr val="1F2D3A"/>
                </a:solidFill>
              </a:rPr>
              <a:t> çalışırken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, bozuk çıktıdan hesaplar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Genel ve </a:t>
            </a:r>
            <a:r>
              <a:rPr sz="2000" b="1">
                <a:solidFill>
                  <a:srgbClr val="1F2D3A"/>
                </a:solidFill>
              </a:rPr>
              <a:t>taşınabilir</a:t>
            </a:r>
            <a:r>
              <a:rPr sz="2000" b="0">
                <a:solidFill>
                  <a:srgbClr val="1F2D3A"/>
                </a:solidFill>
              </a:rPr>
              <a:t> oldukları için her tasarımı tehdit ederler.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Peki ne yapacağız? (karşı önlemler)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Araştırma durmadı; ama hiçbir önlem "artık güvenli" demez.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</a:t>
            </a:r>
            <a:r>
              <a:rPr sz="2000" b="1">
                <a:solidFill>
                  <a:srgbClr val="1F2D3A"/>
                </a:solidFill>
              </a:rPr>
              <a:t>maliyeti artırır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kullanılır. Sırayla: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1 · Doğrusal olmayan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DCA'nın dayandığı </a:t>
            </a:r>
            <a:r>
              <a:rPr sz="2000" b="1">
                <a:solidFill>
                  <a:srgbClr val="1F2D3A"/>
                </a:solidFill>
              </a:rPr>
              <a:t>doğrusal korelasyonu</a:t>
            </a:r>
            <a:r>
              <a:rPr sz="2000" b="0">
                <a:solidFill>
                  <a:srgbClr val="1F2D3A"/>
                </a:solidFill>
              </a:rPr>
              <a:t> bozmaya çalışır (ör. Biryukov–Udovenko 2018).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saldırıyı zorlaştırır.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2 · Dış kodlama (F,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DCA/DFA/BGE'yi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</a:t>
            </a:r>
            <a:r>
              <a:rPr sz="2000" b="0">
                <a:solidFill>
                  <a:srgbClr val="1F2D3A"/>
                </a:solidFill>
              </a:rPr>
              <a:t> gördüğümüz sınır: standart AES uyumluluğunu kırar.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3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WBC'nin çevresine 9. haftanın </a:t>
            </a:r>
            <a:r>
              <a:rPr sz="2000" b="1">
                <a:solidFill>
                  <a:srgbClr val="1F2D3A"/>
                </a:solidFill>
              </a:rPr>
              <a:t>gizleme</a:t>
            </a:r>
            <a:r>
              <a:rPr sz="2000" b="0">
                <a:solidFill>
                  <a:srgbClr val="1F2D3A"/>
                </a:solidFill>
              </a:rPr>
              <a:t> kuralları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 (anti-debug, kurcalama/bütünlük denetimi)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DCA'nın iz toplamasını, DFA'nın hata enjekte etmesini </a:t>
            </a:r>
            <a:r>
              <a:rPr sz="2000" b="1">
                <a:solidFill>
                  <a:srgbClr val="1F2D3A"/>
                </a:solidFill>
              </a:rPr>
              <a:t>zorlaştırmak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WBC — şema</a:t>
            </a:r>
          </a:p>
        </p:txBody>
      </p:sp>
      <p:pic>
        <p:nvPicPr>
          <p:cNvPr id="7" name="Picture 6" descr="h11-09-katmanli-w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51141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4 ·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sık yenilenirse, bir anahtarı çıkarmanın </a:t>
            </a:r>
            <a:r>
              <a:rPr sz="2000" b="1">
                <a:solidFill>
                  <a:srgbClr val="1F2D3A"/>
                </a:solidFill>
              </a:rPr>
              <a:t>değeri düşer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hafta: </a:t>
            </a:r>
            <a:r>
              <a:rPr sz="2000" b="1">
                <a:solidFill>
                  <a:srgbClr val="1F2D3A"/>
                </a:solidFill>
              </a:rPr>
              <a:t>kripto-periyot</a:t>
            </a:r>
            <a:r>
              <a:rPr sz="2000" b="0">
                <a:solidFill>
                  <a:srgbClr val="1F2D3A"/>
                </a:solidFill>
              </a:rPr>
              <a:t> (bir anahtarın ömrü)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5 · Cihaz/sürüm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Tablolar yalnız </a:t>
            </a:r>
            <a:r>
              <a:rPr sz="2000" b="1">
                <a:solidFill>
                  <a:srgbClr val="1F2D3A"/>
                </a:solidFill>
              </a:rPr>
              <a:t>belirli bir cihazda/sürümde</a:t>
            </a:r>
            <a:r>
              <a:rPr sz="2000" b="0">
                <a:solidFill>
                  <a:srgbClr val="1F2D3A"/>
                </a:solidFill>
              </a:rPr>
              <a:t> anlamlı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sökmeyi</a:t>
            </a:r>
            <a:r>
              <a:rPr sz="2000" b="0">
                <a:solidFill>
                  <a:srgbClr val="1F2D3A"/>
                </a:solidFill>
              </a:rPr>
              <a:t> (code lifting) engeller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6 · Sunucu tarafı risk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Uçtaki koruma ne olursa olsun, işlem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ayrıca değerlendirilir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 sınırı, anomali tespiti, sayaç/ATC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 ve en güvenilir</a:t>
            </a:r>
            <a:r>
              <a:rPr sz="2000" b="0">
                <a:solidFill>
                  <a:srgbClr val="1F2D3A"/>
                </a:solidFill>
              </a:rPr>
              <a:t> savunma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7 · Donanıma taşı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hiç yazılıma koyma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TEE, güvenli öğe (SE), HSM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bir sonraki bölümün konusu.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(tekrar)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bir </a:t>
            </a:r>
            <a:r>
              <a:rPr sz="2000" b="1">
                <a:solidFill>
                  <a:srgbClr val="1F2D3A"/>
                </a:solidFill>
              </a:rPr>
              <a:t>katmandır</a:t>
            </a:r>
            <a:r>
              <a:rPr sz="2000" b="0">
                <a:solidFill>
                  <a:srgbClr val="1F2D3A"/>
                </a:solidFill>
              </a:rPr>
              <a:t>, çözüm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ifade: "anahtar çıkarmayı şu kadar geciktiriyorum; asıl güvencem anahtar yenileme, cihaz bağlama ve sunucu risk denetiminde."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"Hepsi kırıldı" ifadesi kararınızı nasıl etkiler?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DCA hangi klasik saldırıya benzer?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 DCA'yı neden her zaman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En güvenilir son savunma hangisi?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WBC </a:t>
            </a:r>
            <a:r>
              <a:rPr sz="1800" b="1">
                <a:solidFill>
                  <a:srgbClr val="1F2D3A"/>
                </a:solidFill>
              </a:rPr>
              <a:t>tek başına</a:t>
            </a:r>
            <a:r>
              <a:rPr sz="1800" b="0">
                <a:solidFill>
                  <a:srgbClr val="1F2D3A"/>
                </a:solidFill>
              </a:rPr>
              <a:t> güvence değil; anahtar yenileme + cihaz bağlama + sunucu denetimi + gizleme ile; mümkünse </a:t>
            </a:r>
            <a:r>
              <a:rPr sz="1800" b="1">
                <a:solidFill>
                  <a:srgbClr val="1F2D3A"/>
                </a:solidFill>
              </a:rPr>
              <a:t>donanıma</a:t>
            </a:r>
            <a:r>
              <a:rPr sz="1800" b="0">
                <a:solidFill>
                  <a:srgbClr val="1F2D3A"/>
                </a:solidFill>
              </a:rPr>
              <a:t> taşı.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DPA</a:t>
            </a:r>
            <a:r>
              <a:rPr sz="1800" b="0">
                <a:solidFill>
                  <a:srgbClr val="1F2D3A"/>
                </a:solidFill>
              </a:rPr>
              <a:t>'ya (güç analizi) — DCA onun yazılım hâlidir.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İç kodlama birebir eşlemedir (bijeksiyon); istatistiksel </a:t>
            </a:r>
            <a:r>
              <a:rPr sz="1800" b="1">
                <a:solidFill>
                  <a:srgbClr val="1F2D3A"/>
                </a:solidFill>
              </a:rPr>
              <a:t>korelasyon</a:t>
            </a:r>
            <a:r>
              <a:rPr sz="1800" b="0">
                <a:solidFill>
                  <a:srgbClr val="1F2D3A"/>
                </a:solidFill>
              </a:rPr>
              <a:t> çoğu zaman hayatta kalır.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Sunucu tarafı</a:t>
            </a:r>
            <a:r>
              <a:rPr sz="1800" b="0">
                <a:solidFill>
                  <a:srgbClr val="1F2D3A"/>
                </a:solidFill>
              </a:rPr>
              <a:t> risk denetimi (son ve en güvenilir).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WBC'nin katmanlı savunmadaki yeri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korumak: seçenekler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tek seçenek değil. Bir anahtarı korumanın yolları var; güç ve maliyet farklı.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Sırayla, en zayıftan en güçlüye.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1 · Sabit dizide düz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asla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2 · Gizlenmiş/parçalanmış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gizlenmiş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 düşük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yalnız düşük değerli, kısa ömürlü sırlar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3 · WBC +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tablolara gömülü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orta (geciktirir)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donanım kökü yoksa; </a:t>
            </a:r>
            <a:r>
              <a:rPr sz="2000" b="1">
                <a:solidFill>
                  <a:srgbClr val="1F2D3A"/>
                </a:solidFill>
              </a:rPr>
              <a:t>anahtar yenileme + sunucu denetimiyle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4 · TEE /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</a:t>
            </a:r>
            <a:r>
              <a:rPr sz="2000" b="1">
                <a:solidFill>
                  <a:srgbClr val="1F2D3A"/>
                </a:solidFill>
              </a:rPr>
              <a:t>donanımla yalıtılmış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cihaz destekliyorsa </a:t>
            </a:r>
            <a:r>
              <a:rPr sz="2000" b="1">
                <a:solidFill>
                  <a:srgbClr val="1F2D3A"/>
                </a:solidFill>
              </a:rPr>
              <a:t>tercih edilir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5 · HSM /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donanım (ya da yazılım benzetimi) modülünde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 (HSM); SoftHSM yalnız test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; anahtar hiç dışarı çıkmaz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Seçenekler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8"/>
                <a:gridCol w="236416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Gizli/parçalı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 + katman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Tablolara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 / 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yalıtık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yazılıma koymak </a:t>
            </a:r>
            <a:r>
              <a:rPr sz="2000" b="1">
                <a:solidFill>
                  <a:srgbClr val="1F2D3A"/>
                </a:solidFill>
              </a:rPr>
              <a:t>zorunda değilsen, koyma.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(TEE/SE/HSM) varsa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donanım kökünün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durumda bir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çözümüdür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zaman: anahtar yenileme + cihaz bağlama + sunucu denetimiyle birlikte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Cihazda TEE/güvenli öğe var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anahtarı oraya koy. </a:t>
            </a:r>
            <a:r>
              <a:rPr sz="2000" b="1">
                <a:solidFill>
                  <a:srgbClr val="1F2D3A"/>
                </a:solidFill>
              </a:rPr>
              <a:t>Bitti</a:t>
            </a:r>
            <a:r>
              <a:rPr sz="2000" b="0">
                <a:solidFill>
                  <a:srgbClr val="1F2D3A"/>
                </a:solidFill>
              </a:rPr>
              <a:t> (en güçlü).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Bu sunucu tarafı bir anahtar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HSM/PKCS#11 (üretimde HSM, testte SoftHSM).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 (istemci, donanım yok)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Varlık değeri koruma maliyetini haklı çıkarıyor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hafif gizleme + kısa ömür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WBC + katmanlı savunma + yenileme + cihaz bağlama + sunucu denetimi.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S8'e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belirt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pic>
        <p:nvPicPr>
          <p:cNvPr id="7" name="Picture 6" descr="h11-07-anahtar-koru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112" y="1325880"/>
            <a:ext cx="741947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 ve PKCS#11 (sunucu köprüsü)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</a:t>
            </a:r>
            <a:r>
              <a:rPr sz="2000" b="1">
                <a:solidFill>
                  <a:srgbClr val="1F2D3A"/>
                </a:solidFill>
              </a:rPr>
              <a:t>değerini görmez</a:t>
            </a:r>
            <a:r>
              <a:rPr sz="2000" b="0">
                <a:solidFill>
                  <a:srgbClr val="1F2D3A"/>
                </a:solidFill>
              </a:rPr>
              <a:t>; "şunu imzala/şifrele" 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aynı arayüzü sunan yazılım benzetimi; gerçek donanım koruması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→ geliştirme/test için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uçtaki (istemci) problem; bu sunucudaki anahtar problemine yanıt.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Hatalı → saldırı → koruma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 · Hatalı tasarım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İstemci uygulaması: veri şifreleme anahtarı gömülü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... }; 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istemci, bir veri şifreleme anahtarını sabit diziye gömer.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 · Saldırı (kavramsal)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→ yüksek entropili 16 baytlık blok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 ayıklayıcı → bu bloğun şifreleme çağrısında kullanıldığını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dakikalar</a:t>
            </a:r>
            <a:r>
              <a:rPr sz="2000" b="0">
                <a:solidFill>
                  <a:srgbClr val="1F2D3A"/>
                </a:solidFill>
              </a:rPr>
              <a:t> içinde çıkar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mümkünse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'ye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Değilse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bayt dizisi kalmasın)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9. haftanın </a:t>
            </a:r>
            <a:r>
              <a:rPr sz="2000" b="1">
                <a:solidFill>
                  <a:srgbClr val="1F2D3A"/>
                </a:solidFill>
              </a:rPr>
              <a:t>gizlemesiyle</a:t>
            </a:r>
            <a:r>
              <a:rPr sz="2000" b="0">
                <a:solidFill>
                  <a:srgbClr val="1F2D3A"/>
                </a:solidFill>
              </a:rPr>
              <a:t> ve 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'ıyla sar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DCA için iz toplamak, DFA için hata enjekte etmek zorlaşır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Cihaz/sürüm bağla</a:t>
            </a:r>
            <a:r>
              <a:rPr sz="2000" b="0">
                <a:solidFill>
                  <a:srgbClr val="1F2D3A"/>
                </a:solidFill>
              </a:rPr>
              <a:t> → kod sökme işe yaramaz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sık yenile</a:t>
            </a:r>
            <a:r>
              <a:rPr sz="2000" b="0">
                <a:solidFill>
                  <a:srgbClr val="1F2D3A"/>
                </a:solidFill>
              </a:rPr>
              <a:t>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Sunucuda risk denetimi</a:t>
            </a:r>
            <a:r>
              <a:rPr sz="2000" b="0">
                <a:solidFill>
                  <a:srgbClr val="1F2D3A"/>
                </a:solidFill>
              </a:rPr>
              <a:t> uygula (hız sınırı, anomali)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 · Dürüst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bir saldırgan </a:t>
            </a:r>
            <a:r>
              <a:rPr sz="2000" b="1">
                <a:solidFill>
                  <a:srgbClr val="1F2D3A"/>
                </a:solidFill>
              </a:rPr>
              <a:t>tek bir cihazda</a:t>
            </a:r>
            <a:r>
              <a:rPr sz="2000" b="0">
                <a:solidFill>
                  <a:srgbClr val="1F2D3A"/>
                </a:solidFill>
              </a:rPr>
              <a:t> anahtarı yine çıkarabilir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artık: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kopyayı kırmak </a:t>
            </a:r>
            <a:r>
              <a:rPr sz="2000" b="1">
                <a:solidFill>
                  <a:srgbClr val="1F2D3A"/>
                </a:solidFill>
              </a:rPr>
              <a:t>bütün sistemi açmaz</a:t>
            </a:r>
            <a:r>
              <a:rPr sz="2000" b="0">
                <a:solidFill>
                  <a:srgbClr val="1F2D3A"/>
                </a:solidFill>
              </a:rPr>
              <a:t> (cihaz bağlama)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Çıkarılan anahtarın </a:t>
            </a:r>
            <a:r>
              <a:rPr sz="2000" b="1">
                <a:solidFill>
                  <a:srgbClr val="1F2D3A"/>
                </a:solidFill>
              </a:rPr>
              <a:t>ömrü kısa</a:t>
            </a:r>
            <a:r>
              <a:rPr sz="2000" b="0">
                <a:solidFill>
                  <a:srgbClr val="1F2D3A"/>
                </a:solidFill>
              </a:rPr>
              <a:t> (yenileme)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Sunucu, anormal kullanımı yakalar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Senaryodan çıkan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varsa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 başına bırakma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bağlama + yenileme + sunucu denetimi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uygulama, sunucudan indirdiği </a:t>
            </a:r>
            <a:r>
              <a:rPr sz="2000" b="1">
                <a:solidFill>
                  <a:srgbClr val="1F2D3A"/>
                </a:solidFill>
              </a:rPr>
              <a:t>oturum anahtarıyla</a:t>
            </a:r>
            <a:r>
              <a:rPr sz="2000" b="0">
                <a:solidFill>
                  <a:srgbClr val="1F2D3A"/>
                </a:solidFill>
              </a:rPr>
              <a:t> yerel veriyi şifreliyor.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Cihazların bir kısmında TEE var, bir kısmında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günde bir yenileniyor.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Nasıl koruruz?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TEE'ye</a:t>
            </a:r>
            <a:r>
              <a:rPr sz="2000" b="0">
                <a:solidFill>
                  <a:srgbClr val="1F2D3A"/>
                </a:solidFill>
              </a:rPr>
              <a:t> koy.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 hiç görmez; TEE içinde şifreleme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güçlü çözüm; ek WBC gereksiz.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olmayan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dizi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gizleme + 6. hafta RASP ile 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bağla:</a:t>
            </a:r>
            <a:r>
              <a:rPr sz="2000" b="0">
                <a:solidFill>
                  <a:srgbClr val="1F2D3A"/>
                </a:solidFill>
              </a:rPr>
              <a:t> tablolar başka cihazda çalışmasın.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ortak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günde bir yenileniyor</a:t>
            </a:r>
            <a:r>
              <a:rPr sz="2000" b="0">
                <a:solidFill>
                  <a:srgbClr val="1F2D3A"/>
                </a:solidFill>
              </a:rPr>
              <a:t> → çıkarılanın ömrü kısa.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</a:t>
            </a:r>
            <a:r>
              <a:rPr sz="2000" b="0">
                <a:solidFill>
                  <a:srgbClr val="1F2D3A"/>
                </a:solidFill>
              </a:rPr>
              <a:t>, anormal kullanımı (çok istek, tuhaf konum) yakalıyor.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bir cihaz kırılsa bile hasar sınırlı.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 (dürüst)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TEE'siz cihazda kararlı saldırgan anahtarı çıkarabilir.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tek cihazla sınırlı + 24 saat ömür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ödünleşim </a:t>
            </a:r>
            <a:r>
              <a:rPr sz="2000" b="1">
                <a:solidFill>
                  <a:srgbClr val="1F2D3A"/>
                </a:solidFill>
              </a:rPr>
              <a:t>S8'de açıkça yazılır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"sihirli" koruma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Güç,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dürüst kalan risk analizinden</a:t>
            </a:r>
            <a:r>
              <a:rPr sz="2000" b="0">
                <a:solidFill>
                  <a:srgbClr val="1F2D3A"/>
                </a:solidFill>
              </a:rPr>
              <a:t> geliyor.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(12. hafta) tam da bunu arıyor.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484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anlamak</a:t>
            </a:r>
            <a:r>
              <a:rPr sz="2000" b="0">
                <a:solidFill>
                  <a:srgbClr val="1F2D3A"/>
                </a:solidFill>
              </a:rPr>
              <a:t>, onu </a:t>
            </a:r>
            <a:r>
              <a:rPr sz="2000" b="1">
                <a:solidFill>
                  <a:srgbClr val="1F2D3A"/>
                </a:solidFill>
              </a:rPr>
              <a:t>doğru yere koymak</a:t>
            </a:r>
            <a:r>
              <a:rPr sz="2000" b="0">
                <a:solidFill>
                  <a:srgbClr val="1F2D3A"/>
                </a:solidFill>
              </a:rPr>
              <a:t> demektir.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 ve kapanış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(anahtar koruma gerekçesi)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hassas anahtar için bir koruma kararı ve </a:t>
            </a:r>
            <a:r>
              <a:rPr sz="2000" b="1">
                <a:solidFill>
                  <a:srgbClr val="1F2D3A"/>
                </a:solidFill>
              </a:rPr>
              <a:t>gerekçesi</a:t>
            </a:r>
            <a:r>
              <a:rPr sz="2000" b="0">
                <a:solidFill>
                  <a:srgbClr val="1F2D3A"/>
                </a:solidFill>
              </a:rPr>
              <a:t> yazın: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Anahtar nerede durur, nasıl korunur? (düz değilse: TEE/SE, WBC, gizleme — hangisi,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</a:t>
            </a:r>
            <a:r>
              <a:rPr sz="2000" b="0">
                <a:solidFill>
                  <a:srgbClr val="1F2D3A"/>
                </a:solidFill>
              </a:rPr>
              <a:t> Koruma yeterli değilse (ör. saf yazılımdaysanız) bunu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yazın ve telafi katmanlarını belirtin: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periyodu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cihaz/sürüm 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risk denetimi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</a:t>
            </a:r>
            <a:r>
              <a:rPr sz="2000" b="0">
                <a:solidFill>
                  <a:srgbClr val="1F2D3A"/>
                </a:solidFill>
              </a:rPr>
              <a:t> WBC kullanmadıysanız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kullanmadığınızın gerekçesi: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düşük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Gerekçeli bir "kullanmadık" </a:t>
            </a:r>
            <a:r>
              <a:rPr sz="2000" b="1">
                <a:solidFill>
                  <a:srgbClr val="1F2D3A"/>
                </a:solidFill>
              </a:rPr>
              <a:t>tam</a:t>
            </a:r>
            <a:r>
              <a:rPr sz="2000" b="0">
                <a:solidFill>
                  <a:srgbClr val="1F2D3A"/>
                </a:solidFill>
              </a:rPr>
              <a:t> bir yanıttır.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Depoda gerçek anahtar olmasın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anahtar dosyaları, tablolar ve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depoda gerçek anahtar = en ağır bulgulardan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Projede de öyle sayılır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Kara/gri/beyaz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gördüğü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 kutuda çalışan kripto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S-box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Baytı değiştiren sabit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Bijeksiyon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 alınabilen birebir eşleme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İç/dış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 içi / tüm şifreyi saran gizli dönüşüm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797"/>
                <a:gridCol w="769173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çıkarmadan kodu kopyalama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izlerine DPA benzeri istatistik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enjekte edip anahtarı hesaplama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anahtarın ömrü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TEE/SE/HSM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tabanlı anahtar koruması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Üç saldırgan modeli; AES kanıtı hangisini varsayar?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çalıştır" ve "hata enjekte et" hangi saldırılara zemin?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Diziye gömülü anahtar neden koruma değil? (entropi)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Kod sökme nedir, hangi önlem kapatır?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İç ve dış kodlama farkı; dış kodlamanın sınırı?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(yalnız G/Ç), </a:t>
            </a:r>
            <a:r>
              <a:rPr sz="1800" b="1">
                <a:solidFill>
                  <a:srgbClr val="1F2D3A"/>
                </a:solidFill>
              </a:rPr>
              <a:t>gri kutu</a:t>
            </a:r>
            <a:r>
              <a:rPr sz="1800" b="0">
                <a:solidFill>
                  <a:srgbClr val="1F2D3A"/>
                </a:solidFill>
              </a:rPr>
              <a:t> (+yan kanal: güç/zaman), </a:t>
            </a:r>
            <a:r>
              <a:rPr sz="1800" b="1">
                <a:solidFill>
                  <a:srgbClr val="1F2D3A"/>
                </a:solidFill>
              </a:rPr>
              <a:t>beyaz kutu</a:t>
            </a:r>
            <a:r>
              <a:rPr sz="1800" b="0">
                <a:solidFill>
                  <a:srgbClr val="1F2D3A"/>
                </a:solidFill>
              </a:rPr>
              <a:t> (tam erişim). Klasik AES kanıtı </a:t>
            </a:r>
            <a:r>
              <a:rPr sz="1800" b="1">
                <a:solidFill>
                  <a:srgbClr val="1F2D3A"/>
                </a:solidFill>
              </a:rPr>
              <a:t>kara kutuyu</a:t>
            </a:r>
            <a:r>
              <a:rPr sz="1800" b="0">
                <a:solidFill>
                  <a:srgbClr val="1F2D3A"/>
                </a:solidFill>
              </a:rPr>
              <a:t> varsayar.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çalıştır/ara değeri gözle" →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; "hata enjekte et" → </a:t>
            </a:r>
            <a:r>
              <a:rPr sz="1800" b="1">
                <a:solidFill>
                  <a:srgbClr val="1F2D3A"/>
                </a:solidFill>
              </a:rPr>
              <a:t>DFA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Anahtar </a:t>
            </a:r>
            <a:r>
              <a:rPr sz="1800" b="1">
                <a:solidFill>
                  <a:srgbClr val="1F2D3A"/>
                </a:solidFill>
              </a:rPr>
              <a:t>yüksek entropili</a:t>
            </a:r>
            <a:r>
              <a:rPr sz="1800" b="0">
                <a:solidFill>
                  <a:srgbClr val="1F2D3A"/>
                </a:solidFill>
              </a:rPr>
              <a:t> bir blok olarak durur → entropi taraması/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/desenle bulunur (demo </a:t>
            </a:r>
            <a:r>
              <a:rPr sz="1800" b="0">
                <a:solidFill>
                  <a:srgbClr val="A1123F"/>
                </a:solidFill>
                <a:latin typeface="Consolas"/>
              </a:rPr>
              <a:t>--tara</a:t>
            </a:r>
            <a:r>
              <a:rPr sz="1800" b="0">
                <a:solidFill>
                  <a:srgbClr val="1F2D3A"/>
                </a:solidFill>
              </a:rPr>
              <a:t>). Konum değiştirmek gizleme değil.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Code lifting:</a:t>
            </a:r>
            <a:r>
              <a:rPr sz="1800" b="0">
                <a:solidFill>
                  <a:srgbClr val="1F2D3A"/>
                </a:solidFill>
              </a:rPr>
              <a:t> tabloyu/rutini olduğu gibi kopyalayıp başka yerde kullanmak. Kapatan: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(+ cihaz bağlama/sunucu denetimi).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doğrudan k'ye bağlı; tablo S-box ile karşılaştırılıp </a:t>
            </a:r>
            <a:r>
              <a:rPr sz="1800" b="1">
                <a:solidFill>
                  <a:srgbClr val="1F2D3A"/>
                </a:solidFill>
              </a:rPr>
              <a:t>k geri hesaplanır</a:t>
            </a:r>
            <a:r>
              <a:rPr sz="1800" b="0">
                <a:solidFill>
                  <a:srgbClr val="1F2D3A"/>
                </a:solidFill>
              </a:rPr>
              <a:t>. </a:t>
            </a:r>
            <a:r>
              <a:rPr sz="1800" b="1">
                <a:solidFill>
                  <a:srgbClr val="1F2D3A"/>
                </a:solidFill>
              </a:rPr>
              <a:t>İç kodlamayla</a:t>
            </a:r>
            <a:r>
              <a:rPr sz="1800" b="0">
                <a:solidFill>
                  <a:srgbClr val="1F2D3A"/>
                </a:solidFill>
              </a:rPr>
              <a:t> maskele.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İç kodlama</a:t>
            </a:r>
            <a:r>
              <a:rPr sz="1800" b="0">
                <a:solidFill>
                  <a:srgbClr val="1F2D3A"/>
                </a:solidFill>
              </a:rPr>
              <a:t> ara değerleri gizli bijeksiyonlarla maskeler;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giriş/çıkışı dönüştürür (code lifting'i zorlaştırır). Sınır: </a:t>
            </a:r>
            <a:r>
              <a:rPr sz="1800" b="1">
                <a:solidFill>
                  <a:srgbClr val="1F2D3A"/>
                </a:solidFill>
              </a:rPr>
              <a:t>çağıranın da eşleşmesi</a:t>
            </a:r>
            <a:r>
              <a:rPr sz="1800" b="0">
                <a:solidFill>
                  <a:srgbClr val="1F2D3A"/>
                </a:solidFill>
              </a:rPr>
              <a:t> gerekir → standart AES uyumu bozulur.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 boyutu/hız mertebesi? Neden seçili işlemlere?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"Hepsi kırıldı" kararınızı nasıl etkiler?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DCA hangi donanım saldırısına benzer?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Anahtar koruma seçeneklerini güç/maliyetle sırala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WBC kullanıyorsan eklemen gereken 3 katman?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anahtar için S8 gerekçesini üç cümleyle yaz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Tablolar </a:t>
            </a:r>
            <a:r>
              <a:rPr sz="1800" b="1">
                <a:solidFill>
                  <a:srgbClr val="1F2D3A"/>
                </a:solidFill>
              </a:rPr>
              <a:t>yüzlerce KB</a:t>
            </a:r>
            <a:r>
              <a:rPr sz="1800" b="0">
                <a:solidFill>
                  <a:srgbClr val="1F2D3A"/>
                </a:solidFill>
              </a:rPr>
              <a:t> (std AES anahtarı 16–32 bayt) ve </a:t>
            </a:r>
            <a:r>
              <a:rPr sz="1800" b="1">
                <a:solidFill>
                  <a:srgbClr val="1F2D3A"/>
                </a:solidFill>
              </a:rPr>
              <a:t>~50× yavaş</a:t>
            </a:r>
            <a:r>
              <a:rPr sz="1800" b="0">
                <a:solidFill>
                  <a:srgbClr val="1F2D3A"/>
                </a:solidFill>
              </a:rPr>
              <a:t> → yalnız </a:t>
            </a:r>
            <a:r>
              <a:rPr sz="1800" b="1">
                <a:solidFill>
                  <a:srgbClr val="1F2D3A"/>
                </a:solidFill>
              </a:rPr>
              <a:t>seçili/kritik</a:t>
            </a:r>
            <a:r>
              <a:rPr sz="1800" b="0">
                <a:solidFill>
                  <a:srgbClr val="1F2D3A"/>
                </a:solidFill>
              </a:rPr>
              <a:t> işlemlere uygulanır.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WBC'yi tek başına anahtar koruması saymayız; </a:t>
            </a:r>
            <a:r>
              <a:rPr sz="1800" b="1">
                <a:solidFill>
                  <a:srgbClr val="1F2D3A"/>
                </a:solidFill>
              </a:rPr>
              <a:t>geciktirici katman</a:t>
            </a:r>
            <a:r>
              <a:rPr sz="1800" b="0">
                <a:solidFill>
                  <a:srgbClr val="1F2D3A"/>
                </a:solidFill>
              </a:rPr>
              <a:t> olarak yenileme + bağlama + sunucu denetimiyle kullanırız (mümkünse donanım).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DPA'ya</a:t>
            </a:r>
            <a:r>
              <a:rPr sz="1800" b="0">
                <a:solidFill>
                  <a:srgbClr val="1F2D3A"/>
                </a:solidFill>
              </a:rPr>
              <a:t> (Differential Power Analysis); DCA güç izinin yerine </a:t>
            </a:r>
            <a:r>
              <a:rPr sz="1800" b="1">
                <a:solidFill>
                  <a:srgbClr val="1F2D3A"/>
                </a:solidFill>
              </a:rPr>
              <a:t>yazılım izini</a:t>
            </a:r>
            <a:r>
              <a:rPr sz="1800" b="0">
                <a:solidFill>
                  <a:srgbClr val="1F2D3A"/>
                </a:solidFill>
              </a:rPr>
              <a:t> (bellek erişimi/ara değer) koyar.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(zayıf→güçlü) düz gömülü anahtar &lt; kodlanmış tablo (saf-yazılım WBC) &lt; WBC+bağlama/yenileme &lt; </a:t>
            </a:r>
            <a:r>
              <a:rPr sz="1800" b="1">
                <a:solidFill>
                  <a:srgbClr val="1F2D3A"/>
                </a:solidFill>
              </a:rPr>
              <a:t>TEE/SE</a:t>
            </a:r>
            <a:r>
              <a:rPr sz="1800" b="0">
                <a:solidFill>
                  <a:srgbClr val="1F2D3A"/>
                </a:solidFill>
              </a:rPr>
              <a:t> &lt; </a:t>
            </a:r>
            <a:r>
              <a:rPr sz="1800" b="1">
                <a:solidFill>
                  <a:srgbClr val="1F2D3A"/>
                </a:solidFill>
              </a:rPr>
              <a:t>HSM/donanım</a:t>
            </a:r>
            <a:r>
              <a:rPr sz="1800" b="0">
                <a:solidFill>
                  <a:srgbClr val="1F2D3A"/>
                </a:solidFill>
              </a:rPr>
              <a:t>. Maliyet aynı yönde artar.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Anahtar yenileme · cihaz/uygulama bağlama · sunucu tarafı denetim/iptal</a:t>
            </a:r>
            <a:r>
              <a:rPr sz="1800" b="0">
                <a:solidFill>
                  <a:srgbClr val="1F2D3A"/>
                </a:solidFill>
              </a:rPr>
              <a:t> (+ RASP/bütünlük).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"DEK, beklemedeki veriyi AES-256-GCM ile korur. HSM'de üretilir/saklanır, düz bellekte tutulmaz. Saf-yazılım whitebox'lar kırıldığı ve varlık değeri yüksek olduğu için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seçildi."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Yayımlanmış saf-yazılım whitebox'ların hepsi kırıldı; WBC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ve yenileme, cihaz bağlama, sunucu denetimiyle birlikte anlam kazanır.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WBC saldırgan modeli, whitebox AES'in konumu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Chow, Eisen, Johnson, van Oorschot — WB-AES (SAC 2002), WB-DES (DRM 2002)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Wyseur — "Hiding Keys in Software" (kısa giriş)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BGE (SAC 2004); Bos vd. DCA (CHES 2016); "Unboxing the White-Box" (BH EU 2015)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WhibOx yarışması sonuçları (2017–2024)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12. hafta — Sertifikasyon ve sızma testi planlaması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Bir korumanın "ne kadar dayandığını" ölçmek → bağımsız değerlendirme süreci ve raporlama.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11 — Whitebox Kriptografi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