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hafta bir ürünün bağımsız bir laboratuvarda nasıl değerlendirildiğini ve bir sızma testinin nasıl planlandığını adım adım görüyoruz.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hafta bir ürünün bağımsız bir laboratuvarda nasıl değerlendirildiğini ve kendi ürünümüzün sızma testini nasıl planladığımızı öğreniyoruz. Etik çerçeveyi baştan koyacağız.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slaytı atlama. Tüm hafta bu çerçevede.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 13 adımlık süreç.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Bir ürünün üçüncü taraf laboratuvarda değerlendirilmesinin genelleştirilmiş hâli. Adım adım gidiyoruz; her adımı projeye bağlıyoruz.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bulgu sayısı arttıkça Süreklilik aşamasının (10-13) devreye girdiğini, hiç bulgu yoksa atlandığını gösterin.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bulgu sayısı ne olursa olsun 13 adımın sırası değişmez, yalnız Süreklilik'in çalışıp çalışmadığı değişir.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Ara sonrası yöntemler ve derecelendirme.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Bunları savunmacı gözüyle, "kendi ürünümü teslim etmeden nasıl sınarım?" diye ele alıyoruz.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karışık örneklemde hiçbir yöntemin tek başına her şeyi bulmadığını, en iyi ve en zayıf yöntemin farkını vurgulayın.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mantık hatalarında yalnız kod incelemesi ve sızma testinin işe yaradığını, SAST/DAST/fuzzing'in burada zayıf kaldığını gösterin.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 saldırı potansiyeli ve derecelendirme.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`rating()`'in gerçek kod satırlarını, hangi eşiğin tetiklendiğini program sayacıyla gösterin.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zor senaryoda bile hesabın aynı beş satırlık koddan geçtiğini, yalnız girdinin değiştiğini vurgulayın.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iki eksenin nasıl birleşip tek bir öncelik kararına dönüştüğünü gösterin.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 de saldırı da en uç noktadayken bile önceliğin ikisinin BİRLİKTE okunmasından çıktığını vurgulayın.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 bulgunun dört aşamadan geçip nasıl kapandı/kabul/etkilenmez/açık olduğunu, sağdaki toplamla gösterin.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durumda S16'nın "sonuç" değil yalnız "plan" olduğunu, finalde kabul edilmeyeceğini vurgulayın.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Ara sonrası sızma testi planı.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"Planlı" ve "izinli" vurgusu isteğe bağlı değil. Kapsamı/kuralı yazılı olmayan test meşru değildir.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kapsam kökten tehditlere, tehditlerden test kartlarına inen ağacı ve kapsama yüzdesinin nasıl hesaplandığını gösterin.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bu, S16'nın hedeflediği son durumdur — her yaprak çalıştırılmış ve GEÇTİ.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 proje ve çözümlü sınama.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beş bölümü ve açık/acil bulgu sayısına göre "üretime hazır" kararının nasıl çıktığını gösterin.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durumda kararın kesinlikle HAZIR DEĞİL çıktığını, tek bir açık acil bulgunun bile yettiğini vurgulayın.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demonun gerçek `card()` kodunu, altı kartın hepsinin PASS olduğunu ve çıkış kodunun 0 olduğunu gösterin — S16'nın istediği tam olarak bu tablodur.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çıkış kodunun kaç test başarısız olduğuna eşit olduğunu, bunun CI'da nasıl kullanıldığını hatırlatın.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Soruları tek tek, önce öğrenciye sordurup sonra cevabı açın.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gif"/><Relationship Id="rId4" Type="http://schemas.openxmlformats.org/officeDocument/2006/relationships/notesSlide" Target="../notesSlides/notesSlide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gif"/><Relationship Id="rId4" Type="http://schemas.openxmlformats.org/officeDocument/2006/relationships/notesSlide" Target="../notesSlides/notesSlide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gif"/><Relationship Id="rId4" Type="http://schemas.openxmlformats.org/officeDocument/2006/relationships/notesSlide" Target="../notesSlides/notesSlide1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gif"/><Relationship Id="rId4" Type="http://schemas.openxmlformats.org/officeDocument/2006/relationships/notesSlide" Target="../notesSlides/notesSlide1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gif"/><Relationship Id="rId4" Type="http://schemas.openxmlformats.org/officeDocument/2006/relationships/notesSlide" Target="../notesSlides/notesSlide13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gif"/><Relationship Id="rId4" Type="http://schemas.openxmlformats.org/officeDocument/2006/relationships/notesSlide" Target="../notesSlides/notesSlide14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8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9.gif"/><Relationship Id="rId4" Type="http://schemas.openxmlformats.org/officeDocument/2006/relationships/notesSlide" Target="../notesSlides/notesSlide15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0.gif"/><Relationship Id="rId4" Type="http://schemas.openxmlformats.org/officeDocument/2006/relationships/notesSlide" Target="../notesSlides/notesSlide16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1.gif"/><Relationship Id="rId4" Type="http://schemas.openxmlformats.org/officeDocument/2006/relationships/notesSlide" Target="../notesSlides/notesSlide1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2.gif"/><Relationship Id="rId4" Type="http://schemas.openxmlformats.org/officeDocument/2006/relationships/notesSlide" Target="../notesSlides/notesSlide18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9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3.gif"/><Relationship Id="rId4" Type="http://schemas.openxmlformats.org/officeDocument/2006/relationships/notesSlide" Target="../notesSlides/notesSlide21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4.gif"/><Relationship Id="rId4" Type="http://schemas.openxmlformats.org/officeDocument/2006/relationships/notesSlide" Target="../notesSlides/notesSlide22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3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5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6.gif"/><Relationship Id="rId4" Type="http://schemas.openxmlformats.org/officeDocument/2006/relationships/notesSlide" Target="../notesSlides/notesSlide24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7.gif"/><Relationship Id="rId4" Type="http://schemas.openxmlformats.org/officeDocument/2006/relationships/notesSlide" Target="../notesSlides/notesSlide25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8.gif"/><Relationship Id="rId4" Type="http://schemas.openxmlformats.org/officeDocument/2006/relationships/notesSlide" Target="../notesSlides/notesSlide26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9.gif"/><Relationship Id="rId4" Type="http://schemas.openxmlformats.org/officeDocument/2006/relationships/notesSlide" Target="../notesSlides/notesSlide2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Güvenlik Sertifikasyonları ve Sızma Testi Planlaması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CEN429 Güvenli Programlama — Hafta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Dr. Öğr. Üyesi Uğur CORUH · 04.12.2026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Bugünün planı (3 saat)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9535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1970"/>
                <a:gridCol w="767217"/>
                <a:gridCol w="9462346"/>
              </a:tblGrid>
              <a:tr h="738377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Saat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Bölüm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Konu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73837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1–2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Neden bağımsız değerlendirme · standartlar manzarası · değerlendirme süreci (13 adım)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3837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3–5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Zafiyet değerlendirmesi yöntemleri · standartların istediği testler · saldırı potansiyeli ve derecelendirme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73838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6–9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Bulgu→öneri→aksiyon ve etki analizi · sızma testi planı · raporlama · proje (S16)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389119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Öğrenme çıktısı (ÖÇ.6 / ÖÇ.7):</a:t>
            </a:r>
            <a:r>
              <a:rPr sz="2000" b="0">
                <a:solidFill>
                  <a:srgbClr val="1F2D3A"/>
                </a:solidFill>
              </a:rPr>
              <a:t> bağımsız değerlendirmenin adımlarını anlatmak · bir </a:t>
            </a:r>
            <a:r>
              <a:rPr sz="2000" b="1">
                <a:solidFill>
                  <a:srgbClr val="1F2D3A"/>
                </a:solidFill>
              </a:rPr>
              <a:t>sızma testi planı</a:t>
            </a:r>
            <a:r>
              <a:rPr sz="2000" b="0">
                <a:solidFill>
                  <a:srgbClr val="1F2D3A"/>
                </a:solidFill>
              </a:rPr>
              <a:t> yazmak · bir bulguyu </a:t>
            </a:r>
            <a:r>
              <a:rPr sz="2000" b="1">
                <a:solidFill>
                  <a:srgbClr val="1F2D3A"/>
                </a:solidFill>
              </a:rPr>
              <a:t>derecelendirmek</a:t>
            </a:r>
            <a:r>
              <a:rPr sz="2000" b="0">
                <a:solidFill>
                  <a:srgbClr val="1F2D3A"/>
                </a:solidFill>
              </a:rPr>
              <a:t> (saldırı potansiyeli, CVSS)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 hafta nereye oturuyor?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4–11. haftalar:</a:t>
            </a:r>
            <a:r>
              <a:rPr sz="2000" b="0">
                <a:solidFill>
                  <a:srgbClr val="1F2D3A"/>
                </a:solidFill>
              </a:rPr>
              <a:t> korumaları öğrendik (bellek, kripto, gizleme, whitebox…)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Bu hafta (12):</a:t>
            </a:r>
            <a:r>
              <a:rPr sz="2000" b="0">
                <a:solidFill>
                  <a:srgbClr val="1F2D3A"/>
                </a:solidFill>
              </a:rPr>
              <a:t> peki bu korumalar </a:t>
            </a:r>
            <a:r>
              <a:rPr sz="2000" b="1">
                <a:solidFill>
                  <a:srgbClr val="1F2D3A"/>
                </a:solidFill>
              </a:rPr>
              <a:t>gerçekten çalışıyor mu</a:t>
            </a:r>
            <a:r>
              <a:rPr sz="2000" b="0">
                <a:solidFill>
                  <a:srgbClr val="1F2D3A"/>
                </a:solidFill>
              </a:rPr>
              <a:t>? Nasıl </a:t>
            </a:r>
            <a:r>
              <a:rPr sz="2000" b="1">
                <a:solidFill>
                  <a:srgbClr val="1F2D3A"/>
                </a:solidFill>
              </a:rPr>
              <a:t>sınanır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13. hafta:</a:t>
            </a:r>
            <a:r>
              <a:rPr sz="2000" b="0">
                <a:solidFill>
                  <a:srgbClr val="1F2D3A"/>
                </a:solidFill>
              </a:rPr>
              <a:t> güvenlik gereksinimleri ve uyum matrisi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Bugün: bağımsız değerlendirme + sızma testi planlama.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Etik ve hukuki çerçeve (baştan)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Sızma testi </a:t>
            </a:r>
            <a:r>
              <a:rPr sz="2000" b="1">
                <a:solidFill>
                  <a:srgbClr val="1F2D3A"/>
                </a:solidFill>
              </a:rPr>
              <a:t>yazılı izin</a:t>
            </a:r>
            <a:r>
              <a:rPr sz="2000" b="0">
                <a:solidFill>
                  <a:srgbClr val="1F2D3A"/>
                </a:solidFill>
              </a:rPr>
              <a:t> ve kapsamı açıkça tanımlı bir sözleşme olmadan </a:t>
            </a:r>
            <a:r>
              <a:rPr sz="2000" b="1">
                <a:solidFill>
                  <a:srgbClr val="1F2D3A"/>
                </a:solidFill>
              </a:rPr>
              <a:t>yapılamaz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0328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İzinsiz test, amacı ne olursa olsun </a:t>
            </a:r>
            <a:r>
              <a:rPr sz="2000" b="1">
                <a:solidFill>
                  <a:srgbClr val="1F2D3A"/>
                </a:solidFill>
              </a:rPr>
              <a:t>suçtur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derste test yalnız </a:t>
            </a:r>
            <a:r>
              <a:rPr sz="2000" b="1">
                <a:solidFill>
                  <a:srgbClr val="1F2D3A"/>
                </a:solidFill>
              </a:rPr>
              <a:t>kendi</a:t>
            </a:r>
            <a:r>
              <a:rPr sz="2000" b="0">
                <a:solidFill>
                  <a:srgbClr val="1F2D3A"/>
                </a:solidFill>
              </a:rPr>
              <a:t> projeniz üzerinde yapılır.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Bütün veriler </a:t>
            </a:r>
            <a:r>
              <a:rPr sz="2000" b="1">
                <a:solidFill>
                  <a:srgbClr val="1F2D3A"/>
                </a:solidFill>
              </a:rPr>
              <a:t>sentetik</a:t>
            </a:r>
            <a:r>
              <a:rPr sz="2000" b="0">
                <a:solidFill>
                  <a:srgbClr val="1F2D3A"/>
                </a:solidFill>
              </a:rPr>
              <a:t>; gerçek kişisel veri yok.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Önceki haftalardan gelenler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9946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Zafiyet (vulnerability)</a:t>
            </a:r>
            <a:r>
              <a:rPr sz="1800" b="0">
                <a:solidFill>
                  <a:srgbClr val="1F2D3A"/>
                </a:solidFill>
              </a:rPr>
              <a:t> — kötüye kullanılabilecek zayıf bir nokta, ör. sınır denetimsiz bir tampon </a:t>
            </a:r>
            <a:r>
              <a:rPr sz="1800" b="1">
                <a:solidFill>
                  <a:srgbClr val="1F2D3A"/>
                </a:solidFill>
              </a:rPr>
              <a:t>(Hafta 1)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Kerckhoffs ilkesi</a:t>
            </a:r>
            <a:r>
              <a:rPr sz="1800" b="0">
                <a:solidFill>
                  <a:srgbClr val="1F2D3A"/>
                </a:solidFill>
              </a:rPr>
              <a:t> — güvenlik tasarımın gizli kalmasına değil, yalnız anahtarın gizli kalmasına dayanmalı </a:t>
            </a:r>
            <a:r>
              <a:rPr sz="1800" b="1">
                <a:solidFill>
                  <a:srgbClr val="1F2D3A"/>
                </a:solidFill>
              </a:rPr>
              <a:t>(Hafta 3)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Statik ve dinamik analiz</a:t>
            </a:r>
            <a:r>
              <a:rPr sz="1800" b="0">
                <a:solidFill>
                  <a:srgbClr val="1F2D3A"/>
                </a:solidFill>
              </a:rPr>
              <a:t> — kodu çalıştırmadan (statik) ya da sanitizer'larla çalışırken (dinamik) hata arama </a:t>
            </a:r>
            <a:r>
              <a:rPr sz="1800" b="1">
                <a:solidFill>
                  <a:srgbClr val="1F2D3A"/>
                </a:solidFill>
              </a:rPr>
              <a:t>(Hafta 4)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Fuzzing</a:t>
            </a:r>
            <a:r>
              <a:rPr sz="1800" b="0">
                <a:solidFill>
                  <a:srgbClr val="1F2D3A"/>
                </a:solidFill>
              </a:rPr>
              <a:t> — beklenmeyen/rastgele girdilerle çökme arama </a:t>
            </a:r>
            <a:r>
              <a:rPr sz="1800" b="1">
                <a:solidFill>
                  <a:srgbClr val="1F2D3A"/>
                </a:solidFill>
              </a:rPr>
              <a:t>(Hafta 4)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CVSS</a:t>
            </a:r>
            <a:r>
              <a:rPr sz="1800" b="0">
                <a:solidFill>
                  <a:srgbClr val="1F2D3A"/>
                </a:solidFill>
              </a:rPr>
              <a:t> — bir zafiyetin etkisini standart bir puanla (0–10) ifade eden puanlama sistemi </a:t>
            </a:r>
            <a:r>
              <a:rPr sz="1800" b="1">
                <a:solidFill>
                  <a:srgbClr val="1F2D3A"/>
                </a:solidFill>
              </a:rPr>
              <a:t>(Hafta 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30268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Bu hafta: bu kavramları bağımsız bir </a:t>
            </a:r>
            <a:r>
              <a:rPr sz="1800" b="1">
                <a:solidFill>
                  <a:srgbClr val="1F2D3A"/>
                </a:solidFill>
              </a:rPr>
              <a:t>değerlendirmenin</a:t>
            </a:r>
            <a:r>
              <a:rPr sz="1800" b="0">
                <a:solidFill>
                  <a:srgbClr val="1F2D3A"/>
                </a:solidFill>
              </a:rPr>
              <a:t> diliyle yeniden kuruyoruz.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Bu haftanın kavramları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Her terim, gövdede ilk geçtiği yerde tanımlanır; burada yalnız </a:t>
            </a:r>
            <a:r>
              <a:rPr sz="1800" b="1">
                <a:solidFill>
                  <a:srgbClr val="1F2D3A"/>
                </a:solidFill>
              </a:rPr>
              <a:t>nerede</a:t>
            </a:r>
            <a:r>
              <a:rPr sz="1800" b="0">
                <a:solidFill>
                  <a:srgbClr val="1F2D3A"/>
                </a:solidFill>
              </a:rPr>
              <a:t> olduğunu işaretliyoruz.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139696"/>
          <a:ext cx="10911534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82643"/>
                <a:gridCol w="1428891"/>
              </a:tblGrid>
              <a:tr h="394335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Kavram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Nerede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Güvenlik değerlendirmesi, sertifikasyon, standart, laboratuvar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Bölüm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TOE, beyaz/kara kutu, 13 adımlık değerlendirme süreci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Bölüm 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Zafiyet, değerlendirme yöntemleri (kod inceleme, SAST, DAST, fuzzing)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Bölüm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Standartların istediği testler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Bölüm 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Saldırı potansiyeli, CVSS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Bölüm 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Bulgu, öneri, aksiyon, güvenlik etki analizi, delta değerlendirme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Bölüm 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943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Sızma testi, sızma testi planı, test kartı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Bölüm 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404104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Şimdi: </a:t>
            </a:r>
            <a:r>
              <a:rPr sz="1800" b="1">
                <a:solidFill>
                  <a:srgbClr val="1F2D3A"/>
                </a:solidFill>
              </a:rPr>
              <a:t>neden bağımsız değerlendirme?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Neden bağımsız değerlendirme?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Güvenlik değerlendirmesi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Güvenlik değerlendirmesi:</a:t>
            </a:r>
            <a:r>
              <a:rPr sz="2000" b="0">
                <a:solidFill>
                  <a:srgbClr val="1F2D3A"/>
                </a:solidFill>
              </a:rPr>
              <a:t> bir ürünün güvenlik iddialarının </a:t>
            </a:r>
            <a:r>
              <a:rPr sz="2000" b="1">
                <a:solidFill>
                  <a:srgbClr val="1F2D3A"/>
                </a:solidFill>
              </a:rPr>
              <a:t>bağımsız</a:t>
            </a:r>
            <a:r>
              <a:rPr sz="2000" b="0">
                <a:solidFill>
                  <a:srgbClr val="1F2D3A"/>
                </a:solidFill>
              </a:rPr>
              <a:t> biri tarafından </a:t>
            </a:r>
            <a:r>
              <a:rPr sz="2000" b="1">
                <a:solidFill>
                  <a:srgbClr val="1F2D3A"/>
                </a:solidFill>
              </a:rPr>
              <a:t>sınanması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"Ben güvenliyim" demek yetmez; </a:t>
            </a:r>
            <a:r>
              <a:rPr sz="2000" b="1">
                <a:solidFill>
                  <a:srgbClr val="1F2D3A"/>
                </a:solidFill>
              </a:rPr>
              <a:t>kanıt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test</a:t>
            </a:r>
            <a:r>
              <a:rPr sz="2000" b="0">
                <a:solidFill>
                  <a:srgbClr val="1F2D3A"/>
                </a:solidFill>
              </a:rPr>
              <a:t> gerekir.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Sertifikasyon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Sertifikasyon:</a:t>
            </a:r>
            <a:r>
              <a:rPr sz="2000" b="0">
                <a:solidFill>
                  <a:srgbClr val="1F2D3A"/>
                </a:solidFill>
              </a:rPr>
              <a:t> bir ürünün/kurumun belirli bir </a:t>
            </a:r>
            <a:r>
              <a:rPr sz="2000" b="1">
                <a:solidFill>
                  <a:srgbClr val="1F2D3A"/>
                </a:solidFill>
              </a:rPr>
              <a:t>standarda</a:t>
            </a:r>
            <a:r>
              <a:rPr sz="2000" b="0">
                <a:solidFill>
                  <a:srgbClr val="1F2D3A"/>
                </a:solidFill>
              </a:rPr>
              <a:t> uyduğunun, yetkili bir tarafça </a:t>
            </a:r>
            <a:r>
              <a:rPr sz="2000" b="1">
                <a:solidFill>
                  <a:srgbClr val="1F2D3A"/>
                </a:solidFill>
              </a:rPr>
              <a:t>belgelenmesi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Değerlendirme başarılıysa bir </a:t>
            </a:r>
            <a:r>
              <a:rPr sz="2000" b="1">
                <a:solidFill>
                  <a:srgbClr val="1F2D3A"/>
                </a:solidFill>
              </a:rPr>
              <a:t>sertifika</a:t>
            </a:r>
            <a:r>
              <a:rPr sz="2000" b="0">
                <a:solidFill>
                  <a:srgbClr val="1F2D3A"/>
                </a:solidFill>
              </a:rPr>
              <a:t> verilir.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Laboratuvar (değerlendirici) kim?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Değerlendirme laboratuvarı:</a:t>
            </a:r>
            <a:r>
              <a:rPr sz="2000" b="0">
                <a:solidFill>
                  <a:srgbClr val="1F2D3A"/>
                </a:solidFill>
              </a:rPr>
              <a:t> ürünü sınayan bağımsız, akredite kuruluş.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Ürünü geliştiren </a:t>
            </a:r>
            <a:r>
              <a:rPr sz="2000" b="1">
                <a:solidFill>
                  <a:srgbClr val="1F2D3A"/>
                </a:solidFill>
              </a:rPr>
              <a:t>değildir</a:t>
            </a:r>
            <a:r>
              <a:rPr sz="2000" b="0">
                <a:solidFill>
                  <a:srgbClr val="1F2D3A"/>
                </a:solidFill>
              </a:rPr>
              <a:t> (tarafsızlık için).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Bütün kaynak koda ve belgeye erişir.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Standart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Standart:</a:t>
            </a:r>
            <a:r>
              <a:rPr sz="2000" b="0">
                <a:solidFill>
                  <a:srgbClr val="1F2D3A"/>
                </a:solidFill>
              </a:rPr>
              <a:t> neyin nasıl yapılacağını belirleyen ortak kurallar bütünü.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Örnek: ISO/IEC 27001, Ortak Kriterler, FIPS 140-3, PCI, OWASP MASVS.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biri farklı şeyi ölçer (birazdan).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Bağımsız değerlendirme — şema</a:t>
            </a:r>
          </a:p>
        </p:txBody>
      </p:sp>
      <p:pic>
        <p:nvPicPr>
          <p:cNvPr id="7" name="Picture 6" descr="h12-04-bagimsiz-degerlendir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6239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"Benim kodum güvenli" yetmez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Geliştirici kendi koduna </a:t>
            </a:r>
            <a:r>
              <a:rPr sz="2000" b="1">
                <a:solidFill>
                  <a:srgbClr val="1F2D3A"/>
                </a:solidFill>
              </a:rPr>
              <a:t>kör</a:t>
            </a:r>
            <a:r>
              <a:rPr sz="2000" b="0">
                <a:solidFill>
                  <a:srgbClr val="1F2D3A"/>
                </a:solidFill>
              </a:rPr>
              <a:t> olabilir.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Menfaat çatışması: "ürünüm güvenli" demek istersiniz.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yüzden </a:t>
            </a:r>
            <a:r>
              <a:rPr sz="2000" b="1">
                <a:solidFill>
                  <a:srgbClr val="1F2D3A"/>
                </a:solidFill>
              </a:rPr>
              <a:t>üçüncü taraf</a:t>
            </a:r>
            <a:r>
              <a:rPr sz="2000" b="0">
                <a:solidFill>
                  <a:srgbClr val="1F2D3A"/>
                </a:solidFill>
              </a:rPr>
              <a:t> doğrulaması gerekir.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Güven neye dayanır?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Söze değil, </a:t>
            </a:r>
            <a:r>
              <a:rPr sz="2000" b="1">
                <a:solidFill>
                  <a:srgbClr val="1F2D3A"/>
                </a:solidFill>
              </a:rPr>
              <a:t>kanıta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teste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Bağımsız laboratuvar: tarafsız, akredite, uzman.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Sonuç: bir </a:t>
            </a:r>
            <a:r>
              <a:rPr sz="2000" b="1">
                <a:solidFill>
                  <a:srgbClr val="1F2D3A"/>
                </a:solidFill>
              </a:rPr>
              <a:t>sertifika</a:t>
            </a:r>
            <a:r>
              <a:rPr sz="2000" b="0">
                <a:solidFill>
                  <a:srgbClr val="1F2D3A"/>
                </a:solidFill>
              </a:rPr>
              <a:t> ya da bir </a:t>
            </a:r>
            <a:r>
              <a:rPr sz="2000" b="1">
                <a:solidFill>
                  <a:srgbClr val="1F2D3A"/>
                </a:solidFill>
              </a:rPr>
              <a:t>bulgu listesi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Kısa tarihçe — değerlendirme ve sertifikasyon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0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1985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TCSEC</a:t>
            </a:r>
            <a:r>
              <a:rPr sz="1800" b="0">
                <a:solidFill>
                  <a:srgbClr val="1F2D3A"/>
                </a:solidFill>
              </a:rPr>
              <a:t> ("Orange Book"): ilk resmi değerlendirme ölçütleri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1991–93</a:t>
            </a:r>
            <a:r>
              <a:rPr sz="1800" b="0">
                <a:solidFill>
                  <a:srgbClr val="1F2D3A"/>
                </a:solidFill>
              </a:rPr>
              <a:t> — Avrupa </a:t>
            </a:r>
            <a:r>
              <a:rPr sz="1800" b="1">
                <a:solidFill>
                  <a:srgbClr val="1F2D3A"/>
                </a:solidFill>
              </a:rPr>
              <a:t>ITSEC</a:t>
            </a:r>
            <a:r>
              <a:rPr sz="1800" b="0">
                <a:solidFill>
                  <a:srgbClr val="1F2D3A"/>
                </a:solidFill>
              </a:rPr>
              <a:t>, Kanada </a:t>
            </a:r>
            <a:r>
              <a:rPr sz="1800" b="1">
                <a:solidFill>
                  <a:srgbClr val="1F2D3A"/>
                </a:solidFill>
              </a:rPr>
              <a:t>CTCPEC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1999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Ortak Kriterler (ISO/IEC 15408)</a:t>
            </a:r>
            <a:r>
              <a:rPr sz="1800" b="0">
                <a:solidFill>
                  <a:srgbClr val="1F2D3A"/>
                </a:solidFill>
              </a:rPr>
              <a:t>; </a:t>
            </a:r>
            <a:r>
              <a:rPr sz="1800" b="1">
                <a:solidFill>
                  <a:srgbClr val="1F2D3A"/>
                </a:solidFill>
              </a:rPr>
              <a:t>EAL</a:t>
            </a:r>
            <a:r>
              <a:rPr sz="1800" b="0">
                <a:solidFill>
                  <a:srgbClr val="1F2D3A"/>
                </a:solidFill>
              </a:rPr>
              <a:t> ölçeği buradan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2001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1">
                <a:solidFill>
                  <a:srgbClr val="1F2D3A"/>
                </a:solidFill>
              </a:rPr>
              <a:t>OWASP</a:t>
            </a:r>
            <a:r>
              <a:rPr sz="1800" b="0">
                <a:solidFill>
                  <a:srgbClr val="1F2D3A"/>
                </a:solidFill>
              </a:rPr>
              <a:t> · </a:t>
            </a:r>
            <a:r>
              <a:rPr sz="1800" b="1">
                <a:solidFill>
                  <a:srgbClr val="1F2D3A"/>
                </a:solidFill>
              </a:rPr>
              <a:t>PTES/NIST SP 800-115</a:t>
            </a:r>
            <a:r>
              <a:rPr sz="1800" b="0">
                <a:solidFill>
                  <a:srgbClr val="1F2D3A"/>
                </a:solidFill>
              </a:rPr>
              <a:t> · </a:t>
            </a:r>
            <a:r>
              <a:rPr sz="1800" b="1">
                <a:solidFill>
                  <a:srgbClr val="1F2D3A"/>
                </a:solidFill>
              </a:rPr>
              <a:t>2005→2023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1">
                <a:solidFill>
                  <a:srgbClr val="1F2D3A"/>
                </a:solidFill>
              </a:rPr>
              <a:t>CVSS</a:t>
            </a:r>
            <a:r>
              <a:rPr sz="1800" b="0">
                <a:solidFill>
                  <a:srgbClr val="1F2D3A"/>
                </a:solidFill>
              </a:rPr>
              <a:t> (v2→v4.0)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2010'lar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MASVS/MASTG</a:t>
            </a:r>
            <a:r>
              <a:rPr sz="1800" b="0">
                <a:solidFill>
                  <a:srgbClr val="1F2D3A"/>
                </a:solidFill>
              </a:rPr>
              <a:t> (mobil), </a:t>
            </a:r>
            <a:r>
              <a:rPr sz="1800" b="1">
                <a:solidFill>
                  <a:srgbClr val="1F2D3A"/>
                </a:solidFill>
              </a:rPr>
              <a:t>ETSI EN 303 645</a:t>
            </a:r>
            <a:r>
              <a:rPr sz="1800" b="0">
                <a:solidFill>
                  <a:srgbClr val="1F2D3A"/>
                </a:solidFill>
              </a:rPr>
              <a:t> (IoT)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241548"/>
            <a:ext cx="10911535" cy="57150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>
                <a:solidFill>
                  <a:srgbClr val="1F2D3A"/>
                </a:solidFill>
              </a:rPr>
              <a:t>Tek cümle: </a:t>
            </a:r>
            <a:r>
              <a:rPr sz="1800" b="1">
                <a:solidFill>
                  <a:srgbClr val="1F2D3A"/>
                </a:solidFill>
              </a:rPr>
              <a:t>üretici kendi ürününü onaylayamaz</a:t>
            </a:r>
            <a:r>
              <a:rPr sz="1800" b="0">
                <a:solidFill>
                  <a:srgbClr val="1F2D3A"/>
                </a:solidFill>
              </a:rPr>
              <a:t> — bağımsız, </a:t>
            </a:r>
            <a:r>
              <a:rPr sz="1800" b="1">
                <a:solidFill>
                  <a:srgbClr val="1F2D3A"/>
                </a:solidFill>
              </a:rPr>
              <a:t>kanıta dayalı</a:t>
            </a:r>
            <a:r>
              <a:rPr sz="1800" b="0">
                <a:solidFill>
                  <a:srgbClr val="1F2D3A"/>
                </a:solidFill>
              </a:rPr>
              <a:t> değerlendirme.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Değerlendiricinin iki varsayımı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Beyaz kutu:</a:t>
            </a:r>
            <a:r>
              <a:rPr sz="2000" b="0">
                <a:solidFill>
                  <a:srgbClr val="1F2D3A"/>
                </a:solidFill>
              </a:rPr>
              <a:t> tüm kaynak koda ve belgelere erişimi var.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Platform güvenilmez:</a:t>
            </a:r>
            <a:r>
              <a:rPr sz="2000" b="0">
                <a:solidFill>
                  <a:srgbClr val="1F2D3A"/>
                </a:solidFill>
              </a:rPr>
              <a:t> ürünün çalıştığı ortam saldırgana açık.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Beyaz kutu vs kara kutu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Beyaz kutu test:</a:t>
            </a:r>
            <a:r>
              <a:rPr sz="2000" b="0">
                <a:solidFill>
                  <a:srgbClr val="1F2D3A"/>
                </a:solidFill>
              </a:rPr>
              <a:t> test eden </a:t>
            </a:r>
            <a:r>
              <a:rPr sz="2000" b="1">
                <a:solidFill>
                  <a:srgbClr val="1F2D3A"/>
                </a:solidFill>
              </a:rPr>
              <a:t>kaynak koda + belgeye</a:t>
            </a:r>
            <a:r>
              <a:rPr sz="2000" b="0">
                <a:solidFill>
                  <a:srgbClr val="1F2D3A"/>
                </a:solidFill>
              </a:rPr>
              <a:t> sahip.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Kara kutu test:</a:t>
            </a:r>
            <a:r>
              <a:rPr sz="2000" b="0">
                <a:solidFill>
                  <a:srgbClr val="1F2D3A"/>
                </a:solidFill>
              </a:rPr>
              <a:t> test eden yalnız dışarıdan (kullanıcı gibi) erişir.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Değerlendirici genelde </a:t>
            </a:r>
            <a:r>
              <a:rPr sz="2000" b="1">
                <a:solidFill>
                  <a:srgbClr val="1F2D3A"/>
                </a:solidFill>
              </a:rPr>
              <a:t>beyaz kutu</a:t>
            </a:r>
            <a:r>
              <a:rPr sz="2000" b="0">
                <a:solidFill>
                  <a:srgbClr val="1F2D3A"/>
                </a:solidFill>
              </a:rPr>
              <a:t> çalışır (her şeyi görür).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 varsayımların sonucu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korumanın </a:t>
            </a:r>
            <a:r>
              <a:rPr sz="2000" b="1">
                <a:solidFill>
                  <a:srgbClr val="1F2D3A"/>
                </a:solidFill>
              </a:rPr>
              <a:t>var olması yetmez.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Değerlendirici sorar: </a:t>
            </a:r>
            <a:r>
              <a:rPr sz="2000" b="1">
                <a:solidFill>
                  <a:srgbClr val="1F2D3A"/>
                </a:solidFill>
              </a:rPr>
              <a:t>ne kadar kolay aşılıyor?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Tek bir korumayı değil,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Korumaların </a:t>
            </a:r>
            <a:r>
              <a:rPr sz="2000" b="1">
                <a:solidFill>
                  <a:srgbClr val="1F2D3A"/>
                </a:solidFill>
              </a:rPr>
              <a:t>birlikte</a:t>
            </a:r>
            <a:r>
              <a:rPr sz="2000" b="0">
                <a:solidFill>
                  <a:srgbClr val="1F2D3A"/>
                </a:solidFill>
              </a:rPr>
              <a:t> aşılmasının süresini ölçer.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İyi tasarımda saldırgan zorlanır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Tek koruma → tek adımda aşılır.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Katmanlı koruma → saldırgan katmanları </a:t>
            </a:r>
            <a:r>
              <a:rPr sz="2000" b="1">
                <a:solidFill>
                  <a:srgbClr val="1F2D3A"/>
                </a:solidFill>
              </a:rPr>
              <a:t>zincirlemek</a:t>
            </a:r>
            <a:r>
              <a:rPr sz="2000" b="0">
                <a:solidFill>
                  <a:srgbClr val="1F2D3A"/>
                </a:solidFill>
              </a:rPr>
              <a:t> zorunda.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Bu, 9 ve 11. haftadaki "katmanlı savunma" fikrinin değerlendirmedeki karşılığı.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Standartlar manzarası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Standartlar haritası — şema</a:t>
            </a:r>
          </a:p>
        </p:txBody>
      </p:sp>
      <p:pic>
        <p:nvPicPr>
          <p:cNvPr id="7" name="Picture 6" descr="h12-05-standart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966" y="1325880"/>
            <a:ext cx="962576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birçok standart var?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standart </a:t>
            </a:r>
            <a:r>
              <a:rPr sz="2000" b="1">
                <a:solidFill>
                  <a:srgbClr val="1F2D3A"/>
                </a:solidFill>
              </a:rPr>
              <a:t>farklı</a:t>
            </a:r>
            <a:r>
              <a:rPr sz="2000" b="0">
                <a:solidFill>
                  <a:srgbClr val="1F2D3A"/>
                </a:solidFill>
              </a:rPr>
              <a:t> bir şeyi güvence altına alır: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kurumu mu, ürünü mü, kripto modülünü mü?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hangi alan (IoT, ödeme, mobil)?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Projeniz hangisine yakınsa, hangi testleri önceliklendireceğinizi bilirsiniz.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ISO/IEC 27001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Neyi: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kurumu</a:t>
            </a:r>
            <a:r>
              <a:rPr sz="2000" b="0">
                <a:solidFill>
                  <a:srgbClr val="1F2D3A"/>
                </a:solidFill>
              </a:rPr>
              <a:t> (süreçleri) sertifikalar.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Ürünü değil, kurumun bilgi güvenliği yönetimini.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Test yerine </a:t>
            </a:r>
            <a:r>
              <a:rPr sz="2000" b="1">
                <a:solidFill>
                  <a:srgbClr val="1F2D3A"/>
                </a:solidFill>
              </a:rPr>
              <a:t>kontrol kanıtı</a:t>
            </a:r>
            <a:r>
              <a:rPr sz="2000" b="0">
                <a:solidFill>
                  <a:srgbClr val="1F2D3A"/>
                </a:solidFill>
              </a:rPr>
              <a:t> ister.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Ortak Kriterler (ISO/IEC 15408)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Neyi: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ürünü</a:t>
            </a:r>
            <a:r>
              <a:rPr sz="2000" b="0">
                <a:solidFill>
                  <a:srgbClr val="1F2D3A"/>
                </a:solidFill>
              </a:rPr>
              <a:t> sertifikalar.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Kaynak inceleme + zafiyet analizi + sızma testi + </a:t>
            </a:r>
            <a:r>
              <a:rPr sz="2000" b="1">
                <a:solidFill>
                  <a:srgbClr val="1F2D3A"/>
                </a:solidFill>
              </a:rPr>
              <a:t>saldırı potansiyeli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Derinlik </a:t>
            </a:r>
            <a:r>
              <a:rPr sz="2000" b="1">
                <a:solidFill>
                  <a:srgbClr val="1F2D3A"/>
                </a:solidFill>
              </a:rPr>
              <a:t>EAL</a:t>
            </a:r>
            <a:r>
              <a:rPr sz="2000" b="0">
                <a:solidFill>
                  <a:srgbClr val="1F2D3A"/>
                </a:solidFill>
              </a:rPr>
              <a:t> ile artar (13. hafta).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FIPS 140-3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Neyi: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kriptografik modülü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Algoritma doğrulama, kendini test.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 </a:t>
            </a:r>
            <a:r>
              <a:rPr sz="2000" b="1">
                <a:solidFill>
                  <a:srgbClr val="1F2D3A"/>
                </a:solidFill>
              </a:rPr>
              <a:t>modülü</a:t>
            </a:r>
            <a:r>
              <a:rPr sz="2000" b="0">
                <a:solidFill>
                  <a:srgbClr val="1F2D3A"/>
                </a:solidFill>
              </a:rPr>
              <a:t> kapsar; uygulamanın tamamını değil (13. hafta).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ETSI EN 303 645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Neyi: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IoT</a:t>
            </a:r>
            <a:r>
              <a:rPr sz="2000" b="0">
                <a:solidFill>
                  <a:srgbClr val="1F2D3A"/>
                </a:solidFill>
              </a:rPr>
              <a:t> temel güvenlik gereksinimleri.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Hafif, geniş kapsamlı bir taban.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Ör. "hassas parametreleri güvenle sakla".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EMVCo / PCI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Neyi: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ödeme</a:t>
            </a:r>
            <a:r>
              <a:rPr sz="2000" b="0">
                <a:solidFill>
                  <a:srgbClr val="1F2D3A"/>
                </a:solidFill>
              </a:rPr>
              <a:t> ürünleri.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İşlevsel uygunluk + laboratuvar sızma testi + saldırı potansiyeli.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Sıkı ve ayrıntılı.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OWASP MASVS + MASTG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MASVS:</a:t>
            </a:r>
            <a:r>
              <a:rPr sz="2000" b="0">
                <a:solidFill>
                  <a:srgbClr val="1F2D3A"/>
                </a:solidFill>
              </a:rPr>
              <a:t> mobil uygulama güvenlik </a:t>
            </a:r>
            <a:r>
              <a:rPr sz="2000" b="1">
                <a:solidFill>
                  <a:srgbClr val="1F2D3A"/>
                </a:solidFill>
              </a:rPr>
              <a:t>gereksinimleri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MASTG:</a:t>
            </a:r>
            <a:r>
              <a:rPr sz="2000" b="0">
                <a:solidFill>
                  <a:srgbClr val="1F2D3A"/>
                </a:solidFill>
              </a:rPr>
              <a:t> bunları sınamak için </a:t>
            </a:r>
            <a:r>
              <a:rPr sz="2000" b="1">
                <a:solidFill>
                  <a:srgbClr val="1F2D3A"/>
                </a:solidFill>
              </a:rPr>
              <a:t>test rehberi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Projeniz için en uygulanabilir</a:t>
            </a:r>
            <a:r>
              <a:rPr sz="2000" b="0">
                <a:solidFill>
                  <a:srgbClr val="1F2D3A"/>
                </a:solidFill>
              </a:rPr>
              <a:t> rehber.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Standartlar · tek tablo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7638074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9037"/>
                <a:gridCol w="3819037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Standart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Neyi sertifikalar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ISO/IEC 27001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Kurumu (süreç)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Ortak Kriterler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Ürünü (EAL)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FIPS 140-3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Kripto modülü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ETSI EN 303 645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IoT temel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EMVCo / PCI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Ödeme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OWASP MASVS/MASTG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Mobil uygulama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Kurum mu, ürün mü? (sık karışır)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ISO/IEC 27001:</a:t>
            </a:r>
            <a:r>
              <a:rPr sz="2000" b="0">
                <a:solidFill>
                  <a:srgbClr val="1F2D3A"/>
                </a:solidFill>
              </a:rPr>
              <a:t> kurum.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Ortak Kriterler:</a:t>
            </a:r>
            <a:r>
              <a:rPr sz="2000" b="0">
                <a:solidFill>
                  <a:srgbClr val="1F2D3A"/>
                </a:solidFill>
              </a:rPr>
              <a:t> ürün.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kurum 27001'li olabilir ama ürünü değerlendirilmemiş olabilir; tersi de doğru.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1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Neden geliştiricinin "güvenli" demesi yetmez?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Değerlendiricinin iki varsayımı?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ISO 27001 ile Ortak Kriterler neyi ayrı sertifikalar?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1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Geliştirici </a:t>
            </a:r>
            <a:r>
              <a:rPr sz="2000" b="1">
                <a:solidFill>
                  <a:srgbClr val="1F2D3A"/>
                </a:solidFill>
              </a:rPr>
              <a:t>taraf</a:t>
            </a:r>
            <a:r>
              <a:rPr sz="2000" b="0">
                <a:solidFill>
                  <a:srgbClr val="1F2D3A"/>
                </a:solidFill>
              </a:rPr>
              <a:t>tır (çıkar çatışması), kendi hatalarına </a:t>
            </a:r>
            <a:r>
              <a:rPr sz="2000" b="1">
                <a:solidFill>
                  <a:srgbClr val="1F2D3A"/>
                </a:solidFill>
              </a:rPr>
              <a:t>kör</a:t>
            </a:r>
            <a:r>
              <a:rPr sz="2000" b="0">
                <a:solidFill>
                  <a:srgbClr val="1F2D3A"/>
                </a:solidFill>
              </a:rPr>
              <a:t>dür, elinde </a:t>
            </a:r>
            <a:r>
              <a:rPr sz="2000" b="1">
                <a:solidFill>
                  <a:srgbClr val="1F2D3A"/>
                </a:solidFill>
              </a:rPr>
              <a:t>kanıt</a:t>
            </a:r>
            <a:r>
              <a:rPr sz="2000" b="0">
                <a:solidFill>
                  <a:srgbClr val="1F2D3A"/>
                </a:solidFill>
              </a:rPr>
              <a:t> yoktur. Bağımsız değerlendirici kanıta dayalı doğrular.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(1) Saldırgan sistemi </a:t>
            </a:r>
            <a:r>
              <a:rPr sz="2000" b="1">
                <a:solidFill>
                  <a:srgbClr val="1F2D3A"/>
                </a:solidFill>
              </a:rPr>
              <a:t>tam bilir</a:t>
            </a:r>
            <a:r>
              <a:rPr sz="2000" b="0">
                <a:solidFill>
                  <a:srgbClr val="1F2D3A"/>
                </a:solidFill>
              </a:rPr>
              <a:t> (Kerckhoffs), (2) saldırgan </a:t>
            </a:r>
            <a:r>
              <a:rPr sz="2000" b="1">
                <a:solidFill>
                  <a:srgbClr val="1F2D3A"/>
                </a:solidFill>
              </a:rPr>
              <a:t>yetenekli ve kaynaklı</a:t>
            </a:r>
            <a:r>
              <a:rPr sz="2000" b="0">
                <a:solidFill>
                  <a:srgbClr val="1F2D3A"/>
                </a:solidFill>
              </a:rPr>
              <a:t>dır. En kötü durumu varsay.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ISO 27001 kurumu/süreci</a:t>
            </a:r>
            <a:r>
              <a:rPr sz="2000" b="0">
                <a:solidFill>
                  <a:srgbClr val="1F2D3A"/>
                </a:solidFill>
              </a:rPr>
              <a:t> (bilgi güvenliği yönetimi), </a:t>
            </a:r>
            <a:r>
              <a:rPr sz="2000" b="1">
                <a:solidFill>
                  <a:srgbClr val="1F2D3A"/>
                </a:solidFill>
              </a:rPr>
              <a:t>Ortak Kriterler ürünü</a:t>
            </a:r>
            <a:r>
              <a:rPr sz="2000" b="0">
                <a:solidFill>
                  <a:srgbClr val="1F2D3A"/>
                </a:solidFill>
              </a:rPr>
              <a:t> (TOE) belli güvence düzeyinde sertifikalar.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Değerlendirme süreci: 13 adım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Değerlendirme süreci — şema</a:t>
            </a:r>
          </a:p>
        </p:txBody>
      </p:sp>
      <p:pic>
        <p:nvPicPr>
          <p:cNvPr id="7" name="Picture 6" descr="h12-01-degerlendirme-surec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8959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Üç aşama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Süreç üç aşamaya ayrılır: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Hazırlık</a:t>
            </a:r>
            <a:r>
              <a:rPr sz="2000" b="0">
                <a:solidFill>
                  <a:srgbClr val="1F2D3A"/>
                </a:solidFill>
              </a:rPr>
              <a:t> (1–4)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Değerlendirme</a:t>
            </a:r>
            <a:r>
              <a:rPr sz="2000" b="0">
                <a:solidFill>
                  <a:srgbClr val="1F2D3A"/>
                </a:solidFill>
              </a:rPr>
              <a:t> (5–8)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Sonuç ve süreklilik</a:t>
            </a:r>
            <a:r>
              <a:rPr sz="2000" b="0">
                <a:solidFill>
                  <a:srgbClr val="1F2D3A"/>
                </a:solidFill>
              </a:rPr>
              <a:t> (9–13)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446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Şimdi tek tek.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Hazırlık (adım 1–4)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Hazırlık adımları — şema</a:t>
            </a:r>
          </a:p>
        </p:txBody>
      </p:sp>
      <p:pic>
        <p:nvPicPr>
          <p:cNvPr id="7" name="Picture 6" descr="h12-02-hazirlik-adimla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09095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1 · Değerlendirme hedefi (TOE)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Değerlendirilecek şey </a:t>
            </a:r>
            <a:r>
              <a:rPr sz="2000" b="1">
                <a:solidFill>
                  <a:srgbClr val="1F2D3A"/>
                </a:solidFill>
              </a:rPr>
              <a:t>benzersiz</a:t>
            </a:r>
            <a:r>
              <a:rPr sz="2000" b="0">
                <a:solidFill>
                  <a:srgbClr val="1F2D3A"/>
                </a:solidFill>
              </a:rPr>
              <a:t> tanımlanır.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Sürüm numarası </a:t>
            </a:r>
            <a:r>
              <a:rPr sz="2000" b="1">
                <a:solidFill>
                  <a:srgbClr val="1F2D3A"/>
                </a:solidFill>
              </a:rPr>
              <a:t>yetmez</a:t>
            </a:r>
            <a:r>
              <a:rPr sz="2000" b="0">
                <a:solidFill>
                  <a:srgbClr val="1F2D3A"/>
                </a:solidFill>
              </a:rPr>
              <a:t>: binary + kaynak + özet değeri/etiket.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Kapsam dışı bileşenler yazılır.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Projede:</a:t>
            </a:r>
            <a:r>
              <a:rPr sz="2000" b="0">
                <a:solidFill>
                  <a:srgbClr val="1F2D3A"/>
                </a:solidFill>
              </a:rPr>
              <a:t> S0, S1 (sürüm kimliği, 1. hafta).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TOE kimliği — şema</a:t>
            </a:r>
          </a:p>
        </p:txBody>
      </p:sp>
      <p:pic>
        <p:nvPicPr>
          <p:cNvPr id="7" name="Picture 6" descr="h12-06-to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891749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1 · Neden benzersiz?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Rapor yalnız </a:t>
            </a:r>
            <a:r>
              <a:rPr sz="2000" b="1">
                <a:solidFill>
                  <a:srgbClr val="1F2D3A"/>
                </a:solidFill>
              </a:rPr>
              <a:t>incelenen</a:t>
            </a:r>
            <a:r>
              <a:rPr sz="2000" b="0">
                <a:solidFill>
                  <a:srgbClr val="1F2D3A"/>
                </a:solidFill>
              </a:rPr>
              <a:t> binary için geçerlidir.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"v1.2" iki farklı derlemeyi işaret edebilir.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Özet değeri (hash), tam olarak hangi dosya olduğunu sabitler.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2 · Belgelerin teslimi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Kaynak kod, API belgesi, </a:t>
            </a:r>
            <a:r>
              <a:rPr sz="2000" b="1">
                <a:solidFill>
                  <a:srgbClr val="1F2D3A"/>
                </a:solidFill>
              </a:rPr>
              <a:t>güvenlik kılavuzu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Hata ayıklama ve sürüm derlemeleri.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Güvenli bir kanalla teslim edilir.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Projede:</a:t>
            </a:r>
            <a:r>
              <a:rPr sz="2000" b="0">
                <a:solidFill>
                  <a:srgbClr val="1F2D3A"/>
                </a:solidFill>
              </a:rPr>
              <a:t> deponuz + kılavuzunuz.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3 · Gereksinim şablonu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Standardın </a:t>
            </a:r>
            <a:r>
              <a:rPr sz="2000" b="1">
                <a:solidFill>
                  <a:srgbClr val="1F2D3A"/>
                </a:solidFill>
              </a:rPr>
              <a:t>numaralı</a:t>
            </a:r>
            <a:r>
              <a:rPr sz="2000" b="0">
                <a:solidFill>
                  <a:srgbClr val="1F2D3A"/>
                </a:solidFill>
              </a:rPr>
              <a:t> gereksinimleri.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biri için: metin, </a:t>
            </a:r>
            <a:r>
              <a:rPr sz="2000" b="1">
                <a:solidFill>
                  <a:srgbClr val="1F2D3A"/>
                </a:solidFill>
              </a:rPr>
              <a:t>test kapsamı</a:t>
            </a:r>
            <a:r>
              <a:rPr sz="2000" b="0">
                <a:solidFill>
                  <a:srgbClr val="1F2D3A"/>
                </a:solidFill>
              </a:rPr>
              <a:t>, geliştiricinin </a:t>
            </a:r>
            <a:r>
              <a:rPr sz="2000" b="1">
                <a:solidFill>
                  <a:srgbClr val="1F2D3A"/>
                </a:solidFill>
              </a:rPr>
              <a:t>uyum gerekçesi + belge referansı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Durum: karşılandı / devredildi / karşılanmadı.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Projede:</a:t>
            </a:r>
            <a:r>
              <a:rPr sz="2000" b="0">
                <a:solidFill>
                  <a:srgbClr val="1F2D3A"/>
                </a:solidFill>
              </a:rPr>
              <a:t> S17 uyum matrisi (13. hafta).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4 · Atölye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Hangi önlem hangi gereksinimi karşılıyor?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Eksikler nasıl kapatılacak?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Belge güncelleme planı çıkar.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Değerlendirme (adım 5–8)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5 · Kaynak kod incelemesi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Bütün kaynak, </a:t>
            </a:r>
            <a:r>
              <a:rPr sz="2000" b="1">
                <a:solidFill>
                  <a:srgbClr val="1F2D3A"/>
                </a:solidFill>
              </a:rPr>
              <a:t>beyaz kutu</a:t>
            </a:r>
            <a:r>
              <a:rPr sz="2000" b="0">
                <a:solidFill>
                  <a:srgbClr val="1F2D3A"/>
                </a:solidFill>
              </a:rPr>
              <a:t> bağlamında incelenir.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Tehlikeli kalıplar, yanlış kripto, sızıntı noktaları.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Projede:</a:t>
            </a:r>
            <a:r>
              <a:rPr sz="2000" b="0">
                <a:solidFill>
                  <a:srgbClr val="1F2D3A"/>
                </a:solidFill>
              </a:rPr>
              <a:t> 4. hafta CERT, statik analiz.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5 · Değerlendirici neye bakar?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Kripto kullanımı doğru mu? Anahtar nereden/nereye?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Girdi doğrulama, bellek (sınır, taşma, UAF).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Günlükte/hatalarda sır sızıntısı.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Denetim atlama yolları.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6 · Zafiyet analizi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Varlıklar ve </a:t>
            </a:r>
            <a:r>
              <a:rPr sz="2000" b="1">
                <a:solidFill>
                  <a:srgbClr val="1F2D3A"/>
                </a:solidFill>
              </a:rPr>
              <a:t>anahtar hiyerarşisi</a:t>
            </a:r>
            <a:r>
              <a:rPr sz="2000" b="0">
                <a:solidFill>
                  <a:srgbClr val="1F2D3A"/>
                </a:solidFill>
              </a:rPr>
              <a:t> çıkarılır.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varlık için: "nerede, hangi halde açığa çıkıyor?"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Çıktı: bulgu listesi + </a:t>
            </a:r>
            <a:r>
              <a:rPr sz="2000" b="1">
                <a:solidFill>
                  <a:srgbClr val="1F2D3A"/>
                </a:solidFill>
              </a:rPr>
              <a:t>sızma testi planı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Projede:</a:t>
            </a:r>
            <a:r>
              <a:rPr sz="2000" b="0">
                <a:solidFill>
                  <a:srgbClr val="1F2D3A"/>
                </a:solidFill>
              </a:rPr>
              <a:t> S4, S5, S16.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7 · Sızma testi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Plandaki her test, </a:t>
            </a:r>
            <a:r>
              <a:rPr sz="2000" b="1">
                <a:solidFill>
                  <a:srgbClr val="1F2D3A"/>
                </a:solidFill>
              </a:rPr>
              <a:t>sekiz başlıklı</a:t>
            </a:r>
            <a:r>
              <a:rPr sz="2000" b="0">
                <a:solidFill>
                  <a:srgbClr val="1F2D3A"/>
                </a:solidFill>
              </a:rPr>
              <a:t> şablonla yürütülür.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bulgu </a:t>
            </a:r>
            <a:r>
              <a:rPr sz="2000" b="1">
                <a:solidFill>
                  <a:srgbClr val="1F2D3A"/>
                </a:solidFill>
              </a:rPr>
              <a:t>saldırı potansiyeliyle</a:t>
            </a:r>
            <a:r>
              <a:rPr sz="2000" b="0">
                <a:solidFill>
                  <a:srgbClr val="1F2D3A"/>
                </a:solidFill>
              </a:rPr>
              <a:t> derecelendirilir.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Çıktı: test sonuç tabloları.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Projede:</a:t>
            </a:r>
            <a:r>
              <a:rPr sz="2000" b="0">
                <a:solidFill>
                  <a:srgbClr val="1F2D3A"/>
                </a:solidFill>
              </a:rPr>
              <a:t> S16.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Sızma testi planı — şema</a:t>
            </a:r>
          </a:p>
        </p:txBody>
      </p:sp>
      <p:pic>
        <p:nvPicPr>
          <p:cNvPr id="7" name="Picture 6" descr="h12-11-pentest-pla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13592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8 · İşlevsel uygunluk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Ürünün standart işlevleri (ör. ödeme akışları) şemanın </a:t>
            </a:r>
            <a:r>
              <a:rPr sz="2000" b="1">
                <a:solidFill>
                  <a:srgbClr val="1F2D3A"/>
                </a:solidFill>
              </a:rPr>
              <a:t>test paketiyle</a:t>
            </a:r>
            <a:r>
              <a:rPr sz="2000" b="0">
                <a:solidFill>
                  <a:srgbClr val="1F2D3A"/>
                </a:solidFill>
              </a:rPr>
              <a:t> sınanır.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Çıktı: yürütme raporu.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Projede:</a:t>
            </a:r>
            <a:r>
              <a:rPr sz="2000" b="0">
                <a:solidFill>
                  <a:srgbClr val="1F2D3A"/>
                </a:solidFill>
              </a:rPr>
              <a:t> birim testleri.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Sonuç ve süreklilik (adım 9–13)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9 · Bulgular ve düzeltmeler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bulgu için laboratuvar </a:t>
            </a:r>
            <a:r>
              <a:rPr sz="2000" b="1">
                <a:solidFill>
                  <a:srgbClr val="1F2D3A"/>
                </a:solidFill>
              </a:rPr>
              <a:t>öneri</a:t>
            </a:r>
            <a:r>
              <a:rPr sz="2000" b="0">
                <a:solidFill>
                  <a:srgbClr val="1F2D3A"/>
                </a:solidFill>
              </a:rPr>
              <a:t>, geliştirici </a:t>
            </a:r>
            <a:r>
              <a:rPr sz="2000" b="1">
                <a:solidFill>
                  <a:srgbClr val="1F2D3A"/>
                </a:solidFill>
              </a:rPr>
              <a:t>aksiyon</a:t>
            </a:r>
            <a:r>
              <a:rPr sz="2000" b="0">
                <a:solidFill>
                  <a:srgbClr val="1F2D3A"/>
                </a:solidFill>
              </a:rPr>
              <a:t> üretir.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Bazı bulgular "güvenlik sorunu değil, iyi uygulama önerisi" olarak kapanır.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Projede:</a:t>
            </a:r>
            <a:r>
              <a:rPr sz="2000" b="0">
                <a:solidFill>
                  <a:srgbClr val="1F2D3A"/>
                </a:solidFill>
              </a:rPr>
              <a:t> 7. hafta bulgu–aksiyon listesi.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Bulgu döngüsü — şema</a:t>
            </a:r>
          </a:p>
        </p:txBody>
      </p:sp>
      <p:pic>
        <p:nvPicPr>
          <p:cNvPr id="7" name="Picture 6" descr="h12-09-bulgu-dongus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975288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10 · Güvenlik etki analizi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Düzeltmeler yeni sürüm doğurunca: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değişiklik dizini (yeni özellik / iyileştirme / hata düzeltme)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etkilenen dosyalar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güvenlik etkisi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Projede:</a:t>
            </a:r>
            <a:r>
              <a:rPr sz="2000" b="0">
                <a:solidFill>
                  <a:srgbClr val="1F2D3A"/>
                </a:solidFill>
              </a:rPr>
              <a:t> S13, değişiklik yönetimi.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Etki analizi ↔ delta — şema</a:t>
            </a:r>
          </a:p>
        </p:txBody>
      </p:sp>
      <p:pic>
        <p:nvPicPr>
          <p:cNvPr id="7" name="Picture 6" descr="h12-10-etki-del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397418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11 · Delta değerlendirme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 </a:t>
            </a:r>
            <a:r>
              <a:rPr sz="2000" b="1">
                <a:solidFill>
                  <a:srgbClr val="1F2D3A"/>
                </a:solidFill>
              </a:rPr>
              <a:t>değişen kısım</a:t>
            </a:r>
            <a:r>
              <a:rPr sz="2000" b="0">
                <a:solidFill>
                  <a:srgbClr val="1F2D3A"/>
                </a:solidFill>
              </a:rPr>
              <a:t> yeniden değerlendirilir.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Laboratuvar ister: işaretli belgeler, etki analizi, dosya listesi, </a:t>
            </a:r>
            <a:r>
              <a:rPr sz="2000" b="1">
                <a:solidFill>
                  <a:srgbClr val="1F2D3A"/>
                </a:solidFill>
              </a:rPr>
              <a:t>yeni TOE kimliği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12 · Ödünleşim ve kalan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korumanın maliyeti ölçülür.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Kararlar gerekçelendirilir.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Kalan risk açıkça yazılır.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Projede:</a:t>
            </a:r>
            <a:r>
              <a:rPr sz="2000" b="0">
                <a:solidFill>
                  <a:srgbClr val="1F2D3A"/>
                </a:solidFill>
              </a:rPr>
              <a:t> 1. hafta ödünleşim kaydı.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13 · Değişiklik yönetimi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Temel çizgi → talep → sınıflandırma → onay → geliştirme ve test → yayın → doğrulama.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Projede:</a:t>
            </a:r>
            <a:r>
              <a:rPr sz="2000" b="0">
                <a:solidFill>
                  <a:srgbClr val="1F2D3A"/>
                </a:solidFill>
              </a:rPr>
              <a:t> S13.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13 adım · tek bakış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0012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Hazırlık:</a:t>
            </a:r>
            <a:r>
              <a:rPr sz="1800" b="0">
                <a:solidFill>
                  <a:srgbClr val="1F2D3A"/>
                </a:solidFill>
              </a:rPr>
              <a:t> 1 TOE · 2 belge · 3 gereksinim şablonu · 4 atölye </a:t>
            </a:r>
            <a:r>
              <a:rPr sz="1800" b="1">
                <a:solidFill>
                  <a:srgbClr val="1F2D3A"/>
                </a:solidFill>
              </a:rPr>
              <a:t>Değerlendirme:</a:t>
            </a:r>
            <a:r>
              <a:rPr sz="1800" b="0">
                <a:solidFill>
                  <a:srgbClr val="1F2D3A"/>
                </a:solidFill>
              </a:rPr>
              <a:t> 5 kod inceleme · 6 zafiyet · 7 sızma · 8 işlevsel </a:t>
            </a:r>
            <a:r>
              <a:rPr sz="1800" b="1">
                <a:solidFill>
                  <a:srgbClr val="1F2D3A"/>
                </a:solidFill>
              </a:rPr>
              <a:t>Sonuç:</a:t>
            </a:r>
            <a:r>
              <a:rPr sz="1800" b="0">
                <a:solidFill>
                  <a:srgbClr val="1F2D3A"/>
                </a:solidFill>
              </a:rPr>
              <a:t> 9 bulgu · 10 etki · 11 delta · 12 kalan risk · 13 değişiklik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13 adım (animasyon)</a:t>
            </a:r>
          </a:p>
        </p:txBody>
      </p:sp>
      <p:pic>
        <p:nvPicPr>
          <p:cNvPr id="7" name="Picture 6" descr="evaluation-process-pipelin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319" y="1325880"/>
            <a:ext cx="286105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13 adım — uç durum: en çok bulgu</a:t>
            </a:r>
          </a:p>
        </p:txBody>
      </p:sp>
      <p:pic>
        <p:nvPicPr>
          <p:cNvPr id="7" name="Picture 6" descr="evaluation-process-pipeline--edge-many-findings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319" y="1325880"/>
            <a:ext cx="286105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Uçtan uca örnek · NotKasa v1.0.0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Sentetik bir mobil uygulama: </a:t>
            </a:r>
            <a:r>
              <a:rPr sz="2000" b="1">
                <a:solidFill>
                  <a:srgbClr val="FFFFFF"/>
                </a:solidFill>
              </a:rPr>
              <a:t>"NotKasa"</a:t>
            </a:r>
            <a:r>
              <a:rPr sz="2000" b="0">
                <a:solidFill>
                  <a:srgbClr val="FFFFFF"/>
                </a:solidFill>
              </a:rPr>
              <a:t> (yerel şifreli not tutar).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Bu ürünü baştan sona değerlendireceğiz.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1 uygulaması · TOE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TOE:</a:t>
            </a:r>
            <a:r>
              <a:rPr sz="2000" b="0">
                <a:solidFill>
                  <a:srgbClr val="1F2D3A"/>
                </a:solidFill>
              </a:rPr>
              <a:t> NotKasa v1.0.0, </a:t>
            </a:r>
            <a:r>
              <a:rPr sz="2000" b="0">
                <a:solidFill>
                  <a:srgbClr val="A1123F"/>
                </a:solidFill>
                <a:latin typeface="Consolas"/>
              </a:rPr>
              <a:t>notkasa-1.0.0.apk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Özet (SHA-256): </a:t>
            </a:r>
            <a:r>
              <a:rPr sz="2000" b="0">
                <a:solidFill>
                  <a:srgbClr val="A1123F"/>
                </a:solidFill>
                <a:latin typeface="Consolas"/>
              </a:rPr>
              <a:t>a1b2…</a:t>
            </a:r>
            <a:r>
              <a:rPr sz="2000" b="0">
                <a:solidFill>
                  <a:srgbClr val="1F2D3A"/>
                </a:solidFill>
              </a:rPr>
              <a:t> (sentetik)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Kaynak: </a:t>
            </a:r>
            <a:r>
              <a:rPr sz="2000" b="0">
                <a:solidFill>
                  <a:srgbClr val="A1123F"/>
                </a:solidFill>
                <a:latin typeface="Consolas"/>
              </a:rPr>
              <a:t>notkasa/</a:t>
            </a:r>
            <a:r>
              <a:rPr sz="2000" b="0">
                <a:solidFill>
                  <a:srgbClr val="1F2D3A"/>
                </a:solidFill>
              </a:rPr>
              <a:t> deposu, etiket </a:t>
            </a:r>
            <a:r>
              <a:rPr sz="2000" b="0">
                <a:solidFill>
                  <a:srgbClr val="A1123F"/>
                </a:solidFill>
                <a:latin typeface="Consolas"/>
              </a:rPr>
              <a:t>v1.0.0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Kapsam dışı: sunucu altyapısı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2–3 · Belge ve gereksinim şablonu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Teslim: kaynak, güvenlik kılavuzu, hem hata ayıklama hem sürüm APK.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Gereksinim şablonu: MASVS maddeleri numaralı; her biri için durum + kanıt referansı.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5 · Kod incelemesi bulguları (sentetik)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B-01:</a:t>
            </a:r>
            <a:r>
              <a:rPr sz="2000" b="0">
                <a:solidFill>
                  <a:srgbClr val="1F2D3A"/>
                </a:solidFill>
              </a:rPr>
              <a:t> anahtar bir ara değişkende siliniyor ama </a:t>
            </a:r>
            <a:r>
              <a:rPr sz="2000" b="0">
                <a:solidFill>
                  <a:srgbClr val="A1123F"/>
                </a:solidFill>
                <a:latin typeface="Consolas"/>
              </a:rPr>
              <a:t>tmp</a:t>
            </a:r>
            <a:r>
              <a:rPr sz="2000" b="0">
                <a:solidFill>
                  <a:srgbClr val="1F2D3A"/>
                </a:solidFill>
              </a:rPr>
              <a:t> tampon </a:t>
            </a:r>
            <a:r>
              <a:rPr sz="2000" b="1">
                <a:solidFill>
                  <a:srgbClr val="1F2D3A"/>
                </a:solidFill>
              </a:rPr>
              <a:t>silinmemiş</a:t>
            </a:r>
            <a:r>
              <a:rPr sz="2000" b="0">
                <a:solidFill>
                  <a:srgbClr val="1F2D3A"/>
                </a:solidFill>
              </a:rPr>
              <a:t> (bellekte kalıyor).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B-02:</a:t>
            </a:r>
            <a:r>
              <a:rPr sz="2000" b="0">
                <a:solidFill>
                  <a:srgbClr val="1F2D3A"/>
                </a:solidFill>
              </a:rPr>
              <a:t> hata iletisi çözme hatasında iç ayrıntı sızdırıyor.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6 · Zafiyet analizi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Varlıklar: not içeriği (C/I), veri anahtarı (C/I), sunucu jetonu.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Soru: her varlık </a:t>
            </a:r>
            <a:r>
              <a:rPr sz="2000" b="1">
                <a:solidFill>
                  <a:srgbClr val="1F2D3A"/>
                </a:solidFill>
              </a:rPr>
              <a:t>nerede</a:t>
            </a:r>
            <a:r>
              <a:rPr sz="2000" b="0">
                <a:solidFill>
                  <a:srgbClr val="1F2D3A"/>
                </a:solidFill>
              </a:rPr>
              <a:t> açığa çıkıyor?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Çıktı: bir sızma testi planı (aşağıda).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7 · Sızma testi kartı (özet)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T-01</a:t>
            </a:r>
            <a:r>
              <a:rPr sz="2000" b="0">
                <a:solidFill>
                  <a:srgbClr val="1F2D3A"/>
                </a:solidFill>
              </a:rPr>
              <a:t> düz metin diskte? → geçti (şifreli)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T-02</a:t>
            </a:r>
            <a:r>
              <a:rPr sz="2000" b="0">
                <a:solidFill>
                  <a:srgbClr val="1F2D3A"/>
                </a:solidFill>
              </a:rPr>
              <a:t> anahtar bellekte kalıyor mu? → </a:t>
            </a:r>
            <a:r>
              <a:rPr sz="2000" b="1">
                <a:solidFill>
                  <a:srgbClr val="1F2D3A"/>
                </a:solidFill>
              </a:rPr>
              <a:t>kaldı</a:t>
            </a:r>
            <a:r>
              <a:rPr sz="2000" b="0">
                <a:solidFill>
                  <a:srgbClr val="1F2D3A"/>
                </a:solidFill>
              </a:rPr>
              <a:t> (B-01 doğrulandı)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T-03</a:t>
            </a:r>
            <a:r>
              <a:rPr sz="2000" b="0">
                <a:solidFill>
                  <a:srgbClr val="1F2D3A"/>
                </a:solidFill>
              </a:rPr>
              <a:t> hata iletisi sızdırıyor mu? → </a:t>
            </a:r>
            <a:r>
              <a:rPr sz="2000" b="1">
                <a:solidFill>
                  <a:srgbClr val="1F2D3A"/>
                </a:solidFill>
              </a:rPr>
              <a:t>kaldı</a:t>
            </a:r>
            <a:r>
              <a:rPr sz="2000" b="0">
                <a:solidFill>
                  <a:srgbClr val="1F2D3A"/>
                </a:solidFill>
              </a:rPr>
              <a:t> (B-02)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7 · T-02 derecelendirme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Süre: düşük · uzmanlık: orta · bilgi: kamuya açık · ekipman: ücretsiz (bellek dökümü)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→ </a:t>
            </a:r>
            <a:r>
              <a:rPr sz="2000" b="1">
                <a:solidFill>
                  <a:srgbClr val="1F2D3A"/>
                </a:solidFill>
              </a:rPr>
              <a:t>orta-düşük saldırı potansiyeli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CVSS: orta (gizlilik etkisi)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9 · Bulgu–aksiyon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2468"/>
                <a:gridCol w="3637178"/>
                <a:gridCol w="3771888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Bulgu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Öneri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Aksiyon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B-01 anahtar kalıntısı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tmp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'yi kullanınca sil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Eklendi (memset benzeri)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B-02 hata sızıntısı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Tek genel hata dön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Düzeltildi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10–11 · Etki analizi + delta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79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Düzeltmeler v1.0.1 doğurdu.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Etki analizi:</a:t>
            </a:r>
            <a:r>
              <a:rPr sz="2000" b="0">
                <a:solidFill>
                  <a:srgbClr val="1F2D3A"/>
                </a:solidFill>
              </a:rPr>
              <a:t> 2 dosya değişti, ikisi de bellek/hata yolu; kripto akışı değişmedi.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Delta:</a:t>
            </a:r>
            <a:r>
              <a:rPr sz="2000" b="0">
                <a:solidFill>
                  <a:srgbClr val="1F2D3A"/>
                </a:solidFill>
              </a:rPr>
              <a:t> yalnız bu iki dosya + yeni TOE kimliği (</a:t>
            </a:r>
            <a:r>
              <a:rPr sz="2000" b="0">
                <a:solidFill>
                  <a:srgbClr val="A1123F"/>
                </a:solidFill>
                <a:latin typeface="Consolas"/>
              </a:rPr>
              <a:t>notkasa-1.0.1.apk</a:t>
            </a:r>
            <a:r>
              <a:rPr sz="2000" b="0">
                <a:solidFill>
                  <a:srgbClr val="1F2D3A"/>
                </a:solidFill>
              </a:rPr>
              <a:t>) yeniden değerlendirildi.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12 · Kalan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Cihaz köklü ise bellek dökümü hâlâ mümkün.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Telafi: anahtar kısa ömürlü + sunucu risk denetimi.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Açıkça yazıldı.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Vaka · çıkarım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13 adım soyut değil; küçük bir üründe </a:t>
            </a:r>
            <a:r>
              <a:rPr sz="2000" b="1">
                <a:solidFill>
                  <a:srgbClr val="1F2D3A"/>
                </a:solidFill>
              </a:rPr>
              <a:t>somut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Değerlendirme bir </a:t>
            </a:r>
            <a:r>
              <a:rPr sz="2000" b="1">
                <a:solidFill>
                  <a:srgbClr val="1F2D3A"/>
                </a:solidFill>
              </a:rPr>
              <a:t>döngü</a:t>
            </a:r>
            <a:r>
              <a:rPr sz="2000" b="0">
                <a:solidFill>
                  <a:srgbClr val="1F2D3A"/>
                </a:solidFill>
              </a:rPr>
              <a:t>: bul → düzelt → yeniden değerlendir.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Projeniz bunun küçültülmüş hâli.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Kılavuz nereye oturuyor?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dersin "Sahada nasıl?" notlarının kaynağı olan güvenlik kılavuzu = </a:t>
            </a:r>
            <a:r>
              <a:rPr sz="2000" b="1">
                <a:solidFill>
                  <a:srgbClr val="1F2D3A"/>
                </a:solidFill>
              </a:rPr>
              <a:t>2. adımda teslim edilen belge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Birincil okuru: </a:t>
            </a:r>
            <a:r>
              <a:rPr sz="2000" b="1">
                <a:solidFill>
                  <a:srgbClr val="1F2D3A"/>
                </a:solidFill>
              </a:rPr>
              <a:t>laboratuvar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bölümü bir gereksinim bloğuyla açar ("gereksinim — durum").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Projenizdeki kılavuz, bunun küçültülmüş hâli.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2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Üç aşama ve kabaca hangi adımlar?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TOE neden benzersiz tanımlanır?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Etki analizi ile delta değerlendirme ilişkisi?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2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Hazırlık</a:t>
            </a:r>
            <a:r>
              <a:rPr sz="2000" b="0">
                <a:solidFill>
                  <a:srgbClr val="1F2D3A"/>
                </a:solidFill>
              </a:rPr>
              <a:t> (TOE, kapsam, gereksinim, plan · 1–4), </a:t>
            </a:r>
            <a:r>
              <a:rPr sz="2000" b="1">
                <a:solidFill>
                  <a:srgbClr val="1F2D3A"/>
                </a:solidFill>
              </a:rPr>
              <a:t>Yürütme</a:t>
            </a:r>
            <a:r>
              <a:rPr sz="2000" b="0">
                <a:solidFill>
                  <a:srgbClr val="1F2D3A"/>
                </a:solidFill>
              </a:rPr>
              <a:t> (yöntem uygula, test, derecelendir), </a:t>
            </a:r>
            <a:r>
              <a:rPr sz="2000" b="1">
                <a:solidFill>
                  <a:srgbClr val="1F2D3A"/>
                </a:solidFill>
              </a:rPr>
              <a:t>Sonuç</a:t>
            </a:r>
            <a:r>
              <a:rPr sz="2000" b="0">
                <a:solidFill>
                  <a:srgbClr val="1F2D3A"/>
                </a:solidFill>
              </a:rPr>
              <a:t> (rapor, uyum, karar, delta bakımı).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Neyin sertifikalı olduğunu </a:t>
            </a:r>
            <a:r>
              <a:rPr sz="2000" b="1">
                <a:solidFill>
                  <a:srgbClr val="1F2D3A"/>
                </a:solidFill>
              </a:rPr>
              <a:t>kesin sabitlemek</a:t>
            </a:r>
            <a:r>
              <a:rPr sz="2000" b="0">
                <a:solidFill>
                  <a:srgbClr val="1F2D3A"/>
                </a:solidFill>
              </a:rPr>
              <a:t>: sürüm, yapı, özet, yapılandırma. Aksi halde başka sürüm "sertifikalı" görünür.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Değişiklikte önce </a:t>
            </a:r>
            <a:r>
              <a:rPr sz="2000" b="1">
                <a:solidFill>
                  <a:srgbClr val="1F2D3A"/>
                </a:solidFill>
              </a:rPr>
              <a:t>etki analizi</a:t>
            </a:r>
            <a:r>
              <a:rPr sz="2000" b="0">
                <a:solidFill>
                  <a:srgbClr val="1F2D3A"/>
                </a:solidFill>
              </a:rPr>
              <a:t> (güvenliği etkiler mi?); etkiliyorse tam değil yalnız </a:t>
            </a:r>
            <a:r>
              <a:rPr sz="2000" b="1">
                <a:solidFill>
                  <a:srgbClr val="1F2D3A"/>
                </a:solidFill>
              </a:rPr>
              <a:t>delta</a:t>
            </a:r>
            <a:r>
              <a:rPr sz="2000" b="0">
                <a:solidFill>
                  <a:srgbClr val="1F2D3A"/>
                </a:solidFill>
              </a:rPr>
              <a:t> (değişen kısım) yeniden değerlendirilir.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Zafiyet değerlendirmesi yöntemleri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Zafiyet (vulnerability)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Zafiyet:</a:t>
            </a:r>
            <a:r>
              <a:rPr sz="2000" b="0">
                <a:solidFill>
                  <a:srgbClr val="1F2D3A"/>
                </a:solidFill>
              </a:rPr>
              <a:t> bir sistemde kötüye kullanılabilecek </a:t>
            </a:r>
            <a:r>
              <a:rPr sz="2000" b="1">
                <a:solidFill>
                  <a:srgbClr val="1F2D3A"/>
                </a:solidFill>
              </a:rPr>
              <a:t>zayıf nokta</a:t>
            </a:r>
            <a:r>
              <a:rPr sz="2000" b="0">
                <a:solidFill>
                  <a:srgbClr val="1F2D3A"/>
                </a:solidFill>
              </a:rPr>
              <a:t> (ör. sınır denetimsiz tampon).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Zafiyet + kötüye kullanım = güvenlik olayı.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Değerlendirme yöntemleri — şema</a:t>
            </a:r>
          </a:p>
        </p:txBody>
      </p:sp>
      <p:pic>
        <p:nvPicPr>
          <p:cNvPr id="7" name="Picture 6" descr="h12-07-yontem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028454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Amaç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Süreçteki 5–6. adımlar bir dizi yöntemi </a:t>
            </a:r>
            <a:r>
              <a:rPr sz="2000" b="1">
                <a:solidFill>
                  <a:srgbClr val="1F2D3A"/>
                </a:solidFill>
              </a:rPr>
              <a:t>doğru sırada</a:t>
            </a:r>
            <a:r>
              <a:rPr sz="2000" b="0">
                <a:solidFill>
                  <a:srgbClr val="1F2D3A"/>
                </a:solidFill>
              </a:rPr>
              <a:t> kullanmayı gerektirir.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Soru: "Kendi ürünümü teslim etmeden önce nasıl sınarım?"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Doğru sıra: ucuzdan pahalıya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Kaynak kod incelemesi (el ile)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Statik analiz (SAST)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Dinamik analiz (DAST) + sanitizer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Fuzzing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0">
                <a:solidFill>
                  <a:srgbClr val="1F2D3A"/>
                </a:solidFill>
              </a:rPr>
              <a:t>Sızma testi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0664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Ucuz + geniş → pahalı + derin.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bu sıra?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SAST</a:t>
            </a:r>
            <a:r>
              <a:rPr sz="2000" b="0">
                <a:solidFill>
                  <a:srgbClr val="1F2D3A"/>
                </a:solidFill>
              </a:rPr>
              <a:t> ucuz, geniş tarar; ama yanlış pozitif üretir.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El ile inceleme</a:t>
            </a:r>
            <a:r>
              <a:rPr sz="2000" b="0">
                <a:solidFill>
                  <a:srgbClr val="1F2D3A"/>
                </a:solidFill>
              </a:rPr>
              <a:t> pahalı; ama bağlamı görür.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Fuzzing</a:t>
            </a:r>
            <a:r>
              <a:rPr sz="2000" b="0">
                <a:solidFill>
                  <a:srgbClr val="1F2D3A"/>
                </a:solidFill>
              </a:rPr>
              <a:t> çalıştırma ister; akla gelmeyeni bulur.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Sızma testi</a:t>
            </a:r>
            <a:r>
              <a:rPr sz="2000" b="0">
                <a:solidFill>
                  <a:srgbClr val="1F2D3A"/>
                </a:solidFill>
              </a:rPr>
              <a:t> en pahalı; en son.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07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Önce ucuz yöntemlerle "kolay" bulguları temizle → pentest gerçek sorunlara odaklansın.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Yöntem 1 · Kaynak kod incelemesi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Otomatik araçların kaçırdığı </a:t>
            </a:r>
            <a:r>
              <a:rPr sz="2000" b="1">
                <a:solidFill>
                  <a:srgbClr val="1F2D3A"/>
                </a:solidFill>
              </a:rPr>
              <a:t>mantık</a:t>
            </a:r>
            <a:r>
              <a:rPr sz="2000" b="0">
                <a:solidFill>
                  <a:srgbClr val="1F2D3A"/>
                </a:solidFill>
              </a:rPr>
              <a:t> hatalarını bulur.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İnsan gözü, bağlamı ve niyeti görür.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Kod incelemesi · nereye bakılır? 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Kripto:</a:t>
            </a:r>
            <a:r>
              <a:rPr sz="2000" b="0">
                <a:solidFill>
                  <a:srgbClr val="1F2D3A"/>
                </a:solidFill>
              </a:rPr>
              <a:t> doğru algoritma/kip/dolgu mu? Anahtar nereden/nereye/ne zaman silinir? (3, 10, 11)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Kod incelemesi · nereye bakılır? 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Girdi/bellek:</a:t>
            </a:r>
            <a:r>
              <a:rPr sz="2000" b="0">
                <a:solidFill>
                  <a:srgbClr val="1F2D3A"/>
                </a:solidFill>
              </a:rPr>
              <a:t> sınır denetimi, tamsayı taşması, biçim dizesi (format string), UAF (4. hafta CERT).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Sızıntı:</a:t>
            </a:r>
            <a:r>
              <a:rPr sz="2000" b="0">
                <a:solidFill>
                  <a:srgbClr val="1F2D3A"/>
                </a:solidFill>
              </a:rPr>
              <a:t> günlükte hassas veri, hatada iç durum.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Atlama:</a:t>
            </a:r>
            <a:r>
              <a:rPr sz="2000" b="0">
                <a:solidFill>
                  <a:srgbClr val="1F2D3A"/>
                </a:solidFill>
              </a:rPr>
              <a:t> bir denetimin tek dalla/tek dönüşle atlanabilmesi (9. hafta).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Yöntem 2 · Statik analiz (SAST)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Kaynağı </a:t>
            </a:r>
            <a:r>
              <a:rPr sz="2000" b="1">
                <a:solidFill>
                  <a:srgbClr val="1F2D3A"/>
                </a:solidFill>
              </a:rPr>
              <a:t>çalıştırmadan</a:t>
            </a:r>
            <a:r>
              <a:rPr sz="2000" b="0">
                <a:solidFill>
                  <a:srgbClr val="1F2D3A"/>
                </a:solidFill>
              </a:rPr>
              <a:t> tarar.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Bellek hataları, tehlikeli çağrılar, kalıplar.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Hızlı; ama </a:t>
            </a:r>
            <a:r>
              <a:rPr sz="2000" b="1">
                <a:solidFill>
                  <a:srgbClr val="1F2D3A"/>
                </a:solidFill>
              </a:rPr>
              <a:t>yanlış pozitifleri</a:t>
            </a:r>
            <a:r>
              <a:rPr sz="2000" b="0">
                <a:solidFill>
                  <a:srgbClr val="1F2D3A"/>
                </a:solidFill>
              </a:rPr>
              <a:t> ele almak gerekir.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Yöntem 3 · Dinamik analiz (DAST)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Programı </a:t>
            </a:r>
            <a:r>
              <a:rPr sz="2000" b="1">
                <a:solidFill>
                  <a:srgbClr val="1F2D3A"/>
                </a:solidFill>
              </a:rPr>
              <a:t>çalıştırırken</a:t>
            </a:r>
            <a:r>
              <a:rPr sz="2000" b="0">
                <a:solidFill>
                  <a:srgbClr val="1F2D3A"/>
                </a:solidFill>
              </a:rPr>
              <a:t> sınar.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Sanitizer'lar (ASan/UBSan) bellek erişim hatalarını, tanımsız davranışı yakalar.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Yöntem 4 · Fuzzing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Program </a:t>
            </a:r>
            <a:r>
              <a:rPr sz="2000" b="1">
                <a:solidFill>
                  <a:srgbClr val="1F2D3A"/>
                </a:solidFill>
              </a:rPr>
              <a:t>beklenmeyen girdilerle</a:t>
            </a:r>
            <a:r>
              <a:rPr sz="2000" b="0">
                <a:solidFill>
                  <a:srgbClr val="1F2D3A"/>
                </a:solidFill>
              </a:rPr>
              <a:t> beslenir.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Çökme/bozulma yolları bulunur.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İnsanın düşünmediği durumları ortaya çıkarır.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Yöntem 5 · Sızma testi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Yukarıdakileri </a:t>
            </a:r>
            <a:r>
              <a:rPr sz="2000" b="1">
                <a:solidFill>
                  <a:srgbClr val="1F2D3A"/>
                </a:solidFill>
              </a:rPr>
              <a:t>birleştirir</a:t>
            </a:r>
            <a:r>
              <a:rPr sz="2000" b="0">
                <a:solidFill>
                  <a:srgbClr val="1F2D3A"/>
                </a:solidFill>
              </a:rPr>
              <a:t>, saldırgan bakışıyla aşılabilirliği dener.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pahalı; en son.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5. bölümde ayrıntılı planlayacağız.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Kritik nokta: geliştirici önce kendi yapar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araçları </a:t>
            </a:r>
            <a:r>
              <a:rPr sz="2000" b="1">
                <a:solidFill>
                  <a:srgbClr val="1F2D3A"/>
                </a:solidFill>
              </a:rPr>
              <a:t>geliştirici de</a:t>
            </a:r>
            <a:r>
              <a:rPr sz="2000" b="0">
                <a:solidFill>
                  <a:srgbClr val="1F2D3A"/>
                </a:solidFill>
              </a:rPr>
              <a:t> çalıştırmalı ve sonuçlarını (S16) sunmalı.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Değerlendirici için büyük fark: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"kimse sınamamış" vs.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"şu araçlar çalıştırılmış, şu bulgular kapatılmış".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07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Bu, 4. haftadaki </a:t>
            </a:r>
            <a:r>
              <a:rPr sz="2000" b="1">
                <a:solidFill>
                  <a:srgbClr val="1F2D3A"/>
                </a:solidFill>
              </a:rPr>
              <a:t>güvenli derleme hattının</a:t>
            </a:r>
            <a:r>
              <a:rPr sz="2000" b="0">
                <a:solidFill>
                  <a:srgbClr val="1F2D3A"/>
                </a:solidFill>
              </a:rPr>
              <a:t> (CI'da SAST + sanitizer + fuzz) karşılığı.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Yöntemler yan yana (animasyon)</a:t>
            </a:r>
          </a:p>
        </p:txBody>
      </p:sp>
      <p:pic>
        <p:nvPicPr>
          <p:cNvPr id="7" name="Picture 6" descr="vulnerability-assessment-methods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0704" y="1325880"/>
            <a:ext cx="725028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Yöntemler — uç durum: hepsi mantık hatası</a:t>
            </a:r>
          </a:p>
        </p:txBody>
      </p:sp>
      <p:pic>
        <p:nvPicPr>
          <p:cNvPr id="7" name="Picture 6" descr="vulnerability-assessment-methods--edge-all-logic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6001" y="1325880"/>
            <a:ext cx="681969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3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Yöntemleri neden ucuzdan pahalıya sıralarız?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SAST'ın zayıf yanı ne?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Geliştiricinin önce kendi test etmesi neden önemli?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3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Ucuz/otomatik yöntemler (SAST/DAST) kolay bulguları </a:t>
            </a:r>
            <a:r>
              <a:rPr sz="2000" b="1">
                <a:solidFill>
                  <a:srgbClr val="1F2D3A"/>
                </a:solidFill>
              </a:rPr>
              <a:t>erken eler</a:t>
            </a:r>
            <a:r>
              <a:rPr sz="2000" b="0">
                <a:solidFill>
                  <a:srgbClr val="1F2D3A"/>
                </a:solidFill>
              </a:rPr>
              <a:t>; pahalı el emeği yalnız kalanlar için harcanır → verimli.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SAST</a:t>
            </a:r>
            <a:r>
              <a:rPr sz="2000" b="0">
                <a:solidFill>
                  <a:srgbClr val="1F2D3A"/>
                </a:solidFill>
              </a:rPr>
              <a:t> kodu çalıştırmaz → yüksek </a:t>
            </a:r>
            <a:r>
              <a:rPr sz="2000" b="1">
                <a:solidFill>
                  <a:srgbClr val="1F2D3A"/>
                </a:solidFill>
              </a:rPr>
              <a:t>yanlış pozitif</a:t>
            </a:r>
            <a:r>
              <a:rPr sz="2000" b="0">
                <a:solidFill>
                  <a:srgbClr val="1F2D3A"/>
                </a:solidFill>
              </a:rPr>
              <a:t>, çalışma-anı/yapılandırma/iş-mantığı açığını göremez, bağlamı bilmez.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Kolay bulguları </a:t>
            </a:r>
            <a:r>
              <a:rPr sz="2000" b="1">
                <a:solidFill>
                  <a:srgbClr val="1F2D3A"/>
                </a:solidFill>
              </a:rPr>
              <a:t>ucuza</a:t>
            </a:r>
            <a:r>
              <a:rPr sz="2000" b="0">
                <a:solidFill>
                  <a:srgbClr val="1F2D3A"/>
                </a:solidFill>
              </a:rPr>
              <a:t> kapatır (değerlendiriciye temiz gider), maliyeti/gecikmeyi düşürür → değerlendirme derin sorunlara odaklanır.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Standartların istediği testler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Her standart farklı test vurgular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Projeniz hangi aileye yakınsa, önce onun beklediği testleri yapın.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Standartlar · test beklentisi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9988"/>
                <a:gridCol w="7991546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Standart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Ağırlıklı test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ISO/IEC 27001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Süreç/yönetim denetimi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Ortak Kriterler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İnceleme + zafiyet + sızma + saldırı potansiyeli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FIPS 140-3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Kripto modülü testi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ETSI EN 303 645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Temel gereksinim doğrulama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EMVCo / PCI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İşlevsel + sızma + saldırı potansiyeli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MASVS/MASTG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Mobil statik + dinamik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Test yöntemi rehberleri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Sızma testinin </a:t>
            </a:r>
            <a:r>
              <a:rPr sz="2000" b="1">
                <a:solidFill>
                  <a:srgbClr val="1F2D3A"/>
                </a:solidFill>
              </a:rPr>
              <a:t>nasıl</a:t>
            </a:r>
            <a:r>
              <a:rPr sz="2000" b="0">
                <a:solidFill>
                  <a:srgbClr val="1F2D3A"/>
                </a:solidFill>
              </a:rPr>
              <a:t> yapılacağı için olgun açık rehberler var: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OWASP WSTG</a:t>
            </a:r>
            <a:r>
              <a:rPr sz="2000" b="0">
                <a:solidFill>
                  <a:srgbClr val="1F2D3A"/>
                </a:solidFill>
              </a:rPr>
              <a:t> (web)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OWASP MASTG</a:t>
            </a:r>
            <a:r>
              <a:rPr sz="2000" b="0">
                <a:solidFill>
                  <a:srgbClr val="1F2D3A"/>
                </a:solidFill>
              </a:rPr>
              <a:t> (mobil)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PTES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NIST SP 800-115</a:t>
            </a:r>
            <a:r>
              <a:rPr sz="2000" b="0">
                <a:solidFill>
                  <a:srgbClr val="1F2D3A"/>
                </a:solidFill>
              </a:rPr>
              <a:t> (genel süreç)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446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Bunlar "saldırı tarifi" değil, </a:t>
            </a:r>
            <a:r>
              <a:rPr sz="2000" b="1">
                <a:solidFill>
                  <a:srgbClr val="1F2D3A"/>
                </a:solidFill>
              </a:rPr>
              <a:t>metodoloji</a:t>
            </a:r>
            <a:r>
              <a:rPr sz="2000" b="0">
                <a:solidFill>
                  <a:srgbClr val="1F2D3A"/>
                </a:solidFill>
              </a:rPr>
              <a:t> — sonucu tekrarlanabilir/karşılaştırılabilir yapar.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Saldırı potansiyeli ve bulgu derecelendirme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Saldırı potansiyeli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Saldırı potansiyeli:</a:t>
            </a:r>
            <a:r>
              <a:rPr sz="2000" b="0">
                <a:solidFill>
                  <a:srgbClr val="1F2D3A"/>
                </a:solidFill>
              </a:rPr>
              <a:t> bir saldırıyı gerçekleştirmenin </a:t>
            </a:r>
            <a:r>
              <a:rPr sz="2000" b="1">
                <a:solidFill>
                  <a:srgbClr val="1F2D3A"/>
                </a:solidFill>
              </a:rPr>
              <a:t>ne kadar zor</a:t>
            </a:r>
            <a:r>
              <a:rPr sz="2000" b="0">
                <a:solidFill>
                  <a:srgbClr val="1F2D3A"/>
                </a:solidFill>
              </a:rPr>
              <a:t> olduğu.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Süre, uzmanlık, ekipman gibi faktörlerle puanlanır.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Düşük potansiyel (kolay saldırı) = ciddi bulgu.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"Var/yok" değil, "ne kadar zor?"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korumanın var olması yetmez; </a:t>
            </a:r>
            <a:r>
              <a:rPr sz="2000" b="1">
                <a:solidFill>
                  <a:srgbClr val="1F2D3A"/>
                </a:solidFill>
              </a:rPr>
              <a:t>ne kadar kolay aşıldığı</a:t>
            </a:r>
            <a:r>
              <a:rPr sz="2000" b="0">
                <a:solidFill>
                  <a:srgbClr val="1F2D3A"/>
                </a:solidFill>
              </a:rPr>
              <a:t> ölçülür.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Ortak Kriterler ve ödeme şemaları bunu </a:t>
            </a:r>
            <a:r>
              <a:rPr sz="2000" b="1">
                <a:solidFill>
                  <a:srgbClr val="1F2D3A"/>
                </a:solidFill>
              </a:rPr>
              <a:t>saldırı potansiyeli</a:t>
            </a:r>
            <a:r>
              <a:rPr sz="2000" b="0">
                <a:solidFill>
                  <a:srgbClr val="1F2D3A"/>
                </a:solidFill>
              </a:rPr>
              <a:t> ile yapar.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Bu, 9. haftadaki "gizlemeyi ölçme" (güç/dayanıklılık) çerçevesinin resmî hâli.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Soru: "kırmak için ne gerekti?"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bulgunun ciddiyeti, bu soruya verilen yanıtla belirlenir.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Beş–altı faktörle puanlarız; puanlar toplanır; toplam bir </a:t>
            </a:r>
            <a:r>
              <a:rPr sz="2000" b="1">
                <a:solidFill>
                  <a:srgbClr val="1F2D3A"/>
                </a:solidFill>
              </a:rPr>
              <a:t>dirençlik düzeyine</a:t>
            </a:r>
            <a:r>
              <a:rPr sz="2000" b="0">
                <a:solidFill>
                  <a:srgbClr val="1F2D3A"/>
                </a:solidFill>
              </a:rPr>
              <a:t> eşlenir.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Faktör 1 · Geçen süre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Saldırı ne kadar sürdü?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Düşük puan:</a:t>
            </a:r>
            <a:r>
              <a:rPr sz="2000" b="0">
                <a:solidFill>
                  <a:srgbClr val="1F2D3A"/>
                </a:solidFill>
              </a:rPr>
              <a:t> bir gün. </a:t>
            </a:r>
            <a:r>
              <a:rPr sz="2000" b="1">
                <a:solidFill>
                  <a:srgbClr val="1F2D3A"/>
                </a:solidFill>
              </a:rPr>
              <a:t>Yüksek puan:</a:t>
            </a:r>
            <a:r>
              <a:rPr sz="2000" b="0">
                <a:solidFill>
                  <a:srgbClr val="1F2D3A"/>
                </a:solidFill>
              </a:rPr>
              <a:t> aylar.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Faktör 2 · Uzmanlık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 düzeyde beceri gerekti?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Düşük:</a:t>
            </a:r>
            <a:r>
              <a:rPr sz="2000" b="0">
                <a:solidFill>
                  <a:srgbClr val="1F2D3A"/>
                </a:solidFill>
              </a:rPr>
              <a:t> sıradan kullanıcı. </a:t>
            </a:r>
            <a:r>
              <a:rPr sz="2000" b="1">
                <a:solidFill>
                  <a:srgbClr val="1F2D3A"/>
                </a:solidFill>
              </a:rPr>
              <a:t>Yüksek:</a:t>
            </a:r>
            <a:r>
              <a:rPr sz="2000" b="0">
                <a:solidFill>
                  <a:srgbClr val="1F2D3A"/>
                </a:solidFill>
              </a:rPr>
              <a:t> konu uzmanı.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Faktör 3 · Hedef bilgisi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Ürün hakkında ne bilmek gerekti?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Düşük:</a:t>
            </a:r>
            <a:r>
              <a:rPr sz="2000" b="0">
                <a:solidFill>
                  <a:srgbClr val="1F2D3A"/>
                </a:solidFill>
              </a:rPr>
              <a:t> kamuya açık bilgi. </a:t>
            </a:r>
            <a:r>
              <a:rPr sz="2000" b="1">
                <a:solidFill>
                  <a:srgbClr val="1F2D3A"/>
                </a:solidFill>
              </a:rPr>
              <a:t>Yüksek:</a:t>
            </a:r>
            <a:r>
              <a:rPr sz="2000" b="0">
                <a:solidFill>
                  <a:srgbClr val="1F2D3A"/>
                </a:solidFill>
              </a:rPr>
              <a:t> iç/gizli belgeler.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Faktör 4 · Fırsat penceresi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 kadar erişim/deneme gerekti?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Düşük:</a:t>
            </a:r>
            <a:r>
              <a:rPr sz="2000" b="0">
                <a:solidFill>
                  <a:srgbClr val="1F2D3A"/>
                </a:solidFill>
              </a:rPr>
              <a:t> sınırsız/uzaktan. </a:t>
            </a:r>
            <a:r>
              <a:rPr sz="2000" b="1">
                <a:solidFill>
                  <a:srgbClr val="1F2D3A"/>
                </a:solidFill>
              </a:rPr>
              <a:t>Yüksek:</a:t>
            </a:r>
            <a:r>
              <a:rPr sz="2000" b="0">
                <a:solidFill>
                  <a:srgbClr val="1F2D3A"/>
                </a:solidFill>
              </a:rPr>
              <a:t> kısıtlı fiziksel erişim.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Faktör 5 · Ekipman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Hangi araçlar gerekti?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Düşük:</a:t>
            </a:r>
            <a:r>
              <a:rPr sz="2000" b="0">
                <a:solidFill>
                  <a:srgbClr val="1F2D3A"/>
                </a:solidFill>
              </a:rPr>
              <a:t> standart, ücretsiz. </a:t>
            </a:r>
            <a:r>
              <a:rPr sz="2000" b="1">
                <a:solidFill>
                  <a:srgbClr val="1F2D3A"/>
                </a:solidFill>
              </a:rPr>
              <a:t>Yüksek:</a:t>
            </a:r>
            <a:r>
              <a:rPr sz="2000" b="0">
                <a:solidFill>
                  <a:srgbClr val="1F2D3A"/>
                </a:solidFill>
              </a:rPr>
              <a:t> özel, pahalı.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Faktörler · tek tablo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365957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091601"/>
                <a:gridCol w="3637178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Faktör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Düşük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Yüksek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Geçen süre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Bir gün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Aylar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Uzmanlık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Sıradan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Uzman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Hedef bilgisi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Kamuya açık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Gizli belge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Fırsat penceresi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Sınırsız/uzak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Kısıtlı fiziksel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Ekipman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Ücretsiz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Özel/pahalı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Yorum: düşük toplam = ciddi bulgu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Yüksek</a:t>
            </a:r>
            <a:r>
              <a:rPr sz="2000" b="0">
                <a:solidFill>
                  <a:srgbClr val="1F2D3A"/>
                </a:solidFill>
              </a:rPr>
              <a:t> toplam → saldırı zor → koruma iyi.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Düşük</a:t>
            </a:r>
            <a:r>
              <a:rPr sz="2000" b="0">
                <a:solidFill>
                  <a:srgbClr val="1F2D3A"/>
                </a:solidFill>
              </a:rPr>
              <a:t> toplam (sıradan kullanıcı, bir saat, ücretsiz araç) → </a:t>
            </a:r>
            <a:r>
              <a:rPr sz="2000" b="1">
                <a:solidFill>
                  <a:srgbClr val="1F2D3A"/>
                </a:solidFill>
              </a:rPr>
              <a:t>ciddi bulgu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Mantık 9. haftadaki dört ölçütle aynı.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İşlenmiş örnek (sentetik)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649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"Sürüm derlemesinde bir lisans denetimi, ücretsiz bir tersine derleyiciyle, orta düzey kullanıcının bir saatte bulup tek bayt yamasıyla atladığı bir dala bağlıydı."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Örnek · puanlama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Süre: düşük · uzmanlık: orta · bilgi: kamuya açık · ekipman: ücretsiz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→ </a:t>
            </a:r>
            <a:r>
              <a:rPr sz="2000" b="1">
                <a:solidFill>
                  <a:srgbClr val="1F2D3A"/>
                </a:solidFill>
              </a:rPr>
              <a:t>düşük saldırı potansiyeli → ciddi bulgu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Öneri:</a:t>
            </a:r>
            <a:r>
              <a:rPr sz="2000" b="0">
                <a:solidFill>
                  <a:srgbClr val="1F2D3A"/>
                </a:solidFill>
              </a:rPr>
              <a:t> opak boolean + rastgele çıkış (9. hafta) + sunucu denetimi.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Saldırı potansiyeli — beş faktör</a:t>
            </a:r>
          </a:p>
        </p:txBody>
      </p:sp>
      <p:pic>
        <p:nvPicPr>
          <p:cNvPr id="7" name="Picture 6" descr="h12-03-saldiri-potansiyel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1255" y="1325880"/>
            <a:ext cx="7949184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Saldırı potansiyeli hesaplayıcı (animasyon)</a:t>
            </a:r>
          </a:p>
        </p:txBody>
      </p:sp>
      <p:pic>
        <p:nvPicPr>
          <p:cNvPr id="7" name="Picture 6" descr="attack-potential-calculator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765" y="1325880"/>
            <a:ext cx="8724164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Hesaplayıcı — uç durum: güvenli öğe çıkarma</a:t>
            </a:r>
          </a:p>
        </p:txBody>
      </p:sp>
      <p:pic>
        <p:nvPicPr>
          <p:cNvPr id="7" name="Picture 6" descr="attack-potential-calculator--edge-secure-element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765" y="1325880"/>
            <a:ext cx="8724164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CVSS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CVSS (Common Vulnerability Scoring System):</a:t>
            </a:r>
            <a:r>
              <a:rPr sz="2000" b="0">
                <a:solidFill>
                  <a:srgbClr val="1F2D3A"/>
                </a:solidFill>
              </a:rPr>
              <a:t> bir zafiyetin </a:t>
            </a:r>
            <a:r>
              <a:rPr sz="2000" b="1">
                <a:solidFill>
                  <a:srgbClr val="1F2D3A"/>
                </a:solidFill>
              </a:rPr>
              <a:t>etkisini</a:t>
            </a:r>
            <a:r>
              <a:rPr sz="2000" b="0">
                <a:solidFill>
                  <a:srgbClr val="1F2D3A"/>
                </a:solidFill>
              </a:rPr>
              <a:t> standart bir puanla (0–10) ifade eder.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Yüksek puan = daha ciddi etki.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Önceliklendirmede kullanılır.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Saldırı potansiyeli ↔ CVSS — şema</a:t>
            </a:r>
          </a:p>
        </p:txBody>
      </p:sp>
      <p:pic>
        <p:nvPicPr>
          <p:cNvPr id="7" name="Picture 6" descr="h12-08-potansiyel-cv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600496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CVSS ne ekler?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Saldırı potansiyeli: "kırmak ne kadar </a:t>
            </a:r>
            <a:r>
              <a:rPr sz="2000" b="1">
                <a:solidFill>
                  <a:srgbClr val="1F2D3A"/>
                </a:solidFill>
              </a:rPr>
              <a:t>zor</a:t>
            </a:r>
            <a:r>
              <a:rPr sz="2000" b="0">
                <a:solidFill>
                  <a:srgbClr val="1F2D3A"/>
                </a:solidFill>
              </a:rPr>
              <a:t>?"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CVSS: "bu zafiyetin </a:t>
            </a:r>
            <a:r>
              <a:rPr sz="2000" b="1">
                <a:solidFill>
                  <a:srgbClr val="1F2D3A"/>
                </a:solidFill>
              </a:rPr>
              <a:t>etkisi</a:t>
            </a:r>
            <a:r>
              <a:rPr sz="2000" b="0">
                <a:solidFill>
                  <a:srgbClr val="1F2D3A"/>
                </a:solidFill>
              </a:rPr>
              <a:t> ne kadar büyük?"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İkisi birbirini tamamlar.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CVSS · olabilirlik vs etki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Biri </a:t>
            </a:r>
            <a:r>
              <a:rPr sz="2000" b="1">
                <a:solidFill>
                  <a:srgbClr val="1F2D3A"/>
                </a:solidFill>
              </a:rPr>
              <a:t>olabilirliği</a:t>
            </a:r>
            <a:r>
              <a:rPr sz="2000" b="0">
                <a:solidFill>
                  <a:srgbClr val="1F2D3A"/>
                </a:solidFill>
              </a:rPr>
              <a:t> (saldırının zorluğu), öteki </a:t>
            </a:r>
            <a:r>
              <a:rPr sz="2000" b="1">
                <a:solidFill>
                  <a:srgbClr val="1F2D3A"/>
                </a:solidFill>
              </a:rPr>
              <a:t>etkiyi</a:t>
            </a:r>
            <a:r>
              <a:rPr sz="2000" b="0">
                <a:solidFill>
                  <a:srgbClr val="1F2D3A"/>
                </a:solidFill>
              </a:rPr>
              <a:t> (gizlilik/bütünlük/erişilebilirlik kaybı) tartar.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Raporda çoğunlukla </a:t>
            </a:r>
            <a:r>
              <a:rPr sz="2000" b="1">
                <a:solidFill>
                  <a:srgbClr val="1F2D3A"/>
                </a:solidFill>
              </a:rPr>
              <a:t>ikisi birden</a:t>
            </a:r>
            <a:r>
              <a:rPr sz="2000" b="0">
                <a:solidFill>
                  <a:srgbClr val="1F2D3A"/>
                </a:solidFill>
              </a:rPr>
              <a:t> verilir.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Önceliklendirme buna göre.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CVSS ve saldırı potansiyeli (animasyon)</a:t>
            </a:r>
          </a:p>
        </p:txBody>
      </p:sp>
      <p:pic>
        <p:nvPicPr>
          <p:cNvPr id="7" name="Picture 6" descr="cvss-vs-attack-potential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416" y="1325880"/>
            <a:ext cx="769686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CVSS/pot. — uç durum: ikisi de en yüksek</a:t>
            </a:r>
          </a:p>
        </p:txBody>
      </p:sp>
      <p:pic>
        <p:nvPicPr>
          <p:cNvPr id="7" name="Picture 6" descr="cvss-vs-attack-potential--edge-highest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416" y="1325880"/>
            <a:ext cx="769686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5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Saldırı potansiyelinin beş faktörü?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Düşük saldırı potansiyeli neden ciddi bulgu?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Saldırı potansiyeli ile CVSS neyi ölçer?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5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79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Geçen zaman · uzmanlık · hedef bilgisi · fırsat (erişim) · ekipman.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Az</a:t>
            </a:r>
            <a:r>
              <a:rPr sz="2000" b="0">
                <a:solidFill>
                  <a:srgbClr val="1F2D3A"/>
                </a:solidFill>
              </a:rPr>
              <a:t> zaman/beceri/araçla sömürülebilir demektir → çok saldırgan yapabilir → geniş, olası tehdit → yüksek risk.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Saldırı potansiyeli</a:t>
            </a:r>
            <a:r>
              <a:rPr sz="2000" b="0">
                <a:solidFill>
                  <a:srgbClr val="1F2D3A"/>
                </a:solidFill>
              </a:rPr>
              <a:t> saldırının </a:t>
            </a:r>
            <a:r>
              <a:rPr sz="2000" b="1">
                <a:solidFill>
                  <a:srgbClr val="1F2D3A"/>
                </a:solidFill>
              </a:rPr>
              <a:t>zorluğu/maliyetini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CVSS</a:t>
            </a:r>
            <a:r>
              <a:rPr sz="2000" b="0">
                <a:solidFill>
                  <a:srgbClr val="1F2D3A"/>
                </a:solidFill>
              </a:rPr>
              <a:t> açığın </a:t>
            </a:r>
            <a:r>
              <a:rPr sz="2000" b="1">
                <a:solidFill>
                  <a:srgbClr val="1F2D3A"/>
                </a:solidFill>
              </a:rPr>
              <a:t>ciddiyet/etkisini</a:t>
            </a:r>
            <a:r>
              <a:rPr sz="2000" b="0">
                <a:solidFill>
                  <a:srgbClr val="1F2D3A"/>
                </a:solidFill>
              </a:rPr>
              <a:t> ölçer. Farklı eksenler, birlikte kullanılır.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6. Bulgu → öneri → aksiyon ve etki analizi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Bulgu (finding)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Bulgu:</a:t>
            </a:r>
            <a:r>
              <a:rPr sz="2000" b="0">
                <a:solidFill>
                  <a:srgbClr val="1F2D3A"/>
                </a:solidFill>
              </a:rPr>
              <a:t> değerlendirmede tespit edilen bir sorun ya da iyileştirme noktası.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bulgu için: kanıt, ciddiyet, </a:t>
            </a:r>
            <a:r>
              <a:rPr sz="2000" b="1">
                <a:solidFill>
                  <a:srgbClr val="1F2D3A"/>
                </a:solidFill>
              </a:rPr>
              <a:t>öneri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Değerlendirme bir döngüdür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"Geçti/kaldı" damgası değil, bir </a:t>
            </a:r>
            <a:r>
              <a:rPr sz="2000" b="1">
                <a:solidFill>
                  <a:srgbClr val="1F2D3A"/>
                </a:solidFill>
              </a:rPr>
              <a:t>iyileştirme döngüsü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bulgu için dört adım: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Dört adım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Bulgu:</a:t>
            </a:r>
            <a:r>
              <a:rPr sz="2000" b="0">
                <a:solidFill>
                  <a:srgbClr val="1F2D3A"/>
                </a:solidFill>
              </a:rPr>
              <a:t> laboratuvar ne buldu (kanıtla, tekrarlanabilir).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Öneri:</a:t>
            </a:r>
            <a:r>
              <a:rPr sz="2000" b="0">
                <a:solidFill>
                  <a:srgbClr val="1F2D3A"/>
                </a:solidFill>
              </a:rPr>
              <a:t> önerilen düzeltme yönü.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Aksiyon:</a:t>
            </a:r>
            <a:r>
              <a:rPr sz="2000" b="0">
                <a:solidFill>
                  <a:srgbClr val="1F2D3A"/>
                </a:solidFill>
              </a:rPr>
              <a:t> geliştiricinin ne yaptığı (ya da neden yapmadığı).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Kapanış:</a:t>
            </a:r>
            <a:r>
              <a:rPr sz="2000" b="0">
                <a:solidFill>
                  <a:srgbClr val="1F2D3A"/>
                </a:solidFill>
              </a:rPr>
              <a:t> kimi bulgu "açık değil, iyi uygulama önerisi" olarak kapanır.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07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döngü → vize sonrası </a:t>
            </a:r>
            <a:r>
              <a:rPr sz="2000" b="1">
                <a:solidFill>
                  <a:srgbClr val="1F2D3A"/>
                </a:solidFill>
              </a:rPr>
              <a:t>bulgu–aksiyon listesinin</a:t>
            </a:r>
            <a:r>
              <a:rPr sz="2000" b="0">
                <a:solidFill>
                  <a:srgbClr val="1F2D3A"/>
                </a:solidFill>
              </a:rPr>
              <a:t> kaynağı (7. hafta).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Bulgu döngüsü (animasyon)</a:t>
            </a:r>
          </a:p>
        </p:txBody>
      </p:sp>
      <p:pic>
        <p:nvPicPr>
          <p:cNvPr id="7" name="Picture 6" descr="finding-recommendation-action-impact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434" y="1325880"/>
            <a:ext cx="1056882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Bulgu döngüsü — uç durum: hiçbiri kapanmadı</a:t>
            </a:r>
          </a:p>
        </p:txBody>
      </p:sp>
      <p:pic>
        <p:nvPicPr>
          <p:cNvPr id="7" name="Picture 6" descr="finding-recommendation-action-impact--edge-all-open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012" y="1325880"/>
            <a:ext cx="1062167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bunlara ihtiyaç var?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Düzeltmeler yeni sürüm doğurur.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şeyi baştan değerlendirmek </a:t>
            </a:r>
            <a:r>
              <a:rPr sz="2000" b="1">
                <a:solidFill>
                  <a:srgbClr val="1F2D3A"/>
                </a:solidFill>
              </a:rPr>
              <a:t>pahalıdır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İki belge devreye girer (adım 10–11).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Güvenlik etki analizi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Değişiklikleri sınıflandırır: yeni özellik / iyileştirme / hata düzeltme.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Etkilenen dosyaları listeler.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değişikliğin </a:t>
            </a:r>
            <a:r>
              <a:rPr sz="2000" b="1">
                <a:solidFill>
                  <a:srgbClr val="1F2D3A"/>
                </a:solidFill>
              </a:rPr>
              <a:t>güvenlik etkisini</a:t>
            </a:r>
            <a:r>
              <a:rPr sz="2000" b="0">
                <a:solidFill>
                  <a:srgbClr val="1F2D3A"/>
                </a:solidFill>
              </a:rPr>
              <a:t> yazar.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Geliştiricinin</a:t>
            </a:r>
            <a:r>
              <a:rPr sz="2000" b="0">
                <a:solidFill>
                  <a:srgbClr val="1F2D3A"/>
                </a:solidFill>
              </a:rPr>
              <a:t> çıktısı.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Delta değerlendirme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belgeye dayanarak </a:t>
            </a:r>
            <a:r>
              <a:rPr sz="2000" b="1">
                <a:solidFill>
                  <a:srgbClr val="1F2D3A"/>
                </a:solidFill>
              </a:rPr>
              <a:t>yalnız değişen kısmı</a:t>
            </a:r>
            <a:r>
              <a:rPr sz="2000" b="0">
                <a:solidFill>
                  <a:srgbClr val="1F2D3A"/>
                </a:solidFill>
              </a:rPr>
              <a:t> yeniden değerlendirir.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İster: işaretli belgeler, değişiklik dizini, dosya listesi, </a:t>
            </a:r>
            <a:r>
              <a:rPr sz="2000" b="1">
                <a:solidFill>
                  <a:srgbClr val="1F2D3A"/>
                </a:solidFill>
              </a:rPr>
              <a:t>yeni TOE kimliği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Laboratuvarın</a:t>
            </a:r>
            <a:r>
              <a:rPr sz="2000" b="0">
                <a:solidFill>
                  <a:srgbClr val="1F2D3A"/>
                </a:solidFill>
              </a:rPr>
              <a:t> işi.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İkisini karıştırma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Etki analizi:</a:t>
            </a:r>
            <a:r>
              <a:rPr sz="2000" b="0">
                <a:solidFill>
                  <a:srgbClr val="1F2D3A"/>
                </a:solidFill>
              </a:rPr>
              <a:t> değişikliğin etkisini </a:t>
            </a:r>
            <a:r>
              <a:rPr sz="2000" b="0" i="1">
                <a:solidFill>
                  <a:srgbClr val="1F2D3A"/>
                </a:solidFill>
              </a:rPr>
              <a:t>belgeler</a:t>
            </a:r>
            <a:r>
              <a:rPr sz="2000" b="0">
                <a:solidFill>
                  <a:srgbClr val="1F2D3A"/>
                </a:solidFill>
              </a:rPr>
              <a:t> (geliştirici).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Delta değerlendirme:</a:t>
            </a:r>
            <a:r>
              <a:rPr sz="2000" b="0">
                <a:solidFill>
                  <a:srgbClr val="1F2D3A"/>
                </a:solidFill>
              </a:rPr>
              <a:t> yalnız değişeni </a:t>
            </a:r>
            <a:r>
              <a:rPr sz="2000" b="0" i="1">
                <a:solidFill>
                  <a:srgbClr val="1F2D3A"/>
                </a:solidFill>
              </a:rPr>
              <a:t>yeniden değerlendirir</a:t>
            </a:r>
            <a:r>
              <a:rPr sz="2000" b="0">
                <a:solidFill>
                  <a:srgbClr val="1F2D3A"/>
                </a:solidFill>
              </a:rPr>
              <a:t> (laboratuvar).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Sürüm kimliği/özet tutarsızsa delta </a:t>
            </a:r>
            <a:r>
              <a:rPr sz="2000" b="1">
                <a:solidFill>
                  <a:srgbClr val="1F2D3A"/>
                </a:solidFill>
              </a:rPr>
              <a:t>yapılamaz</a:t>
            </a:r>
            <a:r>
              <a:rPr sz="2000" b="0">
                <a:solidFill>
                  <a:srgbClr val="1F2D3A"/>
                </a:solidFill>
              </a:rPr>
              <a:t> (değerlendirilen ürün belirsizleşir).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6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Etki analizi kimin, delta kimin işi?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6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Etki analizi geliştiricinin</a:t>
            </a:r>
            <a:r>
              <a:rPr sz="2000" b="0">
                <a:solidFill>
                  <a:srgbClr val="1F2D3A"/>
                </a:solidFill>
              </a:rPr>
              <a:t> (değişikliğin etkisini o başlatır), </a:t>
            </a:r>
            <a:r>
              <a:rPr sz="2000" b="1">
                <a:solidFill>
                  <a:srgbClr val="1F2D3A"/>
                </a:solidFill>
              </a:rPr>
              <a:t>delta değerlendirme değerlendiricinin</a:t>
            </a:r>
            <a:r>
              <a:rPr sz="2000" b="0">
                <a:solidFill>
                  <a:srgbClr val="1F2D3A"/>
                </a:solidFill>
              </a:rPr>
              <a:t> (bağımsız yeniden inceler) işi.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7. Sızma testi planı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Sızma testi neydi?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Yöntemleri saldırgan bakışıyla </a:t>
            </a:r>
            <a:r>
              <a:rPr sz="2000" b="1">
                <a:solidFill>
                  <a:srgbClr val="1F2D3A"/>
                </a:solidFill>
              </a:rPr>
              <a:t>birleştiren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planlı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izinli</a:t>
            </a:r>
            <a:r>
              <a:rPr sz="2000" b="0">
                <a:solidFill>
                  <a:srgbClr val="1F2D3A"/>
                </a:solidFill>
              </a:rPr>
              <a:t> etkinlik.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"Planlı" ve "izinli" isteğe bağlı değil.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plan en az dört başlık içerir.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Başlık 1 · Kapsam (scope)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Neyin test edileceği </a:t>
            </a:r>
            <a:r>
              <a:rPr sz="2000" b="1">
                <a:solidFill>
                  <a:srgbClr val="1F2D3A"/>
                </a:solidFill>
              </a:rPr>
              <a:t>ve edilmeyeceği</a:t>
            </a:r>
            <a:r>
              <a:rPr sz="2000" b="0">
                <a:solidFill>
                  <a:srgbClr val="1F2D3A"/>
                </a:solidFill>
              </a:rPr>
              <a:t> açık yazılır.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Hangi binary/sürüm, hangi bileşenler, hangi ortam (test mi üretim mi), hangi veriler (yalnız sentetik).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Kapsam dışı da yazılır (üçüncü taraf sunucular, gerçek kullanıcı verisi).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Başlık 2 · Angajman kuralları 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Yazılı izin</a:t>
            </a:r>
            <a:r>
              <a:rPr sz="2000" b="0">
                <a:solidFill>
                  <a:srgbClr val="1F2D3A"/>
                </a:solidFill>
              </a:rPr>
              <a:t> ve yetkili imzası.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Test penceresi (tarih/saat).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İzin verilen ve </a:t>
            </a:r>
            <a:r>
              <a:rPr sz="2000" b="1">
                <a:solidFill>
                  <a:srgbClr val="1F2D3A"/>
                </a:solidFill>
              </a:rPr>
              <a:t>yasak</a:t>
            </a:r>
            <a:r>
              <a:rPr sz="2000" b="0">
                <a:solidFill>
                  <a:srgbClr val="1F2D3A"/>
                </a:solidFill>
              </a:rPr>
              <a:t> yöntemler (ör. hizmet kesintisi yapanlar hariç).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Başlık 2 · Angajman kuralları 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Veri kuralı: gerçek kişisel veri </a:t>
            </a:r>
            <a:r>
              <a:rPr sz="2000" b="1">
                <a:solidFill>
                  <a:srgbClr val="1F2D3A"/>
                </a:solidFill>
              </a:rPr>
              <a:t>yok</a:t>
            </a:r>
            <a:r>
              <a:rPr sz="2000" b="0">
                <a:solidFill>
                  <a:srgbClr val="1F2D3A"/>
                </a:solidFill>
              </a:rPr>
              <a:t>; bulgular gizli.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Durdurma koşulu (kill switch):</a:t>
            </a:r>
            <a:r>
              <a:rPr sz="2000" b="0">
                <a:solidFill>
                  <a:srgbClr val="1F2D3A"/>
                </a:solidFill>
              </a:rPr>
              <a:t> kritik etki görülürse test durur, derhal bildirilir.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İletişim ve yükseltme (escalation) noktaları.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Başlık 3 · Yöntem (methodology)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Tanınmış bir metodoloji seç ve ona uy: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mobil: </a:t>
            </a:r>
            <a:r>
              <a:rPr sz="2000" b="1">
                <a:solidFill>
                  <a:srgbClr val="1F2D3A"/>
                </a:solidFill>
              </a:rPr>
              <a:t>OWASP MASTG/MASVS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web: </a:t>
            </a:r>
            <a:r>
              <a:rPr sz="2000" b="1">
                <a:solidFill>
                  <a:srgbClr val="1F2D3A"/>
                </a:solidFill>
              </a:rPr>
              <a:t>OWASP WSTG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genel: </a:t>
            </a:r>
            <a:r>
              <a:rPr sz="2000" b="1">
                <a:solidFill>
                  <a:srgbClr val="1F2D3A"/>
                </a:solidFill>
              </a:rPr>
              <a:t>PTES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NIST SP 800-115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Amaç: sonuç </a:t>
            </a:r>
            <a:r>
              <a:rPr sz="2000" b="1">
                <a:solidFill>
                  <a:srgbClr val="1F2D3A"/>
                </a:solidFill>
              </a:rPr>
              <a:t>tekrarlanabilir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karşılaştırılabilir</a:t>
            </a:r>
            <a:r>
              <a:rPr sz="2000" b="0">
                <a:solidFill>
                  <a:srgbClr val="1F2D3A"/>
                </a:solidFill>
              </a:rPr>
              <a:t> olsun.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Başlık 4 · Test şablonu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test aynı </a:t>
            </a:r>
            <a:r>
              <a:rPr sz="2000" b="1">
                <a:solidFill>
                  <a:srgbClr val="1F2D3A"/>
                </a:solidFill>
              </a:rPr>
              <a:t>sekiz başlıklı</a:t>
            </a:r>
            <a:r>
              <a:rPr sz="2000" b="0">
                <a:solidFill>
                  <a:srgbClr val="1F2D3A"/>
                </a:solidFill>
              </a:rPr>
              <a:t> kartla yazılır.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kart, projenizin </a:t>
            </a:r>
            <a:r>
              <a:rPr sz="2000" b="1">
                <a:solidFill>
                  <a:srgbClr val="1F2D3A"/>
                </a:solidFill>
              </a:rPr>
              <a:t>S16</a:t>
            </a:r>
            <a:r>
              <a:rPr sz="2000" b="0">
                <a:solidFill>
                  <a:srgbClr val="1F2D3A"/>
                </a:solidFill>
              </a:rPr>
              <a:t> iskeletidir. Şimdi alanları görelim.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Test kartı · alan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Test kimliği:</a:t>
            </a:r>
            <a:r>
              <a:rPr sz="2000" b="0">
                <a:solidFill>
                  <a:srgbClr val="1F2D3A"/>
                </a:solidFill>
              </a:rPr>
              <a:t> benzersiz numara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İlgili gereksinim:</a:t>
            </a:r>
            <a:r>
              <a:rPr sz="2000" b="0">
                <a:solidFill>
                  <a:srgbClr val="1F2D3A"/>
                </a:solidFill>
              </a:rPr>
              <a:t> hangi varlığı/gereksinimi sınıyor (S17 bağı)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Amaç:</a:t>
            </a:r>
            <a:r>
              <a:rPr sz="2000" b="0">
                <a:solidFill>
                  <a:srgbClr val="1F2D3A"/>
                </a:solidFill>
              </a:rPr>
              <a:t> ne doğrulanıyor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Ön koşullar:</a:t>
            </a:r>
            <a:r>
              <a:rPr sz="2000" b="0">
                <a:solidFill>
                  <a:srgbClr val="1F2D3A"/>
                </a:solidFill>
              </a:rPr>
              <a:t> ortam, sürüm, veriler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Test kartı · alan 5–8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Yöntem/adımlar:</a:t>
            </a:r>
            <a:r>
              <a:rPr sz="2000" b="0">
                <a:solidFill>
                  <a:srgbClr val="1F2D3A"/>
                </a:solidFill>
              </a:rPr>
              <a:t> tekrarlanabilir biçimde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Beklenen sonuç:</a:t>
            </a:r>
            <a:r>
              <a:rPr sz="2000" b="0">
                <a:solidFill>
                  <a:srgbClr val="1F2D3A"/>
                </a:solidFill>
              </a:rPr>
              <a:t> güvenli davranış ne olmalı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Gözlenen sonuç:</a:t>
            </a:r>
            <a:r>
              <a:rPr sz="2000" b="0">
                <a:solidFill>
                  <a:srgbClr val="1F2D3A"/>
                </a:solidFill>
              </a:rPr>
              <a:t> ne oldu (kanıtla)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Karar:</a:t>
            </a:r>
            <a:r>
              <a:rPr sz="2000" b="0">
                <a:solidFill>
                  <a:srgbClr val="1F2D3A"/>
                </a:solidFill>
              </a:rPr>
              <a:t> saldırı potansiyeli + geçti/kaldı + öneri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Test kartı · tek tablo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9456662" cy="30504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6024"/>
                <a:gridCol w="6910638"/>
              </a:tblGrid>
              <a:tr h="33893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Alan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İçerik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3893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Kimlik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Benzersiz numara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893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Gereksinim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S17 ile bağ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893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Amaç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Ne doğrulanıyor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893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Ön koşul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Ortam, sürüm, veri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893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Adımlar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Tekrarlanabilir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893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Beklenen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 davranış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893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Gözlenen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Ne oldu (kanıt)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89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Karar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Saldırı pot. + geçti/kaldı + öneri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Sızma testi planı ağacı (animasyon)</a:t>
            </a:r>
          </a:p>
        </p:txBody>
      </p:sp>
      <p:pic>
        <p:nvPicPr>
          <p:cNvPr id="7" name="Picture 6" descr="pentest-plan-tre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318701"/>
          </a:xfrm>
          <a:prstGeom prst="rect">
            <a:avLst/>
          </a:prstGeom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Plan ağacı — uç durum: kapsama %100</a:t>
            </a:r>
          </a:p>
        </p:txBody>
      </p:sp>
      <p:pic>
        <p:nvPicPr>
          <p:cNvPr id="7" name="Picture 6" descr="pentest-plan-tree--edge-full-coverag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943031"/>
          </a:xfrm>
          <a:prstGeom prst="rect">
            <a:avLst/>
          </a:prstGeom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İşlenmiş örnek · test kartı 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Kimlik:</a:t>
            </a:r>
            <a:r>
              <a:rPr sz="2000" b="0">
                <a:solidFill>
                  <a:srgbClr val="1F2D3A"/>
                </a:solidFill>
              </a:rPr>
              <a:t> T-05 </a:t>
            </a:r>
            <a:r>
              <a:rPr sz="2000" b="1">
                <a:solidFill>
                  <a:srgbClr val="1F2D3A"/>
                </a:solidFill>
              </a:rPr>
              <a:t>Gereksinim:</a:t>
            </a:r>
            <a:r>
              <a:rPr sz="2000" b="0">
                <a:solidFill>
                  <a:srgbClr val="1F2D3A"/>
                </a:solidFill>
              </a:rPr>
              <a:t> yerel veritabanındaki hassas kayıt AEAD ile korunmalı (S17) </a:t>
            </a:r>
            <a:r>
              <a:rPr sz="2000" b="1">
                <a:solidFill>
                  <a:srgbClr val="1F2D3A"/>
                </a:solidFill>
              </a:rPr>
              <a:t>Amaç:</a:t>
            </a:r>
            <a:r>
              <a:rPr sz="2000" b="0">
                <a:solidFill>
                  <a:srgbClr val="1F2D3A"/>
                </a:solidFill>
              </a:rPr>
              <a:t> kayıt diskte düz metin olarak bulunmuyor mu?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İşlenmiş örnek · test kartı 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Ön koşul:</a:t>
            </a:r>
            <a:r>
              <a:rPr sz="2000" b="0">
                <a:solidFill>
                  <a:srgbClr val="1F2D3A"/>
                </a:solidFill>
              </a:rPr>
              <a:t> sürüm derlemesi, sentetik kayıt eklenmiş </a:t>
            </a:r>
            <a:r>
              <a:rPr sz="2000" b="1">
                <a:solidFill>
                  <a:srgbClr val="1F2D3A"/>
                </a:solidFill>
              </a:rPr>
              <a:t>Adımlar:</a:t>
            </a:r>
            <a:r>
              <a:rPr sz="2000" b="0">
                <a:solidFill>
                  <a:srgbClr val="1F2D3A"/>
                </a:solidFill>
              </a:rPr>
              <a:t> uygulamayı çalıştır → kayıt ekle → veritabanı dosyasını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 ile tara </a:t>
            </a:r>
            <a:r>
              <a:rPr sz="2000" b="1">
                <a:solidFill>
                  <a:srgbClr val="1F2D3A"/>
                </a:solidFill>
              </a:rPr>
              <a:t>Beklenen:</a:t>
            </a:r>
            <a:r>
              <a:rPr sz="2000" b="0">
                <a:solidFill>
                  <a:srgbClr val="1F2D3A"/>
                </a:solidFill>
              </a:rPr>
              <a:t> düz metin </a:t>
            </a:r>
            <a:r>
              <a:rPr sz="2000" b="1">
                <a:solidFill>
                  <a:srgbClr val="1F2D3A"/>
                </a:solidFill>
              </a:rPr>
              <a:t>görünmez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İşlenmiş örnek · test kartı (3)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Gözlenen:</a:t>
            </a:r>
            <a:r>
              <a:rPr sz="2000" b="0">
                <a:solidFill>
                  <a:srgbClr val="1F2D3A"/>
                </a:solidFill>
              </a:rPr>
              <a:t> düz metin görünmedi (yalnız şifreli blob) — kanıt: çıktı ekran görüntüsü </a:t>
            </a:r>
            <a:r>
              <a:rPr sz="2000" b="1">
                <a:solidFill>
                  <a:srgbClr val="1F2D3A"/>
                </a:solidFill>
              </a:rPr>
              <a:t>Karar:</a:t>
            </a:r>
            <a:r>
              <a:rPr sz="2000" b="0">
                <a:solidFill>
                  <a:srgbClr val="1F2D3A"/>
                </a:solidFill>
              </a:rPr>
              <a:t> geçti · saldırı potansiyeli yüksek (kolay saldırı başarısız)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05736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Amaç bir açık bulmak değil, </a:t>
            </a:r>
            <a:r>
              <a:rPr sz="2000" b="1">
                <a:solidFill>
                  <a:srgbClr val="1F2D3A"/>
                </a:solidFill>
              </a:rPr>
              <a:t>doğru kartı yazmayı</a:t>
            </a:r>
            <a:r>
              <a:rPr sz="2000" b="0">
                <a:solidFill>
                  <a:srgbClr val="1F2D3A"/>
                </a:solidFill>
              </a:rPr>
              <a:t> öğrenmek.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Takım etkinliği (sınıf içi)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takım kendi projesinden </a:t>
            </a:r>
            <a:r>
              <a:rPr sz="2000" b="1">
                <a:solidFill>
                  <a:srgbClr val="1F2D3A"/>
                </a:solidFill>
              </a:rPr>
              <a:t>bir varlık</a:t>
            </a:r>
            <a:r>
              <a:rPr sz="2000" b="0">
                <a:solidFill>
                  <a:srgbClr val="1F2D3A"/>
                </a:solidFill>
              </a:rPr>
              <a:t> seçer.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Onun için </a:t>
            </a:r>
            <a:r>
              <a:rPr sz="2000" b="1">
                <a:solidFill>
                  <a:srgbClr val="1F2D3A"/>
                </a:solidFill>
              </a:rPr>
              <a:t>bir</a:t>
            </a:r>
            <a:r>
              <a:rPr sz="2000" b="0">
                <a:solidFill>
                  <a:srgbClr val="1F2D3A"/>
                </a:solidFill>
              </a:rPr>
              <a:t> test kartı doldurur.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15 dakika; sonra birkaç kart paylaşılır.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Kart · kripto doğrulama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Amaç:</a:t>
            </a:r>
            <a:r>
              <a:rPr sz="2000" b="0">
                <a:solidFill>
                  <a:srgbClr val="1F2D3A"/>
                </a:solidFill>
              </a:rPr>
              <a:t> notlar gerçekten AEAD ile mi şifreli?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Adım:</a:t>
            </a:r>
            <a:r>
              <a:rPr sz="2000" b="0">
                <a:solidFill>
                  <a:srgbClr val="1F2D3A"/>
                </a:solidFill>
              </a:rPr>
              <a:t> şifreli blobun başlığını/etiketini incele; bozuk etiketli veri reddediliyor mu?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Beklenen:</a:t>
            </a:r>
            <a:r>
              <a:rPr sz="2000" b="0">
                <a:solidFill>
                  <a:srgbClr val="1F2D3A"/>
                </a:solidFill>
              </a:rPr>
              <a:t> bozuk etiket → çözme reddi.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Kart · anahtar yaşam döngüsü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Amaç:</a:t>
            </a:r>
            <a:r>
              <a:rPr sz="2000" b="0">
                <a:solidFill>
                  <a:srgbClr val="1F2D3A"/>
                </a:solidFill>
              </a:rPr>
              <a:t> anahtar iş bitince siliniyor mu?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Adım:</a:t>
            </a:r>
            <a:r>
              <a:rPr sz="2000" b="0">
                <a:solidFill>
                  <a:srgbClr val="1F2D3A"/>
                </a:solidFill>
              </a:rPr>
              <a:t> işlem sonrası bellek taraması.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Beklenen:</a:t>
            </a:r>
            <a:r>
              <a:rPr sz="2000" b="0">
                <a:solidFill>
                  <a:srgbClr val="1F2D3A"/>
                </a:solidFill>
              </a:rPr>
              <a:t> anahtar baytları bulunmuyor.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Kart · sürüm/hata ayıklama ayrımı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Amaç:</a:t>
            </a:r>
            <a:r>
              <a:rPr sz="2000" b="0">
                <a:solidFill>
                  <a:srgbClr val="1F2D3A"/>
                </a:solidFill>
              </a:rPr>
              <a:t> sürüm derlemesinde günlük gerçekten kapalı mı?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Adım:</a:t>
            </a:r>
            <a:r>
              <a:rPr sz="2000" b="0">
                <a:solidFill>
                  <a:srgbClr val="1F2D3A"/>
                </a:solidFill>
              </a:rPr>
              <a:t> sürüm APK'da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 ile günlük dizesi (string) ara.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Beklenen:</a:t>
            </a:r>
            <a:r>
              <a:rPr sz="2000" b="0">
                <a:solidFill>
                  <a:srgbClr val="1F2D3A"/>
                </a:solidFill>
              </a:rPr>
              <a:t> günlük dizesi yok.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Kart · yükseltme güvenliği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Amaç:</a:t>
            </a:r>
            <a:r>
              <a:rPr sz="2000" b="0">
                <a:solidFill>
                  <a:srgbClr val="1F2D3A"/>
                </a:solidFill>
              </a:rPr>
              <a:t> eski imzalı sürüm geri yüklenebilir mi?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Adım:</a:t>
            </a:r>
            <a:r>
              <a:rPr sz="2000" b="0">
                <a:solidFill>
                  <a:srgbClr val="1F2D3A"/>
                </a:solidFill>
              </a:rPr>
              <a:t> düşük sürümü yüklemeyi dene.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Beklenen:</a:t>
            </a:r>
            <a:r>
              <a:rPr sz="2000" b="0">
                <a:solidFill>
                  <a:srgbClr val="1F2D3A"/>
                </a:solidFill>
              </a:rPr>
              <a:t> sürüm düşürme reddi.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Kartları yazarken kural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kart </a:t>
            </a:r>
            <a:r>
              <a:rPr sz="2000" b="1">
                <a:solidFill>
                  <a:srgbClr val="1F2D3A"/>
                </a:solidFill>
              </a:rPr>
              <a:t>tekrarlanabilir</a:t>
            </a:r>
            <a:r>
              <a:rPr sz="2000" b="0">
                <a:solidFill>
                  <a:srgbClr val="1F2D3A"/>
                </a:solidFill>
              </a:rPr>
              <a:t> olmalı (başkası aynı adımı izleyebilmeli).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kart bir </a:t>
            </a:r>
            <a:r>
              <a:rPr sz="2000" b="1">
                <a:solidFill>
                  <a:srgbClr val="1F2D3A"/>
                </a:solidFill>
              </a:rPr>
              <a:t>gereksinime</a:t>
            </a:r>
            <a:r>
              <a:rPr sz="2000" b="0">
                <a:solidFill>
                  <a:srgbClr val="1F2D3A"/>
                </a:solidFill>
              </a:rPr>
              <a:t> bağlı (S17).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"Gözlenen" alanı </a:t>
            </a:r>
            <a:r>
              <a:rPr sz="2000" b="1">
                <a:solidFill>
                  <a:srgbClr val="1F2D3A"/>
                </a:solidFill>
              </a:rPr>
              <a:t>kanıtla</a:t>
            </a:r>
            <a:r>
              <a:rPr sz="2000" b="0">
                <a:solidFill>
                  <a:srgbClr val="1F2D3A"/>
                </a:solidFill>
              </a:rPr>
              <a:t> dolu.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7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Planın dört başlığı?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"Durdurma koşulu" neden var?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Test kartının hangi alanı S17'ye bağlanır?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7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Kapsam · kurallar (RoE) · yöntem/metodoloji · test kartları</a:t>
            </a:r>
            <a:r>
              <a:rPr sz="2000" b="0">
                <a:solidFill>
                  <a:srgbClr val="1F2D3A"/>
                </a:solidFill>
              </a:rPr>
              <a:t> (+ durdurma koşulu, raporlama).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Gerçek </a:t>
            </a:r>
            <a:r>
              <a:rPr sz="2000" b="1">
                <a:solidFill>
                  <a:srgbClr val="1F2D3A"/>
                </a:solidFill>
              </a:rPr>
              <a:t>zarar/veri kaybı/kesinti</a:t>
            </a:r>
            <a:r>
              <a:rPr sz="2000" b="0">
                <a:solidFill>
                  <a:srgbClr val="1F2D3A"/>
                </a:solidFill>
              </a:rPr>
              <a:t> riskini sınırlamak; belirli bir eşikte test </a:t>
            </a:r>
            <a:r>
              <a:rPr sz="2000" b="1">
                <a:solidFill>
                  <a:srgbClr val="1F2D3A"/>
                </a:solidFill>
              </a:rPr>
              <a:t>durur</a:t>
            </a:r>
            <a:r>
              <a:rPr sz="2000" b="0">
                <a:solidFill>
                  <a:srgbClr val="1F2D3A"/>
                </a:solidFill>
              </a:rPr>
              <a:t> → güvenli ve etik yürütme.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Test kartının </a:t>
            </a:r>
            <a:r>
              <a:rPr sz="2000" b="1">
                <a:solidFill>
                  <a:srgbClr val="1F2D3A"/>
                </a:solidFill>
              </a:rPr>
              <a:t>sonuç/karşılanan gereksinim</a:t>
            </a:r>
            <a:r>
              <a:rPr sz="2000" b="0">
                <a:solidFill>
                  <a:srgbClr val="1F2D3A"/>
                </a:solidFill>
              </a:rPr>
              <a:t> alanı → </a:t>
            </a:r>
            <a:r>
              <a:rPr sz="2000" b="1">
                <a:solidFill>
                  <a:srgbClr val="1F2D3A"/>
                </a:solidFill>
              </a:rPr>
              <a:t>S17 uyum matrisine</a:t>
            </a:r>
            <a:r>
              <a:rPr sz="2000" b="0">
                <a:solidFill>
                  <a:srgbClr val="1F2D3A"/>
                </a:solidFill>
              </a:rPr>
              <a:t> kanıt olarak bağlanır.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8. Raporlama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Raporun dört bölümü — şema</a:t>
            </a:r>
          </a:p>
        </p:txBody>
      </p:sp>
      <p:pic>
        <p:nvPicPr>
          <p:cNvPr id="7" name="Picture 6" descr="h12-12-raporl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26" y="1325880"/>
            <a:ext cx="1083264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İyi rapor = karar verilebilir belge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"kaldınız" listesi değil.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Okuyan kişi </a:t>
            </a:r>
            <a:r>
              <a:rPr sz="2000" b="1">
                <a:solidFill>
                  <a:srgbClr val="1F2D3A"/>
                </a:solidFill>
              </a:rPr>
              <a:t>ne yapacağına</a:t>
            </a:r>
            <a:r>
              <a:rPr sz="2000" b="0">
                <a:solidFill>
                  <a:srgbClr val="1F2D3A"/>
                </a:solidFill>
              </a:rPr>
              <a:t> karar verebilmeli.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Rapor bölümleri 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Yönetici özeti:</a:t>
            </a:r>
            <a:r>
              <a:rPr sz="2000" b="0">
                <a:solidFill>
                  <a:srgbClr val="1F2D3A"/>
                </a:solidFill>
              </a:rPr>
              <a:t> teknik olmayan okur için genel durum + en kritik üç bulgu.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Yöntem ve kapsam:</a:t>
            </a:r>
            <a:r>
              <a:rPr sz="2000" b="0">
                <a:solidFill>
                  <a:srgbClr val="1F2D3A"/>
                </a:solidFill>
              </a:rPr>
              <a:t> ne test edildi, ne edilmedi, hangi metodolojiyle.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Rapor bölümleri 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Bulgular:</a:t>
            </a:r>
            <a:r>
              <a:rPr sz="2000" b="0">
                <a:solidFill>
                  <a:srgbClr val="1F2D3A"/>
                </a:solidFill>
              </a:rPr>
              <a:t> her biri kanıt + saldırı potansiyeli + CVSS + öneri.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Bulgu–aksiyon tablosu:</a:t>
            </a:r>
            <a:r>
              <a:rPr sz="2000" b="0">
                <a:solidFill>
                  <a:srgbClr val="1F2D3A"/>
                </a:solidFill>
              </a:rPr>
              <a:t> geliştirici yanıtı, kapanış.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Kalan risk:</a:t>
            </a:r>
            <a:r>
              <a:rPr sz="2000" b="0">
                <a:solidFill>
                  <a:srgbClr val="1F2D3A"/>
                </a:solidFill>
              </a:rPr>
              <a:t> kapatılmayan/devredilen, gerekçesiyle.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Rapor yapısı (animasyon)</a:t>
            </a:r>
          </a:p>
        </p:txBody>
      </p:sp>
      <p:pic>
        <p:nvPicPr>
          <p:cNvPr id="7" name="Picture 6" descr="report-structur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8686" y="1325880"/>
            <a:ext cx="629432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Rapor yapısı — uç durum: hepsi açık ve acil</a:t>
            </a:r>
          </a:p>
        </p:txBody>
      </p:sp>
      <p:pic>
        <p:nvPicPr>
          <p:cNvPr id="7" name="Picture 6" descr="report-structure--edge-all-urgent-open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8686" y="1325880"/>
            <a:ext cx="629432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Eleştirel okuma alıştırması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Kısa bir bulgu metnini birlikte okuyun: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Saldırı potansiyeli doğru mu derecelendirilmiş?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Öneri uygulanabilir mi?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"Karşılandı" satırının </a:t>
            </a:r>
            <a:r>
              <a:rPr sz="2000" b="1">
                <a:solidFill>
                  <a:srgbClr val="1F2D3A"/>
                </a:solidFill>
              </a:rPr>
              <a:t>kanıtı</a:t>
            </a:r>
            <a:r>
              <a:rPr sz="2000" b="0">
                <a:solidFill>
                  <a:srgbClr val="1F2D3A"/>
                </a:solidFill>
              </a:rPr>
              <a:t> var mı?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446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Bu, 13. haftadaki uyum matrisi okumasının provası.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9. Dönem projesi: bu hafta (S16)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 · S16 (test planı + sonuçları) —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1.</a:t>
            </a:r>
            <a:r>
              <a:rPr sz="2000" b="0">
                <a:solidFill>
                  <a:srgbClr val="1F2D3A"/>
                </a:solidFill>
              </a:rPr>
              <a:t> En kritik iki–üç varlık/gereksinim için </a:t>
            </a:r>
            <a:r>
              <a:rPr sz="2000" b="1">
                <a:solidFill>
                  <a:srgbClr val="1F2D3A"/>
                </a:solidFill>
              </a:rPr>
              <a:t>sekiz başlıklı</a:t>
            </a:r>
            <a:r>
              <a:rPr sz="2000" b="0">
                <a:solidFill>
                  <a:srgbClr val="1F2D3A"/>
                </a:solidFill>
              </a:rPr>
              <a:t> test kartları yazın (S17 ile bağlı).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 · S16 —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2. Yöntem:</a:t>
            </a:r>
            <a:r>
              <a:rPr sz="2000" b="0">
                <a:solidFill>
                  <a:srgbClr val="1F2D3A"/>
                </a:solidFill>
              </a:rPr>
              <a:t> hangi metodolojiyi (MASTG / WSTG / PTES / NIST SP 800-115) temel aldığınızı belirtin.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 · S16 —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3. Sonuçlar:</a:t>
            </a:r>
            <a:r>
              <a:rPr sz="2000" b="0">
                <a:solidFill>
                  <a:srgbClr val="1F2D3A"/>
                </a:solidFill>
              </a:rPr>
              <a:t> testleri çalıştırıp </a:t>
            </a:r>
            <a:r>
              <a:rPr sz="2000" b="1">
                <a:solidFill>
                  <a:srgbClr val="1F2D3A"/>
                </a:solidFill>
              </a:rPr>
              <a:t>gözlenen sonuçları</a:t>
            </a:r>
            <a:r>
              <a:rPr sz="2000" b="0">
                <a:solidFill>
                  <a:srgbClr val="1F2D3A"/>
                </a:solidFill>
              </a:rPr>
              <a:t> yazın.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Finalde plan değil, </a:t>
            </a:r>
            <a:r>
              <a:rPr sz="2000" b="1">
                <a:solidFill>
                  <a:srgbClr val="1F2D3A"/>
                </a:solidFill>
              </a:rPr>
              <a:t>sonuç</a:t>
            </a:r>
            <a:r>
              <a:rPr sz="2000" b="0">
                <a:solidFill>
                  <a:srgbClr val="1F2D3A"/>
                </a:solidFill>
              </a:rPr>
              <a:t> beklenir.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 · S16 — 4,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4. Bulgu–aksiyon:</a:t>
            </a:r>
            <a:r>
              <a:rPr sz="2000" b="0">
                <a:solidFill>
                  <a:srgbClr val="1F2D3A"/>
                </a:solidFill>
              </a:rPr>
              <a:t> vize geri bildirimlerini bir tabloya dökün.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5. Kalan risk:</a:t>
            </a:r>
            <a:r>
              <a:rPr sz="2000" b="0">
                <a:solidFill>
                  <a:srgbClr val="1F2D3A"/>
                </a:solidFill>
              </a:rPr>
              <a:t> kapatmadığınız riskleri ve gerekçesini yazın.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Birim test koşucusu (animasyon)</a:t>
            </a:r>
          </a:p>
        </p:txBody>
      </p:sp>
      <p:pic>
        <p:nvPicPr>
          <p:cNvPr id="7" name="Picture 6" descr="unit-test-runner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5549" y="1325880"/>
            <a:ext cx="6220597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Test koşucusu — uç durum: hepsi FAIL</a:t>
            </a:r>
          </a:p>
        </p:txBody>
      </p:sp>
      <p:pic>
        <p:nvPicPr>
          <p:cNvPr id="7" name="Picture 6" descr="unit-test-runner--edge-all-fail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055" y="1325880"/>
            <a:ext cx="4291584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Etik (tekrar)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Test yalnız </a:t>
            </a:r>
            <a:r>
              <a:rPr sz="2000" b="1">
                <a:solidFill>
                  <a:srgbClr val="1F2D3A"/>
                </a:solidFill>
              </a:rPr>
              <a:t>kendi</a:t>
            </a:r>
            <a:r>
              <a:rPr sz="2000" b="0">
                <a:solidFill>
                  <a:srgbClr val="1F2D3A"/>
                </a:solidFill>
              </a:rPr>
              <a:t> projeniz ve yetkili olduğunuz sistemlerde.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İzinsiz test suçtur.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Bütün veriler </a:t>
            </a:r>
            <a:r>
              <a:rPr sz="2000" b="1">
                <a:solidFill>
                  <a:srgbClr val="1F2D3A"/>
                </a:solidFill>
              </a:rPr>
              <a:t>sentetik</a:t>
            </a:r>
            <a:r>
              <a:rPr sz="2000" b="0">
                <a:solidFill>
                  <a:srgbClr val="1F2D3A"/>
                </a:solidFill>
              </a:rPr>
              <a:t>; depoda gerçek sır/kişisel veri yok.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Klasik hatalar · özet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8106"/>
                <a:gridCol w="2103428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Hata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Bölüm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Plan var,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sonuç yok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— "test edeceğiz" yeter sanmak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9 (S16)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Kanıtsız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"karşılandı"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— uyum matrisinde kanıt referansı yok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 (S17)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Sürüm tutarsızlığı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— kılavuz ve kod farklı sürümde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 (TOE)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Kalan risk boş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bırakılmış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Vize geri bildirimi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yok sayılmış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 / 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Depoda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gerçek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sır/kişisel veri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Etik çerçeve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838651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Her satır, o bölümdeki disiplinin </a:t>
            </a:r>
            <a:r>
              <a:rPr sz="1800" b="1">
                <a:solidFill>
                  <a:srgbClr val="1F2D3A"/>
                </a:solidFill>
              </a:rPr>
              <a:t>ihlalidir</a:t>
            </a:r>
            <a:r>
              <a:rPr sz="1800" b="0">
                <a:solidFill>
                  <a:srgbClr val="1F2D3A"/>
                </a:solidFill>
              </a:rPr>
              <a:t> — kaynağına dönüp tekrar okuyun.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10. Kendini sınama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13 adımı üç aşamada özetleyin.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Hazırlık (TOE, belge, gereksinim şablonu, atölye) → Değerlendirme (kod inceleme, zafiyet, sızma, işlevsel) → Sonuç (bulgu, etki analizi, delta, kalan risk, değişiklik yönetimi).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Değerlendiricinin iki varsayımı? Sonucu ne?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(1) beyaz kutu — tüm kaynak/belge erişimi; (2) platform güvenilmez. Sonuç: korumanın var olması yetmez, </a:t>
            </a:r>
            <a:r>
              <a:rPr sz="2000" b="1">
                <a:solidFill>
                  <a:srgbClr val="1F2D3A"/>
                </a:solidFill>
              </a:rPr>
              <a:t>ne kadar kolay aşıldığı</a:t>
            </a:r>
            <a:r>
              <a:rPr sz="2000" b="0">
                <a:solidFill>
                  <a:srgbClr val="1F2D3A"/>
                </a:solidFill>
              </a:rPr>
              <a:t> ölçülür.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Yöntemleri neden ucuzdan pahalıya sıralarız?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Ucuz/geniş yöntemler (SAST) kolay bulguları temizler; pahalı/derin yöntem (pentest) böylece gerçek, birleşik sorunlara odaklanır. Zaman ve maliyet verimliliği.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ISO 27001 ile Ortak Kriterler neyi ayrı sertifikalar?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ISO 27001 </a:t>
            </a:r>
            <a:r>
              <a:rPr sz="2000" b="1">
                <a:solidFill>
                  <a:srgbClr val="1F2D3A"/>
                </a:solidFill>
              </a:rPr>
              <a:t>kurumu</a:t>
            </a:r>
            <a:r>
              <a:rPr sz="2000" b="0">
                <a:solidFill>
                  <a:srgbClr val="1F2D3A"/>
                </a:solidFill>
              </a:rPr>
              <a:t> (süreç), Ortak Kriterler </a:t>
            </a:r>
            <a:r>
              <a:rPr sz="2000" b="1">
                <a:solidFill>
                  <a:srgbClr val="1F2D3A"/>
                </a:solidFill>
              </a:rPr>
              <a:t>ürünü</a:t>
            </a:r>
            <a:r>
              <a:rPr sz="2000" b="0">
                <a:solidFill>
                  <a:srgbClr val="1F2D3A"/>
                </a:solidFill>
              </a:rPr>
              <a:t>. Biri diğerini gerektirmez.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Saldırı potansiyelinin beş faktörü? Düşük puan neden ciddi?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süre, uzmanlık, hedef bilgisi, fırsat penceresi, ekipman. Düşük toplam = kolay saldırı = </a:t>
            </a:r>
            <a:r>
              <a:rPr sz="2000" b="1">
                <a:solidFill>
                  <a:srgbClr val="1F2D3A"/>
                </a:solidFill>
              </a:rPr>
              <a:t>ciddi bulgu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Saldırı potansiyeli ile CVSS neyi ölçer? Neden birlikte?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Saldırı potansiyeli </a:t>
            </a:r>
            <a:r>
              <a:rPr sz="2000" b="1">
                <a:solidFill>
                  <a:srgbClr val="1F2D3A"/>
                </a:solidFill>
              </a:rPr>
              <a:t>olabilirliği</a:t>
            </a:r>
            <a:r>
              <a:rPr sz="2000" b="0">
                <a:solidFill>
                  <a:srgbClr val="1F2D3A"/>
                </a:solidFill>
              </a:rPr>
              <a:t> (zorluk), CVSS </a:t>
            </a:r>
            <a:r>
              <a:rPr sz="2000" b="1">
                <a:solidFill>
                  <a:srgbClr val="1F2D3A"/>
                </a:solidFill>
              </a:rPr>
              <a:t>etkiyi</a:t>
            </a:r>
            <a:r>
              <a:rPr sz="2000" b="0">
                <a:solidFill>
                  <a:srgbClr val="1F2D3A"/>
                </a:solidFill>
              </a:rPr>
              <a:t> (C/I/A kaybı). Önceliklendirme için ikisi birden verilir.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Bulgu–öneri–aksiyon döngüsü. Bir bulgu "açık değil" diye nasıl kapanır?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Laboratuvar öneri, geliştirici aksiyon üretir. Bazı bulgular güvenlik açığı değil </a:t>
            </a:r>
            <a:r>
              <a:rPr sz="2000" b="1">
                <a:solidFill>
                  <a:srgbClr val="1F2D3A"/>
                </a:solidFill>
              </a:rPr>
              <a:t>iyi uygulama önerisi</a:t>
            </a:r>
            <a:r>
              <a:rPr sz="2000" b="0">
                <a:solidFill>
                  <a:srgbClr val="1F2D3A"/>
                </a:solidFill>
              </a:rPr>
              <a:t> olarak, gerekçeyle kapanır.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Etki analizi ile delta değerlendirme farkı? Kimin işi?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Etki analizi değişikliğin etkisini </a:t>
            </a:r>
            <a:r>
              <a:rPr sz="2000" b="1">
                <a:solidFill>
                  <a:srgbClr val="1F2D3A"/>
                </a:solidFill>
              </a:rPr>
              <a:t>belgeler</a:t>
            </a:r>
            <a:r>
              <a:rPr sz="2000" b="0">
                <a:solidFill>
                  <a:srgbClr val="1F2D3A"/>
                </a:solidFill>
              </a:rPr>
              <a:t> (geliştirici); delta yalnız değişeni </a:t>
            </a:r>
            <a:r>
              <a:rPr sz="2000" b="1">
                <a:solidFill>
                  <a:srgbClr val="1F2D3A"/>
                </a:solidFill>
              </a:rPr>
              <a:t>yeniden değerlendirir</a:t>
            </a:r>
            <a:r>
              <a:rPr sz="2000" b="0">
                <a:solidFill>
                  <a:srgbClr val="1F2D3A"/>
                </a:solidFill>
              </a:rPr>
              <a:t> (laboratuvar).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Sızma testi planının dört başlığı?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kapsam, angajman kuralları, yöntem, test şablonu. Her biri sonucu meşru, tekrarlanabilir ve güvenli kılar.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Angajman kurallarında "durdurma koşulu" neden var?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Kritik/öngörülmeyen bir etki görülürse test hemen durur ve bildirilir; hasarı ve hukuki riski sınırlar.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Test kartının hangi alanı S17'ye bağlanır?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"İlgili gereksinim" alanı — her test bir gereksinime/varlığa bağlanır, uyum matrisiyle (S17) izlenir.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Finalde S16'dan "plan" değil "sonuç" beklenmesi ne demek?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Test planı yazmak yetmez; testleri </a:t>
            </a:r>
            <a:r>
              <a:rPr sz="2000" b="1">
                <a:solidFill>
                  <a:srgbClr val="1F2D3A"/>
                </a:solidFill>
              </a:rPr>
              <a:t>çalıştırıp gözlenen sonuçları</a:t>
            </a:r>
            <a:r>
              <a:rPr sz="2000" b="0">
                <a:solidFill>
                  <a:srgbClr val="1F2D3A"/>
                </a:solidFill>
              </a:rPr>
              <a:t> ve bulgu–aksiyonu sunmak gerekir.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Terimler sözlüğü (1)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1332"/>
                <a:gridCol w="6990202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Terim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Anlam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TOE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Değerlendirilen tam nesne (benzersiz)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SAST/DAST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Statik / dinamik test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Fuzzing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Rastgele girdiyle çökme arama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Sızma testi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İzinli, planlı saldırgan-bakışı test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Saldırı potansiyeli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Kırmanın zorluğu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Terimler sözlüğü (2)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5218"/>
                <a:gridCol w="7326316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Terim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Anlam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CVSS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Zafiyet etki puanı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Bulgu–aksiyon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Laboratuvar önerisi → geliştirici yanıtı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Etki analizi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Değişikliğin güvenlik etkisi (geliştirici)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Delta değerlendirme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Yalnız değişeni yeniden değerlendirme (lab)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Angajman kuralları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Testin izin/kapsam/sınır sözleşmesi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Özet: bu haftanın tek cümlesi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649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Güvenlik bir iddia değil, </a:t>
            </a:r>
            <a:r>
              <a:rPr sz="2000" b="1">
                <a:solidFill>
                  <a:srgbClr val="1F2D3A"/>
                </a:solidFill>
              </a:rPr>
              <a:t>bağımsız olarak sınanan ve ölçülen</a:t>
            </a:r>
            <a:r>
              <a:rPr sz="2000" b="0">
                <a:solidFill>
                  <a:srgbClr val="1F2D3A"/>
                </a:solidFill>
              </a:rPr>
              <a:t> bir niteliktir; korumanın var olması yetmez, </a:t>
            </a:r>
            <a:r>
              <a:rPr sz="2000" b="1">
                <a:solidFill>
                  <a:srgbClr val="1F2D3A"/>
                </a:solidFill>
              </a:rPr>
              <a:t>ne kadar dayandığı</a:t>
            </a:r>
            <a:r>
              <a:rPr sz="2000" b="0">
                <a:solidFill>
                  <a:srgbClr val="1F2D3A"/>
                </a:solidFill>
              </a:rPr>
              <a:t> planlı, izinli ve tekrarlanabilir biçimde ölçülür.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0052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İyi bir test planı, güveni </a:t>
            </a:r>
            <a:r>
              <a:rPr sz="2000" b="1">
                <a:solidFill>
                  <a:srgbClr val="1F2D3A"/>
                </a:solidFill>
              </a:rPr>
              <a:t>iddiadan kanıta</a:t>
            </a:r>
            <a:r>
              <a:rPr sz="2000" b="0">
                <a:solidFill>
                  <a:srgbClr val="1F2D3A"/>
                </a:solidFill>
              </a:rPr>
              <a:t> taşır.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11. Kaynaklar ve ileri okuma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Kaynaklar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677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Güvenli programlama teknik kılavuzu</a:t>
            </a:r>
            <a:r>
              <a:rPr sz="2000" b="0">
                <a:solidFill>
                  <a:srgbClr val="1F2D3A"/>
                </a:solidFill>
              </a:rPr>
              <a:t> — teslim edilen belge, etki/delta yapısı, gereksinim bloğu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OWASP MASVS / MASTG</a:t>
            </a:r>
            <a:r>
              <a:rPr sz="2000" b="0">
                <a:solidFill>
                  <a:srgbClr val="1F2D3A"/>
                </a:solidFill>
              </a:rPr>
              <a:t> — mobil gereksinim + test rehberi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OWASP WSTG</a:t>
            </a:r>
            <a:r>
              <a:rPr sz="2000" b="0">
                <a:solidFill>
                  <a:srgbClr val="1F2D3A"/>
                </a:solidFill>
              </a:rPr>
              <a:t> — web test rehberi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PTES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NIST SP 800-115</a:t>
            </a:r>
            <a:r>
              <a:rPr sz="2000" b="0">
                <a:solidFill>
                  <a:srgbClr val="1F2D3A"/>
                </a:solidFill>
              </a:rPr>
              <a:t> — sızma testi metodolojisi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Ortak Kriterler (ISO/IEC 15408)</a:t>
            </a:r>
            <a:r>
              <a:rPr sz="2000" b="0">
                <a:solidFill>
                  <a:srgbClr val="1F2D3A"/>
                </a:solidFill>
              </a:rPr>
              <a:t> + saldırı potansiyeli kılavuzları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CVSS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Bir sonraki hafta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13. hafta — Güvenlik gereksinimleri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14305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Bu hafta "gereksinim şablonu" ve "uyum matrisi"ni süreç içinde gördük; 13. haftada iyi bir gereksinimin nasıl yazıldığını, izlenebilirlik/uyum matrisini ve Ortak Kriterler, FIPS 140-3, ETSI, EMVCo, PCI, MASVS gereksinim setlerini ayrıntılı işleyeceğiz.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Hafta 12 — Güvenlik Sertifikasyonları ve Sızma Testi Planlaması</dc:title>
  <dc:subject/>
  <dc:creator>Dr. Öğr. Üyesi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