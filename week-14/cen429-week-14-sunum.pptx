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9. haftadaki gizleme kurallarının otomatik karşılığı Tigress ile kaynaktan kaynağa gizleme ve çeşitlendirme işleniyor. Ana kural: gizleme kırılamazlık vermez, maliyet yükseltir; dönüşümleri birleştir, çeşitlendir, ölç. Tigress yalnız kendi koda uygulanır; ikili derste dağıtılmaz.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9. haftadaki el ile gizleme kurallarını araçla (Tigress) otomatikleştiriyoruz. Ana mesaj aynı: gizleme kırılamazlık vermez, maliyet yükseltir; birleştir, çeşitlendir, ölç.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dönüşüm aileleri.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Dönüşüm adları sürümle küçük değişebilir; resmî belgeden doğrulanmalı. Kavramı 9. hafta kurallarına bağlıyoruz.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flatten-granted ön ayarıyla başla, dağıtıcının case 7341'de kararı nasıl gizlediğini göster;</a:t>
            </a:r>
          </a:p>
          <a:p>
            <a:r>
              <a:t>sonra arith-typical ile MBA özdeşliğini doğrula.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q=0 olsa bile (q*q)%4 hiçbir zaman 2 olamaz — yüklem yine her zaman doğru; gerçek fallback_transform.py satırları.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ön ayar (Tigress, iki dönüşüm) ile başla; öğrencilere davranış denetimi satırının her</a:t>
            </a:r>
          </a:p>
          <a:p>
            <a:r>
              <a:t>jeton için tek tek çalıştığını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elle bozulmuş bir gizli.c davranışı değiştirirse pipeline_check.py'nin nasıl FAIL verdiğini</a:t>
            </a:r>
          </a:p>
          <a:p>
            <a:r>
              <a:t>göster; bu, "gizli.c'ye elle dokunma" kuralının somut kanıtıdır.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code-then-structure ile başla; EncodeLiterals'in yalnız o ana kadar görünen sabitleri</a:t>
            </a:r>
          </a:p>
          <a:p>
            <a:r>
              <a:t>kodladığını, sign'ın en son aşama olduğunu vurgula.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imza en başta olursa sonraki her aşama imzayı geçersiz kılar — "imzalama sırası bozulursa"</a:t>
            </a:r>
          </a:p>
          <a:p>
            <a:r>
              <a:t>senaryosunun canlı kanıtı.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 sonrası çeşitlendirme ve ölçme.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three-seeds ön ayarıyla üç tohumun maskesini ve kodlanmış baytlarını yan yana göster; hepsi</a:t>
            </a:r>
          </a:p>
          <a:p>
            <a:r>
              <a:t>farklı bayt, aynı GRANTED/DENIED davranışı.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aynı tohum iki kez kullanılırsa baytlar da AYNI kalır — çeşitlendirme sağlanmamış olur; bölüm</a:t>
            </a:r>
          </a:p>
          <a:p>
            <a:r>
              <a:t>9'daki "sürüm başına tohum" kuralının nedeni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two-different-seeds ön ayarıyla tabloyu satır satır aç; komut/dal sayısının tohumdan bağımsız,</a:t>
            </a:r>
          </a:p>
          <a:p>
            <a:r>
              <a:t>boyut/benzerliğin tohuma bağlı olduğunu vurgula.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tohum 0, "orijinal"ın kendisi demektir; tablo bu durumda kendine karşı %100 benzerlik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sınıf içi akış, S15, proje.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Öğrenci Tigress'i kendi indirir, kendi küçük programına uygular. Tümüyle savunma amaçlı; kendi kodunu korur ve ölçer.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all-pass ön ayarıyla dört aşamayı (OBFUSCATE/COMPARE/MEASURE/DIVERSIFY) sırayla aç; gerçek</a:t>
            </a:r>
          </a:p>
          <a:p>
            <a:r>
              <a:t>pipeline_check.py satırlarının nasıl eşleştiğini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 jeton uyuşmazsa VE tohum tekrarlanırsa akışın nerede FAILED verdiğini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derleme hattı (S15) ve proje.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three-clean-releases ön ayarıyla üç sürümün (v1.0/v1.1/v1.2) altı aşamadan geçtiğini göster;</a:t>
            </a:r>
          </a:p>
          <a:p>
            <a:r>
              <a:t>S15 kaydının bu sürümlerin tam karşılığı olduğunu vurgula.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v1.3'ün v1.0 ile aynı tohumu kullandığını, bunun record-version aşamasında nasıl</a:t>
            </a:r>
          </a:p>
          <a:p>
            <a:r>
              <a:t>yakalandığını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çözümlü kendini sınama.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öğrenciye sordurun, sonra cevabı açın.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2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2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Tigress ve Çeşitlendirme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18.12.2026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255"/>
                <a:gridCol w="1079162"/>
                <a:gridCol w="8873116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Kaynaktan kaynağa gizleme · Tigress · lisans · temel akış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Dönüşüm aileleri · 9. hafta eşlemesi · dönüşüm hattı · adım adım örnek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Çeşitlendirme · ölçme · sınıf içi akış · derleme hattı (S15)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kaynaktan kaynağa gizleme ve çeşitlendirme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1993</a:t>
            </a:r>
            <a:r>
              <a:rPr sz="1800" b="0">
                <a:solidFill>
                  <a:srgbClr val="1F2D3A"/>
                </a:solidFill>
              </a:rPr>
              <a:t> — Cohen: </a:t>
            </a:r>
            <a:r>
              <a:rPr sz="1800" b="1">
                <a:solidFill>
                  <a:srgbClr val="1F2D3A"/>
                </a:solidFill>
              </a:rPr>
              <a:t>çeşitlendirme</a:t>
            </a:r>
            <a:r>
              <a:rPr sz="1800" b="0">
                <a:solidFill>
                  <a:srgbClr val="1F2D3A"/>
                </a:solidFill>
              </a:rPr>
              <a:t> fikri (aynı işlev, farklı binary)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1997</a:t>
            </a:r>
            <a:r>
              <a:rPr sz="1800" b="0">
                <a:solidFill>
                  <a:srgbClr val="1F2D3A"/>
                </a:solidFill>
              </a:rPr>
              <a:t> — Collberg vd. gizleme taksonomisi; aynı yıl Forrest vd. ayrı kökten </a:t>
            </a:r>
            <a:r>
              <a:rPr sz="1800" b="1">
                <a:solidFill>
                  <a:srgbClr val="1F2D3A"/>
                </a:solidFill>
              </a:rPr>
              <a:t>çeşitlendirme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2002</a:t>
            </a:r>
            <a:r>
              <a:rPr sz="1800" b="0">
                <a:solidFill>
                  <a:srgbClr val="1F2D3A"/>
                </a:solidFill>
              </a:rPr>
              <a:t> — Necula vd., CIL: Tigress'in üzerine kurulduğu altyapı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~2012–13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Tigress</a:t>
            </a:r>
            <a:r>
              <a:rPr sz="1800" b="0">
                <a:solidFill>
                  <a:srgbClr val="1F2D3A"/>
                </a:solidFill>
              </a:rPr>
              <a:t>: C için kaynaktan kaynağa + sanallaştırma + çeşitlendirme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2015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Obfuscator-LLVM</a:t>
            </a:r>
            <a:r>
              <a:rPr sz="1800" b="0">
                <a:solidFill>
                  <a:srgbClr val="1F2D3A"/>
                </a:solidFill>
              </a:rPr>
              <a:t>: derleyici tabanlı gizleme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2016–17</a:t>
            </a:r>
            <a:r>
              <a:rPr sz="1800" b="0">
                <a:solidFill>
                  <a:srgbClr val="1F2D3A"/>
                </a:solidFill>
              </a:rPr>
              <a:t> — Banescu vd. Tigress+KLEE ile </a:t>
            </a:r>
            <a:r>
              <a:rPr sz="1800" b="1">
                <a:solidFill>
                  <a:srgbClr val="1F2D3A"/>
                </a:solidFill>
              </a:rPr>
              <a:t>dayanıklılığı ölçer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844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Ana kural: </a:t>
            </a:r>
            <a:r>
              <a:rPr sz="1800" b="1">
                <a:solidFill>
                  <a:srgbClr val="1F2D3A"/>
                </a:solidFill>
              </a:rPr>
              <a:t>dayanıklılık ↔ maliyet</a:t>
            </a:r>
            <a:r>
              <a:rPr sz="1800" b="0">
                <a:solidFill>
                  <a:srgbClr val="1F2D3A"/>
                </a:solidFill>
              </a:rPr>
              <a:t>; koruma varlığın değeriyle orantılı seçilir.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9. hafta:</a:t>
            </a:r>
            <a:r>
              <a:rPr sz="2000" b="0">
                <a:solidFill>
                  <a:srgbClr val="1F2D3A"/>
                </a:solidFill>
              </a:rPr>
              <a:t> gizleme kurallarını </a:t>
            </a:r>
            <a:r>
              <a:rPr sz="2000" b="1">
                <a:solidFill>
                  <a:srgbClr val="1F2D3A"/>
                </a:solidFill>
              </a:rPr>
              <a:t>el ile</a:t>
            </a:r>
            <a:r>
              <a:rPr sz="2000" b="0">
                <a:solidFill>
                  <a:srgbClr val="1F2D3A"/>
                </a:solidFill>
              </a:rPr>
              <a:t> öğrendik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11. hafta:</a:t>
            </a:r>
            <a:r>
              <a:rPr sz="2000" b="0">
                <a:solidFill>
                  <a:srgbClr val="1F2D3A"/>
                </a:solidFill>
              </a:rPr>
              <a:t> anahtar için whitebox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(14):</a:t>
            </a:r>
            <a:r>
              <a:rPr sz="2000" b="0">
                <a:solidFill>
                  <a:srgbClr val="1F2D3A"/>
                </a:solidFill>
              </a:rPr>
              <a:t> aynı kuralları </a:t>
            </a:r>
            <a:r>
              <a:rPr sz="2000" b="1">
                <a:solidFill>
                  <a:srgbClr val="1F2D3A"/>
                </a:solidFill>
              </a:rPr>
              <a:t>araçla, otomatik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çeşitlendirilmiş</a:t>
            </a:r>
            <a:r>
              <a:rPr sz="2000" b="0">
                <a:solidFill>
                  <a:srgbClr val="1F2D3A"/>
                </a:solidFill>
              </a:rPr>
              <a:t> uygulamak → Tigress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Üçü bir bütün; bugün otomasyon adımı.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</a:t>
            </a:r>
            <a:r>
              <a:rPr sz="2000" b="1">
                <a:solidFill>
                  <a:srgbClr val="1F2D3A"/>
                </a:solidFill>
              </a:rPr>
              <a:t>ÖÇ.3</a:t>
            </a:r>
            <a:r>
              <a:rPr sz="2000" b="0">
                <a:solidFill>
                  <a:srgbClr val="1F2D3A"/>
                </a:solidFill>
              </a:rPr>
              <a:t> (binary uygulama korumaları) üstünedir.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Sonunda yapabileceğiniz: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Kaynaktan kaynağa gizlemeyi açıklamak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dönüşüm hattı</a:t>
            </a:r>
            <a:r>
              <a:rPr sz="2000" b="0">
                <a:solidFill>
                  <a:srgbClr val="1F2D3A"/>
                </a:solidFill>
              </a:rPr>
              <a:t> kurmayı tarif etmek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Gizlemeyi </a:t>
            </a:r>
            <a:r>
              <a:rPr sz="2000" b="1">
                <a:solidFill>
                  <a:srgbClr val="1F2D3A"/>
                </a:solidFill>
              </a:rPr>
              <a:t>çeşitlendirip ölçmek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Gizlemeyi </a:t>
            </a:r>
            <a:r>
              <a:rPr sz="2000" b="1">
                <a:solidFill>
                  <a:srgbClr val="1F2D3A"/>
                </a:solidFill>
              </a:rPr>
              <a:t>derleme hattına</a:t>
            </a:r>
            <a:r>
              <a:rPr sz="2000" b="0">
                <a:solidFill>
                  <a:srgbClr val="1F2D3A"/>
                </a:solidFill>
              </a:rPr>
              <a:t> koymak (S15)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Baştan bir hatırlatma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9. haftanın ana kuralı bu hafta da geçerli: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 kırılamazlık vermez,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yükseltir.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bir </a:t>
            </a:r>
            <a:r>
              <a:rPr sz="2000" b="1">
                <a:solidFill>
                  <a:srgbClr val="1F2D3A"/>
                </a:solidFill>
              </a:rPr>
              <a:t>sihir değil</a:t>
            </a:r>
            <a:r>
              <a:rPr sz="2000" b="0">
                <a:solidFill>
                  <a:srgbClr val="1F2D3A"/>
                </a:solidFill>
              </a:rPr>
              <a:t>; el ile yaptığımızı otomatikleştirir ve </a:t>
            </a:r>
            <a:r>
              <a:rPr sz="2000" b="1">
                <a:solidFill>
                  <a:srgbClr val="1F2D3A"/>
                </a:solidFill>
              </a:rPr>
              <a:t>çeşitlendirmeyi</a:t>
            </a:r>
            <a:r>
              <a:rPr sz="2000" b="0">
                <a:solidFill>
                  <a:srgbClr val="1F2D3A"/>
                </a:solidFill>
              </a:rPr>
              <a:t> kolaylaştırır.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Önceki haftalardan gelenler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83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Kaynak kod, derleyici, binary dosya</a:t>
            </a:r>
            <a:r>
              <a:rPr sz="1600" b="0">
                <a:solidFill>
                  <a:srgbClr val="1F2D3A"/>
                </a:solidFill>
              </a:rPr>
              <a:t> — insanın yazdığı program metninin derleyiciyle makine koduna çevrilip çalıştırılabilir hale gelmesi </a:t>
            </a:r>
            <a:r>
              <a:rPr sz="1600" b="1">
                <a:solidFill>
                  <a:srgbClr val="1F2D3A"/>
                </a:solidFill>
              </a:rPr>
              <a:t>(Hafta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Kod gizleme (obfuscation)</a:t>
            </a:r>
            <a:r>
              <a:rPr sz="1600" b="0">
                <a:solidFill>
                  <a:srgbClr val="1F2D3A"/>
                </a:solidFill>
              </a:rPr>
              <a:t> — davranışı değiştirmeden kodu anlaşılması zor kılan, saldırı maliyetini artıran karşı önlem </a:t>
            </a:r>
            <a:r>
              <a:rPr sz="1600" b="1">
                <a:solidFill>
                  <a:srgbClr val="1F2D3A"/>
                </a:solidFill>
              </a:rPr>
              <a:t>(Hafta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9. haftanın gizleme kuralları (K-01–K-12)</a:t>
            </a:r>
            <a:r>
              <a:rPr sz="1600" b="0">
                <a:solidFill>
                  <a:srgbClr val="1F2D3A"/>
                </a:solidFill>
              </a:rPr>
              <a:t> — opak yüklem, aritmetik kodlama, kontrol akışı düzleştirme, dize kodlama, değişken bölme, sanallaştırma gibi el ile uygulanan kurallar; bu hafta bunları Tigress'in dönüşümleriyle tek tek eşliyoruz </a:t>
            </a:r>
            <a:r>
              <a:rPr sz="1600" b="1">
                <a:solidFill>
                  <a:srgbClr val="1F2D3A"/>
                </a:solidFill>
              </a:rPr>
              <a:t>(Hafta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CFG (kontrol akışı grafiği)</a:t>
            </a:r>
            <a:r>
              <a:rPr sz="1600" b="0">
                <a:solidFill>
                  <a:srgbClr val="1F2D3A"/>
                </a:solidFill>
              </a:rPr>
              <a:t> — temel blokları düğüm, geçişleri kenar yapan şema </a:t>
            </a:r>
            <a:r>
              <a:rPr sz="1600" b="1">
                <a:solidFill>
                  <a:srgbClr val="1F2D3A"/>
                </a:solidFill>
              </a:rPr>
              <a:t>(Hafta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Sembolik yürütme</a:t>
            </a:r>
            <a:r>
              <a:rPr sz="1600" b="0">
                <a:solidFill>
                  <a:srgbClr val="1F2D3A"/>
                </a:solidFill>
              </a:rPr>
              <a:t> — program yollarını matematiksel kısıt olarak çözen otomatik analiz (ör. KLEE) </a:t>
            </a:r>
            <a:r>
              <a:rPr sz="1600" b="1">
                <a:solidFill>
                  <a:srgbClr val="1F2D3A"/>
                </a:solidFill>
              </a:rPr>
              <a:t>(Hafta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Çeşitlendirme (diversification)</a:t>
            </a:r>
            <a:r>
              <a:rPr sz="1600" b="0">
                <a:solidFill>
                  <a:srgbClr val="1F2D3A"/>
                </a:solidFill>
              </a:rPr>
              <a:t> — aynı kaynaktan davranışça eş, yapıca farklı binary dosyalar üretme fikri; bu hafta Tigress'in </a:t>
            </a:r>
            <a:r>
              <a:rPr sz="1600" b="0">
                <a:solidFill>
                  <a:srgbClr val="A1123F"/>
                </a:solidFill>
                <a:latin typeface="Consolas"/>
              </a:rPr>
              <a:t>--Seed</a:t>
            </a:r>
            <a:r>
              <a:rPr sz="1600" b="0">
                <a:solidFill>
                  <a:srgbClr val="1F2D3A"/>
                </a:solidFill>
              </a:rPr>
              <a:t> bayrağıyla otomatikleştiriyoruz </a:t>
            </a:r>
            <a:r>
              <a:rPr sz="1600" b="1">
                <a:solidFill>
                  <a:srgbClr val="1F2D3A"/>
                </a:solidFill>
              </a:rPr>
              <a:t>(Hafta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CI ve derleme hattı</a:t>
            </a:r>
            <a:r>
              <a:rPr sz="1600" b="0">
                <a:solidFill>
                  <a:srgbClr val="1F2D3A"/>
                </a:solidFill>
              </a:rPr>
              <a:t> — her kod değişikliğinde otomatik derleme/test adımlarını çalıştıran sistem </a:t>
            </a:r>
            <a:r>
              <a:rPr sz="1600" b="1">
                <a:solidFill>
                  <a:srgbClr val="1F2D3A"/>
                </a:solidFill>
              </a:rPr>
              <a:t>(Hafta 4)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Sürüm kimliği ve özet (hash) değeri</a:t>
            </a:r>
            <a:r>
              <a:rPr sz="1600" b="0">
                <a:solidFill>
                  <a:srgbClr val="1F2D3A"/>
                </a:solidFill>
              </a:rPr>
              <a:t> — bir yazılımın hangi binary/kaynak/özet üçlüsüyle dağıtıldığını gösteren kayıt; bu hafta buna bir de tohum alanı ekliyoruz </a:t>
            </a:r>
            <a:r>
              <a:rPr sz="1600" b="1">
                <a:solidFill>
                  <a:srgbClr val="1F2D3A"/>
                </a:solidFill>
              </a:rPr>
              <a:t>(Hafta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Bu haftanın kavramları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terim gövdede ilk geçtiği yerde tanımlanır; burada yalnız </a:t>
            </a:r>
            <a:r>
              <a:rPr sz="1800" b="1">
                <a:solidFill>
                  <a:srgbClr val="1F2D3A"/>
                </a:solidFill>
              </a:rPr>
              <a:t>nerede</a:t>
            </a:r>
            <a:r>
              <a:rPr sz="1800" b="0">
                <a:solidFill>
                  <a:srgbClr val="1F2D3A"/>
                </a:solidFill>
              </a:rPr>
              <a:t> olduğunu işaretliyoruz.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39696"/>
          <a:ext cx="10911534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2207"/>
                <a:gridCol w="1519327"/>
              </a:tblGrid>
              <a:tr h="36271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Kaynaktan kaynağa (source-to-source) gizleme, Tigress ve lisansı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Dönüşüm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--Transform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 ve hedef seçimi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--Functions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Dönüşüm aileleri ve 9. hafta eşlemesi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Dönüşüm hattı (pipeline) ve adım adım maliyet artışı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Çeşitlendirme aracı: tohum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--Seed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Gizleme ve çeşitlendirmeyi ölçmek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Sınıf içi yedi adımlık akış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S15 derleme ve dağıtım hattı, dönem projesi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Kaynaktan kaynağa (source-to-source)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Girdi: C kaynağı. Çıktı: </a:t>
            </a:r>
            <a:r>
              <a:rPr sz="2000" b="1">
                <a:solidFill>
                  <a:srgbClr val="1F2D3A"/>
                </a:solidFill>
              </a:rPr>
              <a:t>yine C kaynağı</a:t>
            </a:r>
            <a:r>
              <a:rPr sz="2000" b="0">
                <a:solidFill>
                  <a:srgbClr val="1F2D3A"/>
                </a:solidFill>
              </a:rPr>
              <a:t> — ama gizlenmiş.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normal derleyicinizle derlenir.</a:t>
            </a:r>
          </a:p>
        </p:txBody>
      </p:sp>
      <p:pic>
        <p:nvPicPr>
          <p:cNvPr id="8" name="Picture 7" descr="h14-01-kaynaktan-kaynaga-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78888"/>
            <a:ext cx="10911535" cy="20459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 (transform)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Dönüşüm:</a:t>
            </a:r>
            <a:r>
              <a:rPr sz="2000" b="0">
                <a:solidFill>
                  <a:srgbClr val="1F2D3A"/>
                </a:solidFill>
              </a:rPr>
              <a:t> kaynağa uygulanan tek bir gizleme işlemi (ör. düzleştirme).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Araç birçok dönüşüm sunar; siz hangisini, nereye seçersiniz.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 hattı (pipeline)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Hat:</a:t>
            </a:r>
            <a:r>
              <a:rPr sz="2000" b="0">
                <a:solidFill>
                  <a:srgbClr val="1F2D3A"/>
                </a:solidFill>
              </a:rPr>
              <a:t> birden çok dönüşümün </a:t>
            </a:r>
            <a:r>
              <a:rPr sz="2000" b="1">
                <a:solidFill>
                  <a:srgbClr val="1F2D3A"/>
                </a:solidFill>
              </a:rPr>
              <a:t>sırayla</a:t>
            </a:r>
            <a:r>
              <a:rPr sz="2000" b="0">
                <a:solidFill>
                  <a:srgbClr val="1F2D3A"/>
                </a:solidFill>
              </a:rPr>
              <a:t> uygulanması.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dönüşüm bir öncekinin çıktısına uygulanır.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 önemlidir.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Tohum (seed)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Tohum:</a:t>
            </a:r>
            <a:r>
              <a:rPr sz="2000" b="0">
                <a:solidFill>
                  <a:srgbClr val="1F2D3A"/>
                </a:solidFill>
              </a:rPr>
              <a:t> rastgeleliği yöneten bir başlangıç sayısı.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dönüşüm + farklı tohum =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 gizlenmiş çıktı.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Çeşitlendirmenin anahtarı budur.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CLI (komut satırı)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CLI (Command-Line Interface):</a:t>
            </a:r>
            <a:r>
              <a:rPr sz="2000" b="0">
                <a:solidFill>
                  <a:srgbClr val="1F2D3A"/>
                </a:solidFill>
              </a:rPr>
              <a:t> komutları yazarak çalıştırdığınız arayüz.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bir CLI aracıdır: 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 --Transform=... dosya.c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Birim testi (unit 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Birim testi:</a:t>
            </a:r>
            <a:r>
              <a:rPr sz="2000" b="0">
                <a:solidFill>
                  <a:srgbClr val="1F2D3A"/>
                </a:solidFill>
              </a:rPr>
              <a:t> bir fonksiyonun doğru çalıştığını otomatik denetleyen küçük test.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Gizlemeden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 aynı testler geçmeli (davranış korunmalı).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Kaynaktan kaynağa gizleme ve Tigress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El ile gizlemenin üç sorunu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9. haftada kuralları </a:t>
            </a:r>
            <a:r>
              <a:rPr sz="2000" b="1">
                <a:solidFill>
                  <a:srgbClr val="1F2D3A"/>
                </a:solidFill>
              </a:rPr>
              <a:t>el ile</a:t>
            </a:r>
            <a:r>
              <a:rPr sz="2000" b="0">
                <a:solidFill>
                  <a:srgbClr val="1F2D3A"/>
                </a:solidFill>
              </a:rPr>
              <a:t> uyguladık. Öğreticiydi ama: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Hataya açık</a:t>
            </a:r>
            <a:r>
              <a:rPr sz="2000" b="0">
                <a:solidFill>
                  <a:srgbClr val="1F2D3A"/>
                </a:solidFill>
              </a:rPr>
              <a:t> — davranışı bozabilir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Bakımı zor</a:t>
            </a:r>
            <a:r>
              <a:rPr sz="2000" b="0">
                <a:solidFill>
                  <a:srgbClr val="1F2D3A"/>
                </a:solidFill>
              </a:rPr>
              <a:t> — kaynak okunamaz olur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Çeşitlendirilemez</a:t>
            </a:r>
            <a:r>
              <a:rPr sz="2000" b="0">
                <a:solidFill>
                  <a:srgbClr val="1F2D3A"/>
                </a:solidFill>
              </a:rPr>
              <a:t> — her kopyayı elle farklılaştıramazsınız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Çözüm: araca yaptır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Gizlemeyi bir </a:t>
            </a:r>
            <a:r>
              <a:rPr sz="2000" b="1">
                <a:solidFill>
                  <a:srgbClr val="1F2D3A"/>
                </a:solidFill>
              </a:rPr>
              <a:t>araç</a:t>
            </a:r>
            <a:r>
              <a:rPr sz="2000" b="0">
                <a:solidFill>
                  <a:srgbClr val="1F2D3A"/>
                </a:solidFill>
              </a:rPr>
              <a:t> yapsın.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Siz </a:t>
            </a:r>
            <a:r>
              <a:rPr sz="2000" b="1">
                <a:solidFill>
                  <a:srgbClr val="1F2D3A"/>
                </a:solidFill>
              </a:rPr>
              <a:t>okunur</a:t>
            </a:r>
            <a:r>
              <a:rPr sz="2000" b="0">
                <a:solidFill>
                  <a:srgbClr val="1F2D3A"/>
                </a:solidFill>
              </a:rPr>
              <a:t> kaynağı koruyun.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Gizleme, derleme hattında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 bir adım olsun.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Kaynaktan kaynağa fikri</a:t>
            </a:r>
          </a:p>
        </p:txBody>
      </p:sp>
      <p:pic>
        <p:nvPicPr>
          <p:cNvPr id="7" name="Picture 6" descr="h14-02-el-ile-vs-ar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68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0392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Bakım maliyeti </a:t>
            </a:r>
            <a:r>
              <a:rPr sz="2000" b="1">
                <a:solidFill>
                  <a:srgbClr val="1F2D3A"/>
                </a:solidFill>
              </a:rPr>
              <a:t>okunur kaynakta</a:t>
            </a:r>
            <a:r>
              <a:rPr sz="2000" b="0">
                <a:solidFill>
                  <a:srgbClr val="1F2D3A"/>
                </a:solidFill>
              </a:rPr>
              <a:t> kalır; dağıtılan kaynak gizli.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Sıralı dönüşümler — şema</a:t>
            </a:r>
          </a:p>
        </p:txBody>
      </p:sp>
      <p:pic>
        <p:nvPicPr>
          <p:cNvPr id="7" name="Picture 6" descr="h14-04-donusum-h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650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Arizona Üniversitesi'nden Collberg ve ekibinin geliştirdiği </a:t>
            </a:r>
            <a:r>
              <a:rPr sz="2000" b="1">
                <a:solidFill>
                  <a:srgbClr val="1F2D3A"/>
                </a:solidFill>
              </a:rPr>
              <a:t>kaynaktan kaynağa C gizleyici/çeşitlendirici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haftadaki el ile kuralların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 karşılığı.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 · özellikler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Çok platform: Linux, macOS, Windows, Android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Mimariler: Intel, ARM, WebAssembly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Derleyiciler: GCC, Clang, MSVC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Güncel sürüm: </a:t>
            </a:r>
            <a:r>
              <a:rPr sz="2000" b="1">
                <a:solidFill>
                  <a:srgbClr val="1F2D3A"/>
                </a:solidFill>
              </a:rPr>
              <a:t>v4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Lisans (önemli)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Kâr amacı gütmeyen</a:t>
            </a:r>
            <a:r>
              <a:rPr sz="2000" b="0">
                <a:solidFill>
                  <a:srgbClr val="1F2D3A"/>
                </a:solidFill>
              </a:rPr>
              <a:t> (akademik/araştırma) kullanım: </a:t>
            </a:r>
            <a:r>
              <a:rPr sz="2000" b="1">
                <a:solidFill>
                  <a:srgbClr val="1F2D3A"/>
                </a:solidFill>
              </a:rPr>
              <a:t>ücretsiz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Ticari</a:t>
            </a:r>
            <a:r>
              <a:rPr sz="2000" b="0">
                <a:solidFill>
                  <a:srgbClr val="1F2D3A"/>
                </a:solidFill>
              </a:rPr>
              <a:t> kullanım: Arizona Üniversitesi'nden </a:t>
            </a:r>
            <a:r>
              <a:rPr sz="2000" b="1">
                <a:solidFill>
                  <a:srgbClr val="1F2D3A"/>
                </a:solidFill>
              </a:rPr>
              <a:t>lisans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kodu açık değil; araştırmacılar şifreli kaynağa erişim isteyebilir.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Derste kullanım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Derste </a:t>
            </a:r>
            <a:r>
              <a:rPr sz="2000" b="1">
                <a:solidFill>
                  <a:srgbClr val="1F2D3A"/>
                </a:solidFill>
              </a:rPr>
              <a:t>Tigress ikilisi ya da eski sürüm dağıtılmaz.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Öğrenciler güncel sürümü </a:t>
            </a:r>
            <a:r>
              <a:rPr sz="2000" b="1">
                <a:solidFill>
                  <a:srgbClr val="1F2D3A"/>
                </a:solidFill>
              </a:rPr>
              <a:t>resmî siteden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tigress.wtf</a:t>
            </a:r>
            <a:r>
              <a:rPr sz="2000" b="0">
                <a:solidFill>
                  <a:srgbClr val="1F2D3A"/>
                </a:solidFill>
              </a:rPr>
              <a:t>) kendileri indirir.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Lisans koşulunu </a:t>
            </a:r>
            <a:r>
              <a:rPr sz="2000" b="1">
                <a:solidFill>
                  <a:srgbClr val="1F2D3A"/>
                </a:solidFill>
              </a:rPr>
              <a:t>orada</a:t>
            </a:r>
            <a:r>
              <a:rPr sz="2000" b="0">
                <a:solidFill>
                  <a:srgbClr val="1F2D3A"/>
                </a:solidFill>
              </a:rPr>
              <a:t> doğrular.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kodunuza, kendi makinenizde uygularsınız.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araç, el ile değil?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9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37"/>
                <a:gridCol w="618320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El ile (9. hafta)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Araçla (Tigress)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Öğreticidir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Ölçeklenir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Hataya açık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Davranışı korur (test edilmiş)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Kaynak okunamaz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Okunur kaynak sizde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araç, el ile değil?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6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2049"/>
                <a:gridCol w="5455767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El 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Araçla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Çeşitlendirme elle olmaz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Tohumla otomatik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tip, tanınabilir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Dönüşüm+tohum ile değişken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Ama araç da sihir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de kırılamazlık </a:t>
            </a:r>
            <a:r>
              <a:rPr sz="2000" b="1">
                <a:solidFill>
                  <a:srgbClr val="1F2D3A"/>
                </a:solidFill>
              </a:rPr>
              <a:t>vermez</a:t>
            </a:r>
            <a:r>
              <a:rPr sz="2000" b="0">
                <a:solidFill>
                  <a:srgbClr val="1F2D3A"/>
                </a:solidFill>
              </a:rPr>
              <a:t>, maliyet yükseltir.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İyi bilinen bir aracın kalıpları zamanla tanınabilir.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</a:t>
            </a:r>
            <a:r>
              <a:rPr sz="2000" b="1">
                <a:solidFill>
                  <a:srgbClr val="1F2D3A"/>
                </a:solidFill>
              </a:rPr>
              <a:t>çeşitlendirme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katmanlı savunma</a:t>
            </a:r>
            <a:r>
              <a:rPr sz="2000" b="0">
                <a:solidFill>
                  <a:srgbClr val="1F2D3A"/>
                </a:solidFill>
              </a:rPr>
              <a:t> (RASP, sunucu) yine şart.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Temel akış · tek dönüşüm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girdi: source.c → çıktı: variant.c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--Transform=Flatten --Functions=grant_access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--out=variant.c source.c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cc -o program variant.c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Temel akış · üç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`--Transform=...`</a:t>
            </a:r>
            <a:r>
              <a:rPr sz="2000" b="0">
                <a:solidFill>
                  <a:srgbClr val="1F2D3A"/>
                </a:solidFill>
              </a:rPr>
              <a:t> hangi dönüşüm (Flatten = düzleştirme, 9. hafta K-04)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`--Functions=...`</a:t>
            </a:r>
            <a:r>
              <a:rPr sz="2000" b="0">
                <a:solidFill>
                  <a:srgbClr val="1F2D3A"/>
                </a:solidFill>
              </a:rPr>
              <a:t> hangi fonksiyonlara (yalnız hassas olanlara — maliyet kuralı)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Çıktı yine C; </a:t>
            </a:r>
            <a:r>
              <a:rPr sz="2000" b="1">
                <a:solidFill>
                  <a:srgbClr val="1F2D3A"/>
                </a:solidFill>
              </a:rPr>
              <a:t>kendi derleyicinizle</a:t>
            </a:r>
            <a:r>
              <a:rPr sz="2000" b="0">
                <a:solidFill>
                  <a:srgbClr val="1F2D3A"/>
                </a:solidFill>
              </a:rPr>
              <a:t> derlersiniz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</a:t>
            </a:r>
            <a:r>
              <a:rPr sz="3000" b="1">
                <a:solidFill>
                  <a:srgbClr val="006D77"/>
                </a:solidFill>
                <a:latin typeface="Consolas"/>
              </a:rPr>
              <a:t>--Functions</a:t>
            </a:r>
            <a:r>
              <a:rPr sz="3000" b="1">
                <a:solidFill>
                  <a:srgbClr val="006D77"/>
                </a:solidFill>
              </a:rPr>
              <a:t> ile hedef seçiyoruz?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her fonksiyona uygulanırsa program </a:t>
            </a:r>
            <a:r>
              <a:rPr sz="2000" b="1">
                <a:solidFill>
                  <a:srgbClr val="1F2D3A"/>
                </a:solidFill>
              </a:rPr>
              <a:t>çok yavaşlar/şişer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hassas fonksiyonları (lisans, anahtar türetme, bütünlük) hedefleriz.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Bu, 9. haftadaki "maliyet kuralının" araçtaki hâli.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fonksiyonu gizlemeli miyim?"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1:</a:t>
            </a:r>
            <a:r>
              <a:rPr sz="2000" b="0">
                <a:solidFill>
                  <a:srgbClr val="1F2D3A"/>
                </a:solidFill>
              </a:rPr>
              <a:t> Bu fonksiyon hassas mı? (lisans, anahtar, bütünlük, denetim)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Hayır</a:t>
            </a:r>
            <a:r>
              <a:rPr sz="2000" b="0">
                <a:solidFill>
                  <a:srgbClr val="1F2D3A"/>
                </a:solidFill>
              </a:rPr>
              <a:t> → gizleme; maliyeti boşa harcama.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Evet</a:t>
            </a:r>
            <a:r>
              <a:rPr sz="2000" b="0">
                <a:solidFill>
                  <a:srgbClr val="1F2D3A"/>
                </a:solidFill>
              </a:rPr>
              <a:t> → devam.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fonksiyonu gizlemeli miyim?"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2:</a:t>
            </a:r>
            <a:r>
              <a:rPr sz="2000" b="0">
                <a:solidFill>
                  <a:srgbClr val="1F2D3A"/>
                </a:solidFill>
              </a:rPr>
              <a:t> Değeri yüksek mi?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</a:t>
            </a:r>
            <a:r>
              <a:rPr sz="2000" b="0">
                <a:solidFill>
                  <a:srgbClr val="1F2D3A"/>
                </a:solidFill>
              </a:rPr>
              <a:t> → EncodeLiterals + EncodeArithmetic + Flatten + AddOpaque.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Yüksek ve küçük</a:t>
            </a:r>
            <a:r>
              <a:rPr sz="2000" b="0">
                <a:solidFill>
                  <a:srgbClr val="1F2D3A"/>
                </a:solidFill>
              </a:rPr>
              <a:t> → yukarısı + Virtualize.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fonksiyonu gizlemeli miyim?"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3:</a:t>
            </a:r>
            <a:r>
              <a:rPr sz="2000" b="0">
                <a:solidFill>
                  <a:srgbClr val="1F2D3A"/>
                </a:solidFill>
              </a:rPr>
              <a:t> Her durumda: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Çeşitlendir (tohum)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 (boyut, süre, blok)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Birim testleriyle davranışı doğrula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S9/S15'e yaz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Karar akışı · tek bakış</a:t>
            </a:r>
          </a:p>
        </p:txBody>
      </p:sp>
      <p:pic>
        <p:nvPicPr>
          <p:cNvPr id="7" name="Picture 6" descr="h14-09-karar-ak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028" y="1325880"/>
            <a:ext cx="726163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Kaynaktan kaynağa gizleme nedir?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El ile gizlemeye göre üç avantaj?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Tigress derste neden dağıtılmaz?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Kaynak koda dönüşüm uygulanıp </a:t>
            </a:r>
            <a:r>
              <a:rPr sz="2000" b="1">
                <a:solidFill>
                  <a:srgbClr val="1F2D3A"/>
                </a:solidFill>
              </a:rPr>
              <a:t>yeni kaynak (yine C)</a:t>
            </a:r>
            <a:r>
              <a:rPr sz="2000" b="0">
                <a:solidFill>
                  <a:srgbClr val="1F2D3A"/>
                </a:solidFill>
              </a:rPr>
              <a:t> üretilir, sonra normal derlenir. Tigress C alır, gizlenmiş C verir.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Tekrarlanabilir/otomatik</a:t>
            </a:r>
            <a:r>
              <a:rPr sz="2000" b="0">
                <a:solidFill>
                  <a:srgbClr val="1F2D3A"/>
                </a:solidFill>
              </a:rPr>
              <a:t> (her build), </a:t>
            </a:r>
            <a:r>
              <a:rPr sz="2000" b="1">
                <a:solidFill>
                  <a:srgbClr val="1F2D3A"/>
                </a:solidFill>
              </a:rPr>
              <a:t>tutarlı ve ölçekli</a:t>
            </a:r>
            <a:r>
              <a:rPr sz="2000" b="0">
                <a:solidFill>
                  <a:srgbClr val="1F2D3A"/>
                </a:solidFill>
              </a:rPr>
              <a:t> (çok fonksiyon), </a:t>
            </a:r>
            <a:r>
              <a:rPr sz="2000" b="1">
                <a:solidFill>
                  <a:srgbClr val="1F2D3A"/>
                </a:solidFill>
              </a:rPr>
              <a:t>orijinal kaynak temiz kalır</a:t>
            </a:r>
            <a:r>
              <a:rPr sz="2000" b="0">
                <a:solidFill>
                  <a:srgbClr val="1F2D3A"/>
                </a:solidFill>
              </a:rPr>
              <a:t> + tohumla çeşitlendirme.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Lisans/kullanım koşulları</a:t>
            </a:r>
            <a:r>
              <a:rPr sz="2000" b="0">
                <a:solidFill>
                  <a:srgbClr val="1F2D3A"/>
                </a:solidFill>
              </a:rPr>
              <a:t>; herkes kendi indirir. Demolar Tigress yoksa </a:t>
            </a:r>
            <a:r>
              <a:rPr sz="2000" b="1">
                <a:solidFill>
                  <a:srgbClr val="1F2D3A"/>
                </a:solidFill>
              </a:rPr>
              <a:t>temiz türev/fallback</a:t>
            </a:r>
            <a:r>
              <a:rPr sz="2000" b="0">
                <a:solidFill>
                  <a:srgbClr val="1F2D3A"/>
                </a:solidFill>
              </a:rPr>
              <a:t> ile çalışır.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Dönüşüm aileleri ve hat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Dönüşümler = 9. hafta kuralları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dönüşümleri, 9. haftada </a:t>
            </a:r>
            <a:r>
              <a:rPr sz="2000" b="1">
                <a:solidFill>
                  <a:srgbClr val="1F2D3A"/>
                </a:solidFill>
              </a:rPr>
              <a:t>gördüğümüz</a:t>
            </a:r>
            <a:r>
              <a:rPr sz="2000" b="0">
                <a:solidFill>
                  <a:srgbClr val="1F2D3A"/>
                </a:solidFill>
              </a:rPr>
              <a:t> gizleme ailelerine karşılık gelir (K-01–K-12).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Grup grup görelim; her birini bir K-kuralına bağlayacağız.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 ↔ kural eşlemesi — şema</a:t>
            </a:r>
          </a:p>
        </p:txBody>
      </p:sp>
      <p:pic>
        <p:nvPicPr>
          <p:cNvPr id="7" name="Picture 6" descr="h14-03-donusum-esl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103" y="1325880"/>
            <a:ext cx="759948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akışı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Flatten:</a:t>
            </a:r>
            <a:r>
              <a:rPr sz="2000" b="0">
                <a:solidFill>
                  <a:srgbClr val="1F2D3A"/>
                </a:solidFill>
              </a:rPr>
              <a:t> kontrol akışını düzleştirir → </a:t>
            </a:r>
            <a:r>
              <a:rPr sz="2000" b="1">
                <a:solidFill>
                  <a:srgbClr val="1F2D3A"/>
                </a:solidFill>
              </a:rPr>
              <a:t>K-04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InitOpaque / AddOpaque / UpdateOpaque:</a:t>
            </a:r>
            <a:r>
              <a:rPr sz="2000" b="0">
                <a:solidFill>
                  <a:srgbClr val="1F2D3A"/>
                </a:solidFill>
              </a:rPr>
              <a:t> opak yüklem + sahte dal → </a:t>
            </a:r>
            <a:r>
              <a:rPr sz="2000" b="1">
                <a:solidFill>
                  <a:srgbClr val="1F2D3A"/>
                </a:solidFill>
              </a:rPr>
              <a:t>K-01, K-03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Sıra: önce </a:t>
            </a:r>
            <a:r>
              <a:rPr sz="2000" b="1">
                <a:solidFill>
                  <a:srgbClr val="1F2D3A"/>
                </a:solidFill>
              </a:rPr>
              <a:t>InitOpaque</a:t>
            </a:r>
            <a:r>
              <a:rPr sz="2000" b="0">
                <a:solidFill>
                  <a:srgbClr val="1F2D3A"/>
                </a:solidFill>
              </a:rPr>
              <a:t>, sonra </a:t>
            </a:r>
            <a:r>
              <a:rPr sz="2000" b="1">
                <a:solidFill>
                  <a:srgbClr val="1F2D3A"/>
                </a:solidFill>
              </a:rPr>
              <a:t>AddOpaque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Veri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EncodeArithmetic:</a:t>
            </a:r>
            <a:r>
              <a:rPr sz="2000" b="0">
                <a:solidFill>
                  <a:srgbClr val="1F2D3A"/>
                </a:solidFill>
              </a:rPr>
              <a:t> aritmetiği denk karmaşık ifadeyle (MBA) → </a:t>
            </a:r>
            <a:r>
              <a:rPr sz="2000" b="1">
                <a:solidFill>
                  <a:srgbClr val="1F2D3A"/>
                </a:solidFill>
              </a:rPr>
              <a:t>K-02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EncodeLiterals:</a:t>
            </a:r>
            <a:r>
              <a:rPr sz="2000" b="0">
                <a:solidFill>
                  <a:srgbClr val="1F2D3A"/>
                </a:solidFill>
              </a:rPr>
              <a:t> sabit ve dizeleri (string) kodlar (ucuz, neredeyse her zaman uygulanır) → </a:t>
            </a:r>
            <a:r>
              <a:rPr sz="2000" b="1">
                <a:solidFill>
                  <a:srgbClr val="1F2D3A"/>
                </a:solidFill>
              </a:rPr>
              <a:t>K-07, K-08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EncodeData:</a:t>
            </a:r>
            <a:r>
              <a:rPr sz="2000" b="0">
                <a:solidFill>
                  <a:srgbClr val="1F2D3A"/>
                </a:solidFill>
              </a:rPr>
              <a:t> değişken gösterimini kodlar → </a:t>
            </a:r>
            <a:r>
              <a:rPr sz="2000" b="1">
                <a:solidFill>
                  <a:srgbClr val="1F2D3A"/>
                </a:solidFill>
              </a:rPr>
              <a:t>K-09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Fonksiyon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Split / Merge:</a:t>
            </a:r>
            <a:r>
              <a:rPr sz="2000" b="0">
                <a:solidFill>
                  <a:srgbClr val="1F2D3A"/>
                </a:solidFill>
              </a:rPr>
              <a:t> fonksiyonları böler/birleştirir → </a:t>
            </a:r>
            <a:r>
              <a:rPr sz="2000" b="1">
                <a:solidFill>
                  <a:srgbClr val="1F2D3A"/>
                </a:solidFill>
              </a:rPr>
              <a:t>K-06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Virtualize:</a:t>
            </a:r>
            <a:r>
              <a:rPr sz="2000" b="0">
                <a:solidFill>
                  <a:srgbClr val="1F2D3A"/>
                </a:solidFill>
              </a:rPr>
              <a:t> fonksiyonu özel VM bayt koduna → </a:t>
            </a:r>
            <a:r>
              <a:rPr sz="2000" b="1">
                <a:solidFill>
                  <a:srgbClr val="1F2D3A"/>
                </a:solidFill>
              </a:rPr>
              <a:t>K-10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Jit:</a:t>
            </a:r>
            <a:r>
              <a:rPr sz="2000" b="0">
                <a:solidFill>
                  <a:srgbClr val="1F2D3A"/>
                </a:solidFill>
              </a:rPr>
              <a:t> kodu çalışma anında üretir; OS korumalarıyla dikkatli kullanılmalı → </a:t>
            </a:r>
            <a:r>
              <a:rPr sz="2000" b="1">
                <a:solidFill>
                  <a:srgbClr val="1F2D3A"/>
                </a:solidFill>
              </a:rPr>
              <a:t>K-12 (dinamik)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Analiz-önleme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AntiBranchAnalysis / AntiAliasAnalysis / AntiTaintAnalysis:</a:t>
            </a:r>
            <a:r>
              <a:rPr sz="2000" b="0">
                <a:solidFill>
                  <a:srgbClr val="1F2D3A"/>
                </a:solidFill>
              </a:rPr>
              <a:t> statik analiz tekniklerini zorlaştırır → önleyici aile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RandomFuns:</a:t>
            </a:r>
            <a:r>
              <a:rPr sz="2000" b="0">
                <a:solidFill>
                  <a:srgbClr val="1F2D3A"/>
                </a:solidFill>
              </a:rPr>
              <a:t> rastgele sahte fonksiyonlar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RndArgs:</a:t>
            </a:r>
            <a:r>
              <a:rPr sz="2000" b="0">
                <a:solidFill>
                  <a:srgbClr val="1F2D3A"/>
                </a:solidFill>
              </a:rPr>
              <a:t> sahte parametreler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Tohumla birleşince her yapı farklı → çeşitlendirme, </a:t>
            </a:r>
            <a:r>
              <a:rPr sz="2000" b="1">
                <a:solidFill>
                  <a:srgbClr val="1F2D3A"/>
                </a:solidFill>
              </a:rPr>
              <a:t>K-06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Uzayda/zamanda çeşitlendirme — şema</a:t>
            </a:r>
          </a:p>
        </p:txBody>
      </p:sp>
      <p:pic>
        <p:nvPicPr>
          <p:cNvPr id="7" name="Picture 6" descr="h14-05-cesitlendirme-tur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1849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Dönüşüm ↔ kural ·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7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896"/>
                <a:gridCol w="3819037"/>
                <a:gridCol w="2546024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Tigress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yapar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9. 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Düzleştirme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Opak yüklem/sahte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K-01, K-03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Aritmetik kodlama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Sabit/dize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K-07, K-08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Sanallaştırma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RandomFuns/RndArgs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Çeşitlendirme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Aileler ve maliyet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Ucuz:</a:t>
            </a:r>
            <a:r>
              <a:rPr sz="2000" b="0">
                <a:solidFill>
                  <a:srgbClr val="1F2D3A"/>
                </a:solidFill>
              </a:rPr>
              <a:t> EncodeArithmetic, EncodeLiterals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Orta:</a:t>
            </a:r>
            <a:r>
              <a:rPr sz="2000" b="0">
                <a:solidFill>
                  <a:srgbClr val="1F2D3A"/>
                </a:solidFill>
              </a:rPr>
              <a:t> Flatten, opak yüklemler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Pahalı:</a:t>
            </a:r>
            <a:r>
              <a:rPr sz="2000" b="0">
                <a:solidFill>
                  <a:srgbClr val="1F2D3A"/>
                </a:solidFill>
              </a:rPr>
              <a:t> Virtualize (onlarca kat yavaşlama)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yüzden Virtualize yalnız </a:t>
            </a:r>
            <a:r>
              <a:rPr sz="2000" b="1">
                <a:solidFill>
                  <a:srgbClr val="1F2D3A"/>
                </a:solidFill>
              </a:rPr>
              <a:t>küçük, kritik</a:t>
            </a:r>
            <a:r>
              <a:rPr sz="2000" b="0">
                <a:solidFill>
                  <a:srgbClr val="1F2D3A"/>
                </a:solidFill>
              </a:rPr>
              <a:t> fonksiyonlara;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 ile hedeflenir.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Bir dönüşüm, adım adım</a:t>
            </a:r>
          </a:p>
        </p:txBody>
      </p:sp>
      <p:pic>
        <p:nvPicPr>
          <p:cNvPr id="7" name="Picture 6" descr="transform-step-by-ste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02" y="1325880"/>
            <a:ext cx="1064829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Uç durum: tohum 0</a:t>
            </a:r>
          </a:p>
        </p:txBody>
      </p:sp>
      <p:pic>
        <p:nvPicPr>
          <p:cNvPr id="7" name="Picture 6" descr="transform-step-by-step--opaque-seed-zero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322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Dönüşümleri sırayla birleştirmek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"Tek teknik değil, birlikte"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9. haftanın en önemli kuralı.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Tigress'te bu, dönüşümleri </a:t>
            </a:r>
            <a:r>
              <a:rPr sz="2000" b="1">
                <a:solidFill>
                  <a:srgbClr val="1F2D3A"/>
                </a:solidFill>
              </a:rPr>
              <a:t>sırayla</a:t>
            </a:r>
            <a:r>
              <a:rPr sz="2000" b="0">
                <a:solidFill>
                  <a:srgbClr val="1F2D3A"/>
                </a:solidFill>
              </a:rPr>
              <a:t> uygulamak demektir.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Kavramsal 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--Transform=EncodeLiterals   --Functions=grant_access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--Transform=EncodeArithmetic --Functions=grant_access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--Transform=Flatten          --Functions=grant_access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--Transform=AddOpaque        --Functions=grant_access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--out=variant.c source.c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ne yapıyor?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denetimi (</a:t>
            </a:r>
            <a:r>
              <a:rPr sz="2000" b="0">
                <a:solidFill>
                  <a:srgbClr val="A1123F"/>
                </a:solidFill>
                <a:latin typeface="Consolas"/>
              </a:rPr>
              <a:t>grant_access</a:t>
            </a:r>
            <a:r>
              <a:rPr sz="2000" b="0">
                <a:solidFill>
                  <a:srgbClr val="1F2D3A"/>
                </a:solidFill>
              </a:rPr>
              <a:t>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Sabit/dize kodla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Aritmetiğini kodla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Düzleştir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Opak yüklemlerle güçlendir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= 9. haftada K-04'ün "güçlendirilmiş düzleştirme" dediği şeyin otomatik hâli.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Kaynaktan kaynağa hat</a:t>
            </a:r>
          </a:p>
        </p:txBody>
      </p:sp>
      <p:pic>
        <p:nvPicPr>
          <p:cNvPr id="7" name="Picture 6" descr="source-to-source-pipelin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5509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Uç durum: bozulmuş değişken</a:t>
            </a:r>
          </a:p>
        </p:txBody>
      </p:sp>
      <p:pic>
        <p:nvPicPr>
          <p:cNvPr id="7" name="Picture 6" descr="source-to-source-pipeline--edge-corrupted-varian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4946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Sıra ve test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 sırası sonucu </a:t>
            </a:r>
            <a:r>
              <a:rPr sz="2000" b="1">
                <a:solidFill>
                  <a:srgbClr val="1F2D3A"/>
                </a:solidFill>
              </a:rPr>
              <a:t>etkiler</a:t>
            </a:r>
            <a:r>
              <a:rPr sz="2000" b="0">
                <a:solidFill>
                  <a:srgbClr val="1F2D3A"/>
                </a:solidFill>
              </a:rPr>
              <a:t>; kimi sıra başarımı gereksiz bozar.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Kural:</a:t>
            </a:r>
            <a:r>
              <a:rPr sz="2000" b="0">
                <a:solidFill>
                  <a:srgbClr val="1F2D3A"/>
                </a:solidFill>
              </a:rPr>
              <a:t> her hattan sonra </a:t>
            </a:r>
            <a:r>
              <a:rPr sz="2000" b="1">
                <a:solidFill>
                  <a:srgbClr val="1F2D3A"/>
                </a:solidFill>
              </a:rPr>
              <a:t>birim testlerini</a:t>
            </a:r>
            <a:r>
              <a:rPr sz="2000" b="0">
                <a:solidFill>
                  <a:srgbClr val="1F2D3A"/>
                </a:solidFill>
              </a:rPr>
              <a:t> çalıştır (davranış korunmuş mu?) ve boyut/hız ölç.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davranışı </a:t>
            </a:r>
            <a:r>
              <a:rPr sz="2000" b="1">
                <a:solidFill>
                  <a:srgbClr val="1F2D3A"/>
                </a:solidFill>
              </a:rPr>
              <a:t>asla</a:t>
            </a:r>
            <a:r>
              <a:rPr sz="2000" b="0">
                <a:solidFill>
                  <a:srgbClr val="1F2D3A"/>
                </a:solidFill>
              </a:rPr>
              <a:t> değiştirmemeli; değiştiriyorsa hat yanlış.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12. haftadaki "S16 sonuçları"na bağlanır.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Adım adım örnek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adım güçlendirme — şema</a:t>
            </a:r>
          </a:p>
        </p:txBody>
      </p:sp>
      <p:pic>
        <p:nvPicPr>
          <p:cNvPr id="7" name="Picture 6" descr="h14-11-adim-adim-guclend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87" y="1325880"/>
            <a:ext cx="1004652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Başlangıç · source.c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grant_access(const char *token)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(token_is_valid(token)) return GRANTED;  /* tek dal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DENIED;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Korumasız: tek dal,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tek bayt yamasıyla atlanır.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0 · saldırgan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GRANTED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DENIED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Tersine derle → tek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Başarısızlık dalını başarıya çevir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Süre: dakikalar.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Katman katman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131"/>
                <a:gridCol w="3637178"/>
                <a:gridCol w="4336635"/>
                <a:gridCol w="1818589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değişir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Maliyet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bayt yamasıyla atlanır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GRANTED/DENIED düz görünmez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Çok düşük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Karşılaştırma karmaşık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Düşük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dal görünmez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Sahte dallar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 (gerekirse)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VM bayt kodu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Yüksek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adım saldırıyı biraz daha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 yapar.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adım bir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ekler.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Nerede duracağınız: </a:t>
            </a:r>
            <a:r>
              <a:rPr sz="2000" b="1">
                <a:solidFill>
                  <a:srgbClr val="1F2D3A"/>
                </a:solidFill>
              </a:rPr>
              <a:t>varlık değeri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ölçtüğünüz maliyet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Adım 5 (Virtualize) çoğu denetim için gereksiz.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Sıranın etkisi: kapsam ve imza</a:t>
            </a:r>
          </a:p>
        </p:txBody>
      </p:sp>
      <p:pic>
        <p:nvPicPr>
          <p:cNvPr id="7" name="Picture 6" descr="transform-stacking-orde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3545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Uç durum: imza en başta</a:t>
            </a:r>
          </a:p>
        </p:txBody>
      </p:sp>
      <p:pic>
        <p:nvPicPr>
          <p:cNvPr id="7" name="Picture 6" descr="transform-stacking-order--sign-too-early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35457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tablo → S9'un ta kendisi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"adım / dönüşüm / ne değişir / maliyet" tablosu,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projede </a:t>
            </a:r>
            <a:r>
              <a:rPr sz="2000" b="1">
                <a:solidFill>
                  <a:srgbClr val="1F2D3A"/>
                </a:solidFill>
              </a:rPr>
              <a:t>S9 koruma tablonuzun</a:t>
            </a:r>
            <a:r>
              <a:rPr sz="2000" b="0">
                <a:solidFill>
                  <a:srgbClr val="1F2D3A"/>
                </a:solidFill>
              </a:rPr>
              <a:t> doğrudan karşılığıdır.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O-LLVM (derleyici tabanlı)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Obfuscator-LLVM:</a:t>
            </a:r>
            <a:r>
              <a:rPr sz="2000" b="0">
                <a:solidFill>
                  <a:srgbClr val="1F2D3A"/>
                </a:solidFill>
              </a:rPr>
              <a:t> dönüşümleri </a:t>
            </a:r>
            <a:r>
              <a:rPr sz="2000" b="1">
                <a:solidFill>
                  <a:srgbClr val="1F2D3A"/>
                </a:solidFill>
              </a:rPr>
              <a:t>derleme sırasında</a:t>
            </a:r>
            <a:r>
              <a:rPr sz="2000" b="0">
                <a:solidFill>
                  <a:srgbClr val="1F2D3A"/>
                </a:solidFill>
              </a:rPr>
              <a:t> uygular.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Kaynaktan kaynağa değil; LLVM ara temsili üstünde.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 K-11. Tigress'e bir alternatif.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 mi, O-LLVM mi?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339"/>
                <a:gridCol w="4676372"/>
                <a:gridCol w="2805823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Tigress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O-LLVM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Kaynak (C→C)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Derleyici (IR)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Görünürlük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Gizli kaynağı görebilirsin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Derleme adımı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Dönüşüm zenginliği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Çok (Virtualize dahil)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Daha sınırlı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Ortak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iyi bilinir → kalıpları tanınabilir.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</a:t>
            </a:r>
            <a:r>
              <a:rPr sz="2000" b="1">
                <a:solidFill>
                  <a:srgbClr val="1F2D3A"/>
                </a:solidFill>
              </a:rPr>
              <a:t>çeşitlendirme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katmanlı savunma</a:t>
            </a:r>
            <a:r>
              <a:rPr sz="2000" b="0">
                <a:solidFill>
                  <a:srgbClr val="1F2D3A"/>
                </a:solidFill>
              </a:rPr>
              <a:t> ister.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kırılamazlık </a:t>
            </a:r>
            <a:r>
              <a:rPr sz="2000" b="1">
                <a:solidFill>
                  <a:srgbClr val="1F2D3A"/>
                </a:solidFill>
              </a:rPr>
              <a:t>vermez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Flatten, EncodeArithmetic, Virtualize hangi K-kurallarına karşılık?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Neden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 ile hedef seçilir?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Her hattan sonra </a:t>
            </a:r>
            <a:r>
              <a:rPr sz="2000" b="1">
                <a:solidFill>
                  <a:srgbClr val="1F2D3A"/>
                </a:solidFill>
              </a:rPr>
              <a:t>mutlaka</a:t>
            </a:r>
            <a:r>
              <a:rPr sz="2000" b="0">
                <a:solidFill>
                  <a:srgbClr val="1F2D3A"/>
                </a:solidFill>
              </a:rPr>
              <a:t> yapılacak iki şey?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Flatten</a:t>
            </a:r>
            <a:r>
              <a:rPr sz="2000" b="0">
                <a:solidFill>
                  <a:srgbClr val="1F2D3A"/>
                </a:solidFill>
              </a:rPr>
              <a:t> = kontrol akışı düzleştirme; </a:t>
            </a:r>
            <a:r>
              <a:rPr sz="2000" b="1">
                <a:solidFill>
                  <a:srgbClr val="1F2D3A"/>
                </a:solidFill>
              </a:rPr>
              <a:t>EncodeArithmetic</a:t>
            </a:r>
            <a:r>
              <a:rPr sz="2000" b="0">
                <a:solidFill>
                  <a:srgbClr val="1F2D3A"/>
                </a:solidFill>
              </a:rPr>
              <a:t> = aritmetik/veri gizleme; </a:t>
            </a:r>
            <a:r>
              <a:rPr sz="2000" b="1">
                <a:solidFill>
                  <a:srgbClr val="1F2D3A"/>
                </a:solidFill>
              </a:rPr>
              <a:t>Virtualize</a:t>
            </a:r>
            <a:r>
              <a:rPr sz="2000" b="0">
                <a:solidFill>
                  <a:srgbClr val="1F2D3A"/>
                </a:solidFill>
              </a:rPr>
              <a:t> = sanallaştırma (en güçlü, en pahalı).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Her fonksiyonu gizlemek maliyeti/performansı </a:t>
            </a:r>
            <a:r>
              <a:rPr sz="2000" b="1">
                <a:solidFill>
                  <a:srgbClr val="1F2D3A"/>
                </a:solidFill>
              </a:rPr>
              <a:t>patlatır</a:t>
            </a:r>
            <a:r>
              <a:rPr sz="2000" b="0">
                <a:solidFill>
                  <a:srgbClr val="1F2D3A"/>
                </a:solidFill>
              </a:rPr>
              <a:t>; yalnız </a:t>
            </a:r>
            <a:r>
              <a:rPr sz="2000" b="1">
                <a:solidFill>
                  <a:srgbClr val="1F2D3A"/>
                </a:solidFill>
              </a:rPr>
              <a:t>hassas</a:t>
            </a:r>
            <a:r>
              <a:rPr sz="2000" b="0">
                <a:solidFill>
                  <a:srgbClr val="1F2D3A"/>
                </a:solidFill>
              </a:rPr>
              <a:t> fonksiyonları seçmek dayanıklılığı oraya yoğunlaştırır.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(1) </a:t>
            </a:r>
            <a:r>
              <a:rPr sz="2000" b="1">
                <a:solidFill>
                  <a:srgbClr val="1F2D3A"/>
                </a:solidFill>
              </a:rPr>
              <a:t>Davranışı test et</a:t>
            </a:r>
            <a:r>
              <a:rPr sz="2000" b="0">
                <a:solidFill>
                  <a:srgbClr val="1F2D3A"/>
                </a:solidFill>
              </a:rPr>
              <a:t> (birim testi geçmeli), (2) </a:t>
            </a:r>
            <a:r>
              <a:rPr sz="2000" b="1">
                <a:solidFill>
                  <a:srgbClr val="1F2D3A"/>
                </a:solidFill>
              </a:rPr>
              <a:t>maliyeti ölç</a:t>
            </a:r>
            <a:r>
              <a:rPr sz="2000" b="0">
                <a:solidFill>
                  <a:srgbClr val="1F2D3A"/>
                </a:solidFill>
              </a:rPr>
              <a:t> (boyut/hız/komut sayısı, önce-sonra).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Çeşitlendirme ve ölçme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 2'yi hatırla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kopyada işe yarayan saldırı, bütün kopyalarda işe yaramasın.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 bir kopyayı kırıp yamayı </a:t>
            </a:r>
            <a:r>
              <a:rPr sz="2000" b="1">
                <a:solidFill>
                  <a:srgbClr val="1F2D3A"/>
                </a:solidFill>
              </a:rPr>
              <a:t>herkese</a:t>
            </a:r>
            <a:r>
              <a:rPr sz="2000" b="0">
                <a:solidFill>
                  <a:srgbClr val="1F2D3A"/>
                </a:solidFill>
              </a:rPr>
              <a:t> dağıtabiliyorsa, bir kırık her yeri açar.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kaynaktan </a:t>
            </a:r>
            <a:r>
              <a:rPr sz="2000" b="1">
                <a:solidFill>
                  <a:srgbClr val="1F2D3A"/>
                </a:solidFill>
              </a:rPr>
              <a:t>davranışça eş, yapıca farklı</a:t>
            </a:r>
            <a:r>
              <a:rPr sz="2000" b="0">
                <a:solidFill>
                  <a:srgbClr val="1F2D3A"/>
                </a:solidFill>
              </a:rPr>
              <a:t> binary dosyalar.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bunu bir </a:t>
            </a:r>
            <a:r>
              <a:rPr sz="2000" b="1">
                <a:solidFill>
                  <a:srgbClr val="1F2D3A"/>
                </a:solidFill>
              </a:rPr>
              <a:t>tohum</a:t>
            </a:r>
            <a:r>
              <a:rPr sz="2000" b="0">
                <a:solidFill>
                  <a:srgbClr val="1F2D3A"/>
                </a:solidFill>
              </a:rPr>
              <a:t> ile yapar: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dönüşümler + farklı tohum → opak yüklem, sahte dal, durum değerleri </a:t>
            </a:r>
            <a:r>
              <a:rPr sz="2000" b="1">
                <a:solidFill>
                  <a:srgbClr val="1F2D3A"/>
                </a:solidFill>
              </a:rPr>
              <a:t>değişir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tohum, iki farklı binary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--Seed=1001 --Transform=Flatten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--Functions=grant_access --out=gizli_a.c source.c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--Seed=2002 --Transform=Flatten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--Functions=grant_access --out=gizli_b.c source.c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gizli_a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gizli_b</a:t>
            </a:r>
            <a:r>
              <a:rPr sz="2000" b="0">
                <a:solidFill>
                  <a:srgbClr val="1F2D3A"/>
                </a:solidFill>
              </a:rPr>
              <a:t> aynı işi yapar; makine kodları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tür çeşitlendirme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Uzayda:</a:t>
            </a:r>
            <a:r>
              <a:rPr sz="2000" b="0">
                <a:solidFill>
                  <a:srgbClr val="1F2D3A"/>
                </a:solidFill>
              </a:rPr>
              <a:t> farklı kullanıcı/cihaza farklı tohumlu kopya → bir kopyanın saldırısı diğerinde çalışmaz.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Zamanda:</a:t>
            </a:r>
            <a:r>
              <a:rPr sz="2000" b="0">
                <a:solidFill>
                  <a:srgbClr val="1F2D3A"/>
                </a:solidFill>
              </a:rPr>
              <a:t> her sürüm yeni tohum → eski saldırı yeni sürümde bozulur.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10. haftadaki anahtar/sürüm yenilemeyle birlikte çalışır.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Tohumla çeşitlendirme</a:t>
            </a:r>
          </a:p>
        </p:txBody>
      </p:sp>
      <p:pic>
        <p:nvPicPr>
          <p:cNvPr id="7" name="Picture 6" descr="diversification-seed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558" y="1325880"/>
            <a:ext cx="61485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Uç durum: unutulan tohum</a:t>
            </a:r>
          </a:p>
        </p:txBody>
      </p:sp>
      <p:pic>
        <p:nvPicPr>
          <p:cNvPr id="7" name="Picture 6" descr="diversification-seeds--edge-same-seed-twic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271" y="1325880"/>
            <a:ext cx="78971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neyi engeller?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Gizlemenin </a:t>
            </a:r>
            <a:r>
              <a:rPr sz="2000" b="1">
                <a:solidFill>
                  <a:srgbClr val="1F2D3A"/>
                </a:solidFill>
              </a:rPr>
              <a:t>gücünü</a:t>
            </a:r>
            <a:r>
              <a:rPr sz="2000" b="0">
                <a:solidFill>
                  <a:srgbClr val="1F2D3A"/>
                </a:solidFill>
              </a:rPr>
              <a:t> artırmaz (bir kopyayı kırmak yine mümkün).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</a:t>
            </a:r>
            <a:r>
              <a:rPr sz="2000" b="1">
                <a:solidFill>
                  <a:srgbClr val="1F2D3A"/>
                </a:solidFill>
              </a:rPr>
              <a:t>ölçeklenmesini</a:t>
            </a:r>
            <a:r>
              <a:rPr sz="2000" b="0">
                <a:solidFill>
                  <a:srgbClr val="1F2D3A"/>
                </a:solidFill>
              </a:rPr>
              <a:t> engeller.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RandomFuns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RndArgs</a:t>
            </a:r>
            <a:r>
              <a:rPr sz="2000" b="0">
                <a:solidFill>
                  <a:srgbClr val="1F2D3A"/>
                </a:solidFill>
              </a:rPr>
              <a:t> de tohumla birleşince yapıyı değiştirir.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etkinliği · ölçüt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kaynağı iki tohumla derle.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Korunan fonksiyonların </a:t>
            </a:r>
            <a:r>
              <a:rPr sz="2000" b="1">
                <a:solidFill>
                  <a:srgbClr val="1F2D3A"/>
                </a:solidFill>
              </a:rPr>
              <a:t>bayt farkını</a:t>
            </a:r>
            <a:r>
              <a:rPr sz="2000" b="0">
                <a:solidFill>
                  <a:srgbClr val="1F2D3A"/>
                </a:solidFill>
              </a:rPr>
              <a:t> ölç.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 ne kadar yüksekse, bir saldırının diğerinde çalışma olasılığı o kadar düşük.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Ölçütü S9'a yaz.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Gizlemeyi ölçmek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Tigress'in öğretim değeri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9. haftada gizlemeyi dört boyutta (güç, dayanıklılık, gizlilik, maliyet) ölçmeyi öğrendik.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bu ölçümleri </a:t>
            </a:r>
            <a:r>
              <a:rPr sz="2000" b="1">
                <a:solidFill>
                  <a:srgbClr val="1F2D3A"/>
                </a:solidFill>
              </a:rPr>
              <a:t>somut</a:t>
            </a:r>
            <a:r>
              <a:rPr sz="2000" b="0">
                <a:solidFill>
                  <a:srgbClr val="1F2D3A"/>
                </a:solidFill>
              </a:rPr>
              <a:t> yapmanızı sağlar: aynı programı gizle, önce/sonra ölç.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Maliyet ölçümü (kolay, zorunlu)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hat için ölç ve S9/S15'e yaz: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552"/>
                <a:gridCol w="733398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Nasıl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size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ls -l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Çalışma süresi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Aynı girdiyle N kez, ortalama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CFG karmaşıklığı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Tersine derleyicide temel blok sayısı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Maliyet ölçümü · komut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 ./program_temiz ./program_gizli   # boyut farkı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süre: aynı girdiyle N kez çalıştır, ortalamayı karşılaştır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Basit ama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üretir.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Maliyet · örnek tablo (Hat A ve Hat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Hat A:</a:t>
            </a:r>
            <a:r>
              <a:rPr sz="1800" b="0">
                <a:solidFill>
                  <a:srgbClr val="1F2D3A"/>
                </a:solidFill>
              </a:rPr>
              <a:t> EncodeLiterals + EncodeArithmetic (hafif) · </a:t>
            </a:r>
            <a:r>
              <a:rPr sz="1800" b="1">
                <a:solidFill>
                  <a:srgbClr val="1F2D3A"/>
                </a:solidFill>
              </a:rPr>
              <a:t>Hat B:</a:t>
            </a:r>
            <a:r>
              <a:rPr sz="1800" b="0">
                <a:solidFill>
                  <a:srgbClr val="1F2D3A"/>
                </a:solidFill>
              </a:rPr>
              <a:t> Hat A + Flatten + AddOpaque (ağır)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39696"/>
          <a:ext cx="9092945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1818589"/>
                <a:gridCol w="1818589"/>
                <a:gridCol w="1818589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Temiz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 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 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103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131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1.00×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1.05×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1.80×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Blok (hedef fn.)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Hassas dize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00507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Rakamlar örnek; siz </a:t>
            </a:r>
            <a:r>
              <a:rPr sz="1800" b="1">
                <a:solidFill>
                  <a:srgbClr val="1F2D3A"/>
                </a:solidFill>
              </a:rPr>
              <a:t>kendi</a:t>
            </a:r>
            <a:r>
              <a:rPr sz="1800" b="0">
                <a:solidFill>
                  <a:srgbClr val="1F2D3A"/>
                </a:solidFill>
              </a:rPr>
              <a:t> ölçtüğünüzü yazarsınız.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Maliyet · ham ölçüm çıktısı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program_temiz: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boyut: 100 KB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işlem süresi: 1.00× (referans)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grant_access temel blok: 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90241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boyut: 103 KB   (+%3)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süre:  1.05×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blok:  7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strings hassas dize: 0  (öncesi 3)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54602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boyut: 131 KB   (+%31)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süre:  1.80×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blok:  40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Ölçme: boyut, süre, komut, benzerlik</a:t>
            </a:r>
          </a:p>
        </p:txBody>
      </p:sp>
      <p:pic>
        <p:nvPicPr>
          <p:cNvPr id="7" name="Picture 6" descr="obfuscation-measuremen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87804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Uç durum: iki "tohum" de orijinal</a:t>
            </a:r>
          </a:p>
        </p:txBody>
      </p:sp>
      <p:pic>
        <p:nvPicPr>
          <p:cNvPr id="7" name="Picture 6" descr="obfuscation-measurement--edge-both-zero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25" y="1325880"/>
            <a:ext cx="1067504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Dayanıklılık ölçümü (ileri, kavram)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Dayanıklılık = otomatik araca (sembolik yürütme) direnç.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hafta: "iddia değil, ölçülen bir nicelik".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bu araştırmanın </a:t>
            </a:r>
            <a:r>
              <a:rPr sz="2000" b="1">
                <a:solidFill>
                  <a:srgbClr val="1F2D3A"/>
                </a:solidFill>
              </a:rPr>
              <a:t>merkezinde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Banescu vd. · Tigress + KLEE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dönüşümlerinin </a:t>
            </a:r>
            <a:r>
              <a:rPr sz="2000" b="1">
                <a:solidFill>
                  <a:srgbClr val="1F2D3A"/>
                </a:solidFill>
              </a:rPr>
              <a:t>sembolik yürütmeye</a:t>
            </a:r>
            <a:r>
              <a:rPr sz="2000" b="0">
                <a:solidFill>
                  <a:srgbClr val="1F2D3A"/>
                </a:solidFill>
              </a:rPr>
              <a:t> ne kadar dayandığını ölçen çalışma. Bulgular: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dönüşüm (yalnız Flatten) → çoğu zaman geri açılır.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Dönüşümleri </a:t>
            </a:r>
            <a:r>
              <a:rPr sz="2000" b="1">
                <a:solidFill>
                  <a:srgbClr val="1F2D3A"/>
                </a:solidFill>
              </a:rPr>
              <a:t>birleştirmek</a:t>
            </a:r>
            <a:r>
              <a:rPr sz="2000" b="0">
                <a:solidFill>
                  <a:srgbClr val="1F2D3A"/>
                </a:solidFill>
              </a:rPr>
              <a:t> + durum uzayını büyütmek → çözücüyü üstel zorlar.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de artar.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Dayanıklılık ↔ maliyet — şema</a:t>
            </a:r>
          </a:p>
        </p:txBody>
      </p:sp>
      <p:pic>
        <p:nvPicPr>
          <p:cNvPr id="7" name="Picture 6" descr="h14-08-dayaniklilik-maliy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8112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 için çıkarım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Dayanıklılık ve maliyet </a:t>
            </a:r>
            <a:r>
              <a:rPr sz="2000" b="1">
                <a:solidFill>
                  <a:srgbClr val="1F2D3A"/>
                </a:solidFill>
              </a:rPr>
              <a:t>ödünleşir</a:t>
            </a:r>
            <a:r>
              <a:rPr sz="2000" b="0">
                <a:solidFill>
                  <a:srgbClr val="1F2D3A"/>
                </a:solidFill>
              </a:rPr>
              <a:t> (9. haftadaki gibi).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"Güçlü" deme; </a:t>
            </a:r>
            <a:r>
              <a:rPr sz="2000" b="1">
                <a:solidFill>
                  <a:srgbClr val="1F2D3A"/>
                </a:solidFill>
              </a:rPr>
              <a:t>"şu araca karşı şu boyutta problemi şu sürede çözdürmedi"</a:t>
            </a:r>
            <a:r>
              <a:rPr sz="2000" b="0">
                <a:solidFill>
                  <a:srgbClr val="1F2D3A"/>
                </a:solidFill>
              </a:rPr>
              <a:t> de.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Ölçüm kuralı (S9/S15)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gizleme kararını ölçüyle savun: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"Flatten + AddOpaque hattı boyutu %30 büyüttü, işlemi 1.8× yavaşlattı; hedef fonksiyonun temel blok sayısı 8 katına çıktı."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9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Ölçülmemiş gizleme = değerlendiricide (12. hafta) </a:t>
            </a:r>
            <a:r>
              <a:rPr sz="2000" b="1">
                <a:solidFill>
                  <a:srgbClr val="1F2D3A"/>
                </a:solidFill>
              </a:rPr>
              <a:t>iddia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 değeri </a:t>
            </a:r>
            <a:r>
              <a:rPr sz="2000" b="1">
                <a:solidFill>
                  <a:srgbClr val="1F2D3A"/>
                </a:solidFill>
              </a:rPr>
              <a:t>düşük</a:t>
            </a:r>
            <a:r>
              <a:rPr sz="2000" b="0">
                <a:solidFill>
                  <a:srgbClr val="1F2D3A"/>
                </a:solidFill>
              </a:rPr>
              <a:t> → Hat A yeter.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 değeri </a:t>
            </a:r>
            <a:r>
              <a:rPr sz="2000" b="1">
                <a:solidFill>
                  <a:srgbClr val="1F2D3A"/>
                </a:solidFill>
              </a:rPr>
              <a:t>yüksek</a:t>
            </a:r>
            <a:r>
              <a:rPr sz="2000" b="0">
                <a:solidFill>
                  <a:srgbClr val="1F2D3A"/>
                </a:solidFill>
              </a:rPr>
              <a:t> → Hat B (maliyeti kabul et) + çeşitlendirme.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Karar sayılara dayanır, hisse değil.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ölçümü (örnek)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 B'yi tohum 1001 ve 2002 ile üret.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Korunan fonksiyonun bayt farkı: </a:t>
            </a:r>
            <a:r>
              <a:rPr sz="2000" b="1">
                <a:solidFill>
                  <a:srgbClr val="1F2D3A"/>
                </a:solidFill>
              </a:rPr>
              <a:t>%92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Yorum: bir kopyaya yazılan yama diğerinde büyük olasılıkla çalışmaz.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Tohum çeşitlendirmeyi nasıl sağlar?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Uzayda ve zamanda çeşitlendirme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Banescu vd.'nin ana kuralı? (dayanıklılık ↔ maliyet)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Aynı kaynağı farklı </a:t>
            </a:r>
            <a:r>
              <a:rPr sz="2000" b="1">
                <a:solidFill>
                  <a:srgbClr val="1F2D3A"/>
                </a:solidFill>
              </a:rPr>
              <a:t>tohum</a:t>
            </a:r>
            <a:r>
              <a:rPr sz="2000" b="0">
                <a:solidFill>
                  <a:srgbClr val="1F2D3A"/>
                </a:solidFill>
              </a:rPr>
              <a:t>la gizleyince araç farklı rastgele seçimler yapar → her build </a:t>
            </a:r>
            <a:r>
              <a:rPr sz="2000" b="1">
                <a:solidFill>
                  <a:srgbClr val="1F2D3A"/>
                </a:solidFill>
              </a:rPr>
              <a:t>farklı binary</a:t>
            </a:r>
            <a:r>
              <a:rPr sz="2000" b="0">
                <a:solidFill>
                  <a:srgbClr val="1F2D3A"/>
                </a:solidFill>
              </a:rPr>
              <a:t> (aynı davranış).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Uzayda:</a:t>
            </a:r>
            <a:r>
              <a:rPr sz="2000" b="0">
                <a:solidFill>
                  <a:srgbClr val="1F2D3A"/>
                </a:solidFill>
              </a:rPr>
              <a:t> farklı kopyalar/kullanıcılar farklı (bir kırık herkesi kırmaz). </a:t>
            </a:r>
            <a:r>
              <a:rPr sz="2000" b="1">
                <a:solidFill>
                  <a:srgbClr val="1F2D3A"/>
                </a:solidFill>
              </a:rPr>
              <a:t>Zamanda:</a:t>
            </a:r>
            <a:r>
              <a:rPr sz="2000" b="0">
                <a:solidFill>
                  <a:srgbClr val="1F2D3A"/>
                </a:solidFill>
              </a:rPr>
              <a:t> sürümler arası değişir (kırık kalıcı olmaz).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Daha güçlü gizleme daha çok </a:t>
            </a:r>
            <a:r>
              <a:rPr sz="2000" b="1">
                <a:solidFill>
                  <a:srgbClr val="1F2D3A"/>
                </a:solidFill>
              </a:rPr>
              <a:t>dayanıklılık</a:t>
            </a:r>
            <a:r>
              <a:rPr sz="2000" b="0">
                <a:solidFill>
                  <a:srgbClr val="1F2D3A"/>
                </a:solidFill>
              </a:rPr>
              <a:t> ama daha çok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; koruma varlığın </a:t>
            </a:r>
            <a:r>
              <a:rPr sz="2000" b="1">
                <a:solidFill>
                  <a:srgbClr val="1F2D3A"/>
                </a:solidFill>
              </a:rPr>
              <a:t>değeriyle orantılı</a:t>
            </a:r>
            <a:r>
              <a:rPr sz="2000" b="0">
                <a:solidFill>
                  <a:srgbClr val="1F2D3A"/>
                </a:solidFill>
              </a:rPr>
              <a:t> seçilir.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Sınıf içi akış (adım adım)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Sınıf içi akış — şema</a:t>
            </a:r>
          </a:p>
        </p:txBody>
      </p:sp>
      <p:pic>
        <p:nvPicPr>
          <p:cNvPr id="7" name="Picture 6" descr="h14-12-sinif-ici-ak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58" y="1325880"/>
            <a:ext cx="100079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 yapacağız?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Kendi küçük, sentetik programınızı: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 → davranışı doğrula → karşılaştır → ölç → çeşitlendir → raporla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Adım adım gidelim.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Hazırlık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Küçük, sentetik bir program yaz (ör. </a:t>
            </a:r>
            <a:r>
              <a:rPr sz="2000" b="0">
                <a:solidFill>
                  <a:srgbClr val="A1123F"/>
                </a:solidFill>
                <a:latin typeface="Consolas"/>
              </a:rPr>
              <a:t>grant_access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Birim testleriyle </a:t>
            </a:r>
            <a:r>
              <a:rPr sz="2000" b="1">
                <a:solidFill>
                  <a:srgbClr val="1F2D3A"/>
                </a:solidFill>
              </a:rPr>
              <a:t>doğru çalıştığını</a:t>
            </a:r>
            <a:r>
              <a:rPr sz="2000" b="0">
                <a:solidFill>
                  <a:srgbClr val="1F2D3A"/>
                </a:solidFill>
              </a:rPr>
              <a:t> göster.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senin "temiz" temel çizgin.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Gizle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--Transform=EncodeLiterals --Transform=EncodeArithmetic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--Functions=grant_access --out=variant.c source.c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cc -o program_gizli variant.c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dönüşüm hattı uygula.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Davranışı doğrula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birim testlerini </a:t>
            </a:r>
            <a:r>
              <a:rPr sz="2000" b="1">
                <a:solidFill>
                  <a:srgbClr val="1F2D3A"/>
                </a:solidFill>
              </a:rPr>
              <a:t>gizli</a:t>
            </a:r>
            <a:r>
              <a:rPr sz="2000" b="0">
                <a:solidFill>
                  <a:srgbClr val="1F2D3A"/>
                </a:solidFill>
              </a:rPr>
              <a:t> sürümde çalıştır.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 </a:t>
            </a:r>
            <a:r>
              <a:rPr sz="2000" b="1">
                <a:solidFill>
                  <a:srgbClr val="1F2D3A"/>
                </a:solidFill>
              </a:rPr>
              <a:t>birebir aynı</a:t>
            </a:r>
            <a:r>
              <a:rPr sz="2000" b="0">
                <a:solidFill>
                  <a:srgbClr val="1F2D3A"/>
                </a:solidFill>
              </a:rPr>
              <a:t> olmalı.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Farklıysa: hat yanlış → düzelt.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 davranışı asla değiştirmez.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Karşılaştır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Tersine derleyicide (Ghidra/objdump) temiz ve gizli sürümü aç.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Kontrol akışını karşılaştır.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Temel blok sayısındaki </a:t>
            </a:r>
            <a:r>
              <a:rPr sz="2000" b="1">
                <a:solidFill>
                  <a:srgbClr val="1F2D3A"/>
                </a:solidFill>
              </a:rPr>
              <a:t>artışı</a:t>
            </a:r>
            <a:r>
              <a:rPr sz="2000" b="0">
                <a:solidFill>
                  <a:srgbClr val="1F2D3A"/>
                </a:solidFill>
              </a:rPr>
              <a:t> not et.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Ölç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 ./program_temiz ./program_gizli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süre: aynı girdiyle N kez çalıştır, ortalamayı karşılaştır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Boyut ve süre farkını yaz.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· Çeşitlendir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hattı </a:t>
            </a:r>
            <a:r>
              <a:rPr sz="2000" b="1">
                <a:solidFill>
                  <a:srgbClr val="1F2D3A"/>
                </a:solidFill>
              </a:rPr>
              <a:t>iki farklı tohumla</a:t>
            </a:r>
            <a:r>
              <a:rPr sz="2000" b="0">
                <a:solidFill>
                  <a:srgbClr val="1F2D3A"/>
                </a:solidFill>
              </a:rPr>
              <a:t> çalıştır.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binary'nin farklı olduğunu göster (bayt farkı).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--Seed=1001 ... --out=gizli_a.c source.c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--Seed=2002 ... --out=gizli_b.c source.c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Raporla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Bulguları bir tabloya dök: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9274802" cy="83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447"/>
                <a:gridCol w="1636730"/>
                <a:gridCol w="1454871"/>
                <a:gridCol w="1454871"/>
                <a:gridCol w="2727883"/>
              </a:tblGrid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Blok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Tohum farkı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8173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tablo doğrudan </a:t>
            </a:r>
            <a:r>
              <a:rPr sz="2000" b="1">
                <a:solidFill>
                  <a:srgbClr val="1F2D3A"/>
                </a:solidFill>
              </a:rPr>
              <a:t>S9/S15</a:t>
            </a:r>
            <a:r>
              <a:rPr sz="2000" b="0">
                <a:solidFill>
                  <a:srgbClr val="1F2D3A"/>
                </a:solidFill>
              </a:rPr>
              <a:t>'e girer.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Etik ve güvenli kullanım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kodunuza.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 program bilgisayara </a:t>
            </a:r>
            <a:r>
              <a:rPr sz="2000" b="1">
                <a:solidFill>
                  <a:srgbClr val="1F2D3A"/>
                </a:solidFill>
              </a:rPr>
              <a:t>zarar vermez</a:t>
            </a:r>
            <a:r>
              <a:rPr sz="2000" b="0">
                <a:solidFill>
                  <a:srgbClr val="1F2D3A"/>
                </a:solidFill>
              </a:rPr>
              <a:t>: sistem ayarı değiştirmez, ağa dokunmaz.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değerler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Sınıf içi akış</a:t>
            </a:r>
          </a:p>
        </p:txBody>
      </p:sp>
      <p:pic>
        <p:nvPicPr>
          <p:cNvPr id="7" name="Picture 6" descr="in-class-flow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355899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Uç durum: uyuşmazlık + tekrar tohum</a:t>
            </a:r>
          </a:p>
        </p:txBody>
      </p:sp>
      <p:pic>
        <p:nvPicPr>
          <p:cNvPr id="7" name="Picture 6" descr="in-class-flow--edge-mismatch-and-same-se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51878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Sınıf içi · özet akış</a:t>
            </a:r>
          </a:p>
        </p:txBody>
      </p:sp>
      <p:pic>
        <p:nvPicPr>
          <p:cNvPr id="7" name="Picture 6" descr="h14-06-test-ve-olc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96797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adım akış · neden bu sıra?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davranış</a:t>
            </a:r>
            <a:r>
              <a:rPr sz="2000" b="0">
                <a:solidFill>
                  <a:srgbClr val="1F2D3A"/>
                </a:solidFill>
              </a:rPr>
              <a:t> (testler) — bozulmadığından emin ol.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(CFG, ölçüm) — kazancı göster.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</a:t>
            </a:r>
            <a:r>
              <a:rPr sz="2000" b="1">
                <a:solidFill>
                  <a:srgbClr val="1F2D3A"/>
                </a:solidFill>
              </a:rPr>
              <a:t>çeşitlendirme</a:t>
            </a:r>
            <a:r>
              <a:rPr sz="2000" b="0">
                <a:solidFill>
                  <a:srgbClr val="1F2D3A"/>
                </a:solidFill>
              </a:rPr>
              <a:t> — ölçeklenmeyi kır.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Ölçmeden "güçlü" deme.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Yeni örnek · bütünlük denetimi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dosya_saglam(const uint8_t *veri, size_t n,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const uint8_t *beklenen)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uint8_t ozet[32];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ozet_hesapla(veri, n, ozet);        /* SHA-256 benzeri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sabit_zamanli_esit(ozet, beklenen, 32);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Sürüm bütünlüğünü denetleyen sentetik bir fonksiyon.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bunu gizleyelim?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bu denetimi bulup </a:t>
            </a:r>
            <a:r>
              <a:rPr sz="2000" b="1">
                <a:solidFill>
                  <a:srgbClr val="1F2D3A"/>
                </a:solidFill>
              </a:rPr>
              <a:t>atlatmak</a:t>
            </a:r>
            <a:r>
              <a:rPr sz="2000" b="0">
                <a:solidFill>
                  <a:srgbClr val="1F2D3A"/>
                </a:solidFill>
              </a:rPr>
              <a:t> ister (kurcalanmış dosyayı geçirmek için).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Denetimin dönüş noktası ve karşılaştırması hedef.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hafta: opak boolean + rastgele çıkış burada kritik.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seçimi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--Transform=EncodeLiterals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--Transform=EncodeArithmetic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--Transform=Flatten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--Functions=dosya_saglam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--out=variant.c source.c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adım · ne olur?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EncodeLiterals: </a:t>
            </a:r>
            <a:r>
              <a:rPr sz="2000" b="0">
                <a:solidFill>
                  <a:srgbClr val="A1123F"/>
                </a:solidFill>
                <a:latin typeface="Consolas"/>
              </a:rPr>
              <a:t>32</a:t>
            </a:r>
            <a:r>
              <a:rPr sz="2000" b="0">
                <a:solidFill>
                  <a:srgbClr val="1F2D3A"/>
                </a:solidFill>
              </a:rPr>
              <a:t> ve varsa dizeler düz görünmez.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EncodeArithmetic: karşılaştırma karmaşıklaşır.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Flatten: tek dönüş noktası görünmez.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AddOpaque: sahte dallar; "başarı" dalı tek yerde değil.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Davranış doğrulama (zorunlu)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 özetli dosya → </a:t>
            </a:r>
            <a:r>
              <a:rPr sz="2000" b="1">
                <a:solidFill>
                  <a:srgbClr val="1F2D3A"/>
                </a:solidFill>
              </a:rPr>
              <a:t>geçer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Bozuk özetli dosya → </a:t>
            </a:r>
            <a:r>
              <a:rPr sz="2000" b="1">
                <a:solidFill>
                  <a:srgbClr val="1F2D3A"/>
                </a:solidFill>
              </a:rPr>
              <a:t>reddedilir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Gizli sürümde de aynı sonuç → hat doğru.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CFG önce/sonra (kavram)</a:t>
            </a:r>
          </a:p>
        </p:txBody>
      </p:sp>
      <p:pic>
        <p:nvPicPr>
          <p:cNvPr id="7" name="Picture 6" descr="h14-10-cfg-once-son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68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0392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Denetimin nerede geçtiği/kaldığı akıştan okunmaz.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Sabit zamanlılık korunmalı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sabit_zamanli_esit</a:t>
            </a:r>
            <a:r>
              <a:rPr sz="2000" b="0">
                <a:solidFill>
                  <a:srgbClr val="1F2D3A"/>
                </a:solidFill>
              </a:rPr>
              <a:t> gizlense de </a:t>
            </a:r>
            <a:r>
              <a:rPr sz="2000" b="1">
                <a:solidFill>
                  <a:srgbClr val="1F2D3A"/>
                </a:solidFill>
              </a:rPr>
              <a:t>sabit zamanlı</a:t>
            </a:r>
            <a:r>
              <a:rPr sz="2000" b="0">
                <a:solidFill>
                  <a:srgbClr val="1F2D3A"/>
                </a:solidFill>
              </a:rPr>
              <a:t> kalmalı.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uğruna erken çıkış eklenirse yan kanal açılır (3. hafta).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Dönüşümlerin bunu bozmadığını </a:t>
            </a:r>
            <a:r>
              <a:rPr sz="2000" b="1">
                <a:solidFill>
                  <a:srgbClr val="1F2D3A"/>
                </a:solidFill>
              </a:rPr>
              <a:t>test 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Ölçüm (örnek)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819932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4"/>
                <a:gridCol w="1818589"/>
                <a:gridCol w="181858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Sonra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128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1.7×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Blok (dosya_saglam)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tohumla üret → iki farklı binary.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"Bütünlük denetimini atla" yaması bir kopyada işe yarasa bile diğerinde yaramaz.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İkinci örnek · 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Bütünlük denetimi gibi </a:t>
            </a:r>
            <a:r>
              <a:rPr sz="2000" b="1">
                <a:solidFill>
                  <a:srgbClr val="1F2D3A"/>
                </a:solidFill>
              </a:rPr>
              <a:t>atlatma hedefi</a:t>
            </a:r>
            <a:r>
              <a:rPr sz="2000" b="0">
                <a:solidFill>
                  <a:srgbClr val="1F2D3A"/>
                </a:solidFill>
              </a:rPr>
              <a:t> fonksiyonlarda gizleme değerlidir.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asıl güç: gizleme + RASP (6. hafta) + sunucu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tek başına atlatmayı </a:t>
            </a:r>
            <a:r>
              <a:rPr sz="2000" b="1">
                <a:solidFill>
                  <a:srgbClr val="1F2D3A"/>
                </a:solidFill>
              </a:rPr>
              <a:t>geciktirir</a:t>
            </a:r>
            <a:r>
              <a:rPr sz="2000" b="0">
                <a:solidFill>
                  <a:srgbClr val="1F2D3A"/>
                </a:solidFill>
              </a:rPr>
              <a:t>, engellemez.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Gizledikten sonra ilk </a:t>
            </a:r>
            <a:r>
              <a:rPr sz="2000" b="1">
                <a:solidFill>
                  <a:srgbClr val="1F2D3A"/>
                </a:solidFill>
              </a:rPr>
              <a:t>mutlaka</a:t>
            </a:r>
            <a:r>
              <a:rPr sz="2000" b="0">
                <a:solidFill>
                  <a:srgbClr val="1F2D3A"/>
                </a:solidFill>
              </a:rPr>
              <a:t> yapılacak şey?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Çeşitlendirmeyi nasıl gösterirsin?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Rapor tablosu hangi proje bölümlerine gider?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Davranışın </a:t>
            </a:r>
            <a:r>
              <a:rPr sz="2000" b="1">
                <a:solidFill>
                  <a:srgbClr val="1F2D3A"/>
                </a:solidFill>
              </a:rPr>
              <a:t>değişmediğini test et</a:t>
            </a:r>
            <a:r>
              <a:rPr sz="2000" b="0">
                <a:solidFill>
                  <a:srgbClr val="1F2D3A"/>
                </a:solidFill>
              </a:rPr>
              <a:t> (birim testi geçmeli); gizleme işlevi bozmamalı.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İki farklı tohumla üret; binary'leri karşılaştır (</a:t>
            </a:r>
            <a:r>
              <a:rPr sz="2000" b="1">
                <a:solidFill>
                  <a:srgbClr val="1F2D3A"/>
                </a:solidFill>
              </a:rPr>
              <a:t>hash/boyut/komut farklı</a:t>
            </a:r>
            <a:r>
              <a:rPr sz="2000" b="0">
                <a:solidFill>
                  <a:srgbClr val="1F2D3A"/>
                </a:solidFill>
              </a:rPr>
              <a:t>) ama </a:t>
            </a:r>
            <a:r>
              <a:rPr sz="2000" b="1">
                <a:solidFill>
                  <a:srgbClr val="1F2D3A"/>
                </a:solidFill>
              </a:rPr>
              <a:t>aynı girdi→aynı çıktı</a:t>
            </a:r>
            <a:r>
              <a:rPr sz="2000" b="0">
                <a:solidFill>
                  <a:srgbClr val="1F2D3A"/>
                </a:solidFill>
              </a:rPr>
              <a:t> (diff/objdump).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S9</a:t>
            </a:r>
            <a:r>
              <a:rPr sz="2000" b="0">
                <a:solidFill>
                  <a:srgbClr val="1F2D3A"/>
                </a:solidFill>
              </a:rPr>
              <a:t> (kod sağlamlaştırma (hardening)) ve </a:t>
            </a:r>
            <a:r>
              <a:rPr sz="2000" b="1">
                <a:solidFill>
                  <a:srgbClr val="1F2D3A"/>
                </a:solidFill>
              </a:rPr>
              <a:t>S15</a:t>
            </a:r>
            <a:r>
              <a:rPr sz="2000" b="0">
                <a:solidFill>
                  <a:srgbClr val="1F2D3A"/>
                </a:solidFill>
              </a:rPr>
              <a:t> (derleme/dağıtım hattı); önce/sonra ölçüm kanıt olarak.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Derleme hattı (S15) ve proje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Gizleme "en sonda elle"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Gizleme, derleme </a:t>
            </a:r>
            <a:r>
              <a:rPr sz="2000" b="1">
                <a:solidFill>
                  <a:srgbClr val="1F2D3A"/>
                </a:solidFill>
              </a:rPr>
              <a:t>hattının</a:t>
            </a:r>
            <a:r>
              <a:rPr sz="2000" b="0">
                <a:solidFill>
                  <a:srgbClr val="1F2D3A"/>
                </a:solidFill>
              </a:rPr>
              <a:t> bir adımı olmalı.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Vize sonrası projenizin </a:t>
            </a:r>
            <a:r>
              <a:rPr sz="2000" b="1">
                <a:solidFill>
                  <a:srgbClr val="1F2D3A"/>
                </a:solidFill>
              </a:rPr>
              <a:t>S15</a:t>
            </a:r>
            <a:r>
              <a:rPr sz="2000" b="0">
                <a:solidFill>
                  <a:srgbClr val="1F2D3A"/>
                </a:solidFill>
              </a:rPr>
              <a:t> bölümü tam bunu belgeler.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Derleme hattı · şema</a:t>
            </a:r>
          </a:p>
        </p:txBody>
      </p:sp>
      <p:pic>
        <p:nvPicPr>
          <p:cNvPr id="7" name="Picture 6" descr="h14-07-s15-h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5693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1 · yalnız hassas fonksiyonlar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 ile yalnız hassas fonksiyonları gizle.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Gerekçesini yaz (hangi fonksiyon, neden).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Maliyet kuralı (9. hafta).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2 · her sürüm çeşitlendirilir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 bir </a:t>
            </a:r>
            <a:r>
              <a:rPr sz="2000" b="1">
                <a:solidFill>
                  <a:srgbClr val="1F2D3A"/>
                </a:solidFill>
              </a:rPr>
              <a:t>tohumla</a:t>
            </a:r>
            <a:r>
              <a:rPr sz="2000" b="0">
                <a:solidFill>
                  <a:srgbClr val="1F2D3A"/>
                </a:solidFill>
              </a:rPr>
              <a:t> çeşitlendirilir.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Tohum ve sürüm kimliği </a:t>
            </a:r>
            <a:r>
              <a:rPr sz="2000" b="1">
                <a:solidFill>
                  <a:srgbClr val="1F2D3A"/>
                </a:solidFill>
              </a:rPr>
              <a:t>kaydedilir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Zamanda çeşitlendirme (bölüm 3).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3 · imzalama gizlemeden sonra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gizle,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 imzala.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kimliği ve özet değerleri (12. haftadaki TOE) </a:t>
            </a:r>
            <a:r>
              <a:rPr sz="2000" b="1">
                <a:solidFill>
                  <a:srgbClr val="1F2D3A"/>
                </a:solidFill>
              </a:rPr>
              <a:t>tutarlı</a:t>
            </a:r>
            <a:r>
              <a:rPr sz="2000" b="0">
                <a:solidFill>
                  <a:srgbClr val="1F2D3A"/>
                </a:solidFill>
              </a:rPr>
              <a:t> olsun.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Neden sonra? İmza, dağıtılan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binary'yi kapsamalı.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4 · CI'da otomatik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Hat, sürekli entegrasyonda (CI) çalışır.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sürümde: birim testleri + boyut/hız ölçümü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Davranış bozulursa yapı </a:t>
            </a:r>
            <a:r>
              <a:rPr sz="2000" b="1">
                <a:solidFill>
                  <a:srgbClr val="1F2D3A"/>
                </a:solidFill>
              </a:rPr>
              <a:t>durur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CI hattı, sürüm başına tohum</a:t>
            </a:r>
          </a:p>
        </p:txBody>
      </p:sp>
      <p:pic>
        <p:nvPicPr>
          <p:cNvPr id="7" name="Picture 6" descr="build-deployment-pipelin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34" y="1325880"/>
            <a:ext cx="1056882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Animasyon · Uç durum: tekrarlanan tohum</a:t>
            </a:r>
          </a:p>
        </p:txBody>
      </p:sp>
      <p:pic>
        <p:nvPicPr>
          <p:cNvPr id="7" name="Picture 6" descr="build-deployment-pipeline--edge-seed-reuse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606" y="1325880"/>
            <a:ext cx="868848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9, 11, 14 birlikte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9:</a:t>
            </a:r>
            <a:r>
              <a:rPr sz="2000" b="0">
                <a:solidFill>
                  <a:srgbClr val="1F2D3A"/>
                </a:solidFill>
              </a:rPr>
              <a:t> gizleme kuralları (kod)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11:</a:t>
            </a:r>
            <a:r>
              <a:rPr sz="2000" b="0">
                <a:solidFill>
                  <a:srgbClr val="1F2D3A"/>
                </a:solidFill>
              </a:rPr>
              <a:t> whitebox (anahtar)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14:</a:t>
            </a:r>
            <a:r>
              <a:rPr sz="2000" b="0">
                <a:solidFill>
                  <a:srgbClr val="1F2D3A"/>
                </a:solidFill>
              </a:rPr>
              <a:t> otomasyon + çeşitlendirme (bu hafta)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Ortak kural: koruma = </a:t>
            </a:r>
            <a:r>
              <a:rPr sz="2000" b="1">
                <a:solidFill>
                  <a:srgbClr val="1F2D3A"/>
                </a:solidFill>
              </a:rPr>
              <a:t>gecikme</a:t>
            </a:r>
            <a:r>
              <a:rPr sz="2000" b="0">
                <a:solidFill>
                  <a:srgbClr val="1F2D3A"/>
                </a:solidFill>
              </a:rPr>
              <a:t>; güç katmanlardan ve ölçümden.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ileri + S15 hat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 Dönüşüm hattı (S9):</a:t>
            </a:r>
            <a:r>
              <a:rPr sz="2000" b="0">
                <a:solidFill>
                  <a:srgbClr val="1F2D3A"/>
                </a:solidFill>
              </a:rPr>
              <a:t> hangi fonksiyonlar, hangi dönüşümler, hangi sırayla, </a:t>
            </a:r>
            <a:r>
              <a:rPr sz="2000" b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+ S15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 Ölçüm tablosu:</a:t>
            </a:r>
            <a:r>
              <a:rPr sz="2000" b="0">
                <a:solidFill>
                  <a:srgbClr val="1F2D3A"/>
                </a:solidFill>
              </a:rPr>
              <a:t> boyut, süre, (varsa) blok sayısı — önce/sonra.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+ S15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 Çeşitlendirme:</a:t>
            </a:r>
            <a:r>
              <a:rPr sz="2000" b="0">
                <a:solidFill>
                  <a:srgbClr val="1F2D3A"/>
                </a:solidFill>
              </a:rPr>
              <a:t> iki tohumla üretim + fark ölçütü; uygulamayacaksanız </a:t>
            </a:r>
            <a:r>
              <a:rPr sz="2000" b="1">
                <a:solidFill>
                  <a:srgbClr val="1F2D3A"/>
                </a:solidFill>
              </a:rPr>
              <a:t>gerekçe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+ S15 — 4,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4. S15 hattı:</a:t>
            </a:r>
            <a:r>
              <a:rPr sz="2000" b="0">
                <a:solidFill>
                  <a:srgbClr val="1F2D3A"/>
                </a:solidFill>
              </a:rPr>
              <a:t> gizleme + imzalama + sürüm kimliği adımlarını </a:t>
            </a:r>
            <a:r>
              <a:rPr sz="2000" b="1">
                <a:solidFill>
                  <a:srgbClr val="1F2D3A"/>
                </a:solidFill>
              </a:rPr>
              <a:t>diyagramla</a:t>
            </a:r>
            <a:r>
              <a:rPr sz="2000" b="0">
                <a:solidFill>
                  <a:srgbClr val="1F2D3A"/>
                </a:solidFill>
              </a:rPr>
              <a:t> belgele.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5. Davranış kanıtı:</a:t>
            </a:r>
            <a:r>
              <a:rPr sz="2000" b="0">
                <a:solidFill>
                  <a:srgbClr val="1F2D3A"/>
                </a:solidFill>
              </a:rPr>
              <a:t> gizli sürümün birim testlerini geçtiğini göster (S16 bağı).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Değerlendirici gözüyle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"Çok dönüşüm kullandım" </a:t>
            </a:r>
            <a:r>
              <a:rPr sz="2000" b="1">
                <a:solidFill>
                  <a:srgbClr val="1F2D3A"/>
                </a:solidFill>
              </a:rPr>
              <a:t>değil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Her dönüşümün gerekçesi ve ölçüsü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Ölçülmemiş gizleme = iddia (12. hafta).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kurgu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Sentetik bir uygulamada bir </a:t>
            </a:r>
            <a:r>
              <a:rPr sz="2000" b="1">
                <a:solidFill>
                  <a:srgbClr val="1F2D3A"/>
                </a:solidFill>
              </a:rPr>
              <a:t>lisans denetimi</a:t>
            </a:r>
            <a:r>
              <a:rPr sz="2000" b="0">
                <a:solidFill>
                  <a:srgbClr val="1F2D3A"/>
                </a:solidFill>
              </a:rPr>
              <a:t> ve bir </a:t>
            </a:r>
            <a:r>
              <a:rPr sz="2000" b="1">
                <a:solidFill>
                  <a:srgbClr val="1F2D3A"/>
                </a:solidFill>
              </a:rPr>
              <a:t>anahtar türetme</a:t>
            </a:r>
            <a:r>
              <a:rPr sz="2000" b="0">
                <a:solidFill>
                  <a:srgbClr val="1F2D3A"/>
                </a:solidFill>
              </a:rPr>
              <a:t> fonksiyonu var.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İkisini de mi ağır gizleyeceğiz?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Lisans denetimi:</a:t>
            </a:r>
            <a:r>
              <a:rPr sz="2000" b="0">
                <a:solidFill>
                  <a:srgbClr val="1F2D3A"/>
                </a:solidFill>
              </a:rPr>
              <a:t> orta değer → Hat B (Flatten + AddOpaque).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Anahtar türetme:</a:t>
            </a:r>
            <a:r>
              <a:rPr sz="2000" b="0">
                <a:solidFill>
                  <a:srgbClr val="1F2D3A"/>
                </a:solidFill>
              </a:rPr>
              <a:t> yüksek değer → Hat B + </a:t>
            </a:r>
            <a:r>
              <a:rPr sz="2000" b="1">
                <a:solidFill>
                  <a:srgbClr val="1F2D3A"/>
                </a:solidFill>
              </a:rPr>
              <a:t>Virtualize</a:t>
            </a:r>
            <a:r>
              <a:rPr sz="2000" b="0">
                <a:solidFill>
                  <a:srgbClr val="1F2D3A"/>
                </a:solidFill>
              </a:rPr>
              <a:t> (küçük olduğu için maliyet kabul edilebilir).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Gerisi: gizlenmez (maliyet gereksiz).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çeşitlendirme + 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 farklı tohum.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Derleme hattı: gizle → imzala → sürüm kimliği.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CI'da birim testleri + ölçüm otomatik.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S9/S15 çıktısı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310"/>
                <a:gridCol w="2297165"/>
                <a:gridCol w="2153592"/>
                <a:gridCol w="3876466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Fonksiyon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Boyut/süre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Gerekçe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lisans_dogrula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+%31 / 1.8×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orta değer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anahtar_turet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B+Virtualize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+%60 / 3×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yüksek değer, küçük fn.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Yeterince kararlı saldırgan tek kopyada çözebilir.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Telafi: çeşitlendirme + kısa ömürlü anahtar + sunucu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Açıkça yazılır.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İmzalama neden gizlemeden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"Yalnız hassas fonksiyonlar" kuralının gerekçesi?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S15 hattının adımları?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İmza </a:t>
            </a:r>
            <a:r>
              <a:rPr sz="2000" b="1">
                <a:solidFill>
                  <a:srgbClr val="1F2D3A"/>
                </a:solidFill>
              </a:rPr>
              <a:t>son binary'yi</a:t>
            </a:r>
            <a:r>
              <a:rPr sz="2000" b="0">
                <a:solidFill>
                  <a:srgbClr val="1F2D3A"/>
                </a:solidFill>
              </a:rPr>
              <a:t> korur; önce imzalayıp sonra gizlersen binary değişir → imza geçersiz. Sıra: derle → gizle → </a:t>
            </a:r>
            <a:r>
              <a:rPr sz="2000" b="1">
                <a:solidFill>
                  <a:srgbClr val="1F2D3A"/>
                </a:solidFill>
              </a:rPr>
              <a:t>imzala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Bütünü gizlemek performans/boyutu patlatır ve çoğu kod hassas değil; korumayı </a:t>
            </a:r>
            <a:r>
              <a:rPr sz="2000" b="1">
                <a:solidFill>
                  <a:srgbClr val="1F2D3A"/>
                </a:solidFill>
              </a:rPr>
              <a:t>kritik</a:t>
            </a:r>
            <a:r>
              <a:rPr sz="2000" b="0">
                <a:solidFill>
                  <a:srgbClr val="1F2D3A"/>
                </a:solidFill>
              </a:rPr>
              <a:t> fonksiyonlara yoğunlaştır → maliyet düşük, etki yüksek.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Kaynak → (statik analiz) → derle → </a:t>
            </a:r>
            <a:r>
              <a:rPr sz="2000" b="1">
                <a:solidFill>
                  <a:srgbClr val="1F2D3A"/>
                </a:solidFill>
              </a:rPr>
              <a:t>gizle</a:t>
            </a:r>
            <a:r>
              <a:rPr sz="2000" b="0">
                <a:solidFill>
                  <a:srgbClr val="1F2D3A"/>
                </a:solidFill>
              </a:rPr>
              <a:t> → çeşitlendir (tohum) → paketle/SBOM → </a:t>
            </a:r>
            <a:r>
              <a:rPr sz="2000" b="1">
                <a:solidFill>
                  <a:srgbClr val="1F2D3A"/>
                </a:solidFill>
              </a:rPr>
              <a:t>imzala</a:t>
            </a:r>
            <a:r>
              <a:rPr sz="2000" b="0">
                <a:solidFill>
                  <a:srgbClr val="1F2D3A"/>
                </a:solidFill>
              </a:rPr>
              <a:t> → dağıt (hepsi CI'da kayıtlı).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Çözümlü kendini sınama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Kaynaktan kaynağa gizleme nedir? El ile gizlemeye göre üç avantajı?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Araç C kaynağı alıp gizli C kaynağı üretir. Avantajlar: davranışı korur (hataya kapalı), okunur kaynak sizde kalır, tohumla çeşitlendirme kolay.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Tigress'in dersteki yeri; hangi lisans, neden derste dağıtılmaz?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9. hafta kurallarının otomatik hâli. Kâr amacı gütmeyen kullanım ücretsiz, ticari için Arizona lisansı. Kaynak kapalı → ikilisi derste dağıtılmaz; öğrenci resmî siteden indirir.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Şu dönüşümleri 9. hafta kurallarıyla eşle: Flatten, EncodeArithmetic, EncodeLiterals, Virtualize, AddOpaque.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Flatten→K-04, EncodeArithmetic→K-02, EncodeLiterals→K-07/K-08, Virtualize→K-10, AddOpaque→K-01/K-03.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dönüşüm hattı neden tek dönüşümden güçlü? Sıra neden önemli?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Katmanlar birbirini güçlendirir (9. hafta "birlikte"). Sıra sonucu ve başarımı etkiler; kimi sıra gereksiz yavaşlatır ya da zayıf sonuç verir.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Her dönüşüm hattından sonra hangi iki şeyi mutlaka yaparsın?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(1) Birim testlerini çalıştır (davranış korunmuş mu?), (2) boyut/hız ölç (maliyet).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Virtualize neden yalnız küçük ve kritik fonksiyonlara uygulanır?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Maliyeti çok yüksek (onlarca kat yavaşlama, boyut). Getirisi ancak en değerli, küçük fonksiyonlarda maliyeti haklı çıkarır.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Tohum (`--Seed`) çeşitlendirmeyi nasıl sağlar? Uzayda/zamanda fark?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Farklı tohum → farklı opak yüklem/sahte dal/durum. Uzayda: farklı kopyalar aynı anda. Zamanda: her sürüm yeni tohum.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Çeşitlendirme gizlemenin gücünü mü, ölçeklenmesini mi engeller?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Gücünü artırmaz (bir kopya yine kırılabilir); </a:t>
            </a:r>
            <a:r>
              <a:rPr sz="2000" b="1">
                <a:solidFill>
                  <a:srgbClr val="1F2D3A"/>
                </a:solidFill>
              </a:rPr>
              <a:t>ölçeklenmesini</a:t>
            </a:r>
            <a:r>
              <a:rPr sz="2000" b="0">
                <a:solidFill>
                  <a:srgbClr val="1F2D3A"/>
                </a:solidFill>
              </a:rPr>
              <a:t> engeller — bir kırık her yeri açmaz.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Banescu vd. çalışmasının ders için ana kuralı?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Dayanıklılık ölçülen bir niceliktir. Dönüşümleri birleştirmek sembolik yürütmeyi üstel zorlar; ama maliyet de artar → </a:t>
            </a:r>
            <a:r>
              <a:rPr sz="2000" b="1">
                <a:solidFill>
                  <a:srgbClr val="1F2D3A"/>
                </a:solidFill>
              </a:rPr>
              <a:t>dayanıklılık ↔ maliyet ödünleşir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Gizlemeyi derleme hattına koyarken imzalama neden gizlemeden sonra?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İmza, dağıtılan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binary'yi kapsamalı. Önce gizlenir, sonra imzalanır; sürüm kimliği/özet tutarlı olur.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S15'te "yalnız hassas fonksiyonlar gizlenir" kuralının gerekçesi?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Her fonksiyonu gizlemek programı çok yavaşlatır/şişirir. Maliyeti yalnız değerli fonksiyonlarda üstlenmek mantıklı.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9, 11 ve 14. haftaların ortak kuralını bir cümleyle yaz.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Koruma kırılamazlık değil </a:t>
            </a:r>
            <a:r>
              <a:rPr sz="2000" b="1">
                <a:solidFill>
                  <a:srgbClr val="1F2D3A"/>
                </a:solidFill>
              </a:rPr>
              <a:t>gecikme</a:t>
            </a:r>
            <a:r>
              <a:rPr sz="2000" b="0">
                <a:solidFill>
                  <a:srgbClr val="1F2D3A"/>
                </a:solidFill>
              </a:rPr>
              <a:t> sağlar; gücü </a:t>
            </a:r>
            <a:r>
              <a:rPr sz="2000" b="1">
                <a:solidFill>
                  <a:srgbClr val="1F2D3A"/>
                </a:solidFill>
              </a:rPr>
              <a:t>katmanların birleşiminden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çeşitlendirmeden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ölçülmüş</a:t>
            </a:r>
            <a:r>
              <a:rPr sz="2000" b="0">
                <a:solidFill>
                  <a:srgbClr val="1F2D3A"/>
                </a:solidFill>
              </a:rPr>
              <a:t> olmaktan gelir.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Kapanış · üç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9:</a:t>
            </a:r>
            <a:r>
              <a:rPr sz="2000" b="0">
                <a:solidFill>
                  <a:srgbClr val="1F2D3A"/>
                </a:solidFill>
              </a:rPr>
              <a:t> gizleme kuralları (el ile)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11:</a:t>
            </a:r>
            <a:r>
              <a:rPr sz="2000" b="0">
                <a:solidFill>
                  <a:srgbClr val="1F2D3A"/>
                </a:solidFill>
              </a:rPr>
              <a:t> whitebox (anahtar)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14:</a:t>
            </a:r>
            <a:r>
              <a:rPr sz="2000" b="0">
                <a:solidFill>
                  <a:srgbClr val="1F2D3A"/>
                </a:solidFill>
              </a:rPr>
              <a:t> otomasyon + çeşitlendirme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Hepsi aynı çerçeve: maliyet + katman + ölçüm.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Klasik hatalar — özet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0430"/>
                <a:gridCol w="612110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Nerede işlendi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şeyi gizlemek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1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--Functions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), Bölüm 2 (maliyet)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Testsiz gizleme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2 (sıra ve test kuralı)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Ölçmeden "güçlü" demek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3 (ölçüm kuralı)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Çeşitlendirmeyi atlamak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3 (Kural 2)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İmzayı gizlemeden önce yapmak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5 (Hat kuralı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Eski/dağıtılan Tigress kullanmak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1 (lisans)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852"/>
                <a:gridCol w="743968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Kaynaktan kaynağa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 girip gizli C çıkaran gizleme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gizleme işlemi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Dönüşümlerin sıralı bütünü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Tohum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Rastgeleliği yöneten sayı (çeşitlendirme)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Sembolik yürütme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Yol-çözen otomatik analiz (KLEE)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Dönüşüm seçim kılavuzu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10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5"/>
                <a:gridCol w="418275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İstediğin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Dize/sabit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Hesabı gizle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Yapıyı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Sahte/opak ekle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Makine kodunu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 (pahalı)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Çeşitlendir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--Seed, RandomFuns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4917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Tigress</a:t>
            </a:r>
            <a:r>
              <a:rPr sz="2000" b="0">
                <a:solidFill>
                  <a:srgbClr val="1F2D3A"/>
                </a:solidFill>
              </a:rPr>
              <a:t> resmî sitesi/çalışma sayfaları (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tigress.wtf</a:t>
            </a:r>
            <a:r>
              <a:rPr sz="2000" b="0">
                <a:solidFill>
                  <a:srgbClr val="1F2D3A"/>
                </a:solidFill>
              </a:rPr>
              <a:t>) — dönüşümler, sözdizimi, v4, lisans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Collberg &amp; Nagra, </a:t>
            </a:r>
            <a:r>
              <a:rPr sz="2000" b="0" i="1">
                <a:solidFill>
                  <a:srgbClr val="1F2D3A"/>
                </a:solidFill>
              </a:rPr>
              <a:t>Surreptitious Software</a:t>
            </a:r>
            <a:r>
              <a:rPr sz="2000" b="0">
                <a:solidFill>
                  <a:srgbClr val="1F2D3A"/>
                </a:solidFill>
              </a:rPr>
              <a:t> — taksonomi, ölçme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Banescu vd. — Tigress + KLEE dayanıklılık ölçümü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Obfuscator-LLVM — derleyici tabanlı alternatif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Tigress, 9. haftanın gizleme kurallarını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çeşitlendirilmiş</a:t>
            </a:r>
            <a:r>
              <a:rPr sz="2000" b="0">
                <a:solidFill>
                  <a:srgbClr val="1F2D3A"/>
                </a:solidFill>
              </a:rPr>
              <a:t> uygular; ama kural aynı: gizleme </a:t>
            </a:r>
            <a:r>
              <a:rPr sz="2000" b="1">
                <a:solidFill>
                  <a:srgbClr val="1F2D3A"/>
                </a:solidFill>
              </a:rPr>
              <a:t>kırılamazlık değil gecikme</a:t>
            </a:r>
            <a:r>
              <a:rPr sz="2000" b="0">
                <a:solidFill>
                  <a:srgbClr val="1F2D3A"/>
                </a:solidFill>
              </a:rPr>
              <a:t>; birleştir, çeşitlendir, </a:t>
            </a:r>
            <a:r>
              <a:rPr sz="2000" b="1">
                <a:solidFill>
                  <a:srgbClr val="1F2D3A"/>
                </a:solidFill>
              </a:rPr>
              <a:t>ölç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Araç güçlüdür ama </a:t>
            </a:r>
            <a:r>
              <a:rPr sz="2000" b="1">
                <a:solidFill>
                  <a:srgbClr val="1F2D3A"/>
                </a:solidFill>
              </a:rPr>
              <a:t>karar sizindir</a:t>
            </a:r>
            <a:r>
              <a:rPr sz="2000" b="0">
                <a:solidFill>
                  <a:srgbClr val="1F2D3A"/>
                </a:solidFill>
              </a:rPr>
              <a:t>: neyi, neden, hangi maliyetle gizliyorsunuz?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Bir sonraki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15. hafta — Final proje gösterimleri (RAP2)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Dönem içeriği tamamlandı. Final raporunda bu haftanın </a:t>
            </a:r>
            <a:r>
              <a:rPr sz="2000" b="1">
                <a:solidFill>
                  <a:srgbClr val="1F2D3A"/>
                </a:solidFill>
              </a:rPr>
              <a:t>hattı (S15)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ölçümleri (S9)</a:t>
            </a:r>
            <a:r>
              <a:rPr sz="2000" b="0">
                <a:solidFill>
                  <a:srgbClr val="1F2D3A"/>
                </a:solidFill>
              </a:rPr>
              <a:t> beklenir. 16. hafta: Quiz-2.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14 — Tigress ve Çeşitlendirme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