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Geçen hafta güvenliğin dilini kurduk (varlık, tehdit, STRIDE, saldırı ağacı). Bu hafta üç sütunu dolduruyoruz: tehdit (zararlı yazılım), savunma (güvenlik modelleri), ortak dil (CWE/CVE/CVSS). Altı demo var; laboratuvarı WSL veya Visual Studio'da açık tutun.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haftanın terimlerini sıfırdan tanımlıyoruz: zararlı yazılım, tespit, erişim modelleri, zafiyet kataloğu.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(code/ içinde build.ps1 ya da build.sh). Derste bekleme olmasın diye ilk üç demoyu açık bırakın.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"Telefonunuza bulaşan bir şey duyduğunuzda ona ne dersiniz?" Çoğu "virüs" der. Bu haftadan sonra doğru terimi kullanacaklar.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Tarihleri doğru verin. WannaCry, yama çıktıktan SONRA güncellememiş makinelere yayıldı; bu "yama boşluğu"na dersin sonunda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"Makroları etkinleştir" uyarısı hâlâ bir saldırı yoludur. Öğrencilere hiç tanımadıkları bir belgede makro etkinleştirmemelerini söyleyin.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formülü sözle anlatın: her enfekte makine rastgele adres tarar, duyarlıya denk gelirse bulaştırır. Sonra Code Red ve Slammer sayılarını verin.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harfleri tahtaya yazın: S, I, N. Sonra "her enfekte makine ne yapar?" diye sorun; cevap bu slaytta.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beta değerini yarıya indirip yeniden çalıştırın; doygunluk süresinin nasıl uzadığını gösterin. Asıl nokta: ilk bulaşmayı mümkün kılan tek bir taşma hatası.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poli_1 ve poli_2 aynı algoritma (xs32) farklı tohum; poli_3 farklı algoritma (lcg8) + cop komut. Desen imzasi ALGO=xs32'yi ariyordu, poli_3'te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kural kaçırır, geniş kural yanlış alarm verir. Kural yalnız bilineni yakalar; bu yüzden sezgisel ve davranış tabanlı yöntemlerle birlikte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Tripwire, AppLocker/WDAC ve kod imzalama denetimleri hep bu fikre dayanır.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dosyayı, sonra beklenen değeri değiştirir. İkinci test geçilemiyorsa denetim yalnız kazaya karşı korur.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Tabloyu zararlının ne yaptığıyla değil, içeri nasıl girdiğiyle okuyun. 1988-2008 çoğunlukla tek bir taşma; 2017 sonrası güncelleme ve derleme süreçleri.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 sorusu: Office'in 2022'den beri internetten gelen belgelerde makroları varsayılan engellemesi hangi eski salgınların kapısını kapattı?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dugumleri saldirgani birden cok katmani birlikte kirmaya zorlar; derinlemesine savunmanin niceliksel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adına gömülü tek bir satır sonu, hiç yaşanmamış bir yönetici girişini günlüğe yazdırdı. Biçim dizgesi tuzağını 4. haftaya köprü olarak anın.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Schneier–Kelsey 1999. Doğrulayıcı başlangıç anahtarını çevrimdışı tutar. En güçlü kanıt, saldırganın ulaşamadığı uzak kopyadır.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Askeri kokenli (1973). "Asagi yazma yok" ilk bakista tuhaf gelir; amac cok gizli bilgiyi memurun gorebilecegi bir yere yazmayi engellemek.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 ve 1b'de ACE'ler aynı, yalnız sıra farklı. Son adımda icacls ile demonun kendi dosyasının gerçek ACL'ini gösterin.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Benzetimdir; gerçek setuid dosyası oluşturulmaz, sudo gerekmez. Sistemdeki setuid programlar yalnız listelenir.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karşılığı: dört göz ilkesi, bölünmüş bilgi ve çift denetim, günlük mutabakat.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iki cevap slaytını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BLP, Biba ve modelleri örneklerle pekiştiriyoruz.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Bilgisayar Virüsleri ve Güvenlik Modelleri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"polimorfik virüs", "Bell–LaPadula", "CVSS"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 (malware)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Zararlı yazılım:</a:t>
            </a:r>
            <a:r>
              <a:rPr sz="2000" b="0">
                <a:solidFill>
                  <a:srgbClr val="1F2D3A"/>
                </a:solidFill>
              </a:rPr>
              <a:t> zarar vermek için yazılmış program.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"Virüs" bir alt türdür; hepsi virüs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Türler: virüs, solucan, truva atı, fidye, casus…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Virüs, solucan, truva atı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bir programa </a:t>
            </a:r>
            <a:r>
              <a:rPr sz="2000" b="1">
                <a:solidFill>
                  <a:srgbClr val="1F2D3A"/>
                </a:solidFill>
              </a:rPr>
              <a:t>bulaşarak</a:t>
            </a:r>
            <a:r>
              <a:rPr sz="2000" b="0">
                <a:solidFill>
                  <a:srgbClr val="1F2D3A"/>
                </a:solidFill>
              </a:rPr>
              <a:t>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</a:t>
            </a:r>
            <a:r>
              <a:rPr sz="2000" b="1">
                <a:solidFill>
                  <a:srgbClr val="1F2D3A"/>
                </a:solidFill>
              </a:rPr>
              <a:t>kendini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faydalı görünüp gizli zararlı taşır.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Fidye ve diğerleri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Fidye (ransomware):</a:t>
            </a:r>
            <a:r>
              <a:rPr sz="2000" b="0">
                <a:solidFill>
                  <a:srgbClr val="1F2D3A"/>
                </a:solidFill>
              </a:rPr>
              <a:t> dosyaları şifreleyip fidye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(spyware):</a:t>
            </a:r>
            <a:r>
              <a:rPr sz="2000" b="0">
                <a:solidFill>
                  <a:srgbClr val="1F2D3A"/>
                </a:solidFill>
              </a:rPr>
              <a:t> gizlice bilgi toplar.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Arka kapı (backdoor):</a:t>
            </a:r>
            <a:r>
              <a:rPr sz="2000" b="0">
                <a:solidFill>
                  <a:srgbClr val="1F2D3A"/>
                </a:solidFill>
              </a:rPr>
              <a:t> gizli erişim bırakır.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Bulaştırıcı:</a:t>
            </a:r>
            <a:r>
              <a:rPr sz="2000" b="0">
                <a:solidFill>
                  <a:srgbClr val="1F2D3A"/>
                </a:solidFill>
              </a:rPr>
              <a:t> nasıl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Tetikleyici:</a:t>
            </a:r>
            <a:r>
              <a:rPr sz="2000" b="0">
                <a:solidFill>
                  <a:srgbClr val="1F2D3A"/>
                </a:solidFill>
              </a:rPr>
              <a:t> ne zaman etkinleşir.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 (payload):</a:t>
            </a:r>
            <a:r>
              <a:rPr sz="2000" b="0">
                <a:solidFill>
                  <a:srgbClr val="1F2D3A"/>
                </a:solidFill>
              </a:rPr>
              <a:t> ne yapar.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Virüsün üç parçası — şema</a:t>
            </a:r>
          </a:p>
        </p:txBody>
      </p:sp>
      <p:pic>
        <p:nvPicPr>
          <p:cNvPr id="7" name="Picture 6" descr="h02-02-virus-uc-p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Gizlenme: polimorfik/metamorfik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Polimorfik:</a:t>
            </a:r>
            <a:r>
              <a:rPr sz="2000" b="0">
                <a:solidFill>
                  <a:srgbClr val="1F2D3A"/>
                </a:solidFill>
              </a:rPr>
              <a:t> her kopyada kendini </a:t>
            </a:r>
            <a:r>
              <a:rPr sz="2000" b="1">
                <a:solidFill>
                  <a:srgbClr val="1F2D3A"/>
                </a:solidFill>
              </a:rPr>
              <a:t>farklı şifreler</a:t>
            </a:r>
            <a:r>
              <a:rPr sz="2000" b="0">
                <a:solidFill>
                  <a:srgbClr val="1F2D3A"/>
                </a:solidFill>
              </a:rPr>
              <a:t> (imzadan kaçar).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Metamorfik:</a:t>
            </a:r>
            <a:r>
              <a:rPr sz="2000" b="0">
                <a:solidFill>
                  <a:srgbClr val="1F2D3A"/>
                </a:solidFill>
              </a:rPr>
              <a:t> her kopyada kodunu </a:t>
            </a:r>
            <a:r>
              <a:rPr sz="2000" b="1">
                <a:solidFill>
                  <a:srgbClr val="1F2D3A"/>
                </a:solidFill>
              </a:rPr>
              <a:t>yeniden 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imza tabanlı tespitten kaçmak.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Tespit: imza vs sezgisel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tabanlı:</a:t>
            </a:r>
            <a:r>
              <a:rPr sz="2000" b="0">
                <a:solidFill>
                  <a:srgbClr val="1F2D3A"/>
                </a:solidFill>
              </a:rPr>
              <a:t> bilinen zararlının parmak izini arar (hızlı, yeniyi kaçırır).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Sezgisel/davranış:</a:t>
            </a:r>
            <a:r>
              <a:rPr sz="2000" b="0">
                <a:solidFill>
                  <a:srgbClr val="1F2D3A"/>
                </a:solidFill>
              </a:rPr>
              <a:t> şüpheli </a:t>
            </a:r>
            <a:r>
              <a:rPr sz="2000" b="1">
                <a:solidFill>
                  <a:srgbClr val="1F2D3A"/>
                </a:solidFill>
              </a:rPr>
              <a:t>davranışı</a:t>
            </a:r>
            <a:r>
              <a:rPr sz="2000" b="0">
                <a:solidFill>
                  <a:srgbClr val="1F2D3A"/>
                </a:solidFill>
              </a:rPr>
              <a:t> arar (yeniyi bulur, yanlış alarm).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verinin ne kadar rastgele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Şifreli/paketlenmiş kod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Tespitte ipucu: yüksek entropili bölge şüphelidir.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Erişim denetimi:</a:t>
            </a:r>
            <a:r>
              <a:rPr sz="2000" b="0">
                <a:solidFill>
                  <a:srgbClr val="1F2D3A"/>
                </a:solidFill>
              </a:rPr>
              <a:t> kim (özne), neye (nesne), ne yapabilir (hak)?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matris</a:t>
            </a:r>
            <a:r>
              <a:rPr sz="2000" b="0">
                <a:solidFill>
                  <a:srgbClr val="1F2D3A"/>
                </a:solidFill>
              </a:rPr>
              <a:t> ile modellenir.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Modeller: DAC, MAC, RBAC.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ve MAC — şema</a:t>
            </a:r>
          </a:p>
        </p:txBody>
      </p:sp>
      <p:pic>
        <p:nvPicPr>
          <p:cNvPr id="7" name="Picture 6" descr="h02-14-dac-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sahibi izinleri belirler (Unix dosya izinleri).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sistem zorunlu kurallar koyar (etiketli).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izinler </a:t>
            </a:r>
            <a:r>
              <a:rPr sz="2000" b="1">
                <a:solidFill>
                  <a:srgbClr val="1F2D3A"/>
                </a:solidFill>
              </a:rPr>
              <a:t>rollere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Biçimsel modeller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Bell–LaPadula: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(yukarı okuma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Biba: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(aşağı okuma yok — BLP'nin tersi).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Clark–Wilson:</a:t>
            </a:r>
            <a:r>
              <a:rPr sz="2000" b="0">
                <a:solidFill>
                  <a:srgbClr val="1F2D3A"/>
                </a:solidFill>
              </a:rPr>
              <a:t> ticari bütünlük (iyi biçimli işlemler).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(audit 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kaydı:</a:t>
            </a:r>
            <a:r>
              <a:rPr sz="2000" b="0">
                <a:solidFill>
                  <a:srgbClr val="1F2D3A"/>
                </a:solidFill>
              </a:rPr>
              <a:t> kim ne zaman ne yaptı —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olarak günlük.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dayanıklı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 enjeksiyonuna (CWE-117) dikkat.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— şema</a:t>
            </a:r>
          </a:p>
        </p:txBody>
      </p:sp>
      <p:pic>
        <p:nvPicPr>
          <p:cNvPr id="7" name="Picture 6" descr="h02-13-denetim-kay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6617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CWE:</a:t>
            </a:r>
            <a:r>
              <a:rPr sz="2000" b="0">
                <a:solidFill>
                  <a:srgbClr val="1F2D3A"/>
                </a:solidFill>
              </a:rPr>
              <a:t>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kataloğu (ör. CWE-416).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belirli</a:t>
            </a:r>
            <a:r>
              <a:rPr sz="2000" b="0">
                <a:solidFill>
                  <a:srgbClr val="1F2D3A"/>
                </a:solidFill>
              </a:rPr>
              <a:t> bir üründeki açık (ör. CVE-2024-xxxx).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bir açığın </a:t>
            </a:r>
            <a:r>
              <a:rPr sz="2000" b="1">
                <a:solidFill>
                  <a:srgbClr val="1F2D3A"/>
                </a:solidFill>
              </a:rPr>
              <a:t>ciddiyet puanı</a:t>
            </a:r>
            <a:r>
              <a:rPr sz="2000" b="0">
                <a:solidFill>
                  <a:srgbClr val="1F2D3A"/>
                </a:solidFill>
              </a:rPr>
              <a:t> (0–10).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 — şema</a:t>
            </a:r>
          </a:p>
        </p:txBody>
      </p:sp>
      <p:pic>
        <p:nvPicPr>
          <p:cNvPr id="7" name="Picture 6" descr="h02-15-cwe-cve-cv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zafiyet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Top 10 / MASVS:</a:t>
            </a:r>
            <a:r>
              <a:rPr sz="2000" b="0">
                <a:solidFill>
                  <a:srgbClr val="1F2D3A"/>
                </a:solidFill>
              </a:rPr>
              <a:t> yaygın açıklar ve mobil gereksinimler.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açığı önce üreticiye bildirme.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Açık: keşif → bildirim → yama → yayın.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Açığın yaşam çizgisi — şema</a:t>
            </a:r>
          </a:p>
        </p:txBody>
      </p:sp>
      <p:pic>
        <p:nvPicPr>
          <p:cNvPr id="7" name="Picture 6" descr="h02-17-acik-yasam-cizg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MASVS — şema</a:t>
            </a:r>
          </a:p>
        </p:txBody>
      </p:sp>
      <p:pic>
        <p:nvPicPr>
          <p:cNvPr id="7" name="Picture 6" descr="h02-16-owasp-masv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zararlı yazılım · virüs/solucan/truva/fidye · virüsün üç parçası · polimorfik · imza/sezgisel tespit · entropi · erişim denetimi (DAC/MAC/RBAC) · BLP/Biba · denetim kaydı · CWE/CVE/CVSS · OWASP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tehdit, model, sınıflandırmanın büyük resmi.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15"/>
                <a:gridCol w="10095719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Zararlı yazılım: tarih, anatomi, türler · gizlenme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karşı önlemler · saldırı ağacı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erişim ve modeller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3,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· OWASP · CVE · CVSS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yaşam döngüsü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code/week-02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zararlı yazılım ve güvenlik modelleri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1949</a:t>
            </a:r>
            <a:r>
              <a:rPr sz="1800" b="0">
                <a:solidFill>
                  <a:srgbClr val="1F2D3A"/>
                </a:solidFill>
              </a:rPr>
              <a:t> — von Neumann: </a:t>
            </a:r>
            <a:r>
              <a:rPr sz="1800" b="1">
                <a:solidFill>
                  <a:srgbClr val="1F2D3A"/>
                </a:solidFill>
              </a:rPr>
              <a:t>kendini çoğaltan</a:t>
            </a:r>
            <a:r>
              <a:rPr sz="1800" b="0">
                <a:solidFill>
                  <a:srgbClr val="1F2D3A"/>
                </a:solidFill>
              </a:rPr>
              <a:t> otomata (virüsün matematiksel kökü)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1971</a:t>
            </a:r>
            <a:r>
              <a:rPr sz="1800" b="0">
                <a:solidFill>
                  <a:srgbClr val="1F2D3A"/>
                </a:solidFill>
              </a:rPr>
              <a:t> Creeper · </a:t>
            </a:r>
            <a:r>
              <a:rPr sz="1800" b="1">
                <a:solidFill>
                  <a:srgbClr val="1F2D3A"/>
                </a:solidFill>
              </a:rPr>
              <a:t>1986</a:t>
            </a:r>
            <a:r>
              <a:rPr sz="1800" b="0">
                <a:solidFill>
                  <a:srgbClr val="1F2D3A"/>
                </a:solidFill>
              </a:rPr>
              <a:t> Brain (ilk PC virüsü) ·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interneti durdurur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1973–77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Bell–LaPadula</a:t>
            </a:r>
            <a:r>
              <a:rPr sz="1800" b="0">
                <a:solidFill>
                  <a:srgbClr val="1F2D3A"/>
                </a:solidFill>
              </a:rPr>
              <a:t> (gizlilik),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(bütünlük); </a:t>
            </a:r>
            <a:r>
              <a:rPr sz="1800" b="1">
                <a:solidFill>
                  <a:srgbClr val="1F2D3A"/>
                </a:solidFill>
              </a:rPr>
              <a:t>1987</a:t>
            </a:r>
            <a:r>
              <a:rPr sz="1800" b="0">
                <a:solidFill>
                  <a:srgbClr val="1F2D3A"/>
                </a:solidFill>
              </a:rPr>
              <a:t> Clark–Wilson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 → 2006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: ortak sınıflandırma dili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İki ayrı kol: </a:t>
            </a:r>
            <a:r>
              <a:rPr sz="1800" b="1">
                <a:solidFill>
                  <a:srgbClr val="1F2D3A"/>
                </a:solidFill>
              </a:rPr>
              <a:t>zararlıyı tanıma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erişimi modelleme</a:t>
            </a:r>
            <a:r>
              <a:rPr sz="1800" b="0">
                <a:solidFill>
                  <a:srgbClr val="1F2D3A"/>
                </a:solidFill>
              </a:rPr>
              <a:t>. Bugün ikisini birden görüyoruz.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yazılımın kısa tarihi — şema</a:t>
            </a:r>
          </a:p>
        </p:txBody>
      </p:sp>
      <p:pic>
        <p:nvPicPr>
          <p:cNvPr id="7" name="Picture 6" descr="h02-09-zararli-tarih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81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ÖÇ.1:</a:t>
            </a:r>
            <a:r>
              <a:rPr sz="2000" b="0">
                <a:solidFill>
                  <a:srgbClr val="1F2D3A"/>
                </a:solidFill>
              </a:rPr>
              <a:t> Yaygın yazılım güvenlik açıklarını </a:t>
            </a:r>
            <a:r>
              <a:rPr sz="2000" b="1">
                <a:solidFill>
                  <a:srgbClr val="1F2D3A"/>
                </a:solidFill>
              </a:rPr>
              <a:t>tanımlar ve sınıflandırır.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 konu bir arada: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zararlı yazılım türleri ve gizlenmesi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erişim denetimi ve biçimsel modeller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Ortak dil:</a:t>
            </a:r>
            <a:r>
              <a:rPr sz="2000" b="0">
                <a:solidFill>
                  <a:srgbClr val="1F2D3A"/>
                </a:solidFill>
              </a:rPr>
              <a:t> CWE · CVE · CVSS · OWASP · MASVS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066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Hiçbir demoda gerçek zararlı yazılım yok. Hepsi kendi klasöründe, yönetici yetkisi olmadan çalışan </a:t>
            </a:r>
            <a:r>
              <a:rPr sz="2000" b="1">
                <a:solidFill>
                  <a:srgbClr val="1F2D3A"/>
                </a:solidFill>
              </a:rPr>
              <a:t>güvenli benzetimlerdir.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Zararlı yazılım: türler ve tarih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"Virüs" her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Zararlı yazılım (malware):</a:t>
            </a:r>
            <a:r>
              <a:rPr sz="2000" b="0">
                <a:solidFill>
                  <a:srgbClr val="1F2D3A"/>
                </a:solidFill>
              </a:rPr>
              <a:t> sahibinin izni dışında zarar veren her program.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Virüs, zararlı yazılımın </a:t>
            </a:r>
            <a:r>
              <a:rPr sz="2000" b="1">
                <a:solidFill>
                  <a:srgbClr val="1F2D3A"/>
                </a:solidFill>
              </a:rPr>
              <a:t>yalnızca bir türüdür.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Ayrım </a:t>
            </a:r>
            <a:r>
              <a:rPr sz="2000" b="1">
                <a:solidFill>
                  <a:srgbClr val="1F2D3A"/>
                </a:solidFill>
              </a:rPr>
              <a:t>nasıl yayıldığına</a:t>
            </a:r>
            <a:r>
              <a:rPr sz="2000" b="0">
                <a:solidFill>
                  <a:srgbClr val="1F2D3A"/>
                </a:solidFill>
              </a:rPr>
              <a:t> göre yapılır: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dosyaya iliştirilir, taşıyıcı çalışınca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masum görünür, kendini kopyalamaz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Fidye / rootkit / bot / silici:</a:t>
            </a:r>
            <a:r>
              <a:rPr sz="2000" b="0">
                <a:solidFill>
                  <a:srgbClr val="1F2D3A"/>
                </a:solidFill>
              </a:rPr>
              <a:t> yük ya da davranış türleri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Haftanın üç parçası — şema</a:t>
            </a:r>
          </a:p>
        </p:txBody>
      </p:sp>
      <p:pic>
        <p:nvPicPr>
          <p:cNvPr id="7" name="Picture 6" descr="h02-01-haftanin-res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tarih: dönüm noktaları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97"/>
                <a:gridCol w="2764255"/>
                <a:gridCol w="6983382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Cohen'in tanımı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Kuram: "tam tespit imkânsız"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 yaygın PC virüsü (önyükleme sektörü)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İnternette yayılan ilk büyük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ILOVEYOU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E-posta ekiyle milyonlar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açığıyla bellekte yayılan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Stuxnet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Endüstriyel denetleyiciyi hedef alan solucan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kendine yayılan 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Fidye gibi görünen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(yıkıcı)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Cohen 1984: tespitin sınırı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virüs, kendini (belki değiştirerek) başka programlara </a:t>
            </a:r>
            <a:r>
              <a:rPr sz="2000" b="1">
                <a:solidFill>
                  <a:srgbClr val="1F2D3A"/>
                </a:solidFill>
              </a:rPr>
              <a:t>kopyalayabilen</a:t>
            </a:r>
            <a:r>
              <a:rPr sz="2000" b="0">
                <a:solidFill>
                  <a:srgbClr val="1F2D3A"/>
                </a:solidFill>
              </a:rPr>
              <a:t> programdır.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Cohen kanıtladı: </a:t>
            </a:r>
            <a:r>
              <a:rPr sz="2000" b="1">
                <a:solidFill>
                  <a:srgbClr val="1F2D3A"/>
                </a:solidFill>
              </a:rPr>
              <a:t>"Bu program virüs mü?"</a:t>
            </a:r>
            <a:r>
              <a:rPr sz="2000" b="0">
                <a:solidFill>
                  <a:srgbClr val="1F2D3A"/>
                </a:solidFill>
              </a:rPr>
              <a:t> sorusunu her durumda doğru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 (durma probleminden indirgenir).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 sonuç: hiçbir antivirüs %100 tespit edemez.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Yanlış pozitif:</a:t>
            </a:r>
            <a:r>
              <a:rPr sz="2000" b="0">
                <a:solidFill>
                  <a:srgbClr val="1F2D3A"/>
                </a:solidFill>
              </a:rPr>
              <a:t> temiz dosyayı yakalar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❌ </a:t>
            </a:r>
            <a:r>
              <a:rPr sz="2000" b="1">
                <a:solidFill>
                  <a:srgbClr val="1F2D3A"/>
                </a:solidFill>
              </a:rPr>
              <a:t>Yanlış negatif:</a:t>
            </a:r>
            <a:r>
              <a:rPr sz="2000" b="0">
                <a:solidFill>
                  <a:srgbClr val="1F2D3A"/>
                </a:solidFill>
              </a:rPr>
              <a:t> zararlıyı kaçırır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05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Bunu Demo 01'de kendi gözümüzle göreceğiz.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199"/>
                <a:gridCol w="3637178"/>
                <a:gridCol w="413315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Parça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Hastalık benzetmesi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Bulaştırıcı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Kendini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Hücreye girip çoğalma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Tetikleyici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"Ne zaman?" koşulu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Kuluçka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Asıl zarar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Semptomlar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Tetikleyici koşulu bekleyip patlayan koda </a:t>
            </a:r>
            <a:r>
              <a:rPr sz="2000" b="1">
                <a:solidFill>
                  <a:srgbClr val="1F2D3A"/>
                </a:solidFill>
              </a:rPr>
              <a:t>mantık bombası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parça zorunlu değildir: yalnız yayılan, yüksüz bir virüs de vardır (yine de zafiyettir).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 alt türleri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 (dosya) virüsü:</a:t>
            </a:r>
            <a:r>
              <a:rPr sz="2000" b="0">
                <a:solidFill>
                  <a:srgbClr val="1F2D3A"/>
                </a:solidFill>
              </a:rPr>
              <a:t> çalıştırılabilir dosyaya bulaşır; dosya çalışınca virüs 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Makro virüsü:</a:t>
            </a:r>
            <a:r>
              <a:rPr sz="2000" b="0">
                <a:solidFill>
                  <a:srgbClr val="1F2D3A"/>
                </a:solidFill>
              </a:rPr>
              <a:t> ofis belgesinin makro diline yazılır; belge açılınca çalışır (Melissa, 1999).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Önyükleme sektörü virüsü:</a:t>
            </a:r>
            <a:r>
              <a:rPr sz="2000" b="0">
                <a:solidFill>
                  <a:srgbClr val="1F2D3A"/>
                </a:solidFill>
              </a:rPr>
              <a:t> diskin ilk sektörüne bulaşır, işletim sisteminden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çalışır (Brain, 1986).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Modern </a:t>
            </a:r>
            <a:r>
              <a:rPr sz="2000" b="1">
                <a:solidFill>
                  <a:srgbClr val="1F2D3A"/>
                </a:solidFill>
              </a:rPr>
              <a:t>UEFI Secure Boot</a:t>
            </a:r>
            <a:r>
              <a:rPr sz="2000" b="0">
                <a:solidFill>
                  <a:srgbClr val="1F2D3A"/>
                </a:solidFill>
              </a:rPr>
              <a:t> bu sınıfı büyük ölçüde zorlaştırdı.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Solucan, truva atı, fidye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328"/>
                <a:gridCol w="5205502"/>
                <a:gridCol w="350370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başına, ağdan; kullanıcı gerekmez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Morris, Code Red,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Truva atı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Masum görünür; kullanıcı çalıştırır; kopyalanmaz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"Bedava oyun", sahte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Dosyaları şifreler, para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CryptoLocker,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Solucanın tehlikesi hızdır:</a:t>
            </a:r>
            <a:r>
              <a:rPr sz="2000" b="0">
                <a:solidFill>
                  <a:srgbClr val="1F2D3A"/>
                </a:solidFill>
              </a:rPr>
              <a:t> dakikalar içinde yüz binlerce makine.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türler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Rootkit:</a:t>
            </a:r>
            <a:r>
              <a:rPr sz="2000" b="0">
                <a:solidFill>
                  <a:srgbClr val="1F2D3A"/>
                </a:solidFill>
              </a:rPr>
              <a:t> kendini ve diğer zararlıları işletim sisteminden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 (dosya/süreç/ağ listesinden siler). Tespiti en zor sınıf.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Bot / botnet:</a:t>
            </a:r>
            <a:r>
              <a:rPr sz="2000" b="0">
                <a:solidFill>
                  <a:srgbClr val="1F2D3A"/>
                </a:solidFill>
              </a:rPr>
              <a:t> uzaktan komut alan makineler ağı (DDoS, spam, madencilik).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/ reklam yazılımı:</a:t>
            </a:r>
            <a:r>
              <a:rPr sz="2000" b="0">
                <a:solidFill>
                  <a:srgbClr val="1F2D3A"/>
                </a:solidFill>
              </a:rPr>
              <a:t> veri toplar ya da reklam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Silici (wiper):</a:t>
            </a:r>
            <a:r>
              <a:rPr sz="2000" b="0">
                <a:solidFill>
                  <a:srgbClr val="1F2D3A"/>
                </a:solidFill>
              </a:rPr>
              <a:t> fidye gibi görünür ama veriyi </a:t>
            </a:r>
            <a:r>
              <a:rPr sz="2000" b="1">
                <a:solidFill>
                  <a:srgbClr val="1F2D3A"/>
                </a:solidFill>
              </a:rPr>
              <a:t>kalıcı yok eder</a:t>
            </a:r>
            <a:r>
              <a:rPr sz="2000" b="0">
                <a:solidFill>
                  <a:srgbClr val="1F2D3A"/>
                </a:solidFill>
              </a:rPr>
              <a:t> (NotPetya). Amaç para değil, yıkım.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 ne kadar hızlı yayılır?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 modeli</a:t>
            </a:r>
            <a:r>
              <a:rPr sz="2000" b="0">
                <a:solidFill>
                  <a:srgbClr val="1F2D3A"/>
                </a:solidFill>
              </a:rPr>
              <a:t> — duyarlı (S) ve enfekte (I) makineler: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i(t+dt) = i(t) + beta * i(t) * (1 - i(t)/N) *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 * i</a:t>
            </a:r>
            <a:r>
              <a:rPr sz="2000" b="0">
                <a:solidFill>
                  <a:srgbClr val="1F2D3A"/>
                </a:solidFill>
              </a:rPr>
              <a:t>: enfekte çoğaldıkça tarama hızlanır →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büyüme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(1 - i/N)</a:t>
            </a:r>
            <a:r>
              <a:rPr sz="2000" b="0">
                <a:solidFill>
                  <a:srgbClr val="1F2D3A"/>
                </a:solidFill>
              </a:rPr>
              <a:t>: duyarlı azaldıkça isabet düşer → </a:t>
            </a:r>
            <a:r>
              <a:rPr sz="2000" b="1">
                <a:solidFill>
                  <a:srgbClr val="1F2D3A"/>
                </a:solidFill>
              </a:rPr>
              <a:t>doygunluk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sessiz açılış → ani patlama → doygunluk (S eğrisi)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74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Savunmacının tek penceresi </a:t>
            </a:r>
            <a:r>
              <a:rPr sz="2000" b="1">
                <a:solidFill>
                  <a:srgbClr val="1F2D3A"/>
                </a:solidFill>
              </a:rPr>
              <a:t>açılış evresi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 modeli: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 (duyarlı):</a:t>
            </a:r>
            <a:r>
              <a:rPr sz="2000" b="0">
                <a:solidFill>
                  <a:srgbClr val="1F2D3A"/>
                </a:solidFill>
              </a:rPr>
              <a:t> henüz bulaşmamış, savunmasız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 (enfekte):</a:t>
            </a:r>
            <a:r>
              <a:rPr sz="2000" b="0">
                <a:solidFill>
                  <a:srgbClr val="1F2D3A"/>
                </a:solidFill>
              </a:rPr>
              <a:t> zaten bulaşmış, kendisi de tarayan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N:</a:t>
            </a:r>
            <a:r>
              <a:rPr sz="2000" b="0">
                <a:solidFill>
                  <a:srgbClr val="1F2D3A"/>
                </a:solidFill>
              </a:rPr>
              <a:t> toplam savunmasız makine sayısı (S + 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enfekte makine birim zamanda </a:t>
            </a:r>
            <a:r>
              <a:rPr sz="2000" b="1">
                <a:solidFill>
                  <a:srgbClr val="1F2D3A"/>
                </a:solidFill>
              </a:rPr>
              <a:t>rastgele adres tarar</a:t>
            </a:r>
            <a:r>
              <a:rPr sz="2000" b="0">
                <a:solidFill>
                  <a:srgbClr val="1F2D3A"/>
                </a:solidFill>
              </a:rPr>
              <a:t>; adres duyarlıya denk gelirse onu da enfekte eder.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Salgın modeli — şema</a:t>
            </a:r>
          </a:p>
        </p:txBody>
      </p:sp>
      <p:pic>
        <p:nvPicPr>
          <p:cNvPr id="7" name="Picture 6" descr="h02-03-salgin-mod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09 — Salgın simülasyonu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code/week-02/09-salgin-simulasyonu</a:t>
            </a:r>
            <a:r>
              <a:rPr sz="1800" b="0">
                <a:solidFill>
                  <a:srgbClr val="1F2D3A"/>
                </a:solidFill>
              </a:rPr>
              <a:t> · yalnız hesaplama, ağ yok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Senaryo: Slammer benzeri (rastgele tarama, hizli UDP)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54 s        78    0.1% |..............................|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1.5 dk     1430    1.9% |#.............................|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2.4 dk    45601   60.8% |##################............|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3.3 dk    74429   99.2% |##############################|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%90 doygunluk:  Code Red ~13.3 sa · Slammer ~2.7 dk · Hitlist ~50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Code Red (2001): ~359.000 sunucu · ikiye katlanma ~37 dk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Slammer (2003): tek 404 baytlık UDP paketi · ~8,5 s'de ikiye katlanma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Ders: insan hızında tepki yetişmez → </a:t>
            </a:r>
            <a:r>
              <a:rPr sz="1800" b="1">
                <a:solidFill>
                  <a:srgbClr val="1F2D3A"/>
                </a:solidFill>
              </a:rPr>
              <a:t>önceden yama, kapalı port, otomatik savunma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Gerçek sayılar: Code Red vs Slammer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5875441"/>
                <a:gridCol w="3357395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~359.000 sunucu; ikiye katlanma ~37 dk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Slammer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Server ayrıştırma hizmeti, tek 404 baytlık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~8,5 sn'de ikiye katlandı; ~10 dk'da %90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75783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Slammer'ı hızlandıran iki şey: </a:t>
            </a:r>
            <a:r>
              <a:rPr sz="1800" b="1">
                <a:solidFill>
                  <a:srgbClr val="1F2D3A"/>
                </a:solidFill>
              </a:rPr>
              <a:t>tek paket</a:t>
            </a:r>
            <a:r>
              <a:rPr sz="1800" b="0">
                <a:solidFill>
                  <a:srgbClr val="1F2D3A"/>
                </a:solidFill>
              </a:rPr>
              <a:t> yeterliydi (bağlantı kurma yok), hedefi </a:t>
            </a:r>
            <a:r>
              <a:rPr sz="1800" b="1">
                <a:solidFill>
                  <a:srgbClr val="1F2D3A"/>
                </a:solidFill>
              </a:rPr>
              <a:t>olabildiğince hızlı</a:t>
            </a:r>
            <a:r>
              <a:rPr sz="1800" b="0">
                <a:solidFill>
                  <a:srgbClr val="1F2D3A"/>
                </a:solidFill>
              </a:rPr>
              <a:t> taradı.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Slammer neden yavaşladı?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dakikadan sonra yayılma hızı düştü.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Neden? </a:t>
            </a:r>
            <a:r>
              <a:rPr sz="2000" b="1">
                <a:solidFill>
                  <a:srgbClr val="1F2D3A"/>
                </a:solidFill>
              </a:rPr>
              <a:t>Savunma değil</a:t>
            </a:r>
            <a:r>
              <a:rPr sz="2000" b="0">
                <a:solidFill>
                  <a:srgbClr val="1F2D3A"/>
                </a:solidFill>
              </a:rPr>
              <a:t> — ağın </a:t>
            </a:r>
            <a:r>
              <a:rPr sz="2000" b="1">
                <a:solidFill>
                  <a:srgbClr val="1F2D3A"/>
                </a:solidFill>
              </a:rPr>
              <a:t>bant genişliği doldu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Solucan kendi trafiğiyle kendi yayılma kanalını tıkadı.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bazen saldırganın kendi başarısı, kendi sınırını yaratır.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İkiye katlanma süresi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Enfekte sayısının </a:t>
            </a:r>
            <a:r>
              <a:rPr sz="2000" b="1">
                <a:solidFill>
                  <a:srgbClr val="1F2D3A"/>
                </a:solidFill>
              </a:rPr>
              <a:t>iki katına çıkması</a:t>
            </a:r>
            <a:r>
              <a:rPr sz="2000" b="0">
                <a:solidFill>
                  <a:srgbClr val="1F2D3A"/>
                </a:solidFill>
              </a:rPr>
              <a:t> için geçen süre, bir salgının hızının en sezgisel ölçüsüdür.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Red: ikiye katlanma ~</a:t>
            </a:r>
            <a:r>
              <a:rPr sz="2000" b="1">
                <a:solidFill>
                  <a:srgbClr val="1F2D3A"/>
                </a:solidFill>
              </a:rPr>
              <a:t>37 dakika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Slammer: ikiye katlanma ~</a:t>
            </a:r>
            <a:r>
              <a:rPr sz="2000" b="1">
                <a:solidFill>
                  <a:srgbClr val="1F2D3A"/>
                </a:solidFill>
              </a:rPr>
              <a:t>8,5 saniye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Aradaki fark ~260 kat — ikisi de "solucan" olsa da savunma penceresi </a:t>
            </a:r>
            <a:r>
              <a:rPr sz="2000" b="1">
                <a:solidFill>
                  <a:srgbClr val="1F2D3A"/>
                </a:solidFill>
              </a:rPr>
              <a:t>tamamen farklıdır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09 çıktısını okurken: açılış evresi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54 saniyede yalnız </a:t>
            </a:r>
            <a:r>
              <a:rPr sz="2000" b="1">
                <a:solidFill>
                  <a:srgbClr val="1F2D3A"/>
                </a:solidFill>
              </a:rPr>
              <a:t>78 makine</a:t>
            </a:r>
            <a:r>
              <a:rPr sz="2000" b="0">
                <a:solidFill>
                  <a:srgbClr val="1F2D3A"/>
                </a:solidFill>
              </a:rPr>
              <a:t> enfekte (%0.1).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Grafikte neredeyse hiçbir şey görünmüyor.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1,5 dakika sonra patlama </a:t>
            </a:r>
            <a:r>
              <a:rPr sz="2000" b="1">
                <a:solidFill>
                  <a:srgbClr val="1F2D3A"/>
                </a:solidFill>
              </a:rPr>
              <a:t>başlıyor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"Şimdilik az" demek, üstel büyümede </a:t>
            </a:r>
            <a:r>
              <a:rPr sz="2000" b="1">
                <a:solidFill>
                  <a:srgbClr val="1F2D3A"/>
                </a:solidFill>
              </a:rPr>
              <a:t>en pahalı yanılgıdır.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09 çıktısını okurken: hız ve hitlist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 (beta):</a:t>
            </a:r>
            <a:r>
              <a:rPr sz="2000" b="0">
                <a:solidFill>
                  <a:srgbClr val="1F2D3A"/>
                </a:solidFill>
              </a:rPr>
              <a:t> tarama hızını artırmak, doygunluğu </a:t>
            </a:r>
            <a:r>
              <a:rPr sz="2000" b="1">
                <a:solidFill>
                  <a:srgbClr val="1F2D3A"/>
                </a:solidFill>
              </a:rPr>
              <a:t>saatlerden dakikalara</a:t>
            </a:r>
            <a:r>
              <a:rPr sz="2000" b="0">
                <a:solidFill>
                  <a:srgbClr val="1F2D3A"/>
                </a:solidFill>
              </a:rPr>
              <a:t>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savunma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olmalı: güvenlik duvarı kuralı, ağ bölümleme, önceden yama.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Hitlist:</a:t>
            </a:r>
            <a:r>
              <a:rPr sz="2000" b="0">
                <a:solidFill>
                  <a:srgbClr val="1F2D3A"/>
                </a:solidFill>
              </a:rPr>
              <a:t> saldırgan hazır hedef listesiyle başlarsa açılış evresi </a:t>
            </a:r>
            <a:r>
              <a:rPr sz="2000" b="1">
                <a:solidFill>
                  <a:srgbClr val="1F2D3A"/>
                </a:solidFill>
              </a:rPr>
              <a:t>atlanır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zaten dar penceresi tamamen </a:t>
            </a:r>
            <a:r>
              <a:rPr sz="2000" b="1">
                <a:solidFill>
                  <a:srgbClr val="1F2D3A"/>
                </a:solidFill>
              </a:rPr>
              <a:t>kapanır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Programcıya ders (salgın)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Yayılma hızını programcı belirlemez.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ilk bulaşmayı mümkün kılan hatayı</a:t>
            </a:r>
            <a:r>
              <a:rPr sz="2000" b="0">
                <a:solidFill>
                  <a:srgbClr val="1F2D3A"/>
                </a:solidFill>
              </a:rPr>
              <a:t> programcı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Red, Slammer, Blaster — hepsi </a:t>
            </a:r>
            <a:r>
              <a:rPr sz="2000" b="1">
                <a:solidFill>
                  <a:srgbClr val="1F2D3A"/>
                </a:solidFill>
              </a:rPr>
              <a:t>sınır denetimsiz</a:t>
            </a:r>
            <a:r>
              <a:rPr sz="2000" b="0">
                <a:solidFill>
                  <a:srgbClr val="1F2D3A"/>
                </a:solidFill>
              </a:rPr>
              <a:t> bir taşma ile yayıldı.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dinlenen ağ portu bir </a:t>
            </a:r>
            <a:r>
              <a:rPr sz="2000" b="1">
                <a:solidFill>
                  <a:srgbClr val="1F2D3A"/>
                </a:solidFill>
              </a:rPr>
              <a:t>saldırı yüzeyidir</a:t>
            </a:r>
            <a:r>
              <a:rPr sz="2000" b="0">
                <a:solidFill>
                  <a:srgbClr val="1F2D3A"/>
                </a:solidFill>
              </a:rPr>
              <a:t>; kullanılmayan hizmeti hiç açmayın.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Kendiniz deneyin: beta yarıya inerse?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salgin.c</a:t>
            </a:r>
            <a:r>
              <a:rPr sz="2000" b="0">
                <a:solidFill>
                  <a:srgbClr val="1F2D3A"/>
                </a:solidFill>
              </a:rPr>
              <a:t> içindeki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</a:t>
            </a:r>
            <a:r>
              <a:rPr sz="2000" b="0">
                <a:solidFill>
                  <a:srgbClr val="1F2D3A"/>
                </a:solidFill>
              </a:rPr>
              <a:t> değerini yarıya indirip yeniden çalıştırın.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Doygunluk süresi nasıl değişir? Hitlist senaryosunda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i0</a:t>
            </a:r>
            <a:r>
              <a:rPr sz="2000" b="0">
                <a:solidFill>
                  <a:srgbClr val="1F2D3A"/>
                </a:solidFill>
              </a:rPr>
              <a:t>'ı 100'e çıkarınca fark ne kadar kalır?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Beta yarıya inince büyüme yavaşlar, doygunluk süresi </a:t>
            </a:r>
            <a:r>
              <a:rPr sz="2000" b="1">
                <a:solidFill>
                  <a:srgbClr val="1F2D3A"/>
                </a:solidFill>
              </a:rPr>
              <a:t>uzar</a:t>
            </a:r>
            <a:r>
              <a:rPr sz="2000" b="0">
                <a:solidFill>
                  <a:srgbClr val="1F2D3A"/>
                </a:solidFill>
              </a:rPr>
              <a:t>. Hitlist senaryosunda açılış evresi zaten atlandığı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i0</a:t>
            </a:r>
            <a:r>
              <a:rPr sz="2000" b="0">
                <a:solidFill>
                  <a:srgbClr val="1F2D3A"/>
                </a:solidFill>
              </a:rPr>
              <a:t> artışının etkisi </a:t>
            </a:r>
            <a:r>
              <a:rPr sz="2000" b="1">
                <a:solidFill>
                  <a:srgbClr val="1F2D3A"/>
                </a:solidFill>
              </a:rPr>
              <a:t>daha küçüktür</a:t>
            </a:r>
            <a:r>
              <a:rPr sz="2000" b="0">
                <a:solidFill>
                  <a:srgbClr val="1F2D3A"/>
                </a:solidFill>
              </a:rPr>
              <a:t> — hitlist'in asıl gücü açılışı atlaması, başlangıç sayısı değil.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Yayılma ve gizlenme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Gizlenme merdiveni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6183203"/>
                <a:gridCol w="2303546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Gövde şifreli,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çözücü sabit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imzala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Oligomorfizm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Çözücünün birkaç biçimi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Hepsini imzala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Polimorfizm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her kopyada yeniden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üretilir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Emülasyonla çöz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Metamorfizm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yok,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kodun tamamı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yeniden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Davranışa bak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Anahtar fikir:</a:t>
            </a:r>
            <a:r>
              <a:rPr sz="1800" b="0">
                <a:solidFill>
                  <a:srgbClr val="1F2D3A"/>
                </a:solidFill>
              </a:rPr>
              <a:t> şifreli gövde her kopyada farklı görünür, </a:t>
            </a:r>
            <a:r>
              <a:rPr sz="1800" b="1">
                <a:solidFill>
                  <a:srgbClr val="1F2D3A"/>
                </a:solidFill>
              </a:rPr>
              <a:t>çözülünce hep aynıdır.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Şifreli / polimorfik virüsün yapısı</a:t>
            </a:r>
          </a:p>
        </p:txBody>
      </p:sp>
      <p:pic>
        <p:nvPicPr>
          <p:cNvPr id="7" name="Picture 6" descr="h02-04-polimorf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9668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Emülasyon</a:t>
            </a:r>
            <a:r>
              <a:rPr sz="2000" b="0">
                <a:solidFill>
                  <a:srgbClr val="1F2D3A"/>
                </a:solidFill>
              </a:rPr>
              <a:t> tam da bu son kutuyu görmek için çözücüyü çalıştırır.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Oyuncak antivirüs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code/week-02/01-imza-tarayici</a:t>
            </a:r>
            <a:r>
              <a:rPr sz="2000" b="0">
                <a:solidFill>
                  <a:srgbClr val="1F2D3A"/>
                </a:solidFill>
              </a:rPr>
              <a:t> · Kitap: Tarif 12.1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Zararsız, çalıştırılamayan bir </a:t>
            </a:r>
            <a:r>
              <a:rPr sz="2000" b="1">
                <a:solidFill>
                  <a:srgbClr val="1F2D3A"/>
                </a:solidFill>
              </a:rPr>
              <a:t>"KAPSÜL"</a:t>
            </a:r>
            <a:r>
              <a:rPr sz="2000" b="0">
                <a:solidFill>
                  <a:srgbClr val="1F2D3A"/>
                </a:solidFill>
              </a:rPr>
              <a:t> biçimi: başlık + çözücü +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Dört yöntem, dört sınır: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1042"/>
                <a:gridCol w="3288407"/>
                <a:gridCol w="508208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Atlatılır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Birebir aynı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bayt değişince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Desen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değişiklik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Çözücü değişince (polimorfizm)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Hepsi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Hash kırılgan, desen dayanıklı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(hash):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      YAKALANDI  Ornek.MaviKedi.A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ornek_a_1bayt.bin  TEMIZ      &lt;- tek bayt degisti, ozet bambaska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(desen):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TEMIZ      &lt;- cozucu de degisti (polimorfizm)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çığ etkisiyle tek baytta kırılır;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çözücüyü yakalar ama polimorfizm onu da atlatır.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Sezgisel: iki tür hata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(sezgisel):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TEMIZ     puan=  0   &lt;- YANLIS NEGATIF (kacirdi)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 SUPHELI   puan= 80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arsiv.bin    SUPHELI   puan= 50   &lt;- YANLIS POZITIF (zararsiz)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olmadan polimorfiği yakaladı ✅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zararsız yüksek-entropili dosyayı şüpheli sandı ❌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 düz gövdeli örneği kaçırdı 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Cohen'in belirsizliği tam burada.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Emülasyon hepsini çözer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6 (emulasyon):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YAKALANDI  ... | 8 komut, 4 BOS, lcg8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Çözücüyü </a:t>
            </a:r>
            <a:r>
              <a:rPr sz="2000" b="1">
                <a:solidFill>
                  <a:srgbClr val="1F2D3A"/>
                </a:solidFill>
              </a:rPr>
              <a:t>güvenli sanal makinede</a:t>
            </a:r>
            <a:r>
              <a:rPr sz="2000" b="0">
                <a:solidFill>
                  <a:srgbClr val="1F2D3A"/>
                </a:solidFill>
              </a:rPr>
              <a:t> çalıştırır, açılan gövdeyi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polimorfik kopya da </a:t>
            </a:r>
            <a:r>
              <a:rPr sz="2000" b="1">
                <a:solidFill>
                  <a:srgbClr val="1F2D3A"/>
                </a:solidFill>
              </a:rPr>
              <a:t>aynı imzaya</a:t>
            </a:r>
            <a:r>
              <a:rPr sz="2000" b="0">
                <a:solidFill>
                  <a:srgbClr val="1F2D3A"/>
                </a:solidFill>
              </a:rPr>
              <a:t> döndü.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ama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; zararlı "sanal makinedeyim" derse gizlenebilir.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 tek yöntem yetmez → katmanlı savunma.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Entropi: rastgelelik ölçüsü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H = -sum_{b=0}^{255} p(b),log_2 p(b) quad (0 dots 8 text{ bit/bayt})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0:</a:t>
            </a:r>
            <a:r>
              <a:rPr sz="2000" b="0">
                <a:solidFill>
                  <a:srgbClr val="1F2D3A"/>
                </a:solidFill>
              </a:rPr>
              <a:t> hep aynı bayt · </a:t>
            </a:r>
            <a:r>
              <a:rPr sz="2000" b="1">
                <a:solidFill>
                  <a:srgbClr val="1F2D3A"/>
                </a:solidFill>
              </a:rPr>
              <a:t>H ~ 4–5:</a:t>
            </a:r>
            <a:r>
              <a:rPr sz="2000" b="0">
                <a:solidFill>
                  <a:srgbClr val="1F2D3A"/>
                </a:solidFill>
              </a:rPr>
              <a:t> metin/kod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6:</a:t>
            </a:r>
            <a:r>
              <a:rPr sz="2000" b="0">
                <a:solidFill>
                  <a:srgbClr val="1F2D3A"/>
                </a:solidFill>
              </a:rPr>
              <a:t> derlenmiş program · </a:t>
            </a:r>
            <a:r>
              <a:rPr sz="2000" b="1">
                <a:solidFill>
                  <a:srgbClr val="1F2D3A"/>
                </a:solidFill>
              </a:rPr>
              <a:t>H ~ 8:</a:t>
            </a:r>
            <a:r>
              <a:rPr sz="2000" b="0">
                <a:solidFill>
                  <a:srgbClr val="1F2D3A"/>
                </a:solidFill>
              </a:rPr>
              <a:t> şifreli/sıkışık/rastgele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Antivirüs: "paketli/şifreli kod?" · EDR: "dosyaları hızla şifreleyen süreç?" (fidye)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Entropi ölçer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code/week-02/02-entropi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tekduze.txt   0.00  |........................| tekduze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belge.txt     4.17  |#############...........|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kod.bin       6.23  |###################.....| orta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sifreli.bin   7.95  |########################|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rastgele.bin  7.95  |########################|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Entropi tek başına "zararlı mı?" demez: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 de yüksektir.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yüksekse ipucudur.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Sıcak bölge ve fidye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Karma dosya (pencere 512):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1024-1535  4.14 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1536-2047  7.56  YUKSEK  &lt;- gizli sifreli bolum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2048-2559  7.66 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Fidye izi: belge.txt 4.17 --&gt; sifreli.bin 7.95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Paketlenmiş programın deseni: </a:t>
            </a:r>
            <a:r>
              <a:rPr sz="2000" b="1">
                <a:solidFill>
                  <a:srgbClr val="1F2D3A"/>
                </a:solidFill>
              </a:rPr>
              <a:t>küçük açıcı + yüksek entropili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süreç kısa sürede çok dosyada bu sıçramayı yapıyorsa </a:t>
            </a:r>
            <a:r>
              <a:rPr sz="2000" b="1">
                <a:solidFill>
                  <a:srgbClr val="1F2D3A"/>
                </a:solidFill>
              </a:rPr>
              <a:t>davranış tabanlı</a:t>
            </a:r>
            <a:r>
              <a:rPr sz="2000" b="0">
                <a:solidFill>
                  <a:srgbClr val="1F2D3A"/>
                </a:solidFill>
              </a:rPr>
              <a:t> koruma alarm verir.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7566"/>
                <a:gridCol w="3933227"/>
                <a:gridCol w="444074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Güçlü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Zayıf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Hızlı, düşük 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Bilinmeyeni/polimorfiği kaçırır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İmzasız yeni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Gizlenmeye dirençli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 başlamış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Kum havuzu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davranışı görür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Yavaş; anti-VM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açar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İtibar / bulut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 yayılan tehdide iyi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Gizlilik, bağlantı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Modern EDR hepsini birleştirir, davranışa ağırlık verir.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katmanları — şema</a:t>
            </a:r>
          </a:p>
        </p:txBody>
      </p:sp>
      <p:pic>
        <p:nvPicPr>
          <p:cNvPr id="7" name="Picture 6" descr="h02-10-karsi-onlem-katman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EDR örneğinde davranış 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kısa sürede </a:t>
            </a:r>
            <a:r>
              <a:rPr sz="2000" b="1">
                <a:solidFill>
                  <a:srgbClr val="1F2D3A"/>
                </a:solidFill>
              </a:rPr>
              <a:t>yüzlerce dosyayı</a:t>
            </a:r>
            <a:r>
              <a:rPr sz="2000" b="0">
                <a:solidFill>
                  <a:srgbClr val="1F2D3A"/>
                </a:solidFill>
              </a:rPr>
              <a:t> okuyup yüksek entropili haliyle geri yazıyor.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İçeriğe hiç </a:t>
            </a:r>
            <a:r>
              <a:rPr sz="2000" b="1">
                <a:solidFill>
                  <a:srgbClr val="1F2D3A"/>
                </a:solidFill>
              </a:rPr>
              <a:t>bakmadan</a:t>
            </a:r>
            <a:r>
              <a:rPr sz="2000" b="0">
                <a:solidFill>
                  <a:srgbClr val="1F2D3A"/>
                </a:solidFill>
              </a:rPr>
              <a:t>, yalnız bu davranış neredeyse kesin bir </a:t>
            </a:r>
            <a:r>
              <a:rPr sz="2000" b="1">
                <a:solidFill>
                  <a:srgbClr val="1F2D3A"/>
                </a:solidFill>
              </a:rPr>
              <a:t>fidye yazılımı</a:t>
            </a:r>
            <a:r>
              <a:rPr sz="2000" b="0">
                <a:solidFill>
                  <a:srgbClr val="1F2D3A"/>
                </a:solidFill>
              </a:rPr>
              <a:t> belirtisidir.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tabanlı koruma dosyanın "ne olduğuna" değil, "ne yaptığına"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ipucu Demo 02'deki entropi sıçramasıyla </a:t>
            </a:r>
            <a:r>
              <a:rPr sz="2000" b="1">
                <a:solidFill>
                  <a:srgbClr val="1F2D3A"/>
                </a:solidFill>
              </a:rPr>
              <a:t>aynı fikrin</a:t>
            </a:r>
            <a:r>
              <a:rPr sz="2000" b="0">
                <a:solidFill>
                  <a:srgbClr val="1F2D3A"/>
                </a:solidFill>
              </a:rPr>
              <a:t> çalışma zamanı hâlidir.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alet kutusu: saldırgan ve savunmacı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zararlının </a:t>
            </a:r>
            <a:r>
              <a:rPr sz="2000" b="1">
                <a:solidFill>
                  <a:srgbClr val="1F2D3A"/>
                </a:solidFill>
              </a:rPr>
              <a:t>gizlenmek</a:t>
            </a:r>
            <a:r>
              <a:rPr sz="2000" b="0">
                <a:solidFill>
                  <a:srgbClr val="1F2D3A"/>
                </a:solidFill>
              </a:rPr>
              <a:t> için kullandığı teknik ile meşru yazılımın </a:t>
            </a:r>
            <a:r>
              <a:rPr sz="2000" b="1">
                <a:solidFill>
                  <a:srgbClr val="1F2D3A"/>
                </a:solidFill>
              </a:rPr>
              <a:t>kendini korumak</a:t>
            </a:r>
            <a:r>
              <a:rPr sz="2000" b="0">
                <a:solidFill>
                  <a:srgbClr val="1F2D3A"/>
                </a:solidFill>
              </a:rPr>
              <a:t> için kullandığı teknik çoğu zaman </a:t>
            </a:r>
            <a:r>
              <a:rPr sz="2000" b="1">
                <a:solidFill>
                  <a:srgbClr val="1F2D3A"/>
                </a:solidFill>
              </a:rPr>
              <a:t>aynıdır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</a:t>
            </a:r>
            <a:r>
              <a:rPr sz="2000" b="1">
                <a:solidFill>
                  <a:srgbClr val="1F2D3A"/>
                </a:solidFill>
              </a:rPr>
              <a:t>niyet ve bağlamdadır</a:t>
            </a:r>
            <a:r>
              <a:rPr sz="2000" b="0">
                <a:solidFill>
                  <a:srgbClr val="1F2D3A"/>
                </a:solidFill>
              </a:rPr>
              <a:t>: biri sizin varlığınızı korur, diğeri imzadan kaçar.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 gövde + çözücü deseni: polimorfik virüste de, korumalı mobil uygulamada da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simetri dönem boyunca (9., 11. hafta) tekrar karşımıza çıkacak.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mobil ödeme neden şifreli sabit tutar?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 için hassas dizeler/sabitler şifreli tutulur, kullanım anında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değerlendirici ikili dosyada </a:t>
            </a:r>
            <a:r>
              <a:rPr sz="2000" b="1">
                <a:solidFill>
                  <a:srgbClr val="1F2D3A"/>
                </a:solidFill>
              </a:rPr>
              <a:t>yüksek entropili bölge</a:t>
            </a:r>
            <a:r>
              <a:rPr sz="2000" b="0">
                <a:solidFill>
                  <a:srgbClr val="1F2D3A"/>
                </a:solidFill>
              </a:rPr>
              <a:t> görünce sorar: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Çözücü nerede?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Anahtarı nasıl buluyor?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Anahtar bellekte ne kadar açık kalıyor?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entropi ölçümü hem antivirüsün hem değerlendiricinin </a:t>
            </a:r>
            <a:r>
              <a:rPr sz="2000" b="1">
                <a:solidFill>
                  <a:srgbClr val="1F2D3A"/>
                </a:solidFill>
              </a:rPr>
              <a:t>ortak aracıdır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İtibar / bulut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Dosyanın </a:t>
            </a:r>
            <a:r>
              <a:rPr sz="2000" b="1">
                <a:solidFill>
                  <a:srgbClr val="1F2D3A"/>
                </a:solidFill>
              </a:rPr>
              <a:t>yaygınlığı, kaynağı, dijital imzası</a:t>
            </a:r>
            <a:r>
              <a:rPr sz="2000" b="0">
                <a:solidFill>
                  <a:srgbClr val="1F2D3A"/>
                </a:solidFill>
              </a:rPr>
              <a:t> bulutta sorgulanır.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"Milyonlarca kullanıcıda görülmüş ve temiz" ise güvenilir sayılır; "hiç görülmemiş, imzasız" ise şüphelidir.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yanı: </a:t>
            </a:r>
            <a:r>
              <a:rPr sz="2000" b="1">
                <a:solidFill>
                  <a:srgbClr val="1F2D3A"/>
                </a:solidFill>
              </a:rPr>
              <a:t>hızlı yayılan</a:t>
            </a:r>
            <a:r>
              <a:rPr sz="2000" b="0">
                <a:solidFill>
                  <a:srgbClr val="1F2D3A"/>
                </a:solidFill>
              </a:rPr>
              <a:t> tehdide karşı anında güncellenir.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yanı: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(dosya bilgisi buluta gider) ve internet </a:t>
            </a:r>
            <a:r>
              <a:rPr sz="2000" b="1">
                <a:solidFill>
                  <a:srgbClr val="1F2D3A"/>
                </a:solidFill>
              </a:rPr>
              <a:t>bağlantısı</a:t>
            </a:r>
            <a:r>
              <a:rPr sz="2000" b="0">
                <a:solidFill>
                  <a:srgbClr val="1F2D3A"/>
                </a:solidFill>
              </a:rPr>
              <a:t> gerektirir.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07 — Kural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code/week-02/07-kural-motoru</a:t>
            </a:r>
            <a:r>
              <a:rPr sz="1800" b="0">
                <a:solidFill>
                  <a:srgbClr val="1F2D3A"/>
                </a:solidFill>
              </a:rPr>
              <a:t> · YARA benzeri mini motor, </a:t>
            </a:r>
            <a:r>
              <a:rPr sz="1800" b="1">
                <a:solidFill>
                  <a:srgbClr val="1F2D3A"/>
                </a:solidFill>
              </a:rPr>
              <a:t>kendi zararsız desenlerimiz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kural Kelime_Baglam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$a = "indir"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$b = "calistir"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$sihir = "KAPSUL/1"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kosul ($a and $b) and $sihir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47033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556"/>
                <a:gridCol w="4025614"/>
                <a:gridCol w="44493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Zararsız kılavuz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Kelime_Cifti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eşleşti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Bağlamsız kural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Değişmiş varyant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joker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??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desen yakaladı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Değişmeyen iskeleti hedefle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Bozuk kural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REDDEDİLDİ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Tespit aracı da bir ayrıştırıcıdır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liste vs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"kötü olanı tanı" — bilinen zararlıyı listele, geri kalanına izin ver.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"iyi olanı tanı" — bilinen iyiyi listele, </a:t>
            </a:r>
            <a:r>
              <a:rPr sz="2000" b="1">
                <a:solidFill>
                  <a:srgbClr val="1F2D3A"/>
                </a:solidFill>
              </a:rPr>
              <a:t>geri kalan her şeyden şüphelen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izleme, beyaz listenin </a:t>
            </a:r>
            <a:r>
              <a:rPr sz="2000" b="1">
                <a:solidFill>
                  <a:srgbClr val="1F2D3A"/>
                </a:solidFill>
              </a:rPr>
              <a:t>dosya düzeyindeki</a:t>
            </a:r>
            <a:r>
              <a:rPr sz="2000" b="0">
                <a:solidFill>
                  <a:srgbClr val="1F2D3A"/>
                </a:solidFill>
              </a:rPr>
              <a:t> biçimidir.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iyiyken her dosyanın özeti bir </a:t>
            </a:r>
            <a:r>
              <a:rPr sz="2000" b="1">
                <a:solidFill>
                  <a:srgbClr val="1F2D3A"/>
                </a:solidFill>
              </a:rPr>
              <a:t>manifeste</a:t>
            </a:r>
            <a:r>
              <a:rPr sz="2000" b="0">
                <a:solidFill>
                  <a:srgbClr val="1F2D3A"/>
                </a:solidFill>
              </a:rPr>
              <a:t> yazılır, sonra düzenli karşılaştırılır.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hangi tür, hangi katman?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E-posta ekindeki </a:t>
            </a:r>
            <a:r>
              <a:rPr sz="2000" b="1">
                <a:solidFill>
                  <a:srgbClr val="1F2D3A"/>
                </a:solidFill>
              </a:rPr>
              <a:t>"fatura.pdf.exe"</a:t>
            </a:r>
            <a:r>
              <a:rPr sz="2000" b="0">
                <a:solidFill>
                  <a:srgbClr val="1F2D3A"/>
                </a:solidFill>
              </a:rPr>
              <a:t> açılınca çalışıp adres defterindeki herkese kendini yolluyor.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Bu hangi tür zararlı? İlk yakalayacak katman ne olurdu?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Solucan/truva karışımı — kullanıcı </a:t>
            </a:r>
            <a:r>
              <a:rPr sz="2000" b="1">
                <a:solidFill>
                  <a:srgbClr val="1F2D3A"/>
                </a:solidFill>
              </a:rPr>
              <a:t>açar</a:t>
            </a:r>
            <a:r>
              <a:rPr sz="2000" b="0">
                <a:solidFill>
                  <a:srgbClr val="1F2D3A"/>
                </a:solidFill>
              </a:rPr>
              <a:t> (truva atı gibi başlar), sonra </a:t>
            </a:r>
            <a:r>
              <a:rPr sz="2000" b="1">
                <a:solidFill>
                  <a:srgbClr val="1F2D3A"/>
                </a:solidFill>
              </a:rPr>
              <a:t>kendi kendine yayılır</a:t>
            </a:r>
            <a:r>
              <a:rPr sz="2000" b="0">
                <a:solidFill>
                  <a:srgbClr val="1F2D3A"/>
                </a:solidFill>
              </a:rPr>
              <a:t> (solucan gibi). İlk yakalayacak katman: </a:t>
            </a:r>
            <a:r>
              <a:rPr sz="2000" b="1">
                <a:solidFill>
                  <a:srgbClr val="1F2D3A"/>
                </a:solidFill>
              </a:rPr>
              <a:t>imza/desen</a:t>
            </a:r>
            <a:r>
              <a:rPr sz="2000" b="0">
                <a:solidFill>
                  <a:srgbClr val="1F2D3A"/>
                </a:solidFill>
              </a:rPr>
              <a:t> (bilinen bir örnekse) ya da </a:t>
            </a:r>
            <a:r>
              <a:rPr sz="2000" b="1">
                <a:solidFill>
                  <a:srgbClr val="1F2D3A"/>
                </a:solidFill>
              </a:rPr>
              <a:t>sezgisel</a:t>
            </a:r>
            <a:r>
              <a:rPr sz="2000" b="0">
                <a:solidFill>
                  <a:srgbClr val="1F2D3A"/>
                </a:solidFill>
              </a:rPr>
              <a:t> (yeniyse).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tedarik zinciri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yazılımın </a:t>
            </a:r>
            <a:r>
              <a:rPr sz="2000" b="1">
                <a:solidFill>
                  <a:srgbClr val="1F2D3A"/>
                </a:solidFill>
              </a:rPr>
              <a:t>resmî güncellemesine</a:t>
            </a:r>
            <a:r>
              <a:rPr sz="2000" b="0">
                <a:solidFill>
                  <a:srgbClr val="1F2D3A"/>
                </a:solidFill>
              </a:rPr>
              <a:t>, derleme sırasında arka kapı ekleniyor (SUNBURST benzeri).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İmza tabanlı tespit ve izin listesi (whitelisting) bunu yakalar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Hayır, ikisi de başarısız olur.</a:t>
            </a:r>
            <a:r>
              <a:rPr sz="2000" b="0">
                <a:solidFill>
                  <a:srgbClr val="1F2D3A"/>
                </a:solidFill>
              </a:rPr>
              <a:t> Dosya </a:t>
            </a:r>
            <a:r>
              <a:rPr sz="2000" b="1">
                <a:solidFill>
                  <a:srgbClr val="1F2D3A"/>
                </a:solidFill>
              </a:rPr>
              <a:t>geçerli imzalıdır</a:t>
            </a:r>
            <a:r>
              <a:rPr sz="2000" b="0">
                <a:solidFill>
                  <a:srgbClr val="1F2D3A"/>
                </a:solidFill>
              </a:rPr>
              <a:t> ve izin listesinde zaten vardır (güncelleme resmî kaynaktan geliyor). Tedarik zinciri saldırısının korkutucu yanı tam budur: güvendiğiniz kaynağın kendisi ele geçirilmiştir.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08 — Bütünlük izleme (beyaz liste)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code/week-02/08-butunluk-izleme</a:t>
            </a:r>
            <a:r>
              <a:rPr sz="2000" b="0">
                <a:solidFill>
                  <a:srgbClr val="1F2D3A"/>
                </a:solidFill>
              </a:rPr>
              <a:t> · SHA-256 manifesti + </a:t>
            </a:r>
            <a:r>
              <a:rPr sz="2000" b="1">
                <a:solidFill>
                  <a:srgbClr val="1F2D3A"/>
                </a:solidFill>
              </a:rPr>
              <a:t>HMAC mühür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DEGISTI  kutuphane.bin  c603d7c6... -&gt; 64b8f2b2... (49-&gt;65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SILINDI  veri.txt       (manifestte var, klasorde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YENI     gizli.bin      (taban cizgisinde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-- saldirgan manifesti yeniden yazar --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korunmus    &lt;- izleyici KANDIRILDI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MUHUR GECERSIZ -&gt; manifeste GUVENME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34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Özet değişikliği yakalar · ⚠️ </a:t>
            </a:r>
            <a:r>
              <a:rPr sz="2000" b="1">
                <a:solidFill>
                  <a:srgbClr val="1F2D3A"/>
                </a:solidFill>
              </a:rPr>
              <a:t>beklenen değerler de korunmalı</a:t>
            </a:r>
            <a:r>
              <a:rPr sz="2000" b="0">
                <a:solidFill>
                  <a:srgbClr val="1F2D3A"/>
                </a:solidFill>
              </a:rPr>
              <a:t> (HMAC/imza, anahtar ayrı yerde)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329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12.2: CRC32 → SHA-256/HMAC · 6. haftada çalışma zamanı bütünlük denetimi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Değerlendirici: bütünlük denetimini nasıl kırar?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adımlı test: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izlenen bir </a:t>
            </a:r>
            <a:r>
              <a:rPr sz="2000" b="1">
                <a:solidFill>
                  <a:srgbClr val="1F2D3A"/>
                </a:solidFill>
              </a:rPr>
              <a:t>dosyayı</a:t>
            </a:r>
            <a:r>
              <a:rPr sz="2000" b="0">
                <a:solidFill>
                  <a:srgbClr val="1F2D3A"/>
                </a:solidFill>
              </a:rPr>
              <a:t> değiştirir → tespit edildi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beklenen değerleri</a:t>
            </a:r>
            <a:r>
              <a:rPr sz="2000" b="0">
                <a:solidFill>
                  <a:srgbClr val="1F2D3A"/>
                </a:solidFill>
              </a:rPr>
              <a:t> (manifest, gömülü özet) de değiştirmeye çalışır.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İkinci test geçilemiyorsa denetim yalnız </a:t>
            </a:r>
            <a:r>
              <a:rPr sz="2000" b="1">
                <a:solidFill>
                  <a:srgbClr val="1F2D3A"/>
                </a:solidFill>
              </a:rPr>
              <a:t>kazaya</a:t>
            </a:r>
            <a:r>
              <a:rPr sz="2000" b="0">
                <a:solidFill>
                  <a:srgbClr val="1F2D3A"/>
                </a:solidFill>
              </a:rPr>
              <a:t> karşı korur, </a:t>
            </a:r>
            <a:r>
              <a:rPr sz="2000" b="1">
                <a:solidFill>
                  <a:srgbClr val="1F2D3A"/>
                </a:solidFill>
              </a:rPr>
              <a:t>saldırgana</a:t>
            </a:r>
            <a:r>
              <a:rPr sz="2000" b="0">
                <a:solidFill>
                  <a:srgbClr val="1F2D3A"/>
                </a:solidFill>
              </a:rPr>
              <a:t> karşı değil.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 zamanlı karşılaştırma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özeti karşılaştırırken </a:t>
            </a:r>
            <a:r>
              <a:rPr sz="2000" b="1">
                <a:solidFill>
                  <a:srgbClr val="1F2D3A"/>
                </a:solidFill>
              </a:rPr>
              <a:t>ilk farklı bayta</a:t>
            </a:r>
            <a:r>
              <a:rPr sz="2000" b="0">
                <a:solidFill>
                  <a:srgbClr val="1F2D3A"/>
                </a:solidFill>
              </a:rPr>
              <a:t> kadar mı, yoksa </a:t>
            </a:r>
            <a:r>
              <a:rPr sz="2000" b="1">
                <a:solidFill>
                  <a:srgbClr val="1F2D3A"/>
                </a:solidFill>
              </a:rPr>
              <a:t>hep aynı sürede</a:t>
            </a:r>
            <a:r>
              <a:rPr sz="2000" b="0">
                <a:solidFill>
                  <a:srgbClr val="1F2D3A"/>
                </a:solidFill>
              </a:rPr>
              <a:t> mi bakılıyor?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 farkı, doğru baytların </a:t>
            </a:r>
            <a:r>
              <a:rPr sz="2000" b="1">
                <a:solidFill>
                  <a:srgbClr val="1F2D3A"/>
                </a:solidFill>
              </a:rPr>
              <a:t>sayısını sızdırabilir</a:t>
            </a:r>
            <a:r>
              <a:rPr sz="2000" b="0">
                <a:solidFill>
                  <a:srgbClr val="1F2D3A"/>
                </a:solidFill>
              </a:rPr>
              <a:t> (zamanlama yan kanalı).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ve HMAC karşılaştırmaları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yapılmalı.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Demo 08'in HMAC mührü bu yüzden özel bir karşılaştırma kullanır.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CRC32 yeterli değil?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CRC32</a:t>
            </a:r>
            <a:r>
              <a:rPr sz="2000" b="0">
                <a:solidFill>
                  <a:srgbClr val="1F2D3A"/>
                </a:solidFill>
              </a:rPr>
              <a:t> hata tespiti için tasarlandı, </a:t>
            </a:r>
            <a:r>
              <a:rPr sz="2000" b="1">
                <a:solidFill>
                  <a:srgbClr val="1F2D3A"/>
                </a:solidFill>
              </a:rPr>
              <a:t>saldırgana karşı 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CRC32 değerini veren </a:t>
            </a:r>
            <a:r>
              <a:rPr sz="2000" b="1">
                <a:solidFill>
                  <a:srgbClr val="1F2D3A"/>
                </a:solidFill>
              </a:rPr>
              <a:t>farklı içerik</a:t>
            </a:r>
            <a:r>
              <a:rPr sz="2000" b="0">
                <a:solidFill>
                  <a:srgbClr val="1F2D3A"/>
                </a:solidFill>
              </a:rPr>
              <a:t> bulmak kolaydır (çakışma ucuz).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dosyayı değiştirip CRC'yi </a:t>
            </a:r>
            <a:r>
              <a:rPr sz="2000" b="1">
                <a:solidFill>
                  <a:srgbClr val="1F2D3A"/>
                </a:solidFill>
              </a:rPr>
              <a:t>eski değere döndürebilir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bütünlük denetiminde </a:t>
            </a:r>
            <a:r>
              <a:rPr sz="2000" b="1">
                <a:solidFill>
                  <a:srgbClr val="1F2D3A"/>
                </a:solidFill>
              </a:rPr>
              <a:t>kriptografik özet</a:t>
            </a:r>
            <a:r>
              <a:rPr sz="2000" b="0">
                <a:solidFill>
                  <a:srgbClr val="1F2D3A"/>
                </a:solidFill>
              </a:rPr>
              <a:t> (SHA-256) ya da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Olaylar: içeri nasıl girdiler?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042"/>
                <a:gridCol w="6291335"/>
                <a:gridCol w="2654157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 sınıfı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 (1988)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fingerd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sendmail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DEBUG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rsh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CWE-120/242 · 489 · 287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Slammer (2003)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çözümleme hizmeti, tek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Blaster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RPC/DCOM taşması (CVE-2003-0352)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Conficker (2008)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hizmeti yol işleme (CVE-2008-4250) · zayıf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CWE-119 · 521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 (2017)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SMBv1 (CVE-2017-0144) · yama 2 ay önce çıkmıştı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 (2017)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sunucusu üzerinden dağıtım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 (2020)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ortamına arka kapı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tedarik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 incelemelerinin iskeleti — şema</a:t>
            </a:r>
          </a:p>
        </p:txBody>
      </p:sp>
      <p:pic>
        <p:nvPicPr>
          <p:cNvPr id="7" name="Picture 6" descr="h02-11-olay-iskele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Olaylardan programcıya dersler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Sınır denetimi:</a:t>
            </a:r>
            <a:r>
              <a:rPr sz="2000" b="0">
                <a:solidFill>
                  <a:srgbClr val="1F2D3A"/>
                </a:solidFill>
              </a:rPr>
              <a:t> 1988–2008 salgınlarının çoğu tek bir arabellek taşması (1. ve 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Sürümde hata ayıklama kodu bırakma</a:t>
            </a:r>
            <a:r>
              <a:rPr sz="2000" b="0">
                <a:solidFill>
                  <a:srgbClr val="1F2D3A"/>
                </a:solidFill>
              </a:rPr>
              <a:t> (Morris / </a:t>
            </a:r>
            <a:r>
              <a:rPr sz="2000" b="0">
                <a:solidFill>
                  <a:srgbClr val="A1123F"/>
                </a:solidFill>
                <a:latin typeface="Consolas"/>
              </a:rPr>
              <a:t>sendmail</a:t>
            </a:r>
            <a:r>
              <a:rPr sz="2000" b="0">
                <a:solidFill>
                  <a:srgbClr val="1F2D3A"/>
                </a:solidFill>
              </a:rPr>
              <a:t> DEBUG)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Gereksiz hizmeti açma:</a:t>
            </a:r>
            <a:r>
              <a:rPr sz="2000" b="0">
                <a:solidFill>
                  <a:srgbClr val="1F2D3A"/>
                </a:solidFill>
              </a:rPr>
              <a:t> her port bir saldırı yüzeyi (Slammer, Blaster)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İmzalı güncelleme + istemcide doğrulama</a:t>
            </a:r>
            <a:r>
              <a:rPr sz="2000" b="0">
                <a:solidFill>
                  <a:srgbClr val="1F2D3A"/>
                </a:solidFill>
              </a:rPr>
              <a:t> (NotPetya) — 3. ve 10. hafta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Derleme ortamı ve tedarik zinciri güvenliği</a:t>
            </a:r>
            <a:r>
              <a:rPr sz="2000" b="0">
                <a:solidFill>
                  <a:srgbClr val="1F2D3A"/>
                </a:solidFill>
              </a:rPr>
              <a:t> (SUNBURST) — 5. hafta SBOM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Güncelleme mekanizması güvenlik özelliğidir:</a:t>
            </a:r>
            <a:r>
              <a:rPr sz="2000" b="0">
                <a:solidFill>
                  <a:srgbClr val="1F2D3A"/>
                </a:solidFill>
              </a:rPr>
              <a:t> yama gecikmesi = açık kapı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Stuxnet (2010): devlet düzeyinde saldırı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Hedef: endüstriyel denetleyiciler (</a:t>
            </a:r>
            <a:r>
              <a:rPr sz="1800" b="1">
                <a:solidFill>
                  <a:srgbClr val="1F2D3A"/>
                </a:solidFill>
              </a:rPr>
              <a:t>PLC</a:t>
            </a:r>
            <a:r>
              <a:rPr sz="1800" b="0">
                <a:solidFill>
                  <a:srgbClr val="1F2D3A"/>
                </a:solidFill>
              </a:rPr>
              <a:t>) — bir uranyum zenginleştirme tesisi.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Giriş: bir </a:t>
            </a:r>
            <a:r>
              <a:rPr sz="1800" b="1">
                <a:solidFill>
                  <a:srgbClr val="1F2D3A"/>
                </a:solidFill>
              </a:rPr>
              <a:t>kısayol (.lnk)</a:t>
            </a:r>
            <a:r>
              <a:rPr sz="1800" b="0">
                <a:solidFill>
                  <a:srgbClr val="1F2D3A"/>
                </a:solidFill>
              </a:rPr>
              <a:t> dosyasının görüntülenmesiyle kod yükleme + </a:t>
            </a:r>
            <a:r>
              <a:rPr sz="1800" b="1">
                <a:solidFill>
                  <a:srgbClr val="1F2D3A"/>
                </a:solidFill>
              </a:rPr>
              <a:t>dört</a:t>
            </a:r>
            <a:r>
              <a:rPr sz="1800" b="0">
                <a:solidFill>
                  <a:srgbClr val="1F2D3A"/>
                </a:solidFill>
              </a:rPr>
              <a:t> sıfırıncı gün açığı.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Çalınmış sürücü imzaları</a:t>
            </a:r>
            <a:r>
              <a:rPr sz="1800" b="0">
                <a:solidFill>
                  <a:srgbClr val="1F2D3A"/>
                </a:solidFill>
              </a:rPr>
              <a:t> kullanıldı — imzalı olduğu için güvenilir göründü.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Programcıya ders: görüntüleme sırasında kod çalıştırmayın; imza anahtarlarını donanımda (HSM) koruyun.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Eğilim: 1988–2008 vs 2017 sonrası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1988–2008:</a:t>
            </a:r>
            <a:r>
              <a:rPr sz="2000" b="0">
                <a:solidFill>
                  <a:srgbClr val="1F2D3A"/>
                </a:solidFill>
              </a:rPr>
              <a:t> salgınların çoğu </a:t>
            </a:r>
            <a:r>
              <a:rPr sz="2000" b="1">
                <a:solidFill>
                  <a:srgbClr val="1F2D3A"/>
                </a:solidFill>
              </a:rPr>
              <a:t>tek bir arabellek taşmasıyla</a:t>
            </a:r>
            <a:r>
              <a:rPr sz="2000" b="0">
                <a:solidFill>
                  <a:srgbClr val="1F2D3A"/>
                </a:solidFill>
              </a:rPr>
              <a:t> yayıldı (Morris → Conficker).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2017 sonrası:</a:t>
            </a:r>
            <a:r>
              <a:rPr sz="2000" b="0">
                <a:solidFill>
                  <a:srgbClr val="1F2D3A"/>
                </a:solidFill>
              </a:rPr>
              <a:t> giriş kapısı </a:t>
            </a:r>
            <a:r>
              <a:rPr sz="2000" b="1">
                <a:solidFill>
                  <a:srgbClr val="1F2D3A"/>
                </a:solidFill>
              </a:rPr>
              <a:t>güncelleme ve derleme süreçlerine</a:t>
            </a:r>
            <a:r>
              <a:rPr sz="2000" b="0">
                <a:solidFill>
                  <a:srgbClr val="1F2D3A"/>
                </a:solidFill>
              </a:rPr>
              <a:t> kaydı (NotPetya, SUNBURST).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artık kodu kırmak yerine, kodun </a:t>
            </a:r>
            <a:r>
              <a:rPr sz="2000" b="1">
                <a:solidFill>
                  <a:srgbClr val="1F2D3A"/>
                </a:solidFill>
              </a:rPr>
              <a:t>size ulaştığı yolu</a:t>
            </a:r>
            <a:r>
              <a:rPr sz="2000" b="0">
                <a:solidFill>
                  <a:srgbClr val="1F2D3A"/>
                </a:solidFill>
              </a:rPr>
              <a:t> ele geçiriyor.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savunma ucu: sınır denetimi (1., 4. hafta) + imzalı güncelleme/tedarik zinciri (3., 5., 10. hafta).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WannaCry: üç ders bir olayda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637"/>
                <a:gridCol w="6579013"/>
                <a:gridCol w="2727883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WannaCry'da ne oldu?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 haftaki bağlantı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 açığı (EternalBlue) ile kullanıcı hiçbir şey yapmadan solucan gibi yayıldı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Solucan tanımı, salgın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Dosyaları şifreleyip fidye istedi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 sıçraması (Demo 02)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Yama boşluğu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Yama saldırıdan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haftalar 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çıkmıştı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= güvenlik özelliği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 bir olay, bu haftanın üç ana konusunu birleştiriyor.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Yama gecikmesi bir güvenlik açığıdır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WannaCry'ın açığının yaması, saldırıdan </a:t>
            </a:r>
            <a:r>
              <a:rPr sz="2000" b="1">
                <a:solidFill>
                  <a:srgbClr val="1F2D3A"/>
                </a:solidFill>
              </a:rPr>
              <a:t>iki ay önce</a:t>
            </a:r>
            <a:r>
              <a:rPr sz="2000" b="0">
                <a:solidFill>
                  <a:srgbClr val="1F2D3A"/>
                </a:solidFill>
              </a:rPr>
              <a:t> yayımlanmıştı.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Slammer'ınki de </a:t>
            </a:r>
            <a:r>
              <a:rPr sz="2000" b="1">
                <a:solidFill>
                  <a:srgbClr val="1F2D3A"/>
                </a:solidFill>
              </a:rPr>
              <a:t>aylar önceden</a:t>
            </a:r>
            <a:r>
              <a:rPr sz="2000" b="0">
                <a:solidFill>
                  <a:srgbClr val="1F2D3A"/>
                </a:solidFill>
              </a:rPr>
              <a:t> vardı.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güncelleme mekanizması </a:t>
            </a:r>
            <a:r>
              <a:rPr sz="2000" b="1">
                <a:solidFill>
                  <a:srgbClr val="1F2D3A"/>
                </a:solidFill>
              </a:rPr>
              <a:t>güvenlik özelliğinin bir parçasıdır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Güncellemesi zor/yavaş bir ürün, düzeltilmiş hataları bile </a:t>
            </a:r>
            <a:r>
              <a:rPr sz="2000" b="1">
                <a:solidFill>
                  <a:srgbClr val="1F2D3A"/>
                </a:solidFill>
              </a:rPr>
              <a:t>aylarca açık tutar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Tartışma: makrolar neden varsayılan kapalı?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Office, 2022'den beri internetten gelen belgelerdeki makroları varsayılan engelliyor. Bu, Melissa ve ILOVEYOU gibi eski salgınların hangi zayıflığını kapatıyor?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Kullanıcının "makroları etkinleştir" tuzağına düşmesine dayanan yayılma yolunu kapatıyor. </a:t>
            </a:r>
            <a:r>
              <a:rPr sz="2000" b="1">
                <a:solidFill>
                  <a:srgbClr val="1F2D3A"/>
                </a:solidFill>
              </a:rPr>
              <a:t>Varsayılan ayar</a:t>
            </a:r>
            <a:r>
              <a:rPr sz="2000" b="0">
                <a:solidFill>
                  <a:srgbClr val="1F2D3A"/>
                </a:solidFill>
              </a:rPr>
              <a:t>, kullanıcı eğitiminden daha güçlüdür: eğitim her kullanıcıda işe yaramayabilir, ama güvenli varsayılan </a:t>
            </a:r>
            <a:r>
              <a:rPr sz="2000" b="1">
                <a:solidFill>
                  <a:srgbClr val="1F2D3A"/>
                </a:solidFill>
              </a:rPr>
              <a:t>herkesi</a:t>
            </a:r>
            <a:r>
              <a:rPr sz="2000" b="0">
                <a:solidFill>
                  <a:srgbClr val="1F2D3A"/>
                </a:solidFill>
              </a:rPr>
              <a:t> aynı anda korur.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Tedarik zinciri: SUNBURST'ten NotPetya'ya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NotPetya (2017):</a:t>
            </a:r>
            <a:r>
              <a:rPr sz="2000" b="0">
                <a:solidFill>
                  <a:srgbClr val="1F2D3A"/>
                </a:solidFill>
              </a:rPr>
              <a:t> bir muhasebe yazılımının güncelleme sunucusu ele geçirildi, on binlerce makineye yayıldı.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SUNBURST (2020):</a:t>
            </a:r>
            <a:r>
              <a:rPr sz="2000" b="0">
                <a:solidFill>
                  <a:srgbClr val="1F2D3A"/>
                </a:solidFill>
              </a:rPr>
              <a:t> bir izleme yazılımının </a:t>
            </a:r>
            <a:r>
              <a:rPr sz="2000" b="1">
                <a:solidFill>
                  <a:srgbClr val="1F2D3A"/>
                </a:solidFill>
              </a:rPr>
              <a:t>derleme ortamına</a:t>
            </a:r>
            <a:r>
              <a:rPr sz="2000" b="0">
                <a:solidFill>
                  <a:srgbClr val="1F2D3A"/>
                </a:solidFill>
              </a:rPr>
              <a:t> sızılıp imzalı kütüphaneye arka kapı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nokta: saldırgan </a:t>
            </a:r>
            <a:r>
              <a:rPr sz="2000" b="1">
                <a:solidFill>
                  <a:srgbClr val="1F2D3A"/>
                </a:solidFill>
              </a:rPr>
              <a:t>sizin güvendiğiniz kaynağı</a:t>
            </a:r>
            <a:r>
              <a:rPr sz="2000" b="0">
                <a:solidFill>
                  <a:srgbClr val="1F2D3A"/>
                </a:solidFill>
              </a:rPr>
              <a:t> hedef alıyor, sizi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güncellemeleri imzala + istemcide doğrula, derleme ortamını koru (5. hafta SBOM).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Olaylardan çıkan tek satırlık dersler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3386"/>
                <a:gridCol w="7708148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Programcı ne yapmalıydı?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denetimli okuma, hata ayıklama kodunu sürümde bırakmama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/ Slammer / Blaster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girdisinin uzunluğunu doğrulama, gereksiz hizmeti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Ayrıştırıcıda sınır denetimi, eski protokolü kapatma, yamayı geciktirmeme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Güncellemeleri imzalama ve istemcide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ortamını koruma, tekrarlanabilir 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Yanılgı: "Her zararlı bir virüstür"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Yanılgı:</a:t>
            </a:r>
            <a:r>
              <a:rPr sz="1800" b="0">
                <a:solidFill>
                  <a:srgbClr val="1F2D3A"/>
                </a:solidFill>
              </a:rPr>
              <a:t> Bulaşan her şeye "virüs" denir.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Gerçek:</a:t>
            </a:r>
            <a:r>
              <a:rPr sz="1800" b="0">
                <a:solidFill>
                  <a:srgbClr val="1F2D3A"/>
                </a:solidFill>
              </a:rPr>
              <a:t> Virüs yalnız </a:t>
            </a:r>
            <a:r>
              <a:rPr sz="1800" b="1">
                <a:solidFill>
                  <a:srgbClr val="1F2D3A"/>
                </a:solidFill>
              </a:rPr>
              <a:t>bir türdür</a:t>
            </a:r>
            <a:r>
              <a:rPr sz="1800" b="0">
                <a:solidFill>
                  <a:srgbClr val="1F2D3A"/>
                </a:solidFill>
              </a:rPr>
              <a:t> — taşıyıcıya iliştirilir, taşıyıcı çalışınca çalışır. Solucan taşıyıcı gerektirmez; truva atı kendini kopyalamaz.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633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Türü yanlış koymak, yanlış savunmayı seçtirir: solucana karşı </a:t>
            </a:r>
            <a:r>
              <a:rPr sz="1800" b="1">
                <a:solidFill>
                  <a:srgbClr val="1F2D3A"/>
                </a:solidFill>
              </a:rPr>
              <a:t>ağ yaması</a:t>
            </a:r>
            <a:r>
              <a:rPr sz="1800" b="0">
                <a:solidFill>
                  <a:srgbClr val="1F2D3A"/>
                </a:solidFill>
              </a:rPr>
              <a:t> gerekirken truva atına karşı </a:t>
            </a:r>
            <a:r>
              <a:rPr sz="1800" b="1">
                <a:solidFill>
                  <a:srgbClr val="1F2D3A"/>
                </a:solidFill>
              </a:rPr>
              <a:t>kullanıcı eğitimi</a:t>
            </a:r>
            <a:r>
              <a:rPr sz="18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"İmza veritabanım güncel, güvendeyim"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Güncel imza veritabanı yeterli korumadır.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İmza yalnız </a:t>
            </a:r>
            <a:r>
              <a:rPr sz="2000" b="1">
                <a:solidFill>
                  <a:srgbClr val="1F2D3A"/>
                </a:solidFill>
              </a:rPr>
              <a:t>bilineni</a:t>
            </a:r>
            <a:r>
              <a:rPr sz="2000" b="0">
                <a:solidFill>
                  <a:srgbClr val="1F2D3A"/>
                </a:solidFill>
              </a:rPr>
              <a:t> yakalar. Tek baytlık değişiklik özet imzasını, çözücüsü değişen polimorfik kopya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imzasını atlatır (Demo 01).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İmza, savunmanın </a:t>
            </a:r>
            <a:r>
              <a:rPr sz="2000" b="1">
                <a:solidFill>
                  <a:srgbClr val="1F2D3A"/>
                </a:solidFill>
              </a:rPr>
              <a:t>başlangıcıdır</a:t>
            </a:r>
            <a:r>
              <a:rPr sz="2000" b="0">
                <a:solidFill>
                  <a:srgbClr val="1F2D3A"/>
                </a:solidFill>
              </a:rPr>
              <a:t>, bitmez.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"Yüksek entropi = zararlı"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Yüksek entropili her dosya şüphelidir.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Şifreli, sıkıştırılmış ve rastgele veri hep </a:t>
            </a:r>
            <a:r>
              <a:rPr sz="2000" b="1">
                <a:solidFill>
                  <a:srgbClr val="1F2D3A"/>
                </a:solidFill>
              </a:rPr>
              <a:t>8'e yakındır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, şifreli yedek de öyle.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Entropi yalnız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anlamlı bir ipucudur (Demo 02).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kum havuzu ve emülasyonun sınırı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"Kum havuzunda temiz çıktı, o hâlde temiz."</a:t>
            </a:r>
            <a:r>
              <a:rPr sz="2000" b="0">
                <a:solidFill>
                  <a:srgbClr val="1F2D3A"/>
                </a:solidFill>
              </a:rPr>
              <a:t> Zararlı sanal ortamı </a:t>
            </a:r>
            <a:r>
              <a:rPr sz="2000" b="1">
                <a:solidFill>
                  <a:srgbClr val="1F2D3A"/>
                </a:solidFill>
              </a:rPr>
              <a:t>sezip uyuyabilir</a:t>
            </a:r>
            <a:r>
              <a:rPr sz="2000" b="0">
                <a:solidFill>
                  <a:srgbClr val="1F2D3A"/>
                </a:solidFill>
              </a:rPr>
              <a:t>; sonuç "bu koşullarda bir şey yapmadı" demektir, "zararsızdır"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"Emülasyon metamorfik zararlıyı da çözer."</a:t>
            </a:r>
            <a:r>
              <a:rPr sz="2000" b="0">
                <a:solidFill>
                  <a:srgbClr val="1F2D3A"/>
                </a:solidFill>
              </a:rPr>
              <a:t> Emülasyon şifreli gövdenin çözüldüğü anı yakalar; metamorfik kodda </a:t>
            </a:r>
            <a:r>
              <a:rPr sz="2000" b="1">
                <a:solidFill>
                  <a:srgbClr val="1F2D3A"/>
                </a:solidFill>
              </a:rPr>
              <a:t>sabit bir gövde yoktur</a:t>
            </a:r>
            <a:r>
              <a:rPr sz="2000" b="0">
                <a:solidFill>
                  <a:srgbClr val="1F2D3A"/>
                </a:solidFill>
              </a:rPr>
              <a:t>. Burada davranış tabanlı tespit gerekir.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"%100 tespit eden ürün alırız"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Doğru ürünü seçersek hiçbir zararlı kaçmaz.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Cohen'in (1984) kanıtladığı gibi, "bu program virüs mü?" sorusunu </a:t>
            </a:r>
            <a:r>
              <a:rPr sz="2000" b="1">
                <a:solidFill>
                  <a:srgbClr val="1F2D3A"/>
                </a:solidFill>
              </a:rPr>
              <a:t>her durumda doğru</a:t>
            </a:r>
            <a:r>
              <a:rPr sz="2000" b="0">
                <a:solidFill>
                  <a:srgbClr val="1F2D3A"/>
                </a:solidFill>
              </a:rPr>
              <a:t>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tespit yöntemi yanlış pozitif ile yanlış negatif arasında bir </a:t>
            </a:r>
            <a:r>
              <a:rPr sz="2000" b="1">
                <a:solidFill>
                  <a:srgbClr val="1F2D3A"/>
                </a:solidFill>
              </a:rPr>
              <a:t>denge</a:t>
            </a:r>
            <a:r>
              <a:rPr sz="2000" b="0">
                <a:solidFill>
                  <a:srgbClr val="1F2D3A"/>
                </a:solidFill>
              </a:rPr>
              <a:t> kurar.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"Bütünlük izlemesini düz SHA-256 listesiyle yaptım"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Bir dosya listesi + özetleri yeterli bütünlük denetimidir.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Saldırgan dosyayı değiştirdiği gibi </a:t>
            </a:r>
            <a:r>
              <a:rPr sz="2000" b="1">
                <a:solidFill>
                  <a:srgbClr val="1F2D3A"/>
                </a:solidFill>
              </a:rPr>
              <a:t>listeyi de</a:t>
            </a:r>
            <a:r>
              <a:rPr sz="2000" b="0">
                <a:solidFill>
                  <a:srgbClr val="1F2D3A"/>
                </a:solidFill>
              </a:rPr>
              <a:t> güncelleyebilir.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Beklenen değerler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(HMAC) ya da </a:t>
            </a:r>
            <a:r>
              <a:rPr sz="2000" b="1">
                <a:solidFill>
                  <a:srgbClr val="1F2D3A"/>
                </a:solidFill>
              </a:rPr>
              <a:t>imzalı</a:t>
            </a:r>
            <a:r>
              <a:rPr sz="2000" b="0">
                <a:solidFill>
                  <a:srgbClr val="1F2D3A"/>
                </a:solidFill>
              </a:rPr>
              <a:t> olmalı ve saldırganın erişemeyeceği yerde durmalıdır (Demo 08).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"Yama yayımlandı, iş bitti"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Yama çıktığı an risk biter.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WannaCry'ın kullandığı açığın yaması saldırıdan </a:t>
            </a:r>
            <a:r>
              <a:rPr sz="2000" b="1">
                <a:solidFill>
                  <a:srgbClr val="1F2D3A"/>
                </a:solidFill>
              </a:rPr>
              <a:t>yaklaşık iki ay önce</a:t>
            </a:r>
            <a:r>
              <a:rPr sz="2000" b="0">
                <a:solidFill>
                  <a:srgbClr val="1F2D3A"/>
                </a:solidFill>
              </a:rPr>
              <a:t> çıkmıştı.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Yama </a:t>
            </a:r>
            <a:r>
              <a:rPr sz="2000" b="1">
                <a:solidFill>
                  <a:srgbClr val="1F2D3A"/>
                </a:solidFill>
              </a:rPr>
              <a:t>uygulanana kadar</a:t>
            </a:r>
            <a:r>
              <a:rPr sz="2000" b="0">
                <a:solidFill>
                  <a:srgbClr val="1F2D3A"/>
                </a:solidFill>
              </a:rPr>
              <a:t> risk sürer; yayımlanan yama saldırgana da </a:t>
            </a:r>
            <a:r>
              <a:rPr sz="2000" b="1">
                <a:solidFill>
                  <a:srgbClr val="1F2D3A"/>
                </a:solidFill>
              </a:rPr>
              <a:t>yol gösterir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zararlı yazılım ve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yayılma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ile ayırabiliyorum.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güçlü/zayıf</a:t>
            </a:r>
            <a:r>
              <a:rPr sz="1800" b="0">
                <a:solidFill>
                  <a:srgbClr val="1F2D3A"/>
                </a:solidFill>
              </a:rPr>
              <a:t> yanını söyleyebiliyorum.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birer dersini</a:t>
            </a:r>
            <a:r>
              <a:rPr sz="1800" b="0">
                <a:solidFill>
                  <a:srgbClr val="1F2D3A"/>
                </a:solidFill>
              </a:rPr>
              <a:t> söyleyebiliyorum.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Saldırı ağaçları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= niceliksel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706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0">
                <a:solidFill>
                  <a:srgbClr val="1F2D3A"/>
                </a:solidFill>
              </a:rPr>
              <a:t>Kök: saldırganın </a:t>
            </a:r>
            <a:r>
              <a:rPr sz="1700" b="1">
                <a:solidFill>
                  <a:srgbClr val="1F2D3A"/>
                </a:solidFill>
              </a:rPr>
              <a:t>hedefi</a:t>
            </a:r>
            <a:r>
              <a:rPr sz="1700" b="0">
                <a:solidFill>
                  <a:srgbClr val="1F2D3A"/>
                </a:solidFill>
              </a:rPr>
              <a:t> · Dallar: ona ulaşma yolları.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1">
                <a:solidFill>
                  <a:srgbClr val="1F2D3A"/>
                </a:solidFill>
              </a:rPr>
              <a:t>VEYA:</a:t>
            </a:r>
            <a:r>
              <a:rPr sz="1700" b="0">
                <a:solidFill>
                  <a:srgbClr val="1F2D3A"/>
                </a:solidFill>
              </a:rPr>
              <a:t> en ucuz çocuk yeter · </a:t>
            </a:r>
            <a:r>
              <a:rPr sz="1700" b="1">
                <a:solidFill>
                  <a:srgbClr val="1F2D3A"/>
                </a:solidFill>
              </a:rPr>
              <a:t>VE:</a:t>
            </a:r>
            <a:r>
              <a:rPr sz="1700" b="0">
                <a:solidFill>
                  <a:srgbClr val="1F2D3A"/>
                </a:solidFill>
              </a:rPr>
              <a:t> çocukların toplamı gerekir.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0">
                <a:solidFill>
                  <a:srgbClr val="1F2D3A"/>
                </a:solidFill>
              </a:rPr>
              <a:t>Yapraklara </a:t>
            </a:r>
            <a:r>
              <a:rPr sz="1700" b="1">
                <a:solidFill>
                  <a:srgbClr val="1F2D3A"/>
                </a:solidFill>
              </a:rPr>
              <a:t>maliyet</a:t>
            </a:r>
            <a:r>
              <a:rPr sz="1700" b="0">
                <a:solidFill>
                  <a:srgbClr val="1F2D3A"/>
                </a:solidFill>
              </a:rPr>
              <a:t> yazarsak en ucuz saldırıyı buluruz.</a:t>
            </a:r>
          </a:p>
        </p:txBody>
      </p:sp>
      <p:pic>
        <p:nvPicPr>
          <p:cNvPr id="8" name="Picture 7" descr="h02-07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506218"/>
            <a:ext cx="7672173" cy="3637035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kurma adımları — şema</a:t>
            </a:r>
          </a:p>
        </p:txBody>
      </p:sp>
      <p:pic>
        <p:nvPicPr>
          <p:cNvPr id="7" name="Picture 6" descr="h02-12-saldiri-agaci-kurul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04 — Savunma maliyeti artırır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code/week-02/04-saldiri-agaci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ONCE:   EN UCUZ SALDIRI = 2  (bellekten oku)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 EN UCUZ SALDIRI = 8  (RASP eklendi)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dalına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(anti-debug, anti-hook)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ucuz saldırı </a:t>
            </a:r>
            <a:r>
              <a:rPr sz="2000" b="1">
                <a:solidFill>
                  <a:srgbClr val="1F2D3A"/>
                </a:solidFill>
              </a:rPr>
              <a:t>2 → 8</a:t>
            </a:r>
            <a:r>
              <a:rPr sz="2000" b="0">
                <a:solidFill>
                  <a:srgbClr val="1F2D3A"/>
                </a:solidFill>
              </a:rPr>
              <a:t> birime çıktı; en zayıf nokta </a:t>
            </a:r>
            <a:r>
              <a:rPr sz="2000" b="1">
                <a:solidFill>
                  <a:srgbClr val="1F2D3A"/>
                </a:solidFill>
              </a:rPr>
              <a:t>değişti.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yatırımını </a:t>
            </a:r>
            <a:r>
              <a:rPr sz="2000" b="1">
                <a:solidFill>
                  <a:srgbClr val="1F2D3A"/>
                </a:solidFill>
              </a:rPr>
              <a:t>sayıyla</a:t>
            </a:r>
            <a:r>
              <a:rPr sz="2000" b="0">
                <a:solidFill>
                  <a:srgbClr val="1F2D3A"/>
                </a:solidFill>
              </a:rPr>
              <a:t> gerekçelendirmenin yolu budur.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"VE ile VEYA fark etmez"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Saldırı ağacında düğüm türü önemli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düğümünde en ucuz çocuk yeter;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düğümünde çocukların </a:t>
            </a:r>
            <a:r>
              <a:rPr sz="2000" b="1">
                <a:solidFill>
                  <a:srgbClr val="1F2D3A"/>
                </a:solidFill>
              </a:rPr>
              <a:t>toplamı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Karıştırmak en ucuz yolu </a:t>
            </a:r>
            <a:r>
              <a:rPr sz="2000" b="1">
                <a:solidFill>
                  <a:srgbClr val="1F2D3A"/>
                </a:solidFill>
              </a:rPr>
              <a:t>yanlış buldurur</a:t>
            </a:r>
            <a:r>
              <a:rPr sz="2000" b="0">
                <a:solidFill>
                  <a:srgbClr val="1F2D3A"/>
                </a:solidFill>
              </a:rPr>
              <a:t> ve savunma parası </a:t>
            </a:r>
            <a:r>
              <a:rPr sz="2000" b="1">
                <a:solidFill>
                  <a:srgbClr val="1F2D3A"/>
                </a:solidFill>
              </a:rPr>
              <a:t>yanlış dala</a:t>
            </a:r>
            <a:r>
              <a:rPr sz="2000" b="0">
                <a:solidFill>
                  <a:srgbClr val="1F2D3A"/>
                </a:solidFill>
              </a:rPr>
              <a:t> gider.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"En pahalı dalı güçlendirelim"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Görünüşte en tehlikeli/karmaşık saldırı yolunu güçlendirmek en iyisidir.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Saldırgan her zaman </a:t>
            </a:r>
            <a:r>
              <a:rPr sz="2000" b="1">
                <a:solidFill>
                  <a:srgbClr val="1F2D3A"/>
                </a:solidFill>
              </a:rPr>
              <a:t>en ucuz</a:t>
            </a:r>
            <a:r>
              <a:rPr sz="2000" b="0">
                <a:solidFill>
                  <a:srgbClr val="1F2D3A"/>
                </a:solidFill>
              </a:rPr>
              <a:t> yolu seçer. Savunma köke giden </a:t>
            </a:r>
            <a:r>
              <a:rPr sz="2000" b="1">
                <a:solidFill>
                  <a:srgbClr val="1F2D3A"/>
                </a:solidFill>
              </a:rPr>
              <a:t>en ucuz yolu</a:t>
            </a:r>
            <a:r>
              <a:rPr sz="2000" b="0">
                <a:solidFill>
                  <a:srgbClr val="1F2D3A"/>
                </a:solidFill>
              </a:rPr>
              <a:t> pahalılaştırmıyorsa, en ucuz saldırının maliyeti hiç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 (Demo 04).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"Önlem eklemek yeter"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Ağaca bir savunma düğümü eklemek riski kapatır.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Her önlemin kendisi de </a:t>
            </a:r>
            <a:r>
              <a:rPr sz="2000" b="1">
                <a:solidFill>
                  <a:srgbClr val="1F2D3A"/>
                </a:solidFill>
              </a:rPr>
              <a:t>atlatılabilir</a:t>
            </a:r>
            <a:r>
              <a:rPr sz="2000" b="0">
                <a:solidFill>
                  <a:srgbClr val="1F2D3A"/>
                </a:solidFill>
              </a:rPr>
              <a:t>. Önlem düğümünün altına onu aşma yollarını (</a:t>
            </a:r>
            <a:r>
              <a:rPr sz="2000" b="1">
                <a:solidFill>
                  <a:srgbClr val="1F2D3A"/>
                </a:solidFill>
              </a:rPr>
              <a:t>karşı-karşı önlem</a:t>
            </a:r>
            <a:r>
              <a:rPr sz="2000" b="0">
                <a:solidFill>
                  <a:srgbClr val="1F2D3A"/>
                </a:solidFill>
              </a:rPr>
              <a:t>) yazmadan hesap </a:t>
            </a:r>
            <a:r>
              <a:rPr sz="2000" b="1">
                <a:solidFill>
                  <a:srgbClr val="1F2D3A"/>
                </a:solidFill>
              </a:rPr>
              <a:t>iyimser</a:t>
            </a:r>
            <a:r>
              <a:rPr sz="2000" b="0">
                <a:solidFill>
                  <a:srgbClr val="1F2D3A"/>
                </a:solidFill>
              </a:rPr>
              <a:t> çıkar.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vs denetim kaydı: iki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"Saldırgan </a:t>
            </a:r>
            <a:r>
              <a:rPr sz="2000" b="1">
                <a:solidFill>
                  <a:srgbClr val="1F2D3A"/>
                </a:solidFill>
              </a:rPr>
              <a:t>nereden</a:t>
            </a:r>
            <a:r>
              <a:rPr sz="2000" b="0">
                <a:solidFill>
                  <a:srgbClr val="1F2D3A"/>
                </a:solidFill>
              </a:rPr>
              <a:t> gelir?" — önceden, planlama sorusu.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 (audit log):</a:t>
            </a:r>
            <a:r>
              <a:rPr sz="2000" b="0">
                <a:solidFill>
                  <a:srgbClr val="1F2D3A"/>
                </a:solidFill>
              </a:rPr>
              <a:t> "</a:t>
            </a:r>
            <a:r>
              <a:rPr sz="2000" b="1">
                <a:solidFill>
                  <a:srgbClr val="1F2D3A"/>
                </a:solidFill>
              </a:rPr>
              <a:t>Geldi mi</a:t>
            </a:r>
            <a:r>
              <a:rPr sz="2000" b="0">
                <a:solidFill>
                  <a:srgbClr val="1F2D3A"/>
                </a:solidFill>
              </a:rPr>
              <a:t>, ne yaptı?" — sonradan, kanıt sorusu.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olaydan sonra ne olduğunu anlamanın, sorumluyu bulmanın tek yolu </a:t>
            </a:r>
            <a:r>
              <a:rPr sz="2000" b="1">
                <a:solidFill>
                  <a:srgbClr val="1F2D3A"/>
                </a:solidFill>
              </a:rPr>
              <a:t>güvenilir kayıttır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Kitap bunu Tarif 13.11'de işler; öneriler bugün de geçerli, yalnız araçlar güncellendi.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kaydı: ne yazılır, ne yazılmaz?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7751"/>
                <a:gridCol w="50837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✅ Kaydet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❌ Asla kaydetme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denemeleri (kim, ne zaman, nereden)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PIN, belirteç, özel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ve ayar değişiklikleri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Kart numarasının tamamı,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işlemler (onay, dışa aktarma, silme)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Çözülmüş gizli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denetimi sonuçları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Sürümde hata ayıklama çıktısı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13.11 · günlüğü </a:t>
            </a:r>
            <a:r>
              <a:rPr sz="2000" b="1">
                <a:solidFill>
                  <a:srgbClr val="1F2D3A"/>
                </a:solidFill>
              </a:rPr>
              <a:t>saldırganın da okuyacağını</a:t>
            </a:r>
            <a:r>
              <a:rPr sz="2000" b="0">
                <a:solidFill>
                  <a:srgbClr val="1F2D3A"/>
                </a:solidFill>
              </a:rPr>
              <a:t> varsayarak tasarla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10 — Günlük enjeksiyonu (CWE-117)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code/week-02/10-gunluk-enjeksiyonu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GUVENSIZ: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kullanici=admin sonuc=BASARILI ...  &lt;- SAHTE satir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kullanici=deniz^[[2K^Mgizli ...     &lt;- ekran silme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GUVENLI: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kullanici=kayra\x0A2026-... (tek satir)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sahte 'admin BASARILI' satiri: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711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✅ Kaçışla (</a:t>
            </a:r>
            <a:r>
              <a:rPr sz="1800" b="0">
                <a:solidFill>
                  <a:srgbClr val="A1123F"/>
                </a:solidFill>
                <a:latin typeface="Consolas"/>
              </a:rPr>
              <a:t>xNN</a:t>
            </a:r>
            <a:r>
              <a:rPr sz="1800" b="0">
                <a:solidFill>
                  <a:srgbClr val="1F2D3A"/>
                </a:solidFill>
              </a:rPr>
              <a:t>) · ✅ uzunluğu sınırla · ✅ </a:t>
            </a:r>
            <a:r>
              <a:rPr sz="18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1800" b="0">
                <a:solidFill>
                  <a:srgbClr val="1F2D3A"/>
                </a:solidFill>
              </a:rPr>
              <a:t> — girdi asla biçim dizgesi değil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zinciri: basit ama kırılabilir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Fikir: her kayıt, </a:t>
            </a:r>
            <a:r>
              <a:rPr sz="2000" b="1">
                <a:solidFill>
                  <a:srgbClr val="1F2D3A"/>
                </a:solidFill>
              </a:rPr>
              <a:t>bir önceki kaydın özetini</a:t>
            </a:r>
            <a:r>
              <a:rPr sz="2000" b="0">
                <a:solidFill>
                  <a:srgbClr val="1F2D3A"/>
                </a:solidFill>
              </a:rPr>
              <a:t>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Ortadan bir kaydı değiştirmek, sonraki </a:t>
            </a:r>
            <a:r>
              <a:rPr sz="2000" b="1">
                <a:solidFill>
                  <a:srgbClr val="1F2D3A"/>
                </a:solidFill>
              </a:rPr>
              <a:t>tüm zinciri</a:t>
            </a:r>
            <a:r>
              <a:rPr sz="2000" b="0">
                <a:solidFill>
                  <a:srgbClr val="1F2D3A"/>
                </a:solidFill>
              </a:rPr>
              <a:t>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saldırgan </a:t>
            </a:r>
            <a:r>
              <a:rPr sz="2000" b="1">
                <a:solidFill>
                  <a:srgbClr val="1F2D3A"/>
                </a:solidFill>
              </a:rPr>
              <a:t>anahtarsız</a:t>
            </a:r>
            <a:r>
              <a:rPr sz="2000" b="0">
                <a:solidFill>
                  <a:srgbClr val="1F2D3A"/>
                </a:solidFill>
              </a:rPr>
              <a:t> — bütün zinciri baştan yeniden hesaplayabilir.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özeti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yapmak → HMAC zinciri (bir sonraki slayt).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Sürüm derlemesinde günlük neden kaldırılır?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Kayıt, bir </a:t>
            </a:r>
            <a:r>
              <a:rPr sz="2000" b="1">
                <a:solidFill>
                  <a:srgbClr val="1F2D3A"/>
                </a:solidFill>
              </a:rPr>
              <a:t>saldırganın da okuyabileceği</a:t>
            </a:r>
            <a:r>
              <a:rPr sz="2000" b="0">
                <a:solidFill>
                  <a:srgbClr val="1F2D3A"/>
                </a:solidFill>
              </a:rPr>
              <a:t> varsayılarak tasarlanır.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Günlüğe yazılan her sır, günlük dosyasına erişen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verilmiş demektir.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bir bayrakla </a:t>
            </a:r>
            <a:r>
              <a:rPr sz="2000" b="1">
                <a:solidFill>
                  <a:srgbClr val="1F2D3A"/>
                </a:solidFill>
              </a:rPr>
              <a:t>susturulmuş</a:t>
            </a:r>
            <a:r>
              <a:rPr sz="2000" b="0">
                <a:solidFill>
                  <a:srgbClr val="1F2D3A"/>
                </a:solidFill>
              </a:rPr>
              <a:t> hata ayıklama kodu,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 dizgeleriyle bilgi sızdırır hem de </a:t>
            </a:r>
            <a:r>
              <a:rPr sz="2000" b="1">
                <a:solidFill>
                  <a:srgbClr val="1F2D3A"/>
                </a:solidFill>
              </a:rPr>
              <a:t>yeniden açılabilir</a:t>
            </a:r>
            <a:r>
              <a:rPr sz="2000" b="0">
                <a:solidFill>
                  <a:srgbClr val="1F2D3A"/>
                </a:solidFill>
              </a:rPr>
              <a:t> — bu yüzden sürüm derlemesinde tamamen </a:t>
            </a:r>
            <a:r>
              <a:rPr sz="2000" b="1">
                <a:solidFill>
                  <a:srgbClr val="1F2D3A"/>
                </a:solidFill>
              </a:rPr>
              <a:t>çıkarılmalıdır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11 — Kurcalamaya dayanıklı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code/week-02/11-kurcalamaya-dayanikli-gunluk</a:t>
            </a:r>
            <a:r>
              <a:rPr sz="1800" b="0">
                <a:solidFill>
                  <a:srgbClr val="1F2D3A"/>
                </a:solidFill>
              </a:rPr>
              <a:t> · HMAC zinciri + </a:t>
            </a:r>
            <a:r>
              <a:rPr sz="1800" b="1">
                <a:solidFill>
                  <a:srgbClr val="1F2D3A"/>
                </a:solidFill>
              </a:rPr>
              <a:t>anahtar evrimi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2338186"/>
                <a:gridCol w="3117581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evrimli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Statik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MAC:BOZUK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silme / sıra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SIRA:BOZUK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Ele geçirilen anahtarla geçmişi yeniden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KURCALANMIŞ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BÜTÜNLÜKLÜ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816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Anahtar her kayıtta tek yönlü evrilir, eski anahtar silinir → ele geçirmeden </a:t>
            </a:r>
            <a:r>
              <a:rPr sz="1800" b="1">
                <a:solidFill>
                  <a:srgbClr val="1F2D3A"/>
                </a:solidFill>
              </a:rPr>
              <a:t>önceki</a:t>
            </a:r>
            <a:r>
              <a:rPr sz="1800" b="0">
                <a:solidFill>
                  <a:srgbClr val="1F2D3A"/>
                </a:solidFill>
              </a:rPr>
              <a:t> kayıtlar korunur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İleriye güvenlik: anahtar neden evrilir?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kayıttan sonra anahtar </a:t>
            </a:r>
            <a:r>
              <a:rPr sz="2000" b="1">
                <a:solidFill>
                  <a:srgbClr val="1F2D3A"/>
                </a:solidFill>
              </a:rPr>
              <a:t>tek yönlü</a:t>
            </a:r>
            <a:r>
              <a:rPr sz="2000" b="0">
                <a:solidFill>
                  <a:srgbClr val="1F2D3A"/>
                </a:solidFill>
              </a:rPr>
              <a:t> bir fonksiyonla değişir; eski anahtar </a:t>
            </a:r>
            <a:r>
              <a:rPr sz="2000" b="1">
                <a:solidFill>
                  <a:srgbClr val="1F2D3A"/>
                </a:solidFill>
              </a:rPr>
              <a:t>silinir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makineyi ele geçirdiğinde yalnız </a:t>
            </a:r>
            <a:r>
              <a:rPr sz="2000" b="1">
                <a:solidFill>
                  <a:srgbClr val="1F2D3A"/>
                </a:solidFill>
              </a:rPr>
              <a:t>o anki</a:t>
            </a:r>
            <a:r>
              <a:rPr sz="2000" b="0">
                <a:solidFill>
                  <a:srgbClr val="1F2D3A"/>
                </a:solidFill>
              </a:rPr>
              <a:t> anahtarı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andan </a:t>
            </a:r>
            <a:r>
              <a:rPr sz="2000" b="1">
                <a:solidFill>
                  <a:srgbClr val="1F2D3A"/>
                </a:solidFill>
              </a:rPr>
              <a:t>geriye</a:t>
            </a:r>
            <a:r>
              <a:rPr sz="2000" b="0">
                <a:solidFill>
                  <a:srgbClr val="1F2D3A"/>
                </a:solidFill>
              </a:rPr>
              <a:t>, önceki kayıtları mühürleyen anahtarlara </a:t>
            </a:r>
            <a:r>
              <a:rPr sz="2000" b="1">
                <a:solidFill>
                  <a:srgbClr val="1F2D3A"/>
                </a:solidFill>
              </a:rPr>
              <a:t>dönemez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ele geçirmeden </a:t>
            </a:r>
            <a:r>
              <a:rPr sz="2000" b="1">
                <a:solidFill>
                  <a:srgbClr val="1F2D3A"/>
                </a:solidFill>
              </a:rPr>
              <a:t>önceki</a:t>
            </a:r>
            <a:r>
              <a:rPr sz="2000" b="0">
                <a:solidFill>
                  <a:srgbClr val="1F2D3A"/>
                </a:solidFill>
              </a:rPr>
              <a:t> kayıtlar korunur (Schneier–Kelsey, 1999).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sondan kesme yakalanır mı?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Demo 11'in ürettiği zincirden </a:t>
            </a:r>
            <a:r>
              <a:rPr sz="2000" b="1">
                <a:solidFill>
                  <a:srgbClr val="1F2D3A"/>
                </a:solidFill>
              </a:rPr>
              <a:t>son üç satırı silin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Doğrulayıcı bunu fark eder mi? Neden?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Yalnızca zincirin </a:t>
            </a:r>
            <a:r>
              <a:rPr sz="2000" b="1">
                <a:solidFill>
                  <a:srgbClr val="1F2D3A"/>
                </a:solidFill>
              </a:rPr>
              <a:t>son değeri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kayıt sayısı</a:t>
            </a:r>
            <a:r>
              <a:rPr sz="2000" b="0">
                <a:solidFill>
                  <a:srgbClr val="1F2D3A"/>
                </a:solidFill>
              </a:rPr>
              <a:t> ayrıca (uzak bir sunucuda) tutuluyorsa fark eder. Zincirin kendisi yalnız dosyada tutulursa, sondan kesme </a:t>
            </a:r>
            <a:r>
              <a:rPr sz="2000" b="1">
                <a:solidFill>
                  <a:srgbClr val="1F2D3A"/>
                </a:solidFill>
              </a:rPr>
              <a:t>iç tutarlılığı bozmaz</a:t>
            </a:r>
            <a:r>
              <a:rPr sz="2000" b="0">
                <a:solidFill>
                  <a:srgbClr val="1F2D3A"/>
                </a:solidFill>
              </a:rPr>
              <a:t> — çünkü silinen kayıtlardan sonra gelen hiçbir kayıt yoktur ki tutarsızlık göstersin.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(özet): denetim kaydı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verisini </a:t>
            </a:r>
            <a:r>
              <a:rPr sz="2000" b="1">
                <a:solidFill>
                  <a:srgbClr val="1F2D3A"/>
                </a:solidFill>
              </a:rPr>
              <a:t>kaçışlayarak ve sınırlayarak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Sırları (parola, anahtar)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yazmayın.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Günlüğü </a:t>
            </a:r>
            <a:r>
              <a:rPr sz="2000" b="1">
                <a:solidFill>
                  <a:srgbClr val="1F2D3A"/>
                </a:solidFill>
              </a:rPr>
              <a:t>anahtarlı bir zincirle</a:t>
            </a:r>
            <a:r>
              <a:rPr sz="2000" b="0">
                <a:solidFill>
                  <a:srgbClr val="1F2D3A"/>
                </a:solidFill>
              </a:rPr>
              <a:t> mühürleyin; anahtarı her kayıtta </a:t>
            </a:r>
            <a:r>
              <a:rPr sz="2000" b="1">
                <a:solidFill>
                  <a:srgbClr val="1F2D3A"/>
                </a:solidFill>
              </a:rPr>
              <a:t>evriltin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anahtarını günlüğün bulunduğu </a:t>
            </a:r>
            <a:r>
              <a:rPr sz="2000" b="1">
                <a:solidFill>
                  <a:srgbClr val="1F2D3A"/>
                </a:solidFill>
              </a:rPr>
              <a:t>makinede tutmayın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kayıtları </a:t>
            </a:r>
            <a:r>
              <a:rPr sz="2000" b="1">
                <a:solidFill>
                  <a:srgbClr val="1F2D3A"/>
                </a:solidFill>
              </a:rPr>
              <a:t>anında</a:t>
            </a:r>
            <a:r>
              <a:rPr sz="2000" b="0">
                <a:solidFill>
                  <a:srgbClr val="1F2D3A"/>
                </a:solidFill>
              </a:rPr>
              <a:t> ayrı bir sunucuya gönderin.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 nasıl uygulanır? — mobil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uygulamalarda </a:t>
            </a:r>
            <a:r>
              <a:rPr sz="2000" b="1">
                <a:solidFill>
                  <a:srgbClr val="1F2D3A"/>
                </a:solidFill>
              </a:rPr>
              <a:t>cihaz üzerindeki</a:t>
            </a:r>
            <a:r>
              <a:rPr sz="2000" b="0">
                <a:solidFill>
                  <a:srgbClr val="1F2D3A"/>
                </a:solidFill>
              </a:rPr>
              <a:t> günlük en az tutulur, hassas alan içermez.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olayları (bütünlük hatası, hata ayıklayıcı algılama) </a:t>
            </a:r>
            <a:r>
              <a:rPr sz="2000" b="1">
                <a:solidFill>
                  <a:srgbClr val="1F2D3A"/>
                </a:solidFill>
              </a:rPr>
              <a:t>sunucuya raporlanır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6. haftada göreceğimiz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önlemlerinin "raporlama" ayağıdır.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Cihazdaki günlük saldırganın elindedir; asıl kanıt </a:t>
            </a:r>
            <a:r>
              <a:rPr sz="2000" b="1">
                <a:solidFill>
                  <a:srgbClr val="1F2D3A"/>
                </a:solidFill>
              </a:rPr>
              <a:t>uzaktaki</a:t>
            </a:r>
            <a:r>
              <a:rPr sz="2000" b="0">
                <a:solidFill>
                  <a:srgbClr val="1F2D3A"/>
                </a:solidFill>
              </a:rPr>
              <a:t> kopyadır.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"Denetim kaydına her şeyi yazalım"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Daha çok bilgi, daha iyi kanıt demektir.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Parola, PIN, anahtar ve </a:t>
            </a:r>
            <a:r>
              <a:rPr sz="2000" b="1">
                <a:solidFill>
                  <a:srgbClr val="1F2D3A"/>
                </a:solidFill>
              </a:rPr>
              <a:t>tam kart numarası</a:t>
            </a:r>
            <a:r>
              <a:rPr sz="2000" b="0">
                <a:solidFill>
                  <a:srgbClr val="1F2D3A"/>
                </a:solidFill>
              </a:rPr>
              <a:t> kayda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girmez (CWE-532).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Kayıt, olayı yeniden kurmaya </a:t>
            </a:r>
            <a:r>
              <a:rPr sz="2000" b="1">
                <a:solidFill>
                  <a:srgbClr val="1F2D3A"/>
                </a:solidFill>
              </a:rPr>
              <a:t>yetecek kadar</a:t>
            </a:r>
            <a:r>
              <a:rPr sz="2000" b="0">
                <a:solidFill>
                  <a:srgbClr val="1F2D3A"/>
                </a:solidFill>
              </a:rPr>
              <a:t> bilgi taşır: kim, ne, ne zaman, nerede, sonuç.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"Kullanıcı adını olduğu gibi yazdım"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Kullanıcıdan gelen alan doğrudan günlüğe yazılabilir.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İçinde satır sonu olan bir girdi </a:t>
            </a:r>
            <a:r>
              <a:rPr sz="2000" b="1">
                <a:solidFill>
                  <a:srgbClr val="1F2D3A"/>
                </a:solidFill>
              </a:rPr>
              <a:t>sahte kayıt satırı</a:t>
            </a:r>
            <a:r>
              <a:rPr sz="2000" b="0">
                <a:solidFill>
                  <a:srgbClr val="1F2D3A"/>
                </a:solidFill>
              </a:rPr>
              <a:t> üretir (CWE-117, Demo 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 karakterleri </a:t>
            </a:r>
            <a:r>
              <a:rPr sz="2000" b="1">
                <a:solidFill>
                  <a:srgbClr val="1F2D3A"/>
                </a:solidFill>
              </a:rPr>
              <a:t>kaçışlanmalı</a:t>
            </a:r>
            <a:r>
              <a:rPr sz="2000" b="0">
                <a:solidFill>
                  <a:srgbClr val="1F2D3A"/>
                </a:solidFill>
              </a:rPr>
              <a:t> ya da yapılandırılmış (alan alan) kayıt kullanılmalıdır.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"Kayıt sonuna özet ekledim, kurcalama anlaşılır"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Dosyanın sonuna bir özet eklemek yeterli korumadır.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Anahtarsız özeti saldırgan </a:t>
            </a:r>
            <a:r>
              <a:rPr sz="2000" b="1">
                <a:solidFill>
                  <a:srgbClr val="1F2D3A"/>
                </a:solidFill>
              </a:rPr>
              <a:t>yeniden hesaplar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HMAC zinciri araya ekleme/değiştirmeyi yakalar; </a:t>
            </a:r>
            <a:r>
              <a:rPr sz="2000" b="1">
                <a:solidFill>
                  <a:srgbClr val="1F2D3A"/>
                </a:solidFill>
              </a:rPr>
              <a:t>sondan kesmeyi</a:t>
            </a:r>
            <a:r>
              <a:rPr sz="2000" b="0">
                <a:solidFill>
                  <a:srgbClr val="1F2D3A"/>
                </a:solidFill>
              </a:rPr>
              <a:t> yakalamak için son zincir değeri ayrıca (</a:t>
            </a:r>
            <a:r>
              <a:rPr sz="2000" b="1">
                <a:solidFill>
                  <a:srgbClr val="1F2D3A"/>
                </a:solidFill>
              </a:rPr>
              <a:t>uzak sunucuda</a:t>
            </a:r>
            <a:r>
              <a:rPr sz="2000" b="0">
                <a:solidFill>
                  <a:srgbClr val="1F2D3A"/>
                </a:solidFill>
              </a:rPr>
              <a:t>) tutulmalıdır (Demo 11).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saldırı ağacı ve denetim kaydı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00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VE/VEYA</a:t>
            </a:r>
            <a:r>
              <a:rPr sz="1800" b="0">
                <a:solidFill>
                  <a:srgbClr val="1F2D3A"/>
                </a:solidFill>
              </a:rPr>
              <a:t> kurallarıyla aşağıdan yukarı çözüp en ucuz yolu bulabiliyorum.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nasıl değiştirdiğini</a:t>
            </a:r>
            <a:r>
              <a:rPr sz="1800" b="0">
                <a:solidFill>
                  <a:srgbClr val="1F2D3A"/>
                </a:solidFill>
              </a:rPr>
              <a:t> sayıyla gösterebiliyorum (Demo 04).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olması ve olmaması</a:t>
            </a:r>
            <a:r>
              <a:rPr sz="1800" b="0">
                <a:solidFill>
                  <a:srgbClr val="1F2D3A"/>
                </a:solidFill>
              </a:rPr>
              <a:t> gerekenleri sayabiliyorum.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neyi yakalayamadığını</a:t>
            </a:r>
            <a:r>
              <a:rPr sz="1800" b="0">
                <a:solidFill>
                  <a:srgbClr val="1F2D3A"/>
                </a:solidFill>
              </a:rPr>
              <a:t> söyleyebiliyorum.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Erişim denetimi ve modeller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Özne, nesne, hak — ve matris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Özne</a:t>
            </a:r>
            <a:r>
              <a:rPr sz="2000" b="0">
                <a:solidFill>
                  <a:srgbClr val="1F2D3A"/>
                </a:solidFill>
              </a:rPr>
              <a:t> (kullanıcı/süreç) · </a:t>
            </a:r>
            <a:r>
              <a:rPr sz="2000" b="1">
                <a:solidFill>
                  <a:srgbClr val="1F2D3A"/>
                </a:solidFill>
              </a:rPr>
              <a:t>Nesne</a:t>
            </a:r>
            <a:r>
              <a:rPr sz="2000" b="0">
                <a:solidFill>
                  <a:srgbClr val="1F2D3A"/>
                </a:solidFill>
              </a:rPr>
              <a:t> (dosya/kayıt) · </a:t>
            </a:r>
            <a:r>
              <a:rPr sz="2000" b="1">
                <a:solidFill>
                  <a:srgbClr val="1F2D3A"/>
                </a:solidFill>
              </a:rPr>
              <a:t>Hak</a:t>
            </a:r>
            <a:r>
              <a:rPr sz="2000" b="0">
                <a:solidFill>
                  <a:srgbClr val="1F2D3A"/>
                </a:solidFill>
              </a:rPr>
              <a:t> (oku/yaz/çalıştır).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02968"/>
          <a:ext cx="891108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7"/>
                <a:gridCol w="218230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odeme_anahtari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gunluk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kutuphane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oku, 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saldirgan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9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Matris iki biçimde saklanır: </a:t>
            </a:r>
            <a:r>
              <a:rPr sz="2000" b="1">
                <a:solidFill>
                  <a:srgbClr val="1F2D3A"/>
                </a:solidFill>
              </a:rPr>
              <a:t>ACL</a:t>
            </a:r>
            <a:r>
              <a:rPr sz="2000" b="0">
                <a:solidFill>
                  <a:srgbClr val="1F2D3A"/>
                </a:solidFill>
              </a:rPr>
              <a:t> (sütun: nesne kimin erişeceğini tutar) · </a:t>
            </a:r>
            <a:r>
              <a:rPr sz="2000" b="1">
                <a:solidFill>
                  <a:srgbClr val="1F2D3A"/>
                </a:solidFill>
              </a:rPr>
              <a:t>Yetenek</a:t>
            </a:r>
            <a:r>
              <a:rPr sz="2000" b="0">
                <a:solidFill>
                  <a:srgbClr val="1F2D3A"/>
                </a:solidFill>
              </a:rPr>
              <a:t> (satır: özne biletleri).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DAC · MAC · RBAC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5703756"/>
                <a:gridCol w="3719841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Kararı kim verir?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Nesnenin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sahibi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Unix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Windows DACL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Sistem/politika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(sahip değiştiremez)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Bell–LaPadula, SELinux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rollere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kullanıcı role atanır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"Muhasebeci" rolü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sistemler üçünü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kullanır; etkin karar çoğu zaman </a:t>
            </a:r>
            <a:r>
              <a:rPr sz="1800" b="1">
                <a:solidFill>
                  <a:srgbClr val="1F2D3A"/>
                </a:solidFill>
              </a:rPr>
              <a:t>kesişimdir.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Salt DAC (matris)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code/week-02/03-erisim-modeli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kutuphane OKU odeme_anahtari   =&gt; IZIN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uygulama  OKU odeme_anahtari   =&gt; RED  (matriste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OKU odeme_anahtari   =&gt; RED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YAZ gunluk           =&gt;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Uygulamanın bile ödeme anahtarına </a:t>
            </a:r>
            <a:r>
              <a:rPr sz="2000" b="1">
                <a:solidFill>
                  <a:srgbClr val="1F2D3A"/>
                </a:solidFill>
              </a:rPr>
              <a:t>doğrudan erişimi yok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en az ayrıcalık.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Bell–LaPadula: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Genel &lt; Gizli &lt; Çok Gizli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yok:</a:t>
            </a:r>
            <a:r>
              <a:rPr sz="2000" b="0">
                <a:solidFill>
                  <a:srgbClr val="1F2D3A"/>
                </a:solidFill>
              </a:rPr>
              <a:t> kendinden gizli olanı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*</a:t>
            </a:r>
            <a:r>
              <a:rPr sz="2000" b="0" i="1">
                <a:solidFill>
                  <a:srgbClr val="1F2D3A"/>
                </a:solidFill>
              </a:rPr>
              <a:t>Aşağı yazma yok (</a:t>
            </a:r>
            <a:r>
              <a:rPr sz="2000" b="0">
                <a:solidFill>
                  <a:srgbClr val="1F2D3A"/>
                </a:solidFill>
              </a:rPr>
              <a:t>-özellik):** kendinden az gizli olana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down, write up"</a:t>
            </a:r>
            <a:r>
              <a:rPr sz="2000" b="0">
                <a:solidFill>
                  <a:srgbClr val="1F2D3A"/>
                </a:solidFill>
              </a:rPr>
              <a:t> — gizli bilgi </a:t>
            </a:r>
            <a:r>
              <a:rPr sz="2000" b="1">
                <a:solidFill>
                  <a:srgbClr val="1F2D3A"/>
                </a:solidFill>
              </a:rPr>
              <a:t>aşağı sızamaz.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Biba: bütünlük (BLP'nin tersi)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Dış &lt; Uygulama &lt; Çekirdek (güvenilirlik)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yok:</a:t>
            </a:r>
            <a:r>
              <a:rPr sz="2000" b="0">
                <a:solidFill>
                  <a:srgbClr val="1F2D3A"/>
                </a:solidFill>
              </a:rPr>
              <a:t> kendinden az güvenilir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yok:</a:t>
            </a:r>
            <a:r>
              <a:rPr sz="2000" b="0">
                <a:solidFill>
                  <a:srgbClr val="1F2D3A"/>
                </a:solidFill>
              </a:rPr>
              <a:t> kendinden güvenilir veriye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up, write down"</a:t>
            </a:r>
            <a:r>
              <a:rPr sz="2000" b="0">
                <a:solidFill>
                  <a:srgbClr val="1F2D3A"/>
                </a:solidFill>
              </a:rPr>
              <a:t> — kirli bilgi </a:t>
            </a:r>
            <a:r>
              <a:rPr sz="2000" b="1">
                <a:solidFill>
                  <a:srgbClr val="1F2D3A"/>
                </a:solidFill>
              </a:rPr>
              <a:t>yukarı çıkamaz</a:t>
            </a:r>
            <a:r>
              <a:rPr sz="2000" b="0">
                <a:solidFill>
                  <a:srgbClr val="1F2D3A"/>
                </a:solidFill>
              </a:rPr>
              <a:t>, temizi bozamaz.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ve Biba: ters yönler</a:t>
            </a:r>
          </a:p>
        </p:txBody>
      </p:sp>
      <p:pic>
        <p:nvPicPr>
          <p:cNvPr id="7" name="Picture 6" descr="h02-05-blp-bi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536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71968"/>
            <a:ext cx="10911535" cy="6710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2D3A"/>
                </a:solidFill>
              </a:rPr>
              <a:t>Ters yönler:</a:t>
            </a:r>
            <a:r>
              <a:rPr sz="1700" b="0">
                <a:solidFill>
                  <a:srgbClr val="1F2D3A"/>
                </a:solidFill>
              </a:rPr>
              <a:t> BLP gizliliği (yukarı okuma + aşağı yazma yok), Biba bütünlüğü (aşağı okuma + yukarı yazma yok) korur.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52764"/>
            <a:ext cx="10911535" cy="39039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>
                <a:solidFill>
                  <a:srgbClr val="1F2D3A"/>
                </a:solidFill>
              </a:rPr>
              <a:t>Bir veri hem gizli hem güvenilir olmalıysa → yalnız </a:t>
            </a:r>
            <a:r>
              <a:rPr sz="1700" b="1">
                <a:solidFill>
                  <a:srgbClr val="1F2D3A"/>
                </a:solidFill>
              </a:rPr>
              <a:t>kendi seviyesinde</a:t>
            </a:r>
            <a:r>
              <a:rPr sz="1700" b="0">
                <a:solidFill>
                  <a:srgbClr val="1F2D3A"/>
                </a:solidFill>
              </a:rPr>
              <a:t> işlenir.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Clark–Wilson: ticari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Askeri seviye yerine </a:t>
            </a:r>
            <a:r>
              <a:rPr sz="2000" b="1">
                <a:solidFill>
                  <a:srgbClr val="1F2D3A"/>
                </a:solidFill>
              </a:rPr>
              <a:t>iyi biçimli işlem + görev ayrılığı</a:t>
            </a:r>
            <a:r>
              <a:rPr sz="2000" b="0">
                <a:solidFill>
                  <a:srgbClr val="1F2D3A"/>
                </a:solidFill>
              </a:rPr>
              <a:t> (1987, banka):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CDI:</a:t>
            </a:r>
            <a:r>
              <a:rPr sz="2000" b="0">
                <a:solidFill>
                  <a:srgbClr val="1F2D3A"/>
                </a:solidFill>
              </a:rPr>
              <a:t> bütünlüğü korunacak veri (bakiye).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TP:</a:t>
            </a:r>
            <a:r>
              <a:rPr sz="2000" b="0">
                <a:solidFill>
                  <a:srgbClr val="1F2D3A"/>
                </a:solidFill>
              </a:rPr>
              <a:t> CDI'ye yalnız </a:t>
            </a:r>
            <a:r>
              <a:rPr sz="2000" b="1">
                <a:solidFill>
                  <a:srgbClr val="1F2D3A"/>
                </a:solidFill>
              </a:rPr>
              <a:t>onaylı işlemler</a:t>
            </a:r>
            <a:r>
              <a:rPr sz="2000" b="0">
                <a:solidFill>
                  <a:srgbClr val="1F2D3A"/>
                </a:solidFill>
              </a:rPr>
              <a:t> dokunur (doğrudan yazma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IVP:</a:t>
            </a:r>
            <a:r>
              <a:rPr sz="2000" b="0">
                <a:solidFill>
                  <a:srgbClr val="1F2D3A"/>
                </a:solidFill>
              </a:rPr>
              <a:t> tutarlılığı düzenli denetler ("borç = alacak").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Görev ayrılığı:</a:t>
            </a:r>
            <a:r>
              <a:rPr sz="2000" b="0">
                <a:solidFill>
                  <a:srgbClr val="1F2D3A"/>
                </a:solidFill>
              </a:rPr>
              <a:t> başlatan ≠ onaylayan.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"Veriye doğrudan değil, </a:t>
            </a:r>
            <a:r>
              <a:rPr sz="2000" b="1">
                <a:solidFill>
                  <a:srgbClr val="1F2D3A"/>
                </a:solidFill>
              </a:rPr>
              <a:t>doğrulanmış işlemlerle</a:t>
            </a:r>
            <a:r>
              <a:rPr sz="2000" b="0">
                <a:solidFill>
                  <a:srgbClr val="1F2D3A"/>
                </a:solidFill>
              </a:rPr>
              <a:t> dokun."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BLP ve Biba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BLP:  memur   OKU operasyon  BLP:RED  =&gt; RED  (yukari okuma)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general YAZ ilan       BLP:RED  =&gt; RED  (asagi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Biba: aglayici YAZ kayit     BIBA:RED =&gt; RED  (yukari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islemci  OKU gelen     BIBA:RED =&gt; RED  (asagi okuma)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DAC her ikisinde </a:t>
            </a:r>
            <a:r>
              <a:rPr sz="2000" b="1">
                <a:solidFill>
                  <a:srgbClr val="1F2D3A"/>
                </a:solidFill>
              </a:rPr>
              <a:t>VAR</a:t>
            </a:r>
            <a:r>
              <a:rPr sz="2000" b="0">
                <a:solidFill>
                  <a:srgbClr val="1F2D3A"/>
                </a:solidFill>
              </a:rPr>
              <a:t>; reddi getiren </a:t>
            </a:r>
            <a:r>
              <a:rPr sz="2000" b="1">
                <a:solidFill>
                  <a:srgbClr val="1F2D3A"/>
                </a:solidFill>
              </a:rPr>
              <a:t>sistem (MAC)</a:t>
            </a:r>
            <a:r>
              <a:rPr sz="2000" b="0">
                <a:solidFill>
                  <a:srgbClr val="1F2D3A"/>
                </a:solidFill>
              </a:rPr>
              <a:t> kuralıdır.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erişim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-rwxr-x---</a:t>
            </a:r>
            <a:r>
              <a:rPr sz="2000" b="0">
                <a:solidFill>
                  <a:srgbClr val="1F2D3A"/>
                </a:solidFill>
              </a:rPr>
              <a:t> → sahip / grup / diğerleri, her biri </a:t>
            </a:r>
            <a:r>
              <a:rPr sz="2000" b="1">
                <a:solidFill>
                  <a:srgbClr val="1F2D3A"/>
                </a:solidFill>
              </a:rPr>
              <a:t>oku-yaz-çalıştır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kimlik: </a:t>
            </a:r>
            <a:r>
              <a:rPr sz="2000" b="1">
                <a:solidFill>
                  <a:srgbClr val="1F2D3A"/>
                </a:solidFill>
              </a:rPr>
              <a:t>effective / real / saved</a:t>
            </a:r>
            <a:r>
              <a:rPr sz="2000" b="0">
                <a:solidFill>
                  <a:srgbClr val="1F2D3A"/>
                </a:solidFill>
              </a:rPr>
              <a:t> UID.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setuid: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sahibinin</a:t>
            </a:r>
            <a:r>
              <a:rPr sz="2000" b="0">
                <a:solidFill>
                  <a:srgbClr val="1F2D3A"/>
                </a:solidFill>
              </a:rPr>
              <a:t> (çoğu zaman root) yetkisiyle çalışır — güçlü ama tehlikeli.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sticky bit: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</a:t>
            </a:r>
            <a:r>
              <a:rPr sz="2000" b="0">
                <a:solidFill>
                  <a:srgbClr val="1F2D3A"/>
                </a:solidFill>
              </a:rPr>
              <a:t>'te başkasının dosyasını silememe.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Kitap: Tarif 2.1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izin bitleri — şema</a:t>
            </a:r>
          </a:p>
        </p:txBody>
      </p:sp>
      <p:pic>
        <p:nvPicPr>
          <p:cNvPr id="7" name="Picture 6" descr="h02-08-unix-izin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5570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Windows erişim modeli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3141199"/>
                <a:gridCol w="479446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Unix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UID/GID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 bitleri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içindeki ACE'ler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syslog (harici)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(yerleşik)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"Herkese açık"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 777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NULL 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DACL:</a:t>
            </a:r>
            <a:r>
              <a:rPr sz="1800" b="0">
                <a:solidFill>
                  <a:srgbClr val="1F2D3A"/>
                </a:solidFill>
              </a:rPr>
              <a:t> kim ne yapabilir (ACE = SID + hak + izin/reddet).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Modern Windows: </a:t>
            </a:r>
            <a:r>
              <a:rPr sz="1800" b="1">
                <a:solidFill>
                  <a:srgbClr val="1F2D3A"/>
                </a:solidFill>
              </a:rPr>
              <a:t>MIC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AppContainer</a:t>
            </a:r>
            <a:r>
              <a:rPr sz="1800" b="0">
                <a:solidFill>
                  <a:srgbClr val="1F2D3A"/>
                </a:solidFill>
              </a:rPr>
              <a:t> (Biba benzeri). Kitap: Tarif 2.2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06 — TOCTOU yarışı (CWE-367)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code/week-02/06-toctou</a:t>
            </a:r>
            <a:r>
              <a:rPr sz="2000" b="0">
                <a:solidFill>
                  <a:srgbClr val="1F2D3A"/>
                </a:solidFill>
              </a:rPr>
              <a:t> (yalnız WSL/Linux) · Kitap: Tarif 2.3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GUVENSIZ (once lstat, sonra fopen):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&gt;&gt;&gt; SALDIRI BASARILI: yazi gizli_hedef.txt'e yonlendirildi!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GUVENLI (O_NOFOLLOW ile tek adim):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reddedildi: hedef sembolik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Denetim ile kullanım arasındaki boşluk</a:t>
            </a:r>
            <a:r>
              <a:rPr sz="2000" b="0">
                <a:solidFill>
                  <a:srgbClr val="1F2D3A"/>
                </a:solidFill>
              </a:rPr>
              <a:t> bir yarıştır. Çözüm: tek atomik adım (</a:t>
            </a:r>
            <a:r>
              <a:rPr sz="2000" b="0">
                <a:solidFill>
                  <a:srgbClr val="A1123F"/>
                </a:solidFill>
                <a:latin typeface="Consolas"/>
              </a:rPr>
              <a:t>O_NOFOLLOW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O_EXCL</a:t>
            </a:r>
            <a:r>
              <a:rPr sz="2000" b="0">
                <a:solidFill>
                  <a:srgbClr val="1F2D3A"/>
                </a:solidFill>
              </a:rPr>
              <a:t>), fd üzerinden çalış.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12 — ACE değerlendirme algoritması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code/week-02/12-ace-degerlendirme</a:t>
            </a:r>
            <a:r>
              <a:rPr sz="1800" b="0">
                <a:solidFill>
                  <a:srgbClr val="1F2D3A"/>
                </a:solidFill>
              </a:rPr>
              <a:t> · Tarif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1a kanonik:  RET Herkes TAM | IZIN Pazarlama YAZ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1b bozuk:    IZIN Pazarlama YAZ | ... RET Herkes  =&gt;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2a NULL DACL (yabanci hesap) =&gt; IZIN (SAHIP_AL, IZIN_YAZ dahil!)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2b BOS DACL  (ayni hesap)  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3b kalitim kesildi           =&gt; RED (liste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69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Sıra önemli: </a:t>
            </a:r>
            <a:r>
              <a:rPr sz="1800" b="1">
                <a:solidFill>
                  <a:srgbClr val="1F2D3A"/>
                </a:solidFill>
              </a:rPr>
              <a:t>açık RET → açık İZİN → miras RET → miras İZİN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NULL DACL = herkese </a:t>
            </a:r>
            <a:r>
              <a:rPr sz="1800" b="1">
                <a:solidFill>
                  <a:srgbClr val="1F2D3A"/>
                </a:solidFill>
              </a:rPr>
              <a:t>her</a:t>
            </a:r>
            <a:r>
              <a:rPr sz="1800" b="0">
                <a:solidFill>
                  <a:srgbClr val="1F2D3A"/>
                </a:solidFill>
              </a:rPr>
              <a:t> hak · ✅ gerekli hakları açıkça ver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Sahip, DACL ne derse desin izinleri değiştirebilir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13 — Unix izinleri, umask, setuid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code/week-02/13-unix-izin-umask</a:t>
            </a:r>
            <a:r>
              <a:rPr sz="1800" b="0">
                <a:solidFill>
                  <a:srgbClr val="1F2D3A"/>
                </a:solidFill>
              </a:rPr>
              <a:t> · Tarif 2.1, 2.7,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ayse   oku paradoks.txt ---rwxrwx  sahip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zeynep oku paradoks.txt ---rwxrwx  diger -&gt;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0666 &amp; ~umask:  000 -&gt; rw-rw-rw-   022 -&gt; rw-r--r--   077 -&gt; rw-------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seteuid(1001)  r/e/s = 1001/1001/0   &lt;- sakli UID hala 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İlk eşleşen sınıf</a:t>
            </a:r>
            <a:r>
              <a:rPr sz="1800" b="0">
                <a:solidFill>
                  <a:srgbClr val="1F2D3A"/>
                </a:solidFill>
              </a:rPr>
              <a:t> karar verir (sahip → grup → diğerleri)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fopen()</a:t>
            </a:r>
            <a:r>
              <a:rPr sz="1800" b="0">
                <a:solidFill>
                  <a:srgbClr val="1F2D3A"/>
                </a:solidFill>
              </a:rPr>
              <a:t> 0666 ister → hassas dosya: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open(..., 0600)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Kalıcı bırakma: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setresuid()</a:t>
            </a:r>
            <a:r>
              <a:rPr sz="1800" b="0">
                <a:solidFill>
                  <a:srgbClr val="1F2D3A"/>
                </a:solidFill>
              </a:rPr>
              <a:t> + doğrula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14 — RBAC, görev ayrılığı, 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code/week-02/14-rbac-clark-wilson</a:t>
            </a:r>
            <a:r>
              <a:rPr sz="1800" b="0">
                <a:solidFill>
                  <a:srgbClr val="1F2D3A"/>
                </a:solidFill>
              </a:rPr>
              <a:t> · banka benzetimi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ATA cem GISE                 SSD(GISE,ONAYCI) 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GISE,DENETCI    DSD(GISE,DENETCI)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DENETCI         -&gt; TAMAM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deniz IVP: beklenen 20250, bulunan 20250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SSD:</a:t>
            </a:r>
            <a:r>
              <a:rPr sz="1800" b="0">
                <a:solidFill>
                  <a:srgbClr val="1F2D3A"/>
                </a:solidFill>
              </a:rPr>
              <a:t> çelişen iki role atanamaz · </a:t>
            </a:r>
            <a:r>
              <a:rPr sz="1800" b="1">
                <a:solidFill>
                  <a:srgbClr val="1F2D3A"/>
                </a:solidFill>
              </a:rPr>
              <a:t>DSD:</a:t>
            </a:r>
            <a:r>
              <a:rPr sz="1800" b="0">
                <a:solidFill>
                  <a:srgbClr val="1F2D3A"/>
                </a:solidFill>
              </a:rPr>
              <a:t> aynı oturumda ikisi etkin olamaz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CDI'ya yalnız </a:t>
            </a:r>
            <a:r>
              <a:rPr sz="1800" b="1">
                <a:solidFill>
                  <a:srgbClr val="1F2D3A"/>
                </a:solidFill>
              </a:rPr>
              <a:t>sertifikalı TP</a:t>
            </a:r>
            <a:r>
              <a:rPr sz="1800" b="0">
                <a:solidFill>
                  <a:srgbClr val="1F2D3A"/>
                </a:solidFill>
              </a:rPr>
              <a:t> dokunur; büyük havale → </a:t>
            </a:r>
            <a:r>
              <a:rPr sz="1800" b="1">
                <a:solidFill>
                  <a:srgbClr val="1F2D3A"/>
                </a:solidFill>
              </a:rPr>
              <a:t>ikinci kişi onayı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⚠️ Hatalı TP sertifikalanırsa kurallar görmez, </a:t>
            </a:r>
            <a:r>
              <a:rPr sz="1800" b="1">
                <a:solidFill>
                  <a:srgbClr val="1F2D3A"/>
                </a:solidFill>
              </a:rPr>
              <a:t>IVP yakalar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"Kimliği doğruladık, yetkiyi de doğrulamış olduk"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Giriş yapabilen kullanıcı, her şeyi yapabilir.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Kimlik doğrulama</a:t>
            </a:r>
            <a:r>
              <a:rPr sz="2000" b="0">
                <a:solidFill>
                  <a:srgbClr val="1F2D3A"/>
                </a:solidFill>
              </a:rPr>
              <a:t> "sen kimsin?" sorusudur; </a:t>
            </a:r>
            <a:r>
              <a:rPr sz="2000" b="1">
                <a:solidFill>
                  <a:srgbClr val="1F2D3A"/>
                </a:solidFill>
              </a:rPr>
              <a:t>yetkilendirme</a:t>
            </a:r>
            <a:r>
              <a:rPr sz="2000" b="0">
                <a:solidFill>
                  <a:srgbClr val="1F2D3A"/>
                </a:solidFill>
              </a:rPr>
              <a:t> "bunu yapabilir misin?" sorusudur — ayrı adımlardır.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2025 CWE Top 25'te dördüncü sıradaki </a:t>
            </a:r>
            <a:r>
              <a:rPr sz="2000" b="1">
                <a:solidFill>
                  <a:srgbClr val="1F2D3A"/>
                </a:solidFill>
              </a:rPr>
              <a:t>CWE-862</a:t>
            </a:r>
            <a:r>
              <a:rPr sz="2000" b="0">
                <a:solidFill>
                  <a:srgbClr val="1F2D3A"/>
                </a:solidFill>
              </a:rPr>
              <a:t> (eksik yetkilendirme) tam bu hatadır.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"Hata olursa izin verelim"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Politika okunamıyorsa ya da belirsizse, kullanıcı mağdur olmasın diye </a:t>
            </a:r>
            <a:r>
              <a:rPr sz="2000" b="1">
                <a:solidFill>
                  <a:srgbClr val="1F2D3A"/>
                </a:solidFill>
              </a:rPr>
              <a:t>izin verilmeli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Güvenli varsayılan</a:t>
            </a:r>
            <a:r>
              <a:rPr sz="2000" b="0">
                <a:solidFill>
                  <a:srgbClr val="1F2D3A"/>
                </a:solidFill>
              </a:rPr>
              <a:t> ilkesi tam tersini söyler: politika okunamıyorsa cevap </a:t>
            </a:r>
            <a:r>
              <a:rPr sz="2000" b="1">
                <a:solidFill>
                  <a:srgbClr val="1F2D3A"/>
                </a:solidFill>
              </a:rPr>
              <a:t>ret</a:t>
            </a:r>
            <a:r>
              <a:rPr sz="2000" b="0">
                <a:solidFill>
                  <a:srgbClr val="1F2D3A"/>
                </a:solidFill>
              </a:rPr>
              <a:t> olmalıdır (CWE-636, "fail-open" hatası).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"Fail-closed" (hata olunca kapat) güvenli sistemlerin varsayılanıdır.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"NULL DACL ile boş DACL aynı"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İkisi de "izin yok" gibi görünür.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NULL DACL</a:t>
            </a:r>
            <a:r>
              <a:rPr sz="2000" b="0">
                <a:solidFill>
                  <a:srgbClr val="1F2D3A"/>
                </a:solidFill>
              </a:rPr>
              <a:t> (hiç DACL yok) </a:t>
            </a:r>
            <a:r>
              <a:rPr sz="2000" b="1">
                <a:solidFill>
                  <a:srgbClr val="1F2D3A"/>
                </a:solidFill>
              </a:rPr>
              <a:t>herkese tam erişim</a:t>
            </a:r>
            <a:r>
              <a:rPr sz="2000" b="0">
                <a:solidFill>
                  <a:srgbClr val="1F2D3A"/>
                </a:solidFill>
              </a:rPr>
              <a:t> verir — sahiplik alma dahil. </a:t>
            </a:r>
            <a:r>
              <a:rPr sz="2000" b="1">
                <a:solidFill>
                  <a:srgbClr val="1F2D3A"/>
                </a:solidFill>
              </a:rPr>
              <a:t>Boş DACL</a:t>
            </a:r>
            <a:r>
              <a:rPr sz="2000" b="0">
                <a:solidFill>
                  <a:srgbClr val="1F2D3A"/>
                </a:solidFill>
              </a:rPr>
              <a:t> (ACE'siz liste) ise </a:t>
            </a:r>
            <a:r>
              <a:rPr sz="2000" b="1">
                <a:solidFill>
                  <a:srgbClr val="1F2D3A"/>
                </a:solidFill>
              </a:rPr>
              <a:t>kimseye hiçbir hak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 ciddi bir zafiyettir (CWE-732); ikisini karıştırmak tehlikelidir (Demo 12).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"ACE sırası önemli değil"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Aynı ACE'ler farklı sırada yazılsa da sonuç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Windows ACE'leri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değerlendirir ve </a:t>
            </a:r>
            <a:r>
              <a:rPr sz="2000" b="1">
                <a:solidFill>
                  <a:srgbClr val="1F2D3A"/>
                </a:solidFill>
              </a:rPr>
              <a:t>ilk belirleyici</a:t>
            </a:r>
            <a:r>
              <a:rPr sz="2000" b="0">
                <a:solidFill>
                  <a:srgbClr val="1F2D3A"/>
                </a:solidFill>
              </a:rPr>
              <a:t> girdide durur.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sırada açık ret girdileri izinlerden önce gelir; elle yanlış sıralanmış bir DACL, niyet edilen reddi </a:t>
            </a:r>
            <a:r>
              <a:rPr sz="2000" b="1">
                <a:solidFill>
                  <a:srgbClr val="1F2D3A"/>
                </a:solidFill>
              </a:rPr>
              <a:t>etkisiz bırakabilir</a:t>
            </a:r>
            <a:r>
              <a:rPr sz="2000" b="0">
                <a:solidFill>
                  <a:srgbClr val="1F2D3A"/>
                </a:solidFill>
              </a:rPr>
              <a:t> (Demo 12).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"chmod 777 ile sorun çözüldü"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"Erişim reddedildi" hatasını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chmod 777</a:t>
            </a:r>
            <a:r>
              <a:rPr sz="2000" b="0">
                <a:solidFill>
                  <a:srgbClr val="1F2D3A"/>
                </a:solidFill>
              </a:rPr>
              <a:t> ile geçiştirmek pratik bir çözümdür.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Sorun izinlerin herkese açılmasıyla </a:t>
            </a:r>
            <a:r>
              <a:rPr sz="2000" b="1">
                <a:solidFill>
                  <a:srgbClr val="1F2D3A"/>
                </a:solidFill>
              </a:rPr>
              <a:t>çözülmez, büyütülür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0600</a:t>
            </a:r>
            <a:r>
              <a:rPr sz="2000" b="0">
                <a:solidFill>
                  <a:srgbClr val="1F2D3A"/>
                </a:solidFill>
              </a:rPr>
              <a:t> ile oluşturulmalı,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  <a:r>
              <a:rPr sz="2000" b="0">
                <a:solidFill>
                  <a:srgbClr val="1F2D3A"/>
                </a:solidFill>
              </a:rPr>
              <a:t> programın başında </a:t>
            </a:r>
            <a:r>
              <a:rPr sz="2000" b="1">
                <a:solidFill>
                  <a:srgbClr val="1F2D3A"/>
                </a:solidFill>
              </a:rPr>
              <a:t>bilinçli</a:t>
            </a:r>
            <a:r>
              <a:rPr sz="2000" b="0">
                <a:solidFill>
                  <a:srgbClr val="1F2D3A"/>
                </a:solidFill>
              </a:rPr>
              <a:t> ayarlanmalıdır (Demo 13).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"RBAC kurduk, görev ayrılığı kendiliğinden gelir"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Rol tabanlı erişim denetimi kurmak, görev ayrılığını otomatik sağlar.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Aynı kişiye hem "iade başlat" hem "iade onayla" rolü verilirse RBAC görev ayrılığını </a:t>
            </a:r>
            <a:r>
              <a:rPr sz="2000" b="1">
                <a:solidFill>
                  <a:srgbClr val="1F2D3A"/>
                </a:solidFill>
              </a:rPr>
              <a:t>sağlamaz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Statik (</a:t>
            </a:r>
            <a:r>
              <a:rPr sz="2000" b="1">
                <a:solidFill>
                  <a:srgbClr val="1F2D3A"/>
                </a:solidFill>
              </a:rPr>
              <a:t>SSD</a:t>
            </a:r>
            <a:r>
              <a:rPr sz="2000" b="0">
                <a:solidFill>
                  <a:srgbClr val="1F2D3A"/>
                </a:solidFill>
              </a:rPr>
              <a:t>) ya da dinamik (</a:t>
            </a:r>
            <a:r>
              <a:rPr sz="2000" b="1">
                <a:solidFill>
                  <a:srgbClr val="1F2D3A"/>
                </a:solidFill>
              </a:rPr>
              <a:t>DSD</a:t>
            </a:r>
            <a:r>
              <a:rPr sz="2000" b="0">
                <a:solidFill>
                  <a:srgbClr val="1F2D3A"/>
                </a:solidFill>
              </a:rPr>
              <a:t>) görev ayrılığı kısıtı </a:t>
            </a:r>
            <a:r>
              <a:rPr sz="2000" b="1">
                <a:solidFill>
                  <a:srgbClr val="1F2D3A"/>
                </a:solidFill>
              </a:rPr>
              <a:t>ayrıca</a:t>
            </a:r>
            <a:r>
              <a:rPr sz="2000" b="0">
                <a:solidFill>
                  <a:srgbClr val="1F2D3A"/>
                </a:solidFill>
              </a:rPr>
              <a:t> tanımlanmalıdır (Demo 14).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Mobil izin modeli ve en az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uygulama kendi </a:t>
            </a:r>
            <a:r>
              <a:rPr sz="2000" b="1">
                <a:solidFill>
                  <a:srgbClr val="1F2D3A"/>
                </a:solidFill>
              </a:rPr>
              <a:t>kum havuzunda</a:t>
            </a:r>
            <a:r>
              <a:rPr sz="2000" b="0">
                <a:solidFill>
                  <a:srgbClr val="1F2D3A"/>
                </a:solidFill>
              </a:rPr>
              <a:t> çalışır — diğer uygulamaların verisine varsayılan olarak erişemez.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kaynaklar (kamera, konum, kişiler) </a:t>
            </a:r>
            <a:r>
              <a:rPr sz="2000" b="1">
                <a:solidFill>
                  <a:srgbClr val="1F2D3A"/>
                </a:solidFill>
              </a:rPr>
              <a:t>çalışma anı izni</a:t>
            </a:r>
            <a:r>
              <a:rPr sz="2000" b="0">
                <a:solidFill>
                  <a:srgbClr val="1F2D3A"/>
                </a:solidFill>
              </a:rPr>
              <a:t> ister; kullanıcı onaylamadan erişilmez.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DAC (kullanıcı onayı) ile MAC'e (sistemin zorunlu kum havuzu sınırı) benzer bir </a:t>
            </a:r>
            <a:r>
              <a:rPr sz="2000" b="1">
                <a:solidFill>
                  <a:srgbClr val="1F2D3A"/>
                </a:solidFill>
              </a:rPr>
              <a:t>karma modeldir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ayrıcalık ilkesinin (Hafta 1) günümüz mobil işletim sistemlerindeki </a:t>
            </a:r>
            <a:r>
              <a:rPr sz="2000" b="1">
                <a:solidFill>
                  <a:srgbClr val="1F2D3A"/>
                </a:solidFill>
              </a:rPr>
              <a:t>somut hâlidir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kararı kim verir?</a:t>
            </a:r>
            <a:r>
              <a:rPr sz="1800" b="0">
                <a:solidFill>
                  <a:srgbClr val="1F2D3A"/>
                </a:solidFill>
              </a:rPr>
              <a:t>" sorusuyla ayırabiliyorum.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farkını</a:t>
            </a:r>
            <a:r>
              <a:rPr sz="1800" b="0">
                <a:solidFill>
                  <a:srgbClr val="1F2D3A"/>
                </a:solidFill>
              </a:rPr>
              <a:t> bir örnekle açıklayabiliyorum.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ls -l</a:t>
            </a:r>
            <a:r>
              <a:rPr sz="1800" b="0">
                <a:solidFill>
                  <a:srgbClr val="1F2D3A"/>
                </a:solidFill>
              </a:rPr>
              <a:t> çıktısını, setuid/sticky bitlerini ve umask hesabını yorumlayabiliyorum.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kritik</a:t>
            </a:r>
            <a:r>
              <a:rPr sz="1800" b="0">
                <a:solidFill>
                  <a:srgbClr val="1F2D3A"/>
                </a:solidFill>
              </a:rPr>
              <a:t> olduğunu gösterebiliyorum.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ayrıca</a:t>
            </a:r>
            <a:r>
              <a:rPr sz="1800" b="0">
                <a:solidFill>
                  <a:srgbClr val="1F2D3A"/>
                </a:solidFill>
              </a:rPr>
              <a:t> kurulduğunu açıklayabiliyorum.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Zafiyet sınıflandırma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CWE: zayıflık türleri kataloğu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= zayıflığın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(SQL enjeksiyonu → CWE-89).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Top 25:</a:t>
            </a:r>
            <a:r>
              <a:rPr sz="2000" b="0">
                <a:solidFill>
                  <a:srgbClr val="1F2D3A"/>
                </a:solidFill>
              </a:rPr>
              <a:t> o yıl en çok görülen/tehlikeli 25 zayıflık.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6546920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454647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Zayıflık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dışına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 enjeksiyonu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CWE-367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TOCTOU (Demo 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 kimlik/anahtar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106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Hiyerarşik: pillar → class → base → variant.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CWE'yi seç.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"CWE ile CVE aynı şey"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İkisi de aynı anlama gelir, birbirinin yerine kullanılabilir.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zayıflığın </a:t>
            </a:r>
            <a:r>
              <a:rPr sz="2000" b="1">
                <a:solidFill>
                  <a:srgbClr val="1F2D3A"/>
                </a:solidFill>
              </a:rPr>
              <a:t>türüdür</a:t>
            </a:r>
            <a:r>
              <a:rPr sz="2000" b="0">
                <a:solidFill>
                  <a:srgbClr val="1F2D3A"/>
                </a:solidFill>
              </a:rPr>
              <a:t> (SQL enjeksiyonu → CWE-89).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 belirli bir üründeki belirli açığın </a:t>
            </a:r>
            <a:r>
              <a:rPr sz="2000" b="1">
                <a:solidFill>
                  <a:srgbClr val="1F2D3A"/>
                </a:solidFill>
              </a:rPr>
              <a:t>kimliğidir</a:t>
            </a:r>
            <a:r>
              <a:rPr sz="2000" b="0">
                <a:solidFill>
                  <a:srgbClr val="1F2D3A"/>
                </a:solidFill>
              </a:rPr>
              <a:t> (Heartbleed → CVE-2014-0160).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CVE, bir ya da birden çok CWE türüne </a:t>
            </a:r>
            <a:r>
              <a:rPr sz="2000" b="1">
                <a:solidFill>
                  <a:srgbClr val="1F2D3A"/>
                </a:solidFill>
              </a:rPr>
              <a:t>aittir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"En genel CWE'yi seçmek güvenlidir"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Emin olmadığımda en üst düzey (genel) CWE'yi yazmak daha güvenlidir.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CWE-20 (girdi doğrulama) gibi üst düzey girdiler </a:t>
            </a:r>
            <a:r>
              <a:rPr sz="2000" b="1">
                <a:solidFill>
                  <a:srgbClr val="1F2D3A"/>
                </a:solidFill>
              </a:rPr>
              <a:t>düzeltmeyi anlatmaz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mümkün olan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(tercihen base düzeyi) CWE'yi seçin.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Top 10 ve MASVS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7185"/>
                <a:gridCol w="2442880"/>
                <a:gridCol w="40714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Belge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/ Top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Tüm yazılım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Katalog / öncelik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Top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Farkındalık / öncelik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standardı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MASVS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+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MASVS-RESILIENCE</a:t>
            </a:r>
            <a:r>
              <a:rPr sz="2000" b="0">
                <a:solidFill>
                  <a:srgbClr val="1F2D3A"/>
                </a:solidFill>
              </a:rPr>
              <a:t> = tersine mühendisliğe direnç → bu dersin kod gizleme (H9, H14), RASP (H6), whitebox (H11) konuları.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"OWASP Top 10 bir kontrol listesidir"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Top 10'daki 10 maddeyi karşılıyorsam güvenliyim demektir.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Top 10 bir </a:t>
            </a:r>
            <a:r>
              <a:rPr sz="2000" b="1">
                <a:solidFill>
                  <a:srgbClr val="1F2D3A"/>
                </a:solidFill>
              </a:rPr>
              <a:t>farkındalık</a:t>
            </a:r>
            <a:r>
              <a:rPr sz="2000" b="0">
                <a:solidFill>
                  <a:srgbClr val="1F2D3A"/>
                </a:solidFill>
              </a:rPr>
              <a:t> belgesidir, doğrulama standardı değil.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Doğrulanabilir gereksinimler web için </a:t>
            </a:r>
            <a:r>
              <a:rPr sz="2000" b="1">
                <a:solidFill>
                  <a:srgbClr val="1F2D3A"/>
                </a:solidFill>
              </a:rPr>
              <a:t>ASVS'de</a:t>
            </a:r>
            <a:r>
              <a:rPr sz="2000" b="0">
                <a:solidFill>
                  <a:srgbClr val="1F2D3A"/>
                </a:solidFill>
              </a:rPr>
              <a:t>, mobil için </a:t>
            </a:r>
            <a:r>
              <a:rPr sz="2000" b="1">
                <a:solidFill>
                  <a:srgbClr val="1F2D3A"/>
                </a:solidFill>
              </a:rPr>
              <a:t>MASVS ve MASTG'dedir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CVE ve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belirli üründeki belirli açığın </a:t>
            </a:r>
            <a:r>
              <a:rPr sz="2000" b="1">
                <a:solidFill>
                  <a:srgbClr val="1F2D3A"/>
                </a:solidFill>
              </a:rPr>
              <a:t>kimliği</a:t>
            </a:r>
            <a:r>
              <a:rPr sz="2000" b="0">
                <a:solidFill>
                  <a:srgbClr val="1F2D3A"/>
                </a:solidFill>
              </a:rPr>
              <a:t> (CVE-2014-0160 = Heartbleed). Bir </a:t>
            </a:r>
            <a:r>
              <a:rPr sz="2000" b="1">
                <a:solidFill>
                  <a:srgbClr val="1F2D3A"/>
                </a:solidFill>
              </a:rPr>
              <a:t>isim</a:t>
            </a:r>
            <a:r>
              <a:rPr sz="2000" b="0">
                <a:solidFill>
                  <a:srgbClr val="1F2D3A"/>
                </a:solidFill>
              </a:rPr>
              <a:t>, ciddiyet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ciddiyeti</a:t>
            </a:r>
            <a:r>
              <a:rPr sz="2000" b="0">
                <a:solidFill>
                  <a:srgbClr val="1F2D3A"/>
                </a:solidFill>
              </a:rPr>
              <a:t> 0.0–10.0. Üç grup: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(değişmez), Zamansal, Çevresel.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 bir ya da birden çok </a:t>
            </a:r>
            <a:r>
              <a:rPr sz="2000" b="1">
                <a:solidFill>
                  <a:srgbClr val="1F2D3A"/>
                </a:solidFill>
              </a:rPr>
              <a:t>CWE türüne</a:t>
            </a:r>
            <a:r>
              <a:rPr sz="2000" b="0">
                <a:solidFill>
                  <a:srgbClr val="1F2D3A"/>
                </a:solidFill>
              </a:rPr>
              <a:t> aittir.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v3.1 Temel puan metrikleri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886"/>
                <a:gridCol w="3534722"/>
                <a:gridCol w="537892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Nereden?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/ Bitişik / Yerel / Fiziksel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kadar zor?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/ 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gerekir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Düşük /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Kurban gerekir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Gerekli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Kapsam aşılıyor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Değişmedi / Değişti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C/I/A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/ Düşük /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v4.0:</a:t>
            </a:r>
            <a:r>
              <a:rPr sz="1800" b="0">
                <a:solidFill>
                  <a:srgbClr val="1F2D3A"/>
                </a:solidFill>
              </a:rPr>
              <a:t> kapsam yerine ayrı VC/VI/VA + SC/SI/SA; temel puan = CVSS-B.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05 — CVSS hesaplayıcı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code/week-02/05-cvss</a:t>
            </a:r>
            <a:r>
              <a:rPr sz="2000" b="0">
                <a:solidFill>
                  <a:srgbClr val="1F2D3A"/>
                </a:solidFill>
              </a:rPr>
              <a:t> (Python)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AV:N/AC:L/PR:N/UI:N/S:U/C:H/I:H/A:H  = 9.8 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... S:U -&gt; S:C          = 10.0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AV:L (yerel) /PR:L/... C:H/I:H/A:H    = 7.8 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6512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Uzaktan + kimliksiz</a:t>
            </a:r>
            <a:r>
              <a:rPr sz="2000" b="0">
                <a:solidFill>
                  <a:srgbClr val="1F2D3A"/>
                </a:solidFill>
              </a:rPr>
              <a:t> en yüksek; kapsam değişince 10.0.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4.0'lık açık tam sizin varlığınızı vuruyorsa sizin için 9.8'den önemli olabilir.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puanı → ciddiyet bandı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2727883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Puan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0.1–3.9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4.0–6.9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7.0–8.9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9.0–10.0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etki (C:H/I:H/A:H) olsa bile </a:t>
            </a:r>
            <a:r>
              <a:rPr sz="1800" b="1">
                <a:solidFill>
                  <a:srgbClr val="1F2D3A"/>
                </a:solidFill>
              </a:rPr>
              <a:t>uzaktan + kimliksiz</a:t>
            </a:r>
            <a:r>
              <a:rPr sz="1800" b="0">
                <a:solidFill>
                  <a:srgbClr val="1F2D3A"/>
                </a:solidFill>
              </a:rPr>
              <a:t> açık, </a:t>
            </a:r>
            <a:r>
              <a:rPr sz="1800" b="1">
                <a:solidFill>
                  <a:srgbClr val="1F2D3A"/>
                </a:solidFill>
              </a:rPr>
              <a:t>yerel + yetkili</a:t>
            </a:r>
            <a:r>
              <a:rPr sz="1800" b="0">
                <a:solidFill>
                  <a:srgbClr val="1F2D3A"/>
                </a:solidFill>
              </a:rPr>
              <a:t> açıktan daha yüksek bant alır.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v4.0 kısaca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2023'te geldi; v3.1'in bazı zayıflıklarını giderir.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puan artık </a:t>
            </a:r>
            <a:r>
              <a:rPr sz="2000" b="1">
                <a:solidFill>
                  <a:srgbClr val="1F2D3A"/>
                </a:solidFill>
              </a:rPr>
              <a:t>CVSS-B</a:t>
            </a:r>
            <a:r>
              <a:rPr sz="2000" b="0">
                <a:solidFill>
                  <a:srgbClr val="1F2D3A"/>
                </a:solidFill>
              </a:rPr>
              <a:t> olarak anılır.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Kapsam (S)</a:t>
            </a:r>
            <a:r>
              <a:rPr sz="2000" b="0">
                <a:solidFill>
                  <a:srgbClr val="1F2D3A"/>
                </a:solidFill>
              </a:rPr>
              <a:t> metriği kaldırıldı; yerine ayrı </a:t>
            </a:r>
            <a:r>
              <a:rPr sz="2000" b="1">
                <a:solidFill>
                  <a:srgbClr val="1F2D3A"/>
                </a:solidFill>
              </a:rPr>
              <a:t>Zafiyet Etkisi</a:t>
            </a:r>
            <a:r>
              <a:rPr sz="2000" b="0">
                <a:solidFill>
                  <a:srgbClr val="1F2D3A"/>
                </a:solidFill>
              </a:rPr>
              <a:t> (VC/VI/VA) ve </a:t>
            </a:r>
            <a:r>
              <a:rPr sz="2000" b="1">
                <a:solidFill>
                  <a:srgbClr val="1F2D3A"/>
                </a:solidFill>
              </a:rPr>
              <a:t>Sonraki Sistem Etkisi</a:t>
            </a:r>
            <a:r>
              <a:rPr sz="2000" b="0">
                <a:solidFill>
                  <a:srgbClr val="1F2D3A"/>
                </a:solidFill>
              </a:rPr>
              <a:t> (SC/SI/SA).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 olgunluğu (E) ve tehdit/çevre metrikleriyle </a:t>
            </a:r>
            <a:r>
              <a:rPr sz="2000" b="1">
                <a:solidFill>
                  <a:srgbClr val="1F2D3A"/>
                </a:solidFill>
              </a:rPr>
              <a:t>CVSS-BTE</a:t>
            </a:r>
            <a:r>
              <a:rPr sz="2000" b="0">
                <a:solidFill>
                  <a:srgbClr val="1F2D3A"/>
                </a:solidFill>
              </a:rPr>
              <a:t> hesaplanabiliyor.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hesap makinesi v3.1 için yazıldı; sahada hâlâ en yaygın odur.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"v3.1 vektörünü v4.0'a girerim"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CVSS v3.1 vektörü, v4.0 hesap makinesinde de doğrudan çalışır.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v4.0'da </a:t>
            </a:r>
            <a:r>
              <a:rPr sz="2000" b="1">
                <a:solidFill>
                  <a:srgbClr val="1F2D3A"/>
                </a:solidFill>
              </a:rPr>
              <a:t>Kapsam (S)</a:t>
            </a:r>
            <a:r>
              <a:rPr sz="2000" b="0">
                <a:solidFill>
                  <a:srgbClr val="1F2D3A"/>
                </a:solidFill>
              </a:rPr>
              <a:t> yoktur; </a:t>
            </a:r>
            <a:r>
              <a:rPr sz="2000" b="1">
                <a:solidFill>
                  <a:srgbClr val="1F2D3A"/>
                </a:solidFill>
              </a:rPr>
              <a:t>AT, VC/VI/VA, SC/SI/SA</a:t>
            </a:r>
            <a:r>
              <a:rPr sz="2000" b="0">
                <a:solidFill>
                  <a:srgbClr val="1F2D3A"/>
                </a:solidFill>
              </a:rPr>
              <a:t> metrikleri vardır ve UI üç değer alır (N/P/A).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Vektörler birbirine </a:t>
            </a:r>
            <a:r>
              <a:rPr sz="2000" b="1">
                <a:solidFill>
                  <a:srgbClr val="1F2D3A"/>
                </a:solidFill>
              </a:rPr>
              <a:t>çevrilmez</a:t>
            </a:r>
            <a:r>
              <a:rPr sz="2000" b="0">
                <a:solidFill>
                  <a:srgbClr val="1F2D3A"/>
                </a:solidFill>
              </a:rPr>
              <a:t>, yeniden </a:t>
            </a:r>
            <a:r>
              <a:rPr sz="2000" b="1">
                <a:solidFill>
                  <a:srgbClr val="1F2D3A"/>
                </a:solidFill>
              </a:rPr>
              <a:t>kurulur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sık yapılan hatası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"CVSS 9.8, hemen yamalayalım; 4.0, beklesin."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açığın kendi özelliklerini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4.0'lık bir açık, tam sizin </a:t>
            </a:r>
            <a:r>
              <a:rPr sz="2000" b="1">
                <a:solidFill>
                  <a:srgbClr val="1F2D3A"/>
                </a:solidFill>
              </a:rPr>
              <a:t>en değerli varlığınızın</a:t>
            </a:r>
            <a:r>
              <a:rPr sz="2000" b="0">
                <a:solidFill>
                  <a:srgbClr val="1F2D3A"/>
                </a:solidFill>
              </a:rPr>
              <a:t> kapısıysa sizin için 9.8'den önemli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için </a:t>
            </a:r>
            <a:r>
              <a:rPr sz="2000" b="1">
                <a:solidFill>
                  <a:srgbClr val="1F2D3A"/>
                </a:solidFill>
              </a:rPr>
              <a:t>Çevresel</a:t>
            </a:r>
            <a:r>
              <a:rPr sz="2000" b="0">
                <a:solidFill>
                  <a:srgbClr val="1F2D3A"/>
                </a:solidFill>
              </a:rPr>
              <a:t> metrikler ve </a:t>
            </a:r>
            <a:r>
              <a:rPr sz="2000" b="1">
                <a:solidFill>
                  <a:srgbClr val="1F2D3A"/>
                </a:solidFill>
              </a:rPr>
              <a:t>varlık tablonuz</a:t>
            </a:r>
            <a:r>
              <a:rPr sz="2000" b="0">
                <a:solidFill>
                  <a:srgbClr val="1F2D3A"/>
                </a:solidFill>
              </a:rPr>
              <a:t> (S5)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Puan önceliklendirmeye </a:t>
            </a:r>
            <a:r>
              <a:rPr sz="2000" b="1">
                <a:solidFill>
                  <a:srgbClr val="1F2D3A"/>
                </a:solidFill>
              </a:rPr>
              <a:t>başlangıçtır</a:t>
            </a:r>
            <a:r>
              <a:rPr sz="2000" b="0">
                <a:solidFill>
                  <a:srgbClr val="1F2D3A"/>
                </a:solidFill>
              </a:rPr>
              <a:t>, son söz değildir.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Değerlendirici: bulgudan puana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bulguyu </a:t>
            </a:r>
            <a:r>
              <a:rPr sz="1800" b="1">
                <a:solidFill>
                  <a:srgbClr val="1F2D3A"/>
                </a:solidFill>
              </a:rPr>
              <a:t>tekrarlanabilir</a:t>
            </a:r>
            <a:r>
              <a:rPr sz="1800" b="0">
                <a:solidFill>
                  <a:srgbClr val="1F2D3A"/>
                </a:solidFill>
              </a:rPr>
              <a:t> biçimde derecelendirmenin somut soruları: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Saldırgan bunu </a:t>
            </a:r>
            <a:r>
              <a:rPr sz="1800" b="1">
                <a:solidFill>
                  <a:srgbClr val="1F2D3A"/>
                </a:solidFill>
              </a:rPr>
              <a:t>ağdan</a:t>
            </a:r>
            <a:r>
              <a:rPr sz="1800" b="0">
                <a:solidFill>
                  <a:srgbClr val="1F2D3A"/>
                </a:solidFill>
              </a:rPr>
              <a:t> mı, yoksa yalnız </a:t>
            </a:r>
            <a:r>
              <a:rPr sz="1800" b="1">
                <a:solidFill>
                  <a:srgbClr val="1F2D3A"/>
                </a:solidFill>
              </a:rPr>
              <a:t>cihaz elindeyken</a:t>
            </a:r>
            <a:r>
              <a:rPr sz="1800" b="0">
                <a:solidFill>
                  <a:srgbClr val="1F2D3A"/>
                </a:solidFill>
              </a:rPr>
              <a:t> mi kullanabiliyor (AV)?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Önceden bir </a:t>
            </a:r>
            <a:r>
              <a:rPr sz="1800" b="1">
                <a:solidFill>
                  <a:srgbClr val="1F2D3A"/>
                </a:solidFill>
              </a:rPr>
              <a:t>yetki</a:t>
            </a:r>
            <a:r>
              <a:rPr sz="1800" b="0">
                <a:solidFill>
                  <a:srgbClr val="1F2D3A"/>
                </a:solidFill>
              </a:rPr>
              <a:t> ya da </a:t>
            </a:r>
            <a:r>
              <a:rPr sz="1800" b="1">
                <a:solidFill>
                  <a:srgbClr val="1F2D3A"/>
                </a:solidFill>
              </a:rPr>
              <a:t>kullanıcı etkileşimi</a:t>
            </a:r>
            <a:r>
              <a:rPr sz="1800" b="0">
                <a:solidFill>
                  <a:srgbClr val="1F2D3A"/>
                </a:solidFill>
              </a:rPr>
              <a:t> gerekiyor mu (PR, UI)?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Etki açığın olduğu bileşende mi kalıyor, dışına mı taşıyor (S)?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dersin bağlamında (program saldırganın cihazında) çoğu bulgu </a:t>
            </a:r>
            <a:r>
              <a:rPr sz="1800" b="1">
                <a:solidFill>
                  <a:srgbClr val="1F2D3A"/>
                </a:solidFill>
              </a:rPr>
              <a:t>yerel (AV:L)</a:t>
            </a:r>
            <a:r>
              <a:rPr sz="1800" b="0">
                <a:solidFill>
                  <a:srgbClr val="1F2D3A"/>
                </a:solidFill>
              </a:rPr>
              <a:t> çıkar; puan düşse de risk düşmez.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ötesi: EPSS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EPSS</a:t>
            </a:r>
            <a:r>
              <a:rPr sz="2000" b="0">
                <a:solidFill>
                  <a:srgbClr val="1F2D3A"/>
                </a:solidFill>
              </a:rPr>
              <a:t> (Exploit Prediction Scoring System): bir açığın </a:t>
            </a:r>
            <a:r>
              <a:rPr sz="2000" b="1">
                <a:solidFill>
                  <a:srgbClr val="1F2D3A"/>
                </a:solidFill>
              </a:rPr>
              <a:t>30 gün içinde istismar edilme olasılığı</a:t>
            </a:r>
            <a:r>
              <a:rPr sz="2000" b="0">
                <a:solidFill>
                  <a:srgbClr val="1F2D3A"/>
                </a:solidFill>
              </a:rPr>
              <a:t> (0–1 arası).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ciddiyeti</a:t>
            </a:r>
            <a:r>
              <a:rPr sz="2000" b="0">
                <a:solidFill>
                  <a:srgbClr val="1F2D3A"/>
                </a:solidFill>
              </a:rPr>
              <a:t> ölçer, </a:t>
            </a:r>
            <a:r>
              <a:rPr sz="2000" b="1">
                <a:solidFill>
                  <a:srgbClr val="1F2D3A"/>
                </a:solidFill>
              </a:rPr>
              <a:t>EPSS olasılığı</a:t>
            </a:r>
            <a:r>
              <a:rPr sz="2000" b="0">
                <a:solidFill>
                  <a:srgbClr val="1F2D3A"/>
                </a:solidFill>
              </a:rPr>
              <a:t> ölçer — ikisi </a:t>
            </a:r>
            <a:r>
              <a:rPr sz="2000" b="1">
                <a:solidFill>
                  <a:srgbClr val="1F2D3A"/>
                </a:solidFill>
              </a:rPr>
              <a:t>farklı sorulara</a:t>
            </a:r>
            <a:r>
              <a:rPr sz="2000" b="0">
                <a:solidFill>
                  <a:srgbClr val="1F2D3A"/>
                </a:solidFill>
              </a:rPr>
              <a:t> cevap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"EPSS yüksek, o hâlde CVSS de yüksektir"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; ikisi birbirinden bağımsız ölçülür.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okunduğunda öncelik sırası netleşir.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ötesi: KEV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KEV</a:t>
            </a:r>
            <a:r>
              <a:rPr sz="2000" b="0">
                <a:solidFill>
                  <a:srgbClr val="1F2D3A"/>
                </a:solidFill>
              </a:rPr>
              <a:t> (Known Exploited Vulnerabilities): </a:t>
            </a:r>
            <a:r>
              <a:rPr sz="2000" b="1">
                <a:solidFill>
                  <a:srgbClr val="1F2D3A"/>
                </a:solidFill>
              </a:rPr>
              <a:t>kanıtlanmış</a:t>
            </a:r>
            <a:r>
              <a:rPr sz="2000" b="0">
                <a:solidFill>
                  <a:srgbClr val="1F2D3A"/>
                </a:solidFill>
              </a:rPr>
              <a:t> biçimde istismar edilen açıkların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kayıt: CVE kimliği, istismar kanıtı, açık düzeltme yönergesi.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"KEV'de yoksa istismar edilmiyordur"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 — listede olmamak güvenlik kanıtı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KEV'deki bir açık, düşük CVSS puanı alsa bile </a:t>
            </a:r>
            <a:r>
              <a:rPr sz="2000" b="1">
                <a:solidFill>
                  <a:srgbClr val="1F2D3A"/>
                </a:solidFill>
              </a:rPr>
              <a:t>öncelikli</a:t>
            </a:r>
            <a:r>
              <a:rPr sz="2000" b="0">
                <a:solidFill>
                  <a:srgbClr val="1F2D3A"/>
                </a:solidFill>
              </a:rPr>
              <a:t> ele alınmalıdır.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SSVC: karar noktaları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bulguyu </a:t>
            </a:r>
            <a:r>
              <a:rPr sz="1800" b="1">
                <a:solidFill>
                  <a:srgbClr val="1F2D3A"/>
                </a:solidFill>
              </a:rPr>
              <a:t>karara</a:t>
            </a:r>
            <a:r>
              <a:rPr sz="1800" b="0">
                <a:solidFill>
                  <a:srgbClr val="1F2D3A"/>
                </a:solidFill>
              </a:rPr>
              <a:t> çeviren beş soru: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İstismar var mı? · Otomatikleştirilebilir mi?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Teknik etki nedir? · Görev ne kadar yaygın etkilenir?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Kamu esenliği nasıl etkilenir?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Sonuç dört karardan biri: *</a:t>
            </a:r>
            <a:r>
              <a:rPr sz="1800" b="0" i="1">
                <a:solidFill>
                  <a:srgbClr val="1F2D3A"/>
                </a:solidFill>
              </a:rPr>
              <a:t>Track / Track</a:t>
            </a:r>
            <a:r>
              <a:rPr sz="1800" b="0">
                <a:solidFill>
                  <a:srgbClr val="1F2D3A"/>
                </a:solidFill>
              </a:rPr>
              <a:t> / Attend / Act**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beş bulgu, iki sıralama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78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9812"/>
                <a:gridCol w="6094731"/>
                <a:gridCol w="2555855"/>
                <a:gridCol w="786416"/>
                <a:gridCol w="884719"/>
              </a:tblGrid>
              <a:tr h="61950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Bulgu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Sistem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EPSS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KEV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Ayrıştırıcıda uzunluk denetimi yok, uzaktan 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İnternete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0,62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Sürücüde yerel 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Çalışan bilgisayarları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0,41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Çerezde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bayrağı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İnternete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136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CVSS'e göre sıralama ile EPSS+KEV eklenmiş sıralama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çıkabilir; B5, CVSS'te ortalarda kalsa da KEV'de olduğu için </a:t>
            </a:r>
            <a:r>
              <a:rPr sz="2000" b="1">
                <a:solidFill>
                  <a:srgbClr val="1F2D3A"/>
                </a:solidFill>
              </a:rPr>
              <a:t>öne 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"Cihazdaki açıklar düşük puan alıyor, önemsiz"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AV:L</a:t>
            </a:r>
            <a:r>
              <a:rPr sz="2000" b="0">
                <a:solidFill>
                  <a:srgbClr val="1F2D3A"/>
                </a:solidFill>
              </a:rPr>
              <a:t> (yerel erişim) çıkan bir açık, düşük puanlıysa göz ardı edilebilir.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Bu dersin saldırgan modelinde </a:t>
            </a:r>
            <a:r>
              <a:rPr sz="2000" b="1">
                <a:solidFill>
                  <a:srgbClr val="1F2D3A"/>
                </a:solidFill>
              </a:rPr>
              <a:t>cihaz zaten saldırganın elindedir</a:t>
            </a:r>
            <a:r>
              <a:rPr sz="2000" b="0">
                <a:solidFill>
                  <a:srgbClr val="1F2D3A"/>
                </a:solidFill>
              </a:rPr>
              <a:t> (beyaz kutu).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Puan düşse bile risk </a:t>
            </a:r>
            <a:r>
              <a:rPr sz="2000" b="1">
                <a:solidFill>
                  <a:srgbClr val="1F2D3A"/>
                </a:solidFill>
              </a:rPr>
              <a:t>azalmaz</a:t>
            </a:r>
            <a:r>
              <a:rPr sz="2000" b="0">
                <a:solidFill>
                  <a:srgbClr val="1F2D3A"/>
                </a:solidFill>
              </a:rPr>
              <a:t>; puanın yanına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(süre, uzmanlık, ekipman) de yazılmalıdır.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Pratik: vektörü siz kurun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Bir saldırgan </a:t>
            </a:r>
            <a:r>
              <a:rPr sz="2000" b="1">
                <a:solidFill>
                  <a:srgbClr val="1F2D3A"/>
                </a:solidFill>
              </a:rPr>
              <a:t>ağdan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kimlik doğrulamadan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kullanıcı etkileşimi olmadan</a:t>
            </a:r>
            <a:r>
              <a:rPr sz="2000" b="0">
                <a:solidFill>
                  <a:srgbClr val="1F2D3A"/>
                </a:solidFill>
              </a:rPr>
              <a:t> bir sistemi tamamen ele geçiriyor (gizlilik, bütünlük, erişilebilirlik hepsi tam bozuluyor). CVSS v3.1 vektörü ve puanı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AV:N/AC:L/PR:N/UI:N/S:U/C:H/I:H/A:H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9.8 (Kritik)</a:t>
            </a:r>
            <a:r>
              <a:rPr sz="2000" b="0">
                <a:solidFill>
                  <a:srgbClr val="1F2D3A"/>
                </a:solidFill>
              </a:rPr>
              <a:t>. Kapsam da değişseydi (S:C) puan </a:t>
            </a:r>
            <a:r>
              <a:rPr sz="2000" b="1">
                <a:solidFill>
                  <a:srgbClr val="1F2D3A"/>
                </a:solidFill>
              </a:rPr>
              <a:t>10.0</a:t>
            </a:r>
            <a:r>
              <a:rPr sz="2000" b="0">
                <a:solidFill>
                  <a:srgbClr val="1F2D3A"/>
                </a:solidFill>
              </a:rPr>
              <a:t>'a çıkardı.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zafiyet sınıflandırma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00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ayırabiliyorum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elle</a:t>
            </a:r>
            <a:r>
              <a:rPr sz="1800" b="0">
                <a:solidFill>
                  <a:srgbClr val="1F2D3A"/>
                </a:solidFill>
              </a:rPr>
              <a:t> hesaplayabiliyorum.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farklı sorulara</a:t>
            </a:r>
            <a:r>
              <a:rPr sz="1800" b="0">
                <a:solidFill>
                  <a:srgbClr val="1F2D3A"/>
                </a:solidFill>
              </a:rPr>
              <a:t> cevap verdiğini açıklayabiliyorum.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yaşam döngüsü</a:t>
            </a:r>
          </a:p>
        </p:txBody>
      </p:sp>
      <p:pic>
        <p:nvPicPr>
          <p:cNvPr id="7" name="Picture 6" descr="h02-06-zafiyet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96686"/>
            <a:ext cx="10911535" cy="1021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Zero-day:</a:t>
            </a:r>
            <a:r>
              <a:rPr sz="1600" b="0">
                <a:solidFill>
                  <a:srgbClr val="1F2D3A"/>
                </a:solidFill>
              </a:rPr>
              <a:t> satıcının bilmediği/yamasının olmadığı açık.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Sorumlu ifşa:</a:t>
            </a:r>
            <a:r>
              <a:rPr sz="1600" b="0">
                <a:solidFill>
                  <a:srgbClr val="1F2D3A"/>
                </a:solidFill>
              </a:rPr>
              <a:t> önce satıcıya bildir, ~90 gün bekle, sonra açıkla.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Yama boşluğu:</a:t>
            </a:r>
            <a:r>
              <a:rPr sz="1600" b="0">
                <a:solidFill>
                  <a:srgbClr val="1F2D3A"/>
                </a:solidFill>
              </a:rPr>
              <a:t> yama çıkınca açık kamuya açılır; güncellemeyen savunmasız (WannaCry).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Yaşam döngüsü: dört aşama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Keşif:</a:t>
            </a:r>
            <a:r>
              <a:rPr sz="2000" b="0">
                <a:solidFill>
                  <a:srgbClr val="1F2D3A"/>
                </a:solidFill>
              </a:rPr>
              <a:t> açık bulunur (araştırmacı, saldırgan ya da satıcı).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Bildirim:</a:t>
            </a:r>
            <a:r>
              <a:rPr sz="2000" b="0">
                <a:solidFill>
                  <a:srgbClr val="1F2D3A"/>
                </a:solidFill>
              </a:rPr>
              <a:t> araştırmacı satıcıya bildirir (ya da saldırgan sessizce kullanır).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Yama:</a:t>
            </a:r>
            <a:r>
              <a:rPr sz="2000" b="0">
                <a:solidFill>
                  <a:srgbClr val="1F2D3A"/>
                </a:solidFill>
              </a:rPr>
              <a:t> satıcı düzeltmeyi yazıp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Yayın:</a:t>
            </a:r>
            <a:r>
              <a:rPr sz="2000" b="0">
                <a:solidFill>
                  <a:srgbClr val="1F2D3A"/>
                </a:solidFill>
              </a:rPr>
              <a:t> yama kullanıcıya ulaşır, </a:t>
            </a:r>
            <a:r>
              <a:rPr sz="2000" b="1">
                <a:solidFill>
                  <a:srgbClr val="1F2D3A"/>
                </a:solidFill>
              </a:rPr>
              <a:t>uygulanırsa</a:t>
            </a:r>
            <a:r>
              <a:rPr sz="2000" b="0">
                <a:solidFill>
                  <a:srgbClr val="1F2D3A"/>
                </a:solidFill>
              </a:rPr>
              <a:t> risk biter.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ok arasında geçen süre, saldırgana verilen </a:t>
            </a:r>
            <a:r>
              <a:rPr sz="2000" b="1">
                <a:solidFill>
                  <a:srgbClr val="1F2D3A"/>
                </a:solidFill>
              </a:rPr>
              <a:t>zaman penceresidir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Sorumlu ifşa vs tam ifşa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562"/>
                <a:gridCol w="5200825"/>
                <a:gridCol w="3773147"/>
              </a:tblGrid>
              <a:tr h="39392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Sorumlu ifşa (coordinated)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Tam ifşa (full)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 önce bilir?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Satıcı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Herkes aynı anda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~90 gün (yama için)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Kullanıcıyı korurken satıcıyı harekete geçirmek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Satıcıyı zorlamak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(yama varken açıklanır)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(yama yokken açık bilinir)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Sektörde tartışmalı olan </a:t>
            </a:r>
            <a:r>
              <a:rPr sz="1800" b="1">
                <a:solidFill>
                  <a:srgbClr val="1F2D3A"/>
                </a:solidFill>
              </a:rPr>
              <a:t>tam ifşadır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ödül programları (bug bounty)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Şirketlerin, açığı </a:t>
            </a:r>
            <a:r>
              <a:rPr sz="2000" b="1">
                <a:solidFill>
                  <a:srgbClr val="1F2D3A"/>
                </a:solidFill>
              </a:rPr>
              <a:t>sorumlu biçimde</a:t>
            </a:r>
            <a:r>
              <a:rPr sz="2000" b="0">
                <a:solidFill>
                  <a:srgbClr val="1F2D3A"/>
                </a:solidFill>
              </a:rPr>
              <a:t> bildiren araştırmacılara </a:t>
            </a:r>
            <a:r>
              <a:rPr sz="2000" b="1">
                <a:solidFill>
                  <a:srgbClr val="1F2D3A"/>
                </a:solidFill>
              </a:rPr>
              <a:t>ödül</a:t>
            </a:r>
            <a:r>
              <a:rPr sz="2000" b="0">
                <a:solidFill>
                  <a:srgbClr val="1F2D3A"/>
                </a:solidFill>
              </a:rPr>
              <a:t> verdiği programlar.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araştırmacıyı tam ifşa yerine </a:t>
            </a:r>
            <a:r>
              <a:rPr sz="2000" b="1">
                <a:solidFill>
                  <a:srgbClr val="1F2D3A"/>
                </a:solidFill>
              </a:rPr>
              <a:t>sorumlu ifşaya</a:t>
            </a:r>
            <a:r>
              <a:rPr sz="2000" b="0">
                <a:solidFill>
                  <a:srgbClr val="1F2D3A"/>
                </a:solidFill>
              </a:rPr>
              <a:t> yönlendirmek.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Araştırmacı için kazanç; şirket için </a:t>
            </a:r>
            <a:r>
              <a:rPr sz="2000" b="1">
                <a:solidFill>
                  <a:srgbClr val="1F2D3A"/>
                </a:solidFill>
              </a:rPr>
              <a:t>erken uyarı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teknoloji şirketlerinin çoğunda artık standart bir uygulamadır.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 süreç: bir açık bildirilirse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ürün ekibi için yaşam döngüsü bir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Bildirim </a:t>
            </a:r>
            <a:r>
              <a:rPr sz="2000" b="1">
                <a:solidFill>
                  <a:srgbClr val="1F2D3A"/>
                </a:solidFill>
              </a:rPr>
              <a:t>kanalı: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security.txt</a:t>
            </a:r>
            <a:r>
              <a:rPr sz="2000" b="0">
                <a:solidFill>
                  <a:srgbClr val="1F2D3A"/>
                </a:solidFill>
              </a:rPr>
              <a:t>, güvenlik e-postası.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sorumlu</a:t>
            </a:r>
            <a:r>
              <a:rPr sz="2000" b="0">
                <a:solidFill>
                  <a:srgbClr val="1F2D3A"/>
                </a:solidFill>
              </a:rPr>
              <a:t> kişi/ekip.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Yama </a:t>
            </a:r>
            <a:r>
              <a:rPr sz="2000" b="1">
                <a:solidFill>
                  <a:srgbClr val="1F2D3A"/>
                </a:solidFill>
              </a:rPr>
              <a:t>SLA'sı:</a:t>
            </a:r>
            <a:r>
              <a:rPr sz="2000" b="0">
                <a:solidFill>
                  <a:srgbClr val="1F2D3A"/>
                </a:solidFill>
              </a:rPr>
              <a:t> ne kadar sürede düzeltilecek?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Sürüm/yama </a:t>
            </a:r>
            <a:r>
              <a:rPr sz="2000" b="1">
                <a:solidFill>
                  <a:srgbClr val="1F2D3A"/>
                </a:solidFill>
              </a:rPr>
              <a:t>duyuru</a:t>
            </a:r>
            <a:r>
              <a:rPr sz="2000" b="0">
                <a:solidFill>
                  <a:srgbClr val="1F2D3A"/>
                </a:solidFill>
              </a:rPr>
              <a:t> mekanizması.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değerlendirme yalnız kodu değil, bu </a:t>
            </a:r>
            <a:r>
              <a:rPr sz="2000" b="1">
                <a:solidFill>
                  <a:srgbClr val="1F2D3A"/>
                </a:solidFill>
              </a:rPr>
              <a:t>süreci</a:t>
            </a:r>
            <a:r>
              <a:rPr sz="2000" b="0">
                <a:solidFill>
                  <a:srgbClr val="1F2D3A"/>
                </a:solidFill>
              </a:rPr>
              <a:t> de sorar.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ifşa neden tartışmalı?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Tam ifşa (full disclosure) neden riskli kabul edilir?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1">
                <a:solidFill>
                  <a:srgbClr val="1F2D3A"/>
                </a:solidFill>
              </a:rPr>
              <a:t>yama yokken</a:t>
            </a:r>
            <a:r>
              <a:rPr sz="2000" b="0">
                <a:solidFill>
                  <a:srgbClr val="1F2D3A"/>
                </a:solidFill>
              </a:rPr>
              <a:t> herkese duyurulur. Satıcıyı harekete geçirmeye zorlar, ama aynı zamanda saldırganlara da </a:t>
            </a:r>
            <a:r>
              <a:rPr sz="2000" b="1">
                <a:solidFill>
                  <a:srgbClr val="1F2D3A"/>
                </a:solidFill>
              </a:rPr>
              <a:t>hazır bir yol haritası</a:t>
            </a:r>
            <a:r>
              <a:rPr sz="2000" b="0">
                <a:solidFill>
                  <a:srgbClr val="1F2D3A"/>
                </a:solidFill>
              </a:rPr>
              <a:t> verir — kullanıcılar savunmasızken.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eki — bu genişletmede eklenenler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4614"/>
                <a:gridCol w="6546921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Açığın 30 gün içinde istismar edilme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olasılığı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Kanıtlanmış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istismar edilen açıklar kataloğu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SSVC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İstismar/etki/yaygınlık ile Track–Act kararı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Sorumlu / tam ifşa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Önce satıcıya bildirme / hemen kamuya açma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/ yetkilendirme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"Sen kimsin?" / "Bunu yapabilir misin?"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Politika belirsizse cevap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(fail-closed)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projesi: bu hafta (S4)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her satıra bir CWE</a:t>
            </a:r>
            <a:r>
              <a:rPr sz="2000" b="0">
                <a:solidFill>
                  <a:srgbClr val="1F2D3A"/>
                </a:solidFill>
              </a:rPr>
              <a:t>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  <a:r>
              <a:rPr sz="2000" b="0">
                <a:solidFill>
                  <a:srgbClr val="1F2D3A"/>
                </a:solidFill>
              </a:rPr>
              <a:t> (Demo 04 biçimi); en ucuz yol + en etkili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'lerini bulup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puanlayın.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erişim modelini</a:t>
            </a:r>
            <a:r>
              <a:rPr sz="2000" b="0">
                <a:solidFill>
                  <a:srgbClr val="1F2D3A"/>
                </a:solidFill>
              </a:rPr>
              <a:t> (DAC / MAC / RBAC) gerekçelendirin.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092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| ID | Tehdit | Varlik | Yol | CWE | Onlem | Bolum |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(seçme)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9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Virüs, solucan, truva atı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Polimorfizm ≠ metamorfizm: fark?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Yüksek entropi zararlıyı </a:t>
            </a:r>
            <a:r>
              <a:rPr sz="2000" b="1">
                <a:solidFill>
                  <a:srgbClr val="1F2D3A"/>
                </a:solidFill>
              </a:rPr>
              <a:t>kanıtlar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BLP iki kuralı ve neyi korur?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Biba, BLP'den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DAC ile MAC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CWE ile CVE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CVSS Temel puan neyi ölçmez?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Virüs</a:t>
            </a:r>
            <a:r>
              <a:rPr sz="1800" b="0">
                <a:solidFill>
                  <a:srgbClr val="1F2D3A"/>
                </a:solidFill>
              </a:rPr>
              <a:t> başka programa bulaşır; </a:t>
            </a:r>
            <a:r>
              <a:rPr sz="1800" b="1">
                <a:solidFill>
                  <a:srgbClr val="1F2D3A"/>
                </a:solidFill>
              </a:rPr>
              <a:t>solucan</a:t>
            </a:r>
            <a:r>
              <a:rPr sz="1800" b="0">
                <a:solidFill>
                  <a:srgbClr val="1F2D3A"/>
                </a:solidFill>
              </a:rPr>
              <a:t> kendi başına ağdan kopyalar; </a:t>
            </a:r>
            <a:r>
              <a:rPr sz="1800" b="1">
                <a:solidFill>
                  <a:srgbClr val="1F2D3A"/>
                </a:solidFill>
              </a:rPr>
              <a:t>truva atı</a:t>
            </a:r>
            <a:r>
              <a:rPr sz="1800" b="0">
                <a:solidFill>
                  <a:srgbClr val="1F2D3A"/>
                </a:solidFill>
              </a:rPr>
              <a:t> faydalı görünüp gizli zararlı taşır.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Polimorfik</a:t>
            </a:r>
            <a:r>
              <a:rPr sz="1800" b="0">
                <a:solidFill>
                  <a:srgbClr val="1F2D3A"/>
                </a:solidFill>
              </a:rPr>
              <a:t> her kopyada kendini farklı </a:t>
            </a:r>
            <a:r>
              <a:rPr sz="1800" b="1">
                <a:solidFill>
                  <a:srgbClr val="1F2D3A"/>
                </a:solidFill>
              </a:rPr>
              <a:t>şifreler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metamorfik</a:t>
            </a:r>
            <a:r>
              <a:rPr sz="1800" b="0">
                <a:solidFill>
                  <a:srgbClr val="1F2D3A"/>
                </a:solidFill>
              </a:rPr>
              <a:t> kodunu </a:t>
            </a:r>
            <a:r>
              <a:rPr sz="1800" b="1">
                <a:solidFill>
                  <a:srgbClr val="1F2D3A"/>
                </a:solidFill>
              </a:rPr>
              <a:t>yeniden yazar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Yüksek entropi bir </a:t>
            </a:r>
            <a:r>
              <a:rPr sz="1800" b="1">
                <a:solidFill>
                  <a:srgbClr val="1F2D3A"/>
                </a:solidFill>
              </a:rPr>
              <a:t>ipucudur</a:t>
            </a:r>
            <a:r>
              <a:rPr sz="1800" b="0">
                <a:solidFill>
                  <a:srgbClr val="1F2D3A"/>
                </a:solidFill>
              </a:rPr>
              <a:t> (şifreli/paketli); tek başına zararlıyı kanıtlamaz (meşru sıkıştırma da yüksek entropili).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BLP:</a:t>
            </a:r>
            <a:r>
              <a:rPr sz="1800" b="0">
                <a:solidFill>
                  <a:srgbClr val="1F2D3A"/>
                </a:solidFill>
              </a:rPr>
              <a:t> yukarı okuma yok + aşağı yazma yok → </a:t>
            </a:r>
            <a:r>
              <a:rPr sz="1800" b="1">
                <a:solidFill>
                  <a:srgbClr val="1F2D3A"/>
                </a:solidFill>
              </a:rPr>
              <a:t>gizliliği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(5–8)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BLP'nin tersidir: aşağı okuma yok + yukarı yazma yok → </a:t>
            </a:r>
            <a:r>
              <a:rPr sz="1800" b="1">
                <a:solidFill>
                  <a:srgbClr val="1F2D3A"/>
                </a:solidFill>
              </a:rPr>
              <a:t>bütünlüğü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DAC</a:t>
            </a:r>
            <a:r>
              <a:rPr sz="1800" b="0">
                <a:solidFill>
                  <a:srgbClr val="1F2D3A"/>
                </a:solidFill>
              </a:rPr>
              <a:t> izinleri sahibi belirler (esnek, sızıntıya açık); </a:t>
            </a:r>
            <a:r>
              <a:rPr sz="1800" b="1">
                <a:solidFill>
                  <a:srgbClr val="1F2D3A"/>
                </a:solidFill>
              </a:rPr>
              <a:t>MAC</a:t>
            </a:r>
            <a:r>
              <a:rPr sz="1800" b="0">
                <a:solidFill>
                  <a:srgbClr val="1F2D3A"/>
                </a:solidFill>
              </a:rPr>
              <a:t> sistemin zorunlu etiketli kuralları (katı).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zayıflık </a:t>
            </a:r>
            <a:r>
              <a:rPr sz="1800" b="1">
                <a:solidFill>
                  <a:srgbClr val="1F2D3A"/>
                </a:solidFill>
              </a:rPr>
              <a:t>türü</a:t>
            </a:r>
            <a:r>
              <a:rPr sz="1800" b="0">
                <a:solidFill>
                  <a:srgbClr val="1F2D3A"/>
                </a:solidFill>
              </a:rPr>
              <a:t> (ör. CWE-416);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belirli bir üründeki </a:t>
            </a:r>
            <a:r>
              <a:rPr sz="1800" b="1">
                <a:solidFill>
                  <a:srgbClr val="1F2D3A"/>
                </a:solidFill>
              </a:rPr>
              <a:t>somut</a:t>
            </a:r>
            <a:r>
              <a:rPr sz="1800" b="0">
                <a:solidFill>
                  <a:srgbClr val="1F2D3A"/>
                </a:solidFill>
              </a:rPr>
              <a:t>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CVSS Temel puan</a:t>
            </a:r>
            <a:r>
              <a:rPr sz="1800" b="0">
                <a:solidFill>
                  <a:srgbClr val="1F2D3A"/>
                </a:solidFill>
              </a:rPr>
              <a:t> olabilirliği/etkiyi ölçer ama </a:t>
            </a:r>
            <a:r>
              <a:rPr sz="1800" b="1">
                <a:solidFill>
                  <a:srgbClr val="1F2D3A"/>
                </a:solidFill>
              </a:rPr>
              <a:t>istismarın sahada gerçekleşme olasılığını</a:t>
            </a:r>
            <a:r>
              <a:rPr sz="1800" b="0">
                <a:solidFill>
                  <a:srgbClr val="1F2D3A"/>
                </a:solidFill>
              </a:rPr>
              <a:t> (tehdit/ortam) tek başına ölçmez.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3 — Veri Güvenliği: Aktarımda, Beklemede, Kullanımda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Şifreleme temelleri · TLS 1.3 ve sertifika sabitleme · AES-GCM ile yerel şifreleme · güvenli silme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9.1–9.3, 10.7–10.9, 4.9–4.11, 13.2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Erişim modelleri karşılaştırma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gizlilik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"Yukarı yazma, aşağı okuma yok"</a:t>
            </a:r>
            <a:r>
              <a:rPr sz="2000" b="0">
                <a:solidFill>
                  <a:srgbClr val="1F2D3A"/>
                </a:solidFill>
              </a:rPr>
              <a:t> değil — tersi: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</a:t>
            </a:r>
            <a:r>
              <a:rPr sz="2000" b="0">
                <a:solidFill>
                  <a:srgbClr val="1F2D3A"/>
                </a:solidFill>
              </a:rPr>
              <a:t> (no read up): düşük yetkili, yüksek gizli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yazma yok</a:t>
            </a:r>
            <a:r>
              <a:rPr sz="2000" b="0">
                <a:solidFill>
                  <a:srgbClr val="1F2D3A"/>
                </a:solidFill>
              </a:rPr>
              <a:t> (no write down): yüksek yetkili, düşük seviyeye sızdıramaz.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"Gizli" etiketli bir kullanıcı "Çok Gizli" belgeyi </a:t>
            </a:r>
            <a:r>
              <a:rPr sz="2000" b="1">
                <a:solidFill>
                  <a:srgbClr val="1F2D3A"/>
                </a:solidFill>
              </a:rPr>
              <a:t>okuyamaz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Gizli" bir süreç "Genel" dosyaya </a:t>
            </a:r>
            <a:r>
              <a:rPr sz="2000" b="1">
                <a:solidFill>
                  <a:srgbClr val="1F2D3A"/>
                </a:solidFill>
              </a:rPr>
              <a:t>yazamaz</a:t>
            </a:r>
            <a:r>
              <a:rPr sz="2000" b="0">
                <a:solidFill>
                  <a:srgbClr val="1F2D3A"/>
                </a:solidFill>
              </a:rPr>
              <a:t> (sızıntı önlenir).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 · bütünlük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BLP'nin </a:t>
            </a:r>
            <a:r>
              <a:rPr sz="2000" b="1">
                <a:solidFill>
                  <a:srgbClr val="1F2D3A"/>
                </a:solidFill>
              </a:rPr>
              <a:t>tersi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</a:t>
            </a:r>
            <a:r>
              <a:rPr sz="2000" b="0">
                <a:solidFill>
                  <a:srgbClr val="1F2D3A"/>
                </a:solidFill>
              </a:rPr>
              <a:t>: yüksek bütünlüklü, düşük güvenilir veriyi okumaz.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</a:t>
            </a:r>
            <a:r>
              <a:rPr sz="2000" b="0">
                <a:solidFill>
                  <a:srgbClr val="1F2D3A"/>
                </a:solidFill>
              </a:rPr>
              <a:t>: düşük güvenilir, yüksek bütünlüğe yazamaz.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vs Biba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72877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546024"/>
                <a:gridCol w="2546024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Biba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sistemde ikisi </a:t>
            </a:r>
            <a:r>
              <a:rPr sz="2000" b="1">
                <a:solidFill>
                  <a:srgbClr val="1F2D3A"/>
                </a:solidFill>
              </a:rPr>
              <a:t>çelişebilir</a:t>
            </a:r>
            <a:r>
              <a:rPr sz="2000" b="0">
                <a:solidFill>
                  <a:srgbClr val="1F2D3A"/>
                </a:solidFill>
              </a:rPr>
              <a:t>; dikkatle birleştirilir.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Ticari bütünlük: iyi biçimli işlemler + görev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Veriye yalnız </a:t>
            </a:r>
            <a:r>
              <a:rPr sz="2000" b="1">
                <a:solidFill>
                  <a:srgbClr val="1F2D3A"/>
                </a:solidFill>
              </a:rPr>
              <a:t>onaylı</a:t>
            </a:r>
            <a:r>
              <a:rPr sz="2000" b="0">
                <a:solidFill>
                  <a:srgbClr val="1F2D3A"/>
                </a:solidFill>
              </a:rPr>
              <a:t> yordamlarla erişilir.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muhasebe kayıtları.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 · seçim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esnek ama sızıntıya açık (sahibi paylaşır).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katı, askeri/etiketli ortam.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kurumsal; rol bazlı, yönetimi kolay.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Zafiyeti bul (kod okuma)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1 · günlük enjeksiyonu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fprintf(log, "giris: %s\n", kullanici_adi);  /* CWE-117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içerirse </a:t>
            </a:r>
            <a:r>
              <a:rPr sz="2000" b="1">
                <a:solidFill>
                  <a:srgbClr val="1F2D3A"/>
                </a:solidFill>
              </a:rPr>
              <a:t>sahte</a:t>
            </a:r>
            <a:r>
              <a:rPr sz="2000" b="0">
                <a:solidFill>
                  <a:srgbClr val="1F2D3A"/>
                </a:solidFill>
              </a:rPr>
              <a:t> günlük satırı ekler. Doğrusu: kaçış/temizleme.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2 · biçim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syslog(LOG_INFO, kullanici_girdisi);  /* CWE-134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Biçim dizgesi sabit olmalı: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3 · zayıf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ile tarama, polimorfik virüsü kaçırır.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Ek: sezgisel + davranış + entropi.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Virüs ile solucan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Virüs başka programa bulaşarak yayılır; solucan kendi başına ağ üzerinden kendini kopyalar.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Polimorfik virüs neden imza tespitini zorlar?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kopyada kendini farklı şifreler; sabit bir imza kalmaz. Sezgisel/emülasyon gerekir.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İmza ve sezgisel tespitin güçlü/zayıf yanı?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hızlı ama yeniyi kaçırır; sezgisel yeniyi bulur ama yanlış alarm üretir.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BLP ile Biba neyi korur, kuralları ters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BLP gizliliği (yukarı okuma yok), Biba bütünlüğü (aşağı okuma yok). Evet, yönleri terstir.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CWE ile CVE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CWE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(örn. use-after-free); CVE belirli bir üründeki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açık.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CVSS ne söyler?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açığın ciddiyetini standart bir puanla (0–10); önceliklendirmede kullanılır.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Günlük enjeksiyonu (CWE-117) nasıl önlenir?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Günlüğe yazılan kullanıcı verisindeki satır sonu/kontrol karakterlerini temizle/kaçır; yapılandırılmış günlük kullan.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Sorumlu ifşa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Açığı önce üreticiye bildirip yama için süre tanımak, sonra kamuya açıklamak.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Polimorfik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kopyada farklı şifreli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İmza/sezgisel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iz / şüpheli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Rastgelelik ölçüsü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DAC/MAC/RBAC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Erişim denetim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BLP/Biba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/ bütünlük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CWE/CVE/CVSS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 / somut açık / puan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(2.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sınıflandır</a:t>
            </a:r>
            <a:r>
              <a:rPr sz="2000" b="0">
                <a:solidFill>
                  <a:srgbClr val="1F2D3A"/>
                </a:solidFill>
              </a:rPr>
              <a:t>, erişimi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açığı </a:t>
            </a:r>
            <a:r>
              <a:rPr sz="2000" b="1">
                <a:solidFill>
                  <a:srgbClr val="1F2D3A"/>
                </a:solidFill>
              </a:rPr>
              <a:t>kataloglar</a:t>
            </a:r>
            <a:r>
              <a:rPr sz="2000" b="0">
                <a:solidFill>
                  <a:srgbClr val="1F2D3A"/>
                </a:solidFill>
              </a:rPr>
              <a:t>la (CWE/CVE) izle ve ciddiyetini (CVSS) ölç.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çerçeve, sonraki haftalardaki teknik korumaların zeminidir.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2 — Bilgisayar Virüsleri ve Güvenlik Modelleri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