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yönetilen dillere geçiyoruz: bellek güvenliği bedava gelir ama enjeksiyon, seri durumdan çıkarma, okunabilir bayt kodu ve bağımlılıklar yeni riskler getirir.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Hafta 4'teki C/C++ karşılığını Java/yorumlanan dillerde işliyoruz. Sıfır ön bilgi varsayıyoruz; her terimi tanımlayacağız.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SQL enjeksiyonu.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seri durumdan çıkarma ve XML.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bayt kodu ve gizleme.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SBOM ve bağımlılık güvenliği.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proje ve çözümlü sınama.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Tek bir SQL enjeksiyonunu hatalı koddan saldırıya, düzeltmeye ve katmanlı savunmaya kadar izliyoruz.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3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4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5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Kod Sağlamlaştırma: Java ve Yorumlanan Diller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CEN429 Güvenli Programlama — Hafta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 · 16.10.2026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Bugün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715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4291"/>
                <a:gridCol w="646077"/>
                <a:gridCol w="9691165"/>
              </a:tblGrid>
              <a:tr h="678942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Saat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Bölüm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6789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1–4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Yönetilen diller ve enjeksiyonun kökü, SEI CERT · SQL enjeksiyonu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Demo 1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· Komut enjeksiyonu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Demo 2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· Yol geçişi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Demo 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789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5–7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Güvensiz seri durumdan çıkarma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Demo 7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· XML/XXE, şablon, XSS · Python ve JavaScript (ReDoS)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6789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8–12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Bayt kodu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Demo 4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· ProGuard/R8 + dize gizleme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Demo 5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· Android R8/ölçme · SBOM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Demo 6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· Proje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151376"/>
            <a:ext cx="10911535" cy="10012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Öğrenme çıktıları (ÖÇ.3 / ÖÇ.4):</a:t>
            </a:r>
            <a:r>
              <a:rPr sz="1800" b="0">
                <a:solidFill>
                  <a:srgbClr val="1F2D3A"/>
                </a:solidFill>
              </a:rPr>
              <a:t> enjeksiyon sınıfını tanımak ve önlemek (SQL, komut, yol, XML, seri durum) · ProGuard/R8 ile gizleme ve </a:t>
            </a:r>
            <a:r>
              <a:rPr sz="1800" b="0">
                <a:solidFill>
                  <a:srgbClr val="A1123F"/>
                </a:solidFill>
                <a:latin typeface="Consolas"/>
              </a:rPr>
              <a:t>-keep</a:t>
            </a:r>
            <a:r>
              <a:rPr sz="1800" b="0">
                <a:solidFill>
                  <a:srgbClr val="1F2D3A"/>
                </a:solidFill>
              </a:rPr>
              <a:t> kuralları yazmak · SBOM üretip bağımlılık riskini yönetmek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5262372"/>
            <a:ext cx="10911535" cy="86868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Yönetilen dil bellek hatalarını büyük ölçüde çözer; ama veri ile komutun karışması (enjeksiyon) her dilde vardır.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Önceki haftalardan gelenler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Bellek hataları (taşma, serbest bellek kullanımı, tanımsız davranış)</a:t>
            </a:r>
            <a:r>
              <a:rPr sz="2000" b="0">
                <a:solidFill>
                  <a:srgbClr val="1F2D3A"/>
                </a:solidFill>
              </a:rPr>
              <a:t> — ilk dört hafta C/C++'ta bu hataların nasıl oluştuğunu ve önlendiğini gördük </a:t>
            </a:r>
            <a:r>
              <a:rPr sz="2000" b="1">
                <a:solidFill>
                  <a:srgbClr val="1F2D3A"/>
                </a:solidFill>
              </a:rPr>
              <a:t>(Hafta 4)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SEI CERT kural kitabının yapısı</a:t>
            </a:r>
            <a:r>
              <a:rPr sz="2000" b="0">
                <a:solidFill>
                  <a:srgbClr val="1F2D3A"/>
                </a:solidFill>
              </a:rPr>
              <a:t> — kimlik, hatalı örnek, uyumlu çözüm ve risk bölümlerinden oluşan ortak yapı </a:t>
            </a:r>
            <a:r>
              <a:rPr sz="2000" b="1">
                <a:solidFill>
                  <a:srgbClr val="1F2D3A"/>
                </a:solidFill>
              </a:rPr>
              <a:t>(Hafta 4)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TOCTOU (denetim ile kullanım arasındaki zaman)</a:t>
            </a:r>
            <a:r>
              <a:rPr sz="2000" b="0">
                <a:solidFill>
                  <a:srgbClr val="1F2D3A"/>
                </a:solidFill>
              </a:rPr>
              <a:t> — dosya izin denetimiyle gerçek kullanım arasındaki zaman farkının bir yarış durumu açığı olduğu </a:t>
            </a:r>
            <a:r>
              <a:rPr sz="2000" b="1">
                <a:solidFill>
                  <a:srgbClr val="1F2D3A"/>
                </a:solidFill>
              </a:rPr>
              <a:t>(Hafta 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645408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hafta: bellek hataları → hangileri </a:t>
            </a:r>
            <a:r>
              <a:rPr sz="2000" b="1">
                <a:solidFill>
                  <a:srgbClr val="1F2D3A"/>
                </a:solidFill>
              </a:rPr>
              <a:t>dil düzeyinde</a:t>
            </a:r>
            <a:r>
              <a:rPr sz="2000" b="0">
                <a:solidFill>
                  <a:srgbClr val="1F2D3A"/>
                </a:solidFill>
              </a:rPr>
              <a:t> kalkıyor (Bölüm 1); SEI CERT yapısı → </a:t>
            </a:r>
            <a:r>
              <a:rPr sz="2000" b="1">
                <a:solidFill>
                  <a:srgbClr val="1F2D3A"/>
                </a:solidFill>
              </a:rPr>
              <a:t>Oracle Java</a:t>
            </a:r>
            <a:r>
              <a:rPr sz="2000" b="0">
                <a:solidFill>
                  <a:srgbClr val="1F2D3A"/>
                </a:solidFill>
              </a:rPr>
              <a:t> standardına (Bölüm 1); TOCTOU → yol geçişinde dosya açıldıktan </a:t>
            </a:r>
            <a:r>
              <a:rPr sz="2000" b="1">
                <a:solidFill>
                  <a:srgbClr val="1F2D3A"/>
                </a:solidFill>
              </a:rPr>
              <a:t>sonra</a:t>
            </a:r>
            <a:r>
              <a:rPr sz="2000" b="0">
                <a:solidFill>
                  <a:srgbClr val="1F2D3A"/>
                </a:solidFill>
              </a:rPr>
              <a:t> da kök denetimi (Bölüm 4).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Bu haftanın kavramları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Her terim, gövdede ilk geçtiği yerde tanımlanır; burada yalnız </a:t>
            </a:r>
            <a:r>
              <a:rPr sz="1800" b="1">
                <a:solidFill>
                  <a:srgbClr val="1F2D3A"/>
                </a:solidFill>
              </a:rPr>
              <a:t>nerede</a:t>
            </a:r>
            <a:r>
              <a:rPr sz="1800" b="0">
                <a:solidFill>
                  <a:srgbClr val="1F2D3A"/>
                </a:solidFill>
              </a:rPr>
              <a:t> olduğunu işaretliyoruz.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139696"/>
          <a:ext cx="6728778" cy="3374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46472"/>
                <a:gridCol w="2182306"/>
              </a:tblGrid>
              <a:tr h="337413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Kavram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Nerede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3741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Enjeksiyon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Bölüm 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741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JVM ve bayt kodu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Bölüm 8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3741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Parametreli sorgu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Bölüm 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741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Seri durumdan çıkarma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Bölüm 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3741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XXE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Bölüm 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741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Yol geçişi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Bölüm 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3741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ProGuard / R8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Bölüm 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741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-keep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kuralı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Bölüm 9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374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SBOM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Bölüm 12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Ön bilgi: Yönetilen dil ve çöp toplayıcı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Yönetilen dil:</a:t>
            </a:r>
            <a:r>
              <a:rPr sz="2000" b="0">
                <a:solidFill>
                  <a:srgbClr val="1F2D3A"/>
                </a:solidFill>
              </a:rPr>
              <a:t> belleği </a:t>
            </a:r>
            <a:r>
              <a:rPr sz="2000" b="1">
                <a:solidFill>
                  <a:srgbClr val="1F2D3A"/>
                </a:solidFill>
              </a:rPr>
              <a:t>otomatik</a:t>
            </a:r>
            <a:r>
              <a:rPr sz="2000" b="0">
                <a:solidFill>
                  <a:srgbClr val="1F2D3A"/>
                </a:solidFill>
              </a:rPr>
              <a:t> yöneten dil (Java, C#, Python, JS); programcı </a:t>
            </a:r>
            <a:r>
              <a:rPr sz="2000" b="0">
                <a:solidFill>
                  <a:srgbClr val="A1123F"/>
                </a:solidFill>
                <a:latin typeface="Consolas"/>
              </a:rPr>
              <a:t>malloc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free</a:t>
            </a:r>
            <a:r>
              <a:rPr sz="2000" b="0">
                <a:solidFill>
                  <a:srgbClr val="1F2D3A"/>
                </a:solidFill>
              </a:rPr>
              <a:t> yapmaz.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GC (çöp toplayıcı):</a:t>
            </a:r>
            <a:r>
              <a:rPr sz="2000" b="0">
                <a:solidFill>
                  <a:srgbClr val="1F2D3A"/>
                </a:solidFill>
              </a:rPr>
              <a:t> artık kullanılmayan nesneleri arka planda otomatik temizler; programcı belleği elle bırakmaz.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tek fark → çoğu bellek hatası (taşma, serbest bırakıldıktan sonra kullanma (use-after-free)) </a:t>
            </a:r>
            <a:r>
              <a:rPr sz="2000" b="1">
                <a:solidFill>
                  <a:srgbClr val="1F2D3A"/>
                </a:solidFill>
              </a:rPr>
              <a:t>ortadan kalkar</a:t>
            </a:r>
            <a:r>
              <a:rPr sz="2000" b="0">
                <a:solidFill>
                  <a:srgbClr val="1F2D3A"/>
                </a:solidFill>
              </a:rPr>
              <a:t>; Bölüm 1 bunu ayrıntılı gösterir.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Ön bilgi: Veritabanları ve SQL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SQL:</a:t>
            </a:r>
            <a:r>
              <a:rPr sz="2000" b="0">
                <a:solidFill>
                  <a:srgbClr val="1F2D3A"/>
                </a:solidFill>
              </a:rPr>
              <a:t> veritabanı sorgulama dili (</a:t>
            </a:r>
            <a:r>
              <a:rPr sz="2000" b="0">
                <a:solidFill>
                  <a:srgbClr val="A1123F"/>
                </a:solidFill>
                <a:latin typeface="Consolas"/>
              </a:rPr>
              <a:t>SELECT ... WHERE ...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Uygulama, kullanıcı girdisini sorguya koyar.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Yanlış konursa → </a:t>
            </a:r>
            <a:r>
              <a:rPr sz="2000" b="1">
                <a:solidFill>
                  <a:srgbClr val="1F2D3A"/>
                </a:solidFill>
              </a:rPr>
              <a:t>SQL enjeksiyonu</a:t>
            </a:r>
            <a:r>
              <a:rPr sz="2000" b="0">
                <a:solidFill>
                  <a:srgbClr val="1F2D3A"/>
                </a:solidFill>
              </a:rPr>
              <a:t> (Bölüm 2).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Ön bilgi: Yansıma ve bağımlılıklar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833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Reflection (yansıma):</a:t>
            </a:r>
            <a:r>
              <a:rPr sz="2000" b="0">
                <a:solidFill>
                  <a:srgbClr val="1F2D3A"/>
                </a:solidFill>
              </a:rPr>
              <a:t> bir sınıfı/metodu </a:t>
            </a:r>
            <a:r>
              <a:rPr sz="2000" b="1">
                <a:solidFill>
                  <a:srgbClr val="1F2D3A"/>
                </a:solidFill>
              </a:rPr>
              <a:t>çalışma anında adıyla</a:t>
            </a:r>
            <a:r>
              <a:rPr sz="2000" b="0">
                <a:solidFill>
                  <a:srgbClr val="1F2D3A"/>
                </a:solidFill>
              </a:rPr>
              <a:t> bulup çağırma (</a:t>
            </a:r>
            <a:r>
              <a:rPr sz="2000" b="0">
                <a:solidFill>
                  <a:srgbClr val="A1123F"/>
                </a:solidFill>
                <a:latin typeface="Consolas"/>
              </a:rPr>
              <a:t>Class.forName("...")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getMethod("...")</a:t>
            </a:r>
            <a:r>
              <a:rPr sz="2000" b="0">
                <a:solidFill>
                  <a:srgbClr val="1F2D3A"/>
                </a:solidFill>
              </a:rPr>
              <a:t>); gizleme bunu bozabilir → </a:t>
            </a:r>
            <a:r>
              <a:rPr sz="2000" b="0">
                <a:solidFill>
                  <a:srgbClr val="A1123F"/>
                </a:solidFill>
                <a:latin typeface="Consolas"/>
              </a:rPr>
              <a:t>-keep</a:t>
            </a:r>
            <a:r>
              <a:rPr sz="2000" b="0">
                <a:solidFill>
                  <a:srgbClr val="1F2D3A"/>
                </a:solidFill>
              </a:rPr>
              <a:t> gerekir (Bölüm 9).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Bağımlılık:</a:t>
            </a:r>
            <a:r>
              <a:rPr sz="2000" b="0">
                <a:solidFill>
                  <a:srgbClr val="1F2D3A"/>
                </a:solidFill>
              </a:rPr>
              <a:t> projenizin kullandığı, kendi ekibinizin yazmadığı dış kütüphane; kendi kodunuz güvenli olsa bile, bir bağımlılıktaki açık sizi etkiler (Bölüm 12).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Demolar nasıl çalışıyor?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55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7 demo, </a:t>
            </a:r>
            <a:r>
              <a:rPr sz="2000" b="0">
                <a:solidFill>
                  <a:srgbClr val="A1123F"/>
                </a:solidFill>
                <a:latin typeface="Consolas"/>
              </a:rPr>
              <a:t>code/week-05</a:t>
            </a:r>
            <a:r>
              <a:rPr sz="2000" b="0">
                <a:solidFill>
                  <a:srgbClr val="1F2D3A"/>
                </a:solidFill>
              </a:rPr>
              <a:t> klasöründe — </a:t>
            </a:r>
            <a:r>
              <a:rPr sz="2000" b="1">
                <a:solidFill>
                  <a:srgbClr val="1F2D3A"/>
                </a:solidFill>
              </a:rPr>
              <a:t>Python 3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JDK 17+</a:t>
            </a:r>
            <a:r>
              <a:rPr sz="2000" b="0">
                <a:solidFill>
                  <a:srgbClr val="1F2D3A"/>
                </a:solidFill>
              </a:rPr>
              <a:t> ister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SQL demosunun ana bölümü Python'un yerleşik </a:t>
            </a:r>
            <a:r>
              <a:rPr sz="2000" b="0">
                <a:solidFill>
                  <a:srgbClr val="A1123F"/>
                </a:solidFill>
                <a:latin typeface="Consolas"/>
              </a:rPr>
              <a:t>sqlite3</a:t>
            </a:r>
            <a:r>
              <a:rPr sz="2000" b="0">
                <a:solidFill>
                  <a:srgbClr val="1F2D3A"/>
                </a:solidFill>
              </a:rPr>
              <a:t> modülüyle, hiçbir şey indirmeden çalışır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Çalıştır: Windows </a:t>
            </a:r>
            <a:r>
              <a:rPr sz="2000" b="0">
                <a:solidFill>
                  <a:srgbClr val="A1123F"/>
                </a:solidFill>
                <a:latin typeface="Consolas"/>
              </a:rPr>
              <a:t>.demo.ps1</a:t>
            </a:r>
            <a:r>
              <a:rPr sz="2000" b="0">
                <a:solidFill>
                  <a:srgbClr val="1F2D3A"/>
                </a:solidFill>
              </a:rPr>
              <a:t> · WSL/Linux </a:t>
            </a:r>
            <a:r>
              <a:rPr sz="2000" b="0">
                <a:solidFill>
                  <a:srgbClr val="A1123F"/>
                </a:solidFill>
                <a:latin typeface="Consolas"/>
              </a:rPr>
              <a:t>sh demo.sh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İsteğe bağlı Java bölümleri (JDBC, ProGuard) için her demo klasöründe bir </a:t>
            </a:r>
            <a:r>
              <a:rPr sz="2000" b="0">
                <a:solidFill>
                  <a:srgbClr val="A1123F"/>
                </a:solidFill>
                <a:latin typeface="Consolas"/>
              </a:rPr>
              <a:t>hazirla</a:t>
            </a:r>
            <a:r>
              <a:rPr sz="2000" b="0">
                <a:solidFill>
                  <a:srgbClr val="1F2D3A"/>
                </a:solidFill>
              </a:rPr>
              <a:t> betiği vardır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691128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⚠️ </a:t>
            </a:r>
            <a:r>
              <a:rPr sz="2000" b="1">
                <a:solidFill>
                  <a:srgbClr val="1F2D3A"/>
                </a:solidFill>
              </a:rPr>
              <a:t>Etik:</a:t>
            </a:r>
            <a:r>
              <a:rPr sz="2000" b="0">
                <a:solidFill>
                  <a:srgbClr val="1F2D3A"/>
                </a:solidFill>
              </a:rPr>
              <a:t> enjeksiyon örnekleri yalnız demo klasöründeki </a:t>
            </a:r>
            <a:r>
              <a:rPr sz="2000" b="1">
                <a:solidFill>
                  <a:srgbClr val="1F2D3A"/>
                </a:solidFill>
              </a:rPr>
              <a:t>sentetik</a:t>
            </a:r>
            <a:r>
              <a:rPr sz="2000" b="0">
                <a:solidFill>
                  <a:srgbClr val="1F2D3A"/>
                </a:solidFill>
              </a:rPr>
              <a:t> veritabanı/dosyalara karşı çalışır; bu teknikleri başka birinin sistemine asla uygulamayın.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1. Yönetilen diller ve enjeksiyonun kökü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Kısa tarihçe — yönetilen diller ve kalan açıklar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1995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Java/JVM</a:t>
            </a:r>
            <a:r>
              <a:rPr sz="1800" b="0">
                <a:solidFill>
                  <a:srgbClr val="1F2D3A"/>
                </a:solidFill>
              </a:rPr>
              <a:t>: bellek hatalarının çoğu </a:t>
            </a:r>
            <a:r>
              <a:rPr sz="1800" b="1">
                <a:solidFill>
                  <a:srgbClr val="1F2D3A"/>
                </a:solidFill>
              </a:rPr>
              <a:t>dil düzeyinde</a:t>
            </a:r>
            <a:r>
              <a:rPr sz="1800" b="0">
                <a:solidFill>
                  <a:srgbClr val="1F2D3A"/>
                </a:solidFill>
              </a:rPr>
              <a:t> biter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1998</a:t>
            </a:r>
            <a:r>
              <a:rPr sz="1800" b="0">
                <a:solidFill>
                  <a:srgbClr val="1F2D3A"/>
                </a:solidFill>
              </a:rPr>
              <a:t> — SQL enjeksiyonu belgelenir · </a:t>
            </a:r>
            <a:r>
              <a:rPr sz="1800" b="1">
                <a:solidFill>
                  <a:srgbClr val="1F2D3A"/>
                </a:solidFill>
              </a:rPr>
              <a:t>2003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OWASP Top 10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2002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ProGuard</a:t>
            </a:r>
            <a:r>
              <a:rPr sz="1800" b="0">
                <a:solidFill>
                  <a:srgbClr val="1F2D3A"/>
                </a:solidFill>
              </a:rPr>
              <a:t> (sonra </a:t>
            </a:r>
            <a:r>
              <a:rPr sz="1800" b="1">
                <a:solidFill>
                  <a:srgbClr val="1F2D3A"/>
                </a:solidFill>
              </a:rPr>
              <a:t>R8</a:t>
            </a:r>
            <a:r>
              <a:rPr sz="1800" b="0">
                <a:solidFill>
                  <a:srgbClr val="1F2D3A"/>
                </a:solidFill>
              </a:rPr>
              <a:t>): bayt kod kolay geri çevrildiği için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2015</a:t>
            </a:r>
            <a:r>
              <a:rPr sz="1800" b="0">
                <a:solidFill>
                  <a:srgbClr val="1F2D3A"/>
                </a:solidFill>
              </a:rPr>
              <a:t> deserialization · </a:t>
            </a:r>
            <a:r>
              <a:rPr sz="1800" b="1">
                <a:solidFill>
                  <a:srgbClr val="1F2D3A"/>
                </a:solidFill>
              </a:rPr>
              <a:t>2020–21</a:t>
            </a:r>
            <a:r>
              <a:rPr sz="1800" b="0">
                <a:solidFill>
                  <a:srgbClr val="1F2D3A"/>
                </a:solidFill>
              </a:rPr>
              <a:t> SolarWinds ve </a:t>
            </a:r>
            <a:r>
              <a:rPr sz="1800" b="1">
                <a:solidFill>
                  <a:srgbClr val="1F2D3A"/>
                </a:solidFill>
              </a:rPr>
              <a:t>Log4Shell</a:t>
            </a:r>
            <a:r>
              <a:rPr sz="1800" b="0">
                <a:solidFill>
                  <a:srgbClr val="1F2D3A"/>
                </a:solidFill>
              </a:rPr>
              <a:t> → </a:t>
            </a:r>
            <a:r>
              <a:rPr sz="1800" b="1">
                <a:solidFill>
                  <a:srgbClr val="1F2D3A"/>
                </a:solidFill>
              </a:rPr>
              <a:t>SBOM</a:t>
            </a:r>
            <a:r>
              <a:rPr sz="1800" b="0">
                <a:solidFill>
                  <a:srgbClr val="1F2D3A"/>
                </a:solidFill>
              </a:rPr>
              <a:t> çağı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98648"/>
            <a:ext cx="10911535" cy="57150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Dil </a:t>
            </a:r>
            <a:r>
              <a:rPr sz="1800" b="1">
                <a:solidFill>
                  <a:srgbClr val="1F2D3A"/>
                </a:solidFill>
              </a:rPr>
              <a:t>bellek hatasını</a:t>
            </a:r>
            <a:r>
              <a:rPr sz="1800" b="0">
                <a:solidFill>
                  <a:srgbClr val="1F2D3A"/>
                </a:solidFill>
              </a:rPr>
              <a:t> çözer; </a:t>
            </a:r>
            <a:r>
              <a:rPr sz="1800" b="1">
                <a:solidFill>
                  <a:srgbClr val="1F2D3A"/>
                </a:solidFill>
              </a:rPr>
              <a:t>enjeksiyonu ve bağımlılık riskini çözmez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Yönetilen dil neyi çözer?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Otomatik bellek yönetimi (GC) → taşma, UAF, çift bırakma </a:t>
            </a:r>
            <a:r>
              <a:rPr sz="2000" b="1">
                <a:solidFill>
                  <a:srgbClr val="1F2D3A"/>
                </a:solidFill>
              </a:rPr>
              <a:t>büyük ölçüde yok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Dizi erişimi sınır denetimli → </a:t>
            </a:r>
            <a:r>
              <a:rPr sz="2000" b="0">
                <a:solidFill>
                  <a:srgbClr val="A1123F"/>
                </a:solidFill>
                <a:latin typeface="Consolas"/>
              </a:rPr>
              <a:t>ArrayIndexOutOfBounds</a:t>
            </a:r>
            <a:r>
              <a:rPr sz="2000" b="0">
                <a:solidFill>
                  <a:srgbClr val="1F2D3A"/>
                </a:solidFill>
              </a:rPr>
              <a:t> (çökme, sömürü değil).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Tür güvenliği daha sıkı.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Yönetilen dil neyi ÇÖZMEZ?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Enjeksiyon</a:t>
            </a:r>
            <a:r>
              <a:rPr sz="2000" b="0">
                <a:solidFill>
                  <a:srgbClr val="1F2D3A"/>
                </a:solidFill>
              </a:rPr>
              <a:t> (veri = komut) — her dilde var.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Mantık hataları</a:t>
            </a:r>
            <a:r>
              <a:rPr sz="2000" b="0">
                <a:solidFill>
                  <a:srgbClr val="1F2D3A"/>
                </a:solidFill>
              </a:rPr>
              <a:t>, yetki hataları.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Bağımlılık</a:t>
            </a:r>
            <a:r>
              <a:rPr sz="2000" b="0">
                <a:solidFill>
                  <a:srgbClr val="1F2D3A"/>
                </a:solidFill>
              </a:rPr>
              <a:t> açıkları.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Seri durumdan çıkarma</a:t>
            </a:r>
            <a:r>
              <a:rPr sz="2000" b="0">
                <a:solidFill>
                  <a:srgbClr val="1F2D3A"/>
                </a:solidFill>
              </a:rPr>
              <a:t> saldırıları.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03072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Bellek hatası azaldı; yeni cephe: enjeksiyon ve tedarik zinciri.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Yönetilen dil: çözer / çözmez — şema</a:t>
            </a:r>
          </a:p>
        </p:txBody>
      </p:sp>
      <p:pic>
        <p:nvPicPr>
          <p:cNvPr id="7" name="Picture 6" descr="h05-02-yonetilen-d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416" y="1325880"/>
            <a:ext cx="10234863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SEI CERT Oracle Java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Java için ayrı bir </a:t>
            </a:r>
            <a:r>
              <a:rPr sz="2000" b="1">
                <a:solidFill>
                  <a:srgbClr val="1F2D3A"/>
                </a:solidFill>
              </a:rPr>
              <a:t>kural kitabı</a:t>
            </a:r>
            <a:r>
              <a:rPr sz="2000" b="0">
                <a:solidFill>
                  <a:srgbClr val="1F2D3A"/>
                </a:solidFill>
              </a:rPr>
              <a:t> (CERT Oracle Coding Standard for Java).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yapı: hatalı örnek + uyumlu çözüm + risk.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 alanlar: enjeksiyon, seri durum, eşzamanlılık, hassas veri.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CERT Oracle Java — şema</a:t>
            </a:r>
          </a:p>
        </p:txBody>
      </p:sp>
      <p:pic>
        <p:nvPicPr>
          <p:cNvPr id="7" name="Picture 6" descr="h05-11-cert-jav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390933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SEI CERT · bu haftaya dokunan kurallar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5072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7936"/>
                <a:gridCol w="2355899"/>
                <a:gridCol w="7067698"/>
              </a:tblGrid>
              <a:tr h="417880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Kısaltma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Kategori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Kural (örnek)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1788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IDS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Girdi doğrulama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IDS00-J SQL · IDS07-J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Runtime.exec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· IDS16/17-J XML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1788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FIO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Girdi/çıktı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FIO16-J: yol adını kanonikleştir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1788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Serileştirme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SER12-J: güvenilmeyen veriyi seri durumdan çıkarma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1788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MSC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Çeşitli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MSC03-J: koda gömülü hassas bilgi kullanma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1788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ERR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Hata işleme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ERR01-J: istisnada hassas bilgi sızdırma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942892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Kimlikler </a:t>
            </a:r>
            <a:r>
              <a:rPr sz="1800" b="0">
                <a:solidFill>
                  <a:srgbClr val="A1123F"/>
                </a:solidFill>
                <a:latin typeface="Consolas"/>
              </a:rPr>
              <a:t>-J</a:t>
            </a:r>
            <a:r>
              <a:rPr sz="1800" b="0">
                <a:solidFill>
                  <a:srgbClr val="1F2D3A"/>
                </a:solidFill>
              </a:rPr>
              <a:t> sonekiyle biter.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Java'da hassas veri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Java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değişmezdir</a:t>
            </a:r>
            <a:r>
              <a:rPr sz="2000" b="0">
                <a:solidFill>
                  <a:srgbClr val="1F2D3A"/>
                </a:solidFill>
              </a:rPr>
              <a:t> (immutable) → bellekten silinemez.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Parola/anahtar için </a:t>
            </a:r>
            <a:r>
              <a:rPr sz="2000" b="0">
                <a:solidFill>
                  <a:srgbClr val="A1123F"/>
                </a:solidFill>
                <a:latin typeface="Consolas"/>
              </a:rPr>
              <a:t>char[]</a:t>
            </a:r>
            <a:r>
              <a:rPr sz="2000" b="0">
                <a:solidFill>
                  <a:srgbClr val="1F2D3A"/>
                </a:solidFill>
              </a:rPr>
              <a:t> kullan, işi bitince </a:t>
            </a:r>
            <a:r>
              <a:rPr sz="2000" b="1">
                <a:solidFill>
                  <a:srgbClr val="1F2D3A"/>
                </a:solidFill>
              </a:rPr>
              <a:t>doldur</a:t>
            </a:r>
            <a:r>
              <a:rPr sz="2000" b="0">
                <a:solidFill>
                  <a:srgbClr val="1F2D3A"/>
                </a:solidFill>
              </a:rPr>
              <a:t> (</a:t>
            </a:r>
            <a:r>
              <a:rPr sz="2000" b="0">
                <a:solidFill>
                  <a:srgbClr val="A1123F"/>
                </a:solidFill>
                <a:latin typeface="Consolas"/>
              </a:rPr>
              <a:t>Arrays.fill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GC ne zaman toplayacağını </a:t>
            </a:r>
            <a:r>
              <a:rPr sz="2000" b="1">
                <a:solidFill>
                  <a:srgbClr val="1F2D3A"/>
                </a:solidFill>
              </a:rPr>
              <a:t>garanti etmez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Enjeksiyonun ortak kökü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Enjeksiyon = </a:t>
            </a:r>
            <a:r>
              <a:rPr sz="2000" b="1">
                <a:solidFill>
                  <a:srgbClr val="1F2D3A"/>
                </a:solidFill>
              </a:rPr>
              <a:t>veri</a:t>
            </a:r>
            <a:r>
              <a:rPr sz="2000" b="0">
                <a:solidFill>
                  <a:srgbClr val="1F2D3A"/>
                </a:solidFill>
              </a:rPr>
              <a:t> ile </a:t>
            </a:r>
            <a:r>
              <a:rPr sz="2000" b="1">
                <a:solidFill>
                  <a:srgbClr val="1F2D3A"/>
                </a:solidFill>
              </a:rPr>
              <a:t>komutun</a:t>
            </a:r>
            <a:r>
              <a:rPr sz="2000" b="0">
                <a:solidFill>
                  <a:srgbClr val="1F2D3A"/>
                </a:solidFill>
              </a:rPr>
              <a:t> karışması.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Kullanıcı verisi bir yorumlayıcıya (SQL, kabuk, XML) </a:t>
            </a:r>
            <a:r>
              <a:rPr sz="2000" b="1">
                <a:solidFill>
                  <a:srgbClr val="1F2D3A"/>
                </a:solidFill>
              </a:rPr>
              <a:t>komut</a:t>
            </a:r>
            <a:r>
              <a:rPr sz="2000" b="0">
                <a:solidFill>
                  <a:srgbClr val="1F2D3A"/>
                </a:solidFill>
              </a:rPr>
              <a:t> olarak gider.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Kök aynı; hedef (SQL/kabuk/XML) değişir.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Enjeksiyonun kökü — veri mi, kod mu?</a:t>
            </a:r>
          </a:p>
        </p:txBody>
      </p:sp>
      <p:pic>
        <p:nvPicPr>
          <p:cNvPr id="7" name="Picture 6" descr="h05-01-enjeksiyon-kok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7883" y="1325880"/>
            <a:ext cx="9915929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Çözümün ortak kökü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enjeksiyon türünde aynı ilke: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Veriyi koddan ayır</a:t>
            </a:r>
            <a:r>
              <a:rPr sz="2000" b="0">
                <a:solidFill>
                  <a:srgbClr val="1F2D3A"/>
                </a:solidFill>
              </a:rPr>
              <a:t> (parametreli API).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Veriyi asla </a:t>
            </a:r>
            <a:r>
              <a:rPr sz="2000" b="1">
                <a:solidFill>
                  <a:srgbClr val="1F2D3A"/>
                </a:solidFill>
              </a:rPr>
              <a:t>string birleştirmeyle</a:t>
            </a:r>
            <a:r>
              <a:rPr sz="2000" b="0">
                <a:solidFill>
                  <a:srgbClr val="1F2D3A"/>
                </a:solidFill>
              </a:rPr>
              <a:t> komuta gömme.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Beyaz liste + bağlama uygun kaçış (son çare).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Tek kanal mı, iki kanal mı? — tablo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2139"/>
                <a:gridCol w="4138858"/>
                <a:gridCol w="4640537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Yorumlayıcı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Tek kanal (hatalı)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İki kanal (doğru)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SQL motoru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"...WHERE ad='" + ad + "'"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PreparedStatement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+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Kabuk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exec("sh -c '...' " + host)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ProcessBuilder(...)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— kabuk yok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Dosya sistemi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new File(kok, istek)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Kanonikleştir + kök denetimi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XML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Dize birleştirerek XML kurmak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DOM/StAX API'siyle öğe oluşturmak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191256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Aynı ilke, dört farklı yorumlayıcı.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Enjeksiyon aileleri (bugün)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SQL enjeksiyonu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Komut enjeksiyonu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Yol geçişi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Seri durumdan çıkarma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XML/XXE, şablon, XSS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0664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Hepsinin kökü ve çözümü </a:t>
            </a:r>
            <a:r>
              <a:rPr sz="2000" b="1">
                <a:solidFill>
                  <a:srgbClr val="1F2D3A"/>
                </a:solidFill>
              </a:rPr>
              <a:t>aynı mantık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bölümün kuralı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Yönetilen dil </a:t>
            </a:r>
            <a:r>
              <a:rPr sz="2000" b="1">
                <a:solidFill>
                  <a:srgbClr val="1F2D3A"/>
                </a:solidFill>
              </a:rPr>
              <a:t>bellek</a:t>
            </a:r>
            <a:r>
              <a:rPr sz="2000" b="0">
                <a:solidFill>
                  <a:srgbClr val="1F2D3A"/>
                </a:solidFill>
              </a:rPr>
              <a:t> hatasını çözer; </a:t>
            </a:r>
            <a:r>
              <a:rPr sz="2000" b="1">
                <a:solidFill>
                  <a:srgbClr val="1F2D3A"/>
                </a:solidFill>
              </a:rPr>
              <a:t>enjeksiyonu</a:t>
            </a:r>
            <a:r>
              <a:rPr sz="2000" b="0">
                <a:solidFill>
                  <a:srgbClr val="1F2D3A"/>
                </a:solidFill>
              </a:rPr>
              <a:t> çözmez.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Enjeksiyonun kökü hep aynı: veri = komut.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Çözüm hep aynı: veriyi koddan </a:t>
            </a:r>
            <a:r>
              <a:rPr sz="2000" b="1">
                <a:solidFill>
                  <a:srgbClr val="1F2D3A"/>
                </a:solidFill>
              </a:rPr>
              <a:t>ayır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ilkeyi şimdi tek tek enjeksiyon türlerinde göreceğiz.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Yönetilen dil hangi hata sınıfını büyük ölçüde çözer?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Neyi çözmez?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Enjeksiyonun ortak kökü nedir?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Bellek güvenliği</a:t>
            </a:r>
            <a:r>
              <a:rPr sz="2000" b="0">
                <a:solidFill>
                  <a:srgbClr val="1F2D3A"/>
                </a:solidFill>
              </a:rPr>
              <a:t> hatalarını (tampon taşması, use-after-free, çift/sarkan işaretçi) — GC + sınır denetimiyle.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Mantık/enjeksiyon/yetkilendirme</a:t>
            </a:r>
            <a:r>
              <a:rPr sz="2000" b="0">
                <a:solidFill>
                  <a:srgbClr val="1F2D3A"/>
                </a:solidFill>
              </a:rPr>
              <a:t>, güvensiz deserialization, zayıf kripto, </a:t>
            </a:r>
            <a:r>
              <a:rPr sz="2000" b="1">
                <a:solidFill>
                  <a:srgbClr val="1F2D3A"/>
                </a:solidFill>
              </a:rPr>
              <a:t>bağımlılık</a:t>
            </a:r>
            <a:r>
              <a:rPr sz="2000" b="0">
                <a:solidFill>
                  <a:srgbClr val="1F2D3A"/>
                </a:solidFill>
              </a:rPr>
              <a:t> açıkları — bunlar dil-üstü, çözülmez.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Güvenilmeyen </a:t>
            </a:r>
            <a:r>
              <a:rPr sz="2000" b="1">
                <a:solidFill>
                  <a:srgbClr val="1F2D3A"/>
                </a:solidFill>
              </a:rPr>
              <a:t>VERİ</a:t>
            </a:r>
            <a:r>
              <a:rPr sz="2000" b="0">
                <a:solidFill>
                  <a:srgbClr val="1F2D3A"/>
                </a:solidFill>
              </a:rPr>
              <a:t> ile </a:t>
            </a:r>
            <a:r>
              <a:rPr sz="2000" b="1">
                <a:solidFill>
                  <a:srgbClr val="1F2D3A"/>
                </a:solidFill>
              </a:rPr>
              <a:t>KOD/komutun</a:t>
            </a:r>
            <a:r>
              <a:rPr sz="2000" b="0">
                <a:solidFill>
                  <a:srgbClr val="1F2D3A"/>
                </a:solidFill>
              </a:rPr>
              <a:t> aynı kanalda karışması; yorumlayıcı veriyi </a:t>
            </a:r>
            <a:r>
              <a:rPr sz="2000" b="1">
                <a:solidFill>
                  <a:srgbClr val="1F2D3A"/>
                </a:solidFill>
              </a:rPr>
              <a:t>komut</a:t>
            </a:r>
            <a:r>
              <a:rPr sz="2000" b="0">
                <a:solidFill>
                  <a:srgbClr val="1F2D3A"/>
                </a:solidFill>
              </a:rPr>
              <a:t> olarak ayrıştırır.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2. SQL enjeksiyonu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Hatalı kod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String q = "SELECT * FROM kul WHERE ad = '" + ad + "'";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stmt.executeQuery(q);   // HATALI: ad komuta karışır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ad</a:t>
            </a:r>
            <a:r>
              <a:rPr sz="2000" b="0">
                <a:solidFill>
                  <a:srgbClr val="1F2D3A"/>
                </a:solidFill>
              </a:rPr>
              <a:t> içine tırnak ve SQL koyulursa?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Saldırı · örnek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Kullanıcı </a:t>
            </a:r>
            <a:r>
              <a:rPr sz="2000" b="0">
                <a:solidFill>
                  <a:srgbClr val="A1123F"/>
                </a:solidFill>
                <a:latin typeface="Consolas"/>
              </a:rPr>
              <a:t>ad</a:t>
            </a:r>
            <a:r>
              <a:rPr sz="2000" b="0">
                <a:solidFill>
                  <a:srgbClr val="1F2D3A"/>
                </a:solidFill>
              </a:rPr>
              <a:t> olarak şunu girer: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' OR '1'='1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48559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Sorgu şuna döner: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998215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SELECT * FROM kul WHERE ad = '' OR '1'='1'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57123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'1'='1'</a:t>
            </a:r>
            <a:r>
              <a:rPr sz="2000" b="0">
                <a:solidFill>
                  <a:srgbClr val="1F2D3A"/>
                </a:solidFill>
              </a:rPr>
              <a:t> her zaman doğru → </a:t>
            </a:r>
            <a:r>
              <a:rPr sz="2000" b="1">
                <a:solidFill>
                  <a:srgbClr val="1F2D3A"/>
                </a:solidFill>
              </a:rPr>
              <a:t>tüm satırlar</a:t>
            </a:r>
            <a:r>
              <a:rPr sz="2000" b="0">
                <a:solidFill>
                  <a:srgbClr val="1F2D3A"/>
                </a:solidFill>
              </a:rPr>
              <a:t> döner.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oldu?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ad</a:t>
            </a:r>
            <a:r>
              <a:rPr sz="2000" b="0">
                <a:solidFill>
                  <a:srgbClr val="1F2D3A"/>
                </a:solidFill>
              </a:rPr>
              <a:t>, sorgu </a:t>
            </a:r>
            <a:r>
              <a:rPr sz="2000" b="1">
                <a:solidFill>
                  <a:srgbClr val="1F2D3A"/>
                </a:solidFill>
              </a:rPr>
              <a:t>metnine</a:t>
            </a:r>
            <a:r>
              <a:rPr sz="2000" b="0">
                <a:solidFill>
                  <a:srgbClr val="1F2D3A"/>
                </a:solidFill>
              </a:rPr>
              <a:t> birleştirildi.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Tırnak, veriyi bitirip </a:t>
            </a:r>
            <a:r>
              <a:rPr sz="2000" b="1">
                <a:solidFill>
                  <a:srgbClr val="1F2D3A"/>
                </a:solidFill>
              </a:rPr>
              <a:t>komut</a:t>
            </a:r>
            <a:r>
              <a:rPr sz="2000" b="0">
                <a:solidFill>
                  <a:srgbClr val="1F2D3A"/>
                </a:solidFill>
              </a:rPr>
              <a:t> kısmına geçmeyi sağladı.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Veri ile komut </a:t>
            </a:r>
            <a:r>
              <a:rPr sz="2000" b="1">
                <a:solidFill>
                  <a:srgbClr val="1F2D3A"/>
                </a:solidFill>
              </a:rPr>
              <a:t>karıştı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SQL enjeksiyonu adım adım — şema</a:t>
            </a:r>
          </a:p>
        </p:txBody>
      </p:sp>
      <p:pic>
        <p:nvPicPr>
          <p:cNvPr id="7" name="Picture 6" descr="h05-03-sql-enjeksiy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3553209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Doğru · parametreli sorgu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PreparedStatement ps =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con.prepareStatement("SELECT * FROM kul WHERE ad = ?");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ps.setString(1, ad);    // ad yalnız VERİ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ps.executeQuery();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?</a:t>
            </a:r>
            <a:r>
              <a:rPr sz="2000" b="0">
                <a:solidFill>
                  <a:srgbClr val="1F2D3A"/>
                </a:solidFill>
              </a:rPr>
              <a:t> bir </a:t>
            </a:r>
            <a:r>
              <a:rPr sz="2000" b="1">
                <a:solidFill>
                  <a:srgbClr val="1F2D3A"/>
                </a:solidFill>
              </a:rPr>
              <a:t>parametre</a:t>
            </a:r>
            <a:r>
              <a:rPr sz="2000" b="0">
                <a:solidFill>
                  <a:srgbClr val="1F2D3A"/>
                </a:solidFill>
              </a:rPr>
              <a:t>; </a:t>
            </a:r>
            <a:r>
              <a:rPr sz="2000" b="0">
                <a:solidFill>
                  <a:srgbClr val="A1123F"/>
                </a:solidFill>
                <a:latin typeface="Consolas"/>
              </a:rPr>
              <a:t>ad</a:t>
            </a:r>
            <a:r>
              <a:rPr sz="2000" b="0">
                <a:solidFill>
                  <a:srgbClr val="1F2D3A"/>
                </a:solidFill>
              </a:rPr>
              <a:t> asla komut olarak yorumlanmaz.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çalışır?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Sorgu iskeleti </a:t>
            </a:r>
            <a:r>
              <a:rPr sz="2000" b="1">
                <a:solidFill>
                  <a:srgbClr val="1F2D3A"/>
                </a:solidFill>
              </a:rPr>
              <a:t>önceden</a:t>
            </a:r>
            <a:r>
              <a:rPr sz="2000" b="0">
                <a:solidFill>
                  <a:srgbClr val="1F2D3A"/>
                </a:solidFill>
              </a:rPr>
              <a:t> veritabanına gönderilir (derlenir).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ad</a:t>
            </a:r>
            <a:r>
              <a:rPr sz="2000" b="0">
                <a:solidFill>
                  <a:srgbClr val="1F2D3A"/>
                </a:solidFill>
              </a:rPr>
              <a:t> sonradan </a:t>
            </a:r>
            <a:r>
              <a:rPr sz="2000" b="1">
                <a:solidFill>
                  <a:srgbClr val="1F2D3A"/>
                </a:solidFill>
              </a:rPr>
              <a:t>veri</a:t>
            </a:r>
            <a:r>
              <a:rPr sz="2000" b="0">
                <a:solidFill>
                  <a:srgbClr val="1F2D3A"/>
                </a:solidFill>
              </a:rPr>
              <a:t> olarak bağlanır.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Tırnak koysa bile veri olarak kalır.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Diğer katmanlar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En az yetki:</a:t>
            </a:r>
            <a:r>
              <a:rPr sz="2000" b="0">
                <a:solidFill>
                  <a:srgbClr val="1F2D3A"/>
                </a:solidFill>
              </a:rPr>
              <a:t> uygulamanın DB kullanıcısı yalnız gerekeni yapsın.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Girdi doğrulama:</a:t>
            </a:r>
            <a:r>
              <a:rPr sz="2000" b="0">
                <a:solidFill>
                  <a:srgbClr val="1F2D3A"/>
                </a:solidFill>
              </a:rPr>
              <a:t> yine de beyaz liste.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ORM</a:t>
            </a:r>
            <a:r>
              <a:rPr sz="2000" b="0">
                <a:solidFill>
                  <a:srgbClr val="1F2D3A"/>
                </a:solidFill>
              </a:rPr>
              <a:t> kullanıyorsanız da parametreli API'yi kullanın (string birleştirme değil).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Kaçış (escaping) son çaredir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Elle tırnak kaçırmak </a:t>
            </a:r>
            <a:r>
              <a:rPr sz="2000" b="1">
                <a:solidFill>
                  <a:srgbClr val="1F2D3A"/>
                </a:solidFill>
              </a:rPr>
              <a:t>hataya açık</a:t>
            </a:r>
            <a:r>
              <a:rPr sz="2000" b="0">
                <a:solidFill>
                  <a:srgbClr val="1F2D3A"/>
                </a:solidFill>
              </a:rPr>
              <a:t>; her DB farklı.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Öncelik </a:t>
            </a:r>
            <a:r>
              <a:rPr sz="2000" b="1">
                <a:solidFill>
                  <a:srgbClr val="1F2D3A"/>
                </a:solidFill>
              </a:rPr>
              <a:t>her zaman</a:t>
            </a:r>
            <a:r>
              <a:rPr sz="2000" b="0">
                <a:solidFill>
                  <a:srgbClr val="1F2D3A"/>
                </a:solidFill>
              </a:rPr>
              <a:t> parametreli sorgu.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Kaçış yalnız parametrelenemeyen yerlerde, dikkatle.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SQL enjeksiyonu · bu bölümün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Sorguyu </a:t>
            </a:r>
            <a:r>
              <a:rPr sz="2000" b="1">
                <a:solidFill>
                  <a:srgbClr val="1F2D3A"/>
                </a:solidFill>
              </a:rPr>
              <a:t>asla</a:t>
            </a:r>
            <a:r>
              <a:rPr sz="2000" b="0">
                <a:solidFill>
                  <a:srgbClr val="1F2D3A"/>
                </a:solidFill>
              </a:rPr>
              <a:t> string birleştirmeyle kurma.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Her zaman</a:t>
            </a:r>
            <a:r>
              <a:rPr sz="2000" b="0">
                <a:solidFill>
                  <a:srgbClr val="1F2D3A"/>
                </a:solidFill>
              </a:rPr>
              <a:t> parametreli sorgu (</a:t>
            </a:r>
            <a:r>
              <a:rPr sz="2000" b="0">
                <a:solidFill>
                  <a:srgbClr val="A1123F"/>
                </a:solidFill>
                <a:latin typeface="Consolas"/>
              </a:rPr>
              <a:t>PreparedStatement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?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Ad/sütun gibi tanımlayıcılar için </a:t>
            </a:r>
            <a:r>
              <a:rPr sz="2000" b="1">
                <a:solidFill>
                  <a:srgbClr val="1F2D3A"/>
                </a:solidFill>
              </a:rPr>
              <a:t>beyaz liste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Kaçış (escaping) yalnız son çare.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3. Komut enjeksiyonu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Kabuk var mı yok mu — şema</a:t>
            </a:r>
          </a:p>
        </p:txBody>
      </p:sp>
      <p:pic>
        <p:nvPicPr>
          <p:cNvPr id="7" name="Picture 6" descr="h05-04-komut-enjeksiy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4725823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Hatalı kod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Runtime.getRuntime().exec("ping " + host);  // HATALI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host</a:t>
            </a:r>
            <a:r>
              <a:rPr sz="2000" b="0">
                <a:solidFill>
                  <a:srgbClr val="1F2D3A"/>
                </a:solidFill>
              </a:rPr>
              <a:t> içine kabuk metakarakteri koyulursa?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Saldırı · örnek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host</a:t>
            </a:r>
            <a:r>
              <a:rPr sz="2000" b="0">
                <a:solidFill>
                  <a:srgbClr val="1F2D3A"/>
                </a:solidFill>
              </a:rPr>
              <a:t> olarak: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example.com; rm -rf veri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48559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Kabuk bunu </a:t>
            </a:r>
            <a:r>
              <a:rPr sz="2000" b="1">
                <a:solidFill>
                  <a:srgbClr val="1F2D3A"/>
                </a:solidFill>
              </a:rPr>
              <a:t>iki komut</a:t>
            </a:r>
            <a:r>
              <a:rPr sz="2000" b="0">
                <a:solidFill>
                  <a:srgbClr val="1F2D3A"/>
                </a:solidFill>
              </a:rPr>
              <a:t> olarak çalıştırır: </a:t>
            </a:r>
            <a:r>
              <a:rPr sz="2000" b="0">
                <a:solidFill>
                  <a:srgbClr val="A1123F"/>
                </a:solidFill>
                <a:latin typeface="Consolas"/>
              </a:rPr>
              <a:t>ping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ve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rm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98215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 i="1">
                <a:solidFill>
                  <a:srgbClr val="1F2D3A"/>
                </a:solidFill>
              </a:rPr>
              <a:t>(Örnek sentetik; asla çalıştırmayın.)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oldu?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Komut bir </a:t>
            </a:r>
            <a:r>
              <a:rPr sz="2000" b="1">
                <a:solidFill>
                  <a:srgbClr val="1F2D3A"/>
                </a:solidFill>
              </a:rPr>
              <a:t>kabuğa</a:t>
            </a:r>
            <a:r>
              <a:rPr sz="2000" b="0">
                <a:solidFill>
                  <a:srgbClr val="1F2D3A"/>
                </a:solidFill>
              </a:rPr>
              <a:t> metin olarak verildi.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;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|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&amp;&amp;</a:t>
            </a:r>
            <a:r>
              <a:rPr sz="2000" b="0">
                <a:solidFill>
                  <a:srgbClr val="1F2D3A"/>
                </a:solidFill>
              </a:rPr>
              <a:t> kabukta </a:t>
            </a:r>
            <a:r>
              <a:rPr sz="2000" b="1">
                <a:solidFill>
                  <a:srgbClr val="1F2D3A"/>
                </a:solidFill>
              </a:rPr>
              <a:t>komut ayırıcı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Veri, komut satırına karıştı.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Doğru · argüman dizisi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new ProcessBuilder("ping", "-c", "1", host).start();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Kabuk </a:t>
            </a:r>
            <a:r>
              <a:rPr sz="2000" b="1">
                <a:solidFill>
                  <a:srgbClr val="1F2D3A"/>
                </a:solidFill>
              </a:rPr>
              <a:t>yok</a:t>
            </a:r>
            <a:r>
              <a:rPr sz="2000" b="0">
                <a:solidFill>
                  <a:srgbClr val="1F2D3A"/>
                </a:solidFill>
              </a:rPr>
              <a:t>; </a:t>
            </a:r>
            <a:r>
              <a:rPr sz="2000" b="0">
                <a:solidFill>
                  <a:srgbClr val="A1123F"/>
                </a:solidFill>
                <a:latin typeface="Consolas"/>
              </a:rPr>
              <a:t>host</a:t>
            </a:r>
            <a:r>
              <a:rPr sz="2000" b="0">
                <a:solidFill>
                  <a:srgbClr val="1F2D3A"/>
                </a:solidFill>
              </a:rPr>
              <a:t> tek bir </a:t>
            </a:r>
            <a:r>
              <a:rPr sz="2000" b="1">
                <a:solidFill>
                  <a:srgbClr val="1F2D3A"/>
                </a:solidFill>
              </a:rPr>
              <a:t>argüman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Metakarakterler yorumlanmaz.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Ek kurallar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Mümkünse dış komut </a:t>
            </a:r>
            <a:r>
              <a:rPr sz="2000" b="1">
                <a:solidFill>
                  <a:srgbClr val="1F2D3A"/>
                </a:solidFill>
              </a:rPr>
              <a:t>hiç</a:t>
            </a:r>
            <a:r>
              <a:rPr sz="2000" b="0">
                <a:solidFill>
                  <a:srgbClr val="1F2D3A"/>
                </a:solidFill>
              </a:rPr>
              <a:t> çalıştırma; kütüphane API'si kullan.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Çalıştıracaksan: sabit yol, argüman dizisi, beyaz liste.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ENV33-C</a:t>
            </a:r>
            <a:r>
              <a:rPr sz="2000" b="0">
                <a:solidFill>
                  <a:srgbClr val="1F2D3A"/>
                </a:solidFill>
              </a:rPr>
              <a:t> benzeri: </a:t>
            </a:r>
            <a:r>
              <a:rPr sz="2000" b="0">
                <a:solidFill>
                  <a:srgbClr val="A1123F"/>
                </a:solidFill>
                <a:latin typeface="Consolas"/>
              </a:rPr>
              <a:t>system()</a:t>
            </a:r>
            <a:r>
              <a:rPr sz="2000" b="0">
                <a:solidFill>
                  <a:srgbClr val="1F2D3A"/>
                </a:solidFill>
              </a:rPr>
              <a:t>/kabuk çağırma.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Komut enjeksiyonu · bu bölümün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Mümkünse dış komut </a:t>
            </a:r>
            <a:r>
              <a:rPr sz="2000" b="1">
                <a:solidFill>
                  <a:srgbClr val="1F2D3A"/>
                </a:solidFill>
              </a:rPr>
              <a:t>hiç</a:t>
            </a:r>
            <a:r>
              <a:rPr sz="2000" b="0">
                <a:solidFill>
                  <a:srgbClr val="1F2D3A"/>
                </a:solidFill>
              </a:rPr>
              <a:t> çalıştırma.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Çalıştıracaksan: kabuksuz </a:t>
            </a:r>
            <a:r>
              <a:rPr sz="2000" b="1">
                <a:solidFill>
                  <a:srgbClr val="1F2D3A"/>
                </a:solidFill>
              </a:rPr>
              <a:t>argüman dizisi</a:t>
            </a:r>
            <a:r>
              <a:rPr sz="2000" b="0">
                <a:solidFill>
                  <a:srgbClr val="1F2D3A"/>
                </a:solidFill>
              </a:rPr>
              <a:t> (</a:t>
            </a:r>
            <a:r>
              <a:rPr sz="2000" b="0">
                <a:solidFill>
                  <a:srgbClr val="A1123F"/>
                </a:solidFill>
                <a:latin typeface="Consolas"/>
              </a:rPr>
              <a:t>ProcessBuilder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Sabit yol + beyaz liste; </a:t>
            </a:r>
            <a:r>
              <a:rPr sz="2000" b="0">
                <a:solidFill>
                  <a:srgbClr val="A1123F"/>
                </a:solidFill>
                <a:latin typeface="Consolas"/>
              </a:rPr>
              <a:t>-</a:t>
            </a:r>
            <a:r>
              <a:rPr sz="2000" b="0">
                <a:solidFill>
                  <a:srgbClr val="1F2D3A"/>
                </a:solidFill>
              </a:rPr>
              <a:t> ile başlayan girdiye dikkat (argüman enjeksiyonu).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44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4. Yol geçişi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Yol geçişi (path traversal)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Yol geçişi: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../</a:t>
            </a:r>
            <a:r>
              <a:rPr sz="2000" b="0">
                <a:solidFill>
                  <a:srgbClr val="1F2D3A"/>
                </a:solidFill>
              </a:rPr>
              <a:t> ile izin verilen klasörün </a:t>
            </a:r>
            <a:r>
              <a:rPr sz="2000" b="1">
                <a:solidFill>
                  <a:srgbClr val="1F2D3A"/>
                </a:solidFill>
              </a:rPr>
              <a:t>dışına</a:t>
            </a:r>
            <a:r>
              <a:rPr sz="2000" b="0">
                <a:solidFill>
                  <a:srgbClr val="1F2D3A"/>
                </a:solidFill>
              </a:rPr>
              <a:t> çıkma.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dosyalar/../../etc/passwd</a:t>
            </a:r>
            <a:r>
              <a:rPr sz="2000" b="0">
                <a:solidFill>
                  <a:srgbClr val="1F2D3A"/>
                </a:solidFill>
              </a:rPr>
              <a:t> gibi.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Kanonikleştirme + kök denetimiyle önlenir.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Yol geçişini kapatan iki adım — şema</a:t>
            </a:r>
          </a:p>
        </p:txBody>
      </p:sp>
      <p:pic>
        <p:nvPicPr>
          <p:cNvPr id="7" name="Picture 6" descr="h05-05-yol-gecis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3811334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Hatalı kod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File f = new File("yuklenen/" + adi);  // HATALI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adi</a:t>
            </a:r>
            <a:r>
              <a:rPr sz="2000" b="0">
                <a:solidFill>
                  <a:srgbClr val="1F2D3A"/>
                </a:solidFill>
              </a:rPr>
              <a:t> içine </a:t>
            </a:r>
            <a:r>
              <a:rPr sz="2000" b="0">
                <a:solidFill>
                  <a:srgbClr val="A1123F"/>
                </a:solidFill>
                <a:latin typeface="Consolas"/>
              </a:rPr>
              <a:t>../</a:t>
            </a:r>
            <a:r>
              <a:rPr sz="2000" b="0">
                <a:solidFill>
                  <a:srgbClr val="1F2D3A"/>
                </a:solidFill>
              </a:rPr>
              <a:t> koyulursa?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Saldırı · örnek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adi</a:t>
            </a:r>
            <a:r>
              <a:rPr sz="2000" b="0">
                <a:solidFill>
                  <a:srgbClr val="1F2D3A"/>
                </a:solidFill>
              </a:rPr>
              <a:t> olarak: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../../etc/passwd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48559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Sonuç: </a:t>
            </a:r>
            <a:r>
              <a:rPr sz="2000" b="0">
                <a:solidFill>
                  <a:srgbClr val="A1123F"/>
                </a:solidFill>
                <a:latin typeface="Consolas"/>
              </a:rPr>
              <a:t>yuklenen/../../etc/passwd</a:t>
            </a:r>
            <a:r>
              <a:rPr sz="2000" b="0">
                <a:solidFill>
                  <a:srgbClr val="1F2D3A"/>
                </a:solidFill>
              </a:rPr>
              <a:t> → izin verilen klasörün </a:t>
            </a:r>
            <a:r>
              <a:rPr sz="2000" b="1">
                <a:solidFill>
                  <a:srgbClr val="1F2D3A"/>
                </a:solidFill>
              </a:rPr>
              <a:t>dışı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oldu?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adi</a:t>
            </a:r>
            <a:r>
              <a:rPr sz="2000" b="0">
                <a:solidFill>
                  <a:srgbClr val="1F2D3A"/>
                </a:solidFill>
              </a:rPr>
              <a:t>, dosya yoluna </a:t>
            </a:r>
            <a:r>
              <a:rPr sz="2000" b="1">
                <a:solidFill>
                  <a:srgbClr val="1F2D3A"/>
                </a:solidFill>
              </a:rPr>
              <a:t>doğrudan</a:t>
            </a:r>
            <a:r>
              <a:rPr sz="2000" b="0">
                <a:solidFill>
                  <a:srgbClr val="1F2D3A"/>
                </a:solidFill>
              </a:rPr>
              <a:t> eklendi.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../</a:t>
            </a:r>
            <a:r>
              <a:rPr sz="2000" b="0">
                <a:solidFill>
                  <a:srgbClr val="1F2D3A"/>
                </a:solidFill>
              </a:rPr>
              <a:t> dizisi, yorumlayıcı (dosya sistemi) tarafından "üst klasöre çık" olarak okundu.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Denetim yoktu: hangi klasörün </a:t>
            </a:r>
            <a:r>
              <a:rPr sz="2000" b="1">
                <a:solidFill>
                  <a:srgbClr val="1F2D3A"/>
                </a:solidFill>
              </a:rPr>
              <a:t>dışına</a:t>
            </a:r>
            <a:r>
              <a:rPr sz="2000" b="0">
                <a:solidFill>
                  <a:srgbClr val="1F2D3A"/>
                </a:solidFill>
              </a:rPr>
              <a:t> çıkıldığı hiç sorulmadı.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Doğru · kanonikleştir + kök denetimi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Path kok = Paths.get("yuklenen").toRealPath();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Path hedef = kok.resolve(adi).normalize().toRealPath();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(!hedef.startsWith(kok)) throw new SecurityException();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Kanonik yol </a:t>
            </a:r>
            <a:r>
              <a:rPr sz="2000" b="1">
                <a:solidFill>
                  <a:srgbClr val="1F2D3A"/>
                </a:solidFill>
              </a:rPr>
              <a:t>kökün altında</a:t>
            </a:r>
            <a:r>
              <a:rPr sz="2000" b="0">
                <a:solidFill>
                  <a:srgbClr val="1F2D3A"/>
                </a:solidFill>
              </a:rPr>
              <a:t> mı? Değilse reddet.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çalışır?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Önce yol </a:t>
            </a:r>
            <a:r>
              <a:rPr sz="2000" b="1">
                <a:solidFill>
                  <a:srgbClr val="1F2D3A"/>
                </a:solidFill>
              </a:rPr>
              <a:t>kanonik</a:t>
            </a:r>
            <a:r>
              <a:rPr sz="2000" b="0">
                <a:solidFill>
                  <a:srgbClr val="1F2D3A"/>
                </a:solidFill>
              </a:rPr>
              <a:t> (tek, kesin) hale getirilir.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Sonra kanonik yolun kök </a:t>
            </a:r>
            <a:r>
              <a:rPr sz="2000" b="1">
                <a:solidFill>
                  <a:srgbClr val="1F2D3A"/>
                </a:solidFill>
              </a:rPr>
              <a:t>içinde</a:t>
            </a:r>
            <a:r>
              <a:rPr sz="2000" b="0">
                <a:solidFill>
                  <a:srgbClr val="1F2D3A"/>
                </a:solidFill>
              </a:rPr>
              <a:t> olup olmadığı denetlenir.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../</a:t>
            </a:r>
            <a:r>
              <a:rPr sz="2000" b="0">
                <a:solidFill>
                  <a:srgbClr val="1F2D3A"/>
                </a:solidFill>
              </a:rPr>
              <a:t>, kodlanmış biçim (</a:t>
            </a:r>
            <a:r>
              <a:rPr sz="2000" b="0">
                <a:solidFill>
                  <a:srgbClr val="A1123F"/>
                </a:solidFill>
                <a:latin typeface="Consolas"/>
              </a:rPr>
              <a:t>..%2f</a:t>
            </a:r>
            <a:r>
              <a:rPr sz="2000" b="0">
                <a:solidFill>
                  <a:srgbClr val="1F2D3A"/>
                </a:solidFill>
              </a:rPr>
              <a:t>) ya da sembolik bağlantı — hepsi kanonikleştirmeden </a:t>
            </a:r>
            <a:r>
              <a:rPr sz="2000" b="1">
                <a:solidFill>
                  <a:srgbClr val="1F2D3A"/>
                </a:solidFill>
              </a:rPr>
              <a:t>sonra</a:t>
            </a:r>
            <a:r>
              <a:rPr sz="2000" b="0">
                <a:solidFill>
                  <a:srgbClr val="1F2D3A"/>
                </a:solidFill>
              </a:rPr>
              <a:t> aynı gerçek yola iner; hiçbiri denetimden kaçamaz.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Yol geçişi · 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Dosya adını </a:t>
            </a:r>
            <a:r>
              <a:rPr sz="2000" b="1">
                <a:solidFill>
                  <a:srgbClr val="1F2D3A"/>
                </a:solidFill>
              </a:rPr>
              <a:t>beyaz listeyle</a:t>
            </a:r>
            <a:r>
              <a:rPr sz="2000" b="0">
                <a:solidFill>
                  <a:srgbClr val="1F2D3A"/>
                </a:solidFill>
              </a:rPr>
              <a:t> sınırla (</a:t>
            </a:r>
            <a:r>
              <a:rPr sz="2000" b="0">
                <a:solidFill>
                  <a:srgbClr val="A1123F"/>
                </a:solidFill>
                <a:latin typeface="Consolas"/>
              </a:rPr>
              <a:t>[a-zA-Z0-9_.-]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Sembolik bağlantılar (</a:t>
            </a:r>
            <a:r>
              <a:rPr sz="2000" b="0">
                <a:solidFill>
                  <a:srgbClr val="A1123F"/>
                </a:solidFill>
                <a:latin typeface="Consolas"/>
              </a:rPr>
              <a:t>symlink</a:t>
            </a:r>
            <a:r>
              <a:rPr sz="2000" b="0">
                <a:solidFill>
                  <a:srgbClr val="1F2D3A"/>
                </a:solidFill>
              </a:rPr>
              <a:t>) kanonikleştirmeyle çözülür.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Kullanıcı adını </a:t>
            </a:r>
            <a:r>
              <a:rPr sz="2000" b="1">
                <a:solidFill>
                  <a:srgbClr val="1F2D3A"/>
                </a:solidFill>
              </a:rPr>
              <a:t>doğrudan</a:t>
            </a:r>
            <a:r>
              <a:rPr sz="2000" b="0">
                <a:solidFill>
                  <a:srgbClr val="1F2D3A"/>
                </a:solidFill>
              </a:rPr>
              <a:t> dosya adı yapma.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Yol geçişi · bu bölümün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Ham dizeye (string) </a:t>
            </a:r>
            <a:r>
              <a:rPr sz="2000" b="1">
                <a:solidFill>
                  <a:srgbClr val="1F2D3A"/>
                </a:solidFill>
              </a:rPr>
              <a:t>asla</a:t>
            </a:r>
            <a:r>
              <a:rPr sz="2000" b="0">
                <a:solidFill>
                  <a:srgbClr val="1F2D3A"/>
                </a:solidFill>
              </a:rPr>
              <a:t> güvenme (</a:t>
            </a:r>
            <a:r>
              <a:rPr sz="2000" b="0">
                <a:solidFill>
                  <a:srgbClr val="A1123F"/>
                </a:solidFill>
                <a:latin typeface="Consolas"/>
              </a:rPr>
              <a:t>contains("..")</a:t>
            </a:r>
            <a:r>
              <a:rPr sz="2000" b="0">
                <a:solidFill>
                  <a:srgbClr val="1F2D3A"/>
                </a:solidFill>
              </a:rPr>
              <a:t> yetmez).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Önce </a:t>
            </a:r>
            <a:r>
              <a:rPr sz="2000" b="1">
                <a:solidFill>
                  <a:srgbClr val="1F2D3A"/>
                </a:solidFill>
              </a:rPr>
              <a:t>kanonikleştir</a:t>
            </a:r>
            <a:r>
              <a:rPr sz="2000" b="0">
                <a:solidFill>
                  <a:srgbClr val="1F2D3A"/>
                </a:solidFill>
              </a:rPr>
              <a:t>, sonra </a:t>
            </a:r>
            <a:r>
              <a:rPr sz="2000" b="1">
                <a:solidFill>
                  <a:srgbClr val="1F2D3A"/>
                </a:solidFill>
              </a:rPr>
              <a:t>kök içinde mi</a:t>
            </a:r>
            <a:r>
              <a:rPr sz="2000" b="0">
                <a:solidFill>
                  <a:srgbClr val="1F2D3A"/>
                </a:solidFill>
              </a:rPr>
              <a:t> diye denetle.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Sembolik bağlantıları da çöz (</a:t>
            </a:r>
            <a:r>
              <a:rPr sz="2000" b="0">
                <a:solidFill>
                  <a:srgbClr val="A1123F"/>
                </a:solidFill>
                <a:latin typeface="Consolas"/>
              </a:rPr>
              <a:t>toRealPath()</a:t>
            </a:r>
            <a:r>
              <a:rPr sz="2000" b="0">
                <a:solidFill>
                  <a:srgbClr val="1F2D3A"/>
                </a:solidFill>
              </a:rPr>
              <a:t>); denetimi dosya açıldıktan sonra da tekrarla.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Üç enjeksiyon · ortak ders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8790"/>
                <a:gridCol w="3810377"/>
                <a:gridCol w="5542366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Tür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Yanlış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Doğru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SQL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String birleştirme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Parametreli sorgu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Komut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Kabuğa metin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Argüman dizisi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../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birleştirme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Kanonikleştir + kök denetimi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9626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Kök aynı: </a:t>
            </a:r>
            <a:r>
              <a:rPr sz="2000" b="1">
                <a:solidFill>
                  <a:srgbClr val="1F2D3A"/>
                </a:solidFill>
              </a:rPr>
              <a:t>veriyi koddan/komuttan ayır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2–4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A1123F"/>
                </a:solidFill>
                <a:latin typeface="Consolas"/>
              </a:rPr>
              <a:t>' OR '1'='1</a:t>
            </a:r>
            <a:r>
              <a:rPr sz="2000" b="0">
                <a:solidFill>
                  <a:srgbClr val="1F2D3A"/>
                </a:solidFill>
              </a:rPr>
              <a:t> neden tüm satırları döndürür?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A1123F"/>
                </a:solidFill>
                <a:latin typeface="Consolas"/>
              </a:rPr>
              <a:t>ProcessBuilder</a:t>
            </a:r>
            <a:r>
              <a:rPr sz="2000" b="0">
                <a:solidFill>
                  <a:srgbClr val="1F2D3A"/>
                </a:solidFill>
              </a:rPr>
              <a:t> argüman dizisi neden güvenli?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Yol geçişini hangi iki adım kapatır?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2–4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Dizeye katılınca </a:t>
            </a:r>
            <a:r>
              <a:rPr sz="2000" b="0">
                <a:solidFill>
                  <a:srgbClr val="A1123F"/>
                </a:solidFill>
                <a:latin typeface="Consolas"/>
              </a:rPr>
              <a:t>WHERE</a:t>
            </a:r>
            <a:r>
              <a:rPr sz="2000" b="0">
                <a:solidFill>
                  <a:srgbClr val="1F2D3A"/>
                </a:solidFill>
              </a:rPr>
              <a:t> koşulunu </a:t>
            </a:r>
            <a:r>
              <a:rPr sz="2000" b="1">
                <a:solidFill>
                  <a:srgbClr val="1F2D3A"/>
                </a:solidFill>
              </a:rPr>
              <a:t>her zaman doğru</a:t>
            </a:r>
            <a:r>
              <a:rPr sz="2000" b="0">
                <a:solidFill>
                  <a:srgbClr val="1F2D3A"/>
                </a:solidFill>
              </a:rPr>
              <a:t> yapar → tüm satırlar (veri, kod olarak ayrıştırıldı).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Argümanlar </a:t>
            </a:r>
            <a:r>
              <a:rPr sz="2000" b="1">
                <a:solidFill>
                  <a:srgbClr val="1F2D3A"/>
                </a:solidFill>
              </a:rPr>
              <a:t>kabuğa değil</a:t>
            </a:r>
            <a:r>
              <a:rPr sz="2000" b="0">
                <a:solidFill>
                  <a:srgbClr val="1F2D3A"/>
                </a:solidFill>
              </a:rPr>
              <a:t> programa ayrı ayrı geçer; </a:t>
            </a:r>
            <a:r>
              <a:rPr sz="2000" b="0">
                <a:solidFill>
                  <a:srgbClr val="A1123F"/>
                </a:solidFill>
                <a:latin typeface="Consolas"/>
              </a:rPr>
              <a:t>;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|</a:t>
            </a:r>
            <a:r>
              <a:rPr sz="2000" b="0">
                <a:solidFill>
                  <a:srgbClr val="1F2D3A"/>
                </a:solidFill>
              </a:rPr>
              <a:t> gibi meta-karakter yorumu yok → komut enjeksiyonu kapanır.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(1) </a:t>
            </a:r>
            <a:r>
              <a:rPr sz="2000" b="1">
                <a:solidFill>
                  <a:srgbClr val="1F2D3A"/>
                </a:solidFill>
              </a:rPr>
              <a:t>Kanonik yola</a:t>
            </a:r>
            <a:r>
              <a:rPr sz="2000" b="0">
                <a:solidFill>
                  <a:srgbClr val="1F2D3A"/>
                </a:solidFill>
              </a:rPr>
              <a:t> çevir (</a:t>
            </a:r>
            <a:r>
              <a:rPr sz="2000" b="0">
                <a:solidFill>
                  <a:srgbClr val="A1123F"/>
                </a:solidFill>
                <a:latin typeface="Consolas"/>
              </a:rPr>
              <a:t>realpath</a:t>
            </a:r>
            <a:r>
              <a:rPr sz="2000" b="0">
                <a:solidFill>
                  <a:srgbClr val="1F2D3A"/>
                </a:solidFill>
              </a:rPr>
              <a:t>/normalize), (2) izinli </a:t>
            </a:r>
            <a:r>
              <a:rPr sz="2000" b="1">
                <a:solidFill>
                  <a:srgbClr val="1F2D3A"/>
                </a:solidFill>
              </a:rPr>
              <a:t>kök dizin</a:t>
            </a:r>
            <a:r>
              <a:rPr sz="2000" b="0">
                <a:solidFill>
                  <a:srgbClr val="1F2D3A"/>
                </a:solidFill>
              </a:rPr>
              <a:t> içinde mi doğrula (allowlist). Kullanıcı girdisini yola doğrudan koyma.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5. Güvensiz seri durumdan çıkarma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Seri durum (serialization)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Serileştirme:</a:t>
            </a:r>
            <a:r>
              <a:rPr sz="2000" b="0">
                <a:solidFill>
                  <a:srgbClr val="1F2D3A"/>
                </a:solidFill>
              </a:rPr>
              <a:t> bir nesneyi bayt dizisine çevirme (kaydetmek/göndermek için).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Seri durumdan çıkarma (deserialization):</a:t>
            </a:r>
            <a:r>
              <a:rPr sz="2000" b="0">
                <a:solidFill>
                  <a:srgbClr val="1F2D3A"/>
                </a:solidFill>
              </a:rPr>
              <a:t> baytları geri nesneye çevirme.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Güvenilmez baytları çıkarmak </a:t>
            </a:r>
            <a:r>
              <a:rPr sz="2000" b="1">
                <a:solidFill>
                  <a:srgbClr val="1F2D3A"/>
                </a:solidFill>
              </a:rPr>
              <a:t>tehlikeli</a:t>
            </a:r>
            <a:r>
              <a:rPr sz="2000" b="0">
                <a:solidFill>
                  <a:srgbClr val="1F2D3A"/>
                </a:solidFill>
              </a:rPr>
              <a:t> (kod çalıştırma).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Hatalı kod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Object o = new ObjectInputStream(giris).readObject();  // TEHLİKELİ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giris</a:t>
            </a:r>
            <a:r>
              <a:rPr sz="2000" b="0">
                <a:solidFill>
                  <a:srgbClr val="1F2D3A"/>
                </a:solidFill>
              </a:rPr>
              <a:t> güvenilmeyen bir kaynaktan geliyorsa?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Deserialization gadget zinciri — şema</a:t>
            </a:r>
          </a:p>
        </p:txBody>
      </p:sp>
      <p:pic>
        <p:nvPicPr>
          <p:cNvPr id="7" name="Picture 6" descr="h05-06-deserializ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3607846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Güvenilmez baytları bir nesneye çevirmek </a:t>
            </a:r>
            <a:r>
              <a:rPr sz="2000" b="1">
                <a:solidFill>
                  <a:srgbClr val="1F2D3A"/>
                </a:solidFill>
              </a:rPr>
              <a:t>tehlikelidir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Java'da </a:t>
            </a:r>
            <a:r>
              <a:rPr sz="2000" b="0">
                <a:solidFill>
                  <a:srgbClr val="A1123F"/>
                </a:solidFill>
                <a:latin typeface="Consolas"/>
              </a:rPr>
              <a:t>ObjectInputStream.readObject()</a:t>
            </a:r>
            <a:r>
              <a:rPr sz="2000" b="0">
                <a:solidFill>
                  <a:srgbClr val="1F2D3A"/>
                </a:solidFill>
              </a:rPr>
              <a:t> çıkarken </a:t>
            </a:r>
            <a:r>
              <a:rPr sz="2000" b="1">
                <a:solidFill>
                  <a:srgbClr val="1F2D3A"/>
                </a:solidFill>
              </a:rPr>
              <a:t>kod</a:t>
            </a:r>
            <a:r>
              <a:rPr sz="2000" b="0">
                <a:solidFill>
                  <a:srgbClr val="1F2D3A"/>
                </a:solidFill>
              </a:rPr>
              <a:t> çalıştırabilir (gadget zincirleri).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Sonuç: uzaktan kod çalıştırma.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bu kadar kötü?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Çıkarma sırasında nesnelerin </a:t>
            </a:r>
            <a:r>
              <a:rPr sz="2000" b="1">
                <a:solidFill>
                  <a:srgbClr val="1F2D3A"/>
                </a:solidFill>
              </a:rPr>
              <a:t>kurucuları/metotları</a:t>
            </a:r>
            <a:r>
              <a:rPr sz="2000" b="0">
                <a:solidFill>
                  <a:srgbClr val="1F2D3A"/>
                </a:solidFill>
              </a:rPr>
              <a:t> çalışır.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Uygun kütüphaneler varsa (gadget), zincirlenip komut çalıştırılabilir.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Girdi "sadece veri" sanılır ama </a:t>
            </a:r>
            <a:r>
              <a:rPr sz="2000" b="1">
                <a:solidFill>
                  <a:srgbClr val="1F2D3A"/>
                </a:solidFill>
              </a:rPr>
              <a:t>kod</a:t>
            </a:r>
            <a:r>
              <a:rPr sz="2000" b="0">
                <a:solidFill>
                  <a:srgbClr val="1F2D3A"/>
                </a:solidFill>
              </a:rPr>
              <a:t> gibi davranır.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Doğru · en iyisi: hiç yapma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Güvenilmez veriyi </a:t>
            </a:r>
            <a:r>
              <a:rPr sz="2000" b="1">
                <a:solidFill>
                  <a:srgbClr val="1F2D3A"/>
                </a:solidFill>
              </a:rPr>
              <a:t>native serileştirmeyle</a:t>
            </a:r>
            <a:r>
              <a:rPr sz="2000" b="0">
                <a:solidFill>
                  <a:srgbClr val="1F2D3A"/>
                </a:solidFill>
              </a:rPr>
              <a:t> çıkarma.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Onun yerine </a:t>
            </a:r>
            <a:r>
              <a:rPr sz="2000" b="1">
                <a:solidFill>
                  <a:srgbClr val="1F2D3A"/>
                </a:solidFill>
              </a:rPr>
              <a:t>JSON/veri</a:t>
            </a:r>
            <a:r>
              <a:rPr sz="2000" b="0">
                <a:solidFill>
                  <a:srgbClr val="1F2D3A"/>
                </a:solidFill>
              </a:rPr>
              <a:t> biçimi + katı şema.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beklediğiniz alanları okuyun.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Zorundaysanız · filtre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ObjectInputFilter f = ObjectInputFilter.Config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.createFilter("com.uygulama.*;!*");  // yalnız izinli sınıflar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ois.setObjectInputFilter(f);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Tek bir sınıf bekleniyorsa daha dar bir desen de yazılabilir: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826512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ois.setObjectInputFilter(ObjectInputFilter.Config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.createFilter("com.uygulama.Oturum;!*"));  // yalnız bu sınıf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588512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Beyaz liste</a:t>
            </a:r>
            <a:r>
              <a:rPr sz="2000" b="0">
                <a:solidFill>
                  <a:srgbClr val="1F2D3A"/>
                </a:solidFill>
              </a:rPr>
              <a:t>: yalnız beklenen sınıflar.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Derinlik/boyut sınırı da koyun (DoS'a karşı).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Deserialization · bu bölümün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Güvenilmeyen bayt akışını çıkarmak, saldırgana </a:t>
            </a:r>
            <a:r>
              <a:rPr sz="2000" b="1">
                <a:solidFill>
                  <a:srgbClr val="1F2D3A"/>
                </a:solidFill>
              </a:rPr>
              <a:t>sınıf seçme</a:t>
            </a:r>
            <a:r>
              <a:rPr sz="2000" b="0">
                <a:solidFill>
                  <a:srgbClr val="1F2D3A"/>
                </a:solidFill>
              </a:rPr>
              <a:t> yetkisi vermektir.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iyisi: </a:t>
            </a:r>
            <a:r>
              <a:rPr sz="2000" b="1">
                <a:solidFill>
                  <a:srgbClr val="1F2D3A"/>
                </a:solidFill>
              </a:rPr>
              <a:t>hiç yapma</a:t>
            </a:r>
            <a:r>
              <a:rPr sz="2000" b="0">
                <a:solidFill>
                  <a:srgbClr val="1F2D3A"/>
                </a:solidFill>
              </a:rPr>
              <a:t> (JSON + katı şema).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Zorundaysan: </a:t>
            </a:r>
            <a:r>
              <a:rPr sz="2000" b="1">
                <a:solidFill>
                  <a:srgbClr val="1F2D3A"/>
                </a:solidFill>
              </a:rPr>
              <a:t>izin listesi filtresi</a:t>
            </a:r>
            <a:r>
              <a:rPr sz="2000" b="0">
                <a:solidFill>
                  <a:srgbClr val="1F2D3A"/>
                </a:solidFill>
              </a:rPr>
              <a:t>, derinlik/boyut sınırı.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6. XML, şablon, XSS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XML ve XXE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XML:</a:t>
            </a:r>
            <a:r>
              <a:rPr sz="2000" b="0">
                <a:solidFill>
                  <a:srgbClr val="1F2D3A"/>
                </a:solidFill>
              </a:rPr>
              <a:t> yapılandırılmış veri biçimi (etiketlerle).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XXE (XML External Entity):</a:t>
            </a:r>
            <a:r>
              <a:rPr sz="2000" b="0">
                <a:solidFill>
                  <a:srgbClr val="1F2D3A"/>
                </a:solidFill>
              </a:rPr>
              <a:t> XML'in "dış varlık" özelliğinin kötüye kullanımı → dosya okuma, SSRF.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XML ayrıştırıcıda dış varlıklar </a:t>
            </a:r>
            <a:r>
              <a:rPr sz="2000" b="1">
                <a:solidFill>
                  <a:srgbClr val="1F2D3A"/>
                </a:solidFill>
              </a:rPr>
              <a:t>kapatılır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XXE · sorun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XML'de </a:t>
            </a:r>
            <a:r>
              <a:rPr sz="2000" b="1">
                <a:solidFill>
                  <a:srgbClr val="1F2D3A"/>
                </a:solidFill>
              </a:rPr>
              <a:t>dış varlık</a:t>
            </a:r>
            <a:r>
              <a:rPr sz="2000" b="0">
                <a:solidFill>
                  <a:srgbClr val="1F2D3A"/>
                </a:solidFill>
              </a:rPr>
              <a:t> tanımlanabilir; ayrıştırıcı onu </a:t>
            </a:r>
            <a:r>
              <a:rPr sz="2000" b="1">
                <a:solidFill>
                  <a:srgbClr val="1F2D3A"/>
                </a:solidFill>
              </a:rPr>
              <a:t>çözer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bununla dosya okutabilir ya da sunucudan istek yaptırabilir (SSRF).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XXE — şema</a:t>
            </a:r>
          </a:p>
        </p:txBody>
      </p:sp>
      <p:pic>
        <p:nvPicPr>
          <p:cNvPr id="7" name="Picture 6" descr="h05-07-xx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3804635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XXE · doğru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dbf.setFeature(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"http://apache.org/xml/features/disallow-doctype-decl", true);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// ya da dış varlıkları kapat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Dış varlıkları kapat</a:t>
            </a:r>
            <a:r>
              <a:rPr sz="2000" b="0">
                <a:solidFill>
                  <a:srgbClr val="1F2D3A"/>
                </a:solidFill>
              </a:rPr>
              <a:t>, DOCTYPE'ı reddet.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Çoğu kütüphanede tek satırlık ayar.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Şablon enjeksiyonu (SSTI)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Şablon motoruna kullanıcı girdisini </a:t>
            </a:r>
            <a:r>
              <a:rPr sz="2000" b="1">
                <a:solidFill>
                  <a:srgbClr val="1F2D3A"/>
                </a:solidFill>
              </a:rPr>
              <a:t>şablon</a:t>
            </a:r>
            <a:r>
              <a:rPr sz="2000" b="0">
                <a:solidFill>
                  <a:srgbClr val="1F2D3A"/>
                </a:solidFill>
              </a:rPr>
              <a:t> olarak vermek.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Motor onu kod gibi çalıştırabilir.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Kural: kullanıcı girdisi </a:t>
            </a:r>
            <a:r>
              <a:rPr sz="2000" b="1">
                <a:solidFill>
                  <a:srgbClr val="1F2D3A"/>
                </a:solidFill>
              </a:rPr>
              <a:t>veri</a:t>
            </a:r>
            <a:r>
              <a:rPr sz="2000" b="0">
                <a:solidFill>
                  <a:srgbClr val="1F2D3A"/>
                </a:solidFill>
              </a:rPr>
              <a:t>, şablon </a:t>
            </a:r>
            <a:r>
              <a:rPr sz="2000" b="1">
                <a:solidFill>
                  <a:srgbClr val="1F2D3A"/>
                </a:solidFill>
              </a:rPr>
              <a:t>sabit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XSS (kısaca)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XSS:</a:t>
            </a:r>
            <a:r>
              <a:rPr sz="2000" b="0">
                <a:solidFill>
                  <a:srgbClr val="1F2D3A"/>
                </a:solidFill>
              </a:rPr>
              <a:t> kullanıcı verisinin bir web sayfasına </a:t>
            </a:r>
            <a:r>
              <a:rPr sz="2000" b="1">
                <a:solidFill>
                  <a:srgbClr val="1F2D3A"/>
                </a:solidFill>
              </a:rPr>
              <a:t>HTML/JS</a:t>
            </a:r>
            <a:r>
              <a:rPr sz="2000" b="0">
                <a:solidFill>
                  <a:srgbClr val="1F2D3A"/>
                </a:solidFill>
              </a:rPr>
              <a:t> olarak sızması.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Çözüm: çıktı </a:t>
            </a:r>
            <a:r>
              <a:rPr sz="2000" b="1">
                <a:solidFill>
                  <a:srgbClr val="1F2D3A"/>
                </a:solidFill>
              </a:rPr>
              <a:t>bağlama uygun kodlama</a:t>
            </a:r>
            <a:r>
              <a:rPr sz="2000" b="0">
                <a:solidFill>
                  <a:srgbClr val="1F2D3A"/>
                </a:solidFill>
              </a:rPr>
              <a:t> (HTML-encode), CSP.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Kök yine aynı: veri ≠ kod.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XML/şablon/XSS · bu bölümün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Yorumlayıcının </a:t>
            </a:r>
            <a:r>
              <a:rPr sz="2000" b="1">
                <a:solidFill>
                  <a:srgbClr val="1F2D3A"/>
                </a:solidFill>
              </a:rPr>
              <a:t>hangi özelliği açık</a:t>
            </a:r>
            <a:r>
              <a:rPr sz="2000" b="0">
                <a:solidFill>
                  <a:srgbClr val="1F2D3A"/>
                </a:solidFill>
              </a:rPr>
              <a:t>, bil ve gereksizini kapat.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XML: dış varlık + DOCTYPE kapalı.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Şablon: kullanıcı verisi yalnız </a:t>
            </a:r>
            <a:r>
              <a:rPr sz="2000" b="1">
                <a:solidFill>
                  <a:srgbClr val="1F2D3A"/>
                </a:solidFill>
              </a:rPr>
              <a:t>değişken</a:t>
            </a:r>
            <a:r>
              <a:rPr sz="2000" b="0">
                <a:solidFill>
                  <a:srgbClr val="1F2D3A"/>
                </a:solidFill>
              </a:rPr>
              <a:t>, asla şablonun kendisi.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HTML: çıktıyı </a:t>
            </a:r>
            <a:r>
              <a:rPr sz="2000" b="1">
                <a:solidFill>
                  <a:srgbClr val="1F2D3A"/>
                </a:solidFill>
              </a:rPr>
              <a:t>bağlama uygun</a:t>
            </a:r>
            <a:r>
              <a:rPr sz="2000" b="0">
                <a:solidFill>
                  <a:srgbClr val="1F2D3A"/>
                </a:solidFill>
              </a:rPr>
              <a:t> kodla.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7. Python ve JavaScript'te aynı hatalar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Yorumlanan dillerde aynı hatalar — şema</a:t>
            </a:r>
          </a:p>
        </p:txBody>
      </p:sp>
      <p:pic>
        <p:nvPicPr>
          <p:cNvPr id="7" name="Picture 6" descr="h05-12-yorumlanan-dill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1994" y="1325880"/>
            <a:ext cx="7467706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Aynı kök, farklı dil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Enjeksiyon her dilde: Python </a:t>
            </a:r>
            <a:r>
              <a:rPr sz="2000" b="0">
                <a:solidFill>
                  <a:srgbClr val="A1123F"/>
                </a:solidFill>
                <a:latin typeface="Consolas"/>
              </a:rPr>
              <a:t>os.system</a:t>
            </a:r>
            <a:r>
              <a:rPr sz="2000" b="0">
                <a:solidFill>
                  <a:srgbClr val="1F2D3A"/>
                </a:solidFill>
              </a:rPr>
              <a:t>, JS </a:t>
            </a:r>
            <a:r>
              <a:rPr sz="2000" b="0">
                <a:solidFill>
                  <a:srgbClr val="A1123F"/>
                </a:solidFill>
                <a:latin typeface="Consolas"/>
              </a:rPr>
              <a:t>child_process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Çözüm aynı: argüman dizisi, parametreli sorgu.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Python · örnekler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os.system("cmd " + x)</a:t>
            </a:r>
            <a:r>
              <a:rPr sz="2000" b="0">
                <a:solidFill>
                  <a:srgbClr val="1F2D3A"/>
                </a:solidFill>
              </a:rPr>
              <a:t> → komut enjeksiyonu; </a:t>
            </a:r>
            <a:r>
              <a:rPr sz="2000" b="0">
                <a:solidFill>
                  <a:srgbClr val="A1123F"/>
                </a:solidFill>
                <a:latin typeface="Consolas"/>
              </a:rPr>
              <a:t>subprocess.run([...])</a:t>
            </a:r>
            <a:r>
              <a:rPr sz="2000" b="0">
                <a:solidFill>
                  <a:srgbClr val="1F2D3A"/>
                </a:solidFill>
              </a:rPr>
              <a:t> kullan.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eval(girdi)</a:t>
            </a:r>
            <a:r>
              <a:rPr sz="2000" b="0">
                <a:solidFill>
                  <a:srgbClr val="1F2D3A"/>
                </a:solidFill>
              </a:rPr>
              <a:t> / </a:t>
            </a:r>
            <a:r>
              <a:rPr sz="2000" b="0">
                <a:solidFill>
                  <a:srgbClr val="A1123F"/>
                </a:solidFill>
                <a:latin typeface="Consolas"/>
              </a:rPr>
              <a:t>pickle.loads(güvenilmez)</a:t>
            </a:r>
            <a:r>
              <a:rPr sz="2000" b="0">
                <a:solidFill>
                  <a:srgbClr val="1F2D3A"/>
                </a:solidFill>
              </a:rPr>
              <a:t> → </a:t>
            </a:r>
            <a:r>
              <a:rPr sz="2000" b="1">
                <a:solidFill>
                  <a:srgbClr val="1F2D3A"/>
                </a:solidFill>
              </a:rPr>
              <a:t>asla</a:t>
            </a:r>
            <a:r>
              <a:rPr sz="2000" b="0">
                <a:solidFill>
                  <a:srgbClr val="1F2D3A"/>
                </a:solidFill>
              </a:rPr>
              <a:t> güvenilmez veriyle.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SQL: parametreli (</a:t>
            </a:r>
            <a:r>
              <a:rPr sz="2000" b="0">
                <a:solidFill>
                  <a:srgbClr val="A1123F"/>
                </a:solidFill>
                <a:latin typeface="Consolas"/>
              </a:rPr>
              <a:t>cursor.execute("... ?", (x,))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Python · </a:t>
            </a:r>
            <a:r>
              <a:rPr sz="3000" b="1">
                <a:solidFill>
                  <a:srgbClr val="006D77"/>
                </a:solidFill>
                <a:latin typeface="Consolas"/>
              </a:rPr>
              <a:t>eval</a:t>
            </a:r>
            <a:r>
              <a:rPr sz="3000" b="1">
                <a:solidFill>
                  <a:srgbClr val="006D77"/>
                </a:solidFill>
              </a:rPr>
              <a:t> örneği (kod)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deger = eval(girdi)                 # HATALI: herhangi bir Python ifadesi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import ast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deger = ast.literal_eval(girdi)     # Daha iyi: yalnız sabitler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deger = int(girdi)                  # En iyisi: beklenen türü ayrıştır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Kural: kullanıcı verisi </a:t>
            </a:r>
            <a:r>
              <a:rPr sz="2000" b="0">
                <a:solidFill>
                  <a:srgbClr val="A1123F"/>
                </a:solidFill>
                <a:latin typeface="Consolas"/>
              </a:rPr>
              <a:t>eval</a:t>
            </a:r>
            <a:r>
              <a:rPr sz="2000" b="0">
                <a:solidFill>
                  <a:srgbClr val="1F2D3A"/>
                </a:solidFill>
              </a:rPr>
              <a:t>'e </a:t>
            </a:r>
            <a:r>
              <a:rPr sz="2000" b="1">
                <a:solidFill>
                  <a:srgbClr val="1F2D3A"/>
                </a:solidFill>
              </a:rPr>
              <a:t>asla</a:t>
            </a:r>
            <a:r>
              <a:rPr sz="2000" b="0">
                <a:solidFill>
                  <a:srgbClr val="1F2D3A"/>
                </a:solidFill>
              </a:rPr>
              <a:t> ulaşmamalı.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ReDoS (düzenli ifade DoS)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Kötü bir </a:t>
            </a:r>
            <a:r>
              <a:rPr sz="2000" b="1">
                <a:solidFill>
                  <a:srgbClr val="1F2D3A"/>
                </a:solidFill>
              </a:rPr>
              <a:t>regex</a:t>
            </a:r>
            <a:r>
              <a:rPr sz="2000" b="0">
                <a:solidFill>
                  <a:srgbClr val="1F2D3A"/>
                </a:solidFill>
              </a:rPr>
              <a:t>, belirli girdilerde </a:t>
            </a:r>
            <a:r>
              <a:rPr sz="2000" b="1">
                <a:solidFill>
                  <a:srgbClr val="1F2D3A"/>
                </a:solidFill>
              </a:rPr>
              <a:t>üstel</a:t>
            </a:r>
            <a:r>
              <a:rPr sz="2000" b="0">
                <a:solidFill>
                  <a:srgbClr val="1F2D3A"/>
                </a:solidFill>
              </a:rPr>
              <a:t> zaman harcayabilir.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bununla CPU'yu kilitler.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Çözüm: güvenli regex, girdi uzunluğu sınırı, zaman aşımı.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ReDoS · somut örnek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Desen:  ^(a+)+$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Girdi:  "aaaaaaaaaaaaaaaaaaaaaaaaaaaaa!"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Motor, eşleşmeyi kanıtlamak için </a:t>
            </a:r>
            <a:r>
              <a:rPr sz="2000" b="1">
                <a:solidFill>
                  <a:srgbClr val="1F2D3A"/>
                </a:solidFill>
              </a:rPr>
              <a:t>milyonlarca</a:t>
            </a:r>
            <a:r>
              <a:rPr sz="2000" b="0">
                <a:solidFill>
                  <a:srgbClr val="1F2D3A"/>
                </a:solidFill>
              </a:rPr>
              <a:t> yol dener.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istek, işlemciyi saniyelerce/dakikalarca kilitler (CWE-1333).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JavaScript · prototype pollution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Prototype pollution:</a:t>
            </a:r>
            <a:r>
              <a:rPr sz="2000" b="0">
                <a:solidFill>
                  <a:srgbClr val="1F2D3A"/>
                </a:solidFill>
              </a:rPr>
              <a:t> saldırgan </a:t>
            </a:r>
            <a:r>
              <a:rPr sz="2000" b="0">
                <a:solidFill>
                  <a:srgbClr val="A1123F"/>
                </a:solidFill>
                <a:latin typeface="Consolas"/>
              </a:rPr>
              <a:t>__proto__</a:t>
            </a:r>
            <a:r>
              <a:rPr sz="2000" b="0">
                <a:solidFill>
                  <a:srgbClr val="1F2D3A"/>
                </a:solidFill>
              </a:rPr>
              <a:t> üzerinden tüm nesnelerin </a:t>
            </a:r>
            <a:r>
              <a:rPr sz="2000" b="1">
                <a:solidFill>
                  <a:srgbClr val="1F2D3A"/>
                </a:solidFill>
              </a:rPr>
              <a:t>ortak</a:t>
            </a:r>
            <a:r>
              <a:rPr sz="2000" b="0">
                <a:solidFill>
                  <a:srgbClr val="1F2D3A"/>
                </a:solidFill>
              </a:rPr>
              <a:t> özelliğini bozar.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Beklenmedik davranış, yetki atlatma.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Çözüm: güvenli birleştirme, </a:t>
            </a:r>
            <a:r>
              <a:rPr sz="2000" b="0">
                <a:solidFill>
                  <a:srgbClr val="A1123F"/>
                </a:solidFill>
                <a:latin typeface="Consolas"/>
              </a:rPr>
              <a:t>Object.create(null)</a:t>
            </a:r>
            <a:r>
              <a:rPr sz="2000" b="0">
                <a:solidFill>
                  <a:srgbClr val="1F2D3A"/>
                </a:solidFill>
              </a:rPr>
              <a:t>, kütüphane güncelliği.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Yorumlanan diller · ortak kural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eval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exec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pickle</a:t>
            </a:r>
            <a:r>
              <a:rPr sz="2000" b="0">
                <a:solidFill>
                  <a:srgbClr val="1F2D3A"/>
                </a:solidFill>
              </a:rPr>
              <a:t>, dinamik </a:t>
            </a:r>
            <a:r>
              <a:rPr sz="2000" b="0">
                <a:solidFill>
                  <a:srgbClr val="A1123F"/>
                </a:solidFill>
                <a:latin typeface="Consolas"/>
              </a:rPr>
              <a:t>require</a:t>
            </a:r>
            <a:r>
              <a:rPr sz="2000" b="0">
                <a:solidFill>
                  <a:srgbClr val="1F2D3A"/>
                </a:solidFill>
              </a:rPr>
              <a:t> → güvenilmez veriyle </a:t>
            </a:r>
            <a:r>
              <a:rPr sz="2000" b="1">
                <a:solidFill>
                  <a:srgbClr val="1F2D3A"/>
                </a:solidFill>
              </a:rPr>
              <a:t>kullanma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Girdi doğrulama + parametreli API + güncel bağımlılık.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5–9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Güvensiz deserialization neden kod çalıştırabilir?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XXE'yi hangi ayar kapatır?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ReDoS nedir, nasıl azaltılır?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5–9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540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Nesne kurulurken sınıfların yan etkili yöntemleri (</a:t>
            </a:r>
            <a:r>
              <a:rPr sz="2000" b="0">
                <a:solidFill>
                  <a:srgbClr val="A1123F"/>
                </a:solidFill>
                <a:latin typeface="Consolas"/>
              </a:rPr>
              <a:t>readObject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1">
                <a:solidFill>
                  <a:srgbClr val="1F2D3A"/>
                </a:solidFill>
              </a:rPr>
              <a:t>gadget zinciri</a:t>
            </a:r>
            <a:r>
              <a:rPr sz="2000" b="0">
                <a:solidFill>
                  <a:srgbClr val="1F2D3A"/>
                </a:solidFill>
              </a:rPr>
              <a:t>) tetiklenir → saldırgan nesne grafiğiyle akış kurar.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Dış varlıkları ve DOCTYPE'ı</a:t>
            </a:r>
            <a:r>
              <a:rPr sz="2000" b="0">
                <a:solidFill>
                  <a:srgbClr val="1F2D3A"/>
                </a:solidFill>
              </a:rPr>
              <a:t> kapatan ayrıştırıcı ayarı (</a:t>
            </a:r>
            <a:r>
              <a:rPr sz="2000" b="0">
                <a:solidFill>
                  <a:srgbClr val="A1123F"/>
                </a:solidFill>
                <a:latin typeface="Consolas"/>
              </a:rPr>
              <a:t>disallow-doctype-decl</a:t>
            </a:r>
            <a:r>
              <a:rPr sz="2000" b="0">
                <a:solidFill>
                  <a:srgbClr val="1F2D3A"/>
                </a:solidFill>
              </a:rPr>
              <a:t>, external entities kapalı).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ReDoS:</a:t>
            </a:r>
            <a:r>
              <a:rPr sz="2000" b="0">
                <a:solidFill>
                  <a:srgbClr val="1F2D3A"/>
                </a:solidFill>
              </a:rPr>
              <a:t> katastrofik geri izlemeli regex; kötü girdi </a:t>
            </a:r>
            <a:r>
              <a:rPr sz="2000" b="1">
                <a:solidFill>
                  <a:srgbClr val="1F2D3A"/>
                </a:solidFill>
              </a:rPr>
              <a:t>üstel</a:t>
            </a:r>
            <a:r>
              <a:rPr sz="2000" b="0">
                <a:solidFill>
                  <a:srgbClr val="1F2D3A"/>
                </a:solidFill>
              </a:rPr>
              <a:t> zaman → CPU kilitlenir. Azaltma: doğrusal-zaman motoru (RE2), iç içe niceleyiciden kaçın, uzunluk/zaman sınırı.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8. Bayt kodu ve tersine derleme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JVM ve bayt kodu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JVM (Java Virtual Machine):</a:t>
            </a:r>
            <a:r>
              <a:rPr sz="2000" b="0">
                <a:solidFill>
                  <a:srgbClr val="1F2D3A"/>
                </a:solidFill>
              </a:rPr>
              <a:t> Java'yı çalıştıran sanal makine.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Bayt kodu:</a:t>
            </a:r>
            <a:r>
              <a:rPr sz="2000" b="0">
                <a:solidFill>
                  <a:srgbClr val="1F2D3A"/>
                </a:solidFill>
              </a:rPr>
              <a:t> Java kaynağının derlendiği ara biçim (</a:t>
            </a:r>
            <a:r>
              <a:rPr sz="2000" b="0">
                <a:solidFill>
                  <a:srgbClr val="A1123F"/>
                </a:solidFill>
                <a:latin typeface="Consolas"/>
              </a:rPr>
              <a:t>.class</a:t>
            </a:r>
            <a:r>
              <a:rPr sz="2000" b="0">
                <a:solidFill>
                  <a:srgbClr val="1F2D3A"/>
                </a:solidFill>
              </a:rPr>
              <a:t> dosyaları).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Bayt kodu makineden bağımsız; JVM onu çalıştırır.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Bayt kod vs makine kodu — şema</a:t>
            </a:r>
          </a:p>
        </p:txBody>
      </p:sp>
      <p:pic>
        <p:nvPicPr>
          <p:cNvPr id="7" name="Picture 6" descr="h05-08-bayt-ko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631" y="1325880"/>
            <a:ext cx="10904433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Java bayt kodu kolay okunur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.class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.jar</a:t>
            </a:r>
            <a:r>
              <a:rPr sz="2000" b="0">
                <a:solidFill>
                  <a:srgbClr val="1F2D3A"/>
                </a:solidFill>
              </a:rPr>
              <a:t> bayt kodu, kaynağa </a:t>
            </a:r>
            <a:r>
              <a:rPr sz="2000" b="1">
                <a:solidFill>
                  <a:srgbClr val="1F2D3A"/>
                </a:solidFill>
              </a:rPr>
              <a:t>çok yakın</a:t>
            </a:r>
            <a:r>
              <a:rPr sz="2000" b="0">
                <a:solidFill>
                  <a:srgbClr val="1F2D3A"/>
                </a:solidFill>
              </a:rPr>
              <a:t> geri çevrilebilir.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Araçlar: </a:t>
            </a:r>
            <a:r>
              <a:rPr sz="2000" b="0">
                <a:solidFill>
                  <a:srgbClr val="A1123F"/>
                </a:solidFill>
                <a:latin typeface="Consolas"/>
              </a:rPr>
              <a:t>javap</a:t>
            </a:r>
            <a:r>
              <a:rPr sz="2000" b="0">
                <a:solidFill>
                  <a:srgbClr val="1F2D3A"/>
                </a:solidFill>
              </a:rPr>
              <a:t> (sökme), JD-GUI/CFR/Procyon (tersine derleme).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Adlar, dizeler, yapı büyük ölçüde </a:t>
            </a:r>
            <a:r>
              <a:rPr sz="2000" b="1">
                <a:solidFill>
                  <a:srgbClr val="1F2D3A"/>
                </a:solidFill>
              </a:rPr>
              <a:t>görünür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  <a:latin typeface="Consolas"/>
              </a:rPr>
              <a:t>javap</a:t>
            </a:r>
            <a:r>
              <a:rPr sz="3000" b="1">
                <a:solidFill>
                  <a:srgbClr val="006D77"/>
                </a:solidFill>
              </a:rPr>
              <a:t> örneği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javap -c -p Uygulama.class    # bayt kodunu sök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Metot adları, çağrılar, sabitler görünür.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yüzden Java'da gizleme </a:t>
            </a:r>
            <a:r>
              <a:rPr sz="2000" b="1">
                <a:solidFill>
                  <a:srgbClr val="1F2D3A"/>
                </a:solidFill>
              </a:rPr>
              <a:t>daha da</a:t>
            </a:r>
            <a:r>
              <a:rPr sz="2000" b="0">
                <a:solidFill>
                  <a:srgbClr val="1F2D3A"/>
                </a:solidFill>
              </a:rPr>
              <a:t> gerekli.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  <a:latin typeface="Consolas"/>
              </a:rPr>
              <a:t>javap</a:t>
            </a:r>
            <a:r>
              <a:rPr sz="3000" b="1">
                <a:solidFill>
                  <a:srgbClr val="006D77"/>
                </a:solidFill>
              </a:rPr>
              <a:t> çıktısı — ne görünüyor?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59715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private static final java.lang.String GECERLI_PIN;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public boolean pinDogru(java.lang.String);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Code: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0: aload_1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1: ldc           #7    // String 4729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3: invokevirtual #9    // String.equals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6: ireturn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276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Kaynak kod yok, ama </a:t>
            </a:r>
            <a:r>
              <a:rPr sz="2000" b="1">
                <a:solidFill>
                  <a:srgbClr val="1F2D3A"/>
                </a:solidFill>
              </a:rPr>
              <a:t>sabit</a:t>
            </a:r>
            <a:r>
              <a:rPr sz="2000" b="0">
                <a:solidFill>
                  <a:srgbClr val="1F2D3A"/>
                </a:solidFill>
              </a:rPr>
              <a:t> (</a:t>
            </a:r>
            <a:r>
              <a:rPr sz="2000" b="0">
                <a:solidFill>
                  <a:srgbClr val="A1123F"/>
                </a:solidFill>
                <a:latin typeface="Consolas"/>
              </a:rPr>
              <a:t>4729</a:t>
            </a:r>
            <a:r>
              <a:rPr sz="2000" b="0">
                <a:solidFill>
                  <a:srgbClr val="1F2D3A"/>
                </a:solidFill>
              </a:rPr>
              <a:t>), </a:t>
            </a:r>
            <a:r>
              <a:rPr sz="2000" b="1">
                <a:solidFill>
                  <a:srgbClr val="1F2D3A"/>
                </a:solidFill>
              </a:rPr>
              <a:t>ad</a:t>
            </a:r>
            <a:r>
              <a:rPr sz="2000" b="0">
                <a:solidFill>
                  <a:srgbClr val="1F2D3A"/>
                </a:solidFill>
              </a:rPr>
              <a:t> (</a:t>
            </a:r>
            <a:r>
              <a:rPr sz="2000" b="0">
                <a:solidFill>
                  <a:srgbClr val="A1123F"/>
                </a:solidFill>
                <a:latin typeface="Consolas"/>
              </a:rPr>
              <a:t>GECERLI_PIN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pinDogru</a:t>
            </a:r>
            <a:r>
              <a:rPr sz="2000" b="0">
                <a:solidFill>
                  <a:srgbClr val="1F2D3A"/>
                </a:solidFill>
              </a:rPr>
              <a:t>) ve </a:t>
            </a:r>
            <a:r>
              <a:rPr sz="2000" b="1">
                <a:solidFill>
                  <a:srgbClr val="1F2D3A"/>
                </a:solidFill>
              </a:rPr>
              <a:t>mantık</a:t>
            </a:r>
            <a:r>
              <a:rPr sz="2000" b="0">
                <a:solidFill>
                  <a:srgbClr val="1F2D3A"/>
                </a:solidFill>
              </a:rPr>
              <a:t> ("girdiyi bu sabitle karşılaştır") açıkça görünüyor.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C'den daha kolay?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Bayt kodu </a:t>
            </a:r>
            <a:r>
              <a:rPr sz="2000" b="1">
                <a:solidFill>
                  <a:srgbClr val="1F2D3A"/>
                </a:solidFill>
              </a:rPr>
              <a:t>yüksek seviyeli</a:t>
            </a:r>
            <a:r>
              <a:rPr sz="2000" b="0">
                <a:solidFill>
                  <a:srgbClr val="1F2D3A"/>
                </a:solidFill>
              </a:rPr>
              <a:t> ve tür bilgisi taşır.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Değişken/metot adları çoğunlukla korunur.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→ tersine mühendislik ucuz; gizleme şart.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İstemcide sır yoktur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 bunu </a:t>
            </a:r>
            <a:r>
              <a:rPr sz="2000" b="1">
                <a:solidFill>
                  <a:srgbClr val="1F2D3A"/>
                </a:solidFill>
              </a:rPr>
              <a:t>zorlaştırır</a:t>
            </a:r>
            <a:r>
              <a:rPr sz="2000" b="0">
                <a:solidFill>
                  <a:srgbClr val="1F2D3A"/>
                </a:solidFill>
              </a:rPr>
              <a:t>, ama sırrı gerçekten </a:t>
            </a:r>
            <a:r>
              <a:rPr sz="2000" b="1">
                <a:solidFill>
                  <a:srgbClr val="1F2D3A"/>
                </a:solidFill>
              </a:rPr>
              <a:t>saklamaz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İstemcide durmak zorunda olmayan anahtar/parola → </a:t>
            </a:r>
            <a:r>
              <a:rPr sz="2000" b="1">
                <a:solidFill>
                  <a:srgbClr val="1F2D3A"/>
                </a:solidFill>
              </a:rPr>
              <a:t>sunucuda</a:t>
            </a:r>
            <a:r>
              <a:rPr sz="2000" b="0">
                <a:solidFill>
                  <a:srgbClr val="1F2D3A"/>
                </a:solidFill>
              </a:rPr>
              <a:t> tutulur.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İstemcide durmak </a:t>
            </a:r>
            <a:r>
              <a:rPr sz="2000" b="1">
                <a:solidFill>
                  <a:srgbClr val="1F2D3A"/>
                </a:solidFill>
              </a:rPr>
              <a:t>zorunda</a:t>
            </a:r>
            <a:r>
              <a:rPr sz="2000" b="0">
                <a:solidFill>
                  <a:srgbClr val="1F2D3A"/>
                </a:solidFill>
              </a:rPr>
              <a:t> olan sır → whitebox kriptografi ister (11. hafta).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9. ProGuard ve R8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R8 ve ölçme adımları — şema</a:t>
            </a:r>
          </a:p>
        </p:txBody>
      </p:sp>
      <p:pic>
        <p:nvPicPr>
          <p:cNvPr id="7" name="Picture 6" descr="h05-14-r8-olc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1532" y="1325880"/>
            <a:ext cx="8388631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ProGuard/R8 ne yapar?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Üç iş: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Küçültme (shrink):</a:t>
            </a:r>
            <a:r>
              <a:rPr sz="2000" b="0">
                <a:solidFill>
                  <a:srgbClr val="1F2D3A"/>
                </a:solidFill>
              </a:rPr>
              <a:t> kullanılmayan kodu atar.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İyileştirme (optimize):</a:t>
            </a:r>
            <a:r>
              <a:rPr sz="2000" b="0">
                <a:solidFill>
                  <a:srgbClr val="1F2D3A"/>
                </a:solidFill>
              </a:rPr>
              <a:t> kodu sadeleştirir.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Gizleme (obfuscate):</a:t>
            </a:r>
            <a:r>
              <a:rPr sz="2000" b="0">
                <a:solidFill>
                  <a:srgbClr val="1F2D3A"/>
                </a:solidFill>
              </a:rPr>
              <a:t> adları anlamsızlaştırır (</a:t>
            </a:r>
            <a:r>
              <a:rPr sz="2000" b="0">
                <a:solidFill>
                  <a:srgbClr val="A1123F"/>
                </a:solidFill>
                <a:latin typeface="Consolas"/>
              </a:rPr>
              <a:t>a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b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c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ProGuard/R8 · dört aşama — tablo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931"/>
                <a:gridCol w="4834224"/>
                <a:gridCol w="3867379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Aşama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 yapar?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Güvenlik katkısı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Küçültme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Kullanılmayan kodu atar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Saldırı yüzeyi azalır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İyileştirme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Satır içi alma, sabit katlama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Yapı kaynaktan uzaklaşır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Adları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a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b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yapar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Anlamlı adlar kaybolur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Ön doğrulama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Eski JVM için doğrulama bilgisi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 gizleme örneği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LisansDenetleyici.dogrula()  →  a.b()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Anlamlı adlar kaybolur.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Tersine mühendis için harita zorlaşır.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Ölü kod atılınca ikili küçülür.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  <a:latin typeface="Consolas"/>
              </a:rPr>
              <a:t>-keep</a:t>
            </a:r>
            <a:r>
              <a:rPr sz="3000" b="1">
                <a:solidFill>
                  <a:srgbClr val="006D77"/>
                </a:solidFill>
              </a:rPr>
              <a:t> neden gerekir?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Reflection ile </a:t>
            </a:r>
            <a:r>
              <a:rPr sz="2000" b="1">
                <a:solidFill>
                  <a:srgbClr val="1F2D3A"/>
                </a:solidFill>
              </a:rPr>
              <a:t>adıyla</a:t>
            </a:r>
            <a:r>
              <a:rPr sz="2000" b="0">
                <a:solidFill>
                  <a:srgbClr val="1F2D3A"/>
                </a:solidFill>
              </a:rPr>
              <a:t> çağrılan kod (API, giriş noktaları, JNI) korunmalı.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 adı değiştirirse çağrı </a:t>
            </a:r>
            <a:r>
              <a:rPr sz="2000" b="1">
                <a:solidFill>
                  <a:srgbClr val="1F2D3A"/>
                </a:solidFill>
              </a:rPr>
              <a:t>kırılır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78888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-keep class com.uygulama.Api { public *; 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51911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Birden çok giriş noktası ve ek açıklamalı (annotation) alanlar için: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01567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-keep class com.uygulama.PublicApi { public *;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-keepclassmembers class *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@com.uygulama.Reflected *;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-keep dengesi — şema</a:t>
            </a:r>
          </a:p>
        </p:txBody>
      </p:sp>
      <p:pic>
        <p:nvPicPr>
          <p:cNvPr id="7" name="Picture 6" descr="h05-09-keep-denges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563" y="1325880"/>
            <a:ext cx="10870568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  <a:latin typeface="Consolas"/>
              </a:rPr>
              <a:t>-keep</a:t>
            </a:r>
            <a:r>
              <a:rPr sz="3000" b="1">
                <a:solidFill>
                  <a:srgbClr val="006D77"/>
                </a:solidFill>
              </a:rPr>
              <a:t> dengesi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Çok az `-keep`:</a:t>
            </a:r>
            <a:r>
              <a:rPr sz="2000" b="0">
                <a:solidFill>
                  <a:srgbClr val="1F2D3A"/>
                </a:solidFill>
              </a:rPr>
              <a:t> uygulama çöker (reflection kırılır).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Çok fazla `-keep`:</a:t>
            </a:r>
            <a:r>
              <a:rPr sz="2000" b="0">
                <a:solidFill>
                  <a:srgbClr val="1F2D3A"/>
                </a:solidFill>
              </a:rPr>
              <a:t> gizleme zayıflar (her şey açık kalır).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</a:t>
            </a:r>
            <a:r>
              <a:rPr sz="2000" b="1">
                <a:solidFill>
                  <a:srgbClr val="1F2D3A"/>
                </a:solidFill>
              </a:rPr>
              <a:t>gerçekten gereken</a:t>
            </a:r>
            <a:r>
              <a:rPr sz="2000" b="0">
                <a:solidFill>
                  <a:srgbClr val="1F2D3A"/>
                </a:solidFill>
              </a:rPr>
              <a:t> giriş noktalarını tut.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Reflection kullanan akışları </a:t>
            </a:r>
            <a:r>
              <a:rPr sz="2000" b="1">
                <a:solidFill>
                  <a:srgbClr val="1F2D3A"/>
                </a:solidFill>
              </a:rPr>
              <a:t>test et</a:t>
            </a:r>
            <a:r>
              <a:rPr sz="2000" b="0">
                <a:solidFill>
                  <a:srgbClr val="1F2D3A"/>
                </a:solidFill>
              </a:rPr>
              <a:t> — gizleme sonrası çökme var mı?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Eşleme dosyası (mapping)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R8 bir </a:t>
            </a:r>
            <a:r>
              <a:rPr sz="2000" b="0">
                <a:solidFill>
                  <a:srgbClr val="A1123F"/>
                </a:solidFill>
                <a:latin typeface="Consolas"/>
              </a:rPr>
              <a:t>mapping.txt</a:t>
            </a:r>
            <a:r>
              <a:rPr sz="2000" b="0">
                <a:solidFill>
                  <a:srgbClr val="1F2D3A"/>
                </a:solidFill>
              </a:rPr>
              <a:t> üretir: gizli ad → gerçek ad.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Gizli tutulur</a:t>
            </a:r>
            <a:r>
              <a:rPr sz="2000" b="0">
                <a:solidFill>
                  <a:srgbClr val="1F2D3A"/>
                </a:solidFill>
              </a:rPr>
              <a:t> (dağıtılmaz), ama çökme izlerini çözmek için saklanır.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Sürüm kimliğiyle birlikte arşivlenir.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Eşleme dosyası · örnek (</a:t>
            </a:r>
            <a:r>
              <a:rPr sz="3000" b="1">
                <a:solidFill>
                  <a:srgbClr val="006D77"/>
                </a:solidFill>
                <a:latin typeface="Consolas"/>
              </a:rPr>
              <a:t>mapping.txt</a:t>
            </a:r>
            <a:r>
              <a:rPr sz="3000" b="1">
                <a:solidFill>
                  <a:srgbClr val="006D77"/>
                </a:solidFill>
              </a:rPr>
              <a:t>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com.ornek.odeme.KartYoneticisi -&gt; com.ornek.a: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android.content.Context baglam -&gt; a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boolean varsayilanKartiAyarla(java.lang.String) -&gt; 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Eski ad → yeni ad. Bu dosya, gizlemeyi </a:t>
            </a:r>
            <a:r>
              <a:rPr sz="2000" b="1">
                <a:solidFill>
                  <a:srgbClr val="1F2D3A"/>
                </a:solidFill>
              </a:rPr>
              <a:t>tamamen</a:t>
            </a:r>
            <a:r>
              <a:rPr sz="2000" b="0">
                <a:solidFill>
                  <a:srgbClr val="1F2D3A"/>
                </a:solidFill>
              </a:rPr>
              <a:t> geri alır.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ProGuard/R8 · bu bölümün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Küçült + iyileştir + gizle; </a:t>
            </a:r>
            <a:r>
              <a:rPr sz="2000" b="1">
                <a:solidFill>
                  <a:srgbClr val="1F2D3A"/>
                </a:solidFill>
              </a:rPr>
              <a:t>dizeleri gizlemez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-keep</a:t>
            </a:r>
            <a:r>
              <a:rPr sz="2000" b="0">
                <a:solidFill>
                  <a:srgbClr val="1F2D3A"/>
                </a:solidFill>
              </a:rPr>
              <a:t> yalnız </a:t>
            </a:r>
            <a:r>
              <a:rPr sz="2000" b="1">
                <a:solidFill>
                  <a:srgbClr val="1F2D3A"/>
                </a:solidFill>
              </a:rPr>
              <a:t>gerçekten</a:t>
            </a:r>
            <a:r>
              <a:rPr sz="2000" b="0">
                <a:solidFill>
                  <a:srgbClr val="1F2D3A"/>
                </a:solidFill>
              </a:rPr>
              <a:t> reflection/JNI ile çağrılana.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mapping.txt</a:t>
            </a:r>
            <a:r>
              <a:rPr sz="2000" b="0">
                <a:solidFill>
                  <a:srgbClr val="1F2D3A"/>
                </a:solidFill>
              </a:rPr>
              <a:t> bir </a:t>
            </a:r>
            <a:r>
              <a:rPr sz="2000" b="1">
                <a:solidFill>
                  <a:srgbClr val="1F2D3A"/>
                </a:solidFill>
              </a:rPr>
              <a:t>sır</a:t>
            </a:r>
            <a:r>
              <a:rPr sz="2000" b="0">
                <a:solidFill>
                  <a:srgbClr val="1F2D3A"/>
                </a:solidFill>
              </a:rPr>
              <a:t>: sakla, dağıtma.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10. Dize gizleme ve reflection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Dize gizleme ve dinamik çağrı — şema</a:t>
            </a:r>
          </a:p>
        </p:txBody>
      </p:sp>
      <p:pic>
        <p:nvPicPr>
          <p:cNvPr id="7" name="Picture 6" descr="h05-13-dize-gizle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3851524"/>
          </a:xfrm>
          <a:prstGeom prst="rect">
            <a:avLst/>
          </a:prstGeom>
        </p:spPr>
      </p:pic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Java'da dizeler açık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.class</a:t>
            </a:r>
            <a:r>
              <a:rPr sz="2000" b="0">
                <a:solidFill>
                  <a:srgbClr val="1F2D3A"/>
                </a:solidFill>
              </a:rPr>
              <a:t> içindeki sabit dizeler </a:t>
            </a:r>
            <a:r>
              <a:rPr sz="2000" b="1">
                <a:solidFill>
                  <a:srgbClr val="1F2D3A"/>
                </a:solidFill>
              </a:rPr>
              <a:t>düz</a:t>
            </a:r>
            <a:r>
              <a:rPr sz="2000" b="0">
                <a:solidFill>
                  <a:srgbClr val="1F2D3A"/>
                </a:solidFill>
              </a:rPr>
              <a:t> görünür (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, tersine derleyici).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Hassas URL, anahtar parçası, mesajlar sızar.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Dize gizleme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Dizeler derlemede </a:t>
            </a:r>
            <a:r>
              <a:rPr sz="2000" b="1">
                <a:solidFill>
                  <a:srgbClr val="1F2D3A"/>
                </a:solidFill>
              </a:rPr>
              <a:t>kodlanır</a:t>
            </a:r>
            <a:r>
              <a:rPr sz="2000" b="0">
                <a:solidFill>
                  <a:srgbClr val="1F2D3A"/>
                </a:solidFill>
              </a:rPr>
              <a:t>, kullanımda çözülür.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4. haftadaki kuralla aynı: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'i durdurur, </a:t>
            </a:r>
            <a:r>
              <a:rPr sz="2000" b="1">
                <a:solidFill>
                  <a:srgbClr val="1F2D3A"/>
                </a:solidFill>
              </a:rPr>
              <a:t>anahtar saklamaz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Çözme kodu da bytecode'da → sınırlı koruma.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Reflection ile gizleme çatışması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Ada göre çağrı (</a:t>
            </a:r>
            <a:r>
              <a:rPr sz="2000" b="0">
                <a:solidFill>
                  <a:srgbClr val="A1123F"/>
                </a:solidFill>
                <a:latin typeface="Consolas"/>
              </a:rPr>
              <a:t>getMethod("dogrula")</a:t>
            </a:r>
            <a:r>
              <a:rPr sz="2000" b="0">
                <a:solidFill>
                  <a:srgbClr val="1F2D3A"/>
                </a:solidFill>
              </a:rPr>
              <a:t>) gizlemeden </a:t>
            </a:r>
            <a:r>
              <a:rPr sz="2000" b="1">
                <a:solidFill>
                  <a:srgbClr val="1F2D3A"/>
                </a:solidFill>
              </a:rPr>
              <a:t>sonra</a:t>
            </a:r>
            <a:r>
              <a:rPr sz="2000" b="0">
                <a:solidFill>
                  <a:srgbClr val="1F2D3A"/>
                </a:solidFill>
              </a:rPr>
              <a:t> kırılır.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Çözüm: ya </a:t>
            </a:r>
            <a:r>
              <a:rPr sz="2000" b="0">
                <a:solidFill>
                  <a:srgbClr val="A1123F"/>
                </a:solidFill>
                <a:latin typeface="Consolas"/>
              </a:rPr>
              <a:t>-keep</a:t>
            </a:r>
            <a:r>
              <a:rPr sz="2000" b="0">
                <a:solidFill>
                  <a:srgbClr val="1F2D3A"/>
                </a:solidFill>
              </a:rPr>
              <a:t> ya reflection'ı bırakıp doğrudan çağrı.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Reflection'ı azaltmak hem güvenlik hem gizleme için iyidir.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11. Android R8 ve ölçme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Android'de R8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R8, Android derlemesinin </a:t>
            </a:r>
            <a:r>
              <a:rPr sz="2000" b="1">
                <a:solidFill>
                  <a:srgbClr val="1F2D3A"/>
                </a:solidFill>
              </a:rPr>
              <a:t>varsayılan</a:t>
            </a:r>
            <a:r>
              <a:rPr sz="2000" b="0">
                <a:solidFill>
                  <a:srgbClr val="1F2D3A"/>
                </a:solidFill>
              </a:rPr>
              <a:t> küçültücü/gizleyicisi.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minifyEnabled true</a:t>
            </a:r>
            <a:r>
              <a:rPr sz="2000" b="0">
                <a:solidFill>
                  <a:srgbClr val="1F2D3A"/>
                </a:solidFill>
              </a:rPr>
              <a:t> + </a:t>
            </a:r>
            <a:r>
              <a:rPr sz="2000" b="0">
                <a:solidFill>
                  <a:srgbClr val="A1123F"/>
                </a:solidFill>
                <a:latin typeface="Consolas"/>
              </a:rPr>
              <a:t>proguard-rules.pro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DEX (Android bayt kodu) üretir.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Sürüm derlemesinde R8 açmak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android { buildTypes { release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minifyEnabled true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shrinkResources true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proguardFiles getDefaultProguardFile('proguard-android-optimize.txt'),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    'proguard-rules.pro'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43784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Hata ayıklama (debug) derlemesi </a:t>
            </a:r>
            <a:r>
              <a:rPr sz="2000" b="1">
                <a:solidFill>
                  <a:srgbClr val="1F2D3A"/>
                </a:solidFill>
              </a:rPr>
              <a:t>gizlenmez</a:t>
            </a:r>
            <a:r>
              <a:rPr sz="2000" b="0">
                <a:solidFill>
                  <a:srgbClr val="1F2D3A"/>
                </a:solidFill>
              </a:rPr>
              <a:t>; dağıtılan sürümün </a:t>
            </a:r>
            <a:r>
              <a:rPr sz="2000" b="1">
                <a:solidFill>
                  <a:srgbClr val="1F2D3A"/>
                </a:solidFill>
              </a:rPr>
              <a:t>release</a:t>
            </a:r>
            <a:r>
              <a:rPr sz="2000" b="0">
                <a:solidFill>
                  <a:srgbClr val="1F2D3A"/>
                </a:solidFill>
              </a:rPr>
              <a:t> olduğunu doğrulayın. Android'siz salt Java/Gradle projelerinde daha sade bir biçim yeterlidir: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72364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buildTypes { release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minifyEnabled true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proguardFiles(..., 'proguard-rules.pro')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}}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Gizlemenin etkisini ölçmek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 öncesi/sonrası: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anlamlı ad oranı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düz metin hassas dize sayısı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APK boyutu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Ölç ve S9'a yaz (9. haftadaki ölçme mantığı).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Ölçüm tablosu — genişletilmiş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184098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46472"/>
                <a:gridCol w="5637626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Ölçüt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Beklenen değişim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Sınıf/metot sayısı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Küçültmeyle azalır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Anlamlı ad oranı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Gizlemeyle çok düşer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Düz metin hassas dize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Dize gizlemeyle sıfıra iner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Paket boyutu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Küçültmeyle azalır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Günlük çağrısı sayısı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Sürümde sıfır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Denetimi bulma süresi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Artar (insan deneyi)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Java için statik analiz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SpotBugs, Error Prone, SonarQube.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CERT Java kurallarına yakın denetimler.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CI'da her birleştirmede.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8–13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Java bayt kodu neden C'den kolay okunur?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A1123F"/>
                </a:solidFill>
                <a:latin typeface="Consolas"/>
              </a:rPr>
              <a:t>-keep</a:t>
            </a:r>
            <a:r>
              <a:rPr sz="2000" b="0">
                <a:solidFill>
                  <a:srgbClr val="1F2D3A"/>
                </a:solidFill>
              </a:rPr>
              <a:t> dengesi nedir?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Reflection gizlemeyle neden çatışır?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8–13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Bayt kod </a:t>
            </a:r>
            <a:r>
              <a:rPr sz="2000" b="1">
                <a:solidFill>
                  <a:srgbClr val="1F2D3A"/>
                </a:solidFill>
              </a:rPr>
              <a:t>yüksek seviyeli</a:t>
            </a:r>
            <a:r>
              <a:rPr sz="2000" b="0">
                <a:solidFill>
                  <a:srgbClr val="1F2D3A"/>
                </a:solidFill>
              </a:rPr>
              <a:t>; tip ve </a:t>
            </a:r>
            <a:r>
              <a:rPr sz="2000" b="1">
                <a:solidFill>
                  <a:srgbClr val="1F2D3A"/>
                </a:solidFill>
              </a:rPr>
              <a:t>ad meta verisi</a:t>
            </a:r>
            <a:r>
              <a:rPr sz="2000" b="0">
                <a:solidFill>
                  <a:srgbClr val="1F2D3A"/>
                </a:solidFill>
              </a:rPr>
              <a:t> (sınıf/alan/metot) korunur → decompiler neredeyse kaynağı verir. C, adları atarak makine koduna derlenir.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-keep dengesi:</a:t>
            </a:r>
            <a:r>
              <a:rPr sz="2000" b="0">
                <a:solidFill>
                  <a:srgbClr val="1F2D3A"/>
                </a:solidFill>
              </a:rPr>
              <a:t> çok keep → gizleme zayıflar; az keep → reflection/serileştirme kırılır. Yalnız </a:t>
            </a:r>
            <a:r>
              <a:rPr sz="2000" b="1">
                <a:solidFill>
                  <a:srgbClr val="1F2D3A"/>
                </a:solidFill>
              </a:rPr>
              <a:t>dış giriş noktalarını</a:t>
            </a:r>
            <a:r>
              <a:rPr sz="2000" b="0">
                <a:solidFill>
                  <a:srgbClr val="1F2D3A"/>
                </a:solidFill>
              </a:rPr>
              <a:t> keep et.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Reflection adları </a:t>
            </a:r>
            <a:r>
              <a:rPr sz="2000" b="1">
                <a:solidFill>
                  <a:srgbClr val="1F2D3A"/>
                </a:solidFill>
              </a:rPr>
              <a:t>dizeyle</a:t>
            </a:r>
            <a:r>
              <a:rPr sz="2000" b="0">
                <a:solidFill>
                  <a:srgbClr val="1F2D3A"/>
                </a:solidFill>
              </a:rPr>
              <a:t> çağırır; gizleyici adı değiştirince dize eşleşmez → çalışma anında hata. O adları keep etmek gerekir (gizleme boşluğu).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12. Bağımlılık güvenliği ve SBOM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Sorun · tedarik zinciri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Kendi kodunuz kusursuz olsa bile, kullandığınız </a:t>
            </a:r>
            <a:r>
              <a:rPr sz="2000" b="1">
                <a:solidFill>
                  <a:srgbClr val="1F2D3A"/>
                </a:solidFill>
              </a:rPr>
              <a:t>kütüphanelerdeki</a:t>
            </a:r>
            <a:r>
              <a:rPr sz="2000" b="0">
                <a:solidFill>
                  <a:srgbClr val="1F2D3A"/>
                </a:solidFill>
              </a:rPr>
              <a:t> açık sizi etkiler.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Modern uygulama yüzlerce bağımlılık içerir.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"Hangi sürüm bende var?" sorusu kritik.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Gerçek örnekler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Log4Shell (Log4j): tek bir kütüphane açığı, milyonlarca sistemi etkiledi.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Kötü niyetli paket (typosquatting): benzer adlı sahte paket.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Bakımsız/terk edilmiş bağımlılık.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Log4Shell · somut örnek (Aralık 2021)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Log4j 2'de günlüğe yazılan özel bir ifade, </a:t>
            </a:r>
            <a:r>
              <a:rPr sz="2000" b="1">
                <a:solidFill>
                  <a:srgbClr val="1F2D3A"/>
                </a:solidFill>
              </a:rPr>
              <a:t>uzaktaki</a:t>
            </a:r>
            <a:r>
              <a:rPr sz="2000" b="0">
                <a:solidFill>
                  <a:srgbClr val="1F2D3A"/>
                </a:solidFill>
              </a:rPr>
              <a:t> bir adresten sınıf yükletip çalıştırıyordu.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CVE-2021-44228, CVSS </a:t>
            </a:r>
            <a:r>
              <a:rPr sz="2000" b="1">
                <a:solidFill>
                  <a:srgbClr val="1F2D3A"/>
                </a:solidFill>
              </a:rPr>
              <a:t>10.0</a:t>
            </a:r>
            <a:r>
              <a:rPr sz="2000" b="0">
                <a:solidFill>
                  <a:srgbClr val="1F2D3A"/>
                </a:solidFill>
              </a:rPr>
              <a:t> (en yüksek skor).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Asıl kriz yamayı uygulamak değildi: </a:t>
            </a:r>
            <a:r>
              <a:rPr sz="2000" b="1">
                <a:solidFill>
                  <a:srgbClr val="1F2D3A"/>
                </a:solidFill>
              </a:rPr>
              <a:t>hangi sistemde hangi sürüm var</a:t>
            </a:r>
            <a:r>
              <a:rPr sz="2000" b="0">
                <a:solidFill>
                  <a:srgbClr val="1F2D3A"/>
                </a:solidFill>
              </a:rPr>
              <a:t> sorusuydu.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SBOM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Yazılımın </a:t>
            </a:r>
            <a:r>
              <a:rPr sz="2000" b="1">
                <a:solidFill>
                  <a:srgbClr val="1F2D3A"/>
                </a:solidFill>
              </a:rPr>
              <a:t>malzeme listesi</a:t>
            </a:r>
            <a:r>
              <a:rPr sz="2000" b="0">
                <a:solidFill>
                  <a:srgbClr val="1F2D3A"/>
                </a:solidFill>
              </a:rPr>
              <a:t>: hangi bileşen, hangi sürüm, hangi lisans.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açık duyurulunca "etkilendim mi?" </a:t>
            </a:r>
            <a:r>
              <a:rPr sz="2000" b="1">
                <a:solidFill>
                  <a:srgbClr val="1F2D3A"/>
                </a:solidFill>
              </a:rPr>
              <a:t>hızlı</a:t>
            </a:r>
            <a:r>
              <a:rPr sz="2000" b="0">
                <a:solidFill>
                  <a:srgbClr val="1F2D3A"/>
                </a:solidFill>
              </a:rPr>
              <a:t> yanıtlanır.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SBOM biçimleri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CycloneDX</a:t>
            </a:r>
            <a:r>
              <a:rPr sz="2000" b="0">
                <a:solidFill>
                  <a:srgbClr val="1F2D3A"/>
                </a:solidFill>
              </a:rPr>
              <a:t> (OWASP) — güvenlik odaklı, yaygın.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SPDX</a:t>
            </a:r>
            <a:r>
              <a:rPr sz="2000" b="0">
                <a:solidFill>
                  <a:srgbClr val="1F2D3A"/>
                </a:solidFill>
              </a:rPr>
              <a:t> (Linux Foundation) — lisans odaklı da güçlü.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Araçlarla otomatik üretilir (derleme adımında).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CycloneDX örneği (JSON, sentetik)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59715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"bomFormat": "CycloneDX",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"components": [{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"type": "library", "name": "ornek-json", "version": "1.2.0",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"purl": "pkg:maven/com.ornek/ornek-json@1.2.0"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}]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27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bileşen: ad, sürüm, </a:t>
            </a:r>
            <a:r>
              <a:rPr sz="2000" b="1">
                <a:solidFill>
                  <a:srgbClr val="1F2D3A"/>
                </a:solidFill>
              </a:rPr>
              <a:t>purl</a:t>
            </a:r>
            <a:r>
              <a:rPr sz="2000" b="0">
                <a:solidFill>
                  <a:srgbClr val="1F2D3A"/>
                </a:solidFill>
              </a:rPr>
              <a:t> (ekosistemden bağımsız tekil kimlik), özet değeri.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VEX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VEX (Vulnerability Exploitability eXchange):</a:t>
            </a:r>
            <a:r>
              <a:rPr sz="2000" b="0">
                <a:solidFill>
                  <a:srgbClr val="1F2D3A"/>
                </a:solidFill>
              </a:rPr>
              <a:t> "bu açık bende var ama </a:t>
            </a:r>
            <a:r>
              <a:rPr sz="2000" b="1">
                <a:solidFill>
                  <a:srgbClr val="1F2D3A"/>
                </a:solidFill>
              </a:rPr>
              <a:t>sömürülebilir değil</a:t>
            </a:r>
            <a:r>
              <a:rPr sz="2000" b="0">
                <a:solidFill>
                  <a:srgbClr val="1F2D3A"/>
                </a:solidFill>
              </a:rPr>
              <a:t>" bilgisini paylaşır.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Gürültüyü azaltır: her CVE panik değil.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SBOM'a eşlik eder.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Bağımlılık yönetimi kuralları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Sürümleri </a:t>
            </a:r>
            <a:r>
              <a:rPr sz="2000" b="1">
                <a:solidFill>
                  <a:srgbClr val="1F2D3A"/>
                </a:solidFill>
              </a:rPr>
              <a:t>sabitle</a:t>
            </a:r>
            <a:r>
              <a:rPr sz="2000" b="0">
                <a:solidFill>
                  <a:srgbClr val="1F2D3A"/>
                </a:solidFill>
              </a:rPr>
              <a:t> (pin); rastgele "en son" çekme.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Bilinen açıkları tara (</a:t>
            </a:r>
            <a:r>
              <a:rPr sz="2000" b="0">
                <a:solidFill>
                  <a:srgbClr val="A1123F"/>
                </a:solidFill>
                <a:latin typeface="Consolas"/>
              </a:rPr>
              <a:t>dependency-check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npm audit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pip-audit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Güvenli güncelleme süreci; kritik yamaları hızlı uygula.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SBOM üretimi · örnek akış</a:t>
            </a:r>
          </a:p>
        </p:txBody>
      </p:sp>
      <p:pic>
        <p:nvPicPr>
          <p:cNvPr id="7" name="Picture 6" descr="h05-10-sb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67699" y="1325880"/>
            <a:ext cx="8456297" cy="29433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43789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sürümün SBOM'u sürüm kimliğiyle saklanır.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928616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 örnek: CycloneDX eklentisi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mvn org.cyclonedx:cyclonedx-maven-plugin:makeBom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5690616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dependency-check --scan . --format HTML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Projeye bağ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S13:</a:t>
            </a:r>
            <a:r>
              <a:rPr sz="2000" b="0">
                <a:solidFill>
                  <a:srgbClr val="1F2D3A"/>
                </a:solidFill>
              </a:rPr>
              <a:t> güvenli geliştirme süreci + SBOM.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sürüm için güncel SBOM ve bağımlılık taraması.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Devredilen gereksinimler: "güvenli güncelleme" üst uygulamaya (13. hafta).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SBOM · bu bölümün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Kendi kodun kusursuz olsa da </a:t>
            </a:r>
            <a:r>
              <a:rPr sz="2000" b="1">
                <a:solidFill>
                  <a:srgbClr val="1F2D3A"/>
                </a:solidFill>
              </a:rPr>
              <a:t>bağımlılığın açığı seni etkiler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SBOM = malzeme listesi; VEX = "gerçekten etkilendim mi?" cevabı.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Sürümü </a:t>
            </a:r>
            <a:r>
              <a:rPr sz="2000" b="1">
                <a:solidFill>
                  <a:srgbClr val="1F2D3A"/>
                </a:solidFill>
              </a:rPr>
              <a:t>sabitle</a:t>
            </a:r>
            <a:r>
              <a:rPr sz="2000" b="0">
                <a:solidFill>
                  <a:srgbClr val="1F2D3A"/>
                </a:solidFill>
              </a:rPr>
              <a:t>, sürekli </a:t>
            </a:r>
            <a:r>
              <a:rPr sz="2000" b="1">
                <a:solidFill>
                  <a:srgbClr val="1F2D3A"/>
                </a:solidFill>
              </a:rPr>
              <a:t>tara</a:t>
            </a:r>
            <a:r>
              <a:rPr sz="2000" b="0">
                <a:solidFill>
                  <a:srgbClr val="1F2D3A"/>
                </a:solidFill>
              </a:rPr>
              <a:t>, kritik yamayı hızlı uygula.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14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SBOM ne işe yarar?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VEX neden gürültüyü azaltır?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Bağımlılık sürümlerini neden sabitleriz?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14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SBOM</a:t>
            </a:r>
            <a:r>
              <a:rPr sz="2000" b="0">
                <a:solidFill>
                  <a:srgbClr val="1F2D3A"/>
                </a:solidFill>
              </a:rPr>
              <a:t> = bileşen/bağımlılık envanteri; yeni açık çıkınca "bende var mı?" sorusunu </a:t>
            </a:r>
            <a:r>
              <a:rPr sz="2000" b="1">
                <a:solidFill>
                  <a:srgbClr val="1F2D3A"/>
                </a:solidFill>
              </a:rPr>
              <a:t>hızla</a:t>
            </a:r>
            <a:r>
              <a:rPr sz="2000" b="0">
                <a:solidFill>
                  <a:srgbClr val="1F2D3A"/>
                </a:solidFill>
              </a:rPr>
              <a:t> yanıtlar.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VEX</a:t>
            </a:r>
            <a:r>
              <a:rPr sz="2000" b="0">
                <a:solidFill>
                  <a:srgbClr val="1F2D3A"/>
                </a:solidFill>
              </a:rPr>
              <a:t> açığın üründe gerçekten </a:t>
            </a:r>
            <a:r>
              <a:rPr sz="2000" b="1">
                <a:solidFill>
                  <a:srgbClr val="1F2D3A"/>
                </a:solidFill>
              </a:rPr>
              <a:t>sömürülebilir</a:t>
            </a:r>
            <a:r>
              <a:rPr sz="2000" b="0">
                <a:solidFill>
                  <a:srgbClr val="1F2D3A"/>
                </a:solidFill>
              </a:rPr>
              <a:t> olup olmadığını bildirir; etkilenmeyenler "not affected" → yanlış alarm azalır.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Sabit sürüm = </a:t>
            </a:r>
            <a:r>
              <a:rPr sz="2000" b="1">
                <a:solidFill>
                  <a:srgbClr val="1F2D3A"/>
                </a:solidFill>
              </a:rPr>
              <a:t>yeniden üretilebilir</a:t>
            </a:r>
            <a:r>
              <a:rPr sz="2000" b="0">
                <a:solidFill>
                  <a:srgbClr val="1F2D3A"/>
                </a:solidFill>
              </a:rPr>
              <a:t> derleme + tedarik zinciri güvenliği; beklenmedik/zararlı güncellemeyi engeller.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Bağlam · giriş formu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Kullanıcı adı ve parola ile giriş yapan bir uygulama.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String q = "SELECT * FROM kul WHERE ad='" + ad +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"' AND parola='" + p + "'";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37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Nerede yanlış?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 · saldırgan girdisi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ad</a:t>
            </a:r>
            <a:r>
              <a:rPr sz="2000" b="0">
                <a:solidFill>
                  <a:srgbClr val="1F2D3A"/>
                </a:solidFill>
              </a:rPr>
              <a:t> alanına: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yonetici' --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48559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--</a:t>
            </a:r>
            <a:r>
              <a:rPr sz="2000" b="0">
                <a:solidFill>
                  <a:srgbClr val="1F2D3A"/>
                </a:solidFill>
              </a:rPr>
              <a:t> SQL'de </a:t>
            </a:r>
            <a:r>
              <a:rPr sz="2000" b="1">
                <a:solidFill>
                  <a:srgbClr val="1F2D3A"/>
                </a:solidFill>
              </a:rPr>
              <a:t>yorum</a:t>
            </a:r>
            <a:r>
              <a:rPr sz="2000" b="0">
                <a:solidFill>
                  <a:srgbClr val="1F2D3A"/>
                </a:solidFill>
              </a:rPr>
              <a:t> başlatır; sonrası yok sayılır.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2 · sorgu ne oluyor?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SELECT * FROM kul WHERE ad='yonetici' -- ' AND parola='...'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Parola denetimi </a:t>
            </a:r>
            <a:r>
              <a:rPr sz="2000" b="1">
                <a:solidFill>
                  <a:srgbClr val="1F2D3A"/>
                </a:solidFill>
              </a:rPr>
              <a:t>yorumda</a:t>
            </a:r>
            <a:r>
              <a:rPr sz="2000" b="0">
                <a:solidFill>
                  <a:srgbClr val="1F2D3A"/>
                </a:solidFill>
              </a:rPr>
              <a:t> kaldı → parolasız </a:t>
            </a:r>
            <a:r>
              <a:rPr sz="2000" b="0">
                <a:solidFill>
                  <a:srgbClr val="A1123F"/>
                </a:solidFill>
                <a:latin typeface="Consolas"/>
              </a:rPr>
              <a:t>yonetici</a:t>
            </a:r>
            <a:r>
              <a:rPr sz="2000" b="0">
                <a:solidFill>
                  <a:srgbClr val="1F2D3A"/>
                </a:solidFill>
              </a:rPr>
              <a:t> girişi.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3 · etki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Kimlik doğrulama </a:t>
            </a:r>
            <a:r>
              <a:rPr sz="2000" b="1">
                <a:solidFill>
                  <a:srgbClr val="1F2D3A"/>
                </a:solidFill>
              </a:rPr>
              <a:t>atlatıldı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Daha ileri: </a:t>
            </a:r>
            <a:r>
              <a:rPr sz="2000" b="0">
                <a:solidFill>
                  <a:srgbClr val="A1123F"/>
                </a:solidFill>
                <a:latin typeface="Consolas"/>
              </a:rPr>
              <a:t>UNION SELECT</a:t>
            </a:r>
            <a:r>
              <a:rPr sz="2000" b="0">
                <a:solidFill>
                  <a:srgbClr val="1F2D3A"/>
                </a:solidFill>
              </a:rPr>
              <a:t> ile başka tabloları okuma.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; DROP TABLE</a:t>
            </a:r>
            <a:r>
              <a:rPr sz="2000" b="0">
                <a:solidFill>
                  <a:srgbClr val="1F2D3A"/>
                </a:solidFill>
              </a:rPr>
              <a:t> (yığın sorgu destekliyse) veri kaybı.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4 · düzeltme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PreparedStatement ps = con.prepareStatement(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"SELECT * FROM kul WHERE ad=? AND parola_ozet=?");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ps.setString(1, ad);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ps.setString(2, ozetle(p));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ad</a:t>
            </a:r>
            <a:r>
              <a:rPr sz="2000" b="0">
                <a:solidFill>
                  <a:srgbClr val="1F2D3A"/>
                </a:solidFill>
              </a:rPr>
              <a:t> ve parola artık </a:t>
            </a:r>
            <a:r>
              <a:rPr sz="2000" b="1">
                <a:solidFill>
                  <a:srgbClr val="1F2D3A"/>
                </a:solidFill>
              </a:rPr>
              <a:t>veri</a:t>
            </a:r>
            <a:r>
              <a:rPr sz="2000" b="0">
                <a:solidFill>
                  <a:srgbClr val="1F2D3A"/>
                </a:solidFill>
              </a:rPr>
              <a:t>; </a:t>
            </a:r>
            <a:r>
              <a:rPr sz="2000" b="0">
                <a:solidFill>
                  <a:srgbClr val="A1123F"/>
                </a:solidFill>
                <a:latin typeface="Consolas"/>
              </a:rPr>
              <a:t>--</a:t>
            </a:r>
            <a:r>
              <a:rPr sz="2000" b="0">
                <a:solidFill>
                  <a:srgbClr val="1F2D3A"/>
                </a:solidFill>
              </a:rPr>
              <a:t> etkisiz.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5 · katmanlı savunma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Parolayı düz saklama:</a:t>
            </a:r>
            <a:r>
              <a:rPr sz="2000" b="0">
                <a:solidFill>
                  <a:srgbClr val="1F2D3A"/>
                </a:solidFill>
              </a:rPr>
              <a:t> özet + tuz (3. hafta).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En az yetki:</a:t>
            </a:r>
            <a:r>
              <a:rPr sz="2000" b="0">
                <a:solidFill>
                  <a:srgbClr val="1F2D3A"/>
                </a:solidFill>
              </a:rPr>
              <a:t> DB kullanıcısı yalnız </a:t>
            </a:r>
            <a:r>
              <a:rPr sz="2000" b="0">
                <a:solidFill>
                  <a:srgbClr val="A1123F"/>
                </a:solidFill>
                <a:latin typeface="Consolas"/>
              </a:rPr>
              <a:t>SELECT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Girdi doğrulama:</a:t>
            </a:r>
            <a:r>
              <a:rPr sz="2000" b="0">
                <a:solidFill>
                  <a:srgbClr val="1F2D3A"/>
                </a:solidFill>
              </a:rPr>
              <a:t> kullanıcı adı beyaz liste.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Günlük/izleme:</a:t>
            </a:r>
            <a:r>
              <a:rPr sz="2000" b="0">
                <a:solidFill>
                  <a:srgbClr val="1F2D3A"/>
                </a:solidFill>
              </a:rPr>
              <a:t> başarısız giriş denemeleri.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kök: veri komuta karıştı.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Asıl çözüm: parametreli sorgu.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 derinlemesine savunma her katmanda.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Aynı hata, üç dil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1082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5661"/>
                <a:gridCol w="3425714"/>
                <a:gridCol w="3425714"/>
                <a:gridCol w="2664444"/>
              </a:tblGrid>
              <a:tr h="36941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Tehlike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Java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Python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JS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6941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Komut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Runtime.exec(str)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os.system(str)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exec(str)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941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ProcessBuilder([...])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subprocess.run([...])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execFile([...])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Aynı hata, veri çıkarma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5" cy="11082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95215"/>
                <a:gridCol w="2129080"/>
                <a:gridCol w="3459755"/>
                <a:gridCol w="2927485"/>
              </a:tblGrid>
              <a:tr h="36941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Tehlike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Java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Python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JS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6941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Kod çalıştırma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readObject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pickle.loads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eval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eval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Function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941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JSON + şema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json.loads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JSON.parse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54386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Kök hep aynı: veri ≠ kod.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Üç dil · tek kural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Dinamik "çalıştır" (</a:t>
            </a:r>
            <a:r>
              <a:rPr sz="2000" b="0">
                <a:solidFill>
                  <a:srgbClr val="A1123F"/>
                </a:solidFill>
                <a:latin typeface="Consolas"/>
              </a:rPr>
              <a:t>eval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exec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pickle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readObject</a:t>
            </a:r>
            <a:r>
              <a:rPr sz="2000" b="0">
                <a:solidFill>
                  <a:srgbClr val="1F2D3A"/>
                </a:solidFill>
              </a:rPr>
              <a:t>) → güvenilmez veriyle </a:t>
            </a:r>
            <a:r>
              <a:rPr sz="2000" b="1">
                <a:solidFill>
                  <a:srgbClr val="1F2D3A"/>
                </a:solidFill>
              </a:rPr>
              <a:t>asla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Komut → argüman dizisi.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SQL → parametreli.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Girdi → beyaz liste + reddetme.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Enjeksiyon · genel ders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Enjeksiyon dile bağlı değil; </a:t>
            </a:r>
            <a:r>
              <a:rPr sz="2000" b="1">
                <a:solidFill>
                  <a:srgbClr val="1F2D3A"/>
                </a:solidFill>
              </a:rPr>
              <a:t>kalıba</a:t>
            </a:r>
            <a:r>
              <a:rPr sz="2000" b="0">
                <a:solidFill>
                  <a:srgbClr val="1F2D3A"/>
                </a:solidFill>
              </a:rPr>
              <a:t> bağlı.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Kalıbı tanı: "kullanıcı verisi bir yorumlayıcıya komut olarak mı gidiyor?"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Tanıdıysan çözüm hazır: ayır.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Klasik hatalar — özet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2933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58984"/>
                <a:gridCol w="892761"/>
                <a:gridCol w="4959788"/>
              </a:tblGrid>
              <a:tr h="38221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Hata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Bölüm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Kural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String birleştirmeyle SQL/komut kurmak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2, 3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Parametreli sorgu / argüman dizisi kullan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Güvenilmez veriyle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eval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/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pickle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/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readObject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5, 7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Veri biçimi + şema kullan, asla çalıştırma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XML'de dış varlıkları açık bırakmak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Dış varlıkları ve DOCTYPE'ı kapat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-keep *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ile her şeyi korumak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9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Yalnız gerçekten gereken giriş noktalarını tut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222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Bağımlılıkları taramamak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SBOM üret, sürekli tara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72892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Beşi de bu destede işlendi; burada tek bakışta toparlıyoruz.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S9/S13 (Java tarafı)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722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-keep</a:t>
            </a:r>
            <a:r>
              <a:rPr sz="2000" b="0">
                <a:solidFill>
                  <a:srgbClr val="1F2D3A"/>
                </a:solidFill>
              </a:rPr>
              <a:t> yalnız gereken giriş noktaları.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/tersine derlemede yok.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Yönetilen dil hangi hata sınıfını çözer, neyi çözmez?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Bellek hatalarını (taşma, UAF) büyük ölçüde çözer. Enjeksiyon, mantık/yetki hataları, bağımlılık ve deserialization saldırılarını </a:t>
            </a:r>
            <a:r>
              <a:rPr sz="2000" b="1">
                <a:solidFill>
                  <a:srgbClr val="1F2D3A"/>
                </a:solidFill>
              </a:rPr>
              <a:t>çözmez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`' OR '1'='1` neden tüm satırları döndürür?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Girdi string birleştirmeyle sorguya girer; tırnak veriyi bitirir, </a:t>
            </a:r>
            <a:r>
              <a:rPr sz="2000" b="0">
                <a:solidFill>
                  <a:srgbClr val="A1123F"/>
                </a:solidFill>
                <a:latin typeface="Consolas"/>
              </a:rPr>
              <a:t>OR '1'='1'</a:t>
            </a:r>
            <a:r>
              <a:rPr sz="2000" b="0">
                <a:solidFill>
                  <a:srgbClr val="1F2D3A"/>
                </a:solidFill>
              </a:rPr>
              <a:t> her zaman doğru olur. Parametreli sorgu bunu engeller.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Komut enjeksiyonunu `ProcessBuilder` nasıl önler?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Kabuk kullanmadan argümanları </a:t>
            </a:r>
            <a:r>
              <a:rPr sz="2000" b="1">
                <a:solidFill>
                  <a:srgbClr val="1F2D3A"/>
                </a:solidFill>
              </a:rPr>
              <a:t>dizi</a:t>
            </a:r>
            <a:r>
              <a:rPr sz="2000" b="0">
                <a:solidFill>
                  <a:srgbClr val="1F2D3A"/>
                </a:solidFill>
              </a:rPr>
              <a:t> olarak verir; metakarakterler (</a:t>
            </a:r>
            <a:r>
              <a:rPr sz="2000" b="0">
                <a:solidFill>
                  <a:srgbClr val="A1123F"/>
                </a:solidFill>
                <a:latin typeface="Consolas"/>
              </a:rPr>
              <a:t>;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|</a:t>
            </a:r>
            <a:r>
              <a:rPr sz="2000" b="0">
                <a:solidFill>
                  <a:srgbClr val="1F2D3A"/>
                </a:solidFill>
              </a:rPr>
              <a:t>) yorumlanmaz, girdi tek argüman kalır.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Yol geçişini hangi iki adım kapatır?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Kanonikleştirme (</a:t>
            </a:r>
            <a:r>
              <a:rPr sz="2000" b="0">
                <a:solidFill>
                  <a:srgbClr val="A1123F"/>
                </a:solidFill>
                <a:latin typeface="Consolas"/>
              </a:rPr>
              <a:t>normalize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toRealPath</a:t>
            </a:r>
            <a:r>
              <a:rPr sz="2000" b="0">
                <a:solidFill>
                  <a:srgbClr val="1F2D3A"/>
                </a:solidFill>
              </a:rPr>
              <a:t>) + kök denetimi (</a:t>
            </a:r>
            <a:r>
              <a:rPr sz="2000" b="0">
                <a:solidFill>
                  <a:srgbClr val="A1123F"/>
                </a:solidFill>
                <a:latin typeface="Consolas"/>
              </a:rPr>
              <a:t>startsWith(kok)</a:t>
            </a:r>
            <a:r>
              <a:rPr sz="2000" b="0">
                <a:solidFill>
                  <a:srgbClr val="1F2D3A"/>
                </a:solidFill>
              </a:rPr>
              <a:t>). Ayrıca dosya adı beyaz listesi.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Güvensiz deserialization neden tehlikelidir? Çözüm?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Çıkarma sırasında nesne metotları çalışır; gadget zinciriyle kod çalıştırılabilir. Çözüm: native serileştirme yerine veri biçimi + şema; zorunda kalınırsa </a:t>
            </a:r>
            <a:r>
              <a:rPr sz="2000" b="0">
                <a:solidFill>
                  <a:srgbClr val="A1123F"/>
                </a:solidFill>
                <a:latin typeface="Consolas"/>
              </a:rPr>
              <a:t>ObjectInputFilter</a:t>
            </a:r>
            <a:r>
              <a:rPr sz="2000" b="0">
                <a:solidFill>
                  <a:srgbClr val="1F2D3A"/>
                </a:solidFill>
              </a:rPr>
              <a:t> beyaz listesi.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XXE nedir, hangi ayar kapatır?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XML dış varlıklarının kötüye kullanımı (dosya okuma/SSRF). Dış varlıkları ve DOCTYPE'ı kapatan ayrıştırıcı ayarı kapatır.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ReDoS ve prototype pollution nedir?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ReDoS: kötü regex'in üstel zaman harcaması (DoS). Prototype pollution: JS'te </a:t>
            </a:r>
            <a:r>
              <a:rPr sz="2000" b="0">
                <a:solidFill>
                  <a:srgbClr val="A1123F"/>
                </a:solidFill>
                <a:latin typeface="Consolas"/>
              </a:rPr>
              <a:t>__proto__</a:t>
            </a:r>
            <a:r>
              <a:rPr sz="2000" b="0">
                <a:solidFill>
                  <a:srgbClr val="1F2D3A"/>
                </a:solidFill>
              </a:rPr>
              <a:t> üzerinden tüm nesneleri bozma. İkisi de girdi denetimi + güvenli API ister.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Java bayt kodu neden gizlemeye daha çok ihtiyaç duyar?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Bayt kodu yüksek seviyeli, tür ve ad bilgisi taşır; kaynağa çok yakın tersine derlenir. Adlar/dizeler açık görünür.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`-keep` dengesi nedir?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Çok az </a:t>
            </a:r>
            <a:r>
              <a:rPr sz="2000" b="0">
                <a:solidFill>
                  <a:srgbClr val="A1123F"/>
                </a:solidFill>
                <a:latin typeface="Consolas"/>
              </a:rPr>
              <a:t>-keep</a:t>
            </a:r>
            <a:r>
              <a:rPr sz="2000" b="0">
                <a:solidFill>
                  <a:srgbClr val="1F2D3A"/>
                </a:solidFill>
              </a:rPr>
              <a:t> → reflection kırılır, uygulama çöker. Çok fazla → gizleme zayıflar. Yalnız gerçekten reflection'la çağrılan giriş noktaları tutulur.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Dize gizleme Java'da anahtar saklar mı?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Hayır.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/statik taramayı durdurur ama çözülen dize bellekte açıktır ve çözme kodu bytecode'dadır. Anahtar için farklı koruma gerekir.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SBOM ve VEX ne işe yarar?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SBOM bileşen listesidir; açık duyurulunca etkilenip etkilenmediğinizi hızla söyler. VEX, açığın sömürülebilir olup olmadığını belirtir, gürültüyü azaltır.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Tüm enjeksiyon türlerinin ortak kökü ve çözümü?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Kök: veri ile komutun karışması. Çözüm: veriyi koddan </a:t>
            </a:r>
            <a:r>
              <a:rPr sz="2000" b="1">
                <a:solidFill>
                  <a:srgbClr val="1F2D3A"/>
                </a:solidFill>
              </a:rPr>
              <a:t>ayırmak</a:t>
            </a:r>
            <a:r>
              <a:rPr sz="2000" b="0">
                <a:solidFill>
                  <a:srgbClr val="1F2D3A"/>
                </a:solidFill>
              </a:rPr>
              <a:t> (parametreli/argüman dizisi API), string birleştirmeyle komut kurmamak.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Sözlük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729675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9037"/>
                <a:gridCol w="6910638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Enjeksiyon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Veri = komut karışması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Parametreli sorgu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Veri ayrı bağlanır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Deserialization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Bayt → nesne (riskli)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XXE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XML dış varlık kötüye kullanımı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R8/ProGuard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Küçültme + ad gizleme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SBOM/VEX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Bileşen listesi / sömürülebilirlik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Bir sonraki hafta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Hafta 6 — RASP ve çalışma anı korumaları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51808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Bu hafta gizleme ve küçültmeyle bayt kodunun </a:t>
            </a:r>
            <a:r>
              <a:rPr sz="2000" b="1">
                <a:solidFill>
                  <a:srgbClr val="1F2D3A"/>
                </a:solidFill>
              </a:rPr>
              <a:t>statik</a:t>
            </a:r>
            <a:r>
              <a:rPr sz="2000" b="0">
                <a:solidFill>
                  <a:srgbClr val="1F2D3A"/>
                </a:solidFill>
              </a:rPr>
              <a:t> olarak okunmasını zorlaştırdık; ama saldırgan uygulamayı </a:t>
            </a:r>
            <a:r>
              <a:rPr sz="2000" b="1">
                <a:solidFill>
                  <a:srgbClr val="1F2D3A"/>
                </a:solidFill>
              </a:rPr>
              <a:t>çalışırken</a:t>
            </a:r>
            <a:r>
              <a:rPr sz="2000" b="0">
                <a:solidFill>
                  <a:srgbClr val="1F2D3A"/>
                </a:solidFill>
              </a:rPr>
              <a:t> de inceleyebilir (hata ayıklayıcı bağlamak, bellek dökümü almak, kanca takmak).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197855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Hafta 6'da RASP (Runtime Application Self-Protection) ile bir uygulamanın çalışma anında kendini nasıl doğruladığını, hata ayıklayıcıyı ve kancaları nasıl algıladığını göreceğiz — bu haftaki statik savunmanın üstüne inşa edilen bir sonraki katman.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Hafta 5 — Kod Sağlamlaştırma: Java ve Yorumlanan Diller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