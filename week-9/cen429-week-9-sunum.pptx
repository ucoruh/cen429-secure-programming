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ileri kod gizleme kurallarını işliyoruz. Çerçeve: gizleme kırılamaz kılmaz, pahalı kılar. Her tekniği bir güvenlik kuralı olarak veriyoruz — neyi korur, maliyeti, sınırı, nasıl ölçülür. Anahtar koruması gizleme değildir (11. hafta).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Bugün 4. haftadaki gizleme girişini ileri düzeye taşıyoruz ve ölçmeyi ekliyoruz. Ana çerçeve: gizleme kırılamazlık vermez, maliyet yükseltir. Her tekniği bir "kural" olarak veriyoruz.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Öğrencilere sordurun. Cevap: saldırganın makinesinde, sunucu denetimi geçersiz, sınırsız deneme.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bu slaytı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bölüm hiçbir ön bilgi varsaymaz. Her terimi burada tanımlıyoruz; sonraki bölümlerde bu terimleri kullanacağız. Acele etmeyin.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aç; ardından 5. bölüm.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bölüm bütün kuralları tek örnekte birleştirir; tahtada canlı yapılabilir.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Gelişmiş Kod Gizleme ve Çeşitlendirme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13.11.2026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714"/>
                <a:gridCol w="1183178"/>
                <a:gridCol w="8676642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Gizleme neden kural? · MATE · taksonomi · kural şablonu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Kontrol akışı kuralları (K-01…K-06)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kuralları · sanallaştırma/dinamik · çeşitlendirme · ölçme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kod gizleme nereden geldi?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</a:t>
            </a:r>
            <a:r>
              <a:rPr sz="1800" b="0">
                <a:solidFill>
                  <a:srgbClr val="1F2D3A"/>
                </a:solidFill>
              </a:rPr>
              <a:t> — Diffie &amp; Hellman: "anlaşılmaz ama çalışır" fikri (</a:t>
            </a:r>
            <a:r>
              <a:rPr sz="1800" b="1">
                <a:solidFill>
                  <a:srgbClr val="1F2D3A"/>
                </a:solidFill>
              </a:rPr>
              <a:t>çaba-yoluyla</a:t>
            </a:r>
            <a:r>
              <a:rPr sz="1800" b="0">
                <a:solidFill>
                  <a:srgbClr val="1F2D3A"/>
                </a:solidFill>
              </a:rPr>
              <a:t> koruma)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vd. </a:t>
            </a:r>
            <a:r>
              <a:rPr sz="1800" b="1">
                <a:solidFill>
                  <a:srgbClr val="1F2D3A"/>
                </a:solidFill>
              </a:rPr>
              <a:t>taksonomi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0" i="1">
                <a:solidFill>
                  <a:srgbClr val="1F2D3A"/>
                </a:solidFill>
              </a:rPr>
              <a:t>güç–dayanıklılık–gizlilik–maliyet</a:t>
            </a:r>
            <a:r>
              <a:rPr sz="1800" b="0">
                <a:solidFill>
                  <a:srgbClr val="1F2D3A"/>
                </a:solidFill>
              </a:rPr>
              <a:t> (bu dersin beş ailesi)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— Barak vd.: kusursuz gizleme </a:t>
            </a:r>
            <a:r>
              <a:rPr sz="1800" b="1">
                <a:solidFill>
                  <a:srgbClr val="1F2D3A"/>
                </a:solidFill>
              </a:rPr>
              <a:t>imkânsızdır</a:t>
            </a:r>
            <a:r>
              <a:rPr sz="1800" b="0">
                <a:solidFill>
                  <a:srgbClr val="1F2D3A"/>
                </a:solidFill>
              </a:rPr>
              <a:t> → "kırılamazlık" değil </a:t>
            </a:r>
            <a:r>
              <a:rPr sz="1800" b="1">
                <a:solidFill>
                  <a:srgbClr val="1F2D3A"/>
                </a:solidFill>
              </a:rPr>
              <a:t>maliyet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Chow vd. </a:t>
            </a:r>
            <a:r>
              <a:rPr sz="1800" b="1">
                <a:solidFill>
                  <a:srgbClr val="1F2D3A"/>
                </a:solidFill>
              </a:rPr>
              <a:t>whitebox AES</a:t>
            </a:r>
            <a:r>
              <a:rPr sz="1800" b="0">
                <a:solidFill>
                  <a:srgbClr val="1F2D3A"/>
                </a:solidFill>
              </a:rPr>
              <a:t> (11. hafta) ·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Tigress</a:t>
            </a:r>
            <a:r>
              <a:rPr sz="1800" b="0">
                <a:solidFill>
                  <a:srgbClr val="1F2D3A"/>
                </a:solidFill>
              </a:rPr>
              <a:t>, O-LLVM (14. hafta)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Gizleme, bir </a:t>
            </a:r>
            <a:r>
              <a:rPr sz="1800" b="1">
                <a:solidFill>
                  <a:srgbClr val="1F2D3A"/>
                </a:solidFill>
              </a:rPr>
              <a:t>imkânsızlık teoreminin</a:t>
            </a:r>
            <a:r>
              <a:rPr sz="1800" b="0">
                <a:solidFill>
                  <a:srgbClr val="1F2D3A"/>
                </a:solidFill>
              </a:rPr>
              <a:t> üzerine kurulmuş </a:t>
            </a:r>
            <a:r>
              <a:rPr sz="1800" b="1">
                <a:solidFill>
                  <a:srgbClr val="1F2D3A"/>
                </a:solidFill>
              </a:rPr>
              <a:t>pratik bir geciktirme</a:t>
            </a:r>
            <a:r>
              <a:rPr sz="1800" b="0">
                <a:solidFill>
                  <a:srgbClr val="1F2D3A"/>
                </a:solidFill>
              </a:rPr>
              <a:t> disiplinidir.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Nereden geldik, nereye gidiyoruz?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4. hafta:</a:t>
            </a:r>
            <a:r>
              <a:rPr sz="1800" b="0">
                <a:solidFill>
                  <a:srgbClr val="1F2D3A"/>
                </a:solidFill>
              </a:rPr>
              <a:t> sembol/dize gizleme, düzleştirmeye giriş (tanışma)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Bu hafta (9):</a:t>
            </a:r>
            <a:r>
              <a:rPr sz="1800" b="0">
                <a:solidFill>
                  <a:srgbClr val="1F2D3A"/>
                </a:solidFill>
              </a:rPr>
              <a:t> aynı teknikler </a:t>
            </a:r>
            <a:r>
              <a:rPr sz="1800" b="1">
                <a:solidFill>
                  <a:srgbClr val="1F2D3A"/>
                </a:solidFill>
              </a:rPr>
              <a:t>ileri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nasıl ölçülür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11. hafta:</a:t>
            </a:r>
            <a:r>
              <a:rPr sz="1800" b="0">
                <a:solidFill>
                  <a:srgbClr val="1F2D3A"/>
                </a:solidFill>
              </a:rPr>
              <a:t> whitebox (anahtar için)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14. hafta:</a:t>
            </a:r>
            <a:r>
              <a:rPr sz="1800" b="0">
                <a:solidFill>
                  <a:srgbClr val="1F2D3A"/>
                </a:solidFill>
              </a:rPr>
              <a:t> aynı kuralların </a:t>
            </a:r>
            <a:r>
              <a:rPr sz="1800" b="1">
                <a:solidFill>
                  <a:srgbClr val="1F2D3A"/>
                </a:solidFill>
              </a:rPr>
              <a:t>otomatik</a:t>
            </a:r>
            <a:r>
              <a:rPr sz="1800" b="0">
                <a:solidFill>
                  <a:srgbClr val="1F2D3A"/>
                </a:solidFill>
              </a:rPr>
              <a:t> hali (Tigress)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Bu üç hafta bir bütün: kural → whitebox → otomasyon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ÖÇ.3</a:t>
            </a:r>
            <a:r>
              <a:rPr sz="2000" b="0">
                <a:solidFill>
                  <a:srgbClr val="1F2D3A"/>
                </a:solidFill>
              </a:rPr>
              <a:t> (ikili uygulama korumaları)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bir </a:t>
            </a:r>
            <a:r>
              <a:rPr sz="2000" b="1">
                <a:solidFill>
                  <a:srgbClr val="1F2D3A"/>
                </a:solidFill>
              </a:rPr>
              <a:t>güvenlik kuralı</a:t>
            </a:r>
            <a:r>
              <a:rPr sz="2000" b="0">
                <a:solidFill>
                  <a:srgbClr val="1F2D3A"/>
                </a:solidFill>
              </a:rPr>
              <a:t> olarak yazmak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tekniğin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sınırını</a:t>
            </a:r>
            <a:r>
              <a:rPr sz="2000" b="0">
                <a:solidFill>
                  <a:srgbClr val="1F2D3A"/>
                </a:solidFill>
              </a:rPr>
              <a:t> söylemek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korumayı </a:t>
            </a:r>
            <a:r>
              <a:rPr sz="2000" b="1">
                <a:solidFill>
                  <a:srgbClr val="1F2D3A"/>
                </a:solidFill>
              </a:rPr>
              <a:t>ölçüp</a:t>
            </a:r>
            <a:r>
              <a:rPr sz="2000" b="0">
                <a:solidFill>
                  <a:srgbClr val="1F2D3A"/>
                </a:solidFill>
              </a:rPr>
              <a:t> gerekçelendirmek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Gizleme neden bir kuraldır?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Önce bir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mobil uygulamayı kullanıcıya </a:t>
            </a:r>
            <a:r>
              <a:rPr sz="2000" b="1">
                <a:solidFill>
                  <a:srgbClr val="1F2D3A"/>
                </a:solidFill>
              </a:rPr>
              <a:t>teslim</a:t>
            </a:r>
            <a:r>
              <a:rPr sz="2000" b="0">
                <a:solidFill>
                  <a:srgbClr val="1F2D3A"/>
                </a:solidFill>
              </a:rPr>
              <a:t> ettiniz.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Kod artık kimin makinesinde çalışıyor?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Sunucudaki güvenlik denetimleriniz burada geçerli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kaç kez deneyebilir?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MATE: uçtaki saldırgan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</a:t>
            </a:r>
            <a:r>
              <a:rPr sz="2000" b="0">
                <a:solidFill>
                  <a:srgbClr val="1F2D3A"/>
                </a:solidFill>
              </a:rPr>
              <a:t>an-</a:t>
            </a:r>
            <a:r>
              <a:rPr sz="2000" b="1">
                <a:solidFill>
                  <a:srgbClr val="1F2D3A"/>
                </a:solidFill>
              </a:rPr>
              <a:t>A</a:t>
            </a:r>
            <a:r>
              <a:rPr sz="2000" b="0">
                <a:solidFill>
                  <a:srgbClr val="1F2D3A"/>
                </a:solidFill>
              </a:rPr>
              <a:t>t-</a:t>
            </a:r>
            <a:r>
              <a:rPr sz="2000" b="1">
                <a:solidFill>
                  <a:srgbClr val="1F2D3A"/>
                </a:solidFill>
              </a:rPr>
              <a:t>T</a:t>
            </a:r>
            <a:r>
              <a:rPr sz="2000" b="0">
                <a:solidFill>
                  <a:srgbClr val="1F2D3A"/>
                </a:solidFill>
              </a:rPr>
              <a:t>he-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nd = programın kendisine sahip saldırgan.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İkili dosya onda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Belleği okuyup değiştirebilir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derleyici, hata ayıklayıcı elinde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İstediği kadar dener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Buna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da denir (1. hafta).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MATE saldırgan modeli — şema</a:t>
            </a:r>
          </a:p>
        </p:txBody>
      </p:sp>
      <p:pic>
        <p:nvPicPr>
          <p:cNvPr id="7" name="Picture 6" descr="h09-03-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Kara kutu ≠ beyaz kutu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653"/>
                <a:gridCol w="3756430"/>
                <a:gridCol w="5187451"/>
              </a:tblGrid>
              <a:tr h="351129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Kara kutu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Beyaz kutu (MATE)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Görür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Girdi/çıktı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Her şey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Uzak sunucu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Saldırganın cihazı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Deneme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Savunma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Kripto,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gizleme, RASP, whitebox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Kripto </a:t>
            </a:r>
            <a:r>
              <a:rPr sz="1800" b="1">
                <a:solidFill>
                  <a:srgbClr val="1F2D3A"/>
                </a:solidFill>
              </a:rPr>
              <a:t>kara kutu</a:t>
            </a:r>
            <a:r>
              <a:rPr sz="1800" b="0">
                <a:solidFill>
                  <a:srgbClr val="1F2D3A"/>
                </a:solidFill>
              </a:rPr>
              <a:t> varsayar; teslimde bu varsayım çöker.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Dürüst gerçek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Yeterli zamanı, becerisi ve motivasyonu olan saldırgan </a:t>
            </a:r>
            <a:r>
              <a:rPr sz="2000" b="1">
                <a:solidFill>
                  <a:srgbClr val="1F2D3A"/>
                </a:solidFill>
              </a:rPr>
              <a:t>her gizlemeyi</a:t>
            </a:r>
            <a:r>
              <a:rPr sz="2000" b="0">
                <a:solidFill>
                  <a:srgbClr val="1F2D3A"/>
                </a:solidFill>
              </a:rPr>
              <a:t> çözer.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Cookbook (Tarif 12.1): anti-tampering "kırılamaz" değildir.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Öyleyse amaç ne?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Amaç: kırmayı ekonomik olmaktan çıkarmak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bir </a:t>
            </a:r>
            <a:r>
              <a:rPr sz="2000" b="1">
                <a:solidFill>
                  <a:srgbClr val="1F2D3A"/>
                </a:solidFill>
              </a:rPr>
              <a:t>maliyet yükseltme</a:t>
            </a:r>
            <a:r>
              <a:rPr sz="2000" b="0">
                <a:solidFill>
                  <a:srgbClr val="1F2D3A"/>
                </a:solidFill>
              </a:rPr>
              <a:t> aracıdır, sır saklama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Kırmayı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yap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Otomatikleştirmeyi </a:t>
            </a:r>
            <a:r>
              <a:rPr sz="2000" b="1">
                <a:solidFill>
                  <a:srgbClr val="1F2D3A"/>
                </a:solidFill>
              </a:rPr>
              <a:t>zorlaştır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Diğer katmanlara </a:t>
            </a:r>
            <a:r>
              <a:rPr sz="2000" b="1">
                <a:solidFill>
                  <a:srgbClr val="1F2D3A"/>
                </a:solidFill>
              </a:rPr>
              <a:t>zaman kazandır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Bunları üç kurala dökelim.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1 — Maliyeti değerin üstüne çıkar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Saldırı, korunan varlıktan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 TL'lik sırrı 1000 TL'lik çabayla korumak: israf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1000 TL'lik sırrı 10 TL'lik çabayla korumak: yetersiz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Önce varlığın değerini belirle</a:t>
            </a:r>
            <a:r>
              <a:rPr sz="2000" b="0">
                <a:solidFill>
                  <a:srgbClr val="1F2D3A"/>
                </a:solidFill>
              </a:rPr>
              <a:t>, sonra korumayı seç.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2 — Otomasyonu kır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kopyada işe yarayan saldırı, </a:t>
            </a:r>
            <a:r>
              <a:rPr sz="2000" b="1">
                <a:solidFill>
                  <a:srgbClr val="1F2D3A"/>
                </a:solidFill>
              </a:rPr>
              <a:t>bütün</a:t>
            </a:r>
            <a:r>
              <a:rPr sz="2000" b="0">
                <a:solidFill>
                  <a:srgbClr val="1F2D3A"/>
                </a:solidFill>
              </a:rPr>
              <a:t> kopyalarda işe yaramasın.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Bunun adı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(bu haftanın 5. bölümü)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14. haftada araçla (Tigress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kırık, her yeri açmamalı.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3 — Diğer katmanlara zaman kazandır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tek başına savunma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; bir </a:t>
            </a:r>
            <a:r>
              <a:rPr sz="2000" b="1">
                <a:solidFill>
                  <a:srgbClr val="1F2D3A"/>
                </a:solidFill>
              </a:rPr>
              <a:t>katman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(6. hafta) çalışırken korur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denetimi, sunucu denetimi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Anahtar/sürüm yenilenene kadar </a:t>
            </a:r>
            <a:r>
              <a:rPr sz="2000" b="1">
                <a:solidFill>
                  <a:srgbClr val="1F2D3A"/>
                </a:solidFill>
              </a:rPr>
              <a:t>dayanmak</a:t>
            </a:r>
            <a:r>
              <a:rPr sz="2000" b="0">
                <a:solidFill>
                  <a:srgbClr val="1F2D3A"/>
                </a:solidFill>
              </a:rPr>
              <a:t> yeter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Kaynağın dili: her önlem bir "kural"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Teknik kılavuz her önlemi üç başlıkla yazar: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Açıklama</a:t>
            </a:r>
            <a:r>
              <a:rPr sz="1800" b="0">
                <a:solidFill>
                  <a:srgbClr val="1F2D3A"/>
                </a:solidFill>
              </a:rPr>
              <a:t> — neyi korur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Uygulama</a:t>
            </a:r>
            <a:r>
              <a:rPr sz="1800" b="0">
                <a:solidFill>
                  <a:srgbClr val="1F2D3A"/>
                </a:solidFill>
              </a:rPr>
              <a:t> — nasıl yapılır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Örnek kullanım</a:t>
            </a:r>
            <a:r>
              <a:rPr sz="1800" b="0">
                <a:solidFill>
                  <a:srgbClr val="1F2D3A"/>
                </a:solidFill>
              </a:rPr>
              <a:t> — nerede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Çoğu zaman bir </a:t>
            </a:r>
            <a:r>
              <a:rPr sz="1800" b="1">
                <a:solidFill>
                  <a:srgbClr val="1F2D3A"/>
                </a:solidFill>
              </a:rPr>
              <a:t>uyum kimliğiyle</a:t>
            </a:r>
            <a:r>
              <a:rPr sz="1800" b="0">
                <a:solidFill>
                  <a:srgbClr val="1F2D3A"/>
                </a:solidFill>
              </a:rPr>
              <a:t> (ör. "hassas veri düz loglanmaz").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8901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Biz de öyle yazacağız: </a:t>
            </a:r>
            <a:r>
              <a:rPr sz="1800" b="0" i="1">
                <a:solidFill>
                  <a:srgbClr val="1F2D3A"/>
                </a:solidFill>
              </a:rPr>
              <a:t>neyi korur · nasıl · maliyet · sınır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Taksonomi ve kural şablonu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neyi gizler?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Collberg'in sınıflandırması: gizlemeyi </a:t>
            </a:r>
            <a:r>
              <a:rPr sz="2000" b="1">
                <a:solidFill>
                  <a:srgbClr val="1F2D3A"/>
                </a:solidFill>
              </a:rPr>
              <a:t>neyi gizlediğine</a:t>
            </a:r>
            <a:r>
              <a:rPr sz="2000" b="0">
                <a:solidFill>
                  <a:srgbClr val="1F2D3A"/>
                </a:solidFill>
              </a:rPr>
              <a:t> göre ayırırız.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Beş aile var. Sırayla görelim.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Aile 1 — Düzen (layout)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Neyi gizler?</a:t>
            </a:r>
            <a:r>
              <a:rPr sz="1800" b="0">
                <a:solidFill>
                  <a:srgbClr val="1F2D3A"/>
                </a:solidFill>
              </a:rPr>
              <a:t> Adları, biçimi, meta veriyi.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Sembolleri görünmez yapmak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Fonksiyon/dosya adlarını anlamsızlaştırmak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Sürümde günlüğü kaldırmak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343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haftada tanıştık; bu hafta derinleştiriyoruz.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Aile 2 —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Neyi gizler?</a:t>
            </a:r>
            <a:r>
              <a:rPr sz="1800" b="0">
                <a:solidFill>
                  <a:srgbClr val="1F2D3A"/>
                </a:solidFill>
              </a:rPr>
              <a:t> Sabitleri, dizgeleri, değişkenleri.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Dize kodlama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Sabit dönüşümleri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Değişken bölme/birleştirme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Opak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Bu haftanın 4. bölümü.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Aile 3 — Kontrol akışı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Neyi gizler?</a:t>
            </a:r>
            <a:r>
              <a:rPr sz="1800" b="0">
                <a:solidFill>
                  <a:srgbClr val="1F2D3A"/>
                </a:solidFill>
              </a:rPr>
              <a:t> Algoritmanın yapısını.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Kontrol akışı düzleştirme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Opak yüklemler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Sahte ve ölü dallar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Rastgele çıkış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Bu haftanın 3. bölümü (birazdan).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Aile 4 — Önleyici (anti-analysis)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Neyi gizler?</a:t>
            </a:r>
            <a:r>
              <a:rPr sz="1800" b="0">
                <a:solidFill>
                  <a:srgbClr val="1F2D3A"/>
                </a:solidFill>
              </a:rPr>
              <a:t> Analiz araçlarının işini.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Tersine derleyiciyi yanıltan yapılar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Çalışma anında kod çözme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94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Kavram bu hafta, RASP 6. hafta.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Aile 5 — Sanallaştırma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Neyi gizler?</a:t>
            </a:r>
            <a:r>
              <a:rPr sz="1800" b="0">
                <a:solidFill>
                  <a:srgbClr val="1F2D3A"/>
                </a:solidFill>
              </a:rPr>
              <a:t> Makine kodunun kendisini.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4343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Fonksiyonu özel bir VM'in bayt koduna çevirmek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Kavram bu hafta (K-10), araçla 14. hafta (Tigress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Virtualize</a:t>
            </a:r>
            <a:r>
              <a:rPr sz="18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Sanallaştırma — şema</a:t>
            </a:r>
          </a:p>
        </p:txBody>
      </p:sp>
      <p:pic>
        <p:nvPicPr>
          <p:cNvPr id="7" name="Picture 6" descr="h09-06-sanal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Beş aile: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454647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Gizler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Ad, biçim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Sabit, dize,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Kontrol akışı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Önleyici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Araç işini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aileler tek başına değil, </a:t>
            </a:r>
            <a:r>
              <a:rPr sz="1800" b="1">
                <a:solidFill>
                  <a:srgbClr val="1F2D3A"/>
                </a:solidFill>
              </a:rPr>
              <a:t>birlikte</a:t>
            </a:r>
            <a:r>
              <a:rPr sz="1800" b="0">
                <a:solidFill>
                  <a:srgbClr val="1F2D3A"/>
                </a:solidFill>
              </a:rPr>
              <a:t> kullanılır.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Beş aile — güç ↑ maliyet ↑</a:t>
            </a:r>
          </a:p>
        </p:txBody>
      </p:sp>
      <p:pic>
        <p:nvPicPr>
          <p:cNvPr id="7" name="Picture 6" descr="h09-01-bes-a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461769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Sahada: hepsi bir arada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Sertifikalı bir üründe listelenen native önlemler bu haritanın </a:t>
            </a:r>
            <a:r>
              <a:rPr sz="2000" b="1">
                <a:solidFill>
                  <a:srgbClr val="1F2D3A"/>
                </a:solidFill>
              </a:rPr>
              <a:t>tamamını</a:t>
            </a:r>
            <a:r>
              <a:rPr sz="2000" b="0">
                <a:solidFill>
                  <a:srgbClr val="1F2D3A"/>
                </a:solidFill>
              </a:rPr>
              <a:t> kapsar: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sembol gizleme · ad anlamsızlaştırma · aritmetik dönüşüm · dize kodlama · opak boolean · sahte işlem · ölü dal · düzleştirme · rastgele çıkış · günlük kaldırma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553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 tek başına güçlü değil; güç </a:t>
            </a:r>
            <a:r>
              <a:rPr sz="2000" b="1">
                <a:solidFill>
                  <a:srgbClr val="1F2D3A"/>
                </a:solidFill>
              </a:rPr>
              <a:t>birliktelikten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ne VERİR?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Statik analize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sembol, tersine derleme)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Otomatik saldırıya </a:t>
            </a:r>
            <a:r>
              <a:rPr sz="2000" b="1">
                <a:solidFill>
                  <a:srgbClr val="1F2D3A"/>
                </a:solidFill>
              </a:rPr>
              <a:t>direnç</a:t>
            </a:r>
            <a:r>
              <a:rPr sz="2000" b="0">
                <a:solidFill>
                  <a:srgbClr val="1F2D3A"/>
                </a:solidFill>
              </a:rPr>
              <a:t> (çeşitlendirmeyle)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Diğer katmanlara </a:t>
            </a:r>
            <a:r>
              <a:rPr sz="2000" b="1">
                <a:solidFill>
                  <a:srgbClr val="1F2D3A"/>
                </a:solidFill>
              </a:rPr>
              <a:t>zaman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Ölçülebilir</a:t>
            </a:r>
            <a:r>
              <a:rPr sz="2000" b="0">
                <a:solidFill>
                  <a:srgbClr val="1F2D3A"/>
                </a:solidFill>
              </a:rPr>
              <a:t> bir maliyet artışı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ne VERMEZ?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sırrın </a:t>
            </a:r>
            <a:r>
              <a:rPr sz="2000" b="1">
                <a:solidFill>
                  <a:srgbClr val="1F2D3A"/>
                </a:solidFill>
              </a:rPr>
              <a:t>gizliliği</a:t>
            </a:r>
            <a:r>
              <a:rPr sz="2000" b="0">
                <a:solidFill>
                  <a:srgbClr val="1F2D3A"/>
                </a:solidFill>
              </a:rPr>
              <a:t> → o kriptonun işi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Bellekten okumaya </a:t>
            </a:r>
            <a:r>
              <a:rPr sz="2000" b="1">
                <a:solidFill>
                  <a:srgbClr val="1F2D3A"/>
                </a:solidFill>
              </a:rPr>
              <a:t>koruma</a:t>
            </a:r>
            <a:r>
              <a:rPr sz="2000" b="0">
                <a:solidFill>
                  <a:srgbClr val="1F2D3A"/>
                </a:solidFill>
              </a:rPr>
              <a:t> → RASP,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Kalıcı</a:t>
            </a:r>
            <a:r>
              <a:rPr sz="2000" b="0">
                <a:solidFill>
                  <a:srgbClr val="1F2D3A"/>
                </a:solidFill>
              </a:rPr>
              <a:t> güvenlik → "kırılamaz" yoktur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Bedava</a:t>
            </a:r>
            <a:r>
              <a:rPr sz="2000" b="0">
                <a:solidFill>
                  <a:srgbClr val="1F2D3A"/>
                </a:solidFill>
              </a:rPr>
              <a:t> koruma → her gizleme maliyet getirir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ne verir, ne vermez — şema</a:t>
            </a:r>
          </a:p>
        </p:txBody>
      </p:sp>
      <p:pic>
        <p:nvPicPr>
          <p:cNvPr id="7" name="Picture 6" descr="h09-14-ne-verir-ne-verm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42941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En 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anahtar saklama</a:t>
            </a:r>
            <a:r>
              <a:rPr sz="2000" b="0">
                <a:solidFill>
                  <a:srgbClr val="1F2D3A"/>
                </a:solidFill>
              </a:rPr>
              <a:t> sanmak.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Gömülü/gizlenmiş anahtar yine </a:t>
            </a:r>
            <a:r>
              <a:rPr sz="2000" b="1">
                <a:solidFill>
                  <a:srgbClr val="1F2D3A"/>
                </a:solidFill>
              </a:rPr>
              <a:t>oradadır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çalışırken onu kullanmak zorunda → bellekte açığa çıkar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Çözme mantığı da içeride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Gizlilik kriptonun işidir, gizlemenin değil.</a:t>
            </a:r>
            <a:r>
              <a:rPr sz="2000" b="0">
                <a:solidFill>
                  <a:srgbClr val="1F2D3A"/>
                </a:solidFill>
              </a:rPr>
              <a:t> (3. hafta)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"Koruma kuralı" şablonu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KURAL K-xx: &lt;teknik&gt;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Neyi korur?  : hangi varlık / kod bölümü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Hangi tehdit?: statik / dinamik / otomatik / kurcalama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Nasıl?       : bir cümle (kavram)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Maliyet      : boyut, hız, bakım, hata ayıklama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Sınır        : neyi korumaz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Ölçüm        : etkinlik nasıl doğrulanır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"Ölçüm" satırı şart?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"var/yok" değildir.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(13. hafta) her katmanın saldırıyı </a:t>
            </a:r>
            <a:r>
              <a:rPr sz="2000" b="1">
                <a:solidFill>
                  <a:srgbClr val="1F2D3A"/>
                </a:solidFill>
              </a:rPr>
              <a:t>ne kadar geciktirdiğini</a:t>
            </a:r>
            <a:r>
              <a:rPr sz="2000" b="0">
                <a:solidFill>
                  <a:srgbClr val="1F2D3A"/>
                </a:solidFill>
              </a:rPr>
              <a:t> sorar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Ölçümsüz koruma =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, kanıt değil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Projede S9'u bu şablonla yazacaksınız.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ölçüt — şema</a:t>
            </a:r>
          </a:p>
        </p:txBody>
      </p:sp>
      <p:pic>
        <p:nvPicPr>
          <p:cNvPr id="7" name="Picture 6" descr="h09-08-dort-ol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6357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MATE saldırgan kara kutudan nasıl ayrılır?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Gizlemenin üç kuralı neydi?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Gizleme bir anahtarı korur mu? Neden?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MATE</a:t>
            </a:r>
            <a:r>
              <a:rPr sz="1800" b="0">
                <a:solidFill>
                  <a:srgbClr val="1F2D3A"/>
                </a:solidFill>
              </a:rPr>
              <a:t> programa sahiptir (kod/bellek onda, sınırsız deneme); kara kutu yalnız girdi/çıktıyı görür.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Maliyeti değerin üstüne çıkar · otomasyonu kır (çeşitlendir) · diğer katmanlara zaman kazandır.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Hayır.</a:t>
            </a:r>
            <a:r>
              <a:rPr sz="1800" b="0">
                <a:solidFill>
                  <a:srgbClr val="1F2D3A"/>
                </a:solidFill>
              </a:rPr>
              <a:t> Anahtar çalışırken bellekte açığa çıkar ve çözme mantığı içeridedir; gizlilik kriptonun işidir.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Önce temel kavramlar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haftanın konusu </a:t>
            </a:r>
            <a:r>
              <a:rPr sz="2000" b="1">
                <a:solidFill>
                  <a:srgbClr val="1F2D3A"/>
                </a:solidFill>
              </a:rPr>
              <a:t>kod gizleme</a:t>
            </a:r>
            <a:r>
              <a:rPr sz="2000" b="0">
                <a:solidFill>
                  <a:srgbClr val="1F2D3A"/>
                </a:solidFill>
              </a:rPr>
              <a:t>. Ama önce birkaç temel terimi netleştirelim.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terimleri bilmeden konu </a:t>
            </a:r>
            <a:r>
              <a:rPr sz="2000" b="1">
                <a:solidFill>
                  <a:srgbClr val="1F2D3A"/>
                </a:solidFill>
              </a:rPr>
              <a:t>havada kalır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 şey bilmediğinizi varsayıyoruz — bu iyi bir başlangıç.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 kod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Sizin yazdığınız, </a:t>
            </a:r>
            <a:r>
              <a:rPr sz="2000" b="1">
                <a:solidFill>
                  <a:srgbClr val="1F2D3A"/>
                </a:solidFill>
              </a:rPr>
              <a:t>insanın okuyabildiği</a:t>
            </a:r>
            <a:r>
              <a:rPr sz="2000" b="0">
                <a:solidFill>
                  <a:srgbClr val="1F2D3A"/>
                </a:solidFill>
              </a:rPr>
              <a:t> program metni (ör. C dosyası).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topla(int a, int b) { return a + b;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Kaynak kod </a:t>
            </a:r>
            <a:r>
              <a:rPr sz="2000" b="1">
                <a:solidFill>
                  <a:srgbClr val="1F2D3A"/>
                </a:solidFill>
              </a:rPr>
              <a:t>derlenir</a:t>
            </a:r>
            <a:r>
              <a:rPr sz="2000" b="0">
                <a:solidFill>
                  <a:srgbClr val="1F2D3A"/>
                </a:solidFill>
              </a:rPr>
              <a:t> ve makinenin çalıştırdığı biçime döner.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Derleyici ve ikili dosya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Derleyici</a:t>
            </a:r>
            <a:r>
              <a:rPr sz="2000" b="0">
                <a:solidFill>
                  <a:srgbClr val="1F2D3A"/>
                </a:solidFill>
              </a:rPr>
              <a:t> (compiler): kaynak kodu </a:t>
            </a:r>
            <a:r>
              <a:rPr sz="2000" b="1">
                <a:solidFill>
                  <a:srgbClr val="1F2D3A"/>
                </a:solidFill>
              </a:rPr>
              <a:t>makine koduna</a:t>
            </a:r>
            <a:r>
              <a:rPr sz="2000" b="0">
                <a:solidFill>
                  <a:srgbClr val="1F2D3A"/>
                </a:solidFill>
              </a:rPr>
              <a:t> çeviren program (gcc, clang).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İkili dosya</a:t>
            </a:r>
            <a:r>
              <a:rPr sz="2000" b="0">
                <a:solidFill>
                  <a:srgbClr val="1F2D3A"/>
                </a:solidFill>
              </a:rPr>
              <a:t> (binary): derleme sonucu; bilgisayarın doğrudan çalıştırdığı dosya (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pic>
        <p:nvPicPr>
          <p:cNvPr id="8" name="Picture 7" descr="h09-13-derleme-zinc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2609088"/>
            <a:ext cx="7672173" cy="316622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Makine kodu ve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Makine kodu:</a:t>
            </a:r>
            <a:r>
              <a:rPr sz="2000" b="0">
                <a:solidFill>
                  <a:srgbClr val="1F2D3A"/>
                </a:solidFill>
              </a:rPr>
              <a:t> işlemcinin anladığı sayısal komutlar.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Assembly:</a:t>
            </a:r>
            <a:r>
              <a:rPr sz="2000" b="0">
                <a:solidFill>
                  <a:srgbClr val="1F2D3A"/>
                </a:solidFill>
              </a:rPr>
              <a:t> makine kodunun insana biraz daha okunur hali (</a:t>
            </a:r>
            <a:r>
              <a:rPr sz="2000" b="0">
                <a:solidFill>
                  <a:srgbClr val="A1123F"/>
                </a:solidFill>
                <a:latin typeface="Consolas"/>
              </a:rPr>
              <a:t>mov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cmp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jmp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İkili dosyayı açtığınızda gördüğünüz şey budur.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Tersine mühendislik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Tersine mühendislik</a:t>
            </a:r>
            <a:r>
              <a:rPr sz="2000" b="0">
                <a:solidFill>
                  <a:srgbClr val="1F2D3A"/>
                </a:solidFill>
              </a:rPr>
              <a:t> (reverse engineering): ikili dosyaya bakıp programın </a:t>
            </a:r>
            <a:r>
              <a:rPr sz="2000" b="1">
                <a:solidFill>
                  <a:srgbClr val="1F2D3A"/>
                </a:solidFill>
              </a:rPr>
              <a:t>ne yaptığını</a:t>
            </a:r>
            <a:r>
              <a:rPr sz="2000" b="0">
                <a:solidFill>
                  <a:srgbClr val="1F2D3A"/>
                </a:solidFill>
              </a:rPr>
              <a:t> anlamaya çalışmak.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Saldırganın temel işi budur.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Tersine derleyici (decompiler)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Tersine derleyici</a:t>
            </a:r>
            <a:r>
              <a:rPr sz="2000" b="0">
                <a:solidFill>
                  <a:srgbClr val="1F2D3A"/>
                </a:solidFill>
              </a:rPr>
              <a:t> (decompiler): ikili dosyayı geri, okunabilir koda yakın bir biçime çeviren araç.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Örnekler: Ghidra, 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kaynağa erişimi olmayan biri, ikiliye bakarak mantığı çıkarsın.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strings</a:t>
            </a:r>
            <a:r>
              <a:rPr sz="3000" b="1">
                <a:solidFill>
                  <a:srgbClr val="006D77"/>
                </a:solidFill>
              </a:rPr>
              <a:t> komutu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`strings`:</a:t>
            </a:r>
            <a:r>
              <a:rPr sz="2000" b="0">
                <a:solidFill>
                  <a:srgbClr val="1F2D3A"/>
                </a:solidFill>
              </a:rPr>
              <a:t> bir ikili dosyanın içindeki </a:t>
            </a:r>
            <a:r>
              <a:rPr sz="2000" b="1">
                <a:solidFill>
                  <a:srgbClr val="1F2D3A"/>
                </a:solidFill>
              </a:rPr>
              <a:t>okunabilir metinleri</a:t>
            </a:r>
            <a:r>
              <a:rPr sz="2000" b="0">
                <a:solidFill>
                  <a:srgbClr val="1F2D3A"/>
                </a:solidFill>
              </a:rPr>
              <a:t> listeleyen basit araç.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 program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"Lisans gecersiz"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"http://..."</a:t>
            </a:r>
            <a:r>
              <a:rPr sz="2000" b="0">
                <a:solidFill>
                  <a:srgbClr val="1F2D3A"/>
                </a:solidFill>
              </a:rPr>
              <a:t> gibi metinler.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Saldırganın attığı </a:t>
            </a:r>
            <a:r>
              <a:rPr sz="2000" b="1">
                <a:solidFill>
                  <a:srgbClr val="1F2D3A"/>
                </a:solidFill>
              </a:rPr>
              <a:t>ilk adım</a:t>
            </a:r>
            <a:r>
              <a:rPr sz="2000" b="0">
                <a:solidFill>
                  <a:srgbClr val="1F2D3A"/>
                </a:solidFill>
              </a:rPr>
              <a:t> genelde budur.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Sembol ve sembol tablosu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Sembol:</a:t>
            </a:r>
            <a:r>
              <a:rPr sz="2000" b="0">
                <a:solidFill>
                  <a:srgbClr val="1F2D3A"/>
                </a:solidFill>
              </a:rPr>
              <a:t> ikili dosyadaki bir fonksiyonun ya da değişkenin </a:t>
            </a:r>
            <a:r>
              <a:rPr sz="2000" b="1">
                <a:solidFill>
                  <a:srgbClr val="1F2D3A"/>
                </a:solidFill>
              </a:rPr>
              <a:t>adı</a:t>
            </a:r>
            <a:r>
              <a:rPr sz="2000" b="0">
                <a:solidFill>
                  <a:srgbClr val="1F2D3A"/>
                </a:solidFill>
              </a:rPr>
              <a:t> (ör. </a:t>
            </a:r>
            <a:r>
              <a:rPr sz="2000" b="0">
                <a:solidFill>
                  <a:srgbClr val="A1123F"/>
                </a:solidFill>
                <a:latin typeface="Consolas"/>
              </a:rPr>
              <a:t>lisans_dogrula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Sembol tablosu:</a:t>
            </a:r>
            <a:r>
              <a:rPr sz="2000" b="0">
                <a:solidFill>
                  <a:srgbClr val="1F2D3A"/>
                </a:solidFill>
              </a:rPr>
              <a:t> bu adların listesi.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lisans_dogrula</a:t>
            </a:r>
            <a:r>
              <a:rPr sz="2000" b="0">
                <a:solidFill>
                  <a:srgbClr val="1F2D3A"/>
                </a:solidFill>
              </a:rPr>
              <a:t> adı görünüyorsa, saldırgan nereye bakacağını bilir.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ayıklayıcı (debugger)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Hata ayıklayıcı</a:t>
            </a:r>
            <a:r>
              <a:rPr sz="2000" b="0">
                <a:solidFill>
                  <a:srgbClr val="1F2D3A"/>
                </a:solidFill>
              </a:rPr>
              <a:t> (debugger): programı </a:t>
            </a:r>
            <a:r>
              <a:rPr sz="2000" b="1">
                <a:solidFill>
                  <a:srgbClr val="1F2D3A"/>
                </a:solidFill>
              </a:rPr>
              <a:t>adım adım</a:t>
            </a:r>
            <a:r>
              <a:rPr sz="2000" b="0">
                <a:solidFill>
                  <a:srgbClr val="1F2D3A"/>
                </a:solidFill>
              </a:rPr>
              <a:t> çalıştıran, değişkenleri gösteren araç (gdb, lldb).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programı durdurup belleği okuyabilir, değerleri değiştirebilir.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Bit, bayt, onaltılık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Bit:</a:t>
            </a:r>
            <a:r>
              <a:rPr sz="2000" b="0">
                <a:solidFill>
                  <a:srgbClr val="1F2D3A"/>
                </a:solidFill>
              </a:rPr>
              <a:t> 0 veya 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Bayt:</a:t>
            </a:r>
            <a:r>
              <a:rPr sz="2000" b="0">
                <a:solidFill>
                  <a:srgbClr val="1F2D3A"/>
                </a:solidFill>
              </a:rPr>
              <a:t> 8 bit.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Onaltılık (hex):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0x</a:t>
            </a:r>
            <a:r>
              <a:rPr sz="2000" b="0">
                <a:solidFill>
                  <a:srgbClr val="1F2D3A"/>
                </a:solidFill>
              </a:rPr>
              <a:t> ile yazılır; </a:t>
            </a:r>
            <a:r>
              <a:rPr sz="2000" b="0">
                <a:solidFill>
                  <a:srgbClr val="A1123F"/>
                </a:solidFill>
                <a:latin typeface="Consolas"/>
              </a:rPr>
              <a:t>0x2A</a:t>
            </a:r>
            <a:r>
              <a:rPr sz="2000" b="0">
                <a:solidFill>
                  <a:srgbClr val="1F2D3A"/>
                </a:solidFill>
              </a:rPr>
              <a:t> = 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Kodda </a:t>
            </a:r>
            <a:r>
              <a:rPr sz="2000" b="0">
                <a:solidFill>
                  <a:srgbClr val="A1123F"/>
                </a:solidFill>
                <a:latin typeface="Consolas"/>
              </a:rPr>
              <a:t>0x5A</a:t>
            </a:r>
            <a:r>
              <a:rPr sz="2000" b="0">
                <a:solidFill>
                  <a:srgbClr val="1F2D3A"/>
                </a:solidFill>
              </a:rPr>
              <a:t> gibi değerler göreceğiz; bunlar sadece sayılardır.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XOR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): iki bit farklıysa 1, aynıysa 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Özelliği: </a:t>
            </a:r>
            <a:r>
              <a:rPr sz="2000" b="0">
                <a:solidFill>
                  <a:srgbClr val="A1123F"/>
                </a:solidFill>
                <a:latin typeface="Consolas"/>
              </a:rPr>
              <a:t>a ^ b ^ b == a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kendini geri alır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 = a ^ 0x5A;   /* şifrele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 = c ^ 0x5A;   /* geri çöz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0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Gizlemede çok kullanılır çünkü tersine çevrilebilir.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Entropi (rastgelelik)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Entropi:</a:t>
            </a:r>
            <a:r>
              <a:rPr sz="2000" b="0">
                <a:solidFill>
                  <a:srgbClr val="1F2D3A"/>
                </a:solidFill>
              </a:rPr>
              <a:t> bir verinin ne kadar "rastgele" göründüğü.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Kriptografik anahtarlar </a:t>
            </a:r>
            <a:r>
              <a:rPr sz="2000" b="1">
                <a:solidFill>
                  <a:srgbClr val="1F2D3A"/>
                </a:solidFill>
              </a:rPr>
              <a:t>yüksek entropili</a:t>
            </a:r>
            <a:r>
              <a:rPr sz="2000" b="0">
                <a:solidFill>
                  <a:srgbClr val="1F2D3A"/>
                </a:solidFill>
              </a:rPr>
              <a:t> görünür (düzensiz baytlar).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Saldırgan, ikilide yüksek entropili bir blok görürse "burada anahtar olabilir" der.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Fonksiyon, dal, koşul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Fonksiyon:</a:t>
            </a:r>
            <a:r>
              <a:rPr sz="2000" b="0">
                <a:solidFill>
                  <a:srgbClr val="1F2D3A"/>
                </a:solidFill>
              </a:rPr>
              <a:t> bir işi yapan kod bloğu (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Dal (branch):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gibi bir yol ayrımı.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Koşul:</a:t>
            </a:r>
            <a:r>
              <a:rPr sz="2000" b="0">
                <a:solidFill>
                  <a:srgbClr val="1F2D3A"/>
                </a:solidFill>
              </a:rPr>
              <a:t> dalın hangi yöne gideceğini belirleyen ifade.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blok (basic block)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Temel blok:</a:t>
            </a:r>
            <a:r>
              <a:rPr sz="2000" b="0">
                <a:solidFill>
                  <a:srgbClr val="1F2D3A"/>
                </a:solidFill>
              </a:rPr>
              <a:t> dalsız, baştan sona akan komut dizisi.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gelince blok biter, iki yeni blok başlar.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 = temel blokların birbirine bağlanması.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grafiği (CFG)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CFG</a:t>
            </a:r>
            <a:r>
              <a:rPr sz="2000" b="0">
                <a:solidFill>
                  <a:srgbClr val="1F2D3A"/>
                </a:solidFill>
              </a:rPr>
              <a:t> (Control Flow Graph): temel blokları </a:t>
            </a:r>
            <a:r>
              <a:rPr sz="2000" b="1">
                <a:solidFill>
                  <a:srgbClr val="1F2D3A"/>
                </a:solidFill>
              </a:rPr>
              <a:t>düğüm</a:t>
            </a:r>
            <a:r>
              <a:rPr sz="2000" b="0">
                <a:solidFill>
                  <a:srgbClr val="1F2D3A"/>
                </a:solidFill>
              </a:rPr>
              <a:t>, geçişleri </a:t>
            </a:r>
            <a:r>
              <a:rPr sz="2000" b="1">
                <a:solidFill>
                  <a:srgbClr val="1F2D3A"/>
                </a:solidFill>
              </a:rPr>
              <a:t>kenar</a:t>
            </a:r>
            <a:r>
              <a:rPr sz="2000" b="0">
                <a:solidFill>
                  <a:srgbClr val="1F2D3A"/>
                </a:solidFill>
              </a:rPr>
              <a:t> yapan şema.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Programın "yol haritası"dır.</a:t>
            </a:r>
          </a:p>
        </p:txBody>
      </p:sp>
      <p:pic>
        <p:nvPicPr>
          <p:cNvPr id="8" name="Picture 7" descr="h09-12-c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2278888"/>
            <a:ext cx="7672173" cy="303952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Derleme bayrağı (flag)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Derleme bayrağı:</a:t>
            </a:r>
            <a:r>
              <a:rPr sz="2000" b="0">
                <a:solidFill>
                  <a:srgbClr val="1F2D3A"/>
                </a:solidFill>
              </a:rPr>
              <a:t> derleyiciye verilen seçenek (ör.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-DGUNLUK_ACIK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kaynağı farklı bayraklarla farklı derleyebilirsiniz (ör. günlüklü / günlüksüz).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Günlük (log)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Günlük:</a:t>
            </a:r>
            <a:r>
              <a:rPr sz="2000" b="0">
                <a:solidFill>
                  <a:srgbClr val="1F2D3A"/>
                </a:solidFill>
              </a:rPr>
              <a:t> programın çalışırken yazdığı bilgi mesajları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printf("...")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Sorun: hassas bilgi ya da iç durum günlüğe düşerse, saldırgan okur.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Artık şu terimleri biliyoruz: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kaynak · derleyici · ikili · tersine derleme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· sembol · hata ayıklayıcı · XOR · entropi · dal · temel blok · CFG · günlük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Bunları bu hafta boyunca </a:t>
            </a:r>
            <a:r>
              <a:rPr sz="2000" b="1">
                <a:solidFill>
                  <a:srgbClr val="1F2D3A"/>
                </a:solidFill>
              </a:rPr>
              <a:t>sürekli</a:t>
            </a:r>
            <a:r>
              <a:rPr sz="2000" b="0">
                <a:solidFill>
                  <a:srgbClr val="1F2D3A"/>
                </a:solidFill>
              </a:rPr>
              <a:t> kullanacağız. Takıldığınızda bu bölüme dönün.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cümlede bu haftanın sorusu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Programı kullanıcıya teslim ettim; </a:t>
            </a:r>
            <a:r>
              <a:rPr sz="2000" b="1">
                <a:solidFill>
                  <a:srgbClr val="1F2D3A"/>
                </a:solidFill>
              </a:rPr>
              <a:t>saldırgan artık ona sahip.</a:t>
            </a:r>
            <a:r>
              <a:rPr sz="2000" b="0">
                <a:solidFill>
                  <a:srgbClr val="1F2D3A"/>
                </a:solidFill>
              </a:rPr>
              <a:t> Kodumu okumasını ve değiştirmesini nasıl </a:t>
            </a:r>
            <a:r>
              <a:rPr sz="2000" b="1">
                <a:solidFill>
                  <a:srgbClr val="1F2D3A"/>
                </a:solidFill>
              </a:rPr>
              <a:t>zorlaştırırım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Yanıt: </a:t>
            </a:r>
            <a:r>
              <a:rPr sz="2000" b="1">
                <a:solidFill>
                  <a:srgbClr val="1F2D3A"/>
                </a:solidFill>
              </a:rPr>
              <a:t>kod gizleme kuralları.</a:t>
            </a:r>
            <a:r>
              <a:rPr sz="2000" b="0">
                <a:solidFill>
                  <a:srgbClr val="1F2D3A"/>
                </a:solidFill>
              </a:rPr>
              <a:t> Başlıyoruz.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Kontrol akışı kuralları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grafiği (CFG)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Derlenmiş bir fonksiyonun </a:t>
            </a:r>
            <a:r>
              <a:rPr sz="2000" b="1">
                <a:solidFill>
                  <a:srgbClr val="1F2D3A"/>
                </a:solidFill>
              </a:rPr>
              <a:t>iskeleti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denetim hangi sırayla?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dal başarıya gidiyor?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Saldırganın ilk işi bu iskeleti çıkarmaktır.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bölümün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düzleştirmeye </a:t>
            </a:r>
            <a:r>
              <a:rPr sz="2000" b="1">
                <a:solidFill>
                  <a:srgbClr val="1F2D3A"/>
                </a:solidFill>
              </a:rPr>
              <a:t>giriş</a:t>
            </a:r>
            <a:r>
              <a:rPr sz="2000" b="0">
                <a:solidFill>
                  <a:srgbClr val="1F2D3A"/>
                </a:solidFill>
              </a:rPr>
              <a:t> yaptık.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bölümde onu </a:t>
            </a:r>
            <a:r>
              <a:rPr sz="2000" b="1">
                <a:solidFill>
                  <a:srgbClr val="1F2D3A"/>
                </a:solidFill>
              </a:rPr>
              <a:t>güçlendiren</a:t>
            </a:r>
            <a:r>
              <a:rPr sz="2000" b="0">
                <a:solidFill>
                  <a:srgbClr val="1F2D3A"/>
                </a:solidFill>
              </a:rPr>
              <a:t> kuralları ekliyoruz: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K-01 opak yüklem · K-02 aritmetik kodlama · K-03 sahte/ölü · K-04 düzleştirme (derin) · K-05 rastgele çıkış · K-06 çağrı gizleme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24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Tüm örnekler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, tek denetim: 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K-01 · Opak yüklemler ve döngüler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Opak yüklem — şema</a:t>
            </a:r>
          </a:p>
        </p:txBody>
      </p:sp>
      <p:pic>
        <p:nvPicPr>
          <p:cNvPr id="7" name="Picture 6" descr="h09-02-opak-yuk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dalın </a:t>
            </a:r>
            <a:r>
              <a:rPr sz="2000" b="1">
                <a:solidFill>
                  <a:srgbClr val="1F2D3A"/>
                </a:solidFill>
              </a:rPr>
              <a:t>hangi koşulda</a:t>
            </a:r>
            <a:r>
              <a:rPr sz="2000" b="0">
                <a:solidFill>
                  <a:srgbClr val="1F2D3A"/>
                </a:solidFill>
              </a:rPr>
              <a:t> alındığını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döngünün </a:t>
            </a:r>
            <a:r>
              <a:rPr sz="2000" b="1">
                <a:solidFill>
                  <a:srgbClr val="1F2D3A"/>
                </a:solidFill>
              </a:rPr>
              <a:t>kaç kez</a:t>
            </a:r>
            <a:r>
              <a:rPr sz="2000" b="0">
                <a:solidFill>
                  <a:srgbClr val="1F2D3A"/>
                </a:solidFill>
              </a:rPr>
              <a:t> döndüğünü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Fikir:</a:t>
            </a:r>
            <a:r>
              <a:rPr sz="2000" b="0">
                <a:solidFill>
                  <a:srgbClr val="1F2D3A"/>
                </a:solidFill>
              </a:rPr>
              <a:t> değeri programcının bildiği ama aracın kolay çözemediği bir ifadeyle dallan.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Opak yüklem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x*(x+1) daima çifttir → sonuç daima true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opak_dogru(unsigned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((x * (x + 1)) &amp; 1u) ==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Programcı bilir: </a:t>
            </a:r>
            <a:r>
              <a:rPr sz="2000" b="1">
                <a:solidFill>
                  <a:srgbClr val="1F2D3A"/>
                </a:solidFill>
              </a:rPr>
              <a:t>hep true</a:t>
            </a:r>
            <a:r>
              <a:rPr sz="2000" b="0">
                <a:solidFill>
                  <a:srgbClr val="1F2D3A"/>
                </a:solidFill>
              </a:rPr>
              <a:t>. Statik analiz bunu kolay kanıtlayamaz.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Nasıl kullanılır?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(opak_dogru(sayac))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durum = gercek_adim(durum);   /* daima buraya girer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durum = sahte_adim(durum);    /* ölü yol: hiç çalışmaz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Analist iki yolu da "gerçek" sanır; zamanını sahte yola harcar.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Opak döngü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Kılavuz döngüleri ayrı kural yapar: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for/while </a:t>
            </a:r>
            <a:r>
              <a:rPr sz="2000" b="1">
                <a:solidFill>
                  <a:srgbClr val="1F2D3A"/>
                </a:solidFill>
              </a:rPr>
              <a:t>doğrudan görünmez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Düzleştirmenin </a:t>
            </a:r>
            <a:r>
              <a:rPr sz="2000" b="1">
                <a:solidFill>
                  <a:srgbClr val="1F2D3A"/>
                </a:solidFill>
              </a:rPr>
              <a:t>içine</a:t>
            </a:r>
            <a:r>
              <a:rPr sz="2000" b="0">
                <a:solidFill>
                  <a:srgbClr val="1F2D3A"/>
                </a:solidFill>
              </a:rPr>
              <a:t> gizlenir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Gövde küçük bloklara bölünür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Yineleme bir </a:t>
            </a:r>
            <a:r>
              <a:rPr sz="2000" b="1">
                <a:solidFill>
                  <a:srgbClr val="1F2D3A"/>
                </a:solidFill>
              </a:rPr>
              <a:t>durum değişkeniyle</a:t>
            </a:r>
            <a:r>
              <a:rPr sz="2000" b="0">
                <a:solidFill>
                  <a:srgbClr val="1F2D3A"/>
                </a:solidFill>
              </a:rPr>
              <a:t> yönetilir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038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"Şu döngü N kez dönüyor" bilgisi CFG'den okunmaz.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K-01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düşük–orta (fazladan aritmetik/dal)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bilinen opak yüklem kalıpları otomatik tanınır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Karşı önlem:</a:t>
            </a:r>
            <a:r>
              <a:rPr sz="1800" b="0">
                <a:solidFill>
                  <a:srgbClr val="1F2D3A"/>
                </a:solidFill>
              </a:rPr>
              <a:t> çeşitlendir (bölüm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önce/sonra temel blok sayısı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K-02 · Aritmetik kodlama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Sabitleri ve basit hesapları.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"Bu sayı 0x1F, bu işlem bir XOR" gibi </a:t>
            </a:r>
            <a:r>
              <a:rPr sz="2000" b="1">
                <a:solidFill>
                  <a:srgbClr val="1F2D3A"/>
                </a:solidFill>
              </a:rPr>
              <a:t>doğrudan okunabilir</a:t>
            </a:r>
            <a:r>
              <a:rPr sz="2000" b="0">
                <a:solidFill>
                  <a:srgbClr val="1F2D3A"/>
                </a:solidFill>
              </a:rPr>
              <a:t> ipuçlarını gizler.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Denk ifadeler (MBA)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işlemi, sonucu değişmeyen ama karmaşık görünen denkiyle değiştir: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 + b   ≡   (a ^ b) + 2*(a &amp;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 * 2   ≡   x &lt;&lt;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Sonuç aynı, görünüm karmaşık. (MBA = mixed boolean-arithmetic)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Sabiti gizle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0x2A doğrudan yazılmaz; iki parçadan üretilir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uint8_t esik(void)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a = 0x37, b = 0x1D;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(uint8_t)(a ^ b);   /* = 0x2A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İkili dosyada </a:t>
            </a:r>
            <a:r>
              <a:rPr sz="2000" b="0">
                <a:solidFill>
                  <a:srgbClr val="A1123F"/>
                </a:solidFill>
                <a:latin typeface="Consolas"/>
              </a:rPr>
              <a:t>0x2A</a:t>
            </a:r>
            <a:r>
              <a:rPr sz="2000" b="0">
                <a:solidFill>
                  <a:srgbClr val="1F2D3A"/>
                </a:solidFill>
              </a:rPr>
              <a:t> araması sonuç vermez.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K-02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MBA sadeleştiriciler (arybo/msynth) birçok ifadeyi açar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tek başına zayıf → kontrol akışıyla </a:t>
            </a:r>
            <a:r>
              <a:rPr sz="1800" b="1">
                <a:solidFill>
                  <a:srgbClr val="1F2D3A"/>
                </a:solidFill>
              </a:rPr>
              <a:t>birleştir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sabit için bayt/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araması boş dönmeli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K-03 · Sahte işlem ve ölü dal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Sahte işlem ≠ ölü dal — şema</a:t>
            </a:r>
          </a:p>
        </p:txBody>
      </p:sp>
      <p:pic>
        <p:nvPicPr>
          <p:cNvPr id="7" name="Picture 6" descr="h09-05-sahte-o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İkisi farklıdır!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Kılavuz bunları </a:t>
            </a:r>
            <a:r>
              <a:rPr sz="2000" b="1">
                <a:solidFill>
                  <a:srgbClr val="1F2D3A"/>
                </a:solidFill>
              </a:rPr>
              <a:t>ayrı</a:t>
            </a:r>
            <a:r>
              <a:rPr sz="2000" b="0">
                <a:solidFill>
                  <a:srgbClr val="1F2D3A"/>
                </a:solidFill>
              </a:rPr>
              <a:t> kurallar yapar. Fark kritik: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Sahte işlem:</a:t>
            </a:r>
            <a:r>
              <a:rPr sz="2000" b="0">
                <a:solidFill>
                  <a:srgbClr val="1F2D3A"/>
                </a:solidFill>
              </a:rPr>
              <a:t> çalışır, sonucu değiştirmez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Ölü dal:</a:t>
            </a:r>
            <a:r>
              <a:rPr sz="2000" b="0">
                <a:solidFill>
                  <a:srgbClr val="1F2D3A"/>
                </a:solidFill>
              </a:rPr>
              <a:t> hiç çalışmaz (opak yüklemle korunur)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K-03 · Karşılaştırma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391"/>
                <a:gridCol w="4944289"/>
                <a:gridCol w="3409854"/>
              </a:tblGrid>
              <a:tr h="357987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Sahte işlem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Ölü dal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Çalışır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(çalışmaz)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Amaç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Gerçeği kalabalıkta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yol göster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Sahte işlem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= crc32_guncelle(crc, veri,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^= (sabit ^ sabit);   /* = crc; sonuç aynı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sabit ^ sabit == 0</a:t>
            </a:r>
            <a:r>
              <a:rPr sz="2000" b="0">
                <a:solidFill>
                  <a:srgbClr val="1F2D3A"/>
                </a:solidFill>
              </a:rPr>
              <a:t> → CRC değişmez, ama kod kalabalıklaşır.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Ölü dal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(opak_yanlis()) {        /* daima false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sahte_kontrol();        /* hiç çalışmaz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Analist bu bloğu "gerçek" sanıp inceler; zaman kaybeder.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K-03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 (sahte işlem) → orta (ölü dallar CFG'yi büyütür)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ölü kod eleme, opak yüklem çözülürse dalı atar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Bağımlılık:</a:t>
            </a:r>
            <a:r>
              <a:rPr sz="1800" b="0">
                <a:solidFill>
                  <a:srgbClr val="1F2D3A"/>
                </a:solidFill>
              </a:rPr>
              <a:t> opak yüklemin </a:t>
            </a:r>
            <a:r>
              <a:rPr sz="1800" b="1">
                <a:solidFill>
                  <a:srgbClr val="1F2D3A"/>
                </a:solidFill>
              </a:rPr>
              <a:t>kalitesine</a:t>
            </a:r>
            <a:r>
              <a:rPr sz="1800" b="0">
                <a:solidFill>
                  <a:srgbClr val="1F2D3A"/>
                </a:solidFill>
              </a:rPr>
              <a:t> bağlı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ölü/gerçek dalı ayırt etme süresi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K-04 · Kontrol akışı düzleştirme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Algoritmanın </a:t>
            </a:r>
            <a:r>
              <a:rPr sz="2000" b="1">
                <a:solidFill>
                  <a:srgbClr val="1F2D3A"/>
                </a:solidFill>
              </a:rPr>
              <a:t>yapısını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Blokların doğal komşuluğunu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"Hangi bloktan hangisine gidilir" bilgisini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Fikir: dikey → yatay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Normal:</a:t>
            </a:r>
            <a:r>
              <a:rPr sz="2000" b="0">
                <a:solidFill>
                  <a:srgbClr val="1F2D3A"/>
                </a:solidFill>
              </a:rPr>
              <a:t> bloklar birbirini izler (dikey akış)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Düzleştirilmiş:</a:t>
            </a:r>
            <a:r>
              <a:rPr sz="2000" b="0">
                <a:solidFill>
                  <a:srgbClr val="1F2D3A"/>
                </a:solidFill>
              </a:rPr>
              <a:t> tüm bloklar tek </a:t>
            </a:r>
            <a:r>
              <a:rPr sz="2000" b="0">
                <a:solidFill>
                  <a:srgbClr val="A1123F"/>
                </a:solidFill>
                <a:latin typeface="Consolas"/>
              </a:rPr>
              <a:t>switch</a:t>
            </a:r>
            <a:r>
              <a:rPr sz="2000" b="0">
                <a:solidFill>
                  <a:srgbClr val="1F2D3A"/>
                </a:solidFill>
              </a:rPr>
              <a:t> dağıtıcıda (yatay)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 yalnız bir </a:t>
            </a:r>
            <a:r>
              <a:rPr sz="2000" b="1">
                <a:solidFill>
                  <a:srgbClr val="1F2D3A"/>
                </a:solidFill>
              </a:rPr>
              <a:t>durum değişkeninden</a:t>
            </a:r>
            <a:r>
              <a:rPr sz="2000" b="0">
                <a:solidFill>
                  <a:srgbClr val="1F2D3A"/>
                </a:solidFill>
              </a:rPr>
              <a:t> okunur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Şablon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BASLA;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(;;) switch (durum)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BASLA: durum = ADIM1;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ADIM1: durum = kosul ? ADIM2 : HATA;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ADIM2: durum = BITIR;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HATA: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BITIR: return IZIN;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default:    return RED;   /* rastgele çıkış (K-05)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Tek başına zayıf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söylemiştik: bu şablon deneyimli analiste kısa sürede çözülür.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Güç, güçlendirmelerden gelir.</a:t>
            </a:r>
            <a:r>
              <a:rPr sz="2000" b="0">
                <a:solidFill>
                  <a:srgbClr val="1F2D3A"/>
                </a:solidFill>
              </a:rPr>
              <a:t> Sırayla: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Güçlendirme 1 — durum değerleri (K-02)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 1, 2, 3</a:t>
            </a:r>
            <a:r>
              <a:rPr sz="2000" b="0">
                <a:solidFill>
                  <a:srgbClr val="1F2D3A"/>
                </a:solidFill>
              </a:rPr>
              <a:t> yerine dağınık, aritmetikle üretilen değerler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Ardışıklık </a:t>
            </a:r>
            <a:r>
              <a:rPr sz="2000" b="1">
                <a:solidFill>
                  <a:srgbClr val="1F2D3A"/>
                </a:solidFill>
              </a:rPr>
              <a:t>görünmez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adımın hangisini izlediği okunmaz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Güçlendirme 2 — sahte/ölü (K-03)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Sahte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'ler eklenir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gerçek</a:t>
            </a:r>
            <a:r>
              <a:rPr sz="2000" b="0">
                <a:solidFill>
                  <a:srgbClr val="1F2D3A"/>
                </a:solidFill>
              </a:rPr>
              <a:t>, ayırt etmek zorlaşır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Güçlendirme 3 — rastgele çıkış (K-05)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Hata, </a:t>
            </a:r>
            <a:r>
              <a:rPr sz="2000" b="0">
                <a:solidFill>
                  <a:srgbClr val="A1123F"/>
                </a:solidFill>
                <a:latin typeface="Consolas"/>
              </a:rPr>
              <a:t>default</a:t>
            </a:r>
            <a:r>
              <a:rPr sz="2000" b="0">
                <a:solidFill>
                  <a:srgbClr val="1F2D3A"/>
                </a:solidFill>
              </a:rPr>
              <a:t> dalından </a:t>
            </a:r>
            <a:r>
              <a:rPr sz="2000" b="1">
                <a:solidFill>
                  <a:srgbClr val="1F2D3A"/>
                </a:solidFill>
              </a:rPr>
              <a:t>öngörülemeyen</a:t>
            </a:r>
            <a:r>
              <a:rPr sz="2000" b="0">
                <a:solidFill>
                  <a:srgbClr val="1F2D3A"/>
                </a:solidFill>
              </a:rPr>
              <a:t> durumla çıkar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Başarısızlığın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olduğu okunmaz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Güçlendirme 4 — opak geçişler (K-01)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 geçişleri sabit değil, </a:t>
            </a:r>
            <a:r>
              <a:rPr sz="2000" b="1">
                <a:solidFill>
                  <a:srgbClr val="1F2D3A"/>
                </a:solidFill>
              </a:rPr>
              <a:t>opak koşullara</a:t>
            </a:r>
            <a:r>
              <a:rPr sz="2000" b="0">
                <a:solidFill>
                  <a:srgbClr val="1F2D3A"/>
                </a:solidFill>
              </a:rPr>
              <a:t> bağlı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Statik izleme daha da zorlaşır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K-04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orta–yüksek (blok/dal çok artar, başarım düşer)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yalnız düzleştirme → sembolik yürütmeyle açılır (bölüm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Güç:</a:t>
            </a:r>
            <a:r>
              <a:rPr sz="1800" b="0">
                <a:solidFill>
                  <a:srgbClr val="1F2D3A"/>
                </a:solidFill>
              </a:rPr>
              <a:t> güçlendirmelerden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CFG düğüm/kenar sayısı, izleme süresi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K-05 · Rastgele çıkış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denetimin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başarısız olduğunu.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tipik olarak: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"Başarısızlık dalını" bulur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 "başarı dalına" çevirir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Nasıl?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(!imza_gecerli(p))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durum = kararsiz_deger();  /* switch'te tanımsız → default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return RED</a:t>
            </a:r>
            <a:r>
              <a:rPr sz="2000" b="0">
                <a:solidFill>
                  <a:srgbClr val="1F2D3A"/>
                </a:solidFill>
              </a:rPr>
              <a:t> yok; durum öngörülemeyen bir değere gider.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Başarı da benzer çıksın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Başarılı çıkış da aynı yöntemle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Böylece başarı ve başarısızlık akışta </a:t>
            </a:r>
            <a:r>
              <a:rPr sz="2000" b="1">
                <a:solidFill>
                  <a:srgbClr val="1F2D3A"/>
                </a:solidFill>
              </a:rPr>
              <a:t>birbirine benzer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Analist "işte kabul dalı" diyemez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K-05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tek başına değil, düzleştirmeyle anlamlı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Hedef:</a:t>
            </a:r>
            <a:r>
              <a:rPr sz="1800" b="0">
                <a:solidFill>
                  <a:srgbClr val="1F2D3A"/>
                </a:solidFill>
              </a:rPr>
              <a:t> tek bayt yaması denetimi atlatmaya </a:t>
            </a:r>
            <a:r>
              <a:rPr sz="1800" b="1">
                <a:solidFill>
                  <a:srgbClr val="1F2D3A"/>
                </a:solidFill>
              </a:rPr>
              <a:t>yetmesin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"başarısızlık dalını bul ve çevir" süresi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K-06 · Çağrı ve bağımlılık gizleme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İpuçlarını: "Şu fonksiyon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çağırıyor → bir karşılaştırma yapıyor."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Standart kütüphane çağrıları ne yaptığınızı </a:t>
            </a:r>
            <a:r>
              <a:rPr sz="2000" b="1">
                <a:solidFill>
                  <a:srgbClr val="1F2D3A"/>
                </a:solidFill>
              </a:rPr>
              <a:t>söyler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Nasıl?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Kritik yolda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sabit-zamanlı </a:t>
            </a:r>
            <a:r>
              <a:rPr sz="2000" b="0">
                <a:solidFill>
                  <a:srgbClr val="A1123F"/>
                </a:solidFill>
                <a:latin typeface="Consolas"/>
              </a:rPr>
              <a:t>esit_mi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Bağlantı çözümleyicide tanınan ad </a:t>
            </a:r>
            <a:r>
              <a:rPr sz="2000" b="1">
                <a:solidFill>
                  <a:srgbClr val="1F2D3A"/>
                </a:solidFill>
              </a:rPr>
              <a:t>görünmez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Sahte parametreler:</a:t>
            </a:r>
            <a:r>
              <a:rPr sz="2000" b="0">
                <a:solidFill>
                  <a:srgbClr val="1F2D3A"/>
                </a:solidFill>
              </a:rPr>
              <a:t> hiç kullanılmayan parametreler ekle → imza yanıltıcı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⚠️ Sabit zamanlılığı bozma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Kendi karşılaştırmanı yazarken </a:t>
            </a:r>
            <a:r>
              <a:rPr sz="2000" b="1">
                <a:solidFill>
                  <a:srgbClr val="1F2D3A"/>
                </a:solidFill>
              </a:rPr>
              <a:t>sabit zamanlı</a:t>
            </a:r>
            <a:r>
              <a:rPr sz="2000" b="0">
                <a:solidFill>
                  <a:srgbClr val="1F2D3A"/>
                </a:solidFill>
              </a:rPr>
              <a:t> olsun (3. hafta).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Erken çıkışlı karşılaştırma → </a:t>
            </a:r>
            <a:r>
              <a:rPr sz="2000" b="1">
                <a:solidFill>
                  <a:srgbClr val="1F2D3A"/>
                </a:solidFill>
              </a:rPr>
              <a:t>yan kanal</a:t>
            </a:r>
            <a:r>
              <a:rPr sz="2000" b="0">
                <a:solidFill>
                  <a:srgbClr val="1F2D3A"/>
                </a:solidFill>
              </a:rPr>
              <a:t> açar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Koruma eklerken </a:t>
            </a:r>
            <a:r>
              <a:rPr sz="2000" b="1">
                <a:solidFill>
                  <a:srgbClr val="1F2D3A"/>
                </a:solidFill>
              </a:rPr>
              <a:t>yeni açık</a:t>
            </a:r>
            <a:r>
              <a:rPr sz="2000" b="0">
                <a:solidFill>
                  <a:srgbClr val="1F2D3A"/>
                </a:solidFill>
              </a:rPr>
              <a:t> yaratma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K-06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düşük–orta (kendi sürümleri bakım ister)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davranış analizi ne yaptığını yine gösterebilir → bu bir </a:t>
            </a:r>
            <a:r>
              <a:rPr sz="1800" b="1">
                <a:solidFill>
                  <a:srgbClr val="1F2D3A"/>
                </a:solidFill>
              </a:rPr>
              <a:t>gecikme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ikili dosyada tanınan kütüphane çağrısı sayısı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K-01</a:t>
            </a:r>
            <a:r>
              <a:rPr sz="2000" b="0">
                <a:solidFill>
                  <a:srgbClr val="1F2D3A"/>
                </a:solidFill>
              </a:rPr>
              <a:t> opak yüklem/döngü · </a:t>
            </a:r>
            <a:r>
              <a:rPr sz="2000" b="1">
                <a:solidFill>
                  <a:srgbClr val="1F2D3A"/>
                </a:solidFill>
              </a:rPr>
              <a:t>K-02</a:t>
            </a:r>
            <a:r>
              <a:rPr sz="2000" b="0">
                <a:solidFill>
                  <a:srgbClr val="1F2D3A"/>
                </a:solidFill>
              </a:rPr>
              <a:t> aritmetik kodlama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K-03</a:t>
            </a:r>
            <a:r>
              <a:rPr sz="2000" b="0">
                <a:solidFill>
                  <a:srgbClr val="1F2D3A"/>
                </a:solidFill>
              </a:rPr>
              <a:t> sahte işlem ≠ ölü dal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K-04</a:t>
            </a:r>
            <a:r>
              <a:rPr sz="2000" b="0">
                <a:solidFill>
                  <a:srgbClr val="1F2D3A"/>
                </a:solidFill>
              </a:rPr>
              <a:t> düzleştirme (güçlendirmelerle)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K-05</a:t>
            </a:r>
            <a:r>
              <a:rPr sz="2000" b="0">
                <a:solidFill>
                  <a:srgbClr val="1F2D3A"/>
                </a:solidFill>
              </a:rPr>
              <a:t> rastgele çıkış · </a:t>
            </a:r>
            <a:r>
              <a:rPr sz="2000" b="1">
                <a:solidFill>
                  <a:srgbClr val="1F2D3A"/>
                </a:solidFill>
              </a:rPr>
              <a:t>K-06</a:t>
            </a:r>
            <a:r>
              <a:rPr sz="2000" b="0">
                <a:solidFill>
                  <a:srgbClr val="1F2D3A"/>
                </a:solidFill>
              </a:rPr>
              <a:t> çağrı gizleme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 tek başına yeterli değil;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ölçülmüş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Sahte işlem ile ölü dal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Düzleştirmeyi güçlendiren 4 kural?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Rastgele çıkış hangi saldırıyı zorlaştırır?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Sahte işlem</a:t>
            </a:r>
            <a:r>
              <a:rPr sz="1800" b="0">
                <a:solidFill>
                  <a:srgbClr val="1F2D3A"/>
                </a:solidFill>
              </a:rPr>
              <a:t> çalışır ama sonucu değiştirmez; </a:t>
            </a:r>
            <a:r>
              <a:rPr sz="1800" b="1">
                <a:solidFill>
                  <a:srgbClr val="1F2D3A"/>
                </a:solidFill>
              </a:rPr>
              <a:t>ölü dal</a:t>
            </a:r>
            <a:r>
              <a:rPr sz="1800" b="0">
                <a:solidFill>
                  <a:srgbClr val="1F2D3A"/>
                </a:solidFill>
              </a:rPr>
              <a:t> opak yüklemle hiç çalışmaz.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Durum değerlerini gizle (K-02) · sahte/ölü blok (K-03) · rastgele çıkış (K-05) · opak yüklem geçişleri (K-01).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"Başarısızlık dalını bul ve başarıya çevir" saldırısını; artık </a:t>
            </a:r>
            <a:r>
              <a:rPr sz="1800" b="1">
                <a:solidFill>
                  <a:srgbClr val="1F2D3A"/>
                </a:solidFill>
              </a:rPr>
              <a:t>tek-bayt yama yetmez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Veri ve program bütünü kuralları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gizleme kuralları K-07–K-09 — şema</a:t>
            </a:r>
          </a:p>
        </p:txBody>
      </p:sp>
      <p:pic>
        <p:nvPicPr>
          <p:cNvPr id="7" name="Picture 6" descr="h09-15-veri-gizleme-kural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169487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≠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Kontrol akışı</a:t>
            </a:r>
            <a:r>
              <a:rPr sz="2000" b="0">
                <a:solidFill>
                  <a:srgbClr val="1F2D3A"/>
                </a:solidFill>
              </a:rPr>
              <a:t> (bölüm 3): algoritmanın </a:t>
            </a:r>
            <a:r>
              <a:rPr sz="2000" b="1">
                <a:solidFill>
                  <a:srgbClr val="1F2D3A"/>
                </a:solidFill>
              </a:rPr>
              <a:t>yapısını</a:t>
            </a:r>
            <a:r>
              <a:rPr sz="2000" b="0">
                <a:solidFill>
                  <a:srgbClr val="1F2D3A"/>
                </a:solidFill>
              </a:rPr>
              <a:t> gizler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Veri gizleme</a:t>
            </a:r>
            <a:r>
              <a:rPr sz="2000" b="0">
                <a:solidFill>
                  <a:srgbClr val="1F2D3A"/>
                </a:solidFill>
              </a:rPr>
              <a:t> (bu bölüm): programın işlediği </a:t>
            </a:r>
            <a:r>
              <a:rPr sz="2000" b="1">
                <a:solidFill>
                  <a:srgbClr val="1F2D3A"/>
                </a:solidFill>
              </a:rPr>
              <a:t>değerleri</a:t>
            </a:r>
            <a:r>
              <a:rPr sz="2000" b="0">
                <a:solidFill>
                  <a:srgbClr val="1F2D3A"/>
                </a:solidFill>
              </a:rPr>
              <a:t> gizler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Dizgeler, sabitler, tablolar, değişkenler.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K-07 · Dize kodlama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İkili dosyadaki </a:t>
            </a:r>
            <a:r>
              <a:rPr sz="2000" b="1">
                <a:solidFill>
                  <a:srgbClr val="1F2D3A"/>
                </a:solidFill>
              </a:rPr>
              <a:t>okunabilir metinleri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ucuz saldırı adımı: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"Lisans gecersiz"</a:t>
            </a:r>
            <a:r>
              <a:rPr sz="2000" b="0">
                <a:solidFill>
                  <a:srgbClr val="1F2D3A"/>
                </a:solidFill>
              </a:rPr>
              <a:t> ya da bir URL → saldırgana nereye bakacağını söyler.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dizge </a:t>
            </a:r>
            <a:r>
              <a:rPr sz="2000" b="1">
                <a:solidFill>
                  <a:srgbClr val="1F2D3A"/>
                </a:solidFill>
              </a:rPr>
              <a:t>derleme öncesi</a:t>
            </a:r>
            <a:r>
              <a:rPr sz="2000" b="0">
                <a:solidFill>
                  <a:srgbClr val="1F2D3A"/>
                </a:solidFill>
              </a:rPr>
              <a:t> kodlanır (ör. XOR)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İkili dosyada </a:t>
            </a:r>
            <a:r>
              <a:rPr sz="2000" b="1">
                <a:solidFill>
                  <a:srgbClr val="1F2D3A"/>
                </a:solidFill>
              </a:rPr>
              <a:t>kodlanmış</a:t>
            </a:r>
            <a:r>
              <a:rPr sz="2000" b="0">
                <a:solidFill>
                  <a:srgbClr val="1F2D3A"/>
                </a:solidFill>
              </a:rPr>
              <a:t>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Kullanım anında</a:t>
            </a:r>
            <a:r>
              <a:rPr sz="2000" b="0">
                <a:solidFill>
                  <a:srgbClr val="1F2D3A"/>
                </a:solidFill>
              </a:rPr>
              <a:t> çözülür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 biter bitmez </a:t>
            </a:r>
            <a:r>
              <a:rPr sz="2000" b="1">
                <a:solidFill>
                  <a:srgbClr val="1F2D3A"/>
                </a:solidFill>
              </a:rPr>
              <a:t>silinir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Örnek (sentetik)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GIZLI[] = {0x3B,0x2A,0x2E,0x2E,0x2D};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kullan(void)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tmp[sizeof GIZLI];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i=0;i&lt;sizeof GIZLI;i++)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tmp[i] = GIZLI[i] ^ 0x5A;      /* çöz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isle(tmp, sizeof GIZLI);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memset_s_benzeri(tmp, sizeof tmp); /* hemen sil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⚠️ Kritik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Çalışırken çözülmüş dize </a:t>
            </a:r>
            <a:r>
              <a:rPr sz="2000" b="1">
                <a:solidFill>
                  <a:srgbClr val="1F2D3A"/>
                </a:solidFill>
              </a:rPr>
              <a:t>bellekte açık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Çözme anahtarı da ikili dosyada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bir </a:t>
            </a:r>
            <a:r>
              <a:rPr sz="2000" b="1">
                <a:solidFill>
                  <a:srgbClr val="1F2D3A"/>
                </a:solidFill>
              </a:rPr>
              <a:t>statik tarama</a:t>
            </a:r>
            <a:r>
              <a:rPr sz="2000" b="0">
                <a:solidFill>
                  <a:srgbClr val="1F2D3A"/>
                </a:solidFill>
              </a:rPr>
              <a:t> önlemidir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Sahada: çözme anahtarı </a:t>
            </a:r>
            <a:r>
              <a:rPr sz="2000" b="1">
                <a:solidFill>
                  <a:srgbClr val="1F2D3A"/>
                </a:solidFill>
              </a:rPr>
              <a:t>parçalanır ve dağıtılır</a:t>
            </a:r>
            <a:r>
              <a:rPr sz="2000" b="0">
                <a:solidFill>
                  <a:srgbClr val="1F2D3A"/>
                </a:solidFill>
              </a:rPr>
              <a:t>, çözme fonksiyonu ek denetimlerle korunur.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Dize gizleme ≠ anahtar saklama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Tekrar: dize gizleme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'i durdurur, </a:t>
            </a:r>
            <a:r>
              <a:rPr sz="2000" b="1">
                <a:solidFill>
                  <a:srgbClr val="1F2D3A"/>
                </a:solidFill>
              </a:rPr>
              <a:t>anahtar</a:t>
            </a:r>
            <a:r>
              <a:rPr sz="2000" b="0">
                <a:solidFill>
                  <a:srgbClr val="1F2D3A"/>
                </a:solidFill>
              </a:rPr>
              <a:t> korumaz.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için → whitebox (11. hafta) ya da donanım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Ölçüm: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çıktısında hassas dize </a:t>
            </a:r>
            <a:r>
              <a:rPr sz="2000" b="1">
                <a:solidFill>
                  <a:srgbClr val="1F2D3A"/>
                </a:solidFill>
              </a:rPr>
              <a:t>bulunmamalı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K-08 · Opak boolean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Sorun: düz 0/1 tehlikeli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denetimin sonucunu düz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 döndürmek: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tek baytı</a:t>
            </a:r>
            <a:r>
              <a:rPr sz="2000" b="0">
                <a:solidFill>
                  <a:srgbClr val="1F2D3A"/>
                </a:solidFill>
              </a:rPr>
              <a:t> çevirir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"Başarısız" → "başarılı" olur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Doğru/yanlış değerini: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Birden çok değere</a:t>
            </a:r>
            <a:r>
              <a:rPr sz="2000" b="0">
                <a:solidFill>
                  <a:srgbClr val="1F2D3A"/>
                </a:solidFill>
              </a:rPr>
              <a:t> bağla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bayt yamasıyla çevrilemeyecek biçimde 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Fonksiyonlar düz boolean yerine </a:t>
            </a:r>
            <a:r>
              <a:rPr sz="2000" b="1">
                <a:solidFill>
                  <a:srgbClr val="1F2D3A"/>
                </a:solidFill>
              </a:rPr>
              <a:t>opak dönüş kodu</a:t>
            </a:r>
            <a:r>
              <a:rPr sz="2000" b="0">
                <a:solidFill>
                  <a:srgbClr val="1F2D3A"/>
                </a:solidFill>
              </a:rPr>
              <a:t> verir.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Örnek (kavram)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 uint32_t a, b; } Karar;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Karar izin_ver(void)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(Karar){ 0xA3C1u, 0x5C3Eu };  /* a ^ b == 0xFFFF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karar_izin_mi(Karar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(k.a ^ k.b) == 0xFFFFu;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Çağıran taraf </a:t>
            </a:r>
            <a:r>
              <a:rPr sz="2000" b="1">
                <a:solidFill>
                  <a:srgbClr val="1F2D3A"/>
                </a:solidFill>
              </a:rPr>
              <a:t>iki alanı da</a:t>
            </a:r>
            <a:r>
              <a:rPr sz="2000" b="0">
                <a:solidFill>
                  <a:srgbClr val="1F2D3A"/>
                </a:solidFill>
              </a:rPr>
              <a:t> doğrular.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K-08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yeterince incelenirse çözülür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Amaç:</a:t>
            </a:r>
            <a:r>
              <a:rPr sz="1800" b="0">
                <a:solidFill>
                  <a:srgbClr val="1F2D3A"/>
                </a:solidFill>
              </a:rPr>
              <a:t> tek-bayt yamayı ve kaba dal-çevirmeyi engellemek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sonucu çevirmek için gereken </a:t>
            </a:r>
            <a:r>
              <a:rPr sz="1800" b="1">
                <a:solidFill>
                  <a:srgbClr val="1F2D3A"/>
                </a:solidFill>
              </a:rPr>
              <a:t>bağımsız nokta &gt; 1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K-09 · Değişken bölme ve yeniden yapılandırma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K-09 · Neyi korur?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Hassas bir değişkenin bellekteki </a:t>
            </a:r>
            <a:r>
              <a:rPr sz="2000" b="1">
                <a:solidFill>
                  <a:srgbClr val="1F2D3A"/>
                </a:solidFill>
              </a:rPr>
              <a:t>tanınabilir izini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"32 baytlık blok = AES anahtarı" gibi kalıplar yol gösterir.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K-09 · Nasıl?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Değişkeni </a:t>
            </a:r>
            <a:r>
              <a:rPr sz="2000" b="1">
                <a:solidFill>
                  <a:srgbClr val="1F2D3A"/>
                </a:solidFill>
              </a:rPr>
              <a:t>böl</a:t>
            </a:r>
            <a:r>
              <a:rPr sz="2000" b="0">
                <a:solidFill>
                  <a:srgbClr val="1F2D3A"/>
                </a:solidFill>
              </a:rPr>
              <a:t> (32-bit'i iki 16-bit paydan üret)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Birden çok değişkeni tek söze </a:t>
            </a:r>
            <a:r>
              <a:rPr sz="2000" b="1">
                <a:solidFill>
                  <a:srgbClr val="1F2D3A"/>
                </a:solidFill>
              </a:rPr>
              <a:t>birleştir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Dizileri yeniden düzenle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Tampon boyut/sıra/yerleşimini değiştir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Kullanımdan sonra </a:t>
            </a:r>
            <a:r>
              <a:rPr sz="2000" b="1">
                <a:solidFill>
                  <a:srgbClr val="1F2D3A"/>
                </a:solidFill>
              </a:rPr>
              <a:t>rastgele değerle doldur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K-09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düşük–orta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yalnız statik/kalıp analizini yavaşlatır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hassas tamponun kalıptan tanınma süresi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Program bütünü: K-10, K-11, K-12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K-10 · Sanallaştırma (kavram)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Neyi korur?</a:t>
            </a:r>
            <a:r>
              <a:rPr sz="2000" b="0">
                <a:solidFill>
                  <a:srgbClr val="1F2D3A"/>
                </a:solidFill>
              </a:rPr>
              <a:t> Bir fonksiyonun </a:t>
            </a:r>
            <a:r>
              <a:rPr sz="2000" b="1">
                <a:solidFill>
                  <a:srgbClr val="1F2D3A"/>
                </a:solidFill>
              </a:rPr>
              <a:t>makine kodunu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Nasıl?</a:t>
            </a:r>
            <a:r>
              <a:rPr sz="2000" b="0">
                <a:solidFill>
                  <a:srgbClr val="1F2D3A"/>
                </a:solidFill>
              </a:rPr>
              <a:t> Fonksiyon → özel bir </a:t>
            </a:r>
            <a:r>
              <a:rPr sz="2000" b="1">
                <a:solidFill>
                  <a:srgbClr val="1F2D3A"/>
                </a:solidFill>
              </a:rPr>
              <a:t>VM'in bayt koduna</a:t>
            </a:r>
            <a:r>
              <a:rPr sz="2000" b="0">
                <a:solidFill>
                  <a:srgbClr val="1F2D3A"/>
                </a:solidFill>
              </a:rPr>
              <a:t>; ikiliye bayt kodu + küçük yorumlayıcı gömülür.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tanıdık kodu değil, önce çözmesi gereken </a:t>
            </a:r>
            <a:r>
              <a:rPr sz="2000" b="1">
                <a:solidFill>
                  <a:srgbClr val="1F2D3A"/>
                </a:solidFill>
              </a:rPr>
              <a:t>özel komut kümesini</a:t>
            </a:r>
            <a:r>
              <a:rPr sz="2000" b="0">
                <a:solidFill>
                  <a:srgbClr val="1F2D3A"/>
                </a:solidFill>
              </a:rPr>
              <a:t> görür.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K-10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yüksek</a:t>
            </a:r>
            <a:r>
              <a:rPr sz="1800" b="0">
                <a:solidFill>
                  <a:srgbClr val="1F2D3A"/>
                </a:solidFill>
              </a:rPr>
              <a:t> (yorumlanan kod yavaş; bakım pahalı)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Kullanım:</a:t>
            </a:r>
            <a:r>
              <a:rPr sz="1800" b="0">
                <a:solidFill>
                  <a:srgbClr val="1F2D3A"/>
                </a:solidFill>
              </a:rPr>
              <a:t> yalnız en kritik, küçük, sık değişmeyen fonksiyonlar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VM bir kez çözülürse tüm korunanlar açılır; çeşitlendirilmezse tüm kopyalar aynı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14. hafta: 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Virtualize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K-11 · Derleyici tabanlı (O-LLVM)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Neyi korur?</a:t>
            </a:r>
            <a:r>
              <a:rPr sz="2000" b="0">
                <a:solidFill>
                  <a:srgbClr val="1F2D3A"/>
                </a:solidFill>
              </a:rPr>
              <a:t> Yukarıdaki kuralları, </a:t>
            </a:r>
            <a:r>
              <a:rPr sz="2000" b="1">
                <a:solidFill>
                  <a:srgbClr val="1F2D3A"/>
                </a:solidFill>
              </a:rPr>
              <a:t>el ile değil</a:t>
            </a:r>
            <a:r>
              <a:rPr sz="2000" b="0">
                <a:solidFill>
                  <a:srgbClr val="1F2D3A"/>
                </a:solidFill>
              </a:rPr>
              <a:t> derleyici geçişiyle.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LLVM tabanlı gizleyiciler: düzleştirme, sahte akış, komut değiştirme geçişleri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</a:t>
            </a:r>
            <a:r>
              <a:rPr sz="2000" b="1">
                <a:solidFill>
                  <a:srgbClr val="1F2D3A"/>
                </a:solidFill>
              </a:rPr>
              <a:t>okunur</a:t>
            </a:r>
            <a:r>
              <a:rPr sz="2000" b="0">
                <a:solidFill>
                  <a:srgbClr val="1F2D3A"/>
                </a:solidFill>
              </a:rPr>
              <a:t> kalır; koruma bir derleme seçeneği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sürümde farklı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 → çeşitlendirme kolay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K-11 · Maliyet ve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Maliyet:</a:t>
            </a:r>
            <a:r>
              <a:rPr sz="1800" b="0">
                <a:solidFill>
                  <a:srgbClr val="1F2D3A"/>
                </a:solidFill>
              </a:rPr>
              <a:t> orta (geçişlere bağlı)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Sınır:</a:t>
            </a:r>
            <a:r>
              <a:rPr sz="1800" b="0">
                <a:solidFill>
                  <a:srgbClr val="1F2D3A"/>
                </a:solidFill>
              </a:rPr>
              <a:t> bilinen geçiş kalıpları tanınır; araç sürümüyle güncel kal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Ölçüm:</a:t>
            </a:r>
            <a:r>
              <a:rPr sz="1800" b="0">
                <a:solidFill>
                  <a:srgbClr val="1F2D3A"/>
                </a:solidFill>
              </a:rPr>
              <a:t> farklı tohumların ürettiği ikililer arası fark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Dinamik şifreleme (kavram)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Neyi korur?</a:t>
            </a:r>
            <a:r>
              <a:rPr sz="2000" b="0">
                <a:solidFill>
                  <a:srgbClr val="1F2D3A"/>
                </a:solidFill>
              </a:rPr>
              <a:t> En hassas kod bölümlerini, ikilide </a:t>
            </a:r>
            <a:r>
              <a:rPr sz="2000" b="1">
                <a:solidFill>
                  <a:srgbClr val="1F2D3A"/>
                </a:solidFill>
              </a:rPr>
              <a:t>şifreli</a:t>
            </a:r>
            <a:r>
              <a:rPr sz="2000" b="0">
                <a:solidFill>
                  <a:srgbClr val="1F2D3A"/>
                </a:solidFill>
              </a:rPr>
              <a:t> tutarak.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Nasıl?</a:t>
            </a:r>
            <a:r>
              <a:rPr sz="2000" b="0">
                <a:solidFill>
                  <a:srgbClr val="1F2D3A"/>
                </a:solidFill>
              </a:rPr>
              <a:t> Bölüm şifreli durur → yalnız çalışacağı an çözülür → sonra yeniden şifrelenir/silinir.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⚠️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OS bellek korumalarıyla (</a:t>
            </a:r>
            <a:r>
              <a:rPr sz="2000" b="1">
                <a:solidFill>
                  <a:srgbClr val="1F2D3A"/>
                </a:solidFill>
              </a:rPr>
              <a:t>DEP/NX, W^X</a:t>
            </a:r>
            <a:r>
              <a:rPr sz="2000" b="0">
                <a:solidFill>
                  <a:srgbClr val="1F2D3A"/>
                </a:solidFill>
              </a:rPr>
              <a:t>) doğrudan çatışır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uygulanırsa hem çöker hem </a:t>
            </a:r>
            <a:r>
              <a:rPr sz="2000" b="1">
                <a:solidFill>
                  <a:srgbClr val="1F2D3A"/>
                </a:solidFill>
              </a:rPr>
              <a:t>yeni açık</a:t>
            </a:r>
            <a:r>
              <a:rPr sz="2000" b="0">
                <a:solidFill>
                  <a:srgbClr val="1F2D3A"/>
                </a:solidFill>
              </a:rPr>
              <a:t> yaratır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Çalışırken bir an kod bellekte açık → döküm yakalar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 eklerken başka bir korumayı </a:t>
            </a:r>
            <a:r>
              <a:rPr sz="2000" b="1">
                <a:solidFill>
                  <a:srgbClr val="1F2D3A"/>
                </a:solidFill>
              </a:rPr>
              <a:t>kapatıyorsan</a:t>
            </a:r>
            <a:r>
              <a:rPr sz="2000" b="0">
                <a:solidFill>
                  <a:srgbClr val="1F2D3A"/>
                </a:solidFill>
              </a:rPr>
              <a:t>, net kazancı ölç ve ödünleşim kaydına yaz.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Uygulamada çok seçici, küçük bölümlerde kullanılır.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Java/yönetilen taraf (5. haftadan)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kuralları </a:t>
            </a:r>
            <a:r>
              <a:rPr sz="2000" b="1">
                <a:solidFill>
                  <a:srgbClr val="1F2D3A"/>
                </a:solidFill>
              </a:rPr>
              <a:t>native</a:t>
            </a:r>
            <a:r>
              <a:rPr sz="2000" b="0">
                <a:solidFill>
                  <a:srgbClr val="1F2D3A"/>
                </a:solidFill>
              </a:rPr>
              <a:t> (C/C++) için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Yönetilen dilde karşılığı: </a:t>
            </a:r>
            <a:r>
              <a:rPr sz="2000" b="1">
                <a:solidFill>
                  <a:srgbClr val="1F2D3A"/>
                </a:solidFill>
              </a:rPr>
              <a:t>ProGuard/R8</a:t>
            </a:r>
            <a:r>
              <a:rPr sz="2000" b="0">
                <a:solidFill>
                  <a:srgbClr val="1F2D3A"/>
                </a:solidFill>
              </a:rPr>
              <a:t> ad gizleme + ölü kod eleme + küçültme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ve reflection ile çağrılan API'ler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taraf birlikte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tarafı R8 ile gizlenir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Native taraf bu haftanın kurallarıyla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Çapraz denetim:</a:t>
            </a:r>
            <a:r>
              <a:rPr sz="2000" b="0">
                <a:solidFill>
                  <a:srgbClr val="1F2D3A"/>
                </a:solidFill>
              </a:rPr>
              <a:t> native Java'nın bütünlüğünü, Java native'in sağlamasını denetler (6. hafta RASP)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K-07</a:t>
            </a:r>
            <a:r>
              <a:rPr sz="2000" b="0">
                <a:solidFill>
                  <a:srgbClr val="1F2D3A"/>
                </a:solidFill>
              </a:rPr>
              <a:t> dize kodlama · </a:t>
            </a:r>
            <a:r>
              <a:rPr sz="2000" b="1">
                <a:solidFill>
                  <a:srgbClr val="1F2D3A"/>
                </a:solidFill>
              </a:rPr>
              <a:t>K-08</a:t>
            </a:r>
            <a:r>
              <a:rPr sz="2000" b="0">
                <a:solidFill>
                  <a:srgbClr val="1F2D3A"/>
                </a:solidFill>
              </a:rPr>
              <a:t> opak boolean · </a:t>
            </a:r>
            <a:r>
              <a:rPr sz="2000" b="1">
                <a:solidFill>
                  <a:srgbClr val="1F2D3A"/>
                </a:solidFill>
              </a:rPr>
              <a:t>K-09</a:t>
            </a:r>
            <a:r>
              <a:rPr sz="2000" b="0">
                <a:solidFill>
                  <a:srgbClr val="1F2D3A"/>
                </a:solidFill>
              </a:rPr>
              <a:t> değişken bölme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K-10</a:t>
            </a:r>
            <a:r>
              <a:rPr sz="2000" b="0">
                <a:solidFill>
                  <a:srgbClr val="1F2D3A"/>
                </a:solidFill>
              </a:rPr>
              <a:t> sanallaştırma (pahalı) · </a:t>
            </a:r>
            <a:r>
              <a:rPr sz="2000" b="1">
                <a:solidFill>
                  <a:srgbClr val="1F2D3A"/>
                </a:solidFill>
              </a:rPr>
              <a:t>K-11</a:t>
            </a:r>
            <a:r>
              <a:rPr sz="2000" b="0">
                <a:solidFill>
                  <a:srgbClr val="1F2D3A"/>
                </a:solidFill>
              </a:rPr>
              <a:t> derleyici (O-LLVM) · </a:t>
            </a:r>
            <a:r>
              <a:rPr sz="2000" b="1">
                <a:solidFill>
                  <a:srgbClr val="1F2D3A"/>
                </a:solidFill>
              </a:rPr>
              <a:t>K-12</a:t>
            </a:r>
            <a:r>
              <a:rPr sz="2000" b="0">
                <a:solidFill>
                  <a:srgbClr val="1F2D3A"/>
                </a:solidFill>
              </a:rPr>
              <a:t> dinamik (riskli)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Veri gizleme, kontrol akışı gizlemeyi </a:t>
            </a:r>
            <a:r>
              <a:rPr sz="2000" b="1">
                <a:solidFill>
                  <a:srgbClr val="1F2D3A"/>
                </a:solidFill>
              </a:rPr>
              <a:t>tamamlar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Dize gizleme anahtarı korur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Opak boolean neden tek-bayt yamayı zorlaştırır?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Sanallaştırmanın iki büyük maliyeti?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Hayır.</a:t>
            </a:r>
            <a:r>
              <a:rPr sz="1800" b="0">
                <a:solidFill>
                  <a:srgbClr val="1F2D3A"/>
                </a:solidFill>
              </a:rPr>
              <a:t> Çözülen dize bellekte açıktır, çözme anahtarı içeridedir; yalnız statik (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) taramayı durdurur.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Sonuç birden çok değere bağlıdır; sonucu çevirmek için </a:t>
            </a:r>
            <a:r>
              <a:rPr sz="1800" b="1">
                <a:solidFill>
                  <a:srgbClr val="1F2D3A"/>
                </a:solidFill>
              </a:rPr>
              <a:t>&gt;1 bağımsız noktayı</a:t>
            </a:r>
            <a:r>
              <a:rPr sz="1800" b="0">
                <a:solidFill>
                  <a:srgbClr val="1F2D3A"/>
                </a:solidFill>
              </a:rPr>
              <a:t> değiştirmek gerekir.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Yüksek </a:t>
            </a:r>
            <a:r>
              <a:rPr sz="1800" b="1">
                <a:solidFill>
                  <a:srgbClr val="1F2D3A"/>
                </a:solidFill>
              </a:rPr>
              <a:t>başarım</a:t>
            </a:r>
            <a:r>
              <a:rPr sz="1800" b="0">
                <a:solidFill>
                  <a:srgbClr val="1F2D3A"/>
                </a:solidFill>
              </a:rPr>
              <a:t> (onlarca kat yavaş) ve yüksek </a:t>
            </a:r>
            <a:r>
              <a:rPr sz="1800" b="1">
                <a:solidFill>
                  <a:srgbClr val="1F2D3A"/>
                </a:solidFill>
              </a:rPr>
              <a:t>bakım</a:t>
            </a:r>
            <a:r>
              <a:rPr sz="1800" b="0">
                <a:solidFill>
                  <a:srgbClr val="1F2D3A"/>
                </a:solidFill>
              </a:rPr>
              <a:t> maliyeti; bu yüzden yalnız küçük/kritik fonksiyonlara.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Çeşitlendirme ve ölçme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— şema</a:t>
            </a:r>
          </a:p>
        </p:txBody>
      </p:sp>
      <p:pic>
        <p:nvPicPr>
          <p:cNvPr id="7" name="Picture 6" descr="h09-07-cesit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82756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Çeşitlendirme: Kural 2'yi hatırla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kopyada işe yarayan saldırı, bütün kopyalarda işe yaramasın.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bir kopyayı kırıp yamayı/betiği </a:t>
            </a:r>
            <a:r>
              <a:rPr sz="2000" b="1">
                <a:solidFill>
                  <a:srgbClr val="1F2D3A"/>
                </a:solidFill>
              </a:rPr>
              <a:t>herkese</a:t>
            </a:r>
            <a:r>
              <a:rPr sz="2000" b="0">
                <a:solidFill>
                  <a:srgbClr val="1F2D3A"/>
                </a:solidFill>
              </a:rPr>
              <a:t> dağıtabiliyorsa, bir kırık her yeri açar.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kaynaktan </a:t>
            </a:r>
            <a:r>
              <a:rPr sz="2000" b="1">
                <a:solidFill>
                  <a:srgbClr val="1F2D3A"/>
                </a:solidFill>
              </a:rPr>
              <a:t>davranışça eş, yapıca farklı</a:t>
            </a:r>
            <a:r>
              <a:rPr sz="2000" b="0">
                <a:solidFill>
                  <a:srgbClr val="1F2D3A"/>
                </a:solidFill>
              </a:rPr>
              <a:t> ikili dosyalar üretmek.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Opak yüklemler, sahte bloklar, durum değerleri kopyadan kopyaya </a:t>
            </a:r>
            <a:r>
              <a:rPr sz="2000" b="1">
                <a:solidFill>
                  <a:srgbClr val="1F2D3A"/>
                </a:solidFill>
              </a:rPr>
              <a:t>değişir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tür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her yapı/dağıtım farklı </a:t>
            </a:r>
            <a:r>
              <a:rPr sz="2000" b="1">
                <a:solidFill>
                  <a:srgbClr val="1F2D3A"/>
                </a:solidFill>
              </a:rPr>
              <a:t>tohumla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Bir kopyaya yazılan saldırı diğerinde çalışmaz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her sürüm yeni düzenle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Eski sürüme yazılan saldırı yeni sürümde bozulur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haftadaki anahtar/sürüm yenilemeyle birlikte çalışır.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neyi engeller?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artırmaz (bir kopyayı kırmak yine mümkün)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14. hafta: Tigress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 ile araçla.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etkinliği: basit ölçüt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kaynağı </a:t>
            </a:r>
            <a:r>
              <a:rPr sz="2000" b="1">
                <a:solidFill>
                  <a:srgbClr val="1F2D3A"/>
                </a:solidFill>
              </a:rPr>
              <a:t>iki farklı tohumla</a:t>
            </a:r>
            <a:r>
              <a:rPr sz="2000" b="0">
                <a:solidFill>
                  <a:srgbClr val="1F2D3A"/>
                </a:solidFill>
              </a:rPr>
              <a:t> derle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fonksiyonların </a:t>
            </a:r>
            <a:r>
              <a:rPr sz="2000" b="1">
                <a:solidFill>
                  <a:srgbClr val="1F2D3A"/>
                </a:solidFill>
              </a:rPr>
              <a:t>bayt farkını</a:t>
            </a:r>
            <a:r>
              <a:rPr sz="2000" b="0">
                <a:solidFill>
                  <a:srgbClr val="1F2D3A"/>
                </a:solidFill>
              </a:rPr>
              <a:t> ölç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 ne kadar yüksekse, bir saldırının diğerinde çalışma olasılığı o kadar düşük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Ölçütü S9'a yaz.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Gizlemeyi ölçmek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ölçmek?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 kararını </a:t>
            </a:r>
            <a:r>
              <a:rPr sz="2000" b="1">
                <a:solidFill>
                  <a:srgbClr val="1F2D3A"/>
                </a:solidFill>
              </a:rPr>
              <a:t>savunmak</a:t>
            </a:r>
            <a:r>
              <a:rPr sz="2000" b="0">
                <a:solidFill>
                  <a:srgbClr val="1F2D3A"/>
                </a:solidFill>
              </a:rPr>
              <a:t> için.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Collberg'in çerçevesi: dört boyut.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dördü 13. haftadaki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puanlamasının temeli.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Ölçüt 1 — Güç (potency)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insana ne kadar anlaşılmaz?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Nasıl:</a:t>
            </a:r>
            <a:r>
              <a:rPr sz="2000" b="0">
                <a:solidFill>
                  <a:srgbClr val="1F2D3A"/>
                </a:solidFill>
              </a:rPr>
              <a:t> karmaşıklık ölçütleri — CFG düğüm/kenar, çevrimsel karmaşıklık, iç içe geçme derinliği (önce/sonra).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Ölçüt 2 — Dayanıklılık (resilience)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otomatik araca ne kadar dayanır?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Nasıl:</a:t>
            </a:r>
            <a:r>
              <a:rPr sz="2000" b="0">
                <a:solidFill>
                  <a:srgbClr val="1F2D3A"/>
                </a:solidFill>
              </a:rPr>
              <a:t> bir deobfuscation aracının (sembolik yürütme, sadeleştirici) korumayı </a:t>
            </a:r>
            <a:r>
              <a:rPr sz="2000" b="1">
                <a:solidFill>
                  <a:srgbClr val="1F2D3A"/>
                </a:solidFill>
              </a:rPr>
              <a:t>geri açma</a:t>
            </a:r>
            <a:r>
              <a:rPr sz="2000" b="0">
                <a:solidFill>
                  <a:srgbClr val="1F2D3A"/>
                </a:solidFill>
              </a:rPr>
              <a:t> süresi/başarısı.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Ölçüt 3 — Gizlilik (stealth)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gizleme kendini ele veriyor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Nasıl:</a:t>
            </a:r>
            <a:r>
              <a:rPr sz="2000" b="0">
                <a:solidFill>
                  <a:srgbClr val="1F2D3A"/>
                </a:solidFill>
              </a:rPr>
              <a:t> gizlenmiş kod normal koddan istatistiksel ayırt edilebiliyor mu?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Ayırt edilirse saldırgan nereye bakacağını bilir.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Ölçüt 4 — Maliyet (cost)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bize ne kadara mal oluyor?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Nasıl:</a:t>
            </a:r>
            <a:r>
              <a:rPr sz="2000" b="0">
                <a:solidFill>
                  <a:srgbClr val="1F2D3A"/>
                </a:solidFill>
              </a:rPr>
              <a:t> boyut artışı, çalışma süresi, bellek, bakım, hata ayıklama zorluğu.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Dört ölçüt ödünleşir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811"/>
                <a:gridCol w="6478723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Artırınca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Güç ↑ / dayanıklılık 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Maliyet 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Karmaşıklık ↑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↓ (daha çok dikkat çeker)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5438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İyi karar: </a:t>
            </a:r>
            <a:r>
              <a:rPr sz="1800" b="1">
                <a:solidFill>
                  <a:srgbClr val="1F2D3A"/>
                </a:solidFill>
              </a:rPr>
              <a:t>varlığın değerine</a:t>
            </a:r>
            <a:r>
              <a:rPr sz="1800" b="0">
                <a:solidFill>
                  <a:srgbClr val="1F2D3A"/>
                </a:solidFill>
              </a:rPr>
              <a:t> göre dört boyutu dengele.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Karar kuralı (S9'a yazılır)</a:t>
            </a:r>
          </a:p>
        </p:txBody>
      </p:sp>
      <p:pic>
        <p:nvPicPr>
          <p:cNvPr id="7" name="Picture 6" descr="h09-10-koruma-kur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61078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Deobfuscation ve dayanıklılık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karşı tarafın araçlarını bilmeliyiz?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Dayanıklılığı doğru ölçmek için.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Bunları </a:t>
            </a:r>
            <a:r>
              <a:rPr sz="2000" b="1">
                <a:solidFill>
                  <a:srgbClr val="1F2D3A"/>
                </a:solidFill>
              </a:rPr>
              <a:t>savunmayı sınamak</a:t>
            </a:r>
            <a:r>
              <a:rPr sz="2000" b="0">
                <a:solidFill>
                  <a:srgbClr val="1F2D3A"/>
                </a:solidFill>
              </a:rPr>
              <a:t> için öğreniriz — saldırı için değil.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tarafın araçları — şema</a:t>
            </a:r>
          </a:p>
        </p:txBody>
      </p:sp>
      <p:pic>
        <p:nvPicPr>
          <p:cNvPr id="7" name="Picture 6" descr="h09-09-deobfus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Araç 1 — sembolik yürütme (KLEE)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yolları matematiksel kısıt olarak çözülür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Opak yüklem ve düzleştirme bu yolla açılabilir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Dayanıklılık kuralı:</a:t>
            </a:r>
            <a:r>
              <a:rPr sz="2000" b="0">
                <a:solidFill>
                  <a:srgbClr val="1F2D3A"/>
                </a:solidFill>
              </a:rPr>
              <a:t> opak yüklemleri çözmesi pahalı (çarpanlara ayırma, karma) yapılara bağla, durum uzayını büyüt — ama </a:t>
            </a:r>
            <a:r>
              <a:rPr sz="2000" b="1">
                <a:solidFill>
                  <a:srgbClr val="1F2D3A"/>
                </a:solidFill>
              </a:rPr>
              <a:t>maliyeti ölç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Araç 2 — MBA sadeleştirici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Aritmetik kodlamayı (K-02) açar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aritmetik kodlamayı tek başına bir sır katmanı </a:t>
            </a:r>
            <a:r>
              <a:rPr sz="2000" b="1">
                <a:solidFill>
                  <a:srgbClr val="1F2D3A"/>
                </a:solidFill>
              </a:rPr>
              <a:t>sayma</a:t>
            </a:r>
            <a:r>
              <a:rPr sz="2000" b="0">
                <a:solidFill>
                  <a:srgbClr val="1F2D3A"/>
                </a:solidFill>
              </a:rPr>
              <a:t>; kontrol akışıyla birleştir.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Araç 3 — kalıp tanıma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Bilinen kütüphane/geçiş kalıplarını tanır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çeşitlendir</a:t>
            </a:r>
            <a:r>
              <a:rPr sz="2000" b="0">
                <a:solidFill>
                  <a:srgbClr val="1F2D3A"/>
                </a:solidFill>
              </a:rPr>
              <a:t>; tek bir opak yüklem kalıbına ya da tek VM tasarımına bağlı kalma.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Banescu vd. (Tigress + KLEE): hangi dönüşüm sembolik yürütmeye ne kadar dayanıyor, </a:t>
            </a:r>
            <a:r>
              <a:rPr sz="2000" b="1">
                <a:solidFill>
                  <a:srgbClr val="1F2D3A"/>
                </a:solidFill>
              </a:rPr>
              <a:t>ölçülür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Dayanıklılık bir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 değil, </a:t>
            </a:r>
            <a:r>
              <a:rPr sz="2000" b="1">
                <a:solidFill>
                  <a:srgbClr val="1F2D3A"/>
                </a:solidFill>
              </a:rPr>
              <a:t>ölçülen</a:t>
            </a:r>
            <a:r>
              <a:rPr sz="2000" b="0">
                <a:solidFill>
                  <a:srgbClr val="1F2D3A"/>
                </a:solidFill>
              </a:rPr>
              <a:t> bir niceliktir.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"Güçlü" deme; "şu araca karşı şu kadar dayandı" de.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Katmanlı savunma, proje, kapanış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Katmanlı savunmada gizleme — şema</a:t>
            </a:r>
          </a:p>
        </p:txBody>
      </p:sp>
      <p:pic>
        <p:nvPicPr>
          <p:cNvPr id="7" name="Picture 6" descr="h09-16-katmanli-savunmada-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4254051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Gizlemenin katmanlı savunmadaki yeri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1169093"/>
                <a:gridCol w="6105263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İlişki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güvenliği/derleme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Yerine geçmez; birlikte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 RASP'ı gizler; RASP gizlemeyi korur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Anahtarın asıl koruması; gizleme kabuk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yenileme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"Yenilenene kadar" zaman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Geciktirme puanlanır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 bir gözlem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Sertifikalı üründe native önlemler bu haftanın kurallarının </a:t>
            </a:r>
            <a:r>
              <a:rPr sz="2000" b="1">
                <a:solidFill>
                  <a:srgbClr val="1F2D3A"/>
                </a:solidFill>
              </a:rPr>
              <a:t>tümünü</a:t>
            </a:r>
            <a:r>
              <a:rPr sz="2000" b="0">
                <a:solidFill>
                  <a:srgbClr val="1F2D3A"/>
                </a:solidFill>
              </a:rPr>
              <a:t> kapsar.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 belge her önlemin yanına: </a:t>
            </a:r>
            <a:r>
              <a:rPr sz="2000" b="1">
                <a:solidFill>
                  <a:srgbClr val="1F2D3A"/>
                </a:solidFill>
              </a:rPr>
              <a:t>"tek başına güçlü değildir."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Değerlendiriciyi ikna eden: birliktelik + çeşitlendirme + </a:t>
            </a:r>
            <a:r>
              <a:rPr sz="2000" b="1">
                <a:solidFill>
                  <a:srgbClr val="1F2D3A"/>
                </a:solidFill>
              </a:rPr>
              <a:t>ölçülmüş</a:t>
            </a:r>
            <a:r>
              <a:rPr sz="2000" b="0">
                <a:solidFill>
                  <a:srgbClr val="1F2D3A"/>
                </a:solidFill>
              </a:rPr>
              <a:t> geciktirme.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(ileri sağlamlaştırma)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Koruma tablosu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2–3 kritik bölüm için (lisans, anahtar türetme, bütünlük) kural şablonunu doldur: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neyi korur · tehdit · nasıl · maliyet · sınır · ölçüm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Ölçüm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az bir teknik için önce/sonra: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çıktısındaki hassas dize sayısı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CFG düğüm sayısı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ikili boyut, bir işlemin süresi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— 3,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Çeşitlendirme kararı:</a:t>
            </a:r>
            <a:r>
              <a:rPr sz="2000" b="0">
                <a:solidFill>
                  <a:srgbClr val="1F2D3A"/>
                </a:solidFill>
              </a:rPr>
              <a:t> evet/hayır + </a:t>
            </a:r>
            <a:r>
              <a:rPr sz="2000" b="1">
                <a:solidFill>
                  <a:srgbClr val="1F2D3A"/>
                </a:solidFill>
              </a:rPr>
              <a:t>gerekçe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Sınır ve kalan risk:</a:t>
            </a:r>
            <a:r>
              <a:rPr sz="2000" b="0">
                <a:solidFill>
                  <a:srgbClr val="1F2D3A"/>
                </a:solidFill>
              </a:rPr>
              <a:t> her koruma neyi </a:t>
            </a:r>
            <a:r>
              <a:rPr sz="2000" b="1">
                <a:solidFill>
                  <a:srgbClr val="1F2D3A"/>
                </a:solidFill>
              </a:rPr>
              <a:t>korumaz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"Bu dize gizleme anahtarı korumaz; anahtar için S8 whitebox/donanım."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gözüyle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S9'da aranan: "çok teknik kullandım"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Aranan: </a:t>
            </a:r>
            <a:r>
              <a:rPr sz="2000" b="1">
                <a:solidFill>
                  <a:srgbClr val="1F2D3A"/>
                </a:solidFill>
              </a:rPr>
              <a:t>her tekniğin gerekçesi ve ölçüsü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Ölçülmemiş koruma = iddia. Kanıt değil.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MATE ne? Kriptografiyi neden tek başına yetersiz bırakır?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"Pahalı kılar" — varlık değeri örneğiyle?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Sahte işlem ≠ ölü dal?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Düzleştirme neden tek başına zayıf? 3 güçlendirici?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Rastgele çıkış hangi saldırıyı zorlaştırır?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Dize gizleme anahtarı korur mu?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MATE = Man-At-The-End:</a:t>
            </a:r>
            <a:r>
              <a:rPr sz="1800" b="0">
                <a:solidFill>
                  <a:srgbClr val="1F2D3A"/>
                </a:solidFill>
              </a:rPr>
              <a:t> saldırgan cihaza tam sahip (bellek, debugger, anahtar). Kripto güvenli uç varsayar; MATE'de anahtar </a:t>
            </a:r>
            <a:r>
              <a:rPr sz="1800" b="1">
                <a:solidFill>
                  <a:srgbClr val="1F2D3A"/>
                </a:solidFill>
              </a:rPr>
              <a:t>çalışırken</a:t>
            </a:r>
            <a:r>
              <a:rPr sz="1800" b="0">
                <a:solidFill>
                  <a:srgbClr val="1F2D3A"/>
                </a:solidFill>
              </a:rPr>
              <a:t> açığa çıkar → kripto tek başına yetmez.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Gizleme kırılamazlık değil, saldırıya </a:t>
            </a:r>
            <a:r>
              <a:rPr sz="1800" b="1">
                <a:solidFill>
                  <a:srgbClr val="1F2D3A"/>
                </a:solidFill>
              </a:rPr>
              <a:t>daha çok zaman/beceri/araç</a:t>
            </a:r>
            <a:r>
              <a:rPr sz="1800" b="0">
                <a:solidFill>
                  <a:srgbClr val="1F2D3A"/>
                </a:solidFill>
              </a:rPr>
              <a:t> gerektirir. 100 TL'lik içeriği kırmak 10.000 TL emek isterse saldırgan vazgeçer.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Sahte işlem</a:t>
            </a:r>
            <a:r>
              <a:rPr sz="1800" b="0">
                <a:solidFill>
                  <a:srgbClr val="1F2D3A"/>
                </a:solidFill>
              </a:rPr>
              <a:t> çalışır ama sonucu kullanılmaz (analizciyi yorar); </a:t>
            </a:r>
            <a:r>
              <a:rPr sz="1800" b="1">
                <a:solidFill>
                  <a:srgbClr val="1F2D3A"/>
                </a:solidFill>
              </a:rPr>
              <a:t>ölü dal</a:t>
            </a:r>
            <a:r>
              <a:rPr sz="1800" b="0">
                <a:solidFill>
                  <a:srgbClr val="1F2D3A"/>
                </a:solidFill>
              </a:rPr>
              <a:t> opak yüklemle </a:t>
            </a:r>
            <a:r>
              <a:rPr sz="1800" b="1">
                <a:solidFill>
                  <a:srgbClr val="1F2D3A"/>
                </a:solidFill>
              </a:rPr>
              <a:t>hiç çalışmaz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Düzleştirmede dispatcher deseni tanınır, durum değişkeni izlenir. Güçlendirici: </a:t>
            </a:r>
            <a:r>
              <a:rPr sz="1800" b="1">
                <a:solidFill>
                  <a:srgbClr val="1F2D3A"/>
                </a:solidFill>
              </a:rPr>
              <a:t>opak yüklem · durum değişkeni şifreleme · sahte durum/bloklar + rastgele çıkış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Desen/eşleştirme ve otomatik betik</a:t>
            </a:r>
            <a:r>
              <a:rPr sz="1800" b="0">
                <a:solidFill>
                  <a:srgbClr val="1F2D3A"/>
                </a:solidFill>
              </a:rPr>
              <a:t> saldırılarını (aynı giriş→aynı kalıp bekleyen) ve sembolik yürütmeyi zorlaştırır.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1">
                <a:solidFill>
                  <a:srgbClr val="1F2D3A"/>
                </a:solidFill>
              </a:rPr>
              <a:t>Hayır.</a:t>
            </a:r>
            <a:r>
              <a:rPr sz="1800" b="0">
                <a:solidFill>
                  <a:srgbClr val="1F2D3A"/>
                </a:solidFill>
              </a:rPr>
              <a:t> Dize/tablo gizleme statik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'i zorlaştırır ama anahtar </a:t>
            </a:r>
            <a:r>
              <a:rPr sz="1800" b="1">
                <a:solidFill>
                  <a:srgbClr val="1F2D3A"/>
                </a:solidFill>
              </a:rPr>
              <a:t>çalışırken bellekte</a:t>
            </a:r>
            <a:r>
              <a:rPr sz="1800" b="0">
                <a:solidFill>
                  <a:srgbClr val="1F2D3A"/>
                </a:solidFill>
              </a:rPr>
              <a:t> açığa çıkar → whitebox/HSM gerekir.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Sanallaştırmanın iki maliyeti?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Kendini değiştiren kod hangi OS korumasıyla çatışır?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Dört ölçüt; hangileri ödünleşir?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Çeşitlendirme gücü mü ölçeklenmeyi mi engeller?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KLEE hangi kuralları zorlar? Dayanıklılık nasıl artar?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Bir bölüm için kural şablonunu doldur.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2291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Büyük </a:t>
            </a:r>
            <a:r>
              <a:rPr sz="1800" b="1">
                <a:solidFill>
                  <a:srgbClr val="1F2D3A"/>
                </a:solidFill>
              </a:rPr>
              <a:t>performans</a:t>
            </a:r>
            <a:r>
              <a:rPr sz="1800" b="0">
                <a:solidFill>
                  <a:srgbClr val="1F2D3A"/>
                </a:solidFill>
              </a:rPr>
              <a:t> cezası (yorumlayıcı yavaş) + </a:t>
            </a:r>
            <a:r>
              <a:rPr sz="1800" b="1">
                <a:solidFill>
                  <a:srgbClr val="1F2D3A"/>
                </a:solidFill>
              </a:rPr>
              <a:t>boyut</a:t>
            </a:r>
            <a:r>
              <a:rPr sz="1800" b="0">
                <a:solidFill>
                  <a:srgbClr val="1F2D3A"/>
                </a:solidFill>
              </a:rPr>
              <a:t> artışı (VM + bytecode); bakım/hata ayıklama zorluğu.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W^X / DEP-NX</a:t>
            </a:r>
            <a:r>
              <a:rPr sz="1800" b="0">
                <a:solidFill>
                  <a:srgbClr val="1F2D3A"/>
                </a:solidFill>
              </a:rPr>
              <a:t> (yazılabilir+çalıştırılabilir bellek yasağı); kod sayfasını yazmak </a:t>
            </a:r>
            <a:r>
              <a:rPr sz="1800" b="0">
                <a:solidFill>
                  <a:srgbClr val="A1123F"/>
                </a:solidFill>
                <a:latin typeface="Consolas"/>
              </a:rPr>
              <a:t>mprotect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VirtualProtect</a:t>
            </a:r>
            <a:r>
              <a:rPr sz="1800" b="0">
                <a:solidFill>
                  <a:srgbClr val="1F2D3A"/>
                </a:solidFill>
              </a:rPr>
              <a:t> ister, engellenir/şüphelidir.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Güç · dayanıklılık · gizlilik · maliyet.</a:t>
            </a:r>
            <a:r>
              <a:rPr sz="1800" b="0">
                <a:solidFill>
                  <a:srgbClr val="1F2D3A"/>
                </a:solidFill>
              </a:rPr>
              <a:t> Güç/dayanıklılık ↑ → maliyet ↑ ve gizlilik ↓ (anormal görünür). Başlıca ödünleşim: </a:t>
            </a:r>
            <a:r>
              <a:rPr sz="1800" b="1">
                <a:solidFill>
                  <a:srgbClr val="1F2D3A"/>
                </a:solidFill>
              </a:rPr>
              <a:t>dayanıklılık ↔ maliyet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Ölçeklenmeyi</a:t>
            </a:r>
            <a:r>
              <a:rPr sz="1800" b="0">
                <a:solidFill>
                  <a:srgbClr val="1F2D3A"/>
                </a:solidFill>
              </a:rPr>
              <a:t> engeller — tek kopyanın gücünü artırmaz; bir kırık tüm kopyalara </a:t>
            </a:r>
            <a:r>
              <a:rPr sz="1800" b="1">
                <a:solidFill>
                  <a:srgbClr val="1F2D3A"/>
                </a:solidFill>
              </a:rPr>
              <a:t>yayılmaz</a:t>
            </a:r>
            <a:r>
              <a:rPr sz="1800" b="0">
                <a:solidFill>
                  <a:srgbClr val="1F2D3A"/>
                </a:solidFill>
              </a:rPr>
              <a:t> (saldırının yeniden kullanımını kırar).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KLEE</a:t>
            </a:r>
            <a:r>
              <a:rPr sz="1800" b="0">
                <a:solidFill>
                  <a:srgbClr val="1F2D3A"/>
                </a:solidFill>
              </a:rPr>
              <a:t> sembolik yürütme; opak yüklem/düzleştirmeyi çözebilir. Kural: yüklemleri </a:t>
            </a:r>
            <a:r>
              <a:rPr sz="1800" b="1">
                <a:solidFill>
                  <a:srgbClr val="1F2D3A"/>
                </a:solidFill>
              </a:rPr>
              <a:t>sembolik yürütmeye dayanıklı</a:t>
            </a:r>
            <a:r>
              <a:rPr sz="1800" b="0">
                <a:solidFill>
                  <a:srgbClr val="1F2D3A"/>
                </a:solidFill>
              </a:rPr>
              <a:t> (girdi-bağımlı, çözülmesi zor) yap; yol patlatan yapılar dayanıklılığı artırır.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Örnek: </a:t>
            </a:r>
            <a:r>
              <a:rPr sz="1800" b="1">
                <a:solidFill>
                  <a:srgbClr val="1F2D3A"/>
                </a:solidFill>
              </a:rPr>
              <a:t>Kural</a:t>
            </a:r>
            <a:r>
              <a:rPr sz="1800" b="0">
                <a:solidFill>
                  <a:srgbClr val="1F2D3A"/>
                </a:solidFill>
              </a:rPr>
              <a:t> [düzleştirme] → </a:t>
            </a:r>
            <a:r>
              <a:rPr sz="1800" b="1">
                <a:solidFill>
                  <a:srgbClr val="1F2D3A"/>
                </a:solidFill>
              </a:rPr>
              <a:t>Amaç</a:t>
            </a:r>
            <a:r>
              <a:rPr sz="1800" b="0">
                <a:solidFill>
                  <a:srgbClr val="1F2D3A"/>
                </a:solidFill>
              </a:rPr>
              <a:t> [akışı gizle] → </a:t>
            </a:r>
            <a:r>
              <a:rPr sz="1800" b="1">
                <a:solidFill>
                  <a:srgbClr val="1F2D3A"/>
                </a:solidFill>
              </a:rPr>
              <a:t>Nasıl</a:t>
            </a:r>
            <a:r>
              <a:rPr sz="1800" b="0">
                <a:solidFill>
                  <a:srgbClr val="1F2D3A"/>
                </a:solidFill>
              </a:rPr>
              <a:t> [Tigress Flatten + opak yüklem] → </a:t>
            </a:r>
            <a:r>
              <a:rPr sz="1800" b="1">
                <a:solidFill>
                  <a:srgbClr val="1F2D3A"/>
                </a:solidFill>
              </a:rPr>
              <a:t>Ölçüm</a:t>
            </a:r>
            <a:r>
              <a:rPr sz="1800" b="0">
                <a:solidFill>
                  <a:srgbClr val="1F2D3A"/>
                </a:solidFill>
              </a:rPr>
              <a:t> [boyut +%X, hız −%Y, komut N→M]. Ölçüm satırı şarttır.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kırılamazlık vermez,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yükseltir; gücü </a:t>
            </a:r>
            <a:r>
              <a:rPr sz="2000" b="1">
                <a:solidFill>
                  <a:srgbClr val="1F2D3A"/>
                </a:solidFill>
              </a:rPr>
              <a:t>birliktelikten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çeşitlendirmeden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ölçülmüş</a:t>
            </a:r>
            <a:r>
              <a:rPr sz="2000" b="0">
                <a:solidFill>
                  <a:srgbClr val="1F2D3A"/>
                </a:solidFill>
              </a:rPr>
              <a:t> olmaktan gelir.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Sonraki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10. hafta — Sertifikalar ve kriptografik yöntemler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"Gizleme anahtarı korumaz" dedik → anahtarların doğru seçimi, yaşam döngüsü, PKI.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Uçtan uca işlenmiş örnek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bir sentetik denetimi (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 alıp </a:t>
            </a:r>
            <a:r>
              <a:rPr sz="2000" b="1">
                <a:solidFill>
                  <a:srgbClr val="1F2D3A"/>
                </a:solidFill>
              </a:rPr>
              <a:t>katman katman</a:t>
            </a:r>
            <a:r>
              <a:rPr sz="2000" b="0">
                <a:solidFill>
                  <a:srgbClr val="1F2D3A"/>
                </a:solidFill>
              </a:rPr>
              <a:t> koruyacağız.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adımda: ne eklendi · ne kazandık · ne ödedik.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0 · Korumasız başlangıç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erisim_ver(const char *jeton)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(jeton_gecerli(jeton))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IZIN;      /* tek dal, tek dönüş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Zayıflık:</a:t>
            </a:r>
            <a:r>
              <a:rPr sz="2000" b="0">
                <a:solidFill>
                  <a:srgbClr val="1F2D3A"/>
                </a:solidFill>
              </a:rPr>
              <a:t> tek dal,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tek bayt yamasıyla atlanır.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0 · Saldırgan ne yapar?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IZIN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RED</a:t>
            </a:r>
            <a:r>
              <a:rPr sz="2000" b="0">
                <a:solidFill>
                  <a:srgbClr val="1F2D3A"/>
                </a:solidFill>
              </a:rPr>
              <a:t> ve ilgili dizgeler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 → tek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, iki dönüş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Başarısızlık dalını başarıya çevir (tek bayt)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Süre:</a:t>
            </a:r>
            <a:r>
              <a:rPr sz="2000" b="0">
                <a:solidFill>
                  <a:srgbClr val="1F2D3A"/>
                </a:solidFill>
              </a:rPr>
              <a:t> dakikalar. </a:t>
            </a:r>
            <a:r>
              <a:rPr sz="2000" b="1">
                <a:solidFill>
                  <a:srgbClr val="1F2D3A"/>
                </a:solidFill>
              </a:rPr>
              <a:t>Uzmanlık:</a:t>
            </a:r>
            <a:r>
              <a:rPr sz="2000" b="0">
                <a:solidFill>
                  <a:srgbClr val="1F2D3A"/>
                </a:solidFill>
              </a:rPr>
              <a:t> düşük.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K-07 dize/sabit kodla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IZIN/RED ve dizgeler artık düz görünmez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izin_kodu(void){ return 0x9E ^ 0x9F; } /* =1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Kazanç: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hassas metni bulmaz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çok düşük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Ölçüm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1818589"/>
                <a:gridCol w="181858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Adım 0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Adım 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hassas dize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İkili boyut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+%0.5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İlk katman en ucuz, en yüksek getiri.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K-02 aritmetik kodla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karşılaştırma karmaşık ama denk bir ifadeye döner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esik = ((a ^ b) + 2*(a &amp; b));   /* = a + b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Kazanç:</a:t>
            </a:r>
            <a:r>
              <a:rPr sz="2000" b="0">
                <a:solidFill>
                  <a:srgbClr val="1F2D3A"/>
                </a:solidFill>
              </a:rPr>
              <a:t> sabit/hesap doğrudan okunmaz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K-04 düzleştir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BASLA;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for(;;) switch(durum){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BASLA: durum = kontrol()?ADIM:HATA;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ADIM:  durum = BITIR;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HATA: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BITIR: return IZIN;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yok; sıra durum değişkeninde.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Ne değişti?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CFG artık "yatay" — bloklar tek switch'te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"Hangi dal başarı" doğrudan okunmaz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orta (blok/dal artar, biraz yavaşlar)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K-05 rastgele çıkış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(!kontrol()) { durum = kararsiz_deger(); break; } /* →default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yakalandı, akıştan okunmaz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bayt yaması artık yetmez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K-03 sahte + ölü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^= (s ^ s);            /* sahte işlem: sonuç aynı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(opak_yanlis()) sahte(); /* ölü dal: çalışmaz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mantık kalabalık içinde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orta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K-08 opak boolean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Karar k = izin_ver();               /* a^b==0xFFFF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(karar_izin_mi(k)) uygula();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 düz 0/1 değil → tek bayt çeviremez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Çevirmek için </a:t>
            </a:r>
            <a:r>
              <a:rPr sz="2000" b="1">
                <a:solidFill>
                  <a:srgbClr val="1F2D3A"/>
                </a:solidFill>
              </a:rPr>
              <a:t>birden çok</a:t>
            </a:r>
            <a:r>
              <a:rPr sz="2000" b="0">
                <a:solidFill>
                  <a:srgbClr val="1F2D3A"/>
                </a:solidFill>
              </a:rPr>
              <a:t> nokta gerekir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Katmanların birikimli etkisi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020"/>
                <a:gridCol w="2504286"/>
                <a:gridCol w="4650818"/>
                <a:gridCol w="2325409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Saldırı süresi (nispi)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düşük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K-05/03/08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20×+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1F2D3A"/>
                </a:solidFill>
              </a:rPr>
              <a:t>(Nispi, örnek amaçlı; gerçek değerler ölçülür.)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K-10 sanallaştırma?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en kritik</a:t>
            </a:r>
            <a:r>
              <a:rPr sz="2000" b="0">
                <a:solidFill>
                  <a:srgbClr val="1F2D3A"/>
                </a:solidFill>
              </a:rPr>
              <a:t> fonksiyon için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yüksek (onlarca kat yavaş)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Çoğu denetim için </a:t>
            </a:r>
            <a:r>
              <a:rPr sz="2000" b="1">
                <a:solidFill>
                  <a:srgbClr val="1F2D3A"/>
                </a:solidFill>
              </a:rPr>
              <a:t>gereksiz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değeri düşükse buraya gelme.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Uçtan uca: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katman saldırıyı biraz daha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yaptı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katman bir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ekledi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Nerede durduğun </a:t>
            </a:r>
            <a:r>
              <a:rPr sz="2000" b="1">
                <a:solidFill>
                  <a:srgbClr val="1F2D3A"/>
                </a:solidFill>
              </a:rPr>
              <a:t>varlığın değerine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ölçtüğüne</a:t>
            </a:r>
            <a:r>
              <a:rPr sz="2000" b="0">
                <a:solidFill>
                  <a:srgbClr val="1F2D3A"/>
                </a:solidFill>
              </a:rPr>
              <a:t> bağlı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tablo, S9'a koyacağın koruma tablosunun ta kendisidir.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CFG okuma ve ölçüm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nedir, nasıl bakılır?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Düğüm:</a:t>
            </a:r>
            <a:r>
              <a:rPr sz="2000" b="0">
                <a:solidFill>
                  <a:srgbClr val="1F2D3A"/>
                </a:solidFill>
              </a:rPr>
              <a:t> temel blok (dalsız komut dizisi)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Kenar:</a:t>
            </a:r>
            <a:r>
              <a:rPr sz="2000" b="0">
                <a:solidFill>
                  <a:srgbClr val="1F2D3A"/>
                </a:solidFill>
              </a:rPr>
              <a:t> bloklar arası geçiş (dal)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derleyici (ör. Ghidra) CFG'yi çizer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düğüm/kenar sayısıyla ölçeriz.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Düzleştirme öncesi (kavram)</a:t>
            </a:r>
          </a:p>
        </p:txBody>
      </p:sp>
      <p:pic>
        <p:nvPicPr>
          <p:cNvPr id="7" name="Picture 6" descr="h09-04-duzlest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290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72655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Az düğüm, okunur akış.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Düzleştirme sonrası (kavram)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Çok düğüm, tek merkez; "sonra hangi blok" okunmaz.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Güç ölçümü örneği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1454871"/>
                <a:gridCol w="1636730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blok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Kenar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Çevrimsel karmaşıklık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Rakamları tersine derleyiciden alıp S9'a yazarsınız.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87880"/>
          <a:ext cx="654692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1818589"/>
                <a:gridCol w="181858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İşlem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Ölçümü yorumlamak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 ↑ (34 blok) ve maliyet ↑ (%28 boyut, 1.7× süre)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</a:t>
            </a:r>
            <a:r>
              <a:rPr sz="2000" b="1">
                <a:solidFill>
                  <a:srgbClr val="1F2D3A"/>
                </a:solidFill>
              </a:rPr>
              <a:t>ödünleşim</a:t>
            </a:r>
            <a:r>
              <a:rPr sz="2000" b="0">
                <a:solidFill>
                  <a:srgbClr val="1F2D3A"/>
                </a:solidFill>
              </a:rPr>
              <a:t> beklenir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Karar: kazanç, varlık değerine göre kabul edilebilir mi?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"Güçlü" deme; </a:t>
            </a:r>
            <a:r>
              <a:rPr sz="2000" b="1">
                <a:solidFill>
                  <a:srgbClr val="1F2D3A"/>
                </a:solidFill>
              </a:rPr>
              <a:t>bu sayıları</a:t>
            </a:r>
            <a:r>
              <a:rPr sz="2000" b="0">
                <a:solidFill>
                  <a:srgbClr val="1F2D3A"/>
                </a:solidFill>
              </a:rPr>
              <a:t> göster.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Dayanıklılığı artırmak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Sembolik yürütmeye karşı — adım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Yalnız düzleştirme → çözücü yolları çözer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Opak yüklemi </a:t>
            </a:r>
            <a:r>
              <a:rPr sz="2000" b="1">
                <a:solidFill>
                  <a:srgbClr val="1F2D3A"/>
                </a:solidFill>
              </a:rPr>
              <a:t>çözmesi pahalı</a:t>
            </a:r>
            <a:r>
              <a:rPr sz="2000" b="0">
                <a:solidFill>
                  <a:srgbClr val="1F2D3A"/>
                </a:solidFill>
              </a:rPr>
              <a:t> yapıya bağla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Durum uzayını büyüt (daha çok case)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Maliyeti ölç</a:t>
            </a:r>
            <a:r>
              <a:rPr sz="2000" b="0">
                <a:solidFill>
                  <a:srgbClr val="1F2D3A"/>
                </a:solidFill>
              </a:rPr>
              <a:t> — üstel dayanıklılık, üstel maliyet olabilir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Kalıp tanımaya karşı — adım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Tek opak yüklem kalıbı → tanınır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Birden çok kalıp kullan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Çeşitlendir</a:t>
            </a:r>
            <a:r>
              <a:rPr sz="2000" b="0">
                <a:solidFill>
                  <a:srgbClr val="1F2D3A"/>
                </a:solidFill>
              </a:rPr>
              <a:t> (tohum)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Her sürümde kalıpları değiştir (zamanda)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MBA sadeleştiriciye karşı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Aritmetik kodlamayı </a:t>
            </a:r>
            <a:r>
              <a:rPr sz="2000" b="1">
                <a:solidFill>
                  <a:srgbClr val="1F2D3A"/>
                </a:solidFill>
              </a:rPr>
              <a:t>tek başına</a:t>
            </a:r>
            <a:r>
              <a:rPr sz="2000" b="0">
                <a:solidFill>
                  <a:srgbClr val="1F2D3A"/>
                </a:solidFill>
              </a:rPr>
              <a:t> sayma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Kontrol akışıyla </a:t>
            </a:r>
            <a:r>
              <a:rPr sz="2000" b="1">
                <a:solidFill>
                  <a:srgbClr val="1F2D3A"/>
                </a:solidFill>
              </a:rPr>
              <a:t>iç içe</a:t>
            </a:r>
            <a:r>
              <a:rPr sz="2000" b="0">
                <a:solidFill>
                  <a:srgbClr val="1F2D3A"/>
                </a:solidFill>
              </a:rPr>
              <a:t> kullan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Kodlanmış sabitleri opak yüklemlere bağla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Katmanların </a:t>
            </a:r>
            <a:r>
              <a:rPr sz="2000" b="1">
                <a:solidFill>
                  <a:srgbClr val="1F2D3A"/>
                </a:solidFill>
              </a:rPr>
              <a:t>birbirine bağlı</a:t>
            </a:r>
            <a:r>
              <a:rPr sz="2000" b="0">
                <a:solidFill>
                  <a:srgbClr val="1F2D3A"/>
                </a:solidFill>
              </a:rPr>
              <a:t> olması, ayrı ayrı çözülmesini zorlaştırır.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Dayanıklılık: altın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sayı üretin: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"Şu dönüşüm hattı, şu araca karşı, şu boyutta bir problemi şu sürede çözdürmedi."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İddia değil, </a:t>
            </a:r>
            <a:r>
              <a:rPr sz="2000" b="1">
                <a:solidFill>
                  <a:srgbClr val="1F2D3A"/>
                </a:solidFill>
              </a:rPr>
              <a:t>ölçüm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Terimler ve kapanış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720"/>
                <a:gridCol w="797381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 / beyaz kutu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Programa sahip saldırgan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Opak yüklem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Değeri programcının bildiği, aracın zor çözdüğü koşul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Akışı tek switch'e taşıma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işlem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Çalışan ama sonucu değiştirmeyen kod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Ölü dal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Hiç çalışmayan (opak yüklemli) dal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0465"/>
                <a:gridCol w="580106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Opak 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baytla çevrilemeyen doğru/yanlış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Fonksiyonu özel VM bayt koduna çevirme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kaynaktan yapıca farklı kopyalar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Güç/dayanıklılık/gizlilik/maliyet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 ölçütleri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Cookbook</a:t>
            </a:r>
            <a:r>
              <a:rPr sz="2000" b="0">
                <a:solidFill>
                  <a:srgbClr val="1F2D3A"/>
                </a:solidFill>
              </a:rPr>
              <a:t> (Viega &amp; Messier) Bölüm 12 — anti-tampering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 programlama teknik kılavuzu</a:t>
            </a:r>
            <a:r>
              <a:rPr sz="2000" b="0">
                <a:solidFill>
                  <a:srgbClr val="1F2D3A"/>
                </a:solidFill>
              </a:rPr>
              <a:t> — native karşı önlemler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taksonomi, ölçme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Schrittwieser vd. (ACM CSUR 2016) — genel bakış, deobfuscation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vd. — Tigress + KLEE dayanıklılık ölçümü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derleyici tabanlı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haftadan projeye taşınanlar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S9:</a:t>
            </a:r>
            <a:r>
              <a:rPr sz="2000" b="0">
                <a:solidFill>
                  <a:srgbClr val="1F2D3A"/>
                </a:solidFill>
              </a:rPr>
              <a:t> koruma tablosu (kural şablonu) + ölçüm + çeşitlendirme kararı + kalan risk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S15:</a:t>
            </a:r>
            <a:r>
              <a:rPr sz="2000" b="0">
                <a:solidFill>
                  <a:srgbClr val="1F2D3A"/>
                </a:solidFill>
              </a:rPr>
              <a:t> (14. haftada) gizlemeyi derleme hattına koymak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S16:</a:t>
            </a:r>
            <a:r>
              <a:rPr sz="2000" b="0">
                <a:solidFill>
                  <a:srgbClr val="1F2D3A"/>
                </a:solidFill>
              </a:rPr>
              <a:t> (12. haftada) gizlemenin davranışı bozmadığının testi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bir kaledir değil, bir </a:t>
            </a:r>
            <a:r>
              <a:rPr sz="2000" b="1">
                <a:solidFill>
                  <a:srgbClr val="1F2D3A"/>
                </a:solidFill>
              </a:rPr>
              <a:t>geciktirme katmanıdır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Gücü: </a:t>
            </a:r>
            <a:r>
              <a:rPr sz="2000" b="1">
                <a:solidFill>
                  <a:srgbClr val="1F2D3A"/>
                </a:solidFill>
              </a:rPr>
              <a:t>birliktelik + çeşitlendirme + ölçüm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Anahtar için: </a:t>
            </a:r>
            <a:r>
              <a:rPr sz="2000" b="1">
                <a:solidFill>
                  <a:srgbClr val="1F2D3A"/>
                </a:solidFill>
              </a:rPr>
              <a:t>kripto</a:t>
            </a:r>
            <a:r>
              <a:rPr sz="2000" b="0">
                <a:solidFill>
                  <a:srgbClr val="1F2D3A"/>
                </a:solidFill>
              </a:rPr>
              <a:t> (10) ve </a:t>
            </a:r>
            <a:r>
              <a:rPr sz="2000" b="1">
                <a:solidFill>
                  <a:srgbClr val="1F2D3A"/>
                </a:solidFill>
              </a:rPr>
              <a:t>whitebox</a:t>
            </a:r>
            <a:r>
              <a:rPr sz="2000" b="0">
                <a:solidFill>
                  <a:srgbClr val="1F2D3A"/>
                </a:solidFill>
              </a:rPr>
              <a:t> (11). Otomasyon: </a:t>
            </a:r>
            <a:r>
              <a:rPr sz="2000" b="1">
                <a:solidFill>
                  <a:srgbClr val="1F2D3A"/>
                </a:solidFill>
              </a:rPr>
              <a:t>Tigress</a:t>
            </a:r>
            <a:r>
              <a:rPr sz="2000" b="0">
                <a:solidFill>
                  <a:srgbClr val="1F2D3A"/>
                </a:solidFill>
              </a:rPr>
              <a:t> (14).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9 — Gelişmiş Kod Gizleme ve Çeşitlendirme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